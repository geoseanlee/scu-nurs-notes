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0" r:id="rId5"/>
    <p:sldMasterId id="2147483682" r:id="rId6"/>
    <p:sldMasterId id="2147483702" r:id="rId7"/>
  </p:sldMasterIdLst>
  <p:notesMasterIdLst>
    <p:notesMasterId r:id="rId54"/>
  </p:notesMasterIdLst>
  <p:sldIdLst>
    <p:sldId id="476" r:id="rId8"/>
    <p:sldId id="630" r:id="rId9"/>
    <p:sldId id="571" r:id="rId10"/>
    <p:sldId id="632" r:id="rId11"/>
    <p:sldId id="601" r:id="rId12"/>
    <p:sldId id="287" r:id="rId13"/>
    <p:sldId id="572" r:id="rId14"/>
    <p:sldId id="574" r:id="rId15"/>
    <p:sldId id="575" r:id="rId16"/>
    <p:sldId id="615" r:id="rId17"/>
    <p:sldId id="602" r:id="rId18"/>
    <p:sldId id="260" r:id="rId19"/>
    <p:sldId id="603" r:id="rId20"/>
    <p:sldId id="623" r:id="rId21"/>
    <p:sldId id="564" r:id="rId22"/>
    <p:sldId id="606" r:id="rId23"/>
    <p:sldId id="604" r:id="rId24"/>
    <p:sldId id="581" r:id="rId25"/>
    <p:sldId id="580" r:id="rId26"/>
    <p:sldId id="582" r:id="rId27"/>
    <p:sldId id="584" r:id="rId28"/>
    <p:sldId id="631" r:id="rId29"/>
    <p:sldId id="585" r:id="rId30"/>
    <p:sldId id="618" r:id="rId31"/>
    <p:sldId id="590" r:id="rId32"/>
    <p:sldId id="616" r:id="rId33"/>
    <p:sldId id="614" r:id="rId34"/>
    <p:sldId id="592" r:id="rId35"/>
    <p:sldId id="597" r:id="rId36"/>
    <p:sldId id="627" r:id="rId37"/>
    <p:sldId id="628" r:id="rId38"/>
    <p:sldId id="599" r:id="rId39"/>
    <p:sldId id="607" r:id="rId40"/>
    <p:sldId id="608" r:id="rId41"/>
    <p:sldId id="633" r:id="rId42"/>
    <p:sldId id="624" r:id="rId43"/>
    <p:sldId id="629" r:id="rId44"/>
    <p:sldId id="625" r:id="rId45"/>
    <p:sldId id="626" r:id="rId46"/>
    <p:sldId id="609" r:id="rId47"/>
    <p:sldId id="635" r:id="rId48"/>
    <p:sldId id="636" r:id="rId49"/>
    <p:sldId id="639" r:id="rId50"/>
    <p:sldId id="593" r:id="rId51"/>
    <p:sldId id="594" r:id="rId52"/>
    <p:sldId id="595" r:id="rId53"/>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DAC3"/>
    <a:srgbClr val="E1C8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FEAACC-0BF6-472C-BD73-E7EF37C06FC8}" v="1" dt="2026-10-17T11:49:13.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50" autoAdjust="0"/>
    <p:restoredTop sz="63822" autoAdjust="0"/>
  </p:normalViewPr>
  <p:slideViewPr>
    <p:cSldViewPr snapToGrid="0">
      <p:cViewPr varScale="1">
        <p:scale>
          <a:sx n="37" d="100"/>
          <a:sy n="37" d="100"/>
        </p:scale>
        <p:origin x="58" y="54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78" d="100"/>
          <a:sy n="78" d="100"/>
        </p:scale>
        <p:origin x="406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microsoft.com/office/2016/11/relationships/changesInfo" Target="changesInfos/changesInfo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theme" Target="theme/theme1.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 Sawtell" userId="7b49c2e9-9460-4f6b-ae72-c68ca4c8147b" providerId="ADAL" clId="{D6E2EB28-9AB7-4762-8034-BC1DFBA9528C}"/>
    <pc:docChg chg="undo custSel addSld delSld modSld">
      <pc:chgData name="Ros Sawtell" userId="7b49c2e9-9460-4f6b-ae72-c68ca4c8147b" providerId="ADAL" clId="{D6E2EB28-9AB7-4762-8034-BC1DFBA9528C}" dt="2026-10-17T11:54:45.206" v="1171" actId="368"/>
      <pc:docMkLst>
        <pc:docMk/>
      </pc:docMkLst>
      <pc:sldChg chg="modNotes">
        <pc:chgData name="Ros Sawtell" userId="7b49c2e9-9460-4f6b-ae72-c68ca4c8147b" providerId="ADAL" clId="{D6E2EB28-9AB7-4762-8034-BC1DFBA9528C}" dt="2026-10-17T11:54:45.110" v="1123" actId="368"/>
        <pc:sldMkLst>
          <pc:docMk/>
          <pc:sldMk cId="0" sldId="260"/>
        </pc:sldMkLst>
      </pc:sldChg>
      <pc:sldChg chg="modNotes">
        <pc:chgData name="Ros Sawtell" userId="7b49c2e9-9460-4f6b-ae72-c68ca4c8147b" providerId="ADAL" clId="{D6E2EB28-9AB7-4762-8034-BC1DFBA9528C}" dt="2026-10-17T11:54:45.079" v="1111" actId="368"/>
        <pc:sldMkLst>
          <pc:docMk/>
          <pc:sldMk cId="4158067198" sldId="287"/>
        </pc:sldMkLst>
      </pc:sldChg>
      <pc:sldChg chg="modNotes">
        <pc:chgData name="Ros Sawtell" userId="7b49c2e9-9460-4f6b-ae72-c68ca4c8147b" providerId="ADAL" clId="{D6E2EB28-9AB7-4762-8034-BC1DFBA9528C}" dt="2026-10-17T11:54:45.110" v="1129" actId="368"/>
        <pc:sldMkLst>
          <pc:docMk/>
          <pc:sldMk cId="3131173366" sldId="564"/>
        </pc:sldMkLst>
      </pc:sldChg>
      <pc:sldChg chg="modNotes">
        <pc:chgData name="Ros Sawtell" userId="7b49c2e9-9460-4f6b-ae72-c68ca4c8147b" providerId="ADAL" clId="{D6E2EB28-9AB7-4762-8034-BC1DFBA9528C}" dt="2026-10-17T11:54:45.079" v="1113" actId="368"/>
        <pc:sldMkLst>
          <pc:docMk/>
          <pc:sldMk cId="0" sldId="572"/>
        </pc:sldMkLst>
      </pc:sldChg>
      <pc:sldChg chg="modNotes">
        <pc:chgData name="Ros Sawtell" userId="7b49c2e9-9460-4f6b-ae72-c68ca4c8147b" providerId="ADAL" clId="{D6E2EB28-9AB7-4762-8034-BC1DFBA9528C}" dt="2026-10-17T11:54:45.079" v="1115" actId="368"/>
        <pc:sldMkLst>
          <pc:docMk/>
          <pc:sldMk cId="0" sldId="574"/>
        </pc:sldMkLst>
      </pc:sldChg>
      <pc:sldChg chg="modNotes">
        <pc:chgData name="Ros Sawtell" userId="7b49c2e9-9460-4f6b-ae72-c68ca4c8147b" providerId="ADAL" clId="{D6E2EB28-9AB7-4762-8034-BC1DFBA9528C}" dt="2026-10-17T11:54:45.095" v="1117" actId="368"/>
        <pc:sldMkLst>
          <pc:docMk/>
          <pc:sldMk cId="15165106" sldId="575"/>
        </pc:sldMkLst>
      </pc:sldChg>
      <pc:sldChg chg="modNotes">
        <pc:chgData name="Ros Sawtell" userId="7b49c2e9-9460-4f6b-ae72-c68ca4c8147b" providerId="ADAL" clId="{D6E2EB28-9AB7-4762-8034-BC1DFBA9528C}" dt="2026-10-17T11:54:45.126" v="1135" actId="368"/>
        <pc:sldMkLst>
          <pc:docMk/>
          <pc:sldMk cId="0" sldId="580"/>
        </pc:sldMkLst>
      </pc:sldChg>
      <pc:sldChg chg="modNotes">
        <pc:chgData name="Ros Sawtell" userId="7b49c2e9-9460-4f6b-ae72-c68ca4c8147b" providerId="ADAL" clId="{D6E2EB28-9AB7-4762-8034-BC1DFBA9528C}" dt="2026-10-17T11:54:45.142" v="1137" actId="368"/>
        <pc:sldMkLst>
          <pc:docMk/>
          <pc:sldMk cId="0" sldId="582"/>
        </pc:sldMkLst>
      </pc:sldChg>
      <pc:sldChg chg="modNotes">
        <pc:chgData name="Ros Sawtell" userId="7b49c2e9-9460-4f6b-ae72-c68ca4c8147b" providerId="ADAL" clId="{D6E2EB28-9AB7-4762-8034-BC1DFBA9528C}" dt="2026-10-17T11:54:45.142" v="1139" actId="368"/>
        <pc:sldMkLst>
          <pc:docMk/>
          <pc:sldMk cId="768510517" sldId="584"/>
        </pc:sldMkLst>
      </pc:sldChg>
      <pc:sldChg chg="addSp delSp modSp mod modNotes modNotesTx">
        <pc:chgData name="Ros Sawtell" userId="7b49c2e9-9460-4f6b-ae72-c68ca4c8147b" providerId="ADAL" clId="{D6E2EB28-9AB7-4762-8034-BC1DFBA9528C}" dt="2026-10-17T11:54:45.158" v="1149" actId="368"/>
        <pc:sldMkLst>
          <pc:docMk/>
          <pc:sldMk cId="3427779025" sldId="592"/>
        </pc:sldMkLst>
        <pc:graphicFrameChg chg="add mod modGraphic">
          <ac:chgData name="Ros Sawtell" userId="7b49c2e9-9460-4f6b-ae72-c68ca4c8147b" providerId="ADAL" clId="{D6E2EB28-9AB7-4762-8034-BC1DFBA9528C}" dt="2026-10-10T06:49:39.138" v="243" actId="255"/>
          <ac:graphicFrameMkLst>
            <pc:docMk/>
            <pc:sldMk cId="3427779025" sldId="592"/>
            <ac:graphicFrameMk id="5" creationId="{D4A2D360-B347-5A10-D92B-378EF1D6D994}"/>
          </ac:graphicFrameMkLst>
        </pc:graphicFrameChg>
      </pc:sldChg>
      <pc:sldChg chg="modNotes modNotesTx">
        <pc:chgData name="Ros Sawtell" userId="7b49c2e9-9460-4f6b-ae72-c68ca4c8147b" providerId="ADAL" clId="{D6E2EB28-9AB7-4762-8034-BC1DFBA9528C}" dt="2026-10-17T11:54:45.174" v="1151" actId="368"/>
        <pc:sldMkLst>
          <pc:docMk/>
          <pc:sldMk cId="3982748433" sldId="597"/>
        </pc:sldMkLst>
      </pc:sldChg>
      <pc:sldChg chg="addSp delSp modSp mod modNotes modNotesTx">
        <pc:chgData name="Ros Sawtell" userId="7b49c2e9-9460-4f6b-ae72-c68ca4c8147b" providerId="ADAL" clId="{D6E2EB28-9AB7-4762-8034-BC1DFBA9528C}" dt="2026-10-17T11:54:45.174" v="1157" actId="368"/>
        <pc:sldMkLst>
          <pc:docMk/>
          <pc:sldMk cId="3707438633" sldId="599"/>
        </pc:sldMkLst>
        <pc:spChg chg="add mod">
          <ac:chgData name="Ros Sawtell" userId="7b49c2e9-9460-4f6b-ae72-c68ca4c8147b" providerId="ADAL" clId="{D6E2EB28-9AB7-4762-8034-BC1DFBA9528C}" dt="2026-10-10T07:14:00.557" v="477" actId="1076"/>
          <ac:spMkLst>
            <pc:docMk/>
            <pc:sldMk cId="3707438633" sldId="599"/>
            <ac:spMk id="5" creationId="{E087197E-EC38-99D6-F9CD-A004B0EE66A9}"/>
          </ac:spMkLst>
        </pc:spChg>
        <pc:spChg chg="add mod">
          <ac:chgData name="Ros Sawtell" userId="7b49c2e9-9460-4f6b-ae72-c68ca4c8147b" providerId="ADAL" clId="{D6E2EB28-9AB7-4762-8034-BC1DFBA9528C}" dt="2026-10-10T07:13:51.355" v="475" actId="1076"/>
          <ac:spMkLst>
            <pc:docMk/>
            <pc:sldMk cId="3707438633" sldId="599"/>
            <ac:spMk id="6" creationId="{685C7376-001B-32EF-5A1F-3D981DF3EC2D}"/>
          </ac:spMkLst>
        </pc:spChg>
      </pc:sldChg>
      <pc:sldChg chg="modNotes">
        <pc:chgData name="Ros Sawtell" userId="7b49c2e9-9460-4f6b-ae72-c68ca4c8147b" providerId="ADAL" clId="{D6E2EB28-9AB7-4762-8034-BC1DFBA9528C}" dt="2026-10-17T11:54:45.079" v="1109" actId="368"/>
        <pc:sldMkLst>
          <pc:docMk/>
          <pc:sldMk cId="312344426" sldId="601"/>
        </pc:sldMkLst>
      </pc:sldChg>
      <pc:sldChg chg="modNotes">
        <pc:chgData name="Ros Sawtell" userId="7b49c2e9-9460-4f6b-ae72-c68ca4c8147b" providerId="ADAL" clId="{D6E2EB28-9AB7-4762-8034-BC1DFBA9528C}" dt="2026-10-17T11:54:45.095" v="1121" actId="368"/>
        <pc:sldMkLst>
          <pc:docMk/>
          <pc:sldMk cId="955990557" sldId="602"/>
        </pc:sldMkLst>
      </pc:sldChg>
      <pc:sldChg chg="modNotes">
        <pc:chgData name="Ros Sawtell" userId="7b49c2e9-9460-4f6b-ae72-c68ca4c8147b" providerId="ADAL" clId="{D6E2EB28-9AB7-4762-8034-BC1DFBA9528C}" dt="2026-10-17T11:54:45.110" v="1125" actId="368"/>
        <pc:sldMkLst>
          <pc:docMk/>
          <pc:sldMk cId="431530290" sldId="603"/>
        </pc:sldMkLst>
      </pc:sldChg>
      <pc:sldChg chg="modNotes">
        <pc:chgData name="Ros Sawtell" userId="7b49c2e9-9460-4f6b-ae72-c68ca4c8147b" providerId="ADAL" clId="{D6E2EB28-9AB7-4762-8034-BC1DFBA9528C}" dt="2026-10-17T11:54:45.126" v="1133" actId="368"/>
        <pc:sldMkLst>
          <pc:docMk/>
          <pc:sldMk cId="4155280817" sldId="604"/>
        </pc:sldMkLst>
      </pc:sldChg>
      <pc:sldChg chg="modNotes">
        <pc:chgData name="Ros Sawtell" userId="7b49c2e9-9460-4f6b-ae72-c68ca4c8147b" providerId="ADAL" clId="{D6E2EB28-9AB7-4762-8034-BC1DFBA9528C}" dt="2026-10-17T11:54:45.126" v="1131" actId="368"/>
        <pc:sldMkLst>
          <pc:docMk/>
          <pc:sldMk cId="2831539206" sldId="606"/>
        </pc:sldMkLst>
      </pc:sldChg>
      <pc:sldChg chg="addSp delSp modSp mod modNotes modNotesTx">
        <pc:chgData name="Ros Sawtell" userId="7b49c2e9-9460-4f6b-ae72-c68ca4c8147b" providerId="ADAL" clId="{D6E2EB28-9AB7-4762-8034-BC1DFBA9528C}" dt="2026-10-17T11:54:45.174" v="1159" actId="368"/>
        <pc:sldMkLst>
          <pc:docMk/>
          <pc:sldMk cId="3174139092" sldId="607"/>
        </pc:sldMkLst>
        <pc:spChg chg="mod">
          <ac:chgData name="Ros Sawtell" userId="7b49c2e9-9460-4f6b-ae72-c68ca4c8147b" providerId="ADAL" clId="{D6E2EB28-9AB7-4762-8034-BC1DFBA9528C}" dt="2026-10-10T07:15:34.315" v="486" actId="1076"/>
          <ac:spMkLst>
            <pc:docMk/>
            <pc:sldMk cId="3174139092" sldId="607"/>
            <ac:spMk id="2" creationId="{426808F4-6672-88A8-15F0-E4953A5F970D}"/>
          </ac:spMkLst>
        </pc:spChg>
        <pc:spChg chg="mod">
          <ac:chgData name="Ros Sawtell" userId="7b49c2e9-9460-4f6b-ae72-c68ca4c8147b" providerId="ADAL" clId="{D6E2EB28-9AB7-4762-8034-BC1DFBA9528C}" dt="2026-10-10T07:16:11.484" v="492" actId="1076"/>
          <ac:spMkLst>
            <pc:docMk/>
            <pc:sldMk cId="3174139092" sldId="607"/>
            <ac:spMk id="6" creationId="{7FFAFEC6-BC83-FFC7-5294-1225549010AA}"/>
          </ac:spMkLst>
        </pc:spChg>
        <pc:picChg chg="add mod">
          <ac:chgData name="Ros Sawtell" userId="7b49c2e9-9460-4f6b-ae72-c68ca4c8147b" providerId="ADAL" clId="{D6E2EB28-9AB7-4762-8034-BC1DFBA9528C}" dt="2026-10-10T07:16:06.613" v="491" actId="14100"/>
          <ac:picMkLst>
            <pc:docMk/>
            <pc:sldMk cId="3174139092" sldId="607"/>
            <ac:picMk id="7" creationId="{3470A1DE-344C-3887-D5C4-65DB04A1E33B}"/>
          </ac:picMkLst>
        </pc:picChg>
      </pc:sldChg>
      <pc:sldChg chg="addSp delSp modSp mod modNotes modNotesTx">
        <pc:chgData name="Ros Sawtell" userId="7b49c2e9-9460-4f6b-ae72-c68ca4c8147b" providerId="ADAL" clId="{D6E2EB28-9AB7-4762-8034-BC1DFBA9528C}" dt="2026-10-17T11:54:45.190" v="1161" actId="368"/>
        <pc:sldMkLst>
          <pc:docMk/>
          <pc:sldMk cId="792723423" sldId="608"/>
        </pc:sldMkLst>
        <pc:spChg chg="mod">
          <ac:chgData name="Ros Sawtell" userId="7b49c2e9-9460-4f6b-ae72-c68ca4c8147b" providerId="ADAL" clId="{D6E2EB28-9AB7-4762-8034-BC1DFBA9528C}" dt="2026-10-10T07:17:09.757" v="496"/>
          <ac:spMkLst>
            <pc:docMk/>
            <pc:sldMk cId="792723423" sldId="608"/>
            <ac:spMk id="2" creationId="{C8F53A8C-BBF7-CC68-B96B-125009DAFF1F}"/>
          </ac:spMkLst>
        </pc:spChg>
        <pc:spChg chg="mod">
          <ac:chgData name="Ros Sawtell" userId="7b49c2e9-9460-4f6b-ae72-c68ca4c8147b" providerId="ADAL" clId="{D6E2EB28-9AB7-4762-8034-BC1DFBA9528C}" dt="2026-10-10T07:18:54.939" v="536" actId="1076"/>
          <ac:spMkLst>
            <pc:docMk/>
            <pc:sldMk cId="792723423" sldId="608"/>
            <ac:spMk id="8" creationId="{72B579D9-9DF9-83F9-067E-AD203C65C4D5}"/>
          </ac:spMkLst>
        </pc:spChg>
        <pc:picChg chg="add mod">
          <ac:chgData name="Ros Sawtell" userId="7b49c2e9-9460-4f6b-ae72-c68ca4c8147b" providerId="ADAL" clId="{D6E2EB28-9AB7-4762-8034-BC1DFBA9528C}" dt="2026-10-10T07:18:20.885" v="500" actId="1076"/>
          <ac:picMkLst>
            <pc:docMk/>
            <pc:sldMk cId="792723423" sldId="608"/>
            <ac:picMk id="5" creationId="{D8557646-3747-BFAB-A60F-373F88A543A1}"/>
          </ac:picMkLst>
        </pc:picChg>
      </pc:sldChg>
      <pc:sldChg chg="addSp delSp modSp mod modNotes modNotesTx">
        <pc:chgData name="Ros Sawtell" userId="7b49c2e9-9460-4f6b-ae72-c68ca4c8147b" providerId="ADAL" clId="{D6E2EB28-9AB7-4762-8034-BC1DFBA9528C}" dt="2026-10-17T11:54:45.206" v="1165" actId="368"/>
        <pc:sldMkLst>
          <pc:docMk/>
          <pc:sldMk cId="3943141319" sldId="609"/>
        </pc:sldMkLst>
        <pc:picChg chg="add mod modCrop">
          <ac:chgData name="Ros Sawtell" userId="7b49c2e9-9460-4f6b-ae72-c68ca4c8147b" providerId="ADAL" clId="{D6E2EB28-9AB7-4762-8034-BC1DFBA9528C}" dt="2026-10-10T07:31:40.650" v="706" actId="1076"/>
          <ac:picMkLst>
            <pc:docMk/>
            <pc:sldMk cId="3943141319" sldId="609"/>
            <ac:picMk id="8" creationId="{33B9F6D4-6AA9-408C-D153-6150BB9BEE66}"/>
          </ac:picMkLst>
        </pc:picChg>
      </pc:sldChg>
      <pc:sldChg chg="add modNotes">
        <pc:chgData name="Ros Sawtell" userId="7b49c2e9-9460-4f6b-ae72-c68ca4c8147b" providerId="ADAL" clId="{D6E2EB28-9AB7-4762-8034-BC1DFBA9528C}" dt="2026-10-17T11:54:45.158" v="1147" actId="368"/>
        <pc:sldMkLst>
          <pc:docMk/>
          <pc:sldMk cId="1408357377" sldId="614"/>
        </pc:sldMkLst>
      </pc:sldChg>
      <pc:sldChg chg="modNotes">
        <pc:chgData name="Ros Sawtell" userId="7b49c2e9-9460-4f6b-ae72-c68ca4c8147b" providerId="ADAL" clId="{D6E2EB28-9AB7-4762-8034-BC1DFBA9528C}" dt="2026-10-17T11:54:45.095" v="1119" actId="368"/>
        <pc:sldMkLst>
          <pc:docMk/>
          <pc:sldMk cId="432632862" sldId="615"/>
        </pc:sldMkLst>
      </pc:sldChg>
      <pc:sldChg chg="modNotes">
        <pc:chgData name="Ros Sawtell" userId="7b49c2e9-9460-4f6b-ae72-c68ca4c8147b" providerId="ADAL" clId="{D6E2EB28-9AB7-4762-8034-BC1DFBA9528C}" dt="2026-10-17T11:54:45.158" v="1145" actId="368"/>
        <pc:sldMkLst>
          <pc:docMk/>
          <pc:sldMk cId="3151582457" sldId="616"/>
        </pc:sldMkLst>
      </pc:sldChg>
      <pc:sldChg chg="modNotes">
        <pc:chgData name="Ros Sawtell" userId="7b49c2e9-9460-4f6b-ae72-c68ca4c8147b" providerId="ADAL" clId="{D6E2EB28-9AB7-4762-8034-BC1DFBA9528C}" dt="2026-10-17T11:54:45.142" v="1143" actId="368"/>
        <pc:sldMkLst>
          <pc:docMk/>
          <pc:sldMk cId="2940501187" sldId="618"/>
        </pc:sldMkLst>
      </pc:sldChg>
      <pc:sldChg chg="modNotes">
        <pc:chgData name="Ros Sawtell" userId="7b49c2e9-9460-4f6b-ae72-c68ca4c8147b" providerId="ADAL" clId="{D6E2EB28-9AB7-4762-8034-BC1DFBA9528C}" dt="2026-10-17T11:54:45.110" v="1127" actId="368"/>
        <pc:sldMkLst>
          <pc:docMk/>
          <pc:sldMk cId="3829070047" sldId="623"/>
        </pc:sldMkLst>
      </pc:sldChg>
      <pc:sldChg chg="addSp delSp modSp mod">
        <pc:chgData name="Ros Sawtell" userId="7b49c2e9-9460-4f6b-ae72-c68ca4c8147b" providerId="ADAL" clId="{D6E2EB28-9AB7-4762-8034-BC1DFBA9528C}" dt="2026-10-17T11:42:16.281" v="1105" actId="14100"/>
        <pc:sldMkLst>
          <pc:docMk/>
          <pc:sldMk cId="3807662649" sldId="624"/>
        </pc:sldMkLst>
        <pc:picChg chg="add mod">
          <ac:chgData name="Ros Sawtell" userId="7b49c2e9-9460-4f6b-ae72-c68ca4c8147b" providerId="ADAL" clId="{D6E2EB28-9AB7-4762-8034-BC1DFBA9528C}" dt="2026-10-17T11:42:16.281" v="1105" actId="14100"/>
          <ac:picMkLst>
            <pc:docMk/>
            <pc:sldMk cId="3807662649" sldId="624"/>
            <ac:picMk id="5" creationId="{019A7FFE-1525-EBCA-7FF6-E1C50BDFCBED}"/>
          </ac:picMkLst>
        </pc:picChg>
      </pc:sldChg>
      <pc:sldChg chg="addSp delSp modSp mod modNotes">
        <pc:chgData name="Ros Sawtell" userId="7b49c2e9-9460-4f6b-ae72-c68ca4c8147b" providerId="ADAL" clId="{D6E2EB28-9AB7-4762-8034-BC1DFBA9528C}" dt="2026-10-17T11:54:45.190" v="1163" actId="368"/>
        <pc:sldMkLst>
          <pc:docMk/>
          <pc:sldMk cId="1412835500" sldId="626"/>
        </pc:sldMkLst>
        <pc:spChg chg="mod">
          <ac:chgData name="Ros Sawtell" userId="7b49c2e9-9460-4f6b-ae72-c68ca4c8147b" providerId="ADAL" clId="{D6E2EB28-9AB7-4762-8034-BC1DFBA9528C}" dt="2026-10-10T06:45:28.295" v="236" actId="14100"/>
          <ac:spMkLst>
            <pc:docMk/>
            <pc:sldMk cId="1412835500" sldId="626"/>
            <ac:spMk id="8" creationId="{DE9C51E8-5F95-B8E2-1DBB-9502D4403228}"/>
          </ac:spMkLst>
        </pc:spChg>
        <pc:picChg chg="add">
          <ac:chgData name="Ros Sawtell" userId="7b49c2e9-9460-4f6b-ae72-c68ca4c8147b" providerId="ADAL" clId="{D6E2EB28-9AB7-4762-8034-BC1DFBA9528C}" dt="2026-10-10T06:45:46.980" v="237" actId="22"/>
          <ac:picMkLst>
            <pc:docMk/>
            <pc:sldMk cId="1412835500" sldId="626"/>
            <ac:picMk id="5" creationId="{AAC85B00-430E-3836-A9F1-607D696802B8}"/>
          </ac:picMkLst>
        </pc:picChg>
      </pc:sldChg>
      <pc:sldChg chg="modSp mod modNotes modNotesTx">
        <pc:chgData name="Ros Sawtell" userId="7b49c2e9-9460-4f6b-ae72-c68ca4c8147b" providerId="ADAL" clId="{D6E2EB28-9AB7-4762-8034-BC1DFBA9528C}" dt="2026-10-17T11:54:45.174" v="1153" actId="368"/>
        <pc:sldMkLst>
          <pc:docMk/>
          <pc:sldMk cId="376637625" sldId="627"/>
        </pc:sldMkLst>
        <pc:spChg chg="mod">
          <ac:chgData name="Ros Sawtell" userId="7b49c2e9-9460-4f6b-ae72-c68ca4c8147b" providerId="ADAL" clId="{D6E2EB28-9AB7-4762-8034-BC1DFBA9528C}" dt="2026-10-10T07:00:44.390" v="381" actId="6549"/>
          <ac:spMkLst>
            <pc:docMk/>
            <pc:sldMk cId="376637625" sldId="627"/>
            <ac:spMk id="10" creationId="{8548269F-1C6D-3D88-21FE-78CDFB2AE04E}"/>
          </ac:spMkLst>
        </pc:spChg>
      </pc:sldChg>
      <pc:sldChg chg="modSp mod modNotes">
        <pc:chgData name="Ros Sawtell" userId="7b49c2e9-9460-4f6b-ae72-c68ca4c8147b" providerId="ADAL" clId="{D6E2EB28-9AB7-4762-8034-BC1DFBA9528C}" dt="2026-10-17T11:54:45.174" v="1155" actId="368"/>
        <pc:sldMkLst>
          <pc:docMk/>
          <pc:sldMk cId="2134293846" sldId="628"/>
        </pc:sldMkLst>
        <pc:spChg chg="mod">
          <ac:chgData name="Ros Sawtell" userId="7b49c2e9-9460-4f6b-ae72-c68ca4c8147b" providerId="ADAL" clId="{D6E2EB28-9AB7-4762-8034-BC1DFBA9528C}" dt="2026-10-10T07:06:52.486" v="458" actId="20577"/>
          <ac:spMkLst>
            <pc:docMk/>
            <pc:sldMk cId="2134293846" sldId="628"/>
            <ac:spMk id="9" creationId="{2A24D845-3A8A-E7E0-4A23-4146C6EDE50E}"/>
          </ac:spMkLst>
        </pc:spChg>
      </pc:sldChg>
      <pc:sldChg chg="addSp delSp modSp add mod delAnim modNotes modNotesTx">
        <pc:chgData name="Ros Sawtell" userId="7b49c2e9-9460-4f6b-ae72-c68ca4c8147b" providerId="ADAL" clId="{D6E2EB28-9AB7-4762-8034-BC1DFBA9528C}" dt="2026-10-17T11:54:45.142" v="1141" actId="368"/>
        <pc:sldMkLst>
          <pc:docMk/>
          <pc:sldMk cId="980440264" sldId="631"/>
        </pc:sldMkLst>
        <pc:spChg chg="mod">
          <ac:chgData name="Ros Sawtell" userId="7b49c2e9-9460-4f6b-ae72-c68ca4c8147b" providerId="ADAL" clId="{D6E2EB28-9AB7-4762-8034-BC1DFBA9528C}" dt="2026-10-05T05:49:19.945" v="43" actId="1076"/>
          <ac:spMkLst>
            <pc:docMk/>
            <pc:sldMk cId="980440264" sldId="631"/>
            <ac:spMk id="3" creationId="{9A0B0EDE-D07B-DE68-BB5E-2DF3D9DAE79D}"/>
          </ac:spMkLst>
        </pc:spChg>
        <pc:spChg chg="add mod">
          <ac:chgData name="Ros Sawtell" userId="7b49c2e9-9460-4f6b-ae72-c68ca4c8147b" providerId="ADAL" clId="{D6E2EB28-9AB7-4762-8034-BC1DFBA9528C}" dt="2026-10-05T05:56:52.306" v="145" actId="1076"/>
          <ac:spMkLst>
            <pc:docMk/>
            <pc:sldMk cId="980440264" sldId="631"/>
            <ac:spMk id="6" creationId="{2F29D7AC-B5ED-F9E9-DD8A-2FBA6BB80567}"/>
          </ac:spMkLst>
        </pc:spChg>
        <pc:spChg chg="add mod">
          <ac:chgData name="Ros Sawtell" userId="7b49c2e9-9460-4f6b-ae72-c68ca4c8147b" providerId="ADAL" clId="{D6E2EB28-9AB7-4762-8034-BC1DFBA9528C}" dt="2026-10-05T05:56:44.751" v="143" actId="1076"/>
          <ac:spMkLst>
            <pc:docMk/>
            <pc:sldMk cId="980440264" sldId="631"/>
            <ac:spMk id="7" creationId="{268A4DF4-9231-DA33-4CBD-37A0CB643452}"/>
          </ac:spMkLst>
        </pc:spChg>
        <pc:spChg chg="add mod">
          <ac:chgData name="Ros Sawtell" userId="7b49c2e9-9460-4f6b-ae72-c68ca4c8147b" providerId="ADAL" clId="{D6E2EB28-9AB7-4762-8034-BC1DFBA9528C}" dt="2026-10-05T06:00:05.397" v="154" actId="1076"/>
          <ac:spMkLst>
            <pc:docMk/>
            <pc:sldMk cId="980440264" sldId="631"/>
            <ac:spMk id="10" creationId="{6BB48695-0806-1AED-3E66-F84149325872}"/>
          </ac:spMkLst>
        </pc:spChg>
      </pc:sldChg>
      <pc:sldChg chg="addSp delSp modSp add mod modNotes modNotesTx">
        <pc:chgData name="Ros Sawtell" userId="7b49c2e9-9460-4f6b-ae72-c68ca4c8147b" providerId="ADAL" clId="{D6E2EB28-9AB7-4762-8034-BC1DFBA9528C}" dt="2026-10-17T11:54:45.063" v="1107" actId="368"/>
        <pc:sldMkLst>
          <pc:docMk/>
          <pc:sldMk cId="3279818958" sldId="632"/>
        </pc:sldMkLst>
        <pc:spChg chg="mod">
          <ac:chgData name="Ros Sawtell" userId="7b49c2e9-9460-4f6b-ae72-c68ca4c8147b" providerId="ADAL" clId="{D6E2EB28-9AB7-4762-8034-BC1DFBA9528C}" dt="2026-10-05T08:18:08.091" v="177" actId="20577"/>
          <ac:spMkLst>
            <pc:docMk/>
            <pc:sldMk cId="3279818958" sldId="632"/>
            <ac:spMk id="4" creationId="{5B3B7D2F-2D28-0B9E-861C-985CE24CFB09}"/>
          </ac:spMkLst>
        </pc:spChg>
        <pc:picChg chg="add mod">
          <ac:chgData name="Ros Sawtell" userId="7b49c2e9-9460-4f6b-ae72-c68ca4c8147b" providerId="ADAL" clId="{D6E2EB28-9AB7-4762-8034-BC1DFBA9528C}" dt="2026-10-05T08:17:56.914" v="174" actId="1076"/>
          <ac:picMkLst>
            <pc:docMk/>
            <pc:sldMk cId="3279818958" sldId="632"/>
            <ac:picMk id="7" creationId="{4C005A4A-0F80-B8FA-E3DE-3F0392064ED1}"/>
          </ac:picMkLst>
        </pc:picChg>
      </pc:sldChg>
      <pc:sldChg chg="addSp delSp modSp add mod modNotesTx">
        <pc:chgData name="Ros Sawtell" userId="7b49c2e9-9460-4f6b-ae72-c68ca4c8147b" providerId="ADAL" clId="{D6E2EB28-9AB7-4762-8034-BC1DFBA9528C}" dt="2026-10-10T07:29:26.154" v="698" actId="1076"/>
        <pc:sldMkLst>
          <pc:docMk/>
          <pc:sldMk cId="495938661" sldId="633"/>
        </pc:sldMkLst>
        <pc:spChg chg="mod">
          <ac:chgData name="Ros Sawtell" userId="7b49c2e9-9460-4f6b-ae72-c68ca4c8147b" providerId="ADAL" clId="{D6E2EB28-9AB7-4762-8034-BC1DFBA9528C}" dt="2026-10-10T07:28:16.001" v="690" actId="1076"/>
          <ac:spMkLst>
            <pc:docMk/>
            <pc:sldMk cId="495938661" sldId="633"/>
            <ac:spMk id="2" creationId="{E2716D2C-7CEB-8363-EB7C-07E4E0F4405A}"/>
          </ac:spMkLst>
        </pc:spChg>
        <pc:spChg chg="add mod">
          <ac:chgData name="Ros Sawtell" userId="7b49c2e9-9460-4f6b-ae72-c68ca4c8147b" providerId="ADAL" clId="{D6E2EB28-9AB7-4762-8034-BC1DFBA9528C}" dt="2026-10-10T07:29:13.525" v="697" actId="20577"/>
          <ac:spMkLst>
            <pc:docMk/>
            <pc:sldMk cId="495938661" sldId="633"/>
            <ac:spMk id="4" creationId="{BCFFDEA4-784D-DBAE-DE31-8B146C92BC9F}"/>
          </ac:spMkLst>
        </pc:spChg>
        <pc:spChg chg="mod">
          <ac:chgData name="Ros Sawtell" userId="7b49c2e9-9460-4f6b-ae72-c68ca4c8147b" providerId="ADAL" clId="{D6E2EB28-9AB7-4762-8034-BC1DFBA9528C}" dt="2026-10-10T07:28:11.892" v="689" actId="1076"/>
          <ac:spMkLst>
            <pc:docMk/>
            <pc:sldMk cId="495938661" sldId="633"/>
            <ac:spMk id="8" creationId="{0B4F96B6-F38E-7A62-5417-9E2A725260C9}"/>
          </ac:spMkLst>
        </pc:spChg>
        <pc:picChg chg="add mod">
          <ac:chgData name="Ros Sawtell" userId="7b49c2e9-9460-4f6b-ae72-c68ca4c8147b" providerId="ADAL" clId="{D6E2EB28-9AB7-4762-8034-BC1DFBA9528C}" dt="2026-10-10T07:29:26.154" v="698" actId="1076"/>
          <ac:picMkLst>
            <pc:docMk/>
            <pc:sldMk cId="495938661" sldId="633"/>
            <ac:picMk id="6" creationId="{994B7328-30BF-2602-B5E9-A8022DD97A1B}"/>
          </ac:picMkLst>
        </pc:picChg>
      </pc:sldChg>
      <pc:sldChg chg="addSp delSp modSp add mod modNotes modNotesTx">
        <pc:chgData name="Ros Sawtell" userId="7b49c2e9-9460-4f6b-ae72-c68ca4c8147b" providerId="ADAL" clId="{D6E2EB28-9AB7-4762-8034-BC1DFBA9528C}" dt="2026-10-17T11:54:45.206" v="1167" actId="368"/>
        <pc:sldMkLst>
          <pc:docMk/>
          <pc:sldMk cId="1238146704" sldId="635"/>
        </pc:sldMkLst>
        <pc:picChg chg="add mod">
          <ac:chgData name="Ros Sawtell" userId="7b49c2e9-9460-4f6b-ae72-c68ca4c8147b" providerId="ADAL" clId="{D6E2EB28-9AB7-4762-8034-BC1DFBA9528C}" dt="2026-10-10T07:37:10.292" v="741" actId="1076"/>
          <ac:picMkLst>
            <pc:docMk/>
            <pc:sldMk cId="1238146704" sldId="635"/>
            <ac:picMk id="6" creationId="{A80C828A-C661-1960-BCC6-B89B4545A67D}"/>
          </ac:picMkLst>
        </pc:picChg>
      </pc:sldChg>
      <pc:sldChg chg="addSp modSp add mod modNotes modNotesTx">
        <pc:chgData name="Ros Sawtell" userId="7b49c2e9-9460-4f6b-ae72-c68ca4c8147b" providerId="ADAL" clId="{D6E2EB28-9AB7-4762-8034-BC1DFBA9528C}" dt="2026-10-17T11:54:45.206" v="1169" actId="368"/>
        <pc:sldMkLst>
          <pc:docMk/>
          <pc:sldMk cId="2074108654" sldId="636"/>
        </pc:sldMkLst>
        <pc:picChg chg="add mod">
          <ac:chgData name="Ros Sawtell" userId="7b49c2e9-9460-4f6b-ae72-c68ca4c8147b" providerId="ADAL" clId="{D6E2EB28-9AB7-4762-8034-BC1DFBA9528C}" dt="2026-10-10T07:38:05.095" v="881" actId="1076"/>
          <ac:picMkLst>
            <pc:docMk/>
            <pc:sldMk cId="2074108654" sldId="636"/>
            <ac:picMk id="6" creationId="{81667978-7E5F-E686-2520-80783B52FD3C}"/>
          </ac:picMkLst>
        </pc:picChg>
      </pc:sldChg>
      <pc:sldChg chg="addSp modSp add mod modNotes">
        <pc:chgData name="Ros Sawtell" userId="7b49c2e9-9460-4f6b-ae72-c68ca4c8147b" providerId="ADAL" clId="{D6E2EB28-9AB7-4762-8034-BC1DFBA9528C}" dt="2026-10-17T11:54:45.206" v="1171" actId="368"/>
        <pc:sldMkLst>
          <pc:docMk/>
          <pc:sldMk cId="1319368548" sldId="639"/>
        </pc:sldMkLst>
        <pc:picChg chg="add mod">
          <ac:chgData name="Ros Sawtell" userId="7b49c2e9-9460-4f6b-ae72-c68ca4c8147b" providerId="ADAL" clId="{D6E2EB28-9AB7-4762-8034-BC1DFBA9528C}" dt="2026-10-10T07:39:03.874" v="902" actId="1076"/>
          <ac:picMkLst>
            <pc:docMk/>
            <pc:sldMk cId="1319368548" sldId="639"/>
            <ac:picMk id="6" creationId="{8695D120-515E-73B2-972C-F4AC315C7E04}"/>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114C11-A184-4380-BD17-01B5CDFCF144}"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88BA7A2E-2EF0-4EAD-BA75-EA451A49A1B0}">
      <dgm:prSet/>
      <dgm:spPr>
        <a:xfrm>
          <a:off x="3168" y="253501"/>
          <a:ext cx="1715310" cy="2401434"/>
        </a:xfrm>
        <a:prstGeom prst="rect">
          <a:avLst/>
        </a:prstGeom>
        <a:solidFill>
          <a:srgbClr val="DD8047">
            <a:tint val="40000"/>
            <a:alpha val="90000"/>
            <a:hueOff val="0"/>
            <a:satOff val="0"/>
            <a:lumOff val="0"/>
            <a:alphaOff val="0"/>
          </a:srgbClr>
        </a:solidFill>
        <a:ln w="12700" cap="flat" cmpd="sng" algn="ctr">
          <a:solidFill>
            <a:srgbClr val="DD8047">
              <a:tint val="40000"/>
              <a:alpha val="90000"/>
              <a:hueOff val="0"/>
              <a:satOff val="0"/>
              <a:lumOff val="0"/>
              <a:alphaOff val="0"/>
            </a:srgbClr>
          </a:solidFill>
          <a:prstDash val="solid"/>
          <a:miter lim="800000"/>
        </a:ln>
        <a:effectLst/>
      </dgm:spPr>
      <dgm:t>
        <a:bodyPr/>
        <a:lstStyle/>
        <a:p>
          <a:pPr>
            <a:buNone/>
          </a:pPr>
          <a:r>
            <a:rPr lang="en-AU">
              <a:solidFill>
                <a:sysClr val="windowText" lastClr="000000">
                  <a:hueOff val="0"/>
                  <a:satOff val="0"/>
                  <a:lumOff val="0"/>
                  <a:alphaOff val="0"/>
                </a:sysClr>
              </a:solidFill>
              <a:latin typeface="Avenir Next LT Pro" panose="02020404030301010803"/>
              <a:ea typeface="+mn-ea"/>
              <a:cs typeface="+mn-cs"/>
            </a:rPr>
            <a:t>Understand the importance of cultural safety</a:t>
          </a:r>
          <a:endParaRPr lang="en-US">
            <a:solidFill>
              <a:sysClr val="windowText" lastClr="000000">
                <a:hueOff val="0"/>
                <a:satOff val="0"/>
                <a:lumOff val="0"/>
                <a:alphaOff val="0"/>
              </a:sysClr>
            </a:solidFill>
            <a:latin typeface="Avenir Next LT Pro" panose="02020404030301010803"/>
            <a:ea typeface="+mn-ea"/>
            <a:cs typeface="+mn-cs"/>
          </a:endParaRPr>
        </a:p>
      </dgm:t>
    </dgm:pt>
    <dgm:pt modelId="{8A3E2DF2-B35F-47CC-ADFD-D88DDF5CADEB}" type="parTrans" cxnId="{E75ADC1E-0019-448F-881D-9D429D3B5E9D}">
      <dgm:prSet/>
      <dgm:spPr/>
      <dgm:t>
        <a:bodyPr/>
        <a:lstStyle/>
        <a:p>
          <a:endParaRPr lang="en-US"/>
        </a:p>
      </dgm:t>
    </dgm:pt>
    <dgm:pt modelId="{66339B12-572E-4013-85FC-B713DE285D6F}" type="sibTrans" cxnId="{E75ADC1E-0019-448F-881D-9D429D3B5E9D}">
      <dgm:prSet phldrT="1" phldr="0"/>
      <dgm:spPr>
        <a:xfrm>
          <a:off x="500608" y="493644"/>
          <a:ext cx="720430" cy="720430"/>
        </a:xfrm>
        <a:prstGeom prst="ellipse">
          <a:avLst/>
        </a:prstGeom>
        <a:solidFill>
          <a:srgbClr val="DD8047">
            <a:hueOff val="0"/>
            <a:satOff val="0"/>
            <a:lumOff val="0"/>
            <a:alphaOff val="0"/>
          </a:srgbClr>
        </a:solidFill>
        <a:ln w="12700" cap="flat" cmpd="sng" algn="ctr">
          <a:solidFill>
            <a:srgbClr val="DD8047">
              <a:hueOff val="0"/>
              <a:satOff val="0"/>
              <a:lumOff val="0"/>
              <a:alphaOff val="0"/>
            </a:srgbClr>
          </a:solidFill>
          <a:prstDash val="solid"/>
          <a:miter lim="800000"/>
        </a:ln>
        <a:effectLst/>
      </dgm:spPr>
      <dgm:t>
        <a:bodyPr/>
        <a:lstStyle/>
        <a:p>
          <a:pPr>
            <a:buNone/>
          </a:pPr>
          <a:r>
            <a:rPr lang="en-US">
              <a:solidFill>
                <a:sysClr val="window" lastClr="FFFFFF"/>
              </a:solidFill>
              <a:latin typeface="Avenir Next LT Pro" panose="02020404030301010803"/>
              <a:ea typeface="+mn-ea"/>
              <a:cs typeface="+mn-cs"/>
            </a:rPr>
            <a:t>1</a:t>
          </a:r>
        </a:p>
      </dgm:t>
    </dgm:pt>
    <dgm:pt modelId="{7AD1D4F2-F96C-4E01-A39B-39DE24C51EE0}">
      <dgm:prSet/>
      <dgm:spPr>
        <a:xfrm>
          <a:off x="1890009" y="253501"/>
          <a:ext cx="1715310" cy="2401434"/>
        </a:xfrm>
        <a:prstGeom prst="rect">
          <a:avLst/>
        </a:prstGeom>
        <a:solidFill>
          <a:srgbClr val="DD8047">
            <a:tint val="40000"/>
            <a:alpha val="90000"/>
            <a:hueOff val="819279"/>
            <a:satOff val="-10654"/>
            <a:lumOff val="-337"/>
            <a:alphaOff val="0"/>
          </a:srgbClr>
        </a:solidFill>
        <a:ln w="12700" cap="flat" cmpd="sng" algn="ctr">
          <a:solidFill>
            <a:srgbClr val="DD8047">
              <a:tint val="40000"/>
              <a:alpha val="90000"/>
              <a:hueOff val="819279"/>
              <a:satOff val="-10654"/>
              <a:lumOff val="-337"/>
              <a:alphaOff val="0"/>
            </a:srgbClr>
          </a:solidFill>
          <a:prstDash val="solid"/>
          <a:miter lim="800000"/>
        </a:ln>
        <a:effectLst/>
      </dgm:spPr>
      <dgm:t>
        <a:bodyPr/>
        <a:lstStyle/>
        <a:p>
          <a:pPr>
            <a:buNone/>
          </a:pPr>
          <a:r>
            <a:rPr lang="en-AU">
              <a:solidFill>
                <a:sysClr val="windowText" lastClr="000000">
                  <a:hueOff val="0"/>
                  <a:satOff val="0"/>
                  <a:lumOff val="0"/>
                  <a:alphaOff val="0"/>
                </a:sysClr>
              </a:solidFill>
              <a:latin typeface="Avenir Next LT Pro" panose="02020404030301010803"/>
              <a:ea typeface="+mn-ea"/>
              <a:cs typeface="+mn-cs"/>
            </a:rPr>
            <a:t>Be respectful</a:t>
          </a:r>
          <a:endParaRPr lang="en-US">
            <a:solidFill>
              <a:sysClr val="windowText" lastClr="000000">
                <a:hueOff val="0"/>
                <a:satOff val="0"/>
                <a:lumOff val="0"/>
                <a:alphaOff val="0"/>
              </a:sysClr>
            </a:solidFill>
            <a:latin typeface="Avenir Next LT Pro" panose="02020404030301010803"/>
            <a:ea typeface="+mn-ea"/>
            <a:cs typeface="+mn-cs"/>
          </a:endParaRPr>
        </a:p>
      </dgm:t>
    </dgm:pt>
    <dgm:pt modelId="{CCDF6579-608E-4B08-BE13-C6AF774076B8}" type="parTrans" cxnId="{0EA06443-1958-4852-B2B6-1A087BD39011}">
      <dgm:prSet/>
      <dgm:spPr/>
      <dgm:t>
        <a:bodyPr/>
        <a:lstStyle/>
        <a:p>
          <a:endParaRPr lang="en-US"/>
        </a:p>
      </dgm:t>
    </dgm:pt>
    <dgm:pt modelId="{8CB2FC7B-B6F9-43F0-8827-668ADEF965D2}" type="sibTrans" cxnId="{0EA06443-1958-4852-B2B6-1A087BD39011}">
      <dgm:prSet phldrT="2" phldr="0"/>
      <dgm:spPr>
        <a:xfrm>
          <a:off x="2387449" y="493644"/>
          <a:ext cx="720430" cy="720430"/>
        </a:xfrm>
        <a:prstGeom prst="ellipse">
          <a:avLst/>
        </a:prstGeom>
        <a:solidFill>
          <a:srgbClr val="DD8047">
            <a:hueOff val="610298"/>
            <a:satOff val="-10846"/>
            <a:lumOff val="349"/>
            <a:alphaOff val="0"/>
          </a:srgbClr>
        </a:solidFill>
        <a:ln w="12700" cap="flat" cmpd="sng" algn="ctr">
          <a:solidFill>
            <a:srgbClr val="DD8047">
              <a:hueOff val="610298"/>
              <a:satOff val="-10846"/>
              <a:lumOff val="349"/>
              <a:alphaOff val="0"/>
            </a:srgbClr>
          </a:solidFill>
          <a:prstDash val="solid"/>
          <a:miter lim="800000"/>
        </a:ln>
        <a:effectLst/>
      </dgm:spPr>
      <dgm:t>
        <a:bodyPr/>
        <a:lstStyle/>
        <a:p>
          <a:pPr>
            <a:buNone/>
          </a:pPr>
          <a:r>
            <a:rPr lang="en-US">
              <a:solidFill>
                <a:sysClr val="window" lastClr="FFFFFF"/>
              </a:solidFill>
              <a:latin typeface="Avenir Next LT Pro" panose="02020404030301010803"/>
              <a:ea typeface="+mn-ea"/>
              <a:cs typeface="+mn-cs"/>
            </a:rPr>
            <a:t>2</a:t>
          </a:r>
        </a:p>
      </dgm:t>
    </dgm:pt>
    <dgm:pt modelId="{88B3CFF4-0621-434B-AD49-D55CC4613FD8}">
      <dgm:prSet/>
      <dgm:spPr>
        <a:xfrm>
          <a:off x="3776850" y="253501"/>
          <a:ext cx="1715310" cy="2401434"/>
        </a:xfrm>
        <a:prstGeom prst="rect">
          <a:avLst/>
        </a:prstGeom>
        <a:solidFill>
          <a:srgbClr val="DD8047">
            <a:tint val="40000"/>
            <a:alpha val="90000"/>
            <a:hueOff val="1638559"/>
            <a:satOff val="-21307"/>
            <a:lumOff val="-673"/>
            <a:alphaOff val="0"/>
          </a:srgbClr>
        </a:solidFill>
        <a:ln w="12700" cap="flat" cmpd="sng" algn="ctr">
          <a:solidFill>
            <a:srgbClr val="DD8047">
              <a:tint val="40000"/>
              <a:alpha val="90000"/>
              <a:hueOff val="1638559"/>
              <a:satOff val="-21307"/>
              <a:lumOff val="-673"/>
              <a:alphaOff val="0"/>
            </a:srgbClr>
          </a:solidFill>
          <a:prstDash val="solid"/>
          <a:miter lim="800000"/>
        </a:ln>
        <a:effectLst/>
      </dgm:spPr>
      <dgm:t>
        <a:bodyPr/>
        <a:lstStyle/>
        <a:p>
          <a:pPr>
            <a:buNone/>
          </a:pPr>
          <a:r>
            <a:rPr lang="en-AU" dirty="0">
              <a:solidFill>
                <a:sysClr val="windowText" lastClr="000000">
                  <a:hueOff val="0"/>
                  <a:satOff val="0"/>
                  <a:lumOff val="0"/>
                  <a:alphaOff val="0"/>
                </a:sysClr>
              </a:solidFill>
              <a:latin typeface="Avenir Next LT Pro" panose="02020404030301010803"/>
              <a:ea typeface="+mn-ea"/>
              <a:cs typeface="+mn-cs"/>
            </a:rPr>
            <a:t>Acknowledge your own inadequacies, and the things you do not know</a:t>
          </a:r>
          <a:endParaRPr lang="en-US" dirty="0">
            <a:solidFill>
              <a:sysClr val="windowText" lastClr="000000">
                <a:hueOff val="0"/>
                <a:satOff val="0"/>
                <a:lumOff val="0"/>
                <a:alphaOff val="0"/>
              </a:sysClr>
            </a:solidFill>
            <a:latin typeface="Avenir Next LT Pro" panose="02020404030301010803"/>
            <a:ea typeface="+mn-ea"/>
            <a:cs typeface="+mn-cs"/>
          </a:endParaRPr>
        </a:p>
      </dgm:t>
    </dgm:pt>
    <dgm:pt modelId="{D38416FF-300C-4F96-A120-E32BFCCF552D}" type="parTrans" cxnId="{B34BEBDD-6175-4EBB-A6EE-E75CAAE87243}">
      <dgm:prSet/>
      <dgm:spPr/>
      <dgm:t>
        <a:bodyPr/>
        <a:lstStyle/>
        <a:p>
          <a:endParaRPr lang="en-US"/>
        </a:p>
      </dgm:t>
    </dgm:pt>
    <dgm:pt modelId="{2D7E2EBC-2546-4C84-A468-679E9E10590E}" type="sibTrans" cxnId="{B34BEBDD-6175-4EBB-A6EE-E75CAAE87243}">
      <dgm:prSet phldrT="3" phldr="0"/>
      <dgm:spPr>
        <a:xfrm>
          <a:off x="4274290" y="493644"/>
          <a:ext cx="720430" cy="720430"/>
        </a:xfrm>
        <a:prstGeom prst="ellipse">
          <a:avLst/>
        </a:prstGeom>
        <a:solidFill>
          <a:srgbClr val="DD8047">
            <a:hueOff val="1220595"/>
            <a:satOff val="-21692"/>
            <a:lumOff val="697"/>
            <a:alphaOff val="0"/>
          </a:srgbClr>
        </a:solidFill>
        <a:ln w="12700" cap="flat" cmpd="sng" algn="ctr">
          <a:solidFill>
            <a:srgbClr val="DD8047">
              <a:hueOff val="1220595"/>
              <a:satOff val="-21692"/>
              <a:lumOff val="697"/>
              <a:alphaOff val="0"/>
            </a:srgbClr>
          </a:solidFill>
          <a:prstDash val="solid"/>
          <a:miter lim="800000"/>
        </a:ln>
        <a:effectLst/>
      </dgm:spPr>
      <dgm:t>
        <a:bodyPr/>
        <a:lstStyle/>
        <a:p>
          <a:pPr>
            <a:buNone/>
          </a:pPr>
          <a:r>
            <a:rPr lang="en-US">
              <a:solidFill>
                <a:sysClr val="window" lastClr="FFFFFF"/>
              </a:solidFill>
              <a:latin typeface="Avenir Next LT Pro" panose="02020404030301010803"/>
              <a:ea typeface="+mn-ea"/>
              <a:cs typeface="+mn-cs"/>
            </a:rPr>
            <a:t>3</a:t>
          </a:r>
        </a:p>
      </dgm:t>
    </dgm:pt>
    <dgm:pt modelId="{E7F62E55-9448-41A9-95E3-456811EF0D1C}">
      <dgm:prSet/>
      <dgm:spPr>
        <a:xfrm>
          <a:off x="5663692" y="253501"/>
          <a:ext cx="1715310" cy="2401434"/>
        </a:xfrm>
        <a:prstGeom prst="rect">
          <a:avLst/>
        </a:prstGeom>
        <a:solidFill>
          <a:srgbClr val="DD8047">
            <a:tint val="40000"/>
            <a:alpha val="90000"/>
            <a:hueOff val="2457838"/>
            <a:satOff val="-31961"/>
            <a:lumOff val="-1010"/>
            <a:alphaOff val="0"/>
          </a:srgbClr>
        </a:solidFill>
        <a:ln w="12700" cap="flat" cmpd="sng" algn="ctr">
          <a:solidFill>
            <a:srgbClr val="DD8047">
              <a:tint val="40000"/>
              <a:alpha val="90000"/>
              <a:hueOff val="2457838"/>
              <a:satOff val="-31961"/>
              <a:lumOff val="-1010"/>
              <a:alphaOff val="0"/>
            </a:srgbClr>
          </a:solidFill>
          <a:prstDash val="solid"/>
          <a:miter lim="800000"/>
        </a:ln>
        <a:effectLst/>
      </dgm:spPr>
      <dgm:t>
        <a:bodyPr/>
        <a:lstStyle/>
        <a:p>
          <a:pPr>
            <a:buNone/>
          </a:pPr>
          <a:r>
            <a:rPr lang="en-AU" dirty="0">
              <a:solidFill>
                <a:sysClr val="windowText" lastClr="000000">
                  <a:hueOff val="0"/>
                  <a:satOff val="0"/>
                  <a:lumOff val="0"/>
                  <a:alphaOff val="0"/>
                </a:sysClr>
              </a:solidFill>
              <a:latin typeface="Avenir Next LT Pro" panose="02020404030301010803"/>
              <a:ea typeface="+mn-ea"/>
              <a:cs typeface="+mn-cs"/>
            </a:rPr>
            <a:t>Develop a trusting relationship with the patient/client, the Indigenous health workers, and the community</a:t>
          </a:r>
          <a:endParaRPr lang="en-US" dirty="0">
            <a:solidFill>
              <a:sysClr val="windowText" lastClr="000000">
                <a:hueOff val="0"/>
                <a:satOff val="0"/>
                <a:lumOff val="0"/>
                <a:alphaOff val="0"/>
              </a:sysClr>
            </a:solidFill>
            <a:latin typeface="Avenir Next LT Pro" panose="02020404030301010803"/>
            <a:ea typeface="+mn-ea"/>
            <a:cs typeface="+mn-cs"/>
          </a:endParaRPr>
        </a:p>
      </dgm:t>
    </dgm:pt>
    <dgm:pt modelId="{DD6FA035-9561-46DF-A8C6-DC915F242E72}" type="parTrans" cxnId="{B5718129-A154-460B-A922-76E03ABFB8A9}">
      <dgm:prSet/>
      <dgm:spPr/>
      <dgm:t>
        <a:bodyPr/>
        <a:lstStyle/>
        <a:p>
          <a:endParaRPr lang="en-US"/>
        </a:p>
      </dgm:t>
    </dgm:pt>
    <dgm:pt modelId="{9AF10E6B-7F57-45D4-BF61-2FE38950DEEC}" type="sibTrans" cxnId="{B5718129-A154-460B-A922-76E03ABFB8A9}">
      <dgm:prSet phldrT="4" phldr="0"/>
      <dgm:spPr>
        <a:xfrm>
          <a:off x="6161132" y="493644"/>
          <a:ext cx="720430" cy="720430"/>
        </a:xfrm>
        <a:prstGeom prst="ellipse">
          <a:avLst/>
        </a:prstGeom>
        <a:solidFill>
          <a:srgbClr val="DD8047">
            <a:hueOff val="1830893"/>
            <a:satOff val="-32539"/>
            <a:lumOff val="1046"/>
            <a:alphaOff val="0"/>
          </a:srgbClr>
        </a:solidFill>
        <a:ln w="12700" cap="flat" cmpd="sng" algn="ctr">
          <a:solidFill>
            <a:srgbClr val="DD8047">
              <a:hueOff val="1830893"/>
              <a:satOff val="-32539"/>
              <a:lumOff val="1046"/>
              <a:alphaOff val="0"/>
            </a:srgbClr>
          </a:solidFill>
          <a:prstDash val="solid"/>
          <a:miter lim="800000"/>
        </a:ln>
        <a:effectLst/>
      </dgm:spPr>
      <dgm:t>
        <a:bodyPr/>
        <a:lstStyle/>
        <a:p>
          <a:pPr>
            <a:buNone/>
          </a:pPr>
          <a:r>
            <a:rPr lang="en-US">
              <a:solidFill>
                <a:sysClr val="window" lastClr="FFFFFF"/>
              </a:solidFill>
              <a:latin typeface="Avenir Next LT Pro" panose="02020404030301010803"/>
              <a:ea typeface="+mn-ea"/>
              <a:cs typeface="+mn-cs"/>
            </a:rPr>
            <a:t>4</a:t>
          </a:r>
        </a:p>
      </dgm:t>
    </dgm:pt>
    <dgm:pt modelId="{BB76DE30-9F9F-460C-915C-58A2AC255B65}">
      <dgm:prSet/>
      <dgm:spPr>
        <a:xfrm>
          <a:off x="7550533" y="253501"/>
          <a:ext cx="1715310" cy="2401434"/>
        </a:xfrm>
        <a:prstGeom prst="rect">
          <a:avLst/>
        </a:prstGeom>
        <a:solidFill>
          <a:srgbClr val="DD8047">
            <a:tint val="40000"/>
            <a:alpha val="90000"/>
            <a:hueOff val="3277117"/>
            <a:satOff val="-42615"/>
            <a:lumOff val="-1347"/>
            <a:alphaOff val="0"/>
          </a:srgbClr>
        </a:solidFill>
        <a:ln w="12700" cap="flat" cmpd="sng" algn="ctr">
          <a:solidFill>
            <a:srgbClr val="DD8047">
              <a:tint val="40000"/>
              <a:alpha val="90000"/>
              <a:hueOff val="3277117"/>
              <a:satOff val="-42615"/>
              <a:lumOff val="-1347"/>
              <a:alphaOff val="0"/>
            </a:srgbClr>
          </a:solidFill>
          <a:prstDash val="solid"/>
          <a:miter lim="800000"/>
        </a:ln>
        <a:effectLst/>
      </dgm:spPr>
      <dgm:t>
        <a:bodyPr/>
        <a:lstStyle/>
        <a:p>
          <a:pPr>
            <a:buNone/>
          </a:pPr>
          <a:r>
            <a:rPr lang="en-AU" dirty="0">
              <a:solidFill>
                <a:sysClr val="windowText" lastClr="000000">
                  <a:hueOff val="0"/>
                  <a:satOff val="0"/>
                  <a:lumOff val="0"/>
                  <a:alphaOff val="0"/>
                </a:sysClr>
              </a:solidFill>
              <a:latin typeface="Avenir Next LT Pro" panose="02020404030301010803"/>
              <a:ea typeface="+mn-ea"/>
              <a:cs typeface="+mn-cs"/>
            </a:rPr>
            <a:t>Be mindful of your attitude, behaviour and communication (both verbal and non-verbal) at all times.</a:t>
          </a:r>
          <a:endParaRPr lang="en-US" dirty="0">
            <a:solidFill>
              <a:sysClr val="windowText" lastClr="000000">
                <a:hueOff val="0"/>
                <a:satOff val="0"/>
                <a:lumOff val="0"/>
                <a:alphaOff val="0"/>
              </a:sysClr>
            </a:solidFill>
            <a:latin typeface="Avenir Next LT Pro" panose="02020404030301010803"/>
            <a:ea typeface="+mn-ea"/>
            <a:cs typeface="+mn-cs"/>
          </a:endParaRPr>
        </a:p>
      </dgm:t>
    </dgm:pt>
    <dgm:pt modelId="{D6C64915-2BE2-4F1E-9B3A-CFF0E57AD811}" type="parTrans" cxnId="{D6DC145C-96DA-4574-8A76-F5452161699F}">
      <dgm:prSet/>
      <dgm:spPr/>
      <dgm:t>
        <a:bodyPr/>
        <a:lstStyle/>
        <a:p>
          <a:endParaRPr lang="en-US"/>
        </a:p>
      </dgm:t>
    </dgm:pt>
    <dgm:pt modelId="{F20C9CEC-F5F3-4D5B-BE4F-AE7A95AE451C}" type="sibTrans" cxnId="{D6DC145C-96DA-4574-8A76-F5452161699F}">
      <dgm:prSet phldrT="5" phldr="0"/>
      <dgm:spPr>
        <a:xfrm>
          <a:off x="8047973" y="493644"/>
          <a:ext cx="720430" cy="720430"/>
        </a:xfrm>
        <a:prstGeom prst="ellipse">
          <a:avLst/>
        </a:prstGeom>
        <a:solidFill>
          <a:srgbClr val="DD8047">
            <a:hueOff val="2441191"/>
            <a:satOff val="-43385"/>
            <a:lumOff val="1395"/>
            <a:alphaOff val="0"/>
          </a:srgbClr>
        </a:solidFill>
        <a:ln w="12700" cap="flat" cmpd="sng" algn="ctr">
          <a:solidFill>
            <a:srgbClr val="DD8047">
              <a:hueOff val="2441191"/>
              <a:satOff val="-43385"/>
              <a:lumOff val="1395"/>
              <a:alphaOff val="0"/>
            </a:srgbClr>
          </a:solidFill>
          <a:prstDash val="solid"/>
          <a:miter lim="800000"/>
        </a:ln>
        <a:effectLst/>
      </dgm:spPr>
      <dgm:t>
        <a:bodyPr/>
        <a:lstStyle/>
        <a:p>
          <a:pPr>
            <a:buNone/>
          </a:pPr>
          <a:r>
            <a:rPr lang="en-US">
              <a:solidFill>
                <a:sysClr val="window" lastClr="FFFFFF"/>
              </a:solidFill>
              <a:latin typeface="Avenir Next LT Pro" panose="02020404030301010803"/>
              <a:ea typeface="+mn-ea"/>
              <a:cs typeface="+mn-cs"/>
            </a:rPr>
            <a:t>5</a:t>
          </a:r>
        </a:p>
      </dgm:t>
    </dgm:pt>
    <dgm:pt modelId="{530E4B2F-8459-4FFD-BA67-16513F15AD9E}" type="pres">
      <dgm:prSet presAssocID="{61114C11-A184-4380-BD17-01B5CDFCF144}" presName="Name0" presStyleCnt="0">
        <dgm:presLayoutVars>
          <dgm:animLvl val="lvl"/>
          <dgm:resizeHandles val="exact"/>
        </dgm:presLayoutVars>
      </dgm:prSet>
      <dgm:spPr/>
    </dgm:pt>
    <dgm:pt modelId="{908B9C40-9AAE-4ACD-AD63-DB2B952DEF46}" type="pres">
      <dgm:prSet presAssocID="{88BA7A2E-2EF0-4EAD-BA75-EA451A49A1B0}" presName="compositeNode" presStyleCnt="0">
        <dgm:presLayoutVars>
          <dgm:bulletEnabled val="1"/>
        </dgm:presLayoutVars>
      </dgm:prSet>
      <dgm:spPr/>
    </dgm:pt>
    <dgm:pt modelId="{6E4E2A1B-E85A-4FEB-BCFD-8AEBB1352A2F}" type="pres">
      <dgm:prSet presAssocID="{88BA7A2E-2EF0-4EAD-BA75-EA451A49A1B0}" presName="bgRect" presStyleLbl="bgAccFollowNode1" presStyleIdx="0" presStyleCnt="5"/>
      <dgm:spPr/>
    </dgm:pt>
    <dgm:pt modelId="{E6284C23-EFA4-4EF3-8B83-E7936F07E1CF}" type="pres">
      <dgm:prSet presAssocID="{66339B12-572E-4013-85FC-B713DE285D6F}" presName="sibTransNodeCircle" presStyleLbl="alignNode1" presStyleIdx="0" presStyleCnt="10">
        <dgm:presLayoutVars>
          <dgm:chMax val="0"/>
          <dgm:bulletEnabled/>
        </dgm:presLayoutVars>
      </dgm:prSet>
      <dgm:spPr/>
    </dgm:pt>
    <dgm:pt modelId="{3A031E3F-0942-4182-96FC-99F408606888}" type="pres">
      <dgm:prSet presAssocID="{88BA7A2E-2EF0-4EAD-BA75-EA451A49A1B0}" presName="bottomLine" presStyleLbl="alignNode1" presStyleIdx="1" presStyleCnt="10">
        <dgm:presLayoutVars/>
      </dgm:prSet>
      <dgm:spPr>
        <a:xfrm>
          <a:off x="3168" y="2654863"/>
          <a:ext cx="1715310" cy="72"/>
        </a:xfrm>
        <a:prstGeom prst="rect">
          <a:avLst/>
        </a:prstGeom>
        <a:solidFill>
          <a:srgbClr val="DD8047">
            <a:hueOff val="305149"/>
            <a:satOff val="-5423"/>
            <a:lumOff val="174"/>
            <a:alphaOff val="0"/>
          </a:srgbClr>
        </a:solidFill>
        <a:ln w="12700" cap="flat" cmpd="sng" algn="ctr">
          <a:solidFill>
            <a:srgbClr val="DD8047">
              <a:hueOff val="305149"/>
              <a:satOff val="-5423"/>
              <a:lumOff val="174"/>
              <a:alphaOff val="0"/>
            </a:srgbClr>
          </a:solidFill>
          <a:prstDash val="solid"/>
          <a:miter lim="800000"/>
        </a:ln>
        <a:effectLst/>
      </dgm:spPr>
    </dgm:pt>
    <dgm:pt modelId="{FAB29D59-076D-4D62-956C-48B0D0A28FC0}" type="pres">
      <dgm:prSet presAssocID="{88BA7A2E-2EF0-4EAD-BA75-EA451A49A1B0}" presName="nodeText" presStyleLbl="bgAccFollowNode1" presStyleIdx="0" presStyleCnt="5">
        <dgm:presLayoutVars>
          <dgm:bulletEnabled val="1"/>
        </dgm:presLayoutVars>
      </dgm:prSet>
      <dgm:spPr/>
    </dgm:pt>
    <dgm:pt modelId="{0ACA4C57-D43F-4F84-AD7B-532EBD97B53A}" type="pres">
      <dgm:prSet presAssocID="{66339B12-572E-4013-85FC-B713DE285D6F}" presName="sibTrans" presStyleCnt="0"/>
      <dgm:spPr/>
    </dgm:pt>
    <dgm:pt modelId="{D5B7F847-2624-4028-B77E-157FEA324CDB}" type="pres">
      <dgm:prSet presAssocID="{7AD1D4F2-F96C-4E01-A39B-39DE24C51EE0}" presName="compositeNode" presStyleCnt="0">
        <dgm:presLayoutVars>
          <dgm:bulletEnabled val="1"/>
        </dgm:presLayoutVars>
      </dgm:prSet>
      <dgm:spPr/>
    </dgm:pt>
    <dgm:pt modelId="{C4EF9174-FC6C-4DD4-BD65-62486D05C498}" type="pres">
      <dgm:prSet presAssocID="{7AD1D4F2-F96C-4E01-A39B-39DE24C51EE0}" presName="bgRect" presStyleLbl="bgAccFollowNode1" presStyleIdx="1" presStyleCnt="5"/>
      <dgm:spPr/>
    </dgm:pt>
    <dgm:pt modelId="{D5E6815C-434A-4F1F-8233-F959F96D8725}" type="pres">
      <dgm:prSet presAssocID="{8CB2FC7B-B6F9-43F0-8827-668ADEF965D2}" presName="sibTransNodeCircle" presStyleLbl="alignNode1" presStyleIdx="2" presStyleCnt="10">
        <dgm:presLayoutVars>
          <dgm:chMax val="0"/>
          <dgm:bulletEnabled/>
        </dgm:presLayoutVars>
      </dgm:prSet>
      <dgm:spPr/>
    </dgm:pt>
    <dgm:pt modelId="{D9DA0931-342F-4C37-8B3B-F48ADE65169C}" type="pres">
      <dgm:prSet presAssocID="{7AD1D4F2-F96C-4E01-A39B-39DE24C51EE0}" presName="bottomLine" presStyleLbl="alignNode1" presStyleIdx="3" presStyleCnt="10">
        <dgm:presLayoutVars/>
      </dgm:prSet>
      <dgm:spPr>
        <a:xfrm>
          <a:off x="1890009" y="2654863"/>
          <a:ext cx="1715310" cy="72"/>
        </a:xfrm>
        <a:prstGeom prst="rect">
          <a:avLst/>
        </a:prstGeom>
        <a:solidFill>
          <a:srgbClr val="DD8047">
            <a:hueOff val="915447"/>
            <a:satOff val="-16269"/>
            <a:lumOff val="523"/>
            <a:alphaOff val="0"/>
          </a:srgbClr>
        </a:solidFill>
        <a:ln w="12700" cap="flat" cmpd="sng" algn="ctr">
          <a:solidFill>
            <a:srgbClr val="DD8047">
              <a:hueOff val="915447"/>
              <a:satOff val="-16269"/>
              <a:lumOff val="523"/>
              <a:alphaOff val="0"/>
            </a:srgbClr>
          </a:solidFill>
          <a:prstDash val="solid"/>
          <a:miter lim="800000"/>
        </a:ln>
        <a:effectLst/>
      </dgm:spPr>
    </dgm:pt>
    <dgm:pt modelId="{CF2F62E7-AA2C-48CE-B242-C99C290177E8}" type="pres">
      <dgm:prSet presAssocID="{7AD1D4F2-F96C-4E01-A39B-39DE24C51EE0}" presName="nodeText" presStyleLbl="bgAccFollowNode1" presStyleIdx="1" presStyleCnt="5">
        <dgm:presLayoutVars>
          <dgm:bulletEnabled val="1"/>
        </dgm:presLayoutVars>
      </dgm:prSet>
      <dgm:spPr/>
    </dgm:pt>
    <dgm:pt modelId="{D109C157-27DE-4EE0-9186-B9A11B6DB532}" type="pres">
      <dgm:prSet presAssocID="{8CB2FC7B-B6F9-43F0-8827-668ADEF965D2}" presName="sibTrans" presStyleCnt="0"/>
      <dgm:spPr/>
    </dgm:pt>
    <dgm:pt modelId="{A3525612-7E8D-4EF8-8BE2-C5C759415C5A}" type="pres">
      <dgm:prSet presAssocID="{88B3CFF4-0621-434B-AD49-D55CC4613FD8}" presName="compositeNode" presStyleCnt="0">
        <dgm:presLayoutVars>
          <dgm:bulletEnabled val="1"/>
        </dgm:presLayoutVars>
      </dgm:prSet>
      <dgm:spPr/>
    </dgm:pt>
    <dgm:pt modelId="{D820C72F-DA53-4839-8338-DAA52D0FFCF0}" type="pres">
      <dgm:prSet presAssocID="{88B3CFF4-0621-434B-AD49-D55CC4613FD8}" presName="bgRect" presStyleLbl="bgAccFollowNode1" presStyleIdx="2" presStyleCnt="5"/>
      <dgm:spPr/>
    </dgm:pt>
    <dgm:pt modelId="{CC4AA886-FA91-44EA-9E45-F091F07836FA}" type="pres">
      <dgm:prSet presAssocID="{2D7E2EBC-2546-4C84-A468-679E9E10590E}" presName="sibTransNodeCircle" presStyleLbl="alignNode1" presStyleIdx="4" presStyleCnt="10">
        <dgm:presLayoutVars>
          <dgm:chMax val="0"/>
          <dgm:bulletEnabled/>
        </dgm:presLayoutVars>
      </dgm:prSet>
      <dgm:spPr/>
    </dgm:pt>
    <dgm:pt modelId="{708DCC69-0DC7-4B79-BC5B-A0C43151AE77}" type="pres">
      <dgm:prSet presAssocID="{88B3CFF4-0621-434B-AD49-D55CC4613FD8}" presName="bottomLine" presStyleLbl="alignNode1" presStyleIdx="5" presStyleCnt="10">
        <dgm:presLayoutVars/>
      </dgm:prSet>
      <dgm:spPr>
        <a:xfrm>
          <a:off x="3776850" y="2654863"/>
          <a:ext cx="1715310" cy="72"/>
        </a:xfrm>
        <a:prstGeom prst="rect">
          <a:avLst/>
        </a:prstGeom>
        <a:solidFill>
          <a:srgbClr val="DD8047">
            <a:hueOff val="1525744"/>
            <a:satOff val="-27116"/>
            <a:lumOff val="872"/>
            <a:alphaOff val="0"/>
          </a:srgbClr>
        </a:solidFill>
        <a:ln w="12700" cap="flat" cmpd="sng" algn="ctr">
          <a:solidFill>
            <a:srgbClr val="DD8047">
              <a:hueOff val="1525744"/>
              <a:satOff val="-27116"/>
              <a:lumOff val="872"/>
              <a:alphaOff val="0"/>
            </a:srgbClr>
          </a:solidFill>
          <a:prstDash val="solid"/>
          <a:miter lim="800000"/>
        </a:ln>
        <a:effectLst/>
      </dgm:spPr>
    </dgm:pt>
    <dgm:pt modelId="{29177FB7-204D-473A-B391-A6C658A247CF}" type="pres">
      <dgm:prSet presAssocID="{88B3CFF4-0621-434B-AD49-D55CC4613FD8}" presName="nodeText" presStyleLbl="bgAccFollowNode1" presStyleIdx="2" presStyleCnt="5">
        <dgm:presLayoutVars>
          <dgm:bulletEnabled val="1"/>
        </dgm:presLayoutVars>
      </dgm:prSet>
      <dgm:spPr/>
    </dgm:pt>
    <dgm:pt modelId="{E80435BE-C2ED-4B08-A476-5C9337753943}" type="pres">
      <dgm:prSet presAssocID="{2D7E2EBC-2546-4C84-A468-679E9E10590E}" presName="sibTrans" presStyleCnt="0"/>
      <dgm:spPr/>
    </dgm:pt>
    <dgm:pt modelId="{0B5CC764-F72A-459A-9C86-04AA7B7EB7AF}" type="pres">
      <dgm:prSet presAssocID="{E7F62E55-9448-41A9-95E3-456811EF0D1C}" presName="compositeNode" presStyleCnt="0">
        <dgm:presLayoutVars>
          <dgm:bulletEnabled val="1"/>
        </dgm:presLayoutVars>
      </dgm:prSet>
      <dgm:spPr/>
    </dgm:pt>
    <dgm:pt modelId="{76BE0E7E-4321-4F2F-B9D8-493E34F3DCC6}" type="pres">
      <dgm:prSet presAssocID="{E7F62E55-9448-41A9-95E3-456811EF0D1C}" presName="bgRect" presStyleLbl="bgAccFollowNode1" presStyleIdx="3" presStyleCnt="5"/>
      <dgm:spPr/>
    </dgm:pt>
    <dgm:pt modelId="{E6B041BC-9E46-44F7-818A-3C7C3FB0F7A3}" type="pres">
      <dgm:prSet presAssocID="{9AF10E6B-7F57-45D4-BF61-2FE38950DEEC}" presName="sibTransNodeCircle" presStyleLbl="alignNode1" presStyleIdx="6" presStyleCnt="10">
        <dgm:presLayoutVars>
          <dgm:chMax val="0"/>
          <dgm:bulletEnabled/>
        </dgm:presLayoutVars>
      </dgm:prSet>
      <dgm:spPr/>
    </dgm:pt>
    <dgm:pt modelId="{2C188847-CE29-4161-A705-8242B605668C}" type="pres">
      <dgm:prSet presAssocID="{E7F62E55-9448-41A9-95E3-456811EF0D1C}" presName="bottomLine" presStyleLbl="alignNode1" presStyleIdx="7" presStyleCnt="10">
        <dgm:presLayoutVars/>
      </dgm:prSet>
      <dgm:spPr>
        <a:xfrm>
          <a:off x="5663692" y="2654863"/>
          <a:ext cx="1715310" cy="72"/>
        </a:xfrm>
        <a:prstGeom prst="rect">
          <a:avLst/>
        </a:prstGeom>
        <a:solidFill>
          <a:srgbClr val="DD8047">
            <a:hueOff val="2136042"/>
            <a:satOff val="-37962"/>
            <a:lumOff val="1220"/>
            <a:alphaOff val="0"/>
          </a:srgbClr>
        </a:solidFill>
        <a:ln w="12700" cap="flat" cmpd="sng" algn="ctr">
          <a:solidFill>
            <a:srgbClr val="DD8047">
              <a:hueOff val="2136042"/>
              <a:satOff val="-37962"/>
              <a:lumOff val="1220"/>
              <a:alphaOff val="0"/>
            </a:srgbClr>
          </a:solidFill>
          <a:prstDash val="solid"/>
          <a:miter lim="800000"/>
        </a:ln>
        <a:effectLst/>
      </dgm:spPr>
    </dgm:pt>
    <dgm:pt modelId="{CB2FAC3C-B2E2-40D1-8CFF-166B6DB76D69}" type="pres">
      <dgm:prSet presAssocID="{E7F62E55-9448-41A9-95E3-456811EF0D1C}" presName="nodeText" presStyleLbl="bgAccFollowNode1" presStyleIdx="3" presStyleCnt="5">
        <dgm:presLayoutVars>
          <dgm:bulletEnabled val="1"/>
        </dgm:presLayoutVars>
      </dgm:prSet>
      <dgm:spPr/>
    </dgm:pt>
    <dgm:pt modelId="{0C45FCD6-ADCF-4791-855A-5C3F86CB2700}" type="pres">
      <dgm:prSet presAssocID="{9AF10E6B-7F57-45D4-BF61-2FE38950DEEC}" presName="sibTrans" presStyleCnt="0"/>
      <dgm:spPr/>
    </dgm:pt>
    <dgm:pt modelId="{EB87CA7A-E6B0-4853-902F-277BE9BF6515}" type="pres">
      <dgm:prSet presAssocID="{BB76DE30-9F9F-460C-915C-58A2AC255B65}" presName="compositeNode" presStyleCnt="0">
        <dgm:presLayoutVars>
          <dgm:bulletEnabled val="1"/>
        </dgm:presLayoutVars>
      </dgm:prSet>
      <dgm:spPr/>
    </dgm:pt>
    <dgm:pt modelId="{84388E42-FB35-41E3-A118-881A8E55C684}" type="pres">
      <dgm:prSet presAssocID="{BB76DE30-9F9F-460C-915C-58A2AC255B65}" presName="bgRect" presStyleLbl="bgAccFollowNode1" presStyleIdx="4" presStyleCnt="5"/>
      <dgm:spPr/>
    </dgm:pt>
    <dgm:pt modelId="{A30D9E47-A692-4BD2-B115-7F20E1A6775B}" type="pres">
      <dgm:prSet presAssocID="{F20C9CEC-F5F3-4D5B-BE4F-AE7A95AE451C}" presName="sibTransNodeCircle" presStyleLbl="alignNode1" presStyleIdx="8" presStyleCnt="10">
        <dgm:presLayoutVars>
          <dgm:chMax val="0"/>
          <dgm:bulletEnabled/>
        </dgm:presLayoutVars>
      </dgm:prSet>
      <dgm:spPr/>
    </dgm:pt>
    <dgm:pt modelId="{2F0F652D-D324-4FBE-AEE6-8E46B0783DDF}" type="pres">
      <dgm:prSet presAssocID="{BB76DE30-9F9F-460C-915C-58A2AC255B65}" presName="bottomLine" presStyleLbl="alignNode1" presStyleIdx="9" presStyleCnt="10">
        <dgm:presLayoutVars/>
      </dgm:prSet>
      <dgm:spPr>
        <a:xfrm>
          <a:off x="7550533" y="2654863"/>
          <a:ext cx="1715310" cy="72"/>
        </a:xfrm>
        <a:prstGeom prst="rect">
          <a:avLst/>
        </a:prstGeom>
        <a:solidFill>
          <a:srgbClr val="DD8047">
            <a:hueOff val="2746340"/>
            <a:satOff val="-48808"/>
            <a:lumOff val="1569"/>
            <a:alphaOff val="0"/>
          </a:srgbClr>
        </a:solidFill>
        <a:ln w="12700" cap="flat" cmpd="sng" algn="ctr">
          <a:solidFill>
            <a:srgbClr val="DD8047">
              <a:hueOff val="2746340"/>
              <a:satOff val="-48808"/>
              <a:lumOff val="1569"/>
              <a:alphaOff val="0"/>
            </a:srgbClr>
          </a:solidFill>
          <a:prstDash val="solid"/>
          <a:miter lim="800000"/>
        </a:ln>
        <a:effectLst/>
      </dgm:spPr>
    </dgm:pt>
    <dgm:pt modelId="{6C76BAE6-892B-415A-A98D-A259467860E4}" type="pres">
      <dgm:prSet presAssocID="{BB76DE30-9F9F-460C-915C-58A2AC255B65}" presName="nodeText" presStyleLbl="bgAccFollowNode1" presStyleIdx="4" presStyleCnt="5">
        <dgm:presLayoutVars>
          <dgm:bulletEnabled val="1"/>
        </dgm:presLayoutVars>
      </dgm:prSet>
      <dgm:spPr/>
    </dgm:pt>
  </dgm:ptLst>
  <dgm:cxnLst>
    <dgm:cxn modelId="{0535E706-03B8-472B-B4AB-3DBDD36F5B72}" type="presOf" srcId="{88BA7A2E-2EF0-4EAD-BA75-EA451A49A1B0}" destId="{FAB29D59-076D-4D62-956C-48B0D0A28FC0}" srcOrd="1" destOrd="0" presId="urn:microsoft.com/office/officeart/2016/7/layout/BasicLinearProcessNumbered"/>
    <dgm:cxn modelId="{989F6818-6AF4-45FB-9805-33AAA3DC1C9E}" type="presOf" srcId="{88B3CFF4-0621-434B-AD49-D55CC4613FD8}" destId="{D820C72F-DA53-4839-8338-DAA52D0FFCF0}" srcOrd="0" destOrd="0" presId="urn:microsoft.com/office/officeart/2016/7/layout/BasicLinearProcessNumbered"/>
    <dgm:cxn modelId="{E75ADC1E-0019-448F-881D-9D429D3B5E9D}" srcId="{61114C11-A184-4380-BD17-01B5CDFCF144}" destId="{88BA7A2E-2EF0-4EAD-BA75-EA451A49A1B0}" srcOrd="0" destOrd="0" parTransId="{8A3E2DF2-B35F-47CC-ADFD-D88DDF5CADEB}" sibTransId="{66339B12-572E-4013-85FC-B713DE285D6F}"/>
    <dgm:cxn modelId="{B5718129-A154-460B-A922-76E03ABFB8A9}" srcId="{61114C11-A184-4380-BD17-01B5CDFCF144}" destId="{E7F62E55-9448-41A9-95E3-456811EF0D1C}" srcOrd="3" destOrd="0" parTransId="{DD6FA035-9561-46DF-A8C6-DC915F242E72}" sibTransId="{9AF10E6B-7F57-45D4-BF61-2FE38950DEEC}"/>
    <dgm:cxn modelId="{C60CF43D-2D37-422C-8D8C-05AFB3379CA4}" type="presOf" srcId="{2D7E2EBC-2546-4C84-A468-679E9E10590E}" destId="{CC4AA886-FA91-44EA-9E45-F091F07836FA}" srcOrd="0" destOrd="0" presId="urn:microsoft.com/office/officeart/2016/7/layout/BasicLinearProcessNumbered"/>
    <dgm:cxn modelId="{D6DC145C-96DA-4574-8A76-F5452161699F}" srcId="{61114C11-A184-4380-BD17-01B5CDFCF144}" destId="{BB76DE30-9F9F-460C-915C-58A2AC255B65}" srcOrd="4" destOrd="0" parTransId="{D6C64915-2BE2-4F1E-9B3A-CFF0E57AD811}" sibTransId="{F20C9CEC-F5F3-4D5B-BE4F-AE7A95AE451C}"/>
    <dgm:cxn modelId="{0EA06443-1958-4852-B2B6-1A087BD39011}" srcId="{61114C11-A184-4380-BD17-01B5CDFCF144}" destId="{7AD1D4F2-F96C-4E01-A39B-39DE24C51EE0}" srcOrd="1" destOrd="0" parTransId="{CCDF6579-608E-4B08-BE13-C6AF774076B8}" sibTransId="{8CB2FC7B-B6F9-43F0-8827-668ADEF965D2}"/>
    <dgm:cxn modelId="{319C8764-4AA9-474D-B59E-BCE60B7A2340}" type="presOf" srcId="{8CB2FC7B-B6F9-43F0-8827-668ADEF965D2}" destId="{D5E6815C-434A-4F1F-8233-F959F96D8725}" srcOrd="0" destOrd="0" presId="urn:microsoft.com/office/officeart/2016/7/layout/BasicLinearProcessNumbered"/>
    <dgm:cxn modelId="{F3D2A865-158F-475A-B04A-DDD83C9AC609}" type="presOf" srcId="{BB76DE30-9F9F-460C-915C-58A2AC255B65}" destId="{84388E42-FB35-41E3-A118-881A8E55C684}" srcOrd="0" destOrd="0" presId="urn:microsoft.com/office/officeart/2016/7/layout/BasicLinearProcessNumbered"/>
    <dgm:cxn modelId="{09EEA546-7CD6-467C-8F6A-F467F52F685E}" type="presOf" srcId="{9AF10E6B-7F57-45D4-BF61-2FE38950DEEC}" destId="{E6B041BC-9E46-44F7-818A-3C7C3FB0F7A3}" srcOrd="0" destOrd="0" presId="urn:microsoft.com/office/officeart/2016/7/layout/BasicLinearProcessNumbered"/>
    <dgm:cxn modelId="{D31A706A-F52D-46E4-9CB3-1DAD59A6BA3E}" type="presOf" srcId="{88BA7A2E-2EF0-4EAD-BA75-EA451A49A1B0}" destId="{6E4E2A1B-E85A-4FEB-BCFD-8AEBB1352A2F}" srcOrd="0" destOrd="0" presId="urn:microsoft.com/office/officeart/2016/7/layout/BasicLinearProcessNumbered"/>
    <dgm:cxn modelId="{870E6780-0477-449C-B977-61E23CB80C8F}" type="presOf" srcId="{F20C9CEC-F5F3-4D5B-BE4F-AE7A95AE451C}" destId="{A30D9E47-A692-4BD2-B115-7F20E1A6775B}" srcOrd="0" destOrd="0" presId="urn:microsoft.com/office/officeart/2016/7/layout/BasicLinearProcessNumbered"/>
    <dgm:cxn modelId="{56DFA883-AE88-48D4-AEF5-FFE4B55B99E2}" type="presOf" srcId="{88B3CFF4-0621-434B-AD49-D55CC4613FD8}" destId="{29177FB7-204D-473A-B391-A6C658A247CF}" srcOrd="1" destOrd="0" presId="urn:microsoft.com/office/officeart/2016/7/layout/BasicLinearProcessNumbered"/>
    <dgm:cxn modelId="{D044368D-16CD-4829-A301-0D78D8FDE82E}" type="presOf" srcId="{7AD1D4F2-F96C-4E01-A39B-39DE24C51EE0}" destId="{CF2F62E7-AA2C-48CE-B242-C99C290177E8}" srcOrd="1" destOrd="0" presId="urn:microsoft.com/office/officeart/2016/7/layout/BasicLinearProcessNumbered"/>
    <dgm:cxn modelId="{1E08FDBA-24B6-4FF9-8229-B2A7F720734E}" type="presOf" srcId="{E7F62E55-9448-41A9-95E3-456811EF0D1C}" destId="{CB2FAC3C-B2E2-40D1-8CFF-166B6DB76D69}" srcOrd="1" destOrd="0" presId="urn:microsoft.com/office/officeart/2016/7/layout/BasicLinearProcessNumbered"/>
    <dgm:cxn modelId="{F980BDC2-3C63-404F-B7FD-16A03F2CD282}" type="presOf" srcId="{E7F62E55-9448-41A9-95E3-456811EF0D1C}" destId="{76BE0E7E-4321-4F2F-B9D8-493E34F3DCC6}" srcOrd="0" destOrd="0" presId="urn:microsoft.com/office/officeart/2016/7/layout/BasicLinearProcessNumbered"/>
    <dgm:cxn modelId="{B34BEBDD-6175-4EBB-A6EE-E75CAAE87243}" srcId="{61114C11-A184-4380-BD17-01B5CDFCF144}" destId="{88B3CFF4-0621-434B-AD49-D55CC4613FD8}" srcOrd="2" destOrd="0" parTransId="{D38416FF-300C-4F96-A120-E32BFCCF552D}" sibTransId="{2D7E2EBC-2546-4C84-A468-679E9E10590E}"/>
    <dgm:cxn modelId="{E91B75E1-2DD4-46FB-BD44-606E739B31C3}" type="presOf" srcId="{BB76DE30-9F9F-460C-915C-58A2AC255B65}" destId="{6C76BAE6-892B-415A-A98D-A259467860E4}" srcOrd="1" destOrd="0" presId="urn:microsoft.com/office/officeart/2016/7/layout/BasicLinearProcessNumbered"/>
    <dgm:cxn modelId="{CB1C9DE6-FE09-43D3-9458-492478C3E912}" type="presOf" srcId="{7AD1D4F2-F96C-4E01-A39B-39DE24C51EE0}" destId="{C4EF9174-FC6C-4DD4-BD65-62486D05C498}" srcOrd="0" destOrd="0" presId="urn:microsoft.com/office/officeart/2016/7/layout/BasicLinearProcessNumbered"/>
    <dgm:cxn modelId="{79EC81F7-737E-4529-A412-17F274D78840}" type="presOf" srcId="{61114C11-A184-4380-BD17-01B5CDFCF144}" destId="{530E4B2F-8459-4FFD-BA67-16513F15AD9E}" srcOrd="0" destOrd="0" presId="urn:microsoft.com/office/officeart/2016/7/layout/BasicLinearProcessNumbered"/>
    <dgm:cxn modelId="{C1C88CFF-4E29-4039-9C80-7B8DED6E7535}" type="presOf" srcId="{66339B12-572E-4013-85FC-B713DE285D6F}" destId="{E6284C23-EFA4-4EF3-8B83-E7936F07E1CF}" srcOrd="0" destOrd="0" presId="urn:microsoft.com/office/officeart/2016/7/layout/BasicLinearProcessNumbered"/>
    <dgm:cxn modelId="{97EDF844-9CA3-42F4-89C0-C7A607B6593E}" type="presParOf" srcId="{530E4B2F-8459-4FFD-BA67-16513F15AD9E}" destId="{908B9C40-9AAE-4ACD-AD63-DB2B952DEF46}" srcOrd="0" destOrd="0" presId="urn:microsoft.com/office/officeart/2016/7/layout/BasicLinearProcessNumbered"/>
    <dgm:cxn modelId="{6CE07E4F-FC67-4431-BA08-9D41BE9A9A94}" type="presParOf" srcId="{908B9C40-9AAE-4ACD-AD63-DB2B952DEF46}" destId="{6E4E2A1B-E85A-4FEB-BCFD-8AEBB1352A2F}" srcOrd="0" destOrd="0" presId="urn:microsoft.com/office/officeart/2016/7/layout/BasicLinearProcessNumbered"/>
    <dgm:cxn modelId="{9132763C-B9C6-4D98-BA89-77E164305F6A}" type="presParOf" srcId="{908B9C40-9AAE-4ACD-AD63-DB2B952DEF46}" destId="{E6284C23-EFA4-4EF3-8B83-E7936F07E1CF}" srcOrd="1" destOrd="0" presId="urn:microsoft.com/office/officeart/2016/7/layout/BasicLinearProcessNumbered"/>
    <dgm:cxn modelId="{F1597497-5BB1-4015-9F4A-305F9635276E}" type="presParOf" srcId="{908B9C40-9AAE-4ACD-AD63-DB2B952DEF46}" destId="{3A031E3F-0942-4182-96FC-99F408606888}" srcOrd="2" destOrd="0" presId="urn:microsoft.com/office/officeart/2016/7/layout/BasicLinearProcessNumbered"/>
    <dgm:cxn modelId="{A6AC8121-E494-467E-BB24-FAF64B092CD8}" type="presParOf" srcId="{908B9C40-9AAE-4ACD-AD63-DB2B952DEF46}" destId="{FAB29D59-076D-4D62-956C-48B0D0A28FC0}" srcOrd="3" destOrd="0" presId="urn:microsoft.com/office/officeart/2016/7/layout/BasicLinearProcessNumbered"/>
    <dgm:cxn modelId="{36BAE311-ACDF-4FB2-A689-846495C6ECD3}" type="presParOf" srcId="{530E4B2F-8459-4FFD-BA67-16513F15AD9E}" destId="{0ACA4C57-D43F-4F84-AD7B-532EBD97B53A}" srcOrd="1" destOrd="0" presId="urn:microsoft.com/office/officeart/2016/7/layout/BasicLinearProcessNumbered"/>
    <dgm:cxn modelId="{D59F1753-25B8-4A81-89FE-03B620A62F43}" type="presParOf" srcId="{530E4B2F-8459-4FFD-BA67-16513F15AD9E}" destId="{D5B7F847-2624-4028-B77E-157FEA324CDB}" srcOrd="2" destOrd="0" presId="urn:microsoft.com/office/officeart/2016/7/layout/BasicLinearProcessNumbered"/>
    <dgm:cxn modelId="{03068690-6CD0-4F3E-8B0D-B6F71F846740}" type="presParOf" srcId="{D5B7F847-2624-4028-B77E-157FEA324CDB}" destId="{C4EF9174-FC6C-4DD4-BD65-62486D05C498}" srcOrd="0" destOrd="0" presId="urn:microsoft.com/office/officeart/2016/7/layout/BasicLinearProcessNumbered"/>
    <dgm:cxn modelId="{A124BEA7-7026-4A09-87D1-85FFBA12CE40}" type="presParOf" srcId="{D5B7F847-2624-4028-B77E-157FEA324CDB}" destId="{D5E6815C-434A-4F1F-8233-F959F96D8725}" srcOrd="1" destOrd="0" presId="urn:microsoft.com/office/officeart/2016/7/layout/BasicLinearProcessNumbered"/>
    <dgm:cxn modelId="{25455E0F-D22E-4F56-9853-ADF2DAA41E0A}" type="presParOf" srcId="{D5B7F847-2624-4028-B77E-157FEA324CDB}" destId="{D9DA0931-342F-4C37-8B3B-F48ADE65169C}" srcOrd="2" destOrd="0" presId="urn:microsoft.com/office/officeart/2016/7/layout/BasicLinearProcessNumbered"/>
    <dgm:cxn modelId="{DAD9025F-AECA-4C0F-948F-58527699D57F}" type="presParOf" srcId="{D5B7F847-2624-4028-B77E-157FEA324CDB}" destId="{CF2F62E7-AA2C-48CE-B242-C99C290177E8}" srcOrd="3" destOrd="0" presId="urn:microsoft.com/office/officeart/2016/7/layout/BasicLinearProcessNumbered"/>
    <dgm:cxn modelId="{1C1C66A6-EF94-4657-AF02-8B89CB14ED1D}" type="presParOf" srcId="{530E4B2F-8459-4FFD-BA67-16513F15AD9E}" destId="{D109C157-27DE-4EE0-9186-B9A11B6DB532}" srcOrd="3" destOrd="0" presId="urn:microsoft.com/office/officeart/2016/7/layout/BasicLinearProcessNumbered"/>
    <dgm:cxn modelId="{09F06228-B7BC-4D5F-B949-382429C971CB}" type="presParOf" srcId="{530E4B2F-8459-4FFD-BA67-16513F15AD9E}" destId="{A3525612-7E8D-4EF8-8BE2-C5C759415C5A}" srcOrd="4" destOrd="0" presId="urn:microsoft.com/office/officeart/2016/7/layout/BasicLinearProcessNumbered"/>
    <dgm:cxn modelId="{FFA952D4-9EF0-46A5-A91F-496F33F73B48}" type="presParOf" srcId="{A3525612-7E8D-4EF8-8BE2-C5C759415C5A}" destId="{D820C72F-DA53-4839-8338-DAA52D0FFCF0}" srcOrd="0" destOrd="0" presId="urn:microsoft.com/office/officeart/2016/7/layout/BasicLinearProcessNumbered"/>
    <dgm:cxn modelId="{38047459-B484-47D9-838C-354A53792D6F}" type="presParOf" srcId="{A3525612-7E8D-4EF8-8BE2-C5C759415C5A}" destId="{CC4AA886-FA91-44EA-9E45-F091F07836FA}" srcOrd="1" destOrd="0" presId="urn:microsoft.com/office/officeart/2016/7/layout/BasicLinearProcessNumbered"/>
    <dgm:cxn modelId="{07E72D37-C282-4EA0-AA00-66D1B7241240}" type="presParOf" srcId="{A3525612-7E8D-4EF8-8BE2-C5C759415C5A}" destId="{708DCC69-0DC7-4B79-BC5B-A0C43151AE77}" srcOrd="2" destOrd="0" presId="urn:microsoft.com/office/officeart/2016/7/layout/BasicLinearProcessNumbered"/>
    <dgm:cxn modelId="{124D45AC-D279-4E8D-ADF8-F0DA90980DAD}" type="presParOf" srcId="{A3525612-7E8D-4EF8-8BE2-C5C759415C5A}" destId="{29177FB7-204D-473A-B391-A6C658A247CF}" srcOrd="3" destOrd="0" presId="urn:microsoft.com/office/officeart/2016/7/layout/BasicLinearProcessNumbered"/>
    <dgm:cxn modelId="{8E6D66D1-EFC8-47A0-B3FE-8BCAC87ABDE6}" type="presParOf" srcId="{530E4B2F-8459-4FFD-BA67-16513F15AD9E}" destId="{E80435BE-C2ED-4B08-A476-5C9337753943}" srcOrd="5" destOrd="0" presId="urn:microsoft.com/office/officeart/2016/7/layout/BasicLinearProcessNumbered"/>
    <dgm:cxn modelId="{DF08FEEC-7F54-4F0C-9B55-03446E59AEFB}" type="presParOf" srcId="{530E4B2F-8459-4FFD-BA67-16513F15AD9E}" destId="{0B5CC764-F72A-459A-9C86-04AA7B7EB7AF}" srcOrd="6" destOrd="0" presId="urn:microsoft.com/office/officeart/2016/7/layout/BasicLinearProcessNumbered"/>
    <dgm:cxn modelId="{0FE3B186-4649-42A2-B2CE-B7FD22D6526A}" type="presParOf" srcId="{0B5CC764-F72A-459A-9C86-04AA7B7EB7AF}" destId="{76BE0E7E-4321-4F2F-B9D8-493E34F3DCC6}" srcOrd="0" destOrd="0" presId="urn:microsoft.com/office/officeart/2016/7/layout/BasicLinearProcessNumbered"/>
    <dgm:cxn modelId="{C7B2079F-46D3-4B56-8BE1-A558EB28C8A1}" type="presParOf" srcId="{0B5CC764-F72A-459A-9C86-04AA7B7EB7AF}" destId="{E6B041BC-9E46-44F7-818A-3C7C3FB0F7A3}" srcOrd="1" destOrd="0" presId="urn:microsoft.com/office/officeart/2016/7/layout/BasicLinearProcessNumbered"/>
    <dgm:cxn modelId="{55E39151-8FD0-407D-AB5C-DF88720B44E1}" type="presParOf" srcId="{0B5CC764-F72A-459A-9C86-04AA7B7EB7AF}" destId="{2C188847-CE29-4161-A705-8242B605668C}" srcOrd="2" destOrd="0" presId="urn:microsoft.com/office/officeart/2016/7/layout/BasicLinearProcessNumbered"/>
    <dgm:cxn modelId="{41B494F7-0904-405E-867E-39B9D311DDAF}" type="presParOf" srcId="{0B5CC764-F72A-459A-9C86-04AA7B7EB7AF}" destId="{CB2FAC3C-B2E2-40D1-8CFF-166B6DB76D69}" srcOrd="3" destOrd="0" presId="urn:microsoft.com/office/officeart/2016/7/layout/BasicLinearProcessNumbered"/>
    <dgm:cxn modelId="{A4245259-1301-4784-9359-12F64C709565}" type="presParOf" srcId="{530E4B2F-8459-4FFD-BA67-16513F15AD9E}" destId="{0C45FCD6-ADCF-4791-855A-5C3F86CB2700}" srcOrd="7" destOrd="0" presId="urn:microsoft.com/office/officeart/2016/7/layout/BasicLinearProcessNumbered"/>
    <dgm:cxn modelId="{00A4C906-2EBC-4907-8BDC-6A8C6A720095}" type="presParOf" srcId="{530E4B2F-8459-4FFD-BA67-16513F15AD9E}" destId="{EB87CA7A-E6B0-4853-902F-277BE9BF6515}" srcOrd="8" destOrd="0" presId="urn:microsoft.com/office/officeart/2016/7/layout/BasicLinearProcessNumbered"/>
    <dgm:cxn modelId="{F6756415-F01F-4CAF-8ADC-BD1AD4C3572B}" type="presParOf" srcId="{EB87CA7A-E6B0-4853-902F-277BE9BF6515}" destId="{84388E42-FB35-41E3-A118-881A8E55C684}" srcOrd="0" destOrd="0" presId="urn:microsoft.com/office/officeart/2016/7/layout/BasicLinearProcessNumbered"/>
    <dgm:cxn modelId="{06AADBC2-C76B-4467-B293-051698090676}" type="presParOf" srcId="{EB87CA7A-E6B0-4853-902F-277BE9BF6515}" destId="{A30D9E47-A692-4BD2-B115-7F20E1A6775B}" srcOrd="1" destOrd="0" presId="urn:microsoft.com/office/officeart/2016/7/layout/BasicLinearProcessNumbered"/>
    <dgm:cxn modelId="{38835420-67A4-4653-998A-90069ACFD28A}" type="presParOf" srcId="{EB87CA7A-E6B0-4853-902F-277BE9BF6515}" destId="{2F0F652D-D324-4FBE-AEE6-8E46B0783DDF}" srcOrd="2" destOrd="0" presId="urn:microsoft.com/office/officeart/2016/7/layout/BasicLinearProcessNumbered"/>
    <dgm:cxn modelId="{735C43DE-3930-4962-A485-15BCE80609B5}" type="presParOf" srcId="{EB87CA7A-E6B0-4853-902F-277BE9BF6515}" destId="{6C76BAE6-892B-415A-A98D-A259467860E4}" srcOrd="3" destOrd="0" presId="urn:microsoft.com/office/officeart/2016/7/layout/BasicLinearProcessNumbered"/>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4E2A1B-E85A-4FEB-BCFD-8AEBB1352A2F}">
      <dsp:nvSpPr>
        <dsp:cNvPr id="0" name=""/>
        <dsp:cNvSpPr/>
      </dsp:nvSpPr>
      <dsp:spPr>
        <a:xfrm>
          <a:off x="3168" y="253501"/>
          <a:ext cx="1715310" cy="2401434"/>
        </a:xfrm>
        <a:prstGeom prst="rect">
          <a:avLst/>
        </a:prstGeom>
        <a:solidFill>
          <a:srgbClr val="DD8047">
            <a:tint val="40000"/>
            <a:alpha val="90000"/>
            <a:hueOff val="0"/>
            <a:satOff val="0"/>
            <a:lumOff val="0"/>
            <a:alphaOff val="0"/>
          </a:srgbClr>
        </a:solidFill>
        <a:ln w="12700" cap="flat" cmpd="sng" algn="ctr">
          <a:solidFill>
            <a:srgbClr val="DD8047">
              <a:tint val="40000"/>
              <a:alpha val="9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732" tIns="330200" rIns="133732" bIns="330200" numCol="1" spcCol="1270" anchor="t" anchorCtr="0">
          <a:noAutofit/>
        </a:bodyPr>
        <a:lstStyle/>
        <a:p>
          <a:pPr marL="0" lvl="0" indent="0" algn="l" defTabSz="488950">
            <a:lnSpc>
              <a:spcPct val="90000"/>
            </a:lnSpc>
            <a:spcBef>
              <a:spcPct val="0"/>
            </a:spcBef>
            <a:spcAft>
              <a:spcPct val="35000"/>
            </a:spcAft>
            <a:buNone/>
          </a:pPr>
          <a:r>
            <a:rPr lang="en-AU" sz="1100" kern="1200">
              <a:solidFill>
                <a:sysClr val="windowText" lastClr="000000">
                  <a:hueOff val="0"/>
                  <a:satOff val="0"/>
                  <a:lumOff val="0"/>
                  <a:alphaOff val="0"/>
                </a:sysClr>
              </a:solidFill>
              <a:latin typeface="Avenir Next LT Pro" panose="02020404030301010803"/>
              <a:ea typeface="+mn-ea"/>
              <a:cs typeface="+mn-cs"/>
            </a:rPr>
            <a:t>Understand the importance of cultural safety</a:t>
          </a:r>
          <a:endParaRPr lang="en-US" sz="1100" kern="1200">
            <a:solidFill>
              <a:sysClr val="windowText" lastClr="000000">
                <a:hueOff val="0"/>
                <a:satOff val="0"/>
                <a:lumOff val="0"/>
                <a:alphaOff val="0"/>
              </a:sysClr>
            </a:solidFill>
            <a:latin typeface="Avenir Next LT Pro" panose="02020404030301010803"/>
            <a:ea typeface="+mn-ea"/>
            <a:cs typeface="+mn-cs"/>
          </a:endParaRPr>
        </a:p>
      </dsp:txBody>
      <dsp:txXfrm>
        <a:off x="3168" y="1166046"/>
        <a:ext cx="1715310" cy="1440860"/>
      </dsp:txXfrm>
    </dsp:sp>
    <dsp:sp modelId="{E6284C23-EFA4-4EF3-8B83-E7936F07E1CF}">
      <dsp:nvSpPr>
        <dsp:cNvPr id="0" name=""/>
        <dsp:cNvSpPr/>
      </dsp:nvSpPr>
      <dsp:spPr>
        <a:xfrm>
          <a:off x="500608" y="493644"/>
          <a:ext cx="720430" cy="720430"/>
        </a:xfrm>
        <a:prstGeom prst="ellipse">
          <a:avLst/>
        </a:prstGeom>
        <a:solidFill>
          <a:srgbClr val="DD8047">
            <a:hueOff val="0"/>
            <a:satOff val="0"/>
            <a:lumOff val="0"/>
            <a:alphaOff val="0"/>
          </a:srgbClr>
        </a:solidFill>
        <a:ln w="12700" cap="flat" cmpd="sng" algn="ctr">
          <a:solidFill>
            <a:srgbClr val="DD804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168" tIns="12700" rIns="56168" bIns="12700" numCol="1" spcCol="1270" anchor="ctr" anchorCtr="0">
          <a:noAutofit/>
        </a:bodyPr>
        <a:lstStyle/>
        <a:p>
          <a:pPr marL="0" lvl="0" indent="0" algn="ctr" defTabSz="1511300">
            <a:lnSpc>
              <a:spcPct val="90000"/>
            </a:lnSpc>
            <a:spcBef>
              <a:spcPct val="0"/>
            </a:spcBef>
            <a:spcAft>
              <a:spcPct val="35000"/>
            </a:spcAft>
            <a:buNone/>
          </a:pPr>
          <a:r>
            <a:rPr lang="en-US" sz="3400" kern="1200">
              <a:solidFill>
                <a:sysClr val="window" lastClr="FFFFFF"/>
              </a:solidFill>
              <a:latin typeface="Avenir Next LT Pro" panose="02020404030301010803"/>
              <a:ea typeface="+mn-ea"/>
              <a:cs typeface="+mn-cs"/>
            </a:rPr>
            <a:t>1</a:t>
          </a:r>
        </a:p>
      </dsp:txBody>
      <dsp:txXfrm>
        <a:off x="606113" y="599149"/>
        <a:ext cx="509420" cy="509420"/>
      </dsp:txXfrm>
    </dsp:sp>
    <dsp:sp modelId="{3A031E3F-0942-4182-96FC-99F408606888}">
      <dsp:nvSpPr>
        <dsp:cNvPr id="0" name=""/>
        <dsp:cNvSpPr/>
      </dsp:nvSpPr>
      <dsp:spPr>
        <a:xfrm>
          <a:off x="3168" y="2654863"/>
          <a:ext cx="1715310" cy="72"/>
        </a:xfrm>
        <a:prstGeom prst="rect">
          <a:avLst/>
        </a:prstGeom>
        <a:solidFill>
          <a:srgbClr val="DD8047">
            <a:hueOff val="305149"/>
            <a:satOff val="-5423"/>
            <a:lumOff val="174"/>
            <a:alphaOff val="0"/>
          </a:srgbClr>
        </a:solidFill>
        <a:ln w="12700" cap="flat" cmpd="sng" algn="ctr">
          <a:solidFill>
            <a:srgbClr val="DD8047">
              <a:hueOff val="305149"/>
              <a:satOff val="-5423"/>
              <a:lumOff val="174"/>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EF9174-FC6C-4DD4-BD65-62486D05C498}">
      <dsp:nvSpPr>
        <dsp:cNvPr id="0" name=""/>
        <dsp:cNvSpPr/>
      </dsp:nvSpPr>
      <dsp:spPr>
        <a:xfrm>
          <a:off x="1890009" y="253501"/>
          <a:ext cx="1715310" cy="2401434"/>
        </a:xfrm>
        <a:prstGeom prst="rect">
          <a:avLst/>
        </a:prstGeom>
        <a:solidFill>
          <a:srgbClr val="DD8047">
            <a:tint val="40000"/>
            <a:alpha val="90000"/>
            <a:hueOff val="819279"/>
            <a:satOff val="-10654"/>
            <a:lumOff val="-337"/>
            <a:alphaOff val="0"/>
          </a:srgbClr>
        </a:solidFill>
        <a:ln w="12700" cap="flat" cmpd="sng" algn="ctr">
          <a:solidFill>
            <a:srgbClr val="DD8047">
              <a:tint val="40000"/>
              <a:alpha val="90000"/>
              <a:hueOff val="819279"/>
              <a:satOff val="-10654"/>
              <a:lumOff val="-337"/>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732" tIns="330200" rIns="133732" bIns="330200" numCol="1" spcCol="1270" anchor="t" anchorCtr="0">
          <a:noAutofit/>
        </a:bodyPr>
        <a:lstStyle/>
        <a:p>
          <a:pPr marL="0" lvl="0" indent="0" algn="l" defTabSz="488950">
            <a:lnSpc>
              <a:spcPct val="90000"/>
            </a:lnSpc>
            <a:spcBef>
              <a:spcPct val="0"/>
            </a:spcBef>
            <a:spcAft>
              <a:spcPct val="35000"/>
            </a:spcAft>
            <a:buNone/>
          </a:pPr>
          <a:r>
            <a:rPr lang="en-AU" sz="1100" kern="1200">
              <a:solidFill>
                <a:sysClr val="windowText" lastClr="000000">
                  <a:hueOff val="0"/>
                  <a:satOff val="0"/>
                  <a:lumOff val="0"/>
                  <a:alphaOff val="0"/>
                </a:sysClr>
              </a:solidFill>
              <a:latin typeface="Avenir Next LT Pro" panose="02020404030301010803"/>
              <a:ea typeface="+mn-ea"/>
              <a:cs typeface="+mn-cs"/>
            </a:rPr>
            <a:t>Be respectful</a:t>
          </a:r>
          <a:endParaRPr lang="en-US" sz="1100" kern="1200">
            <a:solidFill>
              <a:sysClr val="windowText" lastClr="000000">
                <a:hueOff val="0"/>
                <a:satOff val="0"/>
                <a:lumOff val="0"/>
                <a:alphaOff val="0"/>
              </a:sysClr>
            </a:solidFill>
            <a:latin typeface="Avenir Next LT Pro" panose="02020404030301010803"/>
            <a:ea typeface="+mn-ea"/>
            <a:cs typeface="+mn-cs"/>
          </a:endParaRPr>
        </a:p>
      </dsp:txBody>
      <dsp:txXfrm>
        <a:off x="1890009" y="1166046"/>
        <a:ext cx="1715310" cy="1440860"/>
      </dsp:txXfrm>
    </dsp:sp>
    <dsp:sp modelId="{D5E6815C-434A-4F1F-8233-F959F96D8725}">
      <dsp:nvSpPr>
        <dsp:cNvPr id="0" name=""/>
        <dsp:cNvSpPr/>
      </dsp:nvSpPr>
      <dsp:spPr>
        <a:xfrm>
          <a:off x="2387449" y="493644"/>
          <a:ext cx="720430" cy="720430"/>
        </a:xfrm>
        <a:prstGeom prst="ellipse">
          <a:avLst/>
        </a:prstGeom>
        <a:solidFill>
          <a:srgbClr val="DD8047">
            <a:hueOff val="610298"/>
            <a:satOff val="-10846"/>
            <a:lumOff val="349"/>
            <a:alphaOff val="0"/>
          </a:srgbClr>
        </a:solidFill>
        <a:ln w="12700" cap="flat" cmpd="sng" algn="ctr">
          <a:solidFill>
            <a:srgbClr val="DD8047">
              <a:hueOff val="610298"/>
              <a:satOff val="-10846"/>
              <a:lumOff val="349"/>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168" tIns="12700" rIns="56168" bIns="12700" numCol="1" spcCol="1270" anchor="ctr" anchorCtr="0">
          <a:noAutofit/>
        </a:bodyPr>
        <a:lstStyle/>
        <a:p>
          <a:pPr marL="0" lvl="0" indent="0" algn="ctr" defTabSz="1511300">
            <a:lnSpc>
              <a:spcPct val="90000"/>
            </a:lnSpc>
            <a:spcBef>
              <a:spcPct val="0"/>
            </a:spcBef>
            <a:spcAft>
              <a:spcPct val="35000"/>
            </a:spcAft>
            <a:buNone/>
          </a:pPr>
          <a:r>
            <a:rPr lang="en-US" sz="3400" kern="1200">
              <a:solidFill>
                <a:sysClr val="window" lastClr="FFFFFF"/>
              </a:solidFill>
              <a:latin typeface="Avenir Next LT Pro" panose="02020404030301010803"/>
              <a:ea typeface="+mn-ea"/>
              <a:cs typeface="+mn-cs"/>
            </a:rPr>
            <a:t>2</a:t>
          </a:r>
        </a:p>
      </dsp:txBody>
      <dsp:txXfrm>
        <a:off x="2492954" y="599149"/>
        <a:ext cx="509420" cy="509420"/>
      </dsp:txXfrm>
    </dsp:sp>
    <dsp:sp modelId="{D9DA0931-342F-4C37-8B3B-F48ADE65169C}">
      <dsp:nvSpPr>
        <dsp:cNvPr id="0" name=""/>
        <dsp:cNvSpPr/>
      </dsp:nvSpPr>
      <dsp:spPr>
        <a:xfrm>
          <a:off x="1890009" y="2654863"/>
          <a:ext cx="1715310" cy="72"/>
        </a:xfrm>
        <a:prstGeom prst="rect">
          <a:avLst/>
        </a:prstGeom>
        <a:solidFill>
          <a:srgbClr val="DD8047">
            <a:hueOff val="915447"/>
            <a:satOff val="-16269"/>
            <a:lumOff val="523"/>
            <a:alphaOff val="0"/>
          </a:srgbClr>
        </a:solidFill>
        <a:ln w="12700" cap="flat" cmpd="sng" algn="ctr">
          <a:solidFill>
            <a:srgbClr val="DD8047">
              <a:hueOff val="915447"/>
              <a:satOff val="-16269"/>
              <a:lumOff val="523"/>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20C72F-DA53-4839-8338-DAA52D0FFCF0}">
      <dsp:nvSpPr>
        <dsp:cNvPr id="0" name=""/>
        <dsp:cNvSpPr/>
      </dsp:nvSpPr>
      <dsp:spPr>
        <a:xfrm>
          <a:off x="3776850" y="253501"/>
          <a:ext cx="1715310" cy="2401434"/>
        </a:xfrm>
        <a:prstGeom prst="rect">
          <a:avLst/>
        </a:prstGeom>
        <a:solidFill>
          <a:srgbClr val="DD8047">
            <a:tint val="40000"/>
            <a:alpha val="90000"/>
            <a:hueOff val="1638559"/>
            <a:satOff val="-21307"/>
            <a:lumOff val="-673"/>
            <a:alphaOff val="0"/>
          </a:srgbClr>
        </a:solidFill>
        <a:ln w="12700" cap="flat" cmpd="sng" algn="ctr">
          <a:solidFill>
            <a:srgbClr val="DD8047">
              <a:tint val="40000"/>
              <a:alpha val="90000"/>
              <a:hueOff val="1638559"/>
              <a:satOff val="-21307"/>
              <a:lumOff val="-673"/>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732" tIns="330200" rIns="133732" bIns="330200" numCol="1" spcCol="1270" anchor="t" anchorCtr="0">
          <a:noAutofit/>
        </a:bodyPr>
        <a:lstStyle/>
        <a:p>
          <a:pPr marL="0" lvl="0" indent="0" algn="l" defTabSz="488950">
            <a:lnSpc>
              <a:spcPct val="90000"/>
            </a:lnSpc>
            <a:spcBef>
              <a:spcPct val="0"/>
            </a:spcBef>
            <a:spcAft>
              <a:spcPct val="35000"/>
            </a:spcAft>
            <a:buNone/>
          </a:pPr>
          <a:r>
            <a:rPr lang="en-AU" sz="1100" kern="1200" dirty="0">
              <a:solidFill>
                <a:sysClr val="windowText" lastClr="000000">
                  <a:hueOff val="0"/>
                  <a:satOff val="0"/>
                  <a:lumOff val="0"/>
                  <a:alphaOff val="0"/>
                </a:sysClr>
              </a:solidFill>
              <a:latin typeface="Avenir Next LT Pro" panose="02020404030301010803"/>
              <a:ea typeface="+mn-ea"/>
              <a:cs typeface="+mn-cs"/>
            </a:rPr>
            <a:t>Acknowledge your own inadequacies, and the things you do not know</a:t>
          </a:r>
          <a:endParaRPr lang="en-US" sz="1100" kern="1200" dirty="0">
            <a:solidFill>
              <a:sysClr val="windowText" lastClr="000000">
                <a:hueOff val="0"/>
                <a:satOff val="0"/>
                <a:lumOff val="0"/>
                <a:alphaOff val="0"/>
              </a:sysClr>
            </a:solidFill>
            <a:latin typeface="Avenir Next LT Pro" panose="02020404030301010803"/>
            <a:ea typeface="+mn-ea"/>
            <a:cs typeface="+mn-cs"/>
          </a:endParaRPr>
        </a:p>
      </dsp:txBody>
      <dsp:txXfrm>
        <a:off x="3776850" y="1166046"/>
        <a:ext cx="1715310" cy="1440860"/>
      </dsp:txXfrm>
    </dsp:sp>
    <dsp:sp modelId="{CC4AA886-FA91-44EA-9E45-F091F07836FA}">
      <dsp:nvSpPr>
        <dsp:cNvPr id="0" name=""/>
        <dsp:cNvSpPr/>
      </dsp:nvSpPr>
      <dsp:spPr>
        <a:xfrm>
          <a:off x="4274290" y="493644"/>
          <a:ext cx="720430" cy="720430"/>
        </a:xfrm>
        <a:prstGeom prst="ellipse">
          <a:avLst/>
        </a:prstGeom>
        <a:solidFill>
          <a:srgbClr val="DD8047">
            <a:hueOff val="1220595"/>
            <a:satOff val="-21692"/>
            <a:lumOff val="697"/>
            <a:alphaOff val="0"/>
          </a:srgbClr>
        </a:solidFill>
        <a:ln w="12700" cap="flat" cmpd="sng" algn="ctr">
          <a:solidFill>
            <a:srgbClr val="DD8047">
              <a:hueOff val="1220595"/>
              <a:satOff val="-21692"/>
              <a:lumOff val="697"/>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168" tIns="12700" rIns="56168" bIns="12700" numCol="1" spcCol="1270" anchor="ctr" anchorCtr="0">
          <a:noAutofit/>
        </a:bodyPr>
        <a:lstStyle/>
        <a:p>
          <a:pPr marL="0" lvl="0" indent="0" algn="ctr" defTabSz="1511300">
            <a:lnSpc>
              <a:spcPct val="90000"/>
            </a:lnSpc>
            <a:spcBef>
              <a:spcPct val="0"/>
            </a:spcBef>
            <a:spcAft>
              <a:spcPct val="35000"/>
            </a:spcAft>
            <a:buNone/>
          </a:pPr>
          <a:r>
            <a:rPr lang="en-US" sz="3400" kern="1200">
              <a:solidFill>
                <a:sysClr val="window" lastClr="FFFFFF"/>
              </a:solidFill>
              <a:latin typeface="Avenir Next LT Pro" panose="02020404030301010803"/>
              <a:ea typeface="+mn-ea"/>
              <a:cs typeface="+mn-cs"/>
            </a:rPr>
            <a:t>3</a:t>
          </a:r>
        </a:p>
      </dsp:txBody>
      <dsp:txXfrm>
        <a:off x="4379795" y="599149"/>
        <a:ext cx="509420" cy="509420"/>
      </dsp:txXfrm>
    </dsp:sp>
    <dsp:sp modelId="{708DCC69-0DC7-4B79-BC5B-A0C43151AE77}">
      <dsp:nvSpPr>
        <dsp:cNvPr id="0" name=""/>
        <dsp:cNvSpPr/>
      </dsp:nvSpPr>
      <dsp:spPr>
        <a:xfrm>
          <a:off x="3776850" y="2654863"/>
          <a:ext cx="1715310" cy="72"/>
        </a:xfrm>
        <a:prstGeom prst="rect">
          <a:avLst/>
        </a:prstGeom>
        <a:solidFill>
          <a:srgbClr val="DD8047">
            <a:hueOff val="1525744"/>
            <a:satOff val="-27116"/>
            <a:lumOff val="872"/>
            <a:alphaOff val="0"/>
          </a:srgbClr>
        </a:solidFill>
        <a:ln w="12700" cap="flat" cmpd="sng" algn="ctr">
          <a:solidFill>
            <a:srgbClr val="DD8047">
              <a:hueOff val="1525744"/>
              <a:satOff val="-27116"/>
              <a:lumOff val="872"/>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BE0E7E-4321-4F2F-B9D8-493E34F3DCC6}">
      <dsp:nvSpPr>
        <dsp:cNvPr id="0" name=""/>
        <dsp:cNvSpPr/>
      </dsp:nvSpPr>
      <dsp:spPr>
        <a:xfrm>
          <a:off x="5663692" y="253501"/>
          <a:ext cx="1715310" cy="2401434"/>
        </a:xfrm>
        <a:prstGeom prst="rect">
          <a:avLst/>
        </a:prstGeom>
        <a:solidFill>
          <a:srgbClr val="DD8047">
            <a:tint val="40000"/>
            <a:alpha val="90000"/>
            <a:hueOff val="2457838"/>
            <a:satOff val="-31961"/>
            <a:lumOff val="-1010"/>
            <a:alphaOff val="0"/>
          </a:srgbClr>
        </a:solidFill>
        <a:ln w="12700" cap="flat" cmpd="sng" algn="ctr">
          <a:solidFill>
            <a:srgbClr val="DD8047">
              <a:tint val="40000"/>
              <a:alpha val="90000"/>
              <a:hueOff val="2457838"/>
              <a:satOff val="-31961"/>
              <a:lumOff val="-101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732" tIns="330200" rIns="133732" bIns="330200" numCol="1" spcCol="1270" anchor="t" anchorCtr="0">
          <a:noAutofit/>
        </a:bodyPr>
        <a:lstStyle/>
        <a:p>
          <a:pPr marL="0" lvl="0" indent="0" algn="l" defTabSz="488950">
            <a:lnSpc>
              <a:spcPct val="90000"/>
            </a:lnSpc>
            <a:spcBef>
              <a:spcPct val="0"/>
            </a:spcBef>
            <a:spcAft>
              <a:spcPct val="35000"/>
            </a:spcAft>
            <a:buNone/>
          </a:pPr>
          <a:r>
            <a:rPr lang="en-AU" sz="1100" kern="1200" dirty="0">
              <a:solidFill>
                <a:sysClr val="windowText" lastClr="000000">
                  <a:hueOff val="0"/>
                  <a:satOff val="0"/>
                  <a:lumOff val="0"/>
                  <a:alphaOff val="0"/>
                </a:sysClr>
              </a:solidFill>
              <a:latin typeface="Avenir Next LT Pro" panose="02020404030301010803"/>
              <a:ea typeface="+mn-ea"/>
              <a:cs typeface="+mn-cs"/>
            </a:rPr>
            <a:t>Develop a trusting relationship with the patient/client, the Indigenous health workers, and the community</a:t>
          </a:r>
          <a:endParaRPr lang="en-US" sz="1100" kern="1200" dirty="0">
            <a:solidFill>
              <a:sysClr val="windowText" lastClr="000000">
                <a:hueOff val="0"/>
                <a:satOff val="0"/>
                <a:lumOff val="0"/>
                <a:alphaOff val="0"/>
              </a:sysClr>
            </a:solidFill>
            <a:latin typeface="Avenir Next LT Pro" panose="02020404030301010803"/>
            <a:ea typeface="+mn-ea"/>
            <a:cs typeface="+mn-cs"/>
          </a:endParaRPr>
        </a:p>
      </dsp:txBody>
      <dsp:txXfrm>
        <a:off x="5663692" y="1166046"/>
        <a:ext cx="1715310" cy="1440860"/>
      </dsp:txXfrm>
    </dsp:sp>
    <dsp:sp modelId="{E6B041BC-9E46-44F7-818A-3C7C3FB0F7A3}">
      <dsp:nvSpPr>
        <dsp:cNvPr id="0" name=""/>
        <dsp:cNvSpPr/>
      </dsp:nvSpPr>
      <dsp:spPr>
        <a:xfrm>
          <a:off x="6161132" y="493644"/>
          <a:ext cx="720430" cy="720430"/>
        </a:xfrm>
        <a:prstGeom prst="ellipse">
          <a:avLst/>
        </a:prstGeom>
        <a:solidFill>
          <a:srgbClr val="DD8047">
            <a:hueOff val="1830893"/>
            <a:satOff val="-32539"/>
            <a:lumOff val="1046"/>
            <a:alphaOff val="0"/>
          </a:srgbClr>
        </a:solidFill>
        <a:ln w="12700" cap="flat" cmpd="sng" algn="ctr">
          <a:solidFill>
            <a:srgbClr val="DD8047">
              <a:hueOff val="1830893"/>
              <a:satOff val="-32539"/>
              <a:lumOff val="1046"/>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168" tIns="12700" rIns="56168" bIns="12700" numCol="1" spcCol="1270" anchor="ctr" anchorCtr="0">
          <a:noAutofit/>
        </a:bodyPr>
        <a:lstStyle/>
        <a:p>
          <a:pPr marL="0" lvl="0" indent="0" algn="ctr" defTabSz="1511300">
            <a:lnSpc>
              <a:spcPct val="90000"/>
            </a:lnSpc>
            <a:spcBef>
              <a:spcPct val="0"/>
            </a:spcBef>
            <a:spcAft>
              <a:spcPct val="35000"/>
            </a:spcAft>
            <a:buNone/>
          </a:pPr>
          <a:r>
            <a:rPr lang="en-US" sz="3400" kern="1200">
              <a:solidFill>
                <a:sysClr val="window" lastClr="FFFFFF"/>
              </a:solidFill>
              <a:latin typeface="Avenir Next LT Pro" panose="02020404030301010803"/>
              <a:ea typeface="+mn-ea"/>
              <a:cs typeface="+mn-cs"/>
            </a:rPr>
            <a:t>4</a:t>
          </a:r>
        </a:p>
      </dsp:txBody>
      <dsp:txXfrm>
        <a:off x="6266637" y="599149"/>
        <a:ext cx="509420" cy="509420"/>
      </dsp:txXfrm>
    </dsp:sp>
    <dsp:sp modelId="{2C188847-CE29-4161-A705-8242B605668C}">
      <dsp:nvSpPr>
        <dsp:cNvPr id="0" name=""/>
        <dsp:cNvSpPr/>
      </dsp:nvSpPr>
      <dsp:spPr>
        <a:xfrm>
          <a:off x="5663692" y="2654863"/>
          <a:ext cx="1715310" cy="72"/>
        </a:xfrm>
        <a:prstGeom prst="rect">
          <a:avLst/>
        </a:prstGeom>
        <a:solidFill>
          <a:srgbClr val="DD8047">
            <a:hueOff val="2136042"/>
            <a:satOff val="-37962"/>
            <a:lumOff val="1220"/>
            <a:alphaOff val="0"/>
          </a:srgbClr>
        </a:solidFill>
        <a:ln w="12700" cap="flat" cmpd="sng" algn="ctr">
          <a:solidFill>
            <a:srgbClr val="DD8047">
              <a:hueOff val="2136042"/>
              <a:satOff val="-37962"/>
              <a:lumOff val="122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388E42-FB35-41E3-A118-881A8E55C684}">
      <dsp:nvSpPr>
        <dsp:cNvPr id="0" name=""/>
        <dsp:cNvSpPr/>
      </dsp:nvSpPr>
      <dsp:spPr>
        <a:xfrm>
          <a:off x="7550533" y="253501"/>
          <a:ext cx="1715310" cy="2401434"/>
        </a:xfrm>
        <a:prstGeom prst="rect">
          <a:avLst/>
        </a:prstGeom>
        <a:solidFill>
          <a:srgbClr val="DD8047">
            <a:tint val="40000"/>
            <a:alpha val="90000"/>
            <a:hueOff val="3277117"/>
            <a:satOff val="-42615"/>
            <a:lumOff val="-1347"/>
            <a:alphaOff val="0"/>
          </a:srgbClr>
        </a:solidFill>
        <a:ln w="12700" cap="flat" cmpd="sng" algn="ctr">
          <a:solidFill>
            <a:srgbClr val="DD8047">
              <a:tint val="40000"/>
              <a:alpha val="90000"/>
              <a:hueOff val="3277117"/>
              <a:satOff val="-42615"/>
              <a:lumOff val="-1347"/>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732" tIns="330200" rIns="133732" bIns="330200" numCol="1" spcCol="1270" anchor="t" anchorCtr="0">
          <a:noAutofit/>
        </a:bodyPr>
        <a:lstStyle/>
        <a:p>
          <a:pPr marL="0" lvl="0" indent="0" algn="l" defTabSz="488950">
            <a:lnSpc>
              <a:spcPct val="90000"/>
            </a:lnSpc>
            <a:spcBef>
              <a:spcPct val="0"/>
            </a:spcBef>
            <a:spcAft>
              <a:spcPct val="35000"/>
            </a:spcAft>
            <a:buNone/>
          </a:pPr>
          <a:r>
            <a:rPr lang="en-AU" sz="1100" kern="1200" dirty="0">
              <a:solidFill>
                <a:sysClr val="windowText" lastClr="000000">
                  <a:hueOff val="0"/>
                  <a:satOff val="0"/>
                  <a:lumOff val="0"/>
                  <a:alphaOff val="0"/>
                </a:sysClr>
              </a:solidFill>
              <a:latin typeface="Avenir Next LT Pro" panose="02020404030301010803"/>
              <a:ea typeface="+mn-ea"/>
              <a:cs typeface="+mn-cs"/>
            </a:rPr>
            <a:t>Be mindful of your attitude, behaviour and communication (both verbal and non-verbal) at all times.</a:t>
          </a:r>
          <a:endParaRPr lang="en-US" sz="1100" kern="1200" dirty="0">
            <a:solidFill>
              <a:sysClr val="windowText" lastClr="000000">
                <a:hueOff val="0"/>
                <a:satOff val="0"/>
                <a:lumOff val="0"/>
                <a:alphaOff val="0"/>
              </a:sysClr>
            </a:solidFill>
            <a:latin typeface="Avenir Next LT Pro" panose="02020404030301010803"/>
            <a:ea typeface="+mn-ea"/>
            <a:cs typeface="+mn-cs"/>
          </a:endParaRPr>
        </a:p>
      </dsp:txBody>
      <dsp:txXfrm>
        <a:off x="7550533" y="1166046"/>
        <a:ext cx="1715310" cy="1440860"/>
      </dsp:txXfrm>
    </dsp:sp>
    <dsp:sp modelId="{A30D9E47-A692-4BD2-B115-7F20E1A6775B}">
      <dsp:nvSpPr>
        <dsp:cNvPr id="0" name=""/>
        <dsp:cNvSpPr/>
      </dsp:nvSpPr>
      <dsp:spPr>
        <a:xfrm>
          <a:off x="8047973" y="493644"/>
          <a:ext cx="720430" cy="720430"/>
        </a:xfrm>
        <a:prstGeom prst="ellipse">
          <a:avLst/>
        </a:prstGeom>
        <a:solidFill>
          <a:srgbClr val="DD8047">
            <a:hueOff val="2441191"/>
            <a:satOff val="-43385"/>
            <a:lumOff val="1395"/>
            <a:alphaOff val="0"/>
          </a:srgbClr>
        </a:solidFill>
        <a:ln w="12700" cap="flat" cmpd="sng" algn="ctr">
          <a:solidFill>
            <a:srgbClr val="DD8047">
              <a:hueOff val="2441191"/>
              <a:satOff val="-43385"/>
              <a:lumOff val="1395"/>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168" tIns="12700" rIns="56168" bIns="12700" numCol="1" spcCol="1270" anchor="ctr" anchorCtr="0">
          <a:noAutofit/>
        </a:bodyPr>
        <a:lstStyle/>
        <a:p>
          <a:pPr marL="0" lvl="0" indent="0" algn="ctr" defTabSz="1511300">
            <a:lnSpc>
              <a:spcPct val="90000"/>
            </a:lnSpc>
            <a:spcBef>
              <a:spcPct val="0"/>
            </a:spcBef>
            <a:spcAft>
              <a:spcPct val="35000"/>
            </a:spcAft>
            <a:buNone/>
          </a:pPr>
          <a:r>
            <a:rPr lang="en-US" sz="3400" kern="1200">
              <a:solidFill>
                <a:sysClr val="window" lastClr="FFFFFF"/>
              </a:solidFill>
              <a:latin typeface="Avenir Next LT Pro" panose="02020404030301010803"/>
              <a:ea typeface="+mn-ea"/>
              <a:cs typeface="+mn-cs"/>
            </a:rPr>
            <a:t>5</a:t>
          </a:r>
        </a:p>
      </dsp:txBody>
      <dsp:txXfrm>
        <a:off x="8153478" y="599149"/>
        <a:ext cx="509420" cy="509420"/>
      </dsp:txXfrm>
    </dsp:sp>
    <dsp:sp modelId="{2F0F652D-D324-4FBE-AEE6-8E46B0783DDF}">
      <dsp:nvSpPr>
        <dsp:cNvPr id="0" name=""/>
        <dsp:cNvSpPr/>
      </dsp:nvSpPr>
      <dsp:spPr>
        <a:xfrm>
          <a:off x="7550533" y="2654863"/>
          <a:ext cx="1715310" cy="72"/>
        </a:xfrm>
        <a:prstGeom prst="rect">
          <a:avLst/>
        </a:prstGeom>
        <a:solidFill>
          <a:srgbClr val="DD8047">
            <a:hueOff val="2746340"/>
            <a:satOff val="-48808"/>
            <a:lumOff val="1569"/>
            <a:alphaOff val="0"/>
          </a:srgbClr>
        </a:solidFill>
        <a:ln w="12700" cap="flat" cmpd="sng" algn="ctr">
          <a:solidFill>
            <a:srgbClr val="DD8047">
              <a:hueOff val="2746340"/>
              <a:satOff val="-48808"/>
              <a:lumOff val="1569"/>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6DBDFE-DD3D-4291-A404-1B97A83A6EA8}" type="datetimeFigureOut">
              <a:rPr lang="en-US" smtClean="0"/>
              <a:t>10/17/2026</a:t>
            </a:fld>
            <a:endParaRPr lang="en-US"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86456DE3-4E01-4AFD-AD42-42312842ED89}" type="slidenum">
              <a:rPr lang="en-US" smtClean="0"/>
              <a:t>‹#›</a:t>
            </a:fld>
            <a:endParaRPr lang="en-US" dirty="0"/>
          </a:p>
        </p:txBody>
      </p:sp>
    </p:spTree>
    <p:extLst>
      <p:ext uri="{BB962C8B-B14F-4D97-AF65-F5344CB8AC3E}">
        <p14:creationId xmlns:p14="http://schemas.microsoft.com/office/powerpoint/2010/main" val="70296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CEA7-9EF6-54EF-BFD0-68CCCF0C6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8C7AA-D283-9E6D-9874-D7CCCA5D715B}"/>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8EC353DF-733D-B4AF-E4E1-815851A56A0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90710F0-C07C-9EC8-FBA2-95B6B76BA5B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4659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552DD-89AE-CAA5-FB03-15A5FED9ABD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05A9365-E474-E80D-B4FF-F5D32946BBF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CF770208-F0CD-CA2B-843D-D3DCCA5FABC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A51290DE-AB0C-FCF5-16BF-B844E1445B7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FE1843E-E2F2-5910-5396-E1D3EB45ED9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C0DFB0A7-4384-6784-0301-1A811C4A92E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D2578898-1AA2-80C1-EBBF-5939A601A66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1310391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98E09-78EE-3231-99BC-FBDC69036A6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8B29992-6831-F1AC-8169-9836E60CEE3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6C69C96C-DBE3-89DA-DC11-A347738F31C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9EEABBDF-E5AF-B1C3-D514-1B5461349E6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1074AF4-22BA-769A-C983-BBD757D033B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68E9D11C-974B-EE5F-D033-FF20C7D8FD8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FE6C6E2F-D651-788C-B29C-9BA84592879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1801589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F4656-3447-B2FE-C5AE-7D72D20CAD6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93AF545-8B4E-B92B-CFBF-D7BA638CA16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D0BD5FC5-07A3-AEBF-7A84-AB732F832D5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E5F0E353-54CA-D888-8EB6-E2FFB363400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6A69D77-000B-82E0-562D-E69FE8D25744}"/>
              </a:ext>
            </a:extLst>
          </p:cNvPr>
          <p:cNvSpPr>
            <a:spLocks noGrp="1"/>
          </p:cNvSpPr>
          <p:nvPr>
            <p:ph type="body" sz="quarter" idx="3"/>
          </p:nvPr>
        </p:nvSpPr>
        <p:spPr>
          <a:xfrm>
            <a:off x="914400" y="3251200"/>
            <a:ext cx="5090984" cy="3075459"/>
          </a:xfrm>
          <a:prstGeom prst="rect">
            <a:avLst/>
          </a:prstGeom>
        </p:spPr>
        <p:txBody>
          <a:bodyPr vert="horz" lIns="91440" tIns="45720" rIns="91440" bIns="45720" rtlCol="0"/>
          <a:lstStyle/>
          <a:p>
            <a:endParaRPr lang="en-US" dirty="0"/>
          </a:p>
        </p:txBody>
      </p:sp>
      <p:sp>
        <p:nvSpPr>
          <p:cNvPr id="7" name="Slide Number Placeholder 6">
            <a:extLst>
              <a:ext uri="{FF2B5EF4-FFF2-40B4-BE49-F238E27FC236}">
                <a16:creationId xmlns:a16="http://schemas.microsoft.com/office/drawing/2014/main" id="{2DDE3DF8-CE2F-5291-F401-D2A8A0B57BA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391705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6456DE3-4E01-4AFD-AD42-42312842ED89}" type="slidenum">
              <a:rPr lang="en-US" smtClean="0"/>
              <a:t>6</a:t>
            </a:fld>
            <a:endParaRPr lang="en-US" dirty="0"/>
          </a:p>
        </p:txBody>
      </p:sp>
    </p:spTree>
    <p:extLst>
      <p:ext uri="{BB962C8B-B14F-4D97-AF65-F5344CB8AC3E}">
        <p14:creationId xmlns:p14="http://schemas.microsoft.com/office/powerpoint/2010/main" val="1282804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5424616" cy="4026930"/>
          </a:xfrm>
          <a:prstGeom prst="rect">
            <a:avLst/>
          </a:prstGeom>
        </p:spPr>
        <p:txBody>
          <a:bodyPr vert="horz" lIns="91440" tIns="45720" rIns="91440" bIns="45720" rtlCol="0"/>
          <a:lstStyle/>
          <a:p>
            <a:endParaRPr lang="en-US"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199"/>
            <a:ext cx="5659395" cy="4508843"/>
          </a:xfrm>
          <a:prstGeom prst="rect">
            <a:avLst/>
          </a:prstGeom>
        </p:spPr>
        <p:txBody>
          <a:bodyPr vert="horz" lIns="91440" tIns="45720" rIns="91440" bIns="45720" rtlCol="0"/>
          <a:lstStyle/>
          <a:p>
            <a:endParaRPr lang="en-US"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2D440-D9DC-EE50-7EB7-A14600C3249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BFF3DA-348F-BC8E-F27A-8DA6DBACC9D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3526E27C-E278-7BB5-D1B5-0AA520E0F75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6C949E3B-1F53-C744-78D2-DD7D963113F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5B3EE91-9A29-A8C8-CDC4-C3E376930EE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288E9BDD-536A-27D0-F34B-F7BE4E7C6FB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57804880-C9AB-6AF2-8422-7078078B803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2340529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C98D0-60C3-72CE-56E0-9E555C4635F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C730A06-A839-9C45-386C-26F16E782FF0}"/>
              </a:ext>
            </a:extLst>
          </p:cNvPr>
          <p:cNvSpPr>
            <a:spLocks noGrp="1"/>
          </p:cNvSpPr>
          <p:nvPr>
            <p:ph type="hdr" sz="quarter"/>
          </p:nvPr>
        </p:nvSpPr>
        <p:spPr>
          <a:xfrm>
            <a:off x="0" y="0"/>
            <a:ext cx="3967027" cy="343339"/>
          </a:xfrm>
          <a:prstGeom prst="rect">
            <a:avLst/>
          </a:prstGeom>
        </p:spPr>
        <p:txBody>
          <a:bodyPr vert="horz" lIns="91550" tIns="45775" rIns="91550" bIns="45775" rtlCol="0"/>
          <a:lstStyle>
            <a:lvl1pPr algn="l">
              <a:defRPr sz="1200"/>
            </a:lvl1pPr>
          </a:lstStyle>
          <a:p>
            <a:pPr marL="0" marR="0" lvl="0" indent="0" algn="l" defTabSz="457749"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92C6D9E5-276F-2FDB-D36A-80ACF6309E2D}"/>
              </a:ext>
            </a:extLst>
          </p:cNvPr>
          <p:cNvSpPr>
            <a:spLocks noGrp="1"/>
          </p:cNvSpPr>
          <p:nvPr>
            <p:ph type="dt" idx="1"/>
          </p:nvPr>
        </p:nvSpPr>
        <p:spPr>
          <a:xfrm>
            <a:off x="5186062" y="0"/>
            <a:ext cx="3967027" cy="343339"/>
          </a:xfrm>
          <a:prstGeom prst="rect">
            <a:avLst/>
          </a:prstGeom>
        </p:spPr>
        <p:txBody>
          <a:bodyPr vert="horz" lIns="91550" tIns="45775" rIns="91550" bIns="45775" rtlCol="0"/>
          <a:lstStyle>
            <a:lvl1pPr algn="r">
              <a:defRPr sz="1200"/>
            </a:lvl1pPr>
          </a:lstStyle>
          <a:p>
            <a:pPr marL="0" marR="0" lvl="0" indent="0" algn="r" defTabSz="457749"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6CFE2D95-D94A-3796-F88C-E0C4F94B6F34}"/>
              </a:ext>
            </a:extLst>
          </p:cNvPr>
          <p:cNvSpPr>
            <a:spLocks noGrp="1" noRot="1" noChangeAspect="1"/>
          </p:cNvSpPr>
          <p:nvPr>
            <p:ph type="sldImg" idx="2"/>
          </p:nvPr>
        </p:nvSpPr>
        <p:spPr>
          <a:xfrm>
            <a:off x="2293938" y="512763"/>
            <a:ext cx="4567237" cy="2570162"/>
          </a:xfrm>
          <a:prstGeom prst="rect">
            <a:avLst/>
          </a:prstGeom>
          <a:noFill/>
          <a:ln w="12700">
            <a:solidFill>
              <a:prstClr val="black"/>
            </a:solidFill>
          </a:ln>
        </p:spPr>
        <p:txBody>
          <a:bodyPr vert="horz" lIns="91550" tIns="45775" rIns="91550" bIns="45775" rtlCol="0" anchor="ctr"/>
          <a:lstStyle/>
          <a:p>
            <a:endParaRPr/>
          </a:p>
        </p:txBody>
      </p:sp>
      <p:sp>
        <p:nvSpPr>
          <p:cNvPr id="5" name="Notes Placeholder 4">
            <a:extLst>
              <a:ext uri="{FF2B5EF4-FFF2-40B4-BE49-F238E27FC236}">
                <a16:creationId xmlns:a16="http://schemas.microsoft.com/office/drawing/2014/main" id="{86E50930-2A50-F8B2-8A7A-6CE13B9AE8CD}"/>
              </a:ext>
            </a:extLst>
          </p:cNvPr>
          <p:cNvSpPr>
            <a:spLocks noGrp="1"/>
          </p:cNvSpPr>
          <p:nvPr>
            <p:ph type="body" sz="quarter" idx="3"/>
          </p:nvPr>
        </p:nvSpPr>
        <p:spPr>
          <a:xfrm>
            <a:off x="915468" y="3255360"/>
            <a:ext cx="5559473" cy="4158694"/>
          </a:xfrm>
          <a:prstGeom prst="rect">
            <a:avLst/>
          </a:prstGeom>
        </p:spPr>
        <p:txBody>
          <a:bodyPr vert="horz" lIns="91550" tIns="45775" rIns="91550" bIns="45775" rtlCol="0"/>
          <a:lstStyle/>
          <a:p>
            <a:endParaRPr lang="en-AU" dirty="0"/>
          </a:p>
        </p:txBody>
      </p:sp>
      <p:sp>
        <p:nvSpPr>
          <p:cNvPr id="7" name="Slide Number Placeholder 6">
            <a:extLst>
              <a:ext uri="{FF2B5EF4-FFF2-40B4-BE49-F238E27FC236}">
                <a16:creationId xmlns:a16="http://schemas.microsoft.com/office/drawing/2014/main" id="{CFCCF9F8-F216-25DB-D6D2-E4F0EF0CBE11}"/>
              </a:ext>
            </a:extLst>
          </p:cNvPr>
          <p:cNvSpPr>
            <a:spLocks noGrp="1"/>
          </p:cNvSpPr>
          <p:nvPr>
            <p:ph type="sldNum" sz="quarter" idx="5"/>
          </p:nvPr>
        </p:nvSpPr>
        <p:spPr>
          <a:xfrm>
            <a:off x="5186062" y="6510719"/>
            <a:ext cx="3967027" cy="341750"/>
          </a:xfrm>
          <a:prstGeom prst="rect">
            <a:avLst/>
          </a:prstGeom>
        </p:spPr>
        <p:txBody>
          <a:bodyPr vert="horz" lIns="91550" tIns="45775" rIns="91550" bIns="45775" rtlCol="0" anchor="b"/>
          <a:lstStyle>
            <a:lvl1pPr algn="r">
              <a:defRPr sz="1200"/>
            </a:lvl1pPr>
          </a:lstStyle>
          <a:p>
            <a:pPr marL="0" marR="0" lvl="0" indent="0" algn="r" defTabSz="457749"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4047155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C98D0-60C3-72CE-56E0-9E555C4635F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C730A06-A839-9C45-386C-26F16E782FF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92C6D9E5-276F-2FDB-D36A-80ACF6309E2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6CFE2D95-D94A-3796-F88C-E0C4F94B6F3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6E50930-2A50-F8B2-8A7A-6CE13B9AE8CD}"/>
              </a:ext>
            </a:extLst>
          </p:cNvPr>
          <p:cNvSpPr>
            <a:spLocks noGrp="1"/>
          </p:cNvSpPr>
          <p:nvPr>
            <p:ph type="body" sz="quarter" idx="3"/>
          </p:nvPr>
        </p:nvSpPr>
        <p:spPr>
          <a:xfrm>
            <a:off x="914400" y="3251199"/>
            <a:ext cx="5103341" cy="3161957"/>
          </a:xfrm>
          <a:prstGeom prst="rect">
            <a:avLst/>
          </a:prstGeom>
        </p:spPr>
        <p:txBody>
          <a:bodyPr vert="horz" lIns="91440" tIns="45720" rIns="91440" bIns="45720" rtlCol="0"/>
          <a:lstStyle/>
          <a:p>
            <a:endParaRPr lang="en-US" dirty="0"/>
          </a:p>
        </p:txBody>
      </p:sp>
      <p:sp>
        <p:nvSpPr>
          <p:cNvPr id="7" name="Slide Number Placeholder 6">
            <a:extLst>
              <a:ext uri="{FF2B5EF4-FFF2-40B4-BE49-F238E27FC236}">
                <a16:creationId xmlns:a16="http://schemas.microsoft.com/office/drawing/2014/main" id="{CFCCF9F8-F216-25DB-D6D2-E4F0EF0CBE1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506227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a:xfrm>
            <a:off x="679768" y="4777193"/>
            <a:ext cx="5438140" cy="6430385"/>
          </a:xfrm>
        </p:spPr>
        <p:txBody>
          <a:bodyPr/>
          <a:lstStyle/>
          <a:p>
            <a:endParaRPr lang="en-AU" dirty="0"/>
          </a:p>
        </p:txBody>
      </p:sp>
      <p:sp>
        <p:nvSpPr>
          <p:cNvPr id="4" name="Slide Number Placeholder 3"/>
          <p:cNvSpPr>
            <a:spLocks noGrp="1"/>
          </p:cNvSpPr>
          <p:nvPr>
            <p:ph type="sldNum" sz="quarter" idx="5"/>
          </p:nvPr>
        </p:nvSpPr>
        <p:spPr/>
        <p:txBody>
          <a:bodyPr/>
          <a:lstStyle/>
          <a:p>
            <a:fld id="{86456DE3-4E01-4AFD-AD42-42312842ED89}" type="slidenum">
              <a:rPr lang="en-US" smtClean="0"/>
              <a:t>12</a:t>
            </a:fld>
            <a:endParaRPr lang="en-US" dirty="0"/>
          </a:p>
        </p:txBody>
      </p:sp>
    </p:spTree>
    <p:extLst>
      <p:ext uri="{BB962C8B-B14F-4D97-AF65-F5344CB8AC3E}">
        <p14:creationId xmlns:p14="http://schemas.microsoft.com/office/powerpoint/2010/main" val="152189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548E6-F470-78FC-A410-1386DB23C4C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3F1CA7-0278-18B0-3488-D189FCCE75E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9B063671-9456-074C-F134-EC8072F0349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0EC476D2-B8F3-B97A-F429-F28053D22BD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6C93076-3D93-4EED-7A8B-D0D9F95C221D}"/>
              </a:ext>
            </a:extLst>
          </p:cNvPr>
          <p:cNvSpPr>
            <a:spLocks noGrp="1"/>
          </p:cNvSpPr>
          <p:nvPr>
            <p:ph type="body" sz="quarter" idx="3"/>
          </p:nvPr>
        </p:nvSpPr>
        <p:spPr>
          <a:xfrm>
            <a:off x="914400" y="3251200"/>
            <a:ext cx="4893276" cy="3446162"/>
          </a:xfrm>
          <a:prstGeom prst="rect">
            <a:avLst/>
          </a:prstGeom>
        </p:spPr>
        <p:txBody>
          <a:bodyPr vert="horz" lIns="91440" tIns="45720" rIns="91440" bIns="45720" rtlCol="0"/>
          <a:lstStyle/>
          <a:p>
            <a:endParaRPr lang="en-US" dirty="0"/>
          </a:p>
        </p:txBody>
      </p:sp>
      <p:sp>
        <p:nvSpPr>
          <p:cNvPr id="7" name="Slide Number Placeholder 6">
            <a:extLst>
              <a:ext uri="{FF2B5EF4-FFF2-40B4-BE49-F238E27FC236}">
                <a16:creationId xmlns:a16="http://schemas.microsoft.com/office/drawing/2014/main" id="{345E2E94-0C4F-7490-B2BE-B59A1ABED0B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984769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C98D0-60C3-72CE-56E0-9E555C4635F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C730A06-A839-9C45-386C-26F16E782FF0}"/>
              </a:ext>
            </a:extLst>
          </p:cNvPr>
          <p:cNvSpPr>
            <a:spLocks noGrp="1"/>
          </p:cNvSpPr>
          <p:nvPr>
            <p:ph type="hdr" sz="quarter"/>
          </p:nvPr>
        </p:nvSpPr>
        <p:spPr>
          <a:xfrm>
            <a:off x="0" y="0"/>
            <a:ext cx="3967027" cy="343339"/>
          </a:xfrm>
          <a:prstGeom prst="rect">
            <a:avLst/>
          </a:prstGeom>
        </p:spPr>
        <p:txBody>
          <a:bodyPr vert="horz" lIns="91550" tIns="45775" rIns="91550" bIns="45775" rtlCol="0"/>
          <a:lstStyle>
            <a:lvl1pPr algn="l">
              <a:defRPr sz="1200"/>
            </a:lvl1pPr>
          </a:lstStyle>
          <a:p>
            <a:pPr marL="0" marR="0" lvl="0" indent="0" algn="l" defTabSz="457749"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92C6D9E5-276F-2FDB-D36A-80ACF6309E2D}"/>
              </a:ext>
            </a:extLst>
          </p:cNvPr>
          <p:cNvSpPr>
            <a:spLocks noGrp="1"/>
          </p:cNvSpPr>
          <p:nvPr>
            <p:ph type="dt" idx="1"/>
          </p:nvPr>
        </p:nvSpPr>
        <p:spPr>
          <a:xfrm>
            <a:off x="5186062" y="0"/>
            <a:ext cx="3967027" cy="343339"/>
          </a:xfrm>
          <a:prstGeom prst="rect">
            <a:avLst/>
          </a:prstGeom>
        </p:spPr>
        <p:txBody>
          <a:bodyPr vert="horz" lIns="91550" tIns="45775" rIns="91550" bIns="45775" rtlCol="0"/>
          <a:lstStyle>
            <a:lvl1pPr algn="r">
              <a:defRPr sz="1200"/>
            </a:lvl1pPr>
          </a:lstStyle>
          <a:p>
            <a:pPr marL="0" marR="0" lvl="0" indent="0" algn="r" defTabSz="457749"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6CFE2D95-D94A-3796-F88C-E0C4F94B6F34}"/>
              </a:ext>
            </a:extLst>
          </p:cNvPr>
          <p:cNvSpPr>
            <a:spLocks noGrp="1" noRot="1" noChangeAspect="1"/>
          </p:cNvSpPr>
          <p:nvPr>
            <p:ph type="sldImg" idx="2"/>
          </p:nvPr>
        </p:nvSpPr>
        <p:spPr>
          <a:xfrm>
            <a:off x="2293938" y="512763"/>
            <a:ext cx="4567237" cy="2570162"/>
          </a:xfrm>
          <a:prstGeom prst="rect">
            <a:avLst/>
          </a:prstGeom>
          <a:noFill/>
          <a:ln w="12700">
            <a:solidFill>
              <a:prstClr val="black"/>
            </a:solidFill>
          </a:ln>
        </p:spPr>
        <p:txBody>
          <a:bodyPr vert="horz" lIns="91550" tIns="45775" rIns="91550" bIns="45775" rtlCol="0" anchor="ctr"/>
          <a:lstStyle/>
          <a:p>
            <a:endParaRPr/>
          </a:p>
        </p:txBody>
      </p:sp>
      <p:sp>
        <p:nvSpPr>
          <p:cNvPr id="5" name="Notes Placeholder 4">
            <a:extLst>
              <a:ext uri="{FF2B5EF4-FFF2-40B4-BE49-F238E27FC236}">
                <a16:creationId xmlns:a16="http://schemas.microsoft.com/office/drawing/2014/main" id="{86E50930-2A50-F8B2-8A7A-6CE13B9AE8CD}"/>
              </a:ext>
            </a:extLst>
          </p:cNvPr>
          <p:cNvSpPr>
            <a:spLocks noGrp="1"/>
          </p:cNvSpPr>
          <p:nvPr>
            <p:ph type="body" sz="quarter" idx="3"/>
          </p:nvPr>
        </p:nvSpPr>
        <p:spPr>
          <a:xfrm>
            <a:off x="915468" y="3255359"/>
            <a:ext cx="5164056" cy="3255359"/>
          </a:xfrm>
          <a:prstGeom prst="rect">
            <a:avLst/>
          </a:prstGeom>
        </p:spPr>
        <p:txBody>
          <a:bodyPr vert="horz" lIns="91550" tIns="45775" rIns="91550" bIns="45775" rtlCol="0"/>
          <a:lstStyle/>
          <a:p>
            <a:endParaRPr lang="en-AU" dirty="0"/>
          </a:p>
        </p:txBody>
      </p:sp>
      <p:sp>
        <p:nvSpPr>
          <p:cNvPr id="6" name="Footer Placeholder 5">
            <a:extLst>
              <a:ext uri="{FF2B5EF4-FFF2-40B4-BE49-F238E27FC236}">
                <a16:creationId xmlns:a16="http://schemas.microsoft.com/office/drawing/2014/main" id="{888978B6-0925-3AB2-CCE4-300DCB75B788}"/>
              </a:ext>
            </a:extLst>
          </p:cNvPr>
          <p:cNvSpPr>
            <a:spLocks noGrp="1"/>
          </p:cNvSpPr>
          <p:nvPr>
            <p:ph type="ftr" sz="quarter" idx="4"/>
          </p:nvPr>
        </p:nvSpPr>
        <p:spPr>
          <a:xfrm>
            <a:off x="0" y="6510719"/>
            <a:ext cx="3967027" cy="341750"/>
          </a:xfrm>
          <a:prstGeom prst="rect">
            <a:avLst/>
          </a:prstGeom>
        </p:spPr>
        <p:txBody>
          <a:bodyPr vert="horz" lIns="91550" tIns="45775" rIns="91550" bIns="45775" rtlCol="0" anchor="b"/>
          <a:lstStyle>
            <a:lvl1pPr algn="l">
              <a:defRPr sz="1200"/>
            </a:lvl1pPr>
          </a:lstStyle>
          <a:p>
            <a:pPr marL="0" marR="0" lvl="0" indent="0" algn="l" defTabSz="457749"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FCCF9F8-F216-25DB-D6D2-E4F0EF0CBE11}"/>
              </a:ext>
            </a:extLst>
          </p:cNvPr>
          <p:cNvSpPr>
            <a:spLocks noGrp="1"/>
          </p:cNvSpPr>
          <p:nvPr>
            <p:ph type="sldNum" sz="quarter" idx="5"/>
          </p:nvPr>
        </p:nvSpPr>
        <p:spPr>
          <a:xfrm>
            <a:off x="5186062" y="6510719"/>
            <a:ext cx="3967027" cy="341750"/>
          </a:xfrm>
          <a:prstGeom prst="rect">
            <a:avLst/>
          </a:prstGeom>
        </p:spPr>
        <p:txBody>
          <a:bodyPr vert="horz" lIns="91550" tIns="45775" rIns="91550" bIns="45775" rtlCol="0" anchor="b"/>
          <a:lstStyle>
            <a:lvl1pPr algn="r">
              <a:defRPr sz="1200"/>
            </a:lvl1pPr>
          </a:lstStyle>
          <a:p>
            <a:pPr marL="0" marR="0" lvl="0" indent="0" algn="r" defTabSz="457749"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1389360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B1E12-04C6-26E1-6E08-FA01C5D6E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7D2F10-64BB-DE3D-B268-BAD8539EE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262C2D-3CB2-36C3-9A01-5E5A839912CD}"/>
              </a:ext>
            </a:extLst>
          </p:cNvPr>
          <p:cNvSpPr>
            <a:spLocks noGrp="1"/>
          </p:cNvSpPr>
          <p:nvPr>
            <p:ph type="body" idx="1"/>
          </p:nvPr>
        </p:nvSpPr>
        <p:spPr>
          <a:xfrm>
            <a:off x="680562" y="4783306"/>
            <a:ext cx="5444490" cy="7042110"/>
          </a:xfrm>
        </p:spPr>
        <p:txBody>
          <a:bodyPr/>
          <a:lstStyle/>
          <a:p>
            <a:endParaRPr lang="en-AU" dirty="0"/>
          </a:p>
        </p:txBody>
      </p:sp>
      <p:sp>
        <p:nvSpPr>
          <p:cNvPr id="4" name="Slide Number Placeholder 3">
            <a:extLst>
              <a:ext uri="{FF2B5EF4-FFF2-40B4-BE49-F238E27FC236}">
                <a16:creationId xmlns:a16="http://schemas.microsoft.com/office/drawing/2014/main" id="{2C2A8DB0-D58F-8375-0621-67FA505DDA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F8803C-413B-49CE-9FB4-C71B16B15C5C}"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0967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A81AB-2D91-D7F7-F5DA-FF81ACF22A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E851F-57BB-74DD-66EE-77B45FD04B1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B274444-2F1F-55E5-6280-34A4279F39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a:extLst>
              <a:ext uri="{FF2B5EF4-FFF2-40B4-BE49-F238E27FC236}">
                <a16:creationId xmlns:a16="http://schemas.microsoft.com/office/drawing/2014/main" id="{BE4105CD-4A14-B07F-D33F-A1C9FE23B6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1981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16F59-3978-961A-B90D-8BB593C0044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4E8380-9014-C1CA-372C-BCE1D0AA96F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8580496D-2DF3-C409-0A70-129005D4DC0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FC9A1F13-B04E-294D-4D1B-2FAEA46D3FB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0400A08-8E91-EB23-171D-480A6F8E2944}"/>
              </a:ext>
            </a:extLst>
          </p:cNvPr>
          <p:cNvSpPr>
            <a:spLocks noGrp="1"/>
          </p:cNvSpPr>
          <p:nvPr>
            <p:ph type="body" sz="quarter" idx="3"/>
          </p:nvPr>
        </p:nvSpPr>
        <p:spPr>
          <a:xfrm>
            <a:off x="914400" y="3251198"/>
            <a:ext cx="5634681" cy="12738445"/>
          </a:xfrm>
          <a:prstGeom prst="rect">
            <a:avLst/>
          </a:prstGeom>
        </p:spPr>
        <p:txBody>
          <a:bodyPr vert="horz" lIns="91440" tIns="45720" rIns="91440" bIns="45720" rtlCol="0"/>
          <a:lstStyle/>
          <a:p>
            <a:endParaRPr lang="en-US" dirty="0"/>
          </a:p>
        </p:txBody>
      </p:sp>
      <p:sp>
        <p:nvSpPr>
          <p:cNvPr id="7" name="Slide Number Placeholder 6">
            <a:extLst>
              <a:ext uri="{FF2B5EF4-FFF2-40B4-BE49-F238E27FC236}">
                <a16:creationId xmlns:a16="http://schemas.microsoft.com/office/drawing/2014/main" id="{8CB8DED2-4E15-741D-1368-D7791A31753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618655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40CE3-8F72-9C9F-07F7-C10FE2310AE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98972B-BEC7-9F9C-085C-85500465974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4CA14A5B-1163-AE38-8D60-0D4384BEE50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5AC0D1AA-8B80-1BFB-B4F7-B6203DB79F0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3B68219-690A-CB5C-4541-4797F8BDB7C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EC9E737F-8330-F638-E425-52554551E7A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65C4401A-3B0B-4E63-8769-EEB80D31B28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4033286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6456DE3-4E01-4AFD-AD42-42312842ED89}" type="slidenum">
              <a:rPr lang="en-US" smtClean="0"/>
              <a:t>20</a:t>
            </a:fld>
            <a:endParaRPr lang="en-US" dirty="0"/>
          </a:p>
        </p:txBody>
      </p:sp>
    </p:spTree>
    <p:extLst>
      <p:ext uri="{BB962C8B-B14F-4D97-AF65-F5344CB8AC3E}">
        <p14:creationId xmlns:p14="http://schemas.microsoft.com/office/powerpoint/2010/main" val="2108042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6456DE3-4E01-4AFD-AD42-42312842ED89}" type="slidenum">
              <a:rPr lang="en-US" smtClean="0"/>
              <a:t>21</a:t>
            </a:fld>
            <a:endParaRPr lang="en-US" dirty="0"/>
          </a:p>
        </p:txBody>
      </p:sp>
    </p:spTree>
    <p:extLst>
      <p:ext uri="{BB962C8B-B14F-4D97-AF65-F5344CB8AC3E}">
        <p14:creationId xmlns:p14="http://schemas.microsoft.com/office/powerpoint/2010/main" val="13903873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6456DE3-4E01-4AFD-AD42-42312842ED89}" type="slidenum">
              <a:rPr lang="en-US" smtClean="0"/>
              <a:t>22</a:t>
            </a:fld>
            <a:endParaRPr lang="en-US" dirty="0"/>
          </a:p>
        </p:txBody>
      </p:sp>
    </p:spTree>
    <p:extLst>
      <p:ext uri="{BB962C8B-B14F-4D97-AF65-F5344CB8AC3E}">
        <p14:creationId xmlns:p14="http://schemas.microsoft.com/office/powerpoint/2010/main" val="41687380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72BEC-63D5-5366-85DF-70FA02409FE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99C34A-899B-F39C-5E13-50051E05308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25F6F999-681A-FD11-F322-454D2BA03E4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54CE4D41-AED1-17EE-DABE-20EE5824342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AE3D98E-E4FD-9D19-C3AC-592CD4243B9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E292E354-85A6-72B5-B99C-3EDCC249A7D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988CD5EB-12AC-6A33-CF8B-710EC6E2FFF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27154581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194"/>
            <a:ext cx="5438140" cy="6714590"/>
          </a:xfrm>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89068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86456DE3-4E01-4AFD-AD42-42312842ED89}" type="slidenum">
              <a:rPr lang="en-US" smtClean="0"/>
              <a:t>25</a:t>
            </a:fld>
            <a:endParaRPr lang="en-US" dirty="0"/>
          </a:p>
        </p:txBody>
      </p:sp>
    </p:spTree>
    <p:extLst>
      <p:ext uri="{BB962C8B-B14F-4D97-AF65-F5344CB8AC3E}">
        <p14:creationId xmlns:p14="http://schemas.microsoft.com/office/powerpoint/2010/main" val="38685993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78CBF-5057-0594-E182-359319BA1FF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99B04E-F3C4-DCED-F6FD-0C2C8617CEA5}"/>
              </a:ext>
            </a:extLst>
          </p:cNvPr>
          <p:cNvSpPr>
            <a:spLocks noGrp="1"/>
          </p:cNvSpPr>
          <p:nvPr>
            <p:ph type="hdr" sz="quarter"/>
          </p:nvPr>
        </p:nvSpPr>
        <p:spPr>
          <a:xfrm>
            <a:off x="0" y="0"/>
            <a:ext cx="3967027" cy="343339"/>
          </a:xfrm>
          <a:prstGeom prst="rect">
            <a:avLst/>
          </a:prstGeom>
        </p:spPr>
        <p:txBody>
          <a:bodyPr vert="horz" lIns="91550" tIns="45775" rIns="91550" bIns="45775" rtlCol="0"/>
          <a:lstStyle>
            <a:lvl1pPr algn="l">
              <a:defRPr sz="1200"/>
            </a:lvl1pPr>
          </a:lstStyle>
          <a:p>
            <a:pPr marL="0" marR="0" lvl="0" indent="0" algn="l" defTabSz="457749"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2070C22D-7C75-E591-C0BE-5E394B3D9F10}"/>
              </a:ext>
            </a:extLst>
          </p:cNvPr>
          <p:cNvSpPr>
            <a:spLocks noGrp="1"/>
          </p:cNvSpPr>
          <p:nvPr>
            <p:ph type="dt" idx="1"/>
          </p:nvPr>
        </p:nvSpPr>
        <p:spPr>
          <a:xfrm>
            <a:off x="5186062" y="0"/>
            <a:ext cx="3967027" cy="343339"/>
          </a:xfrm>
          <a:prstGeom prst="rect">
            <a:avLst/>
          </a:prstGeom>
        </p:spPr>
        <p:txBody>
          <a:bodyPr vert="horz" lIns="91550" tIns="45775" rIns="91550" bIns="45775" rtlCol="0"/>
          <a:lstStyle>
            <a:lvl1pPr algn="r">
              <a:defRPr sz="1200"/>
            </a:lvl1pPr>
          </a:lstStyle>
          <a:p>
            <a:pPr marL="0" marR="0" lvl="0" indent="0" algn="r" defTabSz="457749"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E4427FF7-0D71-843B-124D-1F37E00CB5CA}"/>
              </a:ext>
            </a:extLst>
          </p:cNvPr>
          <p:cNvSpPr>
            <a:spLocks noGrp="1" noRot="1" noChangeAspect="1"/>
          </p:cNvSpPr>
          <p:nvPr>
            <p:ph type="sldImg" idx="2"/>
          </p:nvPr>
        </p:nvSpPr>
        <p:spPr>
          <a:xfrm>
            <a:off x="2293938" y="512763"/>
            <a:ext cx="4567237" cy="2570162"/>
          </a:xfrm>
          <a:prstGeom prst="rect">
            <a:avLst/>
          </a:prstGeom>
          <a:noFill/>
          <a:ln w="12700">
            <a:solidFill>
              <a:prstClr val="black"/>
            </a:solidFill>
          </a:ln>
        </p:spPr>
        <p:txBody>
          <a:bodyPr vert="horz" lIns="91550" tIns="45775" rIns="91550" bIns="45775" rtlCol="0" anchor="ctr"/>
          <a:lstStyle/>
          <a:p>
            <a:endParaRPr/>
          </a:p>
        </p:txBody>
      </p:sp>
      <p:sp>
        <p:nvSpPr>
          <p:cNvPr id="5" name="Notes Placeholder 4">
            <a:extLst>
              <a:ext uri="{FF2B5EF4-FFF2-40B4-BE49-F238E27FC236}">
                <a16:creationId xmlns:a16="http://schemas.microsoft.com/office/drawing/2014/main" id="{16E9194D-998D-17F1-51ED-6F1D2FC79B41}"/>
              </a:ext>
            </a:extLst>
          </p:cNvPr>
          <p:cNvSpPr>
            <a:spLocks noGrp="1"/>
          </p:cNvSpPr>
          <p:nvPr>
            <p:ph type="body" sz="quarter" idx="3"/>
          </p:nvPr>
        </p:nvSpPr>
        <p:spPr>
          <a:xfrm>
            <a:off x="915468" y="3255360"/>
            <a:ext cx="5250554" cy="3083656"/>
          </a:xfrm>
          <a:prstGeom prst="rect">
            <a:avLst/>
          </a:prstGeom>
        </p:spPr>
        <p:txBody>
          <a:bodyPr vert="horz" lIns="91550" tIns="45775" rIns="91550" bIns="45775" rtlCol="0"/>
          <a:lstStyle/>
          <a:p>
            <a:endParaRPr lang="en-US" dirty="0"/>
          </a:p>
        </p:txBody>
      </p:sp>
      <p:sp>
        <p:nvSpPr>
          <p:cNvPr id="6" name="Footer Placeholder 5">
            <a:extLst>
              <a:ext uri="{FF2B5EF4-FFF2-40B4-BE49-F238E27FC236}">
                <a16:creationId xmlns:a16="http://schemas.microsoft.com/office/drawing/2014/main" id="{14732A8F-D46E-EE13-8F88-44E73EF919CB}"/>
              </a:ext>
            </a:extLst>
          </p:cNvPr>
          <p:cNvSpPr>
            <a:spLocks noGrp="1"/>
          </p:cNvSpPr>
          <p:nvPr>
            <p:ph type="ftr" sz="quarter" idx="4"/>
          </p:nvPr>
        </p:nvSpPr>
        <p:spPr>
          <a:xfrm>
            <a:off x="0" y="6510719"/>
            <a:ext cx="3967027" cy="341750"/>
          </a:xfrm>
          <a:prstGeom prst="rect">
            <a:avLst/>
          </a:prstGeom>
        </p:spPr>
        <p:txBody>
          <a:bodyPr vert="horz" lIns="91550" tIns="45775" rIns="91550" bIns="45775" rtlCol="0" anchor="b"/>
          <a:lstStyle>
            <a:lvl1pPr algn="l">
              <a:defRPr sz="1200"/>
            </a:lvl1pPr>
          </a:lstStyle>
          <a:p>
            <a:pPr marL="0" marR="0" lvl="0" indent="0" algn="l" defTabSz="457749"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A0787797-F0EB-3E1C-2542-229459EF1C82}"/>
              </a:ext>
            </a:extLst>
          </p:cNvPr>
          <p:cNvSpPr>
            <a:spLocks noGrp="1"/>
          </p:cNvSpPr>
          <p:nvPr>
            <p:ph type="sldNum" sz="quarter" idx="5"/>
          </p:nvPr>
        </p:nvSpPr>
        <p:spPr>
          <a:xfrm>
            <a:off x="5186062" y="6510719"/>
            <a:ext cx="3967027" cy="341750"/>
          </a:xfrm>
          <a:prstGeom prst="rect">
            <a:avLst/>
          </a:prstGeom>
        </p:spPr>
        <p:txBody>
          <a:bodyPr vert="horz" lIns="91550" tIns="45775" rIns="91550" bIns="45775" rtlCol="0" anchor="b"/>
          <a:lstStyle>
            <a:lvl1pPr algn="r">
              <a:defRPr sz="1200"/>
            </a:lvl1pPr>
          </a:lstStyle>
          <a:p>
            <a:pPr marL="0" marR="0" lvl="0" indent="0" algn="r" defTabSz="457749"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875317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5864D-4CF0-C48D-5619-9B521A79C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7D250-8103-6849-DA40-4E7A613CFD5B}"/>
              </a:ext>
            </a:extLst>
          </p:cNvPr>
          <p:cNvSpPr>
            <a:spLocks noGrp="1" noRot="1" noChangeAspect="1"/>
          </p:cNvSpPr>
          <p:nvPr>
            <p:ph type="sldImg"/>
          </p:nvPr>
        </p:nvSpPr>
        <p:spPr>
          <a:xfrm>
            <a:off x="2057400" y="557213"/>
            <a:ext cx="4959350" cy="2790825"/>
          </a:xfrm>
        </p:spPr>
      </p:sp>
      <p:sp>
        <p:nvSpPr>
          <p:cNvPr id="3" name="Notes Placeholder 2">
            <a:extLst>
              <a:ext uri="{FF2B5EF4-FFF2-40B4-BE49-F238E27FC236}">
                <a16:creationId xmlns:a16="http://schemas.microsoft.com/office/drawing/2014/main" id="{B045F6C4-68BF-DB48-DC5D-8C80039FA48F}"/>
              </a:ext>
            </a:extLst>
          </p:cNvPr>
          <p:cNvSpPr>
            <a:spLocks noGrp="1"/>
          </p:cNvSpPr>
          <p:nvPr>
            <p:ph type="body" idx="1"/>
          </p:nvPr>
        </p:nvSpPr>
        <p:spPr>
          <a:xfrm>
            <a:off x="907415" y="3533987"/>
            <a:ext cx="5368872" cy="3349350"/>
          </a:xfrm>
        </p:spPr>
        <p:txBody>
          <a:bodyPr/>
          <a:lstStyle/>
          <a:p>
            <a:endParaRPr lang="en-AU" dirty="0"/>
          </a:p>
        </p:txBody>
      </p:sp>
      <p:sp>
        <p:nvSpPr>
          <p:cNvPr id="4" name="Slide Number Placeholder 3">
            <a:extLst>
              <a:ext uri="{FF2B5EF4-FFF2-40B4-BE49-F238E27FC236}">
                <a16:creationId xmlns:a16="http://schemas.microsoft.com/office/drawing/2014/main" id="{114D39E4-A33E-F2B9-3EC9-0DE990E1F4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323520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t" latinLnBrk="0" hangingPunct="1"/>
            <a:endParaRPr lang="en-AU" dirty="0"/>
          </a:p>
        </p:txBody>
      </p:sp>
      <p:sp>
        <p:nvSpPr>
          <p:cNvPr id="4" name="Slide Number Placeholder 3"/>
          <p:cNvSpPr>
            <a:spLocks noGrp="1"/>
          </p:cNvSpPr>
          <p:nvPr>
            <p:ph type="sldNum" sz="quarter" idx="5"/>
          </p:nvPr>
        </p:nvSpPr>
        <p:spPr/>
        <p:txBody>
          <a:bodyPr/>
          <a:lstStyle/>
          <a:p>
            <a:fld id="{86456DE3-4E01-4AFD-AD42-42312842ED89}" type="slidenum">
              <a:rPr lang="en-US" smtClean="0"/>
              <a:t>28</a:t>
            </a:fld>
            <a:endParaRPr lang="en-US" dirty="0"/>
          </a:p>
        </p:txBody>
      </p:sp>
    </p:spTree>
    <p:extLst>
      <p:ext uri="{BB962C8B-B14F-4D97-AF65-F5344CB8AC3E}">
        <p14:creationId xmlns:p14="http://schemas.microsoft.com/office/powerpoint/2010/main" val="14827023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6456DE3-4E01-4AFD-AD42-42312842ED89}" type="slidenum">
              <a:rPr lang="en-US" smtClean="0"/>
              <a:t>29</a:t>
            </a:fld>
            <a:endParaRPr lang="en-US" dirty="0"/>
          </a:p>
        </p:txBody>
      </p:sp>
    </p:spTree>
    <p:extLst>
      <p:ext uri="{BB962C8B-B14F-4D97-AF65-F5344CB8AC3E}">
        <p14:creationId xmlns:p14="http://schemas.microsoft.com/office/powerpoint/2010/main" val="2775763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8397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A61F0-4CCE-2FA3-A1E6-3FEF05429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08540-0E9E-08DF-BFA3-04FE28373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C6454-230B-7005-54F8-C86F216A63EE}"/>
              </a:ext>
            </a:extLst>
          </p:cNvPr>
          <p:cNvSpPr>
            <a:spLocks noGrp="1"/>
          </p:cNvSpPr>
          <p:nvPr>
            <p:ph type="body" idx="1"/>
          </p:nvPr>
        </p:nvSpPr>
        <p:spPr>
          <a:xfrm>
            <a:off x="679768" y="4777194"/>
            <a:ext cx="5438140" cy="6714590"/>
          </a:xfrm>
        </p:spPr>
        <p:txBody>
          <a:bodyPr/>
          <a:lstStyle/>
          <a:p>
            <a:endParaRPr lang="en-AU" dirty="0"/>
          </a:p>
        </p:txBody>
      </p:sp>
      <p:sp>
        <p:nvSpPr>
          <p:cNvPr id="4" name="Slide Number Placeholder 3">
            <a:extLst>
              <a:ext uri="{FF2B5EF4-FFF2-40B4-BE49-F238E27FC236}">
                <a16:creationId xmlns:a16="http://schemas.microsoft.com/office/drawing/2014/main" id="{BBA764EB-86FD-8D74-C95E-F2D08C5889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47583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6456DE3-4E01-4AFD-AD42-42312842ED89}" type="slidenum">
              <a:rPr lang="en-US" smtClean="0"/>
              <a:t>32</a:t>
            </a:fld>
            <a:endParaRPr lang="en-US" dirty="0"/>
          </a:p>
        </p:txBody>
      </p:sp>
    </p:spTree>
    <p:extLst>
      <p:ext uri="{BB962C8B-B14F-4D97-AF65-F5344CB8AC3E}">
        <p14:creationId xmlns:p14="http://schemas.microsoft.com/office/powerpoint/2010/main" val="23933615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B6EADD-FA54-40B9-9224-326A7545E46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99654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8397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A27E5-F2F3-72F8-605D-662C5545F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D0D30-CA1E-C83C-BFD2-DCD45C3CF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45DDAB-708C-6E01-4597-847DD5B52F3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09BBC37-9640-E540-5440-89C4E48232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9366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E8260-C9EC-4EB5-254A-D3CAFF04A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D277F-5FAB-1555-F2E6-4E40DB796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F8499-A8FB-E2D2-C581-33FBA92978D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B6472C9-D451-DBBB-CFC7-4541DED926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22146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BE0DA-00FA-7654-64EB-FE737E318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01429-A0A9-2D7F-1CCE-4EC0804F6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C3F2BA-7049-3174-6C95-420BBD25CC8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B5BE1B6-7089-0258-01C6-CDDD1E22AF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94765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3ED54-F15E-57C9-3C04-581D1D5BE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F394D-1081-68A6-E808-C0ABCDC9B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ED922-88D0-1CB2-91C1-F1087024267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4FBBF80-5F80-6B37-8C4B-A89AD70B33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49780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8C712-B32E-70E9-D387-0580200E4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DAA6C-2059-278D-700F-75A9E3F32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95BF32-EAF1-4315-6B44-223A1AF7586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65F2420-1F4F-AF55-2C96-1A8A760F72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6776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194"/>
            <a:ext cx="5438140" cy="6331530"/>
          </a:xfrm>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30996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CA912-E088-A2EE-2AF3-93EFB401A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BC23D-ECE8-4488-DA00-DFB209FDF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329C2-870D-3CFD-D762-905BED0CFDA7}"/>
              </a:ext>
            </a:extLst>
          </p:cNvPr>
          <p:cNvSpPr>
            <a:spLocks noGrp="1"/>
          </p:cNvSpPr>
          <p:nvPr>
            <p:ph type="body" idx="1"/>
          </p:nvPr>
        </p:nvSpPr>
        <p:spPr>
          <a:xfrm>
            <a:off x="679768" y="4777194"/>
            <a:ext cx="5438140" cy="633153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a:extLst>
              <a:ext uri="{FF2B5EF4-FFF2-40B4-BE49-F238E27FC236}">
                <a16:creationId xmlns:a16="http://schemas.microsoft.com/office/drawing/2014/main" id="{2A1EB5E0-8388-C95B-F518-8A84ADF592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4047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EC961-4875-A19E-FBBB-3CAAFADC7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3ACEF-CD29-0CAB-0912-DDADCD249B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CFF7F-2F0C-F5D4-B3B2-E62EE7C31E08}"/>
              </a:ext>
            </a:extLst>
          </p:cNvPr>
          <p:cNvSpPr>
            <a:spLocks noGrp="1"/>
          </p:cNvSpPr>
          <p:nvPr>
            <p:ph type="body" idx="1"/>
          </p:nvPr>
        </p:nvSpPr>
        <p:spPr>
          <a:xfrm>
            <a:off x="679768" y="4777194"/>
            <a:ext cx="5438140" cy="6331530"/>
          </a:xfrm>
        </p:spPr>
        <p:txBody>
          <a:bodyPr/>
          <a:lstStyle/>
          <a:p>
            <a:endParaRPr lang="en-AU" dirty="0"/>
          </a:p>
        </p:txBody>
      </p:sp>
      <p:sp>
        <p:nvSpPr>
          <p:cNvPr id="4" name="Slide Number Placeholder 3">
            <a:extLst>
              <a:ext uri="{FF2B5EF4-FFF2-40B4-BE49-F238E27FC236}">
                <a16:creationId xmlns:a16="http://schemas.microsoft.com/office/drawing/2014/main" id="{E9D5AE5B-7120-B332-AF49-C9F12FD038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59604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5AB2E-49E4-32CA-59E4-1211E64E8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E3FEB-520F-76E9-09EC-2B9551553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8F2194-6A71-4E2D-47B8-895AF096E035}"/>
              </a:ext>
            </a:extLst>
          </p:cNvPr>
          <p:cNvSpPr>
            <a:spLocks noGrp="1"/>
          </p:cNvSpPr>
          <p:nvPr>
            <p:ph type="body" idx="1"/>
          </p:nvPr>
        </p:nvSpPr>
        <p:spPr>
          <a:xfrm>
            <a:off x="679768" y="4777194"/>
            <a:ext cx="5438140" cy="6331530"/>
          </a:xfrm>
        </p:spPr>
        <p:txBody>
          <a:bodyPr/>
          <a:lstStyle/>
          <a:p>
            <a:endParaRPr lang="en-AU" dirty="0"/>
          </a:p>
        </p:txBody>
      </p:sp>
      <p:sp>
        <p:nvSpPr>
          <p:cNvPr id="4" name="Slide Number Placeholder 3">
            <a:extLst>
              <a:ext uri="{FF2B5EF4-FFF2-40B4-BE49-F238E27FC236}">
                <a16:creationId xmlns:a16="http://schemas.microsoft.com/office/drawing/2014/main" id="{A1CFBD87-82A8-77BA-16B5-BC46C16D0C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02817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86456DE3-4E01-4AFD-AD42-42312842ED89}" type="slidenum">
              <a:rPr lang="en-US" smtClean="0"/>
              <a:t>44</a:t>
            </a:fld>
            <a:endParaRPr lang="en-US" dirty="0"/>
          </a:p>
        </p:txBody>
      </p:sp>
    </p:spTree>
    <p:extLst>
      <p:ext uri="{BB962C8B-B14F-4D97-AF65-F5344CB8AC3E}">
        <p14:creationId xmlns:p14="http://schemas.microsoft.com/office/powerpoint/2010/main" val="31111477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86456DE3-4E01-4AFD-AD42-42312842ED89}" type="slidenum">
              <a:rPr lang="en-US" smtClean="0"/>
              <a:t>45</a:t>
            </a:fld>
            <a:endParaRPr lang="en-US" dirty="0"/>
          </a:p>
        </p:txBody>
      </p:sp>
    </p:spTree>
    <p:extLst>
      <p:ext uri="{BB962C8B-B14F-4D97-AF65-F5344CB8AC3E}">
        <p14:creationId xmlns:p14="http://schemas.microsoft.com/office/powerpoint/2010/main" val="18801810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86456DE3-4E01-4AFD-AD42-42312842ED89}" type="slidenum">
              <a:rPr lang="en-US" smtClean="0"/>
              <a:t>46</a:t>
            </a:fld>
            <a:endParaRPr lang="en-US" dirty="0"/>
          </a:p>
        </p:txBody>
      </p:sp>
    </p:spTree>
    <p:extLst>
      <p:ext uri="{BB962C8B-B14F-4D97-AF65-F5344CB8AC3E}">
        <p14:creationId xmlns:p14="http://schemas.microsoft.com/office/powerpoint/2010/main" val="1808126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AU"/>
          </a:p>
        </p:txBody>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AU"/>
          </a:p>
        </p:txBody>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10/17/2026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184701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10/17/2026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7588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AU"/>
          </a:p>
        </p:txBody>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AU"/>
          </a:p>
        </p:txBody>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10/17/2026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973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10/17/2026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00582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10/17/2026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20732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10/17/2026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358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10/17/2026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75327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10/17/2026</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3216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10/17/2026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99103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664F-01AE-AE96-9FC1-05134F0B1F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7FE61F77-56C7-2A0A-4F3E-8EBBBB806B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32DBBDFA-D651-1364-4EE6-D568E763C742}"/>
              </a:ext>
            </a:extLst>
          </p:cNvPr>
          <p:cNvSpPr>
            <a:spLocks noGrp="1"/>
          </p:cNvSpPr>
          <p:nvPr>
            <p:ph type="dt" sz="half" idx="10"/>
          </p:nvPr>
        </p:nvSpPr>
        <p:spPr/>
        <p:txBody>
          <a:bodyPr/>
          <a:lstStyle/>
          <a:p>
            <a:fld id="{5FE175B6-3748-4C84-BE32-616FC8F942D1}" type="datetimeFigureOut">
              <a:rPr lang="en-AU" smtClean="0"/>
              <a:t>17/10/2026</a:t>
            </a:fld>
            <a:endParaRPr lang="en-AU"/>
          </a:p>
        </p:txBody>
      </p:sp>
      <p:sp>
        <p:nvSpPr>
          <p:cNvPr id="5" name="Footer Placeholder 4">
            <a:extLst>
              <a:ext uri="{FF2B5EF4-FFF2-40B4-BE49-F238E27FC236}">
                <a16:creationId xmlns:a16="http://schemas.microsoft.com/office/drawing/2014/main" id="{8235FD09-67FC-BD92-706A-BBAC2DF3F87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4CEA94-0ABD-553F-8A63-9512BF21C76E}"/>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1944097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1A0AA-3481-522B-3A7F-62313E85A01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EB91BC-41B3-BA9F-BAC3-A285971187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FA8D754-B666-D83A-E324-AEC4E8C11DC9}"/>
              </a:ext>
            </a:extLst>
          </p:cNvPr>
          <p:cNvSpPr>
            <a:spLocks noGrp="1"/>
          </p:cNvSpPr>
          <p:nvPr>
            <p:ph type="dt" sz="half" idx="10"/>
          </p:nvPr>
        </p:nvSpPr>
        <p:spPr/>
        <p:txBody>
          <a:bodyPr/>
          <a:lstStyle/>
          <a:p>
            <a:fld id="{5FE175B6-3748-4C84-BE32-616FC8F942D1}" type="datetimeFigureOut">
              <a:rPr lang="en-AU" smtClean="0"/>
              <a:t>17/10/2026</a:t>
            </a:fld>
            <a:endParaRPr lang="en-AU"/>
          </a:p>
        </p:txBody>
      </p:sp>
      <p:sp>
        <p:nvSpPr>
          <p:cNvPr id="5" name="Footer Placeholder 4">
            <a:extLst>
              <a:ext uri="{FF2B5EF4-FFF2-40B4-BE49-F238E27FC236}">
                <a16:creationId xmlns:a16="http://schemas.microsoft.com/office/drawing/2014/main" id="{5A04EA82-41AA-A336-0328-046CB2FA24E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82D75AC-8614-4989-CBB7-53B1B0E879C2}"/>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451429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0ACC6-7200-A40E-E39A-5810BD3AC1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481E6989-4BE1-1AB3-A74F-0DC3503701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41CB36-5762-7B7D-E8CB-807CE4C471CE}"/>
              </a:ext>
            </a:extLst>
          </p:cNvPr>
          <p:cNvSpPr>
            <a:spLocks noGrp="1"/>
          </p:cNvSpPr>
          <p:nvPr>
            <p:ph type="dt" sz="half" idx="10"/>
          </p:nvPr>
        </p:nvSpPr>
        <p:spPr/>
        <p:txBody>
          <a:bodyPr/>
          <a:lstStyle/>
          <a:p>
            <a:fld id="{5FE175B6-3748-4C84-BE32-616FC8F942D1}" type="datetimeFigureOut">
              <a:rPr lang="en-AU" smtClean="0"/>
              <a:t>17/10/2026</a:t>
            </a:fld>
            <a:endParaRPr lang="en-AU"/>
          </a:p>
        </p:txBody>
      </p:sp>
      <p:sp>
        <p:nvSpPr>
          <p:cNvPr id="5" name="Footer Placeholder 4">
            <a:extLst>
              <a:ext uri="{FF2B5EF4-FFF2-40B4-BE49-F238E27FC236}">
                <a16:creationId xmlns:a16="http://schemas.microsoft.com/office/drawing/2014/main" id="{8FAEC3E6-CD00-9D45-B94D-D7758ECB747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F969562-BBAE-B556-1832-EA36D92048BF}"/>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2945872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8005-9CA4-A1D0-02D9-DCCC8CE8686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647F760-E0EA-F2BF-9A15-CCBD247616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E0497F9-E80E-A6B8-4714-BBBA5E0416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265A7C56-3895-A3F2-E5D3-E97436BD03A4}"/>
              </a:ext>
            </a:extLst>
          </p:cNvPr>
          <p:cNvSpPr>
            <a:spLocks noGrp="1"/>
          </p:cNvSpPr>
          <p:nvPr>
            <p:ph type="dt" sz="half" idx="10"/>
          </p:nvPr>
        </p:nvSpPr>
        <p:spPr/>
        <p:txBody>
          <a:bodyPr/>
          <a:lstStyle/>
          <a:p>
            <a:fld id="{5FE175B6-3748-4C84-BE32-616FC8F942D1}" type="datetimeFigureOut">
              <a:rPr lang="en-AU" smtClean="0"/>
              <a:t>17/10/2026</a:t>
            </a:fld>
            <a:endParaRPr lang="en-AU"/>
          </a:p>
        </p:txBody>
      </p:sp>
      <p:sp>
        <p:nvSpPr>
          <p:cNvPr id="6" name="Footer Placeholder 5">
            <a:extLst>
              <a:ext uri="{FF2B5EF4-FFF2-40B4-BE49-F238E27FC236}">
                <a16:creationId xmlns:a16="http://schemas.microsoft.com/office/drawing/2014/main" id="{CC30F933-2615-3D1D-8A65-30DD1767766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BF23326-166F-B633-5559-9884E97F9954}"/>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24171896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FA5C6-74A4-565A-FB5C-AACAEEA63A0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A6544F0-CB97-F6F7-E753-91D956419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F11610-B3E3-8B4A-340D-9E730B12BA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C5A27E4E-1426-07C5-2218-4CA2578AA3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5E4502-8651-B6DD-6D69-94815E319E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A101F8C-0E69-2247-3333-30D9B1DA2EC0}"/>
              </a:ext>
            </a:extLst>
          </p:cNvPr>
          <p:cNvSpPr>
            <a:spLocks noGrp="1"/>
          </p:cNvSpPr>
          <p:nvPr>
            <p:ph type="dt" sz="half" idx="10"/>
          </p:nvPr>
        </p:nvSpPr>
        <p:spPr/>
        <p:txBody>
          <a:bodyPr/>
          <a:lstStyle/>
          <a:p>
            <a:fld id="{5FE175B6-3748-4C84-BE32-616FC8F942D1}" type="datetimeFigureOut">
              <a:rPr lang="en-AU" smtClean="0"/>
              <a:t>17/10/2026</a:t>
            </a:fld>
            <a:endParaRPr lang="en-AU"/>
          </a:p>
        </p:txBody>
      </p:sp>
      <p:sp>
        <p:nvSpPr>
          <p:cNvPr id="8" name="Footer Placeholder 7">
            <a:extLst>
              <a:ext uri="{FF2B5EF4-FFF2-40B4-BE49-F238E27FC236}">
                <a16:creationId xmlns:a16="http://schemas.microsoft.com/office/drawing/2014/main" id="{E76CA3F3-830B-123F-D97A-BB0AB5C4343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3F3D5D0-3961-BA14-9F4E-F7AECB2BDF7E}"/>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27667026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71E4F-70C1-2A53-98E8-CEF313940F0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3942757-60C5-4118-2554-45FD17D20854}"/>
              </a:ext>
            </a:extLst>
          </p:cNvPr>
          <p:cNvSpPr>
            <a:spLocks noGrp="1"/>
          </p:cNvSpPr>
          <p:nvPr>
            <p:ph type="dt" sz="half" idx="10"/>
          </p:nvPr>
        </p:nvSpPr>
        <p:spPr/>
        <p:txBody>
          <a:bodyPr/>
          <a:lstStyle/>
          <a:p>
            <a:fld id="{5FE175B6-3748-4C84-BE32-616FC8F942D1}" type="datetimeFigureOut">
              <a:rPr lang="en-AU" smtClean="0"/>
              <a:t>17/10/2026</a:t>
            </a:fld>
            <a:endParaRPr lang="en-AU"/>
          </a:p>
        </p:txBody>
      </p:sp>
      <p:sp>
        <p:nvSpPr>
          <p:cNvPr id="4" name="Footer Placeholder 3">
            <a:extLst>
              <a:ext uri="{FF2B5EF4-FFF2-40B4-BE49-F238E27FC236}">
                <a16:creationId xmlns:a16="http://schemas.microsoft.com/office/drawing/2014/main" id="{15CA4C5B-8326-9493-B43A-4158763E105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0DC18CC-722B-6E88-45CA-073BF3CCF87E}"/>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11148823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806D97-4C18-64A6-4439-20E51585265E}"/>
              </a:ext>
            </a:extLst>
          </p:cNvPr>
          <p:cNvSpPr>
            <a:spLocks noGrp="1"/>
          </p:cNvSpPr>
          <p:nvPr>
            <p:ph type="dt" sz="half" idx="10"/>
          </p:nvPr>
        </p:nvSpPr>
        <p:spPr/>
        <p:txBody>
          <a:bodyPr/>
          <a:lstStyle/>
          <a:p>
            <a:fld id="{5FE175B6-3748-4C84-BE32-616FC8F942D1}" type="datetimeFigureOut">
              <a:rPr lang="en-AU" smtClean="0"/>
              <a:t>17/10/2026</a:t>
            </a:fld>
            <a:endParaRPr lang="en-AU"/>
          </a:p>
        </p:txBody>
      </p:sp>
      <p:sp>
        <p:nvSpPr>
          <p:cNvPr id="3" name="Footer Placeholder 2">
            <a:extLst>
              <a:ext uri="{FF2B5EF4-FFF2-40B4-BE49-F238E27FC236}">
                <a16:creationId xmlns:a16="http://schemas.microsoft.com/office/drawing/2014/main" id="{CD6F8A2A-3669-0EDD-EE90-EEB9E1AE8B02}"/>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E61DE327-893E-C603-DE13-9EE55D708184}"/>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40297684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2AB84-4C4F-DA91-C81D-443B5C118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EC78FAE-F246-3275-01B8-2CB4DC0F22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D093D0D-F358-235C-B742-C5D9C8C39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3D78BA-BEDC-AB46-69AA-85237823AED9}"/>
              </a:ext>
            </a:extLst>
          </p:cNvPr>
          <p:cNvSpPr>
            <a:spLocks noGrp="1"/>
          </p:cNvSpPr>
          <p:nvPr>
            <p:ph type="dt" sz="half" idx="10"/>
          </p:nvPr>
        </p:nvSpPr>
        <p:spPr/>
        <p:txBody>
          <a:bodyPr/>
          <a:lstStyle/>
          <a:p>
            <a:fld id="{5FE175B6-3748-4C84-BE32-616FC8F942D1}" type="datetimeFigureOut">
              <a:rPr lang="en-AU" smtClean="0"/>
              <a:t>17/10/2026</a:t>
            </a:fld>
            <a:endParaRPr lang="en-AU"/>
          </a:p>
        </p:txBody>
      </p:sp>
      <p:sp>
        <p:nvSpPr>
          <p:cNvPr id="6" name="Footer Placeholder 5">
            <a:extLst>
              <a:ext uri="{FF2B5EF4-FFF2-40B4-BE49-F238E27FC236}">
                <a16:creationId xmlns:a16="http://schemas.microsoft.com/office/drawing/2014/main" id="{B530E2EC-0CFA-8D86-1978-D3772B76474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39ADFA0-2A74-2AE4-9E3A-F786B2D99232}"/>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1510712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9D91-19B5-57DA-1E9A-F3BDE8C0DA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8FA69D4-719F-F892-94B6-7D64676506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CB46603-92AB-B216-98F1-099D8F4332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40EA96-F514-2C2A-B119-F0412FAF3400}"/>
              </a:ext>
            </a:extLst>
          </p:cNvPr>
          <p:cNvSpPr>
            <a:spLocks noGrp="1"/>
          </p:cNvSpPr>
          <p:nvPr>
            <p:ph type="dt" sz="half" idx="10"/>
          </p:nvPr>
        </p:nvSpPr>
        <p:spPr/>
        <p:txBody>
          <a:bodyPr/>
          <a:lstStyle/>
          <a:p>
            <a:fld id="{5FE175B6-3748-4C84-BE32-616FC8F942D1}" type="datetimeFigureOut">
              <a:rPr lang="en-AU" smtClean="0"/>
              <a:t>17/10/2026</a:t>
            </a:fld>
            <a:endParaRPr lang="en-AU"/>
          </a:p>
        </p:txBody>
      </p:sp>
      <p:sp>
        <p:nvSpPr>
          <p:cNvPr id="6" name="Footer Placeholder 5">
            <a:extLst>
              <a:ext uri="{FF2B5EF4-FFF2-40B4-BE49-F238E27FC236}">
                <a16:creationId xmlns:a16="http://schemas.microsoft.com/office/drawing/2014/main" id="{9DCBCD5B-2515-AE72-998F-4D295DFA9A3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406DB9-9119-F517-94D0-72B3CB7C2A14}"/>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23837891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C4C60-A743-3DED-B8B9-68E5A1218C0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241C044-5CA6-901A-F4B2-5C792E5611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859B644-EB34-3BF6-1743-86F950735DBC}"/>
              </a:ext>
            </a:extLst>
          </p:cNvPr>
          <p:cNvSpPr>
            <a:spLocks noGrp="1"/>
          </p:cNvSpPr>
          <p:nvPr>
            <p:ph type="dt" sz="half" idx="10"/>
          </p:nvPr>
        </p:nvSpPr>
        <p:spPr/>
        <p:txBody>
          <a:bodyPr/>
          <a:lstStyle/>
          <a:p>
            <a:fld id="{5FE175B6-3748-4C84-BE32-616FC8F942D1}" type="datetimeFigureOut">
              <a:rPr lang="en-AU" smtClean="0"/>
              <a:t>17/10/2026</a:t>
            </a:fld>
            <a:endParaRPr lang="en-AU"/>
          </a:p>
        </p:txBody>
      </p:sp>
      <p:sp>
        <p:nvSpPr>
          <p:cNvPr id="5" name="Footer Placeholder 4">
            <a:extLst>
              <a:ext uri="{FF2B5EF4-FFF2-40B4-BE49-F238E27FC236}">
                <a16:creationId xmlns:a16="http://schemas.microsoft.com/office/drawing/2014/main" id="{0FAC116F-AA29-7545-AC8B-2B51022AAB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620B7C7-87CA-F4E8-EDF3-DD22AAC7BB8F}"/>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31588729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A63D5A-E382-72A4-20E2-68AE15AECE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D6110F6-A2A1-402B-49B2-D4704B3079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C771BEB-EE4C-2DEC-3447-B30CDDE4FDFA}"/>
              </a:ext>
            </a:extLst>
          </p:cNvPr>
          <p:cNvSpPr>
            <a:spLocks noGrp="1"/>
          </p:cNvSpPr>
          <p:nvPr>
            <p:ph type="dt" sz="half" idx="10"/>
          </p:nvPr>
        </p:nvSpPr>
        <p:spPr/>
        <p:txBody>
          <a:bodyPr/>
          <a:lstStyle/>
          <a:p>
            <a:fld id="{5FE175B6-3748-4C84-BE32-616FC8F942D1}" type="datetimeFigureOut">
              <a:rPr lang="en-AU" smtClean="0"/>
              <a:t>17/10/2026</a:t>
            </a:fld>
            <a:endParaRPr lang="en-AU"/>
          </a:p>
        </p:txBody>
      </p:sp>
      <p:sp>
        <p:nvSpPr>
          <p:cNvPr id="5" name="Footer Placeholder 4">
            <a:extLst>
              <a:ext uri="{FF2B5EF4-FFF2-40B4-BE49-F238E27FC236}">
                <a16:creationId xmlns:a16="http://schemas.microsoft.com/office/drawing/2014/main" id="{060EED14-372C-3BC0-39AE-8FBC9B700E7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5516375-1EC8-9B99-CD52-8FD9A9EFCD93}"/>
              </a:ext>
            </a:extLst>
          </p:cNvPr>
          <p:cNvSpPr>
            <a:spLocks noGrp="1"/>
          </p:cNvSpPr>
          <p:nvPr>
            <p:ph type="sldNum" sz="quarter" idx="12"/>
          </p:nvPr>
        </p:nvSpPr>
        <p:spPr/>
        <p:txBody>
          <a:bodyPr/>
          <a:lstStyle/>
          <a:p>
            <a:fld id="{EA6A9612-E4DD-4525-B11D-3CE12DE00D23}" type="slidenum">
              <a:rPr lang="en-AU" smtClean="0"/>
              <a:t>‹#›</a:t>
            </a:fld>
            <a:endParaRPr lang="en-AU"/>
          </a:p>
        </p:txBody>
      </p:sp>
    </p:spTree>
    <p:extLst>
      <p:ext uri="{BB962C8B-B14F-4D97-AF65-F5344CB8AC3E}">
        <p14:creationId xmlns:p14="http://schemas.microsoft.com/office/powerpoint/2010/main" val="25476086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40364807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87993963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37444873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anchor="b"/>
          <a:lstStyle>
            <a:lvl1pPr>
              <a:defRPr sz="600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9663041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47936376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640190680"/>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3045542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a:alphaModFix/>
            <a:extLst>
              <a:ext uri="{96DAC541-7B7A-43D3-8B79-37D633B846F1}">
                <asvg:svgBlip xmlns:asvg="http://schemas.microsoft.com/office/drawing/2016/SVG/main" r:embed="rId2"/>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US"/>
              <a:t>Click to edit Master title style</a:t>
            </a:r>
            <a:endParaRPr lang="en-US" dirty="0"/>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410167791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399430661"/>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Tree>
    <p:extLst>
      <p:ext uri="{BB962C8B-B14F-4D97-AF65-F5344CB8AC3E}">
        <p14:creationId xmlns:p14="http://schemas.microsoft.com/office/powerpoint/2010/main" val="130464507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Tree>
    <p:extLst>
      <p:ext uri="{BB962C8B-B14F-4D97-AF65-F5344CB8AC3E}">
        <p14:creationId xmlns:p14="http://schemas.microsoft.com/office/powerpoint/2010/main" val="7454051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861237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47910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24097916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7060701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34919759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39908381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11623554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743538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047249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73798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42156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802595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155934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5994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935037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947957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984663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344838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89121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theme" Target="../theme/theme3.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AU"/>
          </a:p>
        </p:txBody>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AU"/>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10/17/2026</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720901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FB7440-DE22-0C18-B35A-26E9F85631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1B22AE5-CA17-8906-0F37-CF863EDAAF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0056D3E-900A-F146-E288-809BB974EC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E175B6-3748-4C84-BE32-616FC8F942D1}" type="datetimeFigureOut">
              <a:rPr lang="en-AU" smtClean="0"/>
              <a:t>17/10/2026</a:t>
            </a:fld>
            <a:endParaRPr lang="en-AU"/>
          </a:p>
        </p:txBody>
      </p:sp>
      <p:sp>
        <p:nvSpPr>
          <p:cNvPr id="5" name="Footer Placeholder 4">
            <a:extLst>
              <a:ext uri="{FF2B5EF4-FFF2-40B4-BE49-F238E27FC236}">
                <a16:creationId xmlns:a16="http://schemas.microsoft.com/office/drawing/2014/main" id="{56D2423E-7660-D586-7A01-3FA3F7E495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604DCCB7-5101-75E9-401D-DF130726D7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6A9612-E4DD-4525-B11D-3CE12DE00D23}" type="slidenum">
              <a:rPr lang="en-AU" smtClean="0"/>
              <a:t>‹#›</a:t>
            </a:fld>
            <a:endParaRPr lang="en-AU"/>
          </a:p>
        </p:txBody>
      </p:sp>
    </p:spTree>
    <p:extLst>
      <p:ext uri="{BB962C8B-B14F-4D97-AF65-F5344CB8AC3E}">
        <p14:creationId xmlns:p14="http://schemas.microsoft.com/office/powerpoint/2010/main" val="3737121831"/>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02458168"/>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10/17/2026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59349914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39.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39.xml"/><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9.xml"/><Relationship Id="rId1" Type="http://schemas.openxmlformats.org/officeDocument/2006/relationships/video" Target="https://www.youtube.com/embed/mI7fqt2POIk?start=241&amp;feature=oembed" TargetMode="Externa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9.xml"/><Relationship Id="rId1" Type="http://schemas.openxmlformats.org/officeDocument/2006/relationships/slideLayout" Target="../slideLayouts/slideLayout39.xml"/><Relationship Id="rId6" Type="http://schemas.openxmlformats.org/officeDocument/2006/relationships/image" Target="../media/image16.jpg"/><Relationship Id="rId5" Type="http://schemas.openxmlformats.org/officeDocument/2006/relationships/image" Target="../media/image1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9.xml"/><Relationship Id="rId5" Type="http://schemas.openxmlformats.org/officeDocument/2006/relationships/image" Target="../media/image20.jp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3.xml"/><Relationship Id="rId1" Type="http://schemas.openxmlformats.org/officeDocument/2006/relationships/slideLayout" Target="../slideLayouts/slideLayout39.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9.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7.xml"/><Relationship Id="rId1" Type="http://schemas.openxmlformats.org/officeDocument/2006/relationships/slideLayout" Target="../slideLayouts/slideLayout39.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9.svg"/><Relationship Id="rId7" Type="http://schemas.openxmlformats.org/officeDocument/2006/relationships/diagramQuickStyle" Target="../diagrams/quickStyle1.xml"/><Relationship Id="rId2" Type="http://schemas.openxmlformats.org/officeDocument/2006/relationships/notesSlide" Target="../notesSlides/notesSlide18.xml"/><Relationship Id="rId1" Type="http://schemas.openxmlformats.org/officeDocument/2006/relationships/slideLayout" Target="../slideLayouts/slideLayout39.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3.png"/><Relationship Id="rId9" Type="http://schemas.microsoft.com/office/2007/relationships/diagramDrawing" Target="../diagrams/drawing1.xml"/></Relationships>
</file>

<file path=ppt/slides/_rels/slide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9.xml"/><Relationship Id="rId1" Type="http://schemas.openxmlformats.org/officeDocument/2006/relationships/slideLayout" Target="../slideLayouts/slideLayout39.xml"/><Relationship Id="rId5" Type="http://schemas.openxmlformats.org/officeDocument/2006/relationships/image" Target="../media/image24.jp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hyperlink" Target="https://www.snaicc.org.au/" TargetMode="External"/><Relationship Id="rId2" Type="http://schemas.openxmlformats.org/officeDocument/2006/relationships/slideLayout" Target="../slideLayouts/slideLayout39.xml"/><Relationship Id="rId1" Type="http://schemas.openxmlformats.org/officeDocument/2006/relationships/video" Target="https://www.youtube.com/embed/On93YTvP7ew?feature=oembed" TargetMode="External"/><Relationship Id="rId6" Type="http://schemas.openxmlformats.org/officeDocument/2006/relationships/hyperlink" Target="https://www.childsafety.gov.au/resources/keeping-our-kids-safe-cultural-safety-and-national-principles-child-safe-organisations-guide-0" TargetMode="External"/><Relationship Id="rId5" Type="http://schemas.openxmlformats.org/officeDocument/2006/relationships/image" Target="../media/image25.jpe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9.xml"/><Relationship Id="rId1" Type="http://schemas.openxmlformats.org/officeDocument/2006/relationships/video" Target="https://www.youtube.com/embed/cLDkA2RIeCM?feature=oembed" TargetMode="External"/><Relationship Id="rId6" Type="http://schemas.openxmlformats.org/officeDocument/2006/relationships/hyperlink" Target="https://www.youtube.com/watch?v=cLDkA2RIeCM" TargetMode="External"/><Relationship Id="rId5" Type="http://schemas.openxmlformats.org/officeDocument/2006/relationships/image" Target="../media/image26.jpe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3.xml"/><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lGnLQjP5kpQ" TargetMode="External"/><Relationship Id="rId2" Type="http://schemas.openxmlformats.org/officeDocument/2006/relationships/notesSlide" Target="../notesSlides/notesSlide24.xml"/><Relationship Id="rId1" Type="http://schemas.openxmlformats.org/officeDocument/2006/relationships/slideLayout" Target="../slideLayouts/slideLayout46.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6.xml"/><Relationship Id="rId1" Type="http://schemas.openxmlformats.org/officeDocument/2006/relationships/video" Target="https://www.youtube.com/embed/9VsU1tgENkA?feature=oembed" TargetMode="External"/><Relationship Id="rId5" Type="http://schemas.openxmlformats.org/officeDocument/2006/relationships/image" Target="../media/image29.jpe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6.xml"/><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3" Type="http://schemas.openxmlformats.org/officeDocument/2006/relationships/hyperlink" Target="https://southerncross4.padlet.org/madisonrybka1/how-can-understanding-this-history-shape-your-role-as-a-teac-d47nna8k57xp6vdx" TargetMode="External"/><Relationship Id="rId7"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46.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30.sv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46.xml"/><Relationship Id="rId6" Type="http://schemas.openxmlformats.org/officeDocument/2006/relationships/hyperlink" Target="https://www.scu.edu.au/media/scu-dep/current-students/learning-zone/quick-guides/writing_a_critical_review.pdf" TargetMode="External"/><Relationship Id="rId5" Type="http://schemas.openxmlformats.org/officeDocument/2006/relationships/image" Target="../media/image33.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46.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46.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46.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46.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46.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46.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46.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46.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46.xml"/><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46.xml"/><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46.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46.xml"/><Relationship Id="rId4" Type="http://schemas.openxmlformats.org/officeDocument/2006/relationships/image" Target="../media/image44.png"/></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4.xml"/><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46.xml"/><Relationship Id="rId4" Type="http://schemas.openxmlformats.org/officeDocument/2006/relationships/image" Target="../media/image46.jpg"/></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46.xml"/><Relationship Id="rId4" Type="http://schemas.openxmlformats.org/officeDocument/2006/relationships/image" Target="../media/image4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F897B-D598-A772-E3F7-550D67D810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6FF128-F92D-19AE-492D-69D8E6F5AA5D}"/>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333B7B0E-4889-B242-8627-2AEBC8CFB740}"/>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4">
            <a:extLst>
              <a:ext uri="{FF2B5EF4-FFF2-40B4-BE49-F238E27FC236}">
                <a16:creationId xmlns:a16="http://schemas.microsoft.com/office/drawing/2014/main" id="{DBB93CEF-94FF-D761-3C87-FACA98DDF3CF}"/>
              </a:ext>
            </a:extLst>
          </p:cNvPr>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6" name="Freeform 6">
            <a:extLst>
              <a:ext uri="{FF2B5EF4-FFF2-40B4-BE49-F238E27FC236}">
                <a16:creationId xmlns:a16="http://schemas.microsoft.com/office/drawing/2014/main" id="{6416E4CE-3BBF-5153-7FD8-69163C314399}"/>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7" name="Freeform 7">
            <a:extLst>
              <a:ext uri="{FF2B5EF4-FFF2-40B4-BE49-F238E27FC236}">
                <a16:creationId xmlns:a16="http://schemas.microsoft.com/office/drawing/2014/main" id="{DEE680A7-C3F6-61BE-F0FF-39BC7582016E}"/>
              </a:ext>
            </a:extLst>
          </p:cNvPr>
          <p:cNvSpPr/>
          <p:nvPr/>
        </p:nvSpPr>
        <p:spPr>
          <a:xfrm>
            <a:off x="9481885" y="-761971"/>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8" name="Freeform 8">
            <a:extLst>
              <a:ext uri="{FF2B5EF4-FFF2-40B4-BE49-F238E27FC236}">
                <a16:creationId xmlns:a16="http://schemas.microsoft.com/office/drawing/2014/main" id="{9A66CD2E-E2EE-5FDF-8A85-B6EDECF1605F}"/>
              </a:ext>
            </a:extLst>
          </p:cNvPr>
          <p:cNvSpPr/>
          <p:nvPr/>
        </p:nvSpPr>
        <p:spPr>
          <a:xfrm>
            <a:off x="-137517" y="4451669"/>
            <a:ext cx="2788513" cy="27432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pic>
        <p:nvPicPr>
          <p:cNvPr id="5" name="Picture 4" descr="A close-up of a word cloud&#10;&#10;AI-generated content may be incorrect.">
            <a:extLst>
              <a:ext uri="{FF2B5EF4-FFF2-40B4-BE49-F238E27FC236}">
                <a16:creationId xmlns:a16="http://schemas.microsoft.com/office/drawing/2014/main" id="{12B88302-DF8F-6168-F3F1-4F241413F2A0}"/>
              </a:ext>
            </a:extLst>
          </p:cNvPr>
          <p:cNvPicPr>
            <a:picLocks noChangeAspect="1"/>
          </p:cNvPicPr>
          <p:nvPr/>
        </p:nvPicPr>
        <p:blipFill>
          <a:blip r:embed="rId7"/>
          <a:stretch>
            <a:fillRect/>
          </a:stretch>
        </p:blipFill>
        <p:spPr>
          <a:xfrm>
            <a:off x="4990871" y="35657"/>
            <a:ext cx="2366876" cy="1789103"/>
          </a:xfrm>
          <a:prstGeom prst="rect">
            <a:avLst/>
          </a:prstGeom>
        </p:spPr>
      </p:pic>
      <p:sp>
        <p:nvSpPr>
          <p:cNvPr id="9" name="Title 1">
            <a:extLst>
              <a:ext uri="{FF2B5EF4-FFF2-40B4-BE49-F238E27FC236}">
                <a16:creationId xmlns:a16="http://schemas.microsoft.com/office/drawing/2014/main" id="{CC55660D-8A3E-1D5E-4336-CE7AB72C0AD8}"/>
              </a:ext>
            </a:extLst>
          </p:cNvPr>
          <p:cNvSpPr txBox="1">
            <a:spLocks/>
          </p:cNvSpPr>
          <p:nvPr/>
        </p:nvSpPr>
        <p:spPr>
          <a:xfrm>
            <a:off x="1771132" y="2091263"/>
            <a:ext cx="8649738" cy="2590800"/>
          </a:xfrm>
          <a:prstGeom prst="rect">
            <a:avLst/>
          </a:prstGeom>
        </p:spPr>
        <p:txBody>
          <a:bodyPr vert="horz" lIns="91440" tIns="45720" rIns="91440" bIns="45720" rtlCol="0" anchor="ctr">
            <a:normAutofit/>
          </a:bodyPr>
          <a:lstStyle>
            <a:lvl1pPr algn="ctr" defTabSz="914400" rtl="0" eaLnBrk="1" latinLnBrk="0" hangingPunct="1">
              <a:lnSpc>
                <a:spcPct val="83000"/>
              </a:lnSpc>
              <a:spcBef>
                <a:spcPct val="0"/>
              </a:spcBef>
              <a:buNone/>
              <a:defRPr lang="en-US" sz="6800" b="0" i="0" kern="1200" cap="all" spc="-100" baseline="0" dirty="0">
                <a:solidFill>
                  <a:schemeClr val="tx1">
                    <a:lumMod val="85000"/>
                    <a:lumOff val="15000"/>
                  </a:schemeClr>
                </a:solidFill>
                <a:effectLst/>
                <a:latin typeface="+mj-lt"/>
                <a:ea typeface="+mn-ea"/>
                <a:cs typeface="+mn-cs"/>
              </a:defRPr>
            </a:lvl1pPr>
          </a:lstStyle>
          <a:p>
            <a:pPr marL="0" marR="0" lvl="0" indent="0" algn="ctr" defTabSz="914400" rtl="0" eaLnBrk="1" fontAlgn="auto" latinLnBrk="0" hangingPunct="1">
              <a:lnSpc>
                <a:spcPct val="83000"/>
              </a:lnSpc>
              <a:spcBef>
                <a:spcPct val="0"/>
              </a:spcBef>
              <a:spcAft>
                <a:spcPts val="0"/>
              </a:spcAft>
              <a:buClrTx/>
              <a:buSzTx/>
              <a:buFontTx/>
              <a:buNone/>
              <a:tabLst/>
              <a:defRPr/>
            </a:pPr>
            <a:r>
              <a:rPr kumimoji="0" lang="en-US" sz="3600" b="0" i="0" u="none" strike="noStrike" kern="1200" cap="all" spc="-10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t>INDG6002 Health and Indigenous Peoples</a:t>
            </a:r>
            <a:br>
              <a:rPr kumimoji="0" lang="en-US" sz="3600" b="0" i="0" u="none" strike="noStrike" kern="1200" cap="all" spc="-10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br>
            <a:r>
              <a:rPr kumimoji="0" lang="en-US" sz="3600" b="0" i="0" u="none" strike="noStrike" kern="1200" cap="all" spc="-10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t> </a:t>
            </a:r>
            <a:br>
              <a:rPr kumimoji="0" lang="en-US" sz="3600" b="0" i="0" u="none" strike="noStrike" kern="1200" cap="all" spc="-10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br>
            <a:r>
              <a:rPr kumimoji="0" lang="en-US" sz="3600" b="0" i="0" u="none" strike="noStrike" kern="1200" cap="all" spc="-10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t>Cultural Safety</a:t>
            </a:r>
            <a:endParaRPr kumimoji="0" lang="en-US" sz="3600" b="0" i="0" u="none" strike="noStrike" kern="1200" cap="all" spc="-10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endParaRPr>
          </a:p>
        </p:txBody>
      </p:sp>
      <p:sp>
        <p:nvSpPr>
          <p:cNvPr id="10" name="Subtitle 2">
            <a:extLst>
              <a:ext uri="{FF2B5EF4-FFF2-40B4-BE49-F238E27FC236}">
                <a16:creationId xmlns:a16="http://schemas.microsoft.com/office/drawing/2014/main" id="{65438730-CABE-CA0C-F291-8519D13CC290}"/>
              </a:ext>
            </a:extLst>
          </p:cNvPr>
          <p:cNvSpPr txBox="1">
            <a:spLocks/>
          </p:cNvSpPr>
          <p:nvPr/>
        </p:nvSpPr>
        <p:spPr>
          <a:xfrm>
            <a:off x="1771130" y="4682062"/>
            <a:ext cx="8652788" cy="457201"/>
          </a:xfrm>
          <a:prstGeom prst="rect">
            <a:avLst/>
          </a:prstGeom>
        </p:spPr>
        <p:txBody>
          <a:bodyPr vert="horz" lIns="91440" tIns="45720" rIns="91440" bIns="45720" rtlCol="0">
            <a:normAutofit/>
          </a:bodyPr>
          <a:lstStyle>
            <a:lvl1pPr marL="0" indent="0" algn="ctr" defTabSz="914400" rtl="0" eaLnBrk="1" latinLnBrk="0" hangingPunct="1">
              <a:lnSpc>
                <a:spcPct val="110000"/>
              </a:lnSpc>
              <a:spcBef>
                <a:spcPts val="0"/>
              </a:spcBef>
              <a:spcAft>
                <a:spcPts val="0"/>
              </a:spcAft>
              <a:buClr>
                <a:schemeClr val="tx1">
                  <a:lumMod val="85000"/>
                  <a:lumOff val="15000"/>
                </a:schemeClr>
              </a:buClr>
              <a:buFont typeface="Garamond" pitchFamily="18" charset="0"/>
              <a:buNone/>
              <a:defRPr sz="1800" kern="1200" spc="80" baseline="0">
                <a:solidFill>
                  <a:schemeClr val="tx1">
                    <a:lumMod val="95000"/>
                    <a:lumOff val="5000"/>
                  </a:schemeClr>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600"/>
              </a:spcAft>
              <a:buClr>
                <a:sysClr val="windowText" lastClr="000000">
                  <a:lumMod val="85000"/>
                  <a:lumOff val="15000"/>
                </a:sysClr>
              </a:buClr>
              <a:buSzTx/>
              <a:buFont typeface="Garamond" pitchFamily="18" charset="0"/>
              <a:buNone/>
              <a:tabLst/>
              <a:defRPr/>
            </a:pPr>
            <a:r>
              <a:rPr kumimoji="0" lang="en-US" sz="1800" b="0" i="0" u="none" strike="noStrike" kern="1200" cap="none" spc="80" normalizeH="0" baseline="0" noProof="0">
                <a:ln>
                  <a:noFill/>
                </a:ln>
                <a:solidFill>
                  <a:sysClr val="windowText" lastClr="000000">
                    <a:lumMod val="95000"/>
                    <a:lumOff val="5000"/>
                  </a:sysClr>
                </a:solidFill>
                <a:effectLst/>
                <a:uLnTx/>
                <a:uFillTx/>
                <a:latin typeface="Avenir Next LT Pro" panose="02020404030301010803"/>
                <a:ea typeface="+mn-ea"/>
                <a:cs typeface="+mn-cs"/>
              </a:rPr>
              <a:t>Week 4 Tutorial</a:t>
            </a:r>
            <a:endParaRPr kumimoji="0" lang="en-US" sz="1800" b="0" i="0" u="none" strike="noStrike" kern="1200" cap="none" spc="80" normalizeH="0" baseline="0" noProof="0" dirty="0">
              <a:ln>
                <a:noFill/>
              </a:ln>
              <a:solidFill>
                <a:sysClr val="windowText" lastClr="000000">
                  <a:lumMod val="95000"/>
                  <a:lumOff val="5000"/>
                </a:sysClr>
              </a:solidFill>
              <a:effectLst/>
              <a:uLnTx/>
              <a:uFillTx/>
              <a:latin typeface="Avenir Next LT Pro" panose="02020404030301010803"/>
              <a:ea typeface="+mn-ea"/>
              <a:cs typeface="+mn-cs"/>
            </a:endParaRPr>
          </a:p>
        </p:txBody>
      </p:sp>
    </p:spTree>
    <p:extLst>
      <p:ext uri="{BB962C8B-B14F-4D97-AF65-F5344CB8AC3E}">
        <p14:creationId xmlns:p14="http://schemas.microsoft.com/office/powerpoint/2010/main" val="2532960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3E564-90E6-5B30-7380-CB69DE72FC3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EFC0E56-7433-6349-15AC-9D81B5E1B5BE}"/>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49F01CB2-F87D-0F96-6FF1-3B33C71BC3D0}"/>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Title 1">
            <a:extLst>
              <a:ext uri="{FF2B5EF4-FFF2-40B4-BE49-F238E27FC236}">
                <a16:creationId xmlns:a16="http://schemas.microsoft.com/office/drawing/2014/main" id="{355193D8-6B30-ED45-2424-A532E1026007}"/>
              </a:ext>
            </a:extLst>
          </p:cNvPr>
          <p:cNvSpPr txBox="1">
            <a:spLocks/>
          </p:cNvSpPr>
          <p:nvPr/>
        </p:nvSpPr>
        <p:spPr>
          <a:xfrm>
            <a:off x="1097280" y="286603"/>
            <a:ext cx="10058400" cy="14507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4000" b="1" i="0" u="none" strike="noStrike" kern="1200" cap="none" spc="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t>Warning</a:t>
            </a:r>
            <a:endParaRPr kumimoji="0" lang="en-AU" sz="4000" b="1"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endParaRPr>
          </a:p>
        </p:txBody>
      </p:sp>
      <p:sp>
        <p:nvSpPr>
          <p:cNvPr id="5" name="Content Placeholder 4">
            <a:extLst>
              <a:ext uri="{FF2B5EF4-FFF2-40B4-BE49-F238E27FC236}">
                <a16:creationId xmlns:a16="http://schemas.microsoft.com/office/drawing/2014/main" id="{4E84FCB8-B782-C4AE-F9EC-C4EE24DB1227}"/>
              </a:ext>
            </a:extLst>
          </p:cNvPr>
          <p:cNvSpPr txBox="1">
            <a:spLocks/>
          </p:cNvSpPr>
          <p:nvPr/>
        </p:nvSpPr>
        <p:spPr>
          <a:xfrm>
            <a:off x="1066800" y="2103120"/>
            <a:ext cx="10058400" cy="3849624"/>
          </a:xfrm>
          <a:prstGeom prst="rect">
            <a:avLst/>
          </a:prstGeom>
        </p:spPr>
        <p:txBody>
          <a:bodyPr vert="horz" lIns="91440" tIns="45720" rIns="91440" bIns="45720" rtlCol="0" anchor="t">
            <a:normAutofit/>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r>
              <a:rPr kumimoji="0" lang="en-AU" sz="4000" b="0" i="0" u="none" strike="noStrike" kern="1200" cap="none" spc="0" normalizeH="0" baseline="0" noProof="0">
                <a:ln>
                  <a:noFill/>
                </a:ln>
                <a:solidFill>
                  <a:sysClr val="windowText" lastClr="000000"/>
                </a:solidFill>
                <a:effectLst/>
                <a:uLnTx/>
                <a:uFillTx/>
                <a:latin typeface="Aptos" panose="020B0004020202020204" pitchFamily="34" charset="0"/>
                <a:ea typeface="Aptos" panose="020B0004020202020204" pitchFamily="34" charset="0"/>
                <a:cs typeface="Times New Roman" panose="02020603050405020304" pitchFamily="18" charset="0"/>
              </a:rPr>
              <a:t>This presentation may include images, voices, stories, and names of deceased people now resting in the Dreaming that may cause sadness or distress to Aboriginal and Torres Strait Islander students.</a:t>
            </a:r>
          </a:p>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endParaRPr kumimoji="0" lang="en-AU" sz="1500" b="0" i="0" u="none" strike="noStrike" kern="1200" cap="none" spc="0" normalizeH="0" baseline="0" noProof="0" dirty="0">
              <a:ln>
                <a:noFill/>
              </a:ln>
              <a:solidFill>
                <a:sysClr val="windowText" lastClr="000000"/>
              </a:solidFill>
              <a:effectLst/>
              <a:uLnTx/>
              <a:uFillTx/>
              <a:latin typeface="Avenir Next LT Pro" panose="02020404030301010803"/>
              <a:ea typeface="+mn-ea"/>
              <a:cs typeface="+mn-cs"/>
            </a:endParaRPr>
          </a:p>
        </p:txBody>
      </p:sp>
    </p:spTree>
    <p:extLst>
      <p:ext uri="{BB962C8B-B14F-4D97-AF65-F5344CB8AC3E}">
        <p14:creationId xmlns:p14="http://schemas.microsoft.com/office/powerpoint/2010/main" val="3536044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Title 1">
            <a:extLst>
              <a:ext uri="{FF2B5EF4-FFF2-40B4-BE49-F238E27FC236}">
                <a16:creationId xmlns:a16="http://schemas.microsoft.com/office/drawing/2014/main" id="{22342E5E-A281-098D-A481-2A408539682F}"/>
              </a:ext>
            </a:extLst>
          </p:cNvPr>
          <p:cNvSpPr txBox="1">
            <a:spLocks/>
          </p:cNvSpPr>
          <p:nvPr/>
        </p:nvSpPr>
        <p:spPr>
          <a:xfrm>
            <a:off x="1066800" y="642594"/>
            <a:ext cx="10058400" cy="1371600"/>
          </a:xfrm>
          <a:prstGeom prst="rect">
            <a:avLst/>
          </a:prstGeom>
        </p:spPr>
        <p:txBody>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a:t>Overview</a:t>
            </a:r>
            <a:endParaRPr lang="en-AU" dirty="0"/>
          </a:p>
        </p:txBody>
      </p:sp>
      <p:sp>
        <p:nvSpPr>
          <p:cNvPr id="5" name="Content Placeholder 2">
            <a:extLst>
              <a:ext uri="{FF2B5EF4-FFF2-40B4-BE49-F238E27FC236}">
                <a16:creationId xmlns:a16="http://schemas.microsoft.com/office/drawing/2014/main" id="{CA56AC4A-6928-7977-FB35-DC04D12A2640}"/>
              </a:ext>
            </a:extLst>
          </p:cNvPr>
          <p:cNvSpPr txBox="1">
            <a:spLocks/>
          </p:cNvSpPr>
          <p:nvPr/>
        </p:nvSpPr>
        <p:spPr>
          <a:xfrm>
            <a:off x="1066800" y="1837189"/>
            <a:ext cx="10058400" cy="4115555"/>
          </a:xfrm>
          <a:prstGeom prst="rect">
            <a:avLst/>
          </a:prstGeom>
        </p:spPr>
        <p:txBody>
          <a:bodyPr vert="horz" lIns="91440" tIns="45720" rIns="91440" bIns="45720" rtlCol="0">
            <a:noAutofit/>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r>
              <a:rPr kumimoji="0" lang="en-AU" sz="2000" b="0" i="0" u="none" strike="noStrike" kern="1200" cap="none" spc="0" normalizeH="0" baseline="0" noProof="0" dirty="0">
                <a:ln>
                  <a:noFill/>
                </a:ln>
                <a:solidFill>
                  <a:sysClr val="windowText" lastClr="000000"/>
                </a:solidFill>
                <a:effectLst/>
                <a:uLnTx/>
                <a:uFillTx/>
                <a:latin typeface="Avenir Next LT Pro" panose="02020404030301010803"/>
                <a:ea typeface="+mn-ea"/>
                <a:cs typeface="+mn-cs"/>
              </a:rPr>
              <a:t>What does cultural safety mean to you? </a:t>
            </a:r>
          </a:p>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r>
              <a:rPr kumimoji="0" lang="en-AU" sz="2000" b="0" i="0" u="none" strike="noStrike" kern="1200" cap="none" spc="0" normalizeH="0" baseline="0" noProof="0" dirty="0">
                <a:ln>
                  <a:noFill/>
                </a:ln>
                <a:solidFill>
                  <a:sysClr val="windowText" lastClr="000000"/>
                </a:solidFill>
                <a:effectLst/>
                <a:uLnTx/>
                <a:uFillTx/>
                <a:latin typeface="Avenir Next LT Pro" panose="02020404030301010803"/>
                <a:ea typeface="+mn-ea"/>
                <a:cs typeface="+mn-cs"/>
              </a:rPr>
              <a:t>In this module, we will look at the origins and meaning of Cultural Safety and provide a rationale for why this is an effective framework for working with Aboriginal and Torres Strait Islander peoples. </a:t>
            </a:r>
          </a:p>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r>
              <a:rPr kumimoji="0" lang="en-AU" sz="2000" b="0" i="0" u="none" strike="noStrike" kern="1200" cap="none" spc="0" normalizeH="0" baseline="0" noProof="0" dirty="0">
                <a:ln>
                  <a:noFill/>
                </a:ln>
                <a:solidFill>
                  <a:sysClr val="windowText" lastClr="000000"/>
                </a:solidFill>
                <a:effectLst/>
                <a:uLnTx/>
                <a:uFillTx/>
                <a:latin typeface="Avenir Next LT Pro" panose="02020404030301010803"/>
                <a:ea typeface="+mn-ea"/>
                <a:cs typeface="+mn-cs"/>
              </a:rPr>
              <a:t>Five core principles of Cultural Safety are described and discussed in detail. </a:t>
            </a:r>
          </a:p>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r>
              <a:rPr kumimoji="0" lang="en-AU" sz="2000" b="0" i="0" u="none" strike="noStrike" kern="1200" cap="none" spc="0" normalizeH="0" baseline="0" noProof="0" dirty="0">
                <a:ln>
                  <a:noFill/>
                </a:ln>
                <a:solidFill>
                  <a:sysClr val="windowText" lastClr="000000"/>
                </a:solidFill>
                <a:effectLst/>
                <a:uLnTx/>
                <a:uFillTx/>
                <a:latin typeface="Avenir Next LT Pro" panose="02020404030301010803"/>
                <a:ea typeface="+mn-ea"/>
                <a:cs typeface="+mn-cs"/>
              </a:rPr>
              <a:t>There are a range of terms used when working with culturally diverse groups and it is easy to be distracted by the terminology (e.g. cultural competency, cultural awareness). </a:t>
            </a:r>
          </a:p>
          <a:p>
            <a:pPr marL="0" lvl="0" indent="0">
              <a:buClr>
                <a:sysClr val="windowText" lastClr="000000">
                  <a:lumMod val="85000"/>
                  <a:lumOff val="15000"/>
                </a:sysClr>
              </a:buClr>
              <a:buNone/>
            </a:pPr>
            <a:r>
              <a:rPr kumimoji="0" lang="en-AU" sz="2000" b="0" i="0" u="none" strike="noStrike" kern="1200" cap="none" spc="0" normalizeH="0" baseline="0" noProof="0" dirty="0">
                <a:ln>
                  <a:noFill/>
                </a:ln>
                <a:solidFill>
                  <a:sysClr val="windowText" lastClr="000000"/>
                </a:solidFill>
                <a:effectLst/>
                <a:uLnTx/>
                <a:uFillTx/>
                <a:latin typeface="Avenir Next LT Pro" panose="02020404030301010803"/>
                <a:ea typeface="+mn-ea"/>
                <a:cs typeface="+mn-cs"/>
              </a:rPr>
              <a:t>This module will focus on Cultural Safety and Culturally safe practice </a:t>
            </a:r>
            <a:r>
              <a:rPr lang="en-AU" sz="2000" dirty="0">
                <a:solidFill>
                  <a:srgbClr val="000000"/>
                </a:solidFill>
                <a:latin typeface="Avenir Next LT Pro Light" panose="020B0304020202020204" pitchFamily="34" charset="0"/>
              </a:rPr>
              <a:t>and how these apply to your professional practice when working with </a:t>
            </a:r>
            <a:r>
              <a:rPr lang="en-AU" sz="2000" dirty="0">
                <a:solidFill>
                  <a:sysClr val="windowText" lastClr="000000"/>
                </a:solidFill>
                <a:latin typeface="Avenir Next LT Pro" panose="02020404030301010803"/>
              </a:rPr>
              <a:t>Aboriginal and Torres Strait Islander peoples</a:t>
            </a:r>
            <a:r>
              <a:rPr kumimoji="0" lang="en-AU" sz="2000" b="0" i="0" u="none" strike="noStrike" kern="1200" cap="none" spc="0" normalizeH="0" baseline="0" noProof="0" dirty="0">
                <a:ln>
                  <a:noFill/>
                </a:ln>
                <a:solidFill>
                  <a:sysClr val="windowText" lastClr="000000"/>
                </a:solidFill>
                <a:effectLst/>
                <a:uLnTx/>
                <a:uFillTx/>
                <a:latin typeface="Avenir Next LT Pro Light" panose="020B0304020202020204"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AB5A7-C55D-E29E-ECB0-685CC6DC66F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ABDE4E-84EE-F6DF-FAE2-5092F6DAEFFE}"/>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Title 1">
            <a:extLst>
              <a:ext uri="{FF2B5EF4-FFF2-40B4-BE49-F238E27FC236}">
                <a16:creationId xmlns:a16="http://schemas.microsoft.com/office/drawing/2014/main" id="{5B3B7D2F-2D28-0B9E-861C-985CE24CFB09}"/>
              </a:ext>
            </a:extLst>
          </p:cNvPr>
          <p:cNvSpPr txBox="1">
            <a:spLocks/>
          </p:cNvSpPr>
          <p:nvPr/>
        </p:nvSpPr>
        <p:spPr>
          <a:xfrm>
            <a:off x="294860" y="2090461"/>
            <a:ext cx="5804453" cy="2677077"/>
          </a:xfrm>
          <a:prstGeom prst="rect">
            <a:avLst/>
          </a:prstGeom>
        </p:spPr>
        <p:txBody>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2800" b="1" dirty="0">
                <a:solidFill>
                  <a:srgbClr val="4C5131"/>
                </a:solidFill>
              </a:rPr>
              <a:t>Mapping Module to grass-roots, community-led Indigenous frameworks and approaches</a:t>
            </a:r>
          </a:p>
          <a:p>
            <a:endParaRPr lang="en-AU" sz="2800" b="1" dirty="0"/>
          </a:p>
          <a:p>
            <a:r>
              <a:rPr lang="en-AU" sz="2000" b="1" dirty="0"/>
              <a:t>Australian Institute of Health and Welfare (AIHW) 2023 Cultural Safety Monitoring Framework</a:t>
            </a:r>
            <a:r>
              <a:rPr lang="en-AU" sz="2000" dirty="0"/>
              <a:t> </a:t>
            </a:r>
          </a:p>
        </p:txBody>
      </p:sp>
      <p:pic>
        <p:nvPicPr>
          <p:cNvPr id="7" name="Picture 6">
            <a:extLst>
              <a:ext uri="{FF2B5EF4-FFF2-40B4-BE49-F238E27FC236}">
                <a16:creationId xmlns:a16="http://schemas.microsoft.com/office/drawing/2014/main" id="{4C005A4A-0F80-B8FA-E3DE-3F0392064ED1}"/>
              </a:ext>
            </a:extLst>
          </p:cNvPr>
          <p:cNvPicPr>
            <a:picLocks noChangeAspect="1"/>
          </p:cNvPicPr>
          <p:nvPr/>
        </p:nvPicPr>
        <p:blipFill>
          <a:blip r:embed="rId4"/>
          <a:stretch>
            <a:fillRect/>
          </a:stretch>
        </p:blipFill>
        <p:spPr>
          <a:xfrm>
            <a:off x="6538464" y="0"/>
            <a:ext cx="5358676" cy="6858000"/>
          </a:xfrm>
          <a:prstGeom prst="rect">
            <a:avLst/>
          </a:prstGeom>
        </p:spPr>
      </p:pic>
    </p:spTree>
    <p:extLst>
      <p:ext uri="{BB962C8B-B14F-4D97-AF65-F5344CB8AC3E}">
        <p14:creationId xmlns:p14="http://schemas.microsoft.com/office/powerpoint/2010/main" val="3279818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76595-35E6-6E78-B487-778A6FB1147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6C2D3C0-D5C2-B94B-BC9C-260C33872AD1}"/>
              </a:ext>
            </a:extLst>
          </p:cNvPr>
          <p:cNvSpPr txBox="1">
            <a:spLocks/>
          </p:cNvSpPr>
          <p:nvPr/>
        </p:nvSpPr>
        <p:spPr>
          <a:xfrm>
            <a:off x="576071" y="-59377"/>
            <a:ext cx="6502619" cy="1638913"/>
          </a:xfrm>
          <a:prstGeom prst="rect">
            <a:avLst/>
          </a:prstGeom>
        </p:spPr>
        <p:txBody>
          <a:bodyPr vert="horz" lIns="91440" tIns="45720" rIns="91440" bIns="45720" rtlCol="0" anchor="b">
            <a:normAutofit fontScale="32500" lnSpcReduction="2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8600" kern="1200" dirty="0">
                <a:latin typeface="+mj-lt"/>
                <a:ea typeface="+mj-ea"/>
                <a:cs typeface="+mj-cs"/>
              </a:rPr>
              <a:t>Frameworks of Healthcare - </a:t>
            </a:r>
            <a:r>
              <a:rPr lang="en-AU" sz="8600" i="1" dirty="0"/>
              <a:t>Curtin, Robinson and </a:t>
            </a:r>
            <a:r>
              <a:rPr lang="en-AU" sz="8600" i="1" dirty="0" err="1"/>
              <a:t>Dulvarie</a:t>
            </a:r>
            <a:r>
              <a:rPr lang="en-AU" sz="8600" i="1" dirty="0"/>
              <a:t> 2019</a:t>
            </a:r>
          </a:p>
          <a:p>
            <a:pPr>
              <a:spcAft>
                <a:spcPts val="600"/>
              </a:spcAft>
            </a:pPr>
            <a:r>
              <a:rPr lang="en-US" sz="6200" kern="1200" dirty="0">
                <a:latin typeface="+mj-lt"/>
                <a:ea typeface="+mj-ea"/>
                <a:cs typeface="+mj-cs"/>
              </a:rPr>
              <a:t>Chapter 3 - </a:t>
            </a:r>
            <a:r>
              <a:rPr lang="en-AU" dirty="0"/>
              <a:t>Aboriginal and Torres Strait Islander Peoples' Health &amp; Wellbeing Biles &amp; Biles (Eds) </a:t>
            </a:r>
          </a:p>
          <a:p>
            <a:pPr>
              <a:spcAft>
                <a:spcPts val="600"/>
              </a:spcAft>
            </a:pPr>
            <a:endParaRPr lang="en-US" sz="3400" kern="1200" dirty="0">
              <a:latin typeface="+mj-lt"/>
              <a:ea typeface="+mj-ea"/>
              <a:cs typeface="+mj-cs"/>
            </a:endParaRPr>
          </a:p>
        </p:txBody>
      </p:sp>
      <p:sp>
        <p:nvSpPr>
          <p:cNvPr id="30" name="Text Placeholder 2">
            <a:extLst>
              <a:ext uri="{FF2B5EF4-FFF2-40B4-BE49-F238E27FC236}">
                <a16:creationId xmlns:a16="http://schemas.microsoft.com/office/drawing/2014/main" id="{A31C2EA4-5CFE-DB8F-9E3F-C92E7CB9E2BE}"/>
              </a:ext>
            </a:extLst>
          </p:cNvPr>
          <p:cNvSpPr>
            <a:spLocks noGrp="1"/>
          </p:cNvSpPr>
          <p:nvPr>
            <p:ph type="body" sz="half" idx="2"/>
          </p:nvPr>
        </p:nvSpPr>
        <p:spPr>
          <a:xfrm>
            <a:off x="576072" y="1947671"/>
            <a:ext cx="4572000" cy="4070729"/>
          </a:xfrm>
        </p:spPr>
        <p:txBody>
          <a:bodyPr/>
          <a:lstStyle/>
          <a:p>
            <a:endParaRPr lang="en-AU" dirty="0"/>
          </a:p>
          <a:p>
            <a:endParaRPr lang="en-AU" dirty="0"/>
          </a:p>
          <a:p>
            <a:endParaRPr lang="en-AU" dirty="0"/>
          </a:p>
        </p:txBody>
      </p:sp>
      <p:pic>
        <p:nvPicPr>
          <p:cNvPr id="7" name="Picture 6" descr="A painting of a river and trees&#10;&#10;AI-generated content may be incorrect.">
            <a:extLst>
              <a:ext uri="{FF2B5EF4-FFF2-40B4-BE49-F238E27FC236}">
                <a16:creationId xmlns:a16="http://schemas.microsoft.com/office/drawing/2014/main" id="{660C9137-7829-E0DB-8098-EA6CF0768026}"/>
              </a:ext>
            </a:extLst>
          </p:cNvPr>
          <p:cNvPicPr>
            <a:picLocks noChangeAspect="1"/>
          </p:cNvPicPr>
          <p:nvPr/>
        </p:nvPicPr>
        <p:blipFill>
          <a:blip r:embed="rId3"/>
          <a:srcRect l="19166" r="32295" b="1"/>
          <a:stretch>
            <a:fillRect/>
          </a:stretch>
        </p:blipFill>
        <p:spPr>
          <a:xfrm>
            <a:off x="7215188" y="10"/>
            <a:ext cx="4976812" cy="6843870"/>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noFill/>
        </p:spPr>
      </p:pic>
      <p:sp>
        <p:nvSpPr>
          <p:cNvPr id="2" name="TextBox 1">
            <a:extLst>
              <a:ext uri="{FF2B5EF4-FFF2-40B4-BE49-F238E27FC236}">
                <a16:creationId xmlns:a16="http://schemas.microsoft.com/office/drawing/2014/main" id="{C428CE5F-341F-1C56-6D15-C8A34E505FF1}"/>
              </a:ext>
            </a:extLst>
          </p:cNvPr>
          <p:cNvSpPr txBox="1"/>
          <p:nvPr/>
        </p:nvSpPr>
        <p:spPr>
          <a:xfrm>
            <a:off x="576071" y="1659056"/>
            <a:ext cx="5519929" cy="4985980"/>
          </a:xfrm>
          <a:prstGeom prst="rect">
            <a:avLst/>
          </a:prstGeom>
          <a:noFill/>
        </p:spPr>
        <p:txBody>
          <a:bodyPr wrap="square" rtlCol="0">
            <a:spAutoFit/>
          </a:bodyPr>
          <a:lstStyle/>
          <a:p>
            <a:pPr marL="285750" indent="-285750">
              <a:spcAft>
                <a:spcPts val="600"/>
              </a:spcAft>
              <a:buFont typeface="Wingdings" panose="05000000000000000000" pitchFamily="2" charset="2"/>
              <a:buChar char="Ø"/>
            </a:pPr>
            <a:r>
              <a:rPr lang="en-AU" dirty="0"/>
              <a:t>Prioritise Aboriginal and Torres Strait Islander peoples voices/knowledges</a:t>
            </a:r>
          </a:p>
          <a:p>
            <a:pPr marL="285750" indent="-285750">
              <a:spcAft>
                <a:spcPts val="600"/>
              </a:spcAft>
              <a:buFont typeface="Wingdings" panose="05000000000000000000" pitchFamily="2" charset="2"/>
              <a:buChar char="Ø"/>
            </a:pPr>
            <a:r>
              <a:rPr lang="en-AU" dirty="0"/>
              <a:t>Support tertiary curricula to prepare graduates to provide culturally safe services</a:t>
            </a:r>
          </a:p>
          <a:p>
            <a:pPr marL="285750" indent="-285750">
              <a:spcAft>
                <a:spcPts val="600"/>
              </a:spcAft>
              <a:buFont typeface="Wingdings" panose="05000000000000000000" pitchFamily="2" charset="2"/>
              <a:buChar char="Ø"/>
            </a:pPr>
            <a:r>
              <a:rPr lang="en-AU" dirty="0"/>
              <a:t>Improve trust in the health system by Aboriginal and Torres Strait Islander peoples</a:t>
            </a:r>
          </a:p>
          <a:p>
            <a:pPr marL="285750" indent="-285750">
              <a:spcAft>
                <a:spcPts val="600"/>
              </a:spcAft>
              <a:buFont typeface="Wingdings" panose="05000000000000000000" pitchFamily="2" charset="2"/>
              <a:buChar char="Ø"/>
            </a:pPr>
            <a:r>
              <a:rPr lang="en-AU" dirty="0"/>
              <a:t>Ensure Western health providers understand that, for Aboriginal and Torres Strait Islander peoples, health is holistic and linked to culture and community.</a:t>
            </a:r>
          </a:p>
          <a:p>
            <a:pPr marL="285750" indent="-285750">
              <a:spcAft>
                <a:spcPts val="600"/>
              </a:spcAft>
              <a:buFont typeface="Wingdings" panose="05000000000000000000" pitchFamily="2" charset="2"/>
              <a:buChar char="Ø"/>
            </a:pPr>
            <a:r>
              <a:rPr lang="en-AU" dirty="0"/>
              <a:t>Emphasise the importance of community leadership and involvement in developing health responses and ensuring that efforts are community-driven and appropriate</a:t>
            </a:r>
          </a:p>
          <a:p>
            <a:pPr marL="285750" indent="-285750">
              <a:spcAft>
                <a:spcPts val="600"/>
              </a:spcAft>
              <a:buFont typeface="Wingdings" panose="05000000000000000000" pitchFamily="2" charset="2"/>
              <a:buChar char="Ø"/>
            </a:pPr>
            <a:r>
              <a:rPr lang="en-AU" dirty="0"/>
              <a:t>Providing a structured approach to care that is sensitive to the diversity of Aboriginal and Torres Strait Islander peoples</a:t>
            </a:r>
          </a:p>
          <a:p>
            <a:endParaRPr lang="en-AU" dirty="0"/>
          </a:p>
        </p:txBody>
      </p:sp>
    </p:spTree>
    <p:extLst>
      <p:ext uri="{BB962C8B-B14F-4D97-AF65-F5344CB8AC3E}">
        <p14:creationId xmlns:p14="http://schemas.microsoft.com/office/powerpoint/2010/main" val="312344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an iceberg">
            <a:extLst>
              <a:ext uri="{FF2B5EF4-FFF2-40B4-BE49-F238E27FC236}">
                <a16:creationId xmlns:a16="http://schemas.microsoft.com/office/drawing/2014/main" id="{A421BBCD-4E23-4C63-BAF1-1CDDFCC5AC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15" y="199916"/>
            <a:ext cx="11983570" cy="6458168"/>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4541A65E-1E04-4E5A-A319-2526154CF6A0}"/>
              </a:ext>
            </a:extLst>
          </p:cNvPr>
          <p:cNvSpPr>
            <a:spLocks noGrp="1"/>
          </p:cNvSpPr>
          <p:nvPr>
            <p:ph sz="half" idx="1"/>
          </p:nvPr>
        </p:nvSpPr>
        <p:spPr>
          <a:xfrm>
            <a:off x="311894" y="134521"/>
            <a:ext cx="11568212" cy="6282266"/>
          </a:xfrm>
        </p:spPr>
        <p:txBody>
          <a:bodyPr>
            <a:normAutofit/>
          </a:bodyPr>
          <a:lstStyle/>
          <a:p>
            <a:pPr algn="r">
              <a:buFont typeface="Arial" panose="020B0604020202020204" pitchFamily="34" charset="0"/>
              <a:buChar char="•"/>
            </a:pPr>
            <a:r>
              <a:rPr lang="en-US" sz="3600" b="1" dirty="0">
                <a:solidFill>
                  <a:srgbClr val="FFFF00"/>
                </a:solidFill>
                <a:effectLst/>
                <a:latin typeface="Abadi" panose="020F0502020204030204" pitchFamily="34" charset="0"/>
              </a:rPr>
              <a:t>Communication style</a:t>
            </a:r>
          </a:p>
          <a:p>
            <a:pPr algn="r">
              <a:buFont typeface="Arial" panose="020B0604020202020204" pitchFamily="34" charset="0"/>
              <a:buChar char="•"/>
            </a:pPr>
            <a:r>
              <a:rPr lang="en-US" sz="3600" b="1" dirty="0">
                <a:solidFill>
                  <a:srgbClr val="FFFF00"/>
                </a:solidFill>
                <a:effectLst/>
                <a:latin typeface="Abadi" panose="020F0502020204030204" pitchFamily="34" charset="0"/>
              </a:rPr>
              <a:t>Appearance</a:t>
            </a:r>
            <a:r>
              <a:rPr lang="en-US" sz="3600" b="1" dirty="0">
                <a:solidFill>
                  <a:srgbClr val="FFFF00"/>
                </a:solidFill>
                <a:effectLst/>
              </a:rPr>
              <a:t> </a:t>
            </a:r>
          </a:p>
          <a:p>
            <a:pPr algn="r"/>
            <a:endParaRPr lang="en-US" dirty="0">
              <a:solidFill>
                <a:srgbClr val="FFFF00"/>
              </a:solidFill>
            </a:endParaRPr>
          </a:p>
          <a:p>
            <a:pPr marL="0" indent="0" algn="r">
              <a:buNone/>
            </a:pPr>
            <a:endParaRPr lang="en-US" sz="3200" b="1" dirty="0">
              <a:solidFill>
                <a:srgbClr val="FFFF00"/>
              </a:solidFill>
              <a:effectLst>
                <a:outerShdw blurRad="38100" dist="38100" dir="2700000" algn="tl">
                  <a:srgbClr val="000000">
                    <a:alpha val="43137"/>
                  </a:srgbClr>
                </a:outerShdw>
              </a:effectLst>
            </a:endParaRPr>
          </a:p>
          <a:p>
            <a:pPr marL="0" indent="0" algn="r">
              <a:buNone/>
            </a:pPr>
            <a:endParaRPr lang="en-US" sz="3200" b="1" dirty="0">
              <a:solidFill>
                <a:srgbClr val="FFFF00"/>
              </a:solidFill>
              <a:effectLst>
                <a:outerShdw blurRad="38100" dist="38100" dir="2700000" algn="tl">
                  <a:srgbClr val="000000">
                    <a:alpha val="43137"/>
                  </a:srgbClr>
                </a:outerShdw>
              </a:effectLst>
            </a:endParaRPr>
          </a:p>
          <a:p>
            <a:pPr algn="r">
              <a:buFont typeface="Arial" panose="020B0604020202020204" pitchFamily="34" charset="0"/>
              <a:buChar char="•"/>
            </a:pPr>
            <a:r>
              <a:rPr lang="en-US" sz="3600" b="1" dirty="0">
                <a:solidFill>
                  <a:srgbClr val="FFFF00"/>
                </a:solidFill>
                <a:effectLst/>
                <a:latin typeface="Abadi" panose="020B0604020104020204" pitchFamily="34" charset="0"/>
              </a:rPr>
              <a:t>Beliefs &amp; Assumptions </a:t>
            </a:r>
          </a:p>
          <a:p>
            <a:pPr algn="r">
              <a:buFont typeface="Arial" panose="020B0604020202020204" pitchFamily="34" charset="0"/>
              <a:buChar char="•"/>
            </a:pPr>
            <a:r>
              <a:rPr lang="en-US" sz="3600" b="1" dirty="0">
                <a:solidFill>
                  <a:srgbClr val="FFFF00"/>
                </a:solidFill>
                <a:effectLst/>
                <a:latin typeface="Abadi" panose="020B0604020104020204" pitchFamily="34" charset="0"/>
              </a:rPr>
              <a:t>Values</a:t>
            </a:r>
          </a:p>
          <a:p>
            <a:pPr algn="r">
              <a:buFont typeface="Arial" panose="020B0604020202020204" pitchFamily="34" charset="0"/>
              <a:buChar char="•"/>
            </a:pPr>
            <a:r>
              <a:rPr lang="en-US" sz="3600" b="1" dirty="0">
                <a:solidFill>
                  <a:srgbClr val="FFFF00"/>
                </a:solidFill>
                <a:effectLst/>
                <a:latin typeface="Abadi" panose="020B0604020104020204" pitchFamily="34" charset="0"/>
              </a:rPr>
              <a:t>Expectations </a:t>
            </a:r>
          </a:p>
          <a:p>
            <a:pPr algn="r">
              <a:buFont typeface="Arial" panose="020B0604020202020204" pitchFamily="34" charset="0"/>
              <a:buChar char="•"/>
            </a:pPr>
            <a:r>
              <a:rPr lang="en-US" sz="3600" b="1" dirty="0">
                <a:solidFill>
                  <a:srgbClr val="FFFF00"/>
                </a:solidFill>
                <a:effectLst/>
                <a:latin typeface="Abadi" panose="020B0604020104020204" pitchFamily="34" charset="0"/>
              </a:rPr>
              <a:t>Attitudes</a:t>
            </a:r>
            <a:endParaRPr lang="en-AU" sz="3600" b="1" dirty="0">
              <a:solidFill>
                <a:srgbClr val="FFFF00"/>
              </a:solidFill>
              <a:effectLst/>
              <a:latin typeface="Abadi" panose="020B0604020104020204" pitchFamily="34" charset="0"/>
            </a:endParaRPr>
          </a:p>
        </p:txBody>
      </p:sp>
      <p:sp>
        <p:nvSpPr>
          <p:cNvPr id="3" name="Rectangle 2">
            <a:extLst>
              <a:ext uri="{FF2B5EF4-FFF2-40B4-BE49-F238E27FC236}">
                <a16:creationId xmlns:a16="http://schemas.microsoft.com/office/drawing/2014/main" id="{5041DB3A-A3CE-CF5F-365F-CCBF416D5E0C}"/>
              </a:ext>
            </a:extLst>
          </p:cNvPr>
          <p:cNvSpPr/>
          <p:nvPr/>
        </p:nvSpPr>
        <p:spPr>
          <a:xfrm>
            <a:off x="311894" y="456913"/>
            <a:ext cx="6165470" cy="769441"/>
          </a:xfrm>
          <a:prstGeom prst="rect">
            <a:avLst/>
          </a:prstGeom>
          <a:noFill/>
        </p:spPr>
        <p:txBody>
          <a:bodyPr wrap="none" lIns="91440" tIns="45720" rIns="91440" bIns="45720">
            <a:spAutoFit/>
          </a:bodyPr>
          <a:lstStyle/>
          <a:p>
            <a:pPr algn="ctr"/>
            <a:r>
              <a:rPr lang="en-AU" sz="4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badi" panose="020B0604020104020204" pitchFamily="34" charset="0"/>
              </a:rPr>
              <a:t>Culture – Visible/Invisible</a:t>
            </a:r>
          </a:p>
        </p:txBody>
      </p:sp>
    </p:spTree>
    <p:extLst>
      <p:ext uri="{BB962C8B-B14F-4D97-AF65-F5344CB8AC3E}">
        <p14:creationId xmlns:p14="http://schemas.microsoft.com/office/powerpoint/2010/main" val="4158067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Title 1">
            <a:extLst>
              <a:ext uri="{FF2B5EF4-FFF2-40B4-BE49-F238E27FC236}">
                <a16:creationId xmlns:a16="http://schemas.microsoft.com/office/drawing/2014/main" id="{B1E48C32-2BD0-08AD-1E03-31AFF82B7964}"/>
              </a:ext>
            </a:extLst>
          </p:cNvPr>
          <p:cNvSpPr txBox="1">
            <a:spLocks/>
          </p:cNvSpPr>
          <p:nvPr/>
        </p:nvSpPr>
        <p:spPr>
          <a:xfrm>
            <a:off x="1066800" y="642594"/>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t>Recap - Culture affects health</a:t>
            </a:r>
            <a:endParaRPr kumimoji="0" lang="en-AU" sz="4000" b="0"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endParaRPr>
          </a:p>
        </p:txBody>
      </p:sp>
      <p:sp>
        <p:nvSpPr>
          <p:cNvPr id="5" name="Content Placeholder 2">
            <a:extLst>
              <a:ext uri="{FF2B5EF4-FFF2-40B4-BE49-F238E27FC236}">
                <a16:creationId xmlns:a16="http://schemas.microsoft.com/office/drawing/2014/main" id="{1AA4A2DE-E79A-7F15-4160-BB7B048DD033}"/>
              </a:ext>
            </a:extLst>
          </p:cNvPr>
          <p:cNvSpPr txBox="1">
            <a:spLocks/>
          </p:cNvSpPr>
          <p:nvPr/>
        </p:nvSpPr>
        <p:spPr>
          <a:xfrm>
            <a:off x="1066800" y="1901784"/>
            <a:ext cx="10058400" cy="3849624"/>
          </a:xfrm>
          <a:prstGeom prst="rect">
            <a:avLst/>
          </a:prstGeom>
        </p:spPr>
        <p:txBody>
          <a:bodyPr vert="horz" lIns="91440" tIns="45720" rIns="91440" bIns="45720" rtlCol="0">
            <a:normAutofit lnSpcReduction="10000"/>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r>
              <a:rPr kumimoji="0" lang="en-AU" sz="2000" b="0" i="0" u="none" strike="noStrike" kern="1200" cap="none" spc="0" normalizeH="0" baseline="0" noProof="0">
                <a:ln>
                  <a:noFill/>
                </a:ln>
                <a:solidFill>
                  <a:sysClr val="windowText" lastClr="000000"/>
                </a:solidFill>
                <a:effectLst/>
                <a:uLnTx/>
                <a:uFillTx/>
                <a:latin typeface="Avenir Next LT Pro" panose="02020404030301010803"/>
                <a:ea typeface="+mn-ea"/>
                <a:cs typeface="+mn-cs"/>
              </a:rPr>
              <a:t>Important to know:</a:t>
            </a:r>
          </a:p>
          <a:p>
            <a:pPr marL="182880" marR="0" lvl="0" indent="-18288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Char char="◦"/>
              <a:tabLst/>
              <a:defRPr/>
            </a:pPr>
            <a:r>
              <a:rPr kumimoji="0" lang="en-AU" sz="2000" b="0" i="0" u="none" strike="noStrike" kern="1200" cap="none" spc="0" normalizeH="0" baseline="0" noProof="0">
                <a:ln>
                  <a:noFill/>
                </a:ln>
                <a:solidFill>
                  <a:sysClr val="windowText" lastClr="000000"/>
                </a:solidFill>
                <a:effectLst/>
                <a:uLnTx/>
                <a:uFillTx/>
                <a:latin typeface="Avenir Next LT Pro" panose="02020404030301010803"/>
                <a:ea typeface="+mn-ea"/>
                <a:cs typeface="+mn-cs"/>
              </a:rPr>
              <a:t>Culture impacts upon our health, values, and health beliefs and practices </a:t>
            </a:r>
          </a:p>
          <a:p>
            <a:pPr marL="182880" marR="0" lvl="0" indent="-18288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Char char="◦"/>
              <a:tabLst/>
              <a:defRPr/>
            </a:pPr>
            <a:r>
              <a:rPr kumimoji="0" lang="en-AU" sz="2000" b="0" i="0" u="none" strike="noStrike" kern="1200" cap="none" spc="0" normalizeH="0" baseline="0" noProof="0">
                <a:ln>
                  <a:noFill/>
                </a:ln>
                <a:solidFill>
                  <a:sysClr val="windowText" lastClr="000000"/>
                </a:solidFill>
                <a:effectLst/>
                <a:uLnTx/>
                <a:uFillTx/>
                <a:latin typeface="Avenir Next LT Pro" panose="02020404030301010803"/>
                <a:ea typeface="+mn-ea"/>
                <a:cs typeface="+mn-cs"/>
              </a:rPr>
              <a:t>Our diet and cultural eating patterns </a:t>
            </a:r>
          </a:p>
          <a:p>
            <a:pPr marL="182880" marR="0" lvl="0" indent="-18288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Char char="◦"/>
              <a:tabLst/>
              <a:defRPr/>
            </a:pPr>
            <a:r>
              <a:rPr kumimoji="0" lang="en-AU" sz="2000" b="0" i="0" u="none" strike="noStrike" kern="1200" cap="none" spc="0" normalizeH="0" baseline="0" noProof="0">
                <a:ln>
                  <a:noFill/>
                </a:ln>
                <a:solidFill>
                  <a:sysClr val="windowText" lastClr="000000"/>
                </a:solidFill>
                <a:effectLst/>
                <a:uLnTx/>
                <a:uFillTx/>
                <a:latin typeface="Avenir Next LT Pro" panose="02020404030301010803"/>
                <a:ea typeface="+mn-ea"/>
                <a:cs typeface="+mn-cs"/>
              </a:rPr>
              <a:t>Physical activity</a:t>
            </a:r>
          </a:p>
          <a:p>
            <a:pPr marL="182880" marR="0" lvl="0" indent="-18288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Char char="◦"/>
              <a:tabLst/>
              <a:defRPr/>
            </a:pPr>
            <a:r>
              <a:rPr kumimoji="0" lang="en-AU" sz="2000" b="0" i="0" u="none" strike="noStrike" kern="1200" cap="none" spc="0" normalizeH="0" baseline="0" noProof="0">
                <a:ln>
                  <a:noFill/>
                </a:ln>
                <a:solidFill>
                  <a:sysClr val="windowText" lastClr="000000"/>
                </a:solidFill>
                <a:effectLst/>
                <a:uLnTx/>
                <a:uFillTx/>
                <a:latin typeface="Avenir Next LT Pro" panose="02020404030301010803"/>
                <a:ea typeface="+mn-ea"/>
                <a:cs typeface="+mn-cs"/>
              </a:rPr>
              <a:t>Child rearing practices</a:t>
            </a:r>
          </a:p>
          <a:p>
            <a:pPr marL="182880" marR="0" lvl="0" indent="-18288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Char char="◦"/>
              <a:tabLst/>
              <a:defRPr/>
            </a:pPr>
            <a:r>
              <a:rPr kumimoji="0" lang="en-AU" sz="2000" b="0" i="0" u="none" strike="noStrike" kern="1200" cap="none" spc="0" normalizeH="0" baseline="0" noProof="0">
                <a:ln>
                  <a:noFill/>
                </a:ln>
                <a:solidFill>
                  <a:sysClr val="windowText" lastClr="000000"/>
                </a:solidFill>
                <a:effectLst/>
                <a:uLnTx/>
                <a:uFillTx/>
                <a:latin typeface="Avenir Next LT Pro" panose="02020404030301010803"/>
                <a:ea typeface="+mn-ea"/>
                <a:cs typeface="+mn-cs"/>
              </a:rPr>
              <a:t>Reactions to pain</a:t>
            </a:r>
          </a:p>
          <a:p>
            <a:pPr marL="182880" marR="0" lvl="0" indent="-18288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Char char="◦"/>
              <a:tabLst/>
              <a:defRPr/>
            </a:pPr>
            <a:r>
              <a:rPr kumimoji="0" lang="en-AU" sz="2000" b="0" i="0" u="none" strike="noStrike" kern="1200" cap="none" spc="0" normalizeH="0" baseline="0" noProof="0">
                <a:ln>
                  <a:noFill/>
                </a:ln>
                <a:solidFill>
                  <a:sysClr val="windowText" lastClr="000000"/>
                </a:solidFill>
                <a:effectLst/>
                <a:uLnTx/>
                <a:uFillTx/>
                <a:latin typeface="Avenir Next LT Pro" panose="02020404030301010803"/>
                <a:ea typeface="+mn-ea"/>
                <a:cs typeface="+mn-cs"/>
              </a:rPr>
              <a:t>Reactions to birth, death and stress</a:t>
            </a:r>
          </a:p>
          <a:p>
            <a:pPr marL="182880" marR="0" lvl="0" indent="-18288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Char char="◦"/>
              <a:tabLst/>
              <a:defRPr/>
            </a:pPr>
            <a:r>
              <a:rPr kumimoji="0" lang="en-AU" sz="2000" b="0" i="0" u="none" strike="noStrike" kern="1200" cap="none" spc="0" normalizeH="0" baseline="0" noProof="0">
                <a:ln>
                  <a:noFill/>
                </a:ln>
                <a:solidFill>
                  <a:sysClr val="windowText" lastClr="000000"/>
                </a:solidFill>
                <a:effectLst/>
                <a:uLnTx/>
                <a:uFillTx/>
                <a:latin typeface="Avenir Next LT Pro" panose="02020404030301010803"/>
                <a:ea typeface="+mn-ea"/>
                <a:cs typeface="+mn-cs"/>
              </a:rPr>
              <a:t>You need to know because you will work with people from many different and diverse cultural backgrounds</a:t>
            </a:r>
          </a:p>
          <a:p>
            <a:pPr marL="182880" marR="0" lvl="0" indent="-18288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Char char="◦"/>
              <a:tabLst/>
              <a:defRPr/>
            </a:pPr>
            <a:endParaRPr kumimoji="0" lang="en-AU" sz="1500" b="0" i="0" u="none" strike="noStrike" kern="1200" cap="none" spc="0" normalizeH="0" baseline="0" noProof="0" dirty="0">
              <a:ln>
                <a:noFill/>
              </a:ln>
              <a:solidFill>
                <a:sysClr val="windowText" lastClr="000000"/>
              </a:solidFill>
              <a:effectLst/>
              <a:uLnTx/>
              <a:uFillTx/>
              <a:latin typeface="Avenir Next LT Pro" panose="02020404030301010803"/>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5">
            <a:extLst>
              <a:ext uri="{FF2B5EF4-FFF2-40B4-BE49-F238E27FC236}">
                <a16:creationId xmlns:a16="http://schemas.microsoft.com/office/drawing/2014/main" id="{66FFDE08-905F-285E-3B1F-482CABA352C4}"/>
              </a:ext>
            </a:extLst>
          </p:cNvPr>
          <p:cNvSpPr/>
          <p:nvPr/>
        </p:nvSpPr>
        <p:spPr>
          <a:xfrm rot="-2385869">
            <a:off x="10581722" y="-524626"/>
            <a:ext cx="2045570" cy="4073598"/>
          </a:xfrm>
          <a:custGeom>
            <a:avLst/>
            <a:gdLst/>
            <a:ahLst/>
            <a:cxnLst/>
            <a:rect l="l" t="t" r="r" b="b"/>
            <a:pathLst>
              <a:path w="3374136" h="8229600">
                <a:moveTo>
                  <a:pt x="0" y="0"/>
                </a:moveTo>
                <a:lnTo>
                  <a:pt x="3374136" y="0"/>
                </a:lnTo>
                <a:lnTo>
                  <a:pt x="3374136" y="8229600"/>
                </a:lnTo>
                <a:lnTo>
                  <a:pt x="0" y="8229600"/>
                </a:lnTo>
                <a:lnTo>
                  <a:pt x="0" y="0"/>
                </a:lnTo>
                <a:close/>
              </a:path>
            </a:pathLst>
          </a:custGeom>
          <a:blipFill>
            <a:blip r:embed="rId5"/>
            <a:stretch>
              <a:fillRect/>
            </a:stretch>
          </a:blipFill>
        </p:spPr>
        <p:txBody>
          <a:bodyPr/>
          <a:lstStyle/>
          <a:p>
            <a:pPr defTabSz="609630"/>
            <a:endParaRPr lang="en-AU" sz="1200">
              <a:solidFill>
                <a:prstClr val="black"/>
              </a:solidFill>
              <a:latin typeface="Calibri"/>
            </a:endParaRPr>
          </a:p>
        </p:txBody>
      </p:sp>
      <p:sp>
        <p:nvSpPr>
          <p:cNvPr id="5" name="Title 1">
            <a:extLst>
              <a:ext uri="{FF2B5EF4-FFF2-40B4-BE49-F238E27FC236}">
                <a16:creationId xmlns:a16="http://schemas.microsoft.com/office/drawing/2014/main" id="{AB086BE3-307E-1B1A-9D03-29D4F6018B30}"/>
              </a:ext>
            </a:extLst>
          </p:cNvPr>
          <p:cNvSpPr txBox="1">
            <a:spLocks/>
          </p:cNvSpPr>
          <p:nvPr/>
        </p:nvSpPr>
        <p:spPr>
          <a:xfrm>
            <a:off x="2258602" y="580949"/>
            <a:ext cx="8015555"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rPr>
              <a:t>Culture – Aboriginal perspective  </a:t>
            </a:r>
          </a:p>
        </p:txBody>
      </p:sp>
      <p:pic>
        <p:nvPicPr>
          <p:cNvPr id="6" name="Online Media 3" title="Wellbeing - what Aboriginal people know?- CULTURE">
            <a:hlinkClick r:id="" action="ppaction://media"/>
            <a:extLst>
              <a:ext uri="{FF2B5EF4-FFF2-40B4-BE49-F238E27FC236}">
                <a16:creationId xmlns:a16="http://schemas.microsoft.com/office/drawing/2014/main" id="{DD05C153-F956-D2B9-3502-93083140B093}"/>
              </a:ext>
            </a:extLst>
          </p:cNvPr>
          <p:cNvPicPr>
            <a:picLocks noRot="1" noChangeAspect="1"/>
          </p:cNvPicPr>
          <p:nvPr>
            <a:videoFile r:link="rId1"/>
          </p:nvPr>
        </p:nvPicPr>
        <p:blipFill>
          <a:blip r:embed="rId6"/>
          <a:stretch>
            <a:fillRect/>
          </a:stretch>
        </p:blipFill>
        <p:spPr>
          <a:xfrm>
            <a:off x="2605929" y="1880630"/>
            <a:ext cx="6813550" cy="38496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0B3F1-D27A-A089-8A3A-651D00856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3CDEF81-FA8F-FB3C-B9DE-D2FCD96402F4}"/>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7DF80B0D-3BD3-248B-6A49-9C2EB3C2DB82}"/>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5">
            <a:extLst>
              <a:ext uri="{FF2B5EF4-FFF2-40B4-BE49-F238E27FC236}">
                <a16:creationId xmlns:a16="http://schemas.microsoft.com/office/drawing/2014/main" id="{7926CFF2-793A-3BF1-18EF-C47316C9BA74}"/>
              </a:ext>
            </a:extLst>
          </p:cNvPr>
          <p:cNvSpPr/>
          <p:nvPr/>
        </p:nvSpPr>
        <p:spPr>
          <a:xfrm rot="-2385869">
            <a:off x="10581722" y="-524626"/>
            <a:ext cx="2045570" cy="4073598"/>
          </a:xfrm>
          <a:custGeom>
            <a:avLst/>
            <a:gdLst/>
            <a:ahLst/>
            <a:cxnLst/>
            <a:rect l="l" t="t" r="r" b="b"/>
            <a:pathLst>
              <a:path w="3374136" h="8229600">
                <a:moveTo>
                  <a:pt x="0" y="0"/>
                </a:moveTo>
                <a:lnTo>
                  <a:pt x="3374136" y="0"/>
                </a:lnTo>
                <a:lnTo>
                  <a:pt x="3374136"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Title 1">
            <a:extLst>
              <a:ext uri="{FF2B5EF4-FFF2-40B4-BE49-F238E27FC236}">
                <a16:creationId xmlns:a16="http://schemas.microsoft.com/office/drawing/2014/main" id="{98F214BF-0720-9D3B-3DF8-79F4EFF18262}"/>
              </a:ext>
            </a:extLst>
          </p:cNvPr>
          <p:cNvSpPr txBox="1">
            <a:spLocks/>
          </p:cNvSpPr>
          <p:nvPr/>
        </p:nvSpPr>
        <p:spPr>
          <a:xfrm>
            <a:off x="4799988" y="302108"/>
            <a:ext cx="5357643"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rPr>
              <a:t>Cultural Frameworks</a:t>
            </a:r>
          </a:p>
        </p:txBody>
      </p:sp>
      <p:pic>
        <p:nvPicPr>
          <p:cNvPr id="10" name="Picture 9" descr="A group of colored rectangular boxes&#10;&#10;AI-generated content may be incorrect.">
            <a:extLst>
              <a:ext uri="{FF2B5EF4-FFF2-40B4-BE49-F238E27FC236}">
                <a16:creationId xmlns:a16="http://schemas.microsoft.com/office/drawing/2014/main" id="{442E7AA7-5BFA-5E18-7D0F-EC5D8929E3A5}"/>
              </a:ext>
            </a:extLst>
          </p:cNvPr>
          <p:cNvPicPr>
            <a:picLocks noChangeAspect="1"/>
          </p:cNvPicPr>
          <p:nvPr/>
        </p:nvPicPr>
        <p:blipFill>
          <a:blip r:embed="rId5"/>
          <a:stretch>
            <a:fillRect/>
          </a:stretch>
        </p:blipFill>
        <p:spPr>
          <a:xfrm>
            <a:off x="5498863" y="2056940"/>
            <a:ext cx="3132040" cy="3615852"/>
          </a:xfrm>
          <a:prstGeom prst="rect">
            <a:avLst/>
          </a:prstGeom>
        </p:spPr>
      </p:pic>
      <p:pic>
        <p:nvPicPr>
          <p:cNvPr id="12" name="Picture 11" descr="A close-up of a document&#10;&#10;AI-generated content may be incorrect.">
            <a:extLst>
              <a:ext uri="{FF2B5EF4-FFF2-40B4-BE49-F238E27FC236}">
                <a16:creationId xmlns:a16="http://schemas.microsoft.com/office/drawing/2014/main" id="{5BB597E8-2453-B7D0-4840-B5D8A76C6FC4}"/>
              </a:ext>
            </a:extLst>
          </p:cNvPr>
          <p:cNvPicPr>
            <a:picLocks noChangeAspect="1"/>
          </p:cNvPicPr>
          <p:nvPr/>
        </p:nvPicPr>
        <p:blipFill>
          <a:blip r:embed="rId6"/>
          <a:stretch>
            <a:fillRect/>
          </a:stretch>
        </p:blipFill>
        <p:spPr>
          <a:xfrm>
            <a:off x="-1" y="0"/>
            <a:ext cx="4379481" cy="6858000"/>
          </a:xfrm>
          <a:prstGeom prst="rect">
            <a:avLst/>
          </a:prstGeom>
        </p:spPr>
      </p:pic>
    </p:spTree>
    <p:extLst>
      <p:ext uri="{BB962C8B-B14F-4D97-AF65-F5344CB8AC3E}">
        <p14:creationId xmlns:p14="http://schemas.microsoft.com/office/powerpoint/2010/main" val="15165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9B662-5B95-39ED-3AAC-97215AD1D3B0}"/>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54E58C1A-241F-7D01-7CD6-D05B967E48F9}"/>
              </a:ext>
            </a:extLst>
          </p:cNvPr>
          <p:cNvSpPr txBox="1">
            <a:spLocks/>
          </p:cNvSpPr>
          <p:nvPr/>
        </p:nvSpPr>
        <p:spPr>
          <a:xfrm>
            <a:off x="838200" y="1825625"/>
            <a:ext cx="5181600" cy="4351338"/>
          </a:xfrm>
          <a:prstGeom prst="rect">
            <a:avLst/>
          </a:prstGeom>
        </p:spPr>
        <p:txBody>
          <a:bodyPr vert="horz" lIns="91440" tIns="45720" rIns="91440" bIns="45720" rtlCol="0">
            <a:normAutofit/>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ysClr val="windowText" lastClr="000000">
                  <a:lumMod val="85000"/>
                  <a:lumOff val="15000"/>
                </a:sysClr>
              </a:buClr>
              <a:buSzTx/>
              <a:buFont typeface="Arial" panose="020B0604020202020204" pitchFamily="34" charset="0"/>
              <a:buChar char="•"/>
              <a:tabLst/>
              <a:defRPr/>
            </a:pPr>
            <a:endParaRPr kumimoji="0" lang="en-US" sz="2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5" name="Title 1">
            <a:extLst>
              <a:ext uri="{FF2B5EF4-FFF2-40B4-BE49-F238E27FC236}">
                <a16:creationId xmlns:a16="http://schemas.microsoft.com/office/drawing/2014/main" id="{1DCA7F52-4B5B-06A0-AB87-322074BEE565}"/>
              </a:ext>
            </a:extLst>
          </p:cNvPr>
          <p:cNvSpPr txBox="1">
            <a:spLocks/>
          </p:cNvSpPr>
          <p:nvPr/>
        </p:nvSpPr>
        <p:spPr>
          <a:xfrm>
            <a:off x="2547745" y="13525"/>
            <a:ext cx="10239567" cy="66751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endParaRPr kumimoji="0" lang="en-US" sz="4100" b="0" i="0" u="none" strike="noStrike" kern="1200" cap="none" spc="0" normalizeH="0" baseline="0" noProof="0" dirty="0">
              <a:ln>
                <a:noFill/>
              </a:ln>
              <a:solidFill>
                <a:srgbClr val="543E34"/>
              </a:solidFill>
              <a:effectLst/>
              <a:uLnTx/>
              <a:uFillTx/>
              <a:latin typeface="Sagona Book"/>
              <a:ea typeface="+mn-ea"/>
              <a:cs typeface="+mn-cs"/>
            </a:endParaRPr>
          </a:p>
        </p:txBody>
      </p:sp>
      <p:sp>
        <p:nvSpPr>
          <p:cNvPr id="3" name="TextBox 2">
            <a:extLst>
              <a:ext uri="{FF2B5EF4-FFF2-40B4-BE49-F238E27FC236}">
                <a16:creationId xmlns:a16="http://schemas.microsoft.com/office/drawing/2014/main" id="{68853E97-3F1B-4043-A5A6-7BC6ADA4DD0E}"/>
              </a:ext>
            </a:extLst>
          </p:cNvPr>
          <p:cNvSpPr txBox="1"/>
          <p:nvPr/>
        </p:nvSpPr>
        <p:spPr>
          <a:xfrm>
            <a:off x="2211355" y="681037"/>
            <a:ext cx="7035282"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dirty="0">
                <a:ln>
                  <a:noFill/>
                </a:ln>
                <a:solidFill>
                  <a:srgbClr val="543E34"/>
                </a:solidFill>
                <a:effectLst/>
                <a:uLnTx/>
                <a:uFillTx/>
                <a:latin typeface="Gill Sans Nova Light"/>
                <a:ea typeface="+mn-ea"/>
                <a:cs typeface="+mn-cs"/>
              </a:rPr>
              <a:t>Transcultural Nursing: Early Approach to Culture in Health Care</a:t>
            </a:r>
          </a:p>
        </p:txBody>
      </p:sp>
      <p:sp>
        <p:nvSpPr>
          <p:cNvPr id="4" name="Rectangle 3">
            <a:extLst>
              <a:ext uri="{FF2B5EF4-FFF2-40B4-BE49-F238E27FC236}">
                <a16:creationId xmlns:a16="http://schemas.microsoft.com/office/drawing/2014/main" id="{8A5977F7-9D4C-40BB-AA89-F6D8A1061548}"/>
              </a:ext>
            </a:extLst>
          </p:cNvPr>
          <p:cNvSpPr/>
          <p:nvPr/>
        </p:nvSpPr>
        <p:spPr>
          <a:xfrm>
            <a:off x="289249" y="2413338"/>
            <a:ext cx="11411339" cy="3970318"/>
          </a:xfrm>
          <a:prstGeom prst="rect">
            <a:avLst/>
          </a:prstGeom>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800" b="0" i="0" u="none" strike="noStrike" kern="1200" cap="none" spc="0" normalizeH="0" baseline="0" noProof="0" dirty="0">
                <a:ln>
                  <a:noFill/>
                </a:ln>
                <a:solidFill>
                  <a:srgbClr val="543E34"/>
                </a:solidFill>
                <a:effectLst/>
                <a:uLnTx/>
                <a:uFillTx/>
                <a:latin typeface="Gill Sans Nova Light"/>
                <a:ea typeface="+mn-ea"/>
                <a:cs typeface="+mn-cs"/>
              </a:rPr>
              <a:t>Developed in the 1960s, influenced by anthropology and Madeleine Leininger’s work</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800" b="0" i="0" u="none" strike="noStrike" kern="1200" cap="none" spc="0" normalizeH="0" baseline="0" noProof="0" dirty="0">
                <a:ln>
                  <a:noFill/>
                </a:ln>
                <a:solidFill>
                  <a:srgbClr val="543E34"/>
                </a:solidFill>
                <a:effectLst/>
                <a:uLnTx/>
                <a:uFillTx/>
                <a:latin typeface="Gill Sans Nova Light"/>
                <a:ea typeface="+mn-ea"/>
                <a:cs typeface="+mn-cs"/>
              </a:rPr>
              <a:t>First nursing model to integrate cultural considerations into health care practice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800" b="0" i="0" u="none" strike="noStrike" kern="1200" cap="none" spc="0" normalizeH="0" baseline="0" noProof="0" dirty="0">
                <a:ln>
                  <a:noFill/>
                </a:ln>
                <a:solidFill>
                  <a:srgbClr val="543E34"/>
                </a:solidFill>
                <a:effectLst/>
                <a:uLnTx/>
                <a:uFillTx/>
                <a:latin typeface="Gill Sans Nova Light"/>
                <a:ea typeface="+mn-ea"/>
                <a:cs typeface="+mn-cs"/>
              </a:rPr>
              <a:t>Focused on teaching health professionals about cultural differences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800" b="0" i="0" u="none" strike="noStrike" kern="1200" cap="none" spc="0" normalizeH="0" baseline="0" noProof="0" dirty="0">
                <a:ln>
                  <a:noFill/>
                </a:ln>
                <a:solidFill>
                  <a:srgbClr val="543E34"/>
                </a:solidFill>
                <a:effectLst/>
                <a:uLnTx/>
                <a:uFillTx/>
                <a:latin typeface="Gill Sans Nova Light"/>
                <a:ea typeface="+mn-ea"/>
                <a:cs typeface="+mn-cs"/>
              </a:rPr>
              <a:t>Culture was narrowly defined as ethnicity or race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800" b="0" i="0" u="none" strike="noStrike" kern="1200" cap="none" spc="0" normalizeH="0" baseline="0" noProof="0" dirty="0">
                <a:ln>
                  <a:noFill/>
                </a:ln>
                <a:solidFill>
                  <a:srgbClr val="543E34"/>
                </a:solidFill>
                <a:effectLst/>
                <a:uLnTx/>
                <a:uFillTx/>
                <a:latin typeface="Gill Sans Nova Light"/>
                <a:ea typeface="+mn-ea"/>
                <a:cs typeface="+mn-cs"/>
              </a:rPr>
              <a:t>Nurses learned cultural protocols for clients from different ethnic or religious backgrounds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800" b="0" i="0" u="none" strike="noStrike" kern="1200" cap="none" spc="0" normalizeH="0" baseline="0" noProof="0" dirty="0">
                <a:ln>
                  <a:noFill/>
                </a:ln>
                <a:solidFill>
                  <a:srgbClr val="543E34"/>
                </a:solidFill>
                <a:effectLst/>
                <a:uLnTx/>
                <a:uFillTx/>
                <a:latin typeface="Gill Sans Nova Light"/>
                <a:ea typeface="+mn-ea"/>
                <a:cs typeface="+mn-cs"/>
              </a:rPr>
              <a:t>Limitation: risk of relying on stereotypes about behaviour based on ethnicity</a:t>
            </a:r>
          </a:p>
        </p:txBody>
      </p:sp>
    </p:spTree>
    <p:extLst>
      <p:ext uri="{BB962C8B-B14F-4D97-AF65-F5344CB8AC3E}">
        <p14:creationId xmlns:p14="http://schemas.microsoft.com/office/powerpoint/2010/main" val="432632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9B662-5B95-39ED-3AAC-97215AD1D3B0}"/>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54E58C1A-241F-7D01-7CD6-D05B967E48F9}"/>
              </a:ext>
            </a:extLst>
          </p:cNvPr>
          <p:cNvSpPr txBox="1">
            <a:spLocks/>
          </p:cNvSpPr>
          <p:nvPr/>
        </p:nvSpPr>
        <p:spPr>
          <a:xfrm>
            <a:off x="838200" y="1825625"/>
            <a:ext cx="5181600" cy="4351338"/>
          </a:xfrm>
          <a:prstGeom prst="rect">
            <a:avLst/>
          </a:prstGeom>
        </p:spPr>
        <p:txBody>
          <a:bodyPr vert="horz" lIns="91440" tIns="45720" rIns="91440" bIns="45720" rtlCol="0">
            <a:normAutofit/>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fontAlgn="auto">
              <a:lnSpc>
                <a:spcPct val="90000"/>
              </a:lnSpc>
              <a:spcBef>
                <a:spcPts val="1000"/>
              </a:spcBef>
              <a:spcAft>
                <a:spcPts val="0"/>
              </a:spcAft>
              <a:buClr>
                <a:sysClr val="windowText" lastClr="000000">
                  <a:lumMod val="85000"/>
                  <a:lumOff val="15000"/>
                </a:sysClr>
              </a:buClr>
              <a:buSzTx/>
              <a:buNone/>
              <a:tabLst/>
              <a:defRPr/>
            </a:pPr>
            <a:r>
              <a:rPr kumimoji="0" lang="en-US" sz="2800" b="0" i="0" u="none" strike="noStrike" cap="none" spc="0" normalizeH="0" baseline="0" noProof="0" dirty="0">
                <a:ln>
                  <a:noFill/>
                </a:ln>
                <a:effectLst/>
                <a:uLnTx/>
                <a:uFillTx/>
              </a:rPr>
              <a:t>Cultural safety emerged from the work of Māori nurse Irihapeti Ramsden.</a:t>
            </a:r>
          </a:p>
          <a:p>
            <a:pPr marL="0" marR="0" lvl="0" indent="0" fontAlgn="auto">
              <a:lnSpc>
                <a:spcPct val="90000"/>
              </a:lnSpc>
              <a:spcBef>
                <a:spcPts val="1000"/>
              </a:spcBef>
              <a:spcAft>
                <a:spcPts val="0"/>
              </a:spcAft>
              <a:buClr>
                <a:sysClr val="windowText" lastClr="000000">
                  <a:lumMod val="85000"/>
                  <a:lumOff val="15000"/>
                </a:sysClr>
              </a:buClr>
              <a:buSzTx/>
              <a:buNone/>
              <a:tabLst/>
              <a:defRPr/>
            </a:pPr>
            <a:r>
              <a:rPr kumimoji="0" lang="en-US" sz="2800" b="0" i="0" u="none" strike="noStrike" cap="none" spc="0" normalizeH="0" baseline="0" noProof="0" dirty="0">
                <a:ln>
                  <a:noFill/>
                </a:ln>
                <a:effectLst/>
                <a:uLnTx/>
                <a:uFillTx/>
              </a:rPr>
              <a:t>This was in response to her concerns at witnessing the discriminatory and inequitable treatment of her people within the Aotearoa/New Zealand health system</a:t>
            </a:r>
          </a:p>
          <a:p>
            <a:pPr marL="228600" marR="0" lvl="0" indent="-228600" fontAlgn="auto">
              <a:lnSpc>
                <a:spcPct val="90000"/>
              </a:lnSpc>
              <a:spcBef>
                <a:spcPts val="1000"/>
              </a:spcBef>
              <a:spcAft>
                <a:spcPts val="0"/>
              </a:spcAft>
              <a:buClr>
                <a:sysClr val="windowText" lastClr="000000">
                  <a:lumMod val="85000"/>
                  <a:lumOff val="15000"/>
                </a:sysClr>
              </a:buClr>
              <a:buSzTx/>
              <a:buFont typeface="Arial" panose="020B0604020202020204" pitchFamily="34" charset="0"/>
              <a:buChar char="•"/>
              <a:tabLst/>
              <a:defRPr/>
            </a:pPr>
            <a:endParaRPr kumimoji="0" lang="en-US" sz="2800" b="0" i="0" u="none" strike="noStrike" cap="none" spc="0" normalizeH="0" baseline="0" noProof="0" dirty="0">
              <a:ln>
                <a:noFill/>
              </a:ln>
              <a:effectLst/>
              <a:uLnTx/>
              <a:uFillTx/>
            </a:endParaRPr>
          </a:p>
          <a:p>
            <a:pPr marL="228600" marR="0" lvl="0" indent="-228600" fontAlgn="auto">
              <a:lnSpc>
                <a:spcPct val="90000"/>
              </a:lnSpc>
              <a:spcBef>
                <a:spcPts val="1000"/>
              </a:spcBef>
              <a:spcAft>
                <a:spcPts val="0"/>
              </a:spcAft>
              <a:buClr>
                <a:sysClr val="windowText" lastClr="000000">
                  <a:lumMod val="85000"/>
                  <a:lumOff val="15000"/>
                </a:sysClr>
              </a:buClr>
              <a:buSzTx/>
              <a:buFont typeface="Arial" panose="020B0604020202020204" pitchFamily="34" charset="0"/>
              <a:buChar char="•"/>
              <a:tabLst/>
              <a:defRPr/>
            </a:pPr>
            <a:endParaRPr kumimoji="0" lang="en-US" sz="2800" b="0" i="0" u="none" strike="noStrike" cap="none" spc="0" normalizeH="0" baseline="0" noProof="0" dirty="0">
              <a:ln>
                <a:noFill/>
              </a:ln>
              <a:effectLst/>
              <a:uLnTx/>
              <a:uFillTx/>
            </a:endParaRPr>
          </a:p>
        </p:txBody>
      </p:sp>
      <p:pic>
        <p:nvPicPr>
          <p:cNvPr id="8" name="Picture 7" descr="A black and gold patterned rug&#10;&#10;AI-generated content may be incorrect.">
            <a:extLst>
              <a:ext uri="{FF2B5EF4-FFF2-40B4-BE49-F238E27FC236}">
                <a16:creationId xmlns:a16="http://schemas.microsoft.com/office/drawing/2014/main" id="{EE59904A-597F-07F5-BD6B-D0E66784EAB5}"/>
              </a:ext>
            </a:extLst>
          </p:cNvPr>
          <p:cNvPicPr>
            <a:picLocks noChangeAspect="1"/>
          </p:cNvPicPr>
          <p:nvPr/>
        </p:nvPicPr>
        <p:blipFill>
          <a:blip r:embed="rId3"/>
          <a:srcRect l="14378" t="4881" r="14281" b="6461"/>
          <a:stretch>
            <a:fillRect/>
          </a:stretch>
        </p:blipFill>
        <p:spPr>
          <a:xfrm>
            <a:off x="6019800" y="910998"/>
            <a:ext cx="6070943" cy="5036004"/>
          </a:xfrm>
          <a:prstGeom prst="rect">
            <a:avLst/>
          </a:prstGeom>
          <a:noFill/>
        </p:spPr>
      </p:pic>
      <p:sp>
        <p:nvSpPr>
          <p:cNvPr id="5" name="Title 1">
            <a:extLst>
              <a:ext uri="{FF2B5EF4-FFF2-40B4-BE49-F238E27FC236}">
                <a16:creationId xmlns:a16="http://schemas.microsoft.com/office/drawing/2014/main" id="{1DCA7F52-4B5B-06A0-AB87-322074BEE565}"/>
              </a:ext>
            </a:extLst>
          </p:cNvPr>
          <p:cNvSpPr txBox="1">
            <a:spLocks/>
          </p:cNvSpPr>
          <p:nvPr/>
        </p:nvSpPr>
        <p:spPr>
          <a:xfrm>
            <a:off x="2547745" y="13525"/>
            <a:ext cx="10239567" cy="66751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fontAlgn="auto">
              <a:spcAft>
                <a:spcPts val="600"/>
              </a:spcAft>
              <a:buClrTx/>
              <a:buSzTx/>
              <a:tabLst/>
              <a:defRPr/>
            </a:pPr>
            <a:r>
              <a:rPr kumimoji="0" lang="en-US" sz="4100" b="0" i="0" u="none" strike="noStrike" kern="1200" cap="none" spc="0" normalizeH="0" baseline="0" noProof="0" dirty="0">
                <a:ln>
                  <a:noFill/>
                </a:ln>
                <a:solidFill>
                  <a:schemeClr val="tx1"/>
                </a:solidFill>
                <a:effectLst/>
                <a:uLnTx/>
                <a:uFillTx/>
                <a:latin typeface="+mj-lt"/>
                <a:ea typeface="+mj-ea"/>
                <a:cs typeface="+mj-cs"/>
              </a:rPr>
              <a:t>Origins of Cultural Safety </a:t>
            </a:r>
          </a:p>
        </p:txBody>
      </p:sp>
    </p:spTree>
    <p:extLst>
      <p:ext uri="{BB962C8B-B14F-4D97-AF65-F5344CB8AC3E}">
        <p14:creationId xmlns:p14="http://schemas.microsoft.com/office/powerpoint/2010/main" val="955990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3075220">
            <a:off x="-148540" y="-1013342"/>
            <a:ext cx="1190975" cy="4089186"/>
          </a:xfrm>
          <a:custGeom>
            <a:avLst/>
            <a:gdLst/>
            <a:ahLst/>
            <a:cxnLst/>
            <a:rect l="l" t="t" r="r" b="b"/>
            <a:pathLst>
              <a:path w="1786463" h="6133779">
                <a:moveTo>
                  <a:pt x="0" y="0"/>
                </a:moveTo>
                <a:lnTo>
                  <a:pt x="1786463" y="0"/>
                </a:lnTo>
                <a:lnTo>
                  <a:pt x="1786463" y="6133778"/>
                </a:lnTo>
                <a:lnTo>
                  <a:pt x="0" y="6133778"/>
                </a:lnTo>
                <a:lnTo>
                  <a:pt x="0" y="0"/>
                </a:lnTo>
                <a:close/>
              </a:path>
            </a:pathLst>
          </a:custGeom>
          <a:blipFill>
            <a:blip r:embed="rId3"/>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pic>
        <p:nvPicPr>
          <p:cNvPr id="3" name="Picture 2">
            <a:extLst>
              <a:ext uri="{FF2B5EF4-FFF2-40B4-BE49-F238E27FC236}">
                <a16:creationId xmlns:a16="http://schemas.microsoft.com/office/drawing/2014/main" id="{48FA2EBF-133F-E3AE-9963-DBC4072C28CD}"/>
              </a:ext>
            </a:extLst>
          </p:cNvPr>
          <p:cNvPicPr>
            <a:picLocks noChangeAspect="1"/>
          </p:cNvPicPr>
          <p:nvPr/>
        </p:nvPicPr>
        <p:blipFill>
          <a:blip r:embed="rId4"/>
          <a:stretch>
            <a:fillRect/>
          </a:stretch>
        </p:blipFill>
        <p:spPr>
          <a:xfrm>
            <a:off x="1224566" y="855745"/>
            <a:ext cx="4584589" cy="5425910"/>
          </a:xfrm>
          <a:prstGeom prst="rect">
            <a:avLst/>
          </a:prstGeom>
        </p:spPr>
      </p:pic>
      <p:sp>
        <p:nvSpPr>
          <p:cNvPr id="6" name="Title 1">
            <a:extLst>
              <a:ext uri="{FF2B5EF4-FFF2-40B4-BE49-F238E27FC236}">
                <a16:creationId xmlns:a16="http://schemas.microsoft.com/office/drawing/2014/main" id="{674F16AA-AE87-129F-16EB-655B6C978145}"/>
              </a:ext>
            </a:extLst>
          </p:cNvPr>
          <p:cNvSpPr txBox="1">
            <a:spLocks/>
          </p:cNvSpPr>
          <p:nvPr/>
        </p:nvSpPr>
        <p:spPr>
          <a:xfrm>
            <a:off x="1449980" y="94743"/>
            <a:ext cx="4467460" cy="59590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2800" b="1"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rPr>
              <a:t>5 Cultural Safety Principles</a:t>
            </a:r>
          </a:p>
        </p:txBody>
      </p:sp>
      <p:pic>
        <p:nvPicPr>
          <p:cNvPr id="10" name="Picture 9" descr="A close-up of a poster&#10;&#10;AI-generated content may be incorrect.">
            <a:extLst>
              <a:ext uri="{FF2B5EF4-FFF2-40B4-BE49-F238E27FC236}">
                <a16:creationId xmlns:a16="http://schemas.microsoft.com/office/drawing/2014/main" id="{F4304D8A-B9FC-0A59-23C2-6189C8F8BF14}"/>
              </a:ext>
            </a:extLst>
          </p:cNvPr>
          <p:cNvPicPr>
            <a:picLocks noChangeAspect="1"/>
          </p:cNvPicPr>
          <p:nvPr/>
        </p:nvPicPr>
        <p:blipFill>
          <a:blip r:embed="rId5"/>
          <a:stretch>
            <a:fillRect/>
          </a:stretch>
        </p:blipFill>
        <p:spPr>
          <a:xfrm>
            <a:off x="6575659" y="855745"/>
            <a:ext cx="5269286" cy="5425910"/>
          </a:xfrm>
          <a:prstGeom prst="rect">
            <a:avLst/>
          </a:prstGeom>
        </p:spPr>
      </p:pic>
      <p:sp>
        <p:nvSpPr>
          <p:cNvPr id="5" name="Freeform 5"/>
          <p:cNvSpPr/>
          <p:nvPr/>
        </p:nvSpPr>
        <p:spPr>
          <a:xfrm rot="3075220">
            <a:off x="10448056" y="4015786"/>
            <a:ext cx="1190975" cy="4089186"/>
          </a:xfrm>
          <a:custGeom>
            <a:avLst/>
            <a:gdLst/>
            <a:ahLst/>
            <a:cxnLst/>
            <a:rect l="l" t="t" r="r" b="b"/>
            <a:pathLst>
              <a:path w="1786463" h="6133779">
                <a:moveTo>
                  <a:pt x="0" y="0"/>
                </a:moveTo>
                <a:lnTo>
                  <a:pt x="1786463" y="0"/>
                </a:lnTo>
                <a:lnTo>
                  <a:pt x="1786463" y="6133779"/>
                </a:lnTo>
                <a:lnTo>
                  <a:pt x="0" y="6133779"/>
                </a:lnTo>
                <a:lnTo>
                  <a:pt x="0" y="0"/>
                </a:lnTo>
                <a:close/>
              </a:path>
            </a:pathLst>
          </a:custGeom>
          <a:blipFill>
            <a:blip r:embed="rId3"/>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11" name="Title 1">
            <a:extLst>
              <a:ext uri="{FF2B5EF4-FFF2-40B4-BE49-F238E27FC236}">
                <a16:creationId xmlns:a16="http://schemas.microsoft.com/office/drawing/2014/main" id="{3578BB5D-E722-600C-3A45-91676195F32D}"/>
              </a:ext>
            </a:extLst>
          </p:cNvPr>
          <p:cNvSpPr txBox="1">
            <a:spLocks/>
          </p:cNvSpPr>
          <p:nvPr/>
        </p:nvSpPr>
        <p:spPr>
          <a:xfrm>
            <a:off x="6842485" y="94743"/>
            <a:ext cx="4467460" cy="595902"/>
          </a:xfrm>
          <a:prstGeom prst="rect">
            <a:avLst/>
          </a:prstGeom>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2800" b="1"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rPr>
              <a:t>5 Facts about Cultural Safety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01036-B635-B985-AE1E-37424CCD0FD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EDA08E5-9DEF-F8F0-818F-619880BBD988}"/>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CBB41A69-C859-E818-9ABC-72804F75A6A3}"/>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5">
            <a:extLst>
              <a:ext uri="{FF2B5EF4-FFF2-40B4-BE49-F238E27FC236}">
                <a16:creationId xmlns:a16="http://schemas.microsoft.com/office/drawing/2014/main" id="{C906E8DF-F312-E41C-2855-C85BC51E4611}"/>
              </a:ext>
            </a:extLst>
          </p:cNvPr>
          <p:cNvSpPr/>
          <p:nvPr/>
        </p:nvSpPr>
        <p:spPr>
          <a:xfrm rot="-2385869">
            <a:off x="10581722" y="-524626"/>
            <a:ext cx="2045570" cy="4073598"/>
          </a:xfrm>
          <a:custGeom>
            <a:avLst/>
            <a:gdLst/>
            <a:ahLst/>
            <a:cxnLst/>
            <a:rect l="l" t="t" r="r" b="b"/>
            <a:pathLst>
              <a:path w="3374136" h="8229600">
                <a:moveTo>
                  <a:pt x="0" y="0"/>
                </a:moveTo>
                <a:lnTo>
                  <a:pt x="3374136" y="0"/>
                </a:lnTo>
                <a:lnTo>
                  <a:pt x="3374136"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Title 1">
            <a:extLst>
              <a:ext uri="{FF2B5EF4-FFF2-40B4-BE49-F238E27FC236}">
                <a16:creationId xmlns:a16="http://schemas.microsoft.com/office/drawing/2014/main" id="{2BD0E95E-5990-F090-AC85-6167DD8FE292}"/>
              </a:ext>
            </a:extLst>
          </p:cNvPr>
          <p:cNvSpPr txBox="1">
            <a:spLocks/>
          </p:cNvSpPr>
          <p:nvPr/>
        </p:nvSpPr>
        <p:spPr>
          <a:xfrm>
            <a:off x="1066800" y="642594"/>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rPr>
              <a:t>Cultural Safety – An Aboriginal and Torres Strait Islander Perspective </a:t>
            </a:r>
          </a:p>
        </p:txBody>
      </p:sp>
      <p:sp>
        <p:nvSpPr>
          <p:cNvPr id="6" name="Content Placeholder 2">
            <a:extLst>
              <a:ext uri="{FF2B5EF4-FFF2-40B4-BE49-F238E27FC236}">
                <a16:creationId xmlns:a16="http://schemas.microsoft.com/office/drawing/2014/main" id="{F72E2305-11AD-7DEC-4B30-03FFECCE3DC0}"/>
              </a:ext>
            </a:extLst>
          </p:cNvPr>
          <p:cNvSpPr txBox="1">
            <a:spLocks/>
          </p:cNvSpPr>
          <p:nvPr/>
        </p:nvSpPr>
        <p:spPr>
          <a:xfrm>
            <a:off x="1066800" y="2103120"/>
            <a:ext cx="10058400" cy="3849624"/>
          </a:xfrm>
          <a:prstGeom prst="rect">
            <a:avLst/>
          </a:prstGeom>
        </p:spPr>
        <p:txBody>
          <a:bodyPr vert="horz" lIns="91440" tIns="45720" rIns="91440" bIns="45720" rtlCol="0">
            <a:normAutofit/>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a:buClr>
                <a:sysClr val="windowText" lastClr="000000">
                  <a:lumMod val="85000"/>
                  <a:lumOff val="15000"/>
                </a:sysClr>
              </a:buClr>
              <a:defRPr/>
            </a:pPr>
            <a:r>
              <a:rPr lang="en-AU" sz="2000" dirty="0">
                <a:latin typeface="Avenir Next LT Pro" panose="020B0504020202020204" pitchFamily="34" charset="0"/>
              </a:rPr>
              <a:t>Discussing and addressing cultural safety in Australia is essential because racism and the enduring effects of colonisation continue to drive significant health disparities for Aboriginal and Torres Strait Islander peoples</a:t>
            </a:r>
            <a:r>
              <a:rPr lang="en-US" sz="2000" dirty="0">
                <a:latin typeface="Avenir Next LT Pro" panose="020B0504020202020204" pitchFamily="34" charset="0"/>
              </a:rPr>
              <a:t>.</a:t>
            </a:r>
            <a:r>
              <a:rPr lang="en-AU" sz="2000" dirty="0">
                <a:latin typeface="Avenir Next LT Pro" panose="020B0504020202020204" pitchFamily="34" charset="0"/>
              </a:rPr>
              <a:t> </a:t>
            </a:r>
            <a:r>
              <a:rPr lang="en-US" sz="2000" dirty="0">
                <a:latin typeface="Avenir Next LT Pro" panose="020B0504020202020204" pitchFamily="34" charset="0"/>
              </a:rPr>
              <a:t>(Mohamed et al.,2024)</a:t>
            </a:r>
          </a:p>
          <a:p>
            <a:pPr marL="0" lvl="0" indent="0">
              <a:buClr>
                <a:sysClr val="windowText" lastClr="000000">
                  <a:lumMod val="85000"/>
                  <a:lumOff val="15000"/>
                </a:sysClr>
              </a:buClr>
              <a:buNone/>
              <a:defRPr/>
            </a:pPr>
            <a:endParaRPr kumimoji="0" lang="en-AU" sz="2000" b="0" i="0" u="none" strike="noStrike" kern="1200" cap="none" spc="0" normalizeH="0" baseline="0" noProof="0" dirty="0">
              <a:ln>
                <a:noFill/>
              </a:ln>
              <a:solidFill>
                <a:sysClr val="windowText" lastClr="000000"/>
              </a:solidFill>
              <a:effectLst/>
              <a:uLnTx/>
              <a:uFillTx/>
              <a:latin typeface="Avenir Next LT Pro" panose="02020404030301010803"/>
              <a:ea typeface="+mn-ea"/>
              <a:cs typeface="+mn-cs"/>
            </a:endParaRPr>
          </a:p>
          <a:p>
            <a:pPr marL="182880" marR="0" lvl="0" indent="-18288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Char char="◦"/>
              <a:tabLst/>
              <a:defRPr/>
            </a:pPr>
            <a:r>
              <a:rPr kumimoji="0" lang="en-AU" sz="2000" b="0" i="0" u="none" strike="noStrike" kern="1200" cap="none" spc="0" normalizeH="0" baseline="0" noProof="0" dirty="0">
                <a:ln>
                  <a:noFill/>
                </a:ln>
                <a:solidFill>
                  <a:sysClr val="windowText" lastClr="000000"/>
                </a:solidFill>
                <a:effectLst/>
                <a:uLnTx/>
                <a:uFillTx/>
                <a:latin typeface="Avenir Next LT Pro" panose="02020404030301010803"/>
                <a:ea typeface="+mn-ea"/>
                <a:cs typeface="+mn-cs"/>
              </a:rPr>
              <a:t>As previously stated in this unit, racism and lack of cultural safety drives Indigenous Peoples fear and avoidance of health and social services. Lack of trust between Indigenous Peoples and western provided health and social services  has a strong colonial history (Gatwiri, Rix, &amp; Rotumah, 2021).</a:t>
            </a:r>
          </a:p>
        </p:txBody>
      </p:sp>
    </p:spTree>
    <p:extLst>
      <p:ext uri="{BB962C8B-B14F-4D97-AF65-F5344CB8AC3E}">
        <p14:creationId xmlns:p14="http://schemas.microsoft.com/office/powerpoint/2010/main" val="431530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9B662-5B95-39ED-3AAC-97215AD1D3B0}"/>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54E58C1A-241F-7D01-7CD6-D05B967E48F9}"/>
              </a:ext>
            </a:extLst>
          </p:cNvPr>
          <p:cNvSpPr txBox="1">
            <a:spLocks/>
          </p:cNvSpPr>
          <p:nvPr/>
        </p:nvSpPr>
        <p:spPr>
          <a:xfrm>
            <a:off x="838200" y="1825625"/>
            <a:ext cx="5181600" cy="4351338"/>
          </a:xfrm>
          <a:prstGeom prst="rect">
            <a:avLst/>
          </a:prstGeom>
        </p:spPr>
        <p:txBody>
          <a:bodyPr vert="horz" lIns="91440" tIns="45720" rIns="91440" bIns="45720" rtlCol="0">
            <a:normAutofit/>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ysClr val="windowText" lastClr="000000">
                  <a:lumMod val="85000"/>
                  <a:lumOff val="15000"/>
                </a:sysClr>
              </a:buClr>
              <a:buSzTx/>
              <a:buFont typeface="Arial" panose="020B0604020202020204" pitchFamily="34" charset="0"/>
              <a:buChar char="•"/>
              <a:tabLst/>
              <a:defRPr/>
            </a:pPr>
            <a:endParaRPr kumimoji="0" lang="en-US" sz="2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5" name="Title 1">
            <a:extLst>
              <a:ext uri="{FF2B5EF4-FFF2-40B4-BE49-F238E27FC236}">
                <a16:creationId xmlns:a16="http://schemas.microsoft.com/office/drawing/2014/main" id="{1DCA7F52-4B5B-06A0-AB87-322074BEE565}"/>
              </a:ext>
            </a:extLst>
          </p:cNvPr>
          <p:cNvSpPr txBox="1">
            <a:spLocks/>
          </p:cNvSpPr>
          <p:nvPr/>
        </p:nvSpPr>
        <p:spPr>
          <a:xfrm>
            <a:off x="2547745" y="13525"/>
            <a:ext cx="10239567" cy="66751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endParaRPr kumimoji="0" lang="en-US" sz="4100" b="0" i="0" u="none" strike="noStrike" kern="1200" cap="none" spc="0" normalizeH="0" baseline="0" noProof="0" dirty="0">
              <a:ln>
                <a:noFill/>
              </a:ln>
              <a:solidFill>
                <a:srgbClr val="543E34"/>
              </a:solidFill>
              <a:effectLst/>
              <a:uLnTx/>
              <a:uFillTx/>
              <a:latin typeface="Sagona Book"/>
              <a:ea typeface="+mn-ea"/>
              <a:cs typeface="+mn-cs"/>
            </a:endParaRPr>
          </a:p>
        </p:txBody>
      </p:sp>
      <p:sp>
        <p:nvSpPr>
          <p:cNvPr id="3" name="TextBox 2">
            <a:extLst>
              <a:ext uri="{FF2B5EF4-FFF2-40B4-BE49-F238E27FC236}">
                <a16:creationId xmlns:a16="http://schemas.microsoft.com/office/drawing/2014/main" id="{68853E97-3F1B-4043-A5A6-7BC6ADA4DD0E}"/>
              </a:ext>
            </a:extLst>
          </p:cNvPr>
          <p:cNvSpPr txBox="1"/>
          <p:nvPr/>
        </p:nvSpPr>
        <p:spPr>
          <a:xfrm>
            <a:off x="2211355" y="681037"/>
            <a:ext cx="703528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a:ln>
                  <a:noFill/>
                </a:ln>
                <a:solidFill>
                  <a:srgbClr val="543E34"/>
                </a:solidFill>
                <a:effectLst/>
                <a:uLnTx/>
                <a:uFillTx/>
                <a:latin typeface="Gill Sans Nova Light"/>
                <a:ea typeface="+mn-ea"/>
                <a:cs typeface="+mn-cs"/>
              </a:rPr>
              <a:t>AHPRA and Cultural Safety in Australia</a:t>
            </a:r>
            <a:endParaRPr kumimoji="0" lang="en-AU" sz="2800" b="1"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2" name="Rectangle 1">
            <a:extLst>
              <a:ext uri="{FF2B5EF4-FFF2-40B4-BE49-F238E27FC236}">
                <a16:creationId xmlns:a16="http://schemas.microsoft.com/office/drawing/2014/main" id="{0A6DC400-37D3-40E9-8F32-65A0CC938FD2}"/>
              </a:ext>
            </a:extLst>
          </p:cNvPr>
          <p:cNvSpPr/>
          <p:nvPr/>
        </p:nvSpPr>
        <p:spPr>
          <a:xfrm>
            <a:off x="172720" y="1859340"/>
            <a:ext cx="11267440" cy="480131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543E34"/>
                </a:solidFill>
                <a:effectLst/>
                <a:uLnTx/>
                <a:uFillTx/>
                <a:latin typeface="Gill Sans Nova Light"/>
                <a:ea typeface="+mn-ea"/>
                <a:cs typeface="+mn-cs"/>
              </a:rPr>
              <a:t>Australian Health Practitioner Regulation Agency (AHPRA) </a:t>
            </a: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regulates over 800,000 health practitioners.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543E34"/>
              </a:solidFill>
              <a:effectLst/>
              <a:uLnTx/>
              <a:uFillTx/>
              <a:latin typeface="Gill Sans Nova 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543E34"/>
                </a:solidFill>
                <a:effectLst/>
                <a:uLnTx/>
                <a:uFillTx/>
                <a:latin typeface="Gill Sans Nova Light"/>
                <a:ea typeface="+mn-ea"/>
                <a:cs typeface="+mn-cs"/>
              </a:rPr>
              <a:t>Cultural safety </a:t>
            </a: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is now a guiding principle in the National Law and embedded in professional codes of conduct.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AHPRA’s Aboriginal and Torres Strait Islander Health and Cultural Safety Strategy 2020–2025 aims to: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543E34"/>
              </a:solidFill>
              <a:effectLst/>
              <a:uLnTx/>
              <a:uFillTx/>
              <a:latin typeface="Gill Sans Nova Ligh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Eliminate racism in healthcare.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Make clinical and cultural safety inseparable.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Ensure cultural safety is defined by Aboriginal and Torres Strait Islander Peoples.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1800" b="0" i="0" u="none" strike="noStrike" kern="1200" cap="none" spc="0" normalizeH="0" baseline="0" noProof="0" dirty="0">
              <a:ln>
                <a:noFill/>
              </a:ln>
              <a:solidFill>
                <a:srgbClr val="543E34"/>
              </a:solidFill>
              <a:effectLst/>
              <a:uLnTx/>
              <a:uFillTx/>
              <a:latin typeface="Gill Sans Nova 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 </a:t>
            </a:r>
            <a:r>
              <a:rPr kumimoji="0" lang="en-AU" sz="1800" b="1" i="0" u="none" strike="noStrike" kern="1200" cap="none" spc="0" normalizeH="0" baseline="0" noProof="0" dirty="0">
                <a:ln>
                  <a:noFill/>
                </a:ln>
                <a:solidFill>
                  <a:srgbClr val="543E34"/>
                </a:solidFill>
                <a:effectLst/>
                <a:uLnTx/>
                <a:uFillTx/>
                <a:latin typeface="Gill Sans Nova Light"/>
                <a:ea typeface="+mn-ea"/>
                <a:cs typeface="+mn-cs"/>
              </a:rPr>
              <a:t>Cultural safety is reinforced through: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Mandatory education and CPD frameworks.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Accreditation standards for health programs.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Monitoring and reporting systems.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srgbClr val="543E34"/>
                </a:solidFill>
                <a:effectLst/>
                <a:uLnTx/>
                <a:uFillTx/>
                <a:latin typeface="Gill Sans Nova Light"/>
                <a:ea typeface="+mn-ea"/>
                <a:cs typeface="+mn-cs"/>
              </a:rPr>
              <a:t>Indigenous Leadership at the core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543E34"/>
                </a:solidFill>
                <a:effectLst/>
                <a:uLnTx/>
                <a:uFillTx/>
                <a:latin typeface="Gill Sans Nova Light"/>
                <a:ea typeface="+mn-ea"/>
                <a:cs typeface="+mn-cs"/>
              </a:rPr>
              <a:t>AHPRA’s cultural safety initiatives are Indigenous-led, ensuring Aboriginal and Torres Strait Islander voices shape policy and practice.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1800" b="1" i="0" u="none" strike="noStrike" kern="1200" cap="none" spc="0" normalizeH="0" baseline="0" noProof="0" dirty="0">
              <a:ln>
                <a:noFill/>
              </a:ln>
              <a:solidFill>
                <a:srgbClr val="543E34"/>
              </a:solidFill>
              <a:effectLst/>
              <a:uLnTx/>
              <a:uFillTx/>
              <a:latin typeface="Gill Sans Nova Light"/>
              <a:ea typeface="+mn-ea"/>
              <a:cs typeface="+mn-cs"/>
            </a:endParaRPr>
          </a:p>
        </p:txBody>
      </p:sp>
    </p:spTree>
    <p:extLst>
      <p:ext uri="{BB962C8B-B14F-4D97-AF65-F5344CB8AC3E}">
        <p14:creationId xmlns:p14="http://schemas.microsoft.com/office/powerpoint/2010/main" val="3829070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FEF695-7705-1DF0-5448-49B4033A2C7A}"/>
            </a:ext>
          </a:extLst>
        </p:cNvPr>
        <p:cNvGrpSpPr/>
        <p:nvPr/>
      </p:nvGrpSpPr>
      <p:grpSpPr>
        <a:xfrm>
          <a:off x="0" y="0"/>
          <a:ext cx="0" cy="0"/>
          <a:chOff x="0" y="0"/>
          <a:chExt cx="0" cy="0"/>
        </a:xfrm>
      </p:grpSpPr>
      <p:pic>
        <p:nvPicPr>
          <p:cNvPr id="4" name="Picture 3" descr="A spiral staircase with a light fixture&#10;&#10;AI-generated content may be incorrect.">
            <a:extLst>
              <a:ext uri="{FF2B5EF4-FFF2-40B4-BE49-F238E27FC236}">
                <a16:creationId xmlns:a16="http://schemas.microsoft.com/office/drawing/2014/main" id="{63C338B5-DCEE-6B7A-CA14-719E29B8E23A}"/>
              </a:ext>
            </a:extLst>
          </p:cNvPr>
          <p:cNvPicPr>
            <a:picLocks noChangeAspect="1"/>
          </p:cNvPicPr>
          <p:nvPr/>
        </p:nvPicPr>
        <p:blipFill>
          <a:blip r:embed="rId3">
            <a:extLst>
              <a:ext uri="{28A0092B-C50C-407E-A947-70E740481C1C}">
                <a14:useLocalDpi xmlns:a14="http://schemas.microsoft.com/office/drawing/2010/main" val="0"/>
              </a:ext>
            </a:extLst>
          </a:blip>
          <a:srcRect t="11433" r="1" b="4055"/>
          <a:stretch/>
        </p:blipFill>
        <p:spPr>
          <a:xfrm>
            <a:off x="-3447" y="-1"/>
            <a:ext cx="12195447" cy="6879745"/>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589414" y="-733991"/>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6" y="0"/>
            <a:ext cx="2843402"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38704" y="21736"/>
            <a:ext cx="3152862"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7" y="5288433"/>
            <a:ext cx="12199706"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84596" y="2224929"/>
            <a:ext cx="3866773" cy="5442859"/>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7EFA00C-E650-631C-249B-BDEA606ADA0F}"/>
              </a:ext>
            </a:extLst>
          </p:cNvPr>
          <p:cNvSpPr>
            <a:spLocks noGrp="1"/>
          </p:cNvSpPr>
          <p:nvPr>
            <p:ph type="ctrTitle"/>
          </p:nvPr>
        </p:nvSpPr>
        <p:spPr>
          <a:xfrm>
            <a:off x="7500460" y="-505424"/>
            <a:ext cx="7927785" cy="1620665"/>
          </a:xfrm>
        </p:spPr>
        <p:txBody>
          <a:bodyPr>
            <a:normAutofit/>
          </a:bodyPr>
          <a:lstStyle/>
          <a:p>
            <a:pPr algn="l"/>
            <a:r>
              <a:rPr lang="en-AU" sz="4000" dirty="0">
                <a:solidFill>
                  <a:srgbClr val="FFFFFF"/>
                </a:solidFill>
              </a:rPr>
              <a:t>What is Reflexivity?</a:t>
            </a:r>
          </a:p>
        </p:txBody>
      </p:sp>
      <p:sp>
        <p:nvSpPr>
          <p:cNvPr id="5" name="TextBox 4">
            <a:extLst>
              <a:ext uri="{FF2B5EF4-FFF2-40B4-BE49-F238E27FC236}">
                <a16:creationId xmlns:a16="http://schemas.microsoft.com/office/drawing/2014/main" id="{6317D324-F93D-EBA8-6340-05AD14A6E933}"/>
              </a:ext>
            </a:extLst>
          </p:cNvPr>
          <p:cNvSpPr txBox="1"/>
          <p:nvPr/>
        </p:nvSpPr>
        <p:spPr>
          <a:xfrm>
            <a:off x="7589520" y="6343650"/>
            <a:ext cx="396439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Aptos" panose="02110004020202020204"/>
                <a:ea typeface="+mn-ea"/>
                <a:cs typeface="+mn-cs"/>
              </a:rPr>
              <a:t>Image: </a:t>
            </a:r>
            <a:r>
              <a:rPr kumimoji="0" lang="en-AU" sz="1400" b="0" i="0" u="none" strike="noStrike" kern="1200" cap="none" spc="0" normalizeH="0" baseline="0" noProof="0" dirty="0" err="1">
                <a:ln>
                  <a:noFill/>
                </a:ln>
                <a:solidFill>
                  <a:prstClr val="white"/>
                </a:solidFill>
                <a:effectLst/>
                <a:uLnTx/>
                <a:uFillTx/>
                <a:latin typeface="Aptos" panose="02110004020202020204"/>
                <a:ea typeface="+mn-ea"/>
                <a:cs typeface="+mn-cs"/>
              </a:rPr>
              <a:t>fidel-fernando</a:t>
            </a:r>
            <a:r>
              <a:rPr kumimoji="0" lang="en-AU" sz="1400" b="0" i="0" u="none" strike="noStrike" kern="1200" cap="none" spc="0" normalizeH="0" baseline="0" noProof="0" dirty="0">
                <a:ln>
                  <a:noFill/>
                </a:ln>
                <a:solidFill>
                  <a:prstClr val="white"/>
                </a:solidFill>
                <a:effectLst/>
                <a:uLnTx/>
                <a:uFillTx/>
                <a:latin typeface="Aptos" panose="02110004020202020204"/>
                <a:ea typeface="+mn-ea"/>
                <a:cs typeface="+mn-cs"/>
              </a:rPr>
              <a:t>--PGr1H-Ua7U-unsplash</a:t>
            </a:r>
          </a:p>
        </p:txBody>
      </p:sp>
      <p:sp>
        <p:nvSpPr>
          <p:cNvPr id="3" name="Content Placeholder 2">
            <a:extLst>
              <a:ext uri="{FF2B5EF4-FFF2-40B4-BE49-F238E27FC236}">
                <a16:creationId xmlns:a16="http://schemas.microsoft.com/office/drawing/2014/main" id="{29157519-9764-9053-E56A-B68D614C7DB6}"/>
              </a:ext>
            </a:extLst>
          </p:cNvPr>
          <p:cNvSpPr txBox="1">
            <a:spLocks/>
          </p:cNvSpPr>
          <p:nvPr/>
        </p:nvSpPr>
        <p:spPr>
          <a:xfrm>
            <a:off x="335830" y="3629273"/>
            <a:ext cx="4602152" cy="3480066"/>
          </a:xfrm>
          <a:prstGeom prst="rect">
            <a:avLst/>
          </a:prstGeom>
        </p:spPr>
        <p:txBody>
          <a:bodyPr vert="horz" lIns="91440" tIns="45720" rIns="91440" bIns="45720" rtlCol="0">
            <a:normAutofit/>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r>
              <a:rPr kumimoji="0" lang="en-AU" sz="1500" b="1" i="0" u="none" strike="noStrike" kern="1200" cap="none" spc="0" normalizeH="0" baseline="0" noProof="0" dirty="0">
                <a:ln>
                  <a:noFill/>
                </a:ln>
                <a:solidFill>
                  <a:schemeClr val="bg1"/>
                </a:solidFill>
                <a:effectLst/>
                <a:uLnTx/>
                <a:uFillTx/>
                <a:latin typeface="Aptos" panose="020B0004020202020204" pitchFamily="34" charset="0"/>
                <a:ea typeface="+mn-ea"/>
                <a:cs typeface="Times New Roman" panose="02020603050405020304" pitchFamily="18" charset="0"/>
              </a:rPr>
              <a:t>“</a:t>
            </a:r>
            <a:r>
              <a:rPr kumimoji="0" lang="en-AU" sz="1500" b="1"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mn-cs"/>
              </a:rPr>
              <a:t>The sector often uses the term reflexivity, which is like reflection. Simply, reflection leads to insight about something, whereas reflexivity involves finding strategies to question our ‘attitudes, values, assumptions, prejudices, and habitual actions’. Reflexivity helps us understand how we contribute to the dynamic with others.”​</a:t>
            </a:r>
            <a:endParaRPr kumimoji="0" lang="en-AU" sz="1500" b="1" i="0" u="none" strike="noStrike" kern="1200" cap="none" spc="0" normalizeH="0" baseline="0" noProof="0" dirty="0">
              <a:ln>
                <a:noFill/>
              </a:ln>
              <a:solidFill>
                <a:schemeClr val="bg1"/>
              </a:solidFill>
              <a:effectLst/>
              <a:uLnTx/>
              <a:uFillTx/>
              <a:latin typeface="Segoe UI" panose="020B0502040204020203" pitchFamily="34" charset="0"/>
              <a:ea typeface="+mn-ea"/>
              <a:cs typeface="+mn-cs"/>
            </a:endParaRPr>
          </a:p>
          <a:p>
            <a:pPr marL="182880" marR="0" lvl="0" indent="-182880" algn="l" defTabSz="914400" rtl="0" eaLnBrk="1" fontAlgn="base" latinLnBrk="0" hangingPunct="1">
              <a:lnSpc>
                <a:spcPct val="110000"/>
              </a:lnSpc>
              <a:spcBef>
                <a:spcPts val="900"/>
              </a:spcBef>
              <a:spcAft>
                <a:spcPts val="0"/>
              </a:spcAft>
              <a:buClr>
                <a:sysClr val="windowText" lastClr="000000">
                  <a:lumMod val="85000"/>
                  <a:lumOff val="15000"/>
                </a:sysClr>
              </a:buClr>
              <a:buSzTx/>
              <a:buFont typeface="Garamond" pitchFamily="18" charset="0"/>
              <a:buChar char="◦"/>
              <a:tabLst/>
              <a:defRPr/>
            </a:pPr>
            <a:endParaRPr kumimoji="0" lang="en-US" sz="1500" b="1" i="0" u="none" strike="noStrike" kern="1200" cap="none" spc="0" normalizeH="0" baseline="0" noProof="0" dirty="0">
              <a:ln>
                <a:noFill/>
              </a:ln>
              <a:solidFill>
                <a:schemeClr val="bg1"/>
              </a:solidFill>
              <a:effectLst/>
              <a:uLnTx/>
              <a:uFillTx/>
              <a:latin typeface="Segoe UI" panose="020B0502040204020203" pitchFamily="34" charset="0"/>
              <a:ea typeface="+mn-ea"/>
              <a:cs typeface="+mn-cs"/>
            </a:endParaRPr>
          </a:p>
          <a:p>
            <a:pPr marL="0" marR="0" lvl="0" indent="0" algn="l" defTabSz="914400" rtl="0" eaLnBrk="1" fontAlgn="base"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r>
              <a:rPr kumimoji="0" lang="en-AU" sz="1500" b="0"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mn-cs"/>
              </a:rPr>
              <a:t>Victorian State Government. (2024) p. 38</a:t>
            </a:r>
            <a:r>
              <a:rPr kumimoji="0" lang="en-US" sz="1500" b="0"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mn-cs"/>
              </a:rPr>
              <a:t>​</a:t>
            </a:r>
            <a:endParaRPr kumimoji="0" lang="en-US" sz="1500" b="0" i="0" u="none" strike="noStrike" kern="1200" cap="none" spc="0" normalizeH="0" baseline="0" noProof="0" dirty="0">
              <a:ln>
                <a:noFill/>
              </a:ln>
              <a:solidFill>
                <a:schemeClr val="bg1"/>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endParaRPr kumimoji="0" lang="en-AU" sz="1500" b="0" i="0" u="none" strike="noStrike" kern="1200" cap="none" spc="0" normalizeH="0" baseline="0" noProof="0" dirty="0">
              <a:ln>
                <a:noFill/>
              </a:ln>
              <a:solidFill>
                <a:sysClr val="windowText" lastClr="000000"/>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endParaRPr kumimoji="0" lang="en-AU" sz="1500" b="0" i="0" u="none" strike="noStrike" kern="1200" cap="none" spc="0" normalizeH="0" baseline="0" noProof="0" dirty="0">
              <a:ln>
                <a:noFill/>
              </a:ln>
              <a:solidFill>
                <a:sysClr val="windowText" lastClr="000000"/>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endParaRPr kumimoji="0" lang="en-AU" sz="1500" b="0" i="0" u="none" strike="noStrike" kern="1200" cap="none" spc="0" normalizeH="0" baseline="0" noProof="0" dirty="0">
              <a:ln>
                <a:noFill/>
              </a:ln>
              <a:solidFill>
                <a:sysClr val="windowText" lastClr="000000"/>
              </a:solidFill>
              <a:effectLst/>
              <a:uLnTx/>
              <a:uFillTx/>
              <a:latin typeface="Avenir Next LT Pro" panose="02020404030301010803"/>
              <a:ea typeface="+mn-ea"/>
              <a:cs typeface="+mn-cs"/>
            </a:endParaRPr>
          </a:p>
        </p:txBody>
      </p:sp>
    </p:spTree>
    <p:extLst>
      <p:ext uri="{BB962C8B-B14F-4D97-AF65-F5344CB8AC3E}">
        <p14:creationId xmlns:p14="http://schemas.microsoft.com/office/powerpoint/2010/main" val="3131173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CDCE4-18B9-0167-96D3-C4A5575B920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A3DA2B9-0149-2E85-8886-74C90E0A4D90}"/>
              </a:ext>
            </a:extLst>
          </p:cNvPr>
          <p:cNvSpPr/>
          <p:nvPr/>
        </p:nvSpPr>
        <p:spPr>
          <a:xfrm rot="3075220">
            <a:off x="-148540" y="-1013342"/>
            <a:ext cx="1190975" cy="4089186"/>
          </a:xfrm>
          <a:custGeom>
            <a:avLst/>
            <a:gdLst/>
            <a:ahLst/>
            <a:cxnLst/>
            <a:rect l="l" t="t" r="r" b="b"/>
            <a:pathLst>
              <a:path w="1786463" h="6133779">
                <a:moveTo>
                  <a:pt x="0" y="0"/>
                </a:moveTo>
                <a:lnTo>
                  <a:pt x="1786463" y="0"/>
                </a:lnTo>
                <a:lnTo>
                  <a:pt x="1786463" y="6133778"/>
                </a:lnTo>
                <a:lnTo>
                  <a:pt x="0" y="6133778"/>
                </a:lnTo>
                <a:lnTo>
                  <a:pt x="0" y="0"/>
                </a:lnTo>
                <a:close/>
              </a:path>
            </a:pathLst>
          </a:custGeom>
          <a:blipFill>
            <a:blip r:embed="rId3"/>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6" name="Title 1">
            <a:extLst>
              <a:ext uri="{FF2B5EF4-FFF2-40B4-BE49-F238E27FC236}">
                <a16:creationId xmlns:a16="http://schemas.microsoft.com/office/drawing/2014/main" id="{03C85F02-9103-894F-7104-73EE07004B60}"/>
              </a:ext>
            </a:extLst>
          </p:cNvPr>
          <p:cNvSpPr txBox="1">
            <a:spLocks/>
          </p:cNvSpPr>
          <p:nvPr/>
        </p:nvSpPr>
        <p:spPr>
          <a:xfrm>
            <a:off x="3908704" y="0"/>
            <a:ext cx="4467460" cy="59590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2800" b="1"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rPr>
              <a:t>Reflexivity and Actions</a:t>
            </a:r>
          </a:p>
        </p:txBody>
      </p:sp>
      <p:sp>
        <p:nvSpPr>
          <p:cNvPr id="5" name="Freeform 5">
            <a:extLst>
              <a:ext uri="{FF2B5EF4-FFF2-40B4-BE49-F238E27FC236}">
                <a16:creationId xmlns:a16="http://schemas.microsoft.com/office/drawing/2014/main" id="{1DDEE072-913C-48BB-6B68-A179299023AD}"/>
              </a:ext>
            </a:extLst>
          </p:cNvPr>
          <p:cNvSpPr/>
          <p:nvPr/>
        </p:nvSpPr>
        <p:spPr>
          <a:xfrm rot="3075220">
            <a:off x="10448056" y="4015786"/>
            <a:ext cx="1190975" cy="4089186"/>
          </a:xfrm>
          <a:custGeom>
            <a:avLst/>
            <a:gdLst/>
            <a:ahLst/>
            <a:cxnLst/>
            <a:rect l="l" t="t" r="r" b="b"/>
            <a:pathLst>
              <a:path w="1786463" h="6133779">
                <a:moveTo>
                  <a:pt x="0" y="0"/>
                </a:moveTo>
                <a:lnTo>
                  <a:pt x="1786463" y="0"/>
                </a:lnTo>
                <a:lnTo>
                  <a:pt x="1786463" y="6133779"/>
                </a:lnTo>
                <a:lnTo>
                  <a:pt x="0" y="6133779"/>
                </a:lnTo>
                <a:lnTo>
                  <a:pt x="0" y="0"/>
                </a:lnTo>
                <a:close/>
              </a:path>
            </a:pathLst>
          </a:custGeom>
          <a:blipFill>
            <a:blip r:embed="rId3"/>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pic>
        <p:nvPicPr>
          <p:cNvPr id="4" name="Picture 3">
            <a:extLst>
              <a:ext uri="{FF2B5EF4-FFF2-40B4-BE49-F238E27FC236}">
                <a16:creationId xmlns:a16="http://schemas.microsoft.com/office/drawing/2014/main" id="{50AB539C-B841-159C-DA28-94BDD64FEBF2}"/>
              </a:ext>
            </a:extLst>
          </p:cNvPr>
          <p:cNvPicPr>
            <a:picLocks noChangeAspect="1"/>
          </p:cNvPicPr>
          <p:nvPr/>
        </p:nvPicPr>
        <p:blipFill>
          <a:blip r:embed="rId4"/>
          <a:stretch>
            <a:fillRect/>
          </a:stretch>
        </p:blipFill>
        <p:spPr>
          <a:xfrm>
            <a:off x="2817399" y="715167"/>
            <a:ext cx="6557201" cy="4963589"/>
          </a:xfrm>
          <a:prstGeom prst="rect">
            <a:avLst/>
          </a:prstGeom>
        </p:spPr>
      </p:pic>
      <p:sp>
        <p:nvSpPr>
          <p:cNvPr id="7" name="TextBox 6">
            <a:extLst>
              <a:ext uri="{FF2B5EF4-FFF2-40B4-BE49-F238E27FC236}">
                <a16:creationId xmlns:a16="http://schemas.microsoft.com/office/drawing/2014/main" id="{628A308E-206F-EE9A-4013-3C390C32CDD6}"/>
              </a:ext>
            </a:extLst>
          </p:cNvPr>
          <p:cNvSpPr txBox="1"/>
          <p:nvPr/>
        </p:nvSpPr>
        <p:spPr>
          <a:xfrm>
            <a:off x="3846444" y="5798022"/>
            <a:ext cx="6665843" cy="369332"/>
          </a:xfrm>
          <a:prstGeom prst="rect">
            <a:avLst/>
          </a:prstGeom>
          <a:noFill/>
        </p:spPr>
        <p:txBody>
          <a:bodyPr wrap="square" rtlCol="0">
            <a:spAutoFit/>
          </a:bodyPr>
          <a:lstStyle/>
          <a:p>
            <a:r>
              <a:rPr lang="en-AU" dirty="0"/>
              <a:t>Image: Gollan &amp; Stacey 2021, p. 14</a:t>
            </a:r>
          </a:p>
        </p:txBody>
      </p:sp>
    </p:spTree>
    <p:extLst>
      <p:ext uri="{BB962C8B-B14F-4D97-AF65-F5344CB8AC3E}">
        <p14:creationId xmlns:p14="http://schemas.microsoft.com/office/powerpoint/2010/main" val="2831539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B71CE-7DD2-213A-7CF0-6A77198FDCE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85769E7-AE4B-3619-869C-5145B6A13C38}"/>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DE1CABBA-FC2B-5E2B-44A2-A4CE180F2794}"/>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9" name="TextBox 8">
            <a:extLst>
              <a:ext uri="{FF2B5EF4-FFF2-40B4-BE49-F238E27FC236}">
                <a16:creationId xmlns:a16="http://schemas.microsoft.com/office/drawing/2014/main" id="{BA27FEA8-00A7-E40D-5332-4CDC5A357866}"/>
              </a:ext>
            </a:extLst>
          </p:cNvPr>
          <p:cNvSpPr txBox="1"/>
          <p:nvPr/>
        </p:nvSpPr>
        <p:spPr>
          <a:xfrm>
            <a:off x="4275794" y="2725591"/>
            <a:ext cx="4195673" cy="2913872"/>
          </a:xfrm>
          <a:prstGeom prst="rect">
            <a:avLst/>
          </a:prstGeom>
        </p:spPr>
        <p:txBody>
          <a:bodyPr vert="horz" lIns="91440" tIns="45720" rIns="91440" bIns="45720" rtlCol="0" anchor="t">
            <a:normAutofit/>
          </a:bodyPr>
          <a:lstStyle/>
          <a:p>
            <a:pPr lvl="1"/>
            <a:endParaRPr lang="en-AU" dirty="0"/>
          </a:p>
        </p:txBody>
      </p:sp>
      <p:pic>
        <p:nvPicPr>
          <p:cNvPr id="7" name="Picture 6">
            <a:extLst>
              <a:ext uri="{FF2B5EF4-FFF2-40B4-BE49-F238E27FC236}">
                <a16:creationId xmlns:a16="http://schemas.microsoft.com/office/drawing/2014/main" id="{7436BFF1-A2E7-ACF5-2172-8742993D978A}"/>
              </a:ext>
            </a:extLst>
          </p:cNvPr>
          <p:cNvPicPr>
            <a:picLocks noChangeAspect="1"/>
          </p:cNvPicPr>
          <p:nvPr/>
        </p:nvPicPr>
        <p:blipFill>
          <a:blip r:embed="rId4"/>
          <a:stretch>
            <a:fillRect/>
          </a:stretch>
        </p:blipFill>
        <p:spPr>
          <a:xfrm>
            <a:off x="151230" y="1373805"/>
            <a:ext cx="6041123" cy="4110390"/>
          </a:xfrm>
          <a:prstGeom prst="rect">
            <a:avLst/>
          </a:prstGeom>
        </p:spPr>
      </p:pic>
      <p:sp>
        <p:nvSpPr>
          <p:cNvPr id="8" name="TextBox 7">
            <a:extLst>
              <a:ext uri="{FF2B5EF4-FFF2-40B4-BE49-F238E27FC236}">
                <a16:creationId xmlns:a16="http://schemas.microsoft.com/office/drawing/2014/main" id="{761ACEEF-C942-C796-E5FF-79CF828F4978}"/>
              </a:ext>
            </a:extLst>
          </p:cNvPr>
          <p:cNvSpPr txBox="1"/>
          <p:nvPr/>
        </p:nvSpPr>
        <p:spPr>
          <a:xfrm>
            <a:off x="6648659" y="793086"/>
            <a:ext cx="4876800" cy="4524315"/>
          </a:xfrm>
          <a:prstGeom prst="rect">
            <a:avLst/>
          </a:prstGeom>
          <a:noFill/>
        </p:spPr>
        <p:txBody>
          <a:bodyPr wrap="square" rtlCol="0">
            <a:spAutoFit/>
          </a:bodyPr>
          <a:lstStyle/>
          <a:p>
            <a:r>
              <a:rPr lang="en-AU" dirty="0"/>
              <a:t>Scenario</a:t>
            </a:r>
          </a:p>
          <a:p>
            <a:endParaRPr lang="en-AU" dirty="0"/>
          </a:p>
          <a:p>
            <a:r>
              <a:rPr lang="en-AU" sz="2400" i="1" dirty="0"/>
              <a:t>An elderly Aboriginal patient comes to the clinic with her daughter. The health professional speaks quickly, uses medical words that are hard to understand, and talks only to the daughter. The patient looks confused and quiet.</a:t>
            </a:r>
            <a:endParaRPr lang="en-AU" sz="2400" dirty="0"/>
          </a:p>
          <a:p>
            <a:endParaRPr lang="en-AU" dirty="0"/>
          </a:p>
          <a:p>
            <a:endParaRPr lang="en-AU" dirty="0"/>
          </a:p>
          <a:p>
            <a:r>
              <a:rPr lang="en-AU" b="1" dirty="0"/>
              <a:t>“What might the patient be feeling?”</a:t>
            </a:r>
          </a:p>
          <a:p>
            <a:endParaRPr lang="en-AU" b="1" dirty="0"/>
          </a:p>
          <a:p>
            <a:r>
              <a:rPr lang="en-AU" dirty="0"/>
              <a:t>List </a:t>
            </a:r>
            <a:r>
              <a:rPr lang="en-AU" b="1" dirty="0"/>
              <a:t>3 things the health professional could do</a:t>
            </a:r>
            <a:r>
              <a:rPr lang="en-AU" dirty="0"/>
              <a:t> to make the interaction more culturally safe.</a:t>
            </a:r>
          </a:p>
        </p:txBody>
      </p:sp>
      <p:cxnSp>
        <p:nvCxnSpPr>
          <p:cNvPr id="21" name="Straight Connector 20">
            <a:extLst>
              <a:ext uri="{FF2B5EF4-FFF2-40B4-BE49-F238E27FC236}">
                <a16:creationId xmlns:a16="http://schemas.microsoft.com/office/drawing/2014/main" id="{FC675F74-2CD7-C1CF-C73B-BCEE9DA9E77C}"/>
              </a:ext>
            </a:extLst>
          </p:cNvPr>
          <p:cNvCxnSpPr/>
          <p:nvPr/>
        </p:nvCxnSpPr>
        <p:spPr>
          <a:xfrm>
            <a:off x="6832879" y="3737987"/>
            <a:ext cx="4059534" cy="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5280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411C0-0E72-27ED-F16A-5A3C0D7740D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85871D-2678-C0F3-E1D7-CD5EC7CF6D55}"/>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2614BBF4-8238-6ADC-58D6-483860973779}"/>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5">
            <a:extLst>
              <a:ext uri="{FF2B5EF4-FFF2-40B4-BE49-F238E27FC236}">
                <a16:creationId xmlns:a16="http://schemas.microsoft.com/office/drawing/2014/main" id="{949E5168-0EDB-52E0-AD14-A0391468CDFA}"/>
              </a:ext>
            </a:extLst>
          </p:cNvPr>
          <p:cNvSpPr/>
          <p:nvPr/>
        </p:nvSpPr>
        <p:spPr>
          <a:xfrm rot="-2385869">
            <a:off x="10581722" y="-524626"/>
            <a:ext cx="2045570" cy="4073598"/>
          </a:xfrm>
          <a:custGeom>
            <a:avLst/>
            <a:gdLst/>
            <a:ahLst/>
            <a:cxnLst/>
            <a:rect l="l" t="t" r="r" b="b"/>
            <a:pathLst>
              <a:path w="3374136" h="8229600">
                <a:moveTo>
                  <a:pt x="0" y="0"/>
                </a:moveTo>
                <a:lnTo>
                  <a:pt x="3374136" y="0"/>
                </a:lnTo>
                <a:lnTo>
                  <a:pt x="3374136"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0004BE16-BB4E-0EBD-D55D-E36D2AC8F2E1}"/>
              </a:ext>
            </a:extLst>
          </p:cNvPr>
          <p:cNvGraphicFramePr>
            <a:graphicFrameLocks/>
          </p:cNvGraphicFramePr>
          <p:nvPr>
            <p:extLst>
              <p:ext uri="{D42A27DB-BD31-4B8C-83A1-F6EECF244321}">
                <p14:modId xmlns:p14="http://schemas.microsoft.com/office/powerpoint/2010/main" val="1326269753"/>
              </p:ext>
            </p:extLst>
          </p:nvPr>
        </p:nvGraphicFramePr>
        <p:xfrm>
          <a:off x="1461494" y="2823083"/>
          <a:ext cx="9269012" cy="29084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 name="Title 1">
            <a:extLst>
              <a:ext uri="{FF2B5EF4-FFF2-40B4-BE49-F238E27FC236}">
                <a16:creationId xmlns:a16="http://schemas.microsoft.com/office/drawing/2014/main" id="{238EDF77-DFE7-B118-0B4C-0EAB540506DD}"/>
              </a:ext>
            </a:extLst>
          </p:cNvPr>
          <p:cNvSpPr txBox="1">
            <a:spLocks/>
          </p:cNvSpPr>
          <p:nvPr/>
        </p:nvSpPr>
        <p:spPr>
          <a:xfrm>
            <a:off x="1461494" y="933667"/>
            <a:ext cx="9144000" cy="115701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6000" b="0" i="0" u="none" strike="noStrike" kern="1200" cap="none" spc="0" normalizeH="0" baseline="0" noProof="0">
                <a:ln>
                  <a:noFill/>
                </a:ln>
                <a:solidFill>
                  <a:srgbClr val="4C5131"/>
                </a:solidFill>
                <a:effectLst/>
                <a:uLnTx/>
                <a:uFillTx/>
                <a:latin typeface="Aptos Display" panose="02110004020202020204"/>
                <a:ea typeface="+mj-ea"/>
                <a:cs typeface="+mj-cs"/>
              </a:rPr>
              <a:t>Translation to Practice</a:t>
            </a:r>
            <a:endParaRPr kumimoji="0" lang="en-AU" sz="6000" b="0" i="0" u="none" strike="noStrike" kern="1200" cap="none" spc="0" normalizeH="0" baseline="0" noProof="0" dirty="0">
              <a:ln>
                <a:noFill/>
              </a:ln>
              <a:solidFill>
                <a:srgbClr val="4C5131"/>
              </a:solidFill>
              <a:effectLst/>
              <a:uLnTx/>
              <a:uFillTx/>
              <a:latin typeface="Aptos Display" panose="02110004020202020204"/>
              <a:ea typeface="+mj-ea"/>
              <a:cs typeface="+mj-cs"/>
            </a:endParaRPr>
          </a:p>
        </p:txBody>
      </p:sp>
    </p:spTree>
    <p:extLst>
      <p:ext uri="{BB962C8B-B14F-4D97-AF65-F5344CB8AC3E}">
        <p14:creationId xmlns:p14="http://schemas.microsoft.com/office/powerpoint/2010/main" val="541799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5">
            <a:extLst>
              <a:ext uri="{FF2B5EF4-FFF2-40B4-BE49-F238E27FC236}">
                <a16:creationId xmlns:a16="http://schemas.microsoft.com/office/drawing/2014/main" id="{66FFDE08-905F-285E-3B1F-482CABA352C4}"/>
              </a:ext>
            </a:extLst>
          </p:cNvPr>
          <p:cNvSpPr/>
          <p:nvPr/>
        </p:nvSpPr>
        <p:spPr>
          <a:xfrm rot="-2385869">
            <a:off x="10581722" y="-524626"/>
            <a:ext cx="2045570" cy="4073598"/>
          </a:xfrm>
          <a:custGeom>
            <a:avLst/>
            <a:gdLst/>
            <a:ahLst/>
            <a:cxnLst/>
            <a:rect l="l" t="t" r="r" b="b"/>
            <a:pathLst>
              <a:path w="3374136" h="8229600">
                <a:moveTo>
                  <a:pt x="0" y="0"/>
                </a:moveTo>
                <a:lnTo>
                  <a:pt x="3374136" y="0"/>
                </a:lnTo>
                <a:lnTo>
                  <a:pt x="3374136"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5" name="Picture 4" descr="A diagram of different types of people&#10;&#10;AI-generated content may be incorrect.">
            <a:extLst>
              <a:ext uri="{FF2B5EF4-FFF2-40B4-BE49-F238E27FC236}">
                <a16:creationId xmlns:a16="http://schemas.microsoft.com/office/drawing/2014/main" id="{51C31F2C-3190-DAA6-BB30-01B2AD4C7F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6399" y="1186784"/>
            <a:ext cx="5458968" cy="5090487"/>
          </a:xfrm>
          <a:prstGeom prst="rect">
            <a:avLst/>
          </a:prstGeom>
        </p:spPr>
      </p:pic>
      <p:sp>
        <p:nvSpPr>
          <p:cNvPr id="7" name="Content Placeholder 2">
            <a:extLst>
              <a:ext uri="{FF2B5EF4-FFF2-40B4-BE49-F238E27FC236}">
                <a16:creationId xmlns:a16="http://schemas.microsoft.com/office/drawing/2014/main" id="{C7B287A1-32AC-2683-B89F-6963715CFA1B}"/>
              </a:ext>
            </a:extLst>
          </p:cNvPr>
          <p:cNvSpPr txBox="1">
            <a:spLocks/>
          </p:cNvSpPr>
          <p:nvPr/>
        </p:nvSpPr>
        <p:spPr>
          <a:xfrm>
            <a:off x="6096000" y="1922204"/>
            <a:ext cx="4818888" cy="355078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sz="1500" b="0" i="0" u="none" strike="noStrike" kern="1200" cap="none" spc="0" normalizeH="0" baseline="0" noProof="0">
                <a:ln>
                  <a:noFill/>
                </a:ln>
                <a:solidFill>
                  <a:sysClr val="windowText" lastClr="000000"/>
                </a:solidFill>
                <a:effectLst/>
                <a:uLnTx/>
                <a:uFillTx/>
                <a:latin typeface="Aptos" panose="02110004020202020204"/>
                <a:ea typeface="+mn-ea"/>
                <a:cs typeface="+mn-cs"/>
              </a:rPr>
              <a:t>Othering can be seen by actions such as:</a:t>
            </a:r>
          </a:p>
          <a:p>
            <a:pPr marL="285750" marR="0" lvl="0" indent="-228600" algn="l" defTabSz="914400" rtl="0" eaLnBrk="1" fontAlgn="auto" latinLnBrk="0" hangingPunct="1">
              <a:lnSpc>
                <a:spcPct val="90000"/>
              </a:lnSpc>
              <a:spcBef>
                <a:spcPts val="1000"/>
              </a:spcBef>
              <a:spcAft>
                <a:spcPts val="1200"/>
              </a:spcAft>
              <a:buClrTx/>
              <a:buSzTx/>
              <a:buFont typeface="Arial" panose="020B0604020202020204" pitchFamily="34" charset="0"/>
              <a:buChar char="•"/>
              <a:tabLst/>
              <a:defRPr/>
            </a:pPr>
            <a:r>
              <a:rPr kumimoji="0" lang="en-US" sz="1500" b="0" i="0" u="none" strike="noStrike" kern="1200" cap="none" spc="0" normalizeH="0" baseline="0" noProof="0">
                <a:ln>
                  <a:noFill/>
                </a:ln>
                <a:solidFill>
                  <a:sysClr val="windowText" lastClr="000000"/>
                </a:solidFill>
                <a:effectLst/>
                <a:uLnTx/>
                <a:uFillTx/>
                <a:latin typeface="Aptos" panose="02110004020202020204"/>
                <a:ea typeface="+mn-ea"/>
                <a:cs typeface="+mn-cs"/>
              </a:rPr>
              <a:t>thinking that people outside your social/cultural group are not as intelligent or skilled as you and this is then reflected in your actions and tone of language</a:t>
            </a:r>
          </a:p>
          <a:p>
            <a:pPr marL="285750" marR="0" lvl="0" indent="-228600" algn="l" defTabSz="914400" rtl="0" eaLnBrk="1" fontAlgn="auto" latinLnBrk="0" hangingPunct="1">
              <a:lnSpc>
                <a:spcPct val="90000"/>
              </a:lnSpc>
              <a:spcBef>
                <a:spcPts val="1000"/>
              </a:spcBef>
              <a:spcAft>
                <a:spcPts val="1200"/>
              </a:spcAft>
              <a:buClrTx/>
              <a:buSzTx/>
              <a:buFont typeface="Arial" panose="020B0604020202020204" pitchFamily="34" charset="0"/>
              <a:buChar char="•"/>
              <a:tabLst/>
              <a:defRPr/>
            </a:pPr>
            <a:r>
              <a:rPr kumimoji="0" lang="en-US" sz="1500" b="0" i="0" u="none" strike="noStrike" kern="1200" cap="none" spc="0" normalizeH="0" baseline="0" noProof="0">
                <a:ln>
                  <a:noFill/>
                </a:ln>
                <a:solidFill>
                  <a:sysClr val="windowText" lastClr="000000"/>
                </a:solidFill>
                <a:effectLst/>
                <a:uLnTx/>
                <a:uFillTx/>
                <a:latin typeface="Aptos" panose="02110004020202020204"/>
                <a:ea typeface="+mn-ea"/>
                <a:cs typeface="+mn-cs"/>
              </a:rPr>
              <a:t>ignoring people’s ideas or opinions</a:t>
            </a:r>
          </a:p>
          <a:p>
            <a:pPr marL="285750" marR="0" lvl="0" indent="-228600" algn="l" defTabSz="914400" rtl="0" eaLnBrk="1" fontAlgn="auto" latinLnBrk="0" hangingPunct="1">
              <a:lnSpc>
                <a:spcPct val="90000"/>
              </a:lnSpc>
              <a:spcBef>
                <a:spcPts val="1000"/>
              </a:spcBef>
              <a:spcAft>
                <a:spcPts val="1200"/>
              </a:spcAft>
              <a:buClrTx/>
              <a:buSzTx/>
              <a:buFont typeface="Arial" panose="020B0604020202020204" pitchFamily="34" charset="0"/>
              <a:buChar char="•"/>
              <a:tabLst/>
              <a:defRPr/>
            </a:pPr>
            <a:r>
              <a:rPr kumimoji="0" lang="en-US" sz="1500" b="0" i="0" u="none" strike="noStrike" kern="1200" cap="none" spc="0" normalizeH="0" baseline="0" noProof="0">
                <a:ln>
                  <a:noFill/>
                </a:ln>
                <a:solidFill>
                  <a:sysClr val="windowText" lastClr="000000"/>
                </a:solidFill>
                <a:effectLst/>
                <a:uLnTx/>
                <a:uFillTx/>
                <a:latin typeface="Aptos" panose="02110004020202020204"/>
                <a:ea typeface="+mn-ea"/>
                <a:cs typeface="+mn-cs"/>
              </a:rPr>
              <a:t>not giving people, the benefit of the doubt</a:t>
            </a:r>
          </a:p>
          <a:p>
            <a:pPr marL="285750" marR="0" lvl="0" indent="-228600" algn="l" defTabSz="914400" rtl="0" eaLnBrk="1" fontAlgn="auto" latinLnBrk="0" hangingPunct="1">
              <a:lnSpc>
                <a:spcPct val="90000"/>
              </a:lnSpc>
              <a:spcBef>
                <a:spcPts val="1000"/>
              </a:spcBef>
              <a:spcAft>
                <a:spcPts val="1200"/>
              </a:spcAft>
              <a:buClrTx/>
              <a:buSzTx/>
              <a:buFont typeface="Arial" panose="020B0604020202020204" pitchFamily="34" charset="0"/>
              <a:buChar char="•"/>
              <a:tabLst/>
              <a:defRPr/>
            </a:pPr>
            <a:r>
              <a:rPr kumimoji="0" lang="en-US" sz="1500" b="0" i="0" u="none" strike="noStrike" kern="1200" cap="none" spc="0" normalizeH="0" baseline="0" noProof="0">
                <a:ln>
                  <a:noFill/>
                </a:ln>
                <a:solidFill>
                  <a:sysClr val="windowText" lastClr="000000"/>
                </a:solidFill>
                <a:effectLst/>
                <a:uLnTx/>
                <a:uFillTx/>
                <a:latin typeface="Aptos" panose="02110004020202020204"/>
                <a:ea typeface="+mn-ea"/>
                <a:cs typeface="+mn-cs"/>
              </a:rPr>
              <a:t>failing to share vital information with others</a:t>
            </a:r>
          </a:p>
          <a:p>
            <a:pPr marL="285750" marR="0" lvl="0" indent="-228600" algn="l" defTabSz="914400" rtl="0" eaLnBrk="1" fontAlgn="auto" latinLnBrk="0" hangingPunct="1">
              <a:lnSpc>
                <a:spcPct val="90000"/>
              </a:lnSpc>
              <a:spcBef>
                <a:spcPts val="1000"/>
              </a:spcBef>
              <a:spcAft>
                <a:spcPts val="1200"/>
              </a:spcAft>
              <a:buClrTx/>
              <a:buSzTx/>
              <a:buFont typeface="Arial" panose="020B0604020202020204" pitchFamily="34" charset="0"/>
              <a:buChar char="•"/>
              <a:tabLst/>
              <a:defRPr/>
            </a:pPr>
            <a:r>
              <a:rPr kumimoji="0" lang="en-US" sz="1500" b="0" i="0" u="none" strike="noStrike" kern="1200" cap="none" spc="0" normalizeH="0" baseline="0" noProof="0">
                <a:ln>
                  <a:noFill/>
                </a:ln>
                <a:solidFill>
                  <a:sysClr val="windowText" lastClr="000000"/>
                </a:solidFill>
                <a:effectLst/>
                <a:uLnTx/>
                <a:uFillTx/>
                <a:latin typeface="Aptos" panose="02110004020202020204"/>
                <a:ea typeface="+mn-ea"/>
                <a:cs typeface="+mn-cs"/>
              </a:rPr>
              <a:t>excluding others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500" b="0" i="0" u="none" strike="noStrike" kern="1200" cap="none" spc="0" normalizeH="0" baseline="0" noProof="0" dirty="0">
              <a:ln>
                <a:noFill/>
              </a:ln>
              <a:solidFill>
                <a:sysClr val="windowText" lastClr="000000"/>
              </a:solidFill>
              <a:effectLst/>
              <a:uLnTx/>
              <a:uFillTx/>
              <a:latin typeface="Aptos" panose="02110004020202020204"/>
              <a:ea typeface="+mn-ea"/>
              <a:cs typeface="+mn-cs"/>
            </a:endParaRPr>
          </a:p>
        </p:txBody>
      </p:sp>
      <p:sp>
        <p:nvSpPr>
          <p:cNvPr id="8" name="Title 1">
            <a:extLst>
              <a:ext uri="{FF2B5EF4-FFF2-40B4-BE49-F238E27FC236}">
                <a16:creationId xmlns:a16="http://schemas.microsoft.com/office/drawing/2014/main" id="{18B9D8C9-6BDF-471B-CBEF-76B97EC56C70}"/>
              </a:ext>
            </a:extLst>
          </p:cNvPr>
          <p:cNvSpPr txBox="1">
            <a:spLocks/>
          </p:cNvSpPr>
          <p:nvPr/>
        </p:nvSpPr>
        <p:spPr>
          <a:xfrm>
            <a:off x="1941081" y="0"/>
            <a:ext cx="8437626" cy="10079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800" b="0" i="0" u="none" strike="noStrike" kern="1200" cap="none" spc="0" normalizeH="0" baseline="0" noProof="0">
                <a:ln>
                  <a:noFill/>
                </a:ln>
                <a:solidFill>
                  <a:sysClr val="windowText" lastClr="000000"/>
                </a:solidFill>
                <a:effectLst/>
                <a:uLnTx/>
                <a:uFillTx/>
                <a:latin typeface="Aptos Display" panose="02110004020202020204"/>
                <a:ea typeface="+mj-ea"/>
                <a:cs typeface="+mj-cs"/>
              </a:rPr>
              <a:t>Othering: The ‘flip side’ of Cultural Safety</a:t>
            </a:r>
            <a:endParaRPr kumimoji="0" lang="en-US" sz="3800" b="0" i="0" u="none" strike="noStrike" kern="1200" cap="none" spc="0" normalizeH="0" baseline="0" noProof="0" dirty="0">
              <a:ln>
                <a:noFill/>
              </a:ln>
              <a:solidFill>
                <a:sysClr val="windowText" lastClr="000000"/>
              </a:solidFill>
              <a:effectLst/>
              <a:uLnTx/>
              <a:uFillTx/>
              <a:latin typeface="Aptos Display" panose="02110004020202020204"/>
              <a:ea typeface="+mj-ea"/>
              <a:cs typeface="+mj-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3075220">
            <a:off x="-148540" y="-1013342"/>
            <a:ext cx="1190975" cy="4089186"/>
          </a:xfrm>
          <a:custGeom>
            <a:avLst/>
            <a:gdLst/>
            <a:ahLst/>
            <a:cxnLst/>
            <a:rect l="l" t="t" r="r" b="b"/>
            <a:pathLst>
              <a:path w="1786463" h="6133779">
                <a:moveTo>
                  <a:pt x="0" y="0"/>
                </a:moveTo>
                <a:lnTo>
                  <a:pt x="1786463" y="0"/>
                </a:lnTo>
                <a:lnTo>
                  <a:pt x="1786463" y="6133778"/>
                </a:lnTo>
                <a:lnTo>
                  <a:pt x="0" y="6133778"/>
                </a:lnTo>
                <a:lnTo>
                  <a:pt x="0" y="0"/>
                </a:lnTo>
                <a:close/>
              </a:path>
            </a:pathLst>
          </a:custGeom>
          <a:blipFill>
            <a:blip r:embed="rId4"/>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5" name="Freeform 5"/>
          <p:cNvSpPr/>
          <p:nvPr/>
        </p:nvSpPr>
        <p:spPr>
          <a:xfrm rot="3075220">
            <a:off x="10448056" y="4015786"/>
            <a:ext cx="1190975" cy="4089186"/>
          </a:xfrm>
          <a:custGeom>
            <a:avLst/>
            <a:gdLst/>
            <a:ahLst/>
            <a:cxnLst/>
            <a:rect l="l" t="t" r="r" b="b"/>
            <a:pathLst>
              <a:path w="1786463" h="6133779">
                <a:moveTo>
                  <a:pt x="0" y="0"/>
                </a:moveTo>
                <a:lnTo>
                  <a:pt x="1786463" y="0"/>
                </a:lnTo>
                <a:lnTo>
                  <a:pt x="1786463" y="6133779"/>
                </a:lnTo>
                <a:lnTo>
                  <a:pt x="0" y="6133779"/>
                </a:lnTo>
                <a:lnTo>
                  <a:pt x="0" y="0"/>
                </a:lnTo>
                <a:close/>
              </a:path>
            </a:pathLst>
          </a:custGeom>
          <a:blipFill>
            <a:blip r:embed="rId4"/>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Title 1">
            <a:extLst>
              <a:ext uri="{FF2B5EF4-FFF2-40B4-BE49-F238E27FC236}">
                <a16:creationId xmlns:a16="http://schemas.microsoft.com/office/drawing/2014/main" id="{CF53F805-902D-5EB2-3BCB-86F9B947375C}"/>
              </a:ext>
            </a:extLst>
          </p:cNvPr>
          <p:cNvSpPr txBox="1">
            <a:spLocks/>
          </p:cNvSpPr>
          <p:nvPr/>
        </p:nvSpPr>
        <p:spPr>
          <a:xfrm>
            <a:off x="713063" y="642594"/>
            <a:ext cx="10779853" cy="116942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t>Cultural safety and the National Principles for Child Safe Organisations</a:t>
            </a:r>
            <a:endParaRPr kumimoji="0" lang="en-AU" sz="4000" b="0"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endParaRPr>
          </a:p>
        </p:txBody>
      </p:sp>
      <p:pic>
        <p:nvPicPr>
          <p:cNvPr id="4" name="Online Media 3" title="Keeping Our Kids Safe: Understanding Cultural Safety in Child Safe Organisations">
            <a:hlinkClick r:id="" action="ppaction://media"/>
            <a:extLst>
              <a:ext uri="{FF2B5EF4-FFF2-40B4-BE49-F238E27FC236}">
                <a16:creationId xmlns:a16="http://schemas.microsoft.com/office/drawing/2014/main" id="{3499CA50-5B7A-F916-7D31-FBB57A4F434E}"/>
              </a:ext>
            </a:extLst>
          </p:cNvPr>
          <p:cNvPicPr>
            <a:picLocks noRot="1" noChangeAspect="1"/>
          </p:cNvPicPr>
          <p:nvPr>
            <a:videoFile r:link="rId1"/>
          </p:nvPr>
        </p:nvPicPr>
        <p:blipFill>
          <a:blip r:embed="rId5"/>
          <a:stretch>
            <a:fillRect/>
          </a:stretch>
        </p:blipFill>
        <p:spPr>
          <a:xfrm>
            <a:off x="4403788" y="1812022"/>
            <a:ext cx="6813550" cy="3849687"/>
          </a:xfrm>
          <a:prstGeom prst="rect">
            <a:avLst/>
          </a:prstGeom>
        </p:spPr>
      </p:pic>
      <p:sp>
        <p:nvSpPr>
          <p:cNvPr id="7" name="TextBox 6">
            <a:extLst>
              <a:ext uri="{FF2B5EF4-FFF2-40B4-BE49-F238E27FC236}">
                <a16:creationId xmlns:a16="http://schemas.microsoft.com/office/drawing/2014/main" id="{F9939B0F-91B1-7DE9-EDD7-5AB877B2F2F9}"/>
              </a:ext>
            </a:extLst>
          </p:cNvPr>
          <p:cNvSpPr txBox="1"/>
          <p:nvPr/>
        </p:nvSpPr>
        <p:spPr>
          <a:xfrm>
            <a:off x="446947" y="5707574"/>
            <a:ext cx="7273088"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Avenir Next LT Pro" panose="02020404030301010803"/>
                <a:ea typeface="+mn-ea"/>
                <a:cs typeface="+mn-cs"/>
              </a:rPr>
              <a:t>10 National Principles for Child Safe Organisations Guide link: </a:t>
            </a:r>
            <a:r>
              <a:rPr kumimoji="0" lang="en-AU" sz="1200" b="0" i="0" u="none" strike="noStrike" kern="1200" cap="none" spc="0" normalizeH="0" baseline="0" noProof="0" dirty="0">
                <a:ln>
                  <a:noFill/>
                </a:ln>
                <a:solidFill>
                  <a:prstClr val="black"/>
                </a:solidFill>
                <a:effectLst/>
                <a:uLnTx/>
                <a:uFillTx/>
                <a:latin typeface="Avenir Next LT Pro" panose="02020404030301010803"/>
                <a:ea typeface="+mn-ea"/>
                <a:cs typeface="+mn-cs"/>
                <a:hlinkClick r:id="rId6"/>
              </a:rPr>
              <a:t>https://www.childsafety.gov.au/resources/keeping-our-kids-safe-cultural-safety-and-national-principles-child-safe-organisations-guide-0</a:t>
            </a:r>
            <a:endParaRPr kumimoji="0" lang="en-AU" sz="1200" b="0" i="0" u="none" strike="noStrike" kern="1200" cap="none" spc="0" normalizeH="0" baseline="0" noProof="0" dirty="0">
              <a:ln>
                <a:noFill/>
              </a:ln>
              <a:solidFill>
                <a:prstClr val="black"/>
              </a:solidFill>
              <a:effectLst/>
              <a:uLnTx/>
              <a:uFillTx/>
              <a:latin typeface="Avenir Next LT Pro" panose="020204040303010108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Avenir Next LT Pro" panose="020204040303010108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Avenir Next LT Pro" panose="02020404030301010803"/>
                <a:ea typeface="+mn-ea"/>
                <a:cs typeface="+mn-cs"/>
              </a:rPr>
              <a:t>SNAICC - </a:t>
            </a:r>
            <a:r>
              <a:rPr kumimoji="0" lang="en-AU" sz="1200" b="0" i="0" u="none" strike="noStrike" kern="1200" cap="none" spc="0" normalizeH="0" baseline="0" noProof="0" dirty="0">
                <a:ln>
                  <a:noFill/>
                </a:ln>
                <a:solidFill>
                  <a:prstClr val="black"/>
                </a:solidFill>
                <a:effectLst/>
                <a:uLnTx/>
                <a:uFillTx/>
                <a:latin typeface="Avenir Next LT Pro" panose="02020404030301010803"/>
                <a:ea typeface="+mn-ea"/>
                <a:cs typeface="+mn-cs"/>
                <a:hlinkClick r:id="rId7"/>
              </a:rPr>
              <a:t>https://www.snaicc.org.au/</a:t>
            </a:r>
            <a:endParaRPr kumimoji="0" lang="en-AU" sz="1200" b="0" i="0" u="none" strike="noStrike" kern="1200" cap="none" spc="0" normalizeH="0" baseline="0" noProof="0" dirty="0">
              <a:ln>
                <a:noFill/>
              </a:ln>
              <a:solidFill>
                <a:prstClr val="black"/>
              </a:solidFill>
              <a:effectLst/>
              <a:uLnTx/>
              <a:uFillTx/>
              <a:latin typeface="Avenir Next LT Pro" panose="02020404030301010803"/>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6B9DF-DF8D-B1E0-69DB-7BE84C287E3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F11447A-61B0-1858-7C98-C03A79922338}"/>
              </a:ext>
            </a:extLst>
          </p:cNvPr>
          <p:cNvSpPr/>
          <p:nvPr/>
        </p:nvSpPr>
        <p:spPr>
          <a:xfrm rot="3075220">
            <a:off x="-148540" y="-1013342"/>
            <a:ext cx="1190975" cy="4089186"/>
          </a:xfrm>
          <a:custGeom>
            <a:avLst/>
            <a:gdLst/>
            <a:ahLst/>
            <a:cxnLst/>
            <a:rect l="l" t="t" r="r" b="b"/>
            <a:pathLst>
              <a:path w="1786463" h="6133779">
                <a:moveTo>
                  <a:pt x="0" y="0"/>
                </a:moveTo>
                <a:lnTo>
                  <a:pt x="1786463" y="0"/>
                </a:lnTo>
                <a:lnTo>
                  <a:pt x="1786463" y="6133778"/>
                </a:lnTo>
                <a:lnTo>
                  <a:pt x="0" y="6133778"/>
                </a:lnTo>
                <a:lnTo>
                  <a:pt x="0" y="0"/>
                </a:lnTo>
                <a:close/>
              </a:path>
            </a:pathLst>
          </a:custGeom>
          <a:blipFill>
            <a:blip r:embed="rId4"/>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5" name="Freeform 5">
            <a:extLst>
              <a:ext uri="{FF2B5EF4-FFF2-40B4-BE49-F238E27FC236}">
                <a16:creationId xmlns:a16="http://schemas.microsoft.com/office/drawing/2014/main" id="{625C04AA-16AB-134A-2A52-67E0A19B247B}"/>
              </a:ext>
            </a:extLst>
          </p:cNvPr>
          <p:cNvSpPr/>
          <p:nvPr/>
        </p:nvSpPr>
        <p:spPr>
          <a:xfrm rot="3075220">
            <a:off x="10448056" y="4015786"/>
            <a:ext cx="1190975" cy="4089186"/>
          </a:xfrm>
          <a:custGeom>
            <a:avLst/>
            <a:gdLst/>
            <a:ahLst/>
            <a:cxnLst/>
            <a:rect l="l" t="t" r="r" b="b"/>
            <a:pathLst>
              <a:path w="1786463" h="6133779">
                <a:moveTo>
                  <a:pt x="0" y="0"/>
                </a:moveTo>
                <a:lnTo>
                  <a:pt x="1786463" y="0"/>
                </a:lnTo>
                <a:lnTo>
                  <a:pt x="1786463" y="6133779"/>
                </a:lnTo>
                <a:lnTo>
                  <a:pt x="0" y="6133779"/>
                </a:lnTo>
                <a:lnTo>
                  <a:pt x="0" y="0"/>
                </a:lnTo>
                <a:close/>
              </a:path>
            </a:pathLst>
          </a:custGeom>
          <a:blipFill>
            <a:blip r:embed="rId4"/>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Title 1">
            <a:extLst>
              <a:ext uri="{FF2B5EF4-FFF2-40B4-BE49-F238E27FC236}">
                <a16:creationId xmlns:a16="http://schemas.microsoft.com/office/drawing/2014/main" id="{9A0B0EDE-D07B-DE68-BB5E-2DF3D9DAE79D}"/>
              </a:ext>
            </a:extLst>
          </p:cNvPr>
          <p:cNvSpPr txBox="1">
            <a:spLocks/>
          </p:cNvSpPr>
          <p:nvPr/>
        </p:nvSpPr>
        <p:spPr>
          <a:xfrm>
            <a:off x="1066800" y="642594"/>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t>International perspective</a:t>
            </a:r>
            <a:endParaRPr kumimoji="0" lang="en-AU" sz="4000" b="0"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endParaRPr>
          </a:p>
        </p:txBody>
      </p:sp>
      <p:pic>
        <p:nvPicPr>
          <p:cNvPr id="4" name="Online Media 3" title="Aboriginal Cultural Safety: How to be an Ally">
            <a:hlinkClick r:id="" action="ppaction://media"/>
            <a:extLst>
              <a:ext uri="{FF2B5EF4-FFF2-40B4-BE49-F238E27FC236}">
                <a16:creationId xmlns:a16="http://schemas.microsoft.com/office/drawing/2014/main" id="{424DCB44-C280-0CA0-3B74-FC41EEEFAA28}"/>
              </a:ext>
            </a:extLst>
          </p:cNvPr>
          <p:cNvPicPr>
            <a:picLocks noRot="1" noChangeAspect="1"/>
          </p:cNvPicPr>
          <p:nvPr>
            <a:videoFile r:link="rId1"/>
          </p:nvPr>
        </p:nvPicPr>
        <p:blipFill>
          <a:blip r:embed="rId5"/>
          <a:stretch>
            <a:fillRect/>
          </a:stretch>
        </p:blipFill>
        <p:spPr>
          <a:xfrm>
            <a:off x="2689225" y="2103438"/>
            <a:ext cx="6813550" cy="3849687"/>
          </a:xfrm>
          <a:prstGeom prst="rect">
            <a:avLst/>
          </a:prstGeom>
        </p:spPr>
      </p:pic>
      <p:sp>
        <p:nvSpPr>
          <p:cNvPr id="8" name="TextBox 7">
            <a:extLst>
              <a:ext uri="{FF2B5EF4-FFF2-40B4-BE49-F238E27FC236}">
                <a16:creationId xmlns:a16="http://schemas.microsoft.com/office/drawing/2014/main" id="{0C73DCC9-EB71-1598-369F-F344E99B4456}"/>
              </a:ext>
            </a:extLst>
          </p:cNvPr>
          <p:cNvSpPr txBox="1"/>
          <p:nvPr/>
        </p:nvSpPr>
        <p:spPr>
          <a:xfrm>
            <a:off x="3658644" y="6400636"/>
            <a:ext cx="6122505" cy="276999"/>
          </a:xfrm>
          <a:prstGeom prst="rect">
            <a:avLst/>
          </a:prstGeom>
          <a:noFill/>
        </p:spPr>
        <p:txBody>
          <a:bodyPr wrap="square" rtlCol="0">
            <a:spAutoFit/>
          </a:bodyPr>
          <a:lstStyle/>
          <a:p>
            <a:pPr>
              <a:defRPr/>
            </a:pPr>
            <a:r>
              <a:rPr lang="en-AU" sz="1200" dirty="0">
                <a:solidFill>
                  <a:prstClr val="black"/>
                </a:solidFill>
                <a:latin typeface="Avenir Next LT Pro" panose="02020404030301010803"/>
                <a:hlinkClick r:id="rId6"/>
              </a:rPr>
              <a:t>Link: https://www.youtube.com/watch?v=cLDkA2RIeCM</a:t>
            </a:r>
            <a:endParaRPr lang="en-AU" sz="1200" dirty="0">
              <a:solidFill>
                <a:prstClr val="black"/>
              </a:solidFill>
              <a:latin typeface="Avenir Next LT Pro" panose="02020404030301010803"/>
            </a:endParaRPr>
          </a:p>
        </p:txBody>
      </p:sp>
    </p:spTree>
    <p:extLst>
      <p:ext uri="{BB962C8B-B14F-4D97-AF65-F5344CB8AC3E}">
        <p14:creationId xmlns:p14="http://schemas.microsoft.com/office/powerpoint/2010/main" val="76851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6B9DF-DF8D-B1E0-69DB-7BE84C287E3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F11447A-61B0-1858-7C98-C03A79922338}"/>
              </a:ext>
            </a:extLst>
          </p:cNvPr>
          <p:cNvSpPr/>
          <p:nvPr/>
        </p:nvSpPr>
        <p:spPr>
          <a:xfrm rot="3075220">
            <a:off x="-148540" y="-1013342"/>
            <a:ext cx="1190975" cy="4089186"/>
          </a:xfrm>
          <a:custGeom>
            <a:avLst/>
            <a:gdLst/>
            <a:ahLst/>
            <a:cxnLst/>
            <a:rect l="l" t="t" r="r" b="b"/>
            <a:pathLst>
              <a:path w="1786463" h="6133779">
                <a:moveTo>
                  <a:pt x="0" y="0"/>
                </a:moveTo>
                <a:lnTo>
                  <a:pt x="1786463" y="0"/>
                </a:lnTo>
                <a:lnTo>
                  <a:pt x="1786463" y="6133778"/>
                </a:lnTo>
                <a:lnTo>
                  <a:pt x="0" y="6133778"/>
                </a:lnTo>
                <a:lnTo>
                  <a:pt x="0" y="0"/>
                </a:lnTo>
                <a:close/>
              </a:path>
            </a:pathLst>
          </a:custGeom>
          <a:blipFill>
            <a:blip r:embed="rId3"/>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5" name="Freeform 5">
            <a:extLst>
              <a:ext uri="{FF2B5EF4-FFF2-40B4-BE49-F238E27FC236}">
                <a16:creationId xmlns:a16="http://schemas.microsoft.com/office/drawing/2014/main" id="{625C04AA-16AB-134A-2A52-67E0A19B247B}"/>
              </a:ext>
            </a:extLst>
          </p:cNvPr>
          <p:cNvSpPr/>
          <p:nvPr/>
        </p:nvSpPr>
        <p:spPr>
          <a:xfrm rot="3075220">
            <a:off x="10448056" y="4015786"/>
            <a:ext cx="1190975" cy="4089186"/>
          </a:xfrm>
          <a:custGeom>
            <a:avLst/>
            <a:gdLst/>
            <a:ahLst/>
            <a:cxnLst/>
            <a:rect l="l" t="t" r="r" b="b"/>
            <a:pathLst>
              <a:path w="1786463" h="6133779">
                <a:moveTo>
                  <a:pt x="0" y="0"/>
                </a:moveTo>
                <a:lnTo>
                  <a:pt x="1786463" y="0"/>
                </a:lnTo>
                <a:lnTo>
                  <a:pt x="1786463" y="6133779"/>
                </a:lnTo>
                <a:lnTo>
                  <a:pt x="0" y="6133779"/>
                </a:lnTo>
                <a:lnTo>
                  <a:pt x="0" y="0"/>
                </a:lnTo>
                <a:close/>
              </a:path>
            </a:pathLst>
          </a:custGeom>
          <a:blipFill>
            <a:blip r:embed="rId3"/>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Title 1">
            <a:extLst>
              <a:ext uri="{FF2B5EF4-FFF2-40B4-BE49-F238E27FC236}">
                <a16:creationId xmlns:a16="http://schemas.microsoft.com/office/drawing/2014/main" id="{9A0B0EDE-D07B-DE68-BB5E-2DF3D9DAE79D}"/>
              </a:ext>
            </a:extLst>
          </p:cNvPr>
          <p:cNvSpPr txBox="1">
            <a:spLocks/>
          </p:cNvSpPr>
          <p:nvPr/>
        </p:nvSpPr>
        <p:spPr>
          <a:xfrm>
            <a:off x="1186721" y="34545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lvl="0">
              <a:defRPr/>
            </a:pPr>
            <a:r>
              <a:rPr lang="en-AU" b="1" dirty="0"/>
              <a:t>Marumali Journey of Healing Program</a:t>
            </a:r>
            <a:endParaRPr kumimoji="0" lang="en-AU" sz="4000" b="0"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endParaRPr>
          </a:p>
        </p:txBody>
      </p:sp>
      <p:sp>
        <p:nvSpPr>
          <p:cNvPr id="6" name="TextBox 5">
            <a:extLst>
              <a:ext uri="{FF2B5EF4-FFF2-40B4-BE49-F238E27FC236}">
                <a16:creationId xmlns:a16="http://schemas.microsoft.com/office/drawing/2014/main" id="{2F29D7AC-B5ED-F9E9-DD8A-2FBA6BB80567}"/>
              </a:ext>
            </a:extLst>
          </p:cNvPr>
          <p:cNvSpPr txBox="1"/>
          <p:nvPr/>
        </p:nvSpPr>
        <p:spPr>
          <a:xfrm>
            <a:off x="586395" y="1580960"/>
            <a:ext cx="4534983" cy="3953775"/>
          </a:xfrm>
          <a:prstGeom prst="rect">
            <a:avLst/>
          </a:prstGeom>
          <a:noFill/>
        </p:spPr>
        <p:txBody>
          <a:bodyPr wrap="square" rtlCol="0">
            <a:spAutoFit/>
          </a:bodyPr>
          <a:lstStyle/>
          <a:p>
            <a:pPr>
              <a:lnSpc>
                <a:spcPct val="107000"/>
              </a:lnSpc>
              <a:spcAft>
                <a:spcPts val="800"/>
              </a:spcAft>
              <a:buNone/>
            </a:pPr>
            <a:r>
              <a:rPr lang="en-AU" sz="1800" b="1" dirty="0">
                <a:effectLst/>
                <a:latin typeface="Aptos" panose="020B0004020202020204" pitchFamily="34" charset="0"/>
                <a:ea typeface="Aptos" panose="020B0004020202020204" pitchFamily="34" charset="0"/>
                <a:cs typeface="Times New Roman" panose="02020603050405020304" pitchFamily="18" charset="0"/>
              </a:rPr>
              <a:t>What Happened:</a:t>
            </a:r>
            <a:endParaRPr lang="en-AU" sz="18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spcBef>
                <a:spcPts val="600"/>
              </a:spcBef>
              <a:spcAft>
                <a:spcPts val="600"/>
              </a:spcAft>
              <a:buFont typeface="Arial" panose="020B0604020202020204" pitchFamily="34" charset="0"/>
              <a:buChar char="•"/>
            </a:pPr>
            <a:r>
              <a:rPr lang="en-AU" dirty="0">
                <a:latin typeface="Aptos" panose="020B0004020202020204" pitchFamily="34" charset="0"/>
              </a:rPr>
              <a:t>Aunty Lorraine Peeters created a healing program for Stolen Generations survivors.</a:t>
            </a:r>
          </a:p>
          <a:p>
            <a:pPr marL="285750" lvl="0" indent="-285750">
              <a:spcBef>
                <a:spcPts val="600"/>
              </a:spcBef>
              <a:spcAft>
                <a:spcPts val="600"/>
              </a:spcAft>
              <a:buFont typeface="Arial" panose="020B0604020202020204" pitchFamily="34" charset="0"/>
              <a:buChar char="•"/>
            </a:pPr>
            <a:r>
              <a:rPr lang="en-AU" dirty="0">
                <a:latin typeface="Aptos" panose="020B0004020202020204" pitchFamily="34" charset="0"/>
              </a:rPr>
              <a:t>Activities include truth‑telling, identity work, kinship reconnection, and cultural mentoring.</a:t>
            </a:r>
          </a:p>
          <a:p>
            <a:pPr marL="285750" lvl="0" indent="-285750">
              <a:spcBef>
                <a:spcPts val="600"/>
              </a:spcBef>
              <a:spcAft>
                <a:spcPts val="600"/>
              </a:spcAft>
              <a:buFont typeface="Arial" panose="020B0604020202020204" pitchFamily="34" charset="0"/>
              <a:buChar char="•"/>
            </a:pPr>
            <a:r>
              <a:rPr lang="en-AU" dirty="0">
                <a:latin typeface="Aptos" panose="020B0004020202020204" pitchFamily="34" charset="0"/>
              </a:rPr>
              <a:t>Healing is led by Elders and survivors.</a:t>
            </a:r>
          </a:p>
          <a:p>
            <a:pPr marL="285750" lvl="0" indent="-285750">
              <a:spcBef>
                <a:spcPts val="600"/>
              </a:spcBef>
              <a:spcAft>
                <a:spcPts val="600"/>
              </a:spcAft>
              <a:buFont typeface="Arial" panose="020B0604020202020204" pitchFamily="34" charset="0"/>
              <a:buChar char="•"/>
            </a:pPr>
            <a:r>
              <a:rPr lang="en-AU" dirty="0">
                <a:latin typeface="Aptos" panose="020B0004020202020204" pitchFamily="34" charset="0"/>
              </a:rPr>
              <a:t>Culture is treated as medicine.</a:t>
            </a:r>
          </a:p>
          <a:p>
            <a:pPr marL="285750" lvl="0" indent="-285750">
              <a:spcBef>
                <a:spcPts val="600"/>
              </a:spcBef>
              <a:spcAft>
                <a:spcPts val="600"/>
              </a:spcAft>
              <a:buFont typeface="Arial" panose="020B0604020202020204" pitchFamily="34" charset="0"/>
              <a:buChar char="•"/>
            </a:pPr>
            <a:r>
              <a:rPr lang="en-AU" dirty="0">
                <a:latin typeface="Aptos" panose="020B0004020202020204" pitchFamily="34" charset="0"/>
              </a:rPr>
              <a:t>Safe spaces are created through cultural protocols.</a:t>
            </a:r>
          </a:p>
        </p:txBody>
      </p:sp>
      <p:sp>
        <p:nvSpPr>
          <p:cNvPr id="7" name="TextBox 6">
            <a:extLst>
              <a:ext uri="{FF2B5EF4-FFF2-40B4-BE49-F238E27FC236}">
                <a16:creationId xmlns:a16="http://schemas.microsoft.com/office/drawing/2014/main" id="{268A4DF4-9231-DA33-4CBD-37A0CB643452}"/>
              </a:ext>
            </a:extLst>
          </p:cNvPr>
          <p:cNvSpPr txBox="1"/>
          <p:nvPr/>
        </p:nvSpPr>
        <p:spPr>
          <a:xfrm>
            <a:off x="5950883" y="1580960"/>
            <a:ext cx="5654722" cy="4770537"/>
          </a:xfrm>
          <a:prstGeom prst="rect">
            <a:avLst/>
          </a:prstGeom>
          <a:noFill/>
        </p:spPr>
        <p:txBody>
          <a:bodyPr wrap="square" rtlCol="0">
            <a:spAutoFit/>
          </a:bodyPr>
          <a:lstStyle/>
          <a:p>
            <a:r>
              <a:rPr lang="en-AU" b="1" dirty="0">
                <a:latin typeface="Aptos" panose="020B0004020202020204" pitchFamily="34" charset="0"/>
              </a:rPr>
              <a:t>Why It Matters:</a:t>
            </a:r>
          </a:p>
          <a:p>
            <a:pPr marL="285750" lvl="0" indent="-285750">
              <a:spcBef>
                <a:spcPts val="600"/>
              </a:spcBef>
              <a:spcAft>
                <a:spcPts val="600"/>
              </a:spcAft>
              <a:buFont typeface="Arial" panose="020B0604020202020204" pitchFamily="34" charset="0"/>
              <a:buChar char="•"/>
            </a:pPr>
            <a:r>
              <a:rPr lang="en-AU" b="1" dirty="0">
                <a:latin typeface="Aptos" panose="020B0004020202020204" pitchFamily="34" charset="0"/>
              </a:rPr>
              <a:t>Client‑determined care:</a:t>
            </a:r>
            <a:r>
              <a:rPr lang="en-AU" dirty="0">
                <a:latin typeface="Aptos" panose="020B0004020202020204" pitchFamily="34" charset="0"/>
              </a:rPr>
              <a:t> Safety defined by the client.</a:t>
            </a:r>
          </a:p>
          <a:p>
            <a:pPr marL="285750" lvl="0" indent="-285750">
              <a:spcBef>
                <a:spcPts val="600"/>
              </a:spcBef>
              <a:spcAft>
                <a:spcPts val="600"/>
              </a:spcAft>
              <a:buFont typeface="Arial" panose="020B0604020202020204" pitchFamily="34" charset="0"/>
              <a:buChar char="•"/>
            </a:pPr>
            <a:r>
              <a:rPr lang="en-AU" b="1" dirty="0">
                <a:latin typeface="Aptos" panose="020B0004020202020204" pitchFamily="34" charset="0"/>
              </a:rPr>
              <a:t>Critical self‑reflection:</a:t>
            </a:r>
            <a:r>
              <a:rPr lang="en-AU" dirty="0">
                <a:latin typeface="Aptos" panose="020B0004020202020204" pitchFamily="34" charset="0"/>
              </a:rPr>
              <a:t> Staff examine bias and privilege.</a:t>
            </a:r>
          </a:p>
          <a:p>
            <a:pPr marL="285750" lvl="0" indent="-285750">
              <a:spcBef>
                <a:spcPts val="600"/>
              </a:spcBef>
              <a:spcAft>
                <a:spcPts val="600"/>
              </a:spcAft>
              <a:buFont typeface="Arial" panose="020B0604020202020204" pitchFamily="34" charset="0"/>
              <a:buChar char="•"/>
            </a:pPr>
            <a:r>
              <a:rPr lang="en-AU" b="1" dirty="0">
                <a:latin typeface="Aptos" panose="020B0004020202020204" pitchFamily="34" charset="0"/>
              </a:rPr>
              <a:t>Anti‑racism:</a:t>
            </a:r>
            <a:r>
              <a:rPr lang="en-AU" dirty="0">
                <a:latin typeface="Aptos" panose="020B0004020202020204" pitchFamily="34" charset="0"/>
              </a:rPr>
              <a:t> Confronting institutional racism.</a:t>
            </a:r>
          </a:p>
          <a:p>
            <a:pPr marL="285750" lvl="0" indent="-285750">
              <a:spcBef>
                <a:spcPts val="600"/>
              </a:spcBef>
              <a:spcAft>
                <a:spcPts val="600"/>
              </a:spcAft>
              <a:buFont typeface="Arial" panose="020B0604020202020204" pitchFamily="34" charset="0"/>
              <a:buChar char="•"/>
            </a:pPr>
            <a:r>
              <a:rPr lang="en-AU" b="1" dirty="0">
                <a:latin typeface="Aptos" panose="020B0004020202020204" pitchFamily="34" charset="0"/>
              </a:rPr>
              <a:t>Indigenous leadership:</a:t>
            </a:r>
            <a:r>
              <a:rPr lang="en-AU" dirty="0">
                <a:latin typeface="Aptos" panose="020B0004020202020204" pitchFamily="34" charset="0"/>
              </a:rPr>
              <a:t> Elders guide care.</a:t>
            </a:r>
          </a:p>
          <a:p>
            <a:pPr marL="285750" lvl="0" indent="-285750">
              <a:spcBef>
                <a:spcPts val="600"/>
              </a:spcBef>
              <a:spcAft>
                <a:spcPts val="600"/>
              </a:spcAft>
              <a:buFont typeface="Arial" panose="020B0604020202020204" pitchFamily="34" charset="0"/>
              <a:buChar char="•"/>
            </a:pPr>
            <a:r>
              <a:rPr lang="en-AU" b="1" dirty="0">
                <a:latin typeface="Aptos" panose="020B0004020202020204" pitchFamily="34" charset="0"/>
              </a:rPr>
              <a:t>Truth‑telling:</a:t>
            </a:r>
            <a:r>
              <a:rPr lang="en-AU" dirty="0">
                <a:latin typeface="Aptos" panose="020B0004020202020204" pitchFamily="34" charset="0"/>
              </a:rPr>
              <a:t> Central to healing and cultural safety.</a:t>
            </a:r>
          </a:p>
          <a:p>
            <a:pPr marL="285750" lvl="0" indent="-285750">
              <a:spcBef>
                <a:spcPts val="600"/>
              </a:spcBef>
              <a:spcAft>
                <a:spcPts val="600"/>
              </a:spcAft>
              <a:buFont typeface="Arial" panose="020B0604020202020204" pitchFamily="34" charset="0"/>
              <a:buChar char="•"/>
            </a:pPr>
            <a:r>
              <a:rPr lang="en-AU" b="1" dirty="0">
                <a:latin typeface="Aptos" panose="020B0004020202020204" pitchFamily="34" charset="0"/>
              </a:rPr>
              <a:t>Strengths‑based practice:</a:t>
            </a:r>
            <a:r>
              <a:rPr lang="en-AU" dirty="0">
                <a:latin typeface="Aptos" panose="020B0004020202020204" pitchFamily="34" charset="0"/>
              </a:rPr>
              <a:t> Focus on resilience and cultural pride.</a:t>
            </a:r>
          </a:p>
          <a:p>
            <a:pPr marL="285750" lvl="0" indent="-285750">
              <a:spcBef>
                <a:spcPts val="600"/>
              </a:spcBef>
              <a:spcAft>
                <a:spcPts val="600"/>
              </a:spcAft>
              <a:buFont typeface="Arial" panose="020B0604020202020204" pitchFamily="34" charset="0"/>
              <a:buChar char="•"/>
            </a:pPr>
            <a:r>
              <a:rPr lang="en-AU" b="1" dirty="0">
                <a:latin typeface="Aptos" panose="020B0004020202020204" pitchFamily="34" charset="0"/>
              </a:rPr>
              <a:t>Cultural safety:</a:t>
            </a:r>
            <a:r>
              <a:rPr lang="en-AU" dirty="0">
                <a:latin typeface="Aptos" panose="020B0004020202020204" pitchFamily="34" charset="0"/>
              </a:rPr>
              <a:t> Holistic, empowering, community‑controlled care.</a:t>
            </a:r>
          </a:p>
          <a:p>
            <a:endParaRPr lang="en-AU" dirty="0"/>
          </a:p>
        </p:txBody>
      </p:sp>
      <p:sp>
        <p:nvSpPr>
          <p:cNvPr id="10" name="TextBox 9">
            <a:extLst>
              <a:ext uri="{FF2B5EF4-FFF2-40B4-BE49-F238E27FC236}">
                <a16:creationId xmlns:a16="http://schemas.microsoft.com/office/drawing/2014/main" id="{6BB48695-0806-1AED-3E66-F84149325872}"/>
              </a:ext>
            </a:extLst>
          </p:cNvPr>
          <p:cNvSpPr txBox="1"/>
          <p:nvPr/>
        </p:nvSpPr>
        <p:spPr>
          <a:xfrm>
            <a:off x="723071" y="6400912"/>
            <a:ext cx="7270474" cy="369332"/>
          </a:xfrm>
          <a:prstGeom prst="rect">
            <a:avLst/>
          </a:prstGeom>
          <a:noFill/>
        </p:spPr>
        <p:txBody>
          <a:bodyPr wrap="square">
            <a:spAutoFit/>
          </a:bodyPr>
          <a:lstStyle/>
          <a:p>
            <a:r>
              <a:rPr lang="en-AU" dirty="0"/>
              <a:t>https://marumali.com.au/our-programs/</a:t>
            </a:r>
          </a:p>
        </p:txBody>
      </p:sp>
    </p:spTree>
    <p:extLst>
      <p:ext uri="{BB962C8B-B14F-4D97-AF65-F5344CB8AC3E}">
        <p14:creationId xmlns:p14="http://schemas.microsoft.com/office/powerpoint/2010/main" val="980440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CE0C4-09F1-4D70-B655-990320E8A81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A70B408-A2CD-FE6C-A209-434F51D3C819}"/>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4549ECBF-529A-347F-7915-5DE076884B10}"/>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Title 1">
            <a:extLst>
              <a:ext uri="{FF2B5EF4-FFF2-40B4-BE49-F238E27FC236}">
                <a16:creationId xmlns:a16="http://schemas.microsoft.com/office/drawing/2014/main" id="{8939A2E8-47CF-5455-D24E-979DBF8593B6}"/>
              </a:ext>
            </a:extLst>
          </p:cNvPr>
          <p:cNvSpPr txBox="1">
            <a:spLocks/>
          </p:cNvSpPr>
          <p:nvPr/>
        </p:nvSpPr>
        <p:spPr>
          <a:xfrm>
            <a:off x="1097280" y="286603"/>
            <a:ext cx="10058400" cy="14507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4000" b="1" i="0" u="none" strike="noStrike" kern="1200" cap="none" spc="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t>Warning</a:t>
            </a:r>
            <a:endParaRPr kumimoji="0" lang="en-AU" sz="4000" b="1"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endParaRPr>
          </a:p>
        </p:txBody>
      </p:sp>
      <p:sp>
        <p:nvSpPr>
          <p:cNvPr id="5" name="Content Placeholder 4">
            <a:extLst>
              <a:ext uri="{FF2B5EF4-FFF2-40B4-BE49-F238E27FC236}">
                <a16:creationId xmlns:a16="http://schemas.microsoft.com/office/drawing/2014/main" id="{555FADD7-3BFB-0C56-F4AA-EAE466E15A06}"/>
              </a:ext>
            </a:extLst>
          </p:cNvPr>
          <p:cNvSpPr txBox="1">
            <a:spLocks/>
          </p:cNvSpPr>
          <p:nvPr/>
        </p:nvSpPr>
        <p:spPr>
          <a:xfrm>
            <a:off x="1066800" y="2103120"/>
            <a:ext cx="10058400" cy="3849624"/>
          </a:xfrm>
          <a:prstGeom prst="rect">
            <a:avLst/>
          </a:prstGeom>
        </p:spPr>
        <p:txBody>
          <a:bodyPr vert="horz" lIns="91440" tIns="45720" rIns="91440" bIns="45720" rtlCol="0" anchor="t">
            <a:normAutofit/>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r>
              <a:rPr kumimoji="0" lang="en-AU" sz="4000" b="0" i="0" u="none" strike="noStrike" kern="1200" cap="none" spc="0" normalizeH="0" baseline="0" noProof="0" dirty="0">
                <a:ln>
                  <a:noFill/>
                </a:ln>
                <a:solidFill>
                  <a:sysClr val="windowText" lastClr="000000"/>
                </a:solidFill>
                <a:effectLst/>
                <a:uLnTx/>
                <a:uFillTx/>
                <a:latin typeface="Aptos" panose="020B0004020202020204" pitchFamily="34" charset="0"/>
                <a:ea typeface="Aptos" panose="020B0004020202020204" pitchFamily="34" charset="0"/>
                <a:cs typeface="Times New Roman" panose="02020603050405020304" pitchFamily="18" charset="0"/>
              </a:rPr>
              <a:t>This presentation includes images, voices, stories, and names of deceased people now resting in the Dreaming that may cause sadness or distress to Aboriginal and Torres Strait Islander students.</a:t>
            </a:r>
          </a:p>
          <a:p>
            <a:pPr marL="0" marR="0" lvl="0" indent="0" algn="l" defTabSz="914400" rtl="0" eaLnBrk="1" fontAlgn="auto" latinLnBrk="0" hangingPunct="1">
              <a:lnSpc>
                <a:spcPct val="110000"/>
              </a:lnSpc>
              <a:spcBef>
                <a:spcPts val="900"/>
              </a:spcBef>
              <a:spcAft>
                <a:spcPts val="0"/>
              </a:spcAft>
              <a:buClr>
                <a:sysClr val="windowText" lastClr="000000">
                  <a:lumMod val="85000"/>
                  <a:lumOff val="15000"/>
                </a:sysClr>
              </a:buClr>
              <a:buSzTx/>
              <a:buFont typeface="Garamond" pitchFamily="18" charset="0"/>
              <a:buNone/>
              <a:tabLst/>
              <a:defRPr/>
            </a:pPr>
            <a:endParaRPr kumimoji="0" lang="en-AU" sz="1500" b="0" i="0" u="none" strike="noStrike" kern="1200" cap="none" spc="0" normalizeH="0" baseline="0" noProof="0" dirty="0">
              <a:ln>
                <a:noFill/>
              </a:ln>
              <a:solidFill>
                <a:sysClr val="windowText" lastClr="000000"/>
              </a:solidFill>
              <a:effectLst/>
              <a:uLnTx/>
              <a:uFillTx/>
              <a:latin typeface="Avenir Next LT Pro" panose="02020404030301010803"/>
              <a:ea typeface="+mn-ea"/>
              <a:cs typeface="+mn-cs"/>
            </a:endParaRPr>
          </a:p>
        </p:txBody>
      </p:sp>
    </p:spTree>
    <p:extLst>
      <p:ext uri="{BB962C8B-B14F-4D97-AF65-F5344CB8AC3E}">
        <p14:creationId xmlns:p14="http://schemas.microsoft.com/office/powerpoint/2010/main" val="679168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C2044E-F375-4AAE-A0D9-4F9E75CB83C1}"/>
              </a:ext>
            </a:extLst>
          </p:cNvPr>
          <p:cNvSpPr/>
          <p:nvPr/>
        </p:nvSpPr>
        <p:spPr>
          <a:xfrm>
            <a:off x="8705850" y="4752974"/>
            <a:ext cx="3078110"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TextBox 2">
            <a:extLst>
              <a:ext uri="{FF2B5EF4-FFF2-40B4-BE49-F238E27FC236}">
                <a16:creationId xmlns:a16="http://schemas.microsoft.com/office/drawing/2014/main" id="{46664C6A-9986-472C-9934-B3BDF19D84A7}"/>
              </a:ext>
            </a:extLst>
          </p:cNvPr>
          <p:cNvSpPr txBox="1"/>
          <p:nvPr/>
        </p:nvSpPr>
        <p:spPr>
          <a:xfrm>
            <a:off x="2507226" y="737420"/>
            <a:ext cx="802312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SBS Report on Naomi Williams(Oct,2018)</a:t>
            </a:r>
          </a:p>
        </p:txBody>
      </p:sp>
      <p:pic>
        <p:nvPicPr>
          <p:cNvPr id="4" name="Picture 3">
            <a:hlinkClick r:id="rId3"/>
            <a:extLst>
              <a:ext uri="{FF2B5EF4-FFF2-40B4-BE49-F238E27FC236}">
                <a16:creationId xmlns:a16="http://schemas.microsoft.com/office/drawing/2014/main" id="{15A98142-8D74-4F88-AC4E-B568575340A0}"/>
              </a:ext>
            </a:extLst>
          </p:cNvPr>
          <p:cNvPicPr>
            <a:picLocks noChangeAspect="1"/>
          </p:cNvPicPr>
          <p:nvPr/>
        </p:nvPicPr>
        <p:blipFill>
          <a:blip r:embed="rId4"/>
          <a:stretch>
            <a:fillRect/>
          </a:stretch>
        </p:blipFill>
        <p:spPr>
          <a:xfrm>
            <a:off x="6534150" y="1460090"/>
            <a:ext cx="5495925" cy="4102510"/>
          </a:xfrm>
          <a:prstGeom prst="rect">
            <a:avLst/>
          </a:prstGeom>
        </p:spPr>
      </p:pic>
      <p:sp>
        <p:nvSpPr>
          <p:cNvPr id="5" name="TextBox 4">
            <a:extLst>
              <a:ext uri="{FF2B5EF4-FFF2-40B4-BE49-F238E27FC236}">
                <a16:creationId xmlns:a16="http://schemas.microsoft.com/office/drawing/2014/main" id="{66BFFF6A-8592-4601-9EB1-BCD4641B5503}"/>
              </a:ext>
            </a:extLst>
          </p:cNvPr>
          <p:cNvSpPr txBox="1"/>
          <p:nvPr/>
        </p:nvSpPr>
        <p:spPr>
          <a:xfrm>
            <a:off x="597159" y="1582341"/>
            <a:ext cx="6092890" cy="480131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Naomi Williams was a 27-year-old Wiradjuri (First Nations) woman, six months pregnant, who died in 2016 from sepsis.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She had visited the local rural hospital many times (reportedly 18 times in 8 months) for symptoms like severe pain, vomiting, and nausea.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Despite her repeated visits, she was given minimal treatment (in one instance, just two Panadol) and sent home without a proper assessment.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Experts at the inquest argued that there was </a:t>
            </a:r>
            <a:r>
              <a:rPr kumimoji="0" lang="en-AU" sz="1800" b="0" i="1" u="none" strike="noStrike" kern="1200" cap="none" spc="0" normalizeH="0" baseline="0" noProof="0" dirty="0">
                <a:ln>
                  <a:noFill/>
                </a:ln>
                <a:solidFill>
                  <a:prstClr val="black"/>
                </a:solidFill>
                <a:effectLst/>
                <a:uLnTx/>
                <a:uFillTx/>
                <a:latin typeface="Calibri"/>
                <a:ea typeface="+mn-ea"/>
                <a:cs typeface="+mn-cs"/>
              </a:rPr>
              <a:t>implicit racial bias</a:t>
            </a:r>
            <a:r>
              <a:rPr kumimoji="0" lang="en-AU" sz="1800" b="0" i="0" u="none" strike="noStrike" kern="1200" cap="none" spc="0" normalizeH="0" baseline="0" noProof="0" dirty="0">
                <a:ln>
                  <a:noFill/>
                </a:ln>
                <a:solidFill>
                  <a:prstClr val="black"/>
                </a:solidFill>
                <a:effectLst/>
                <a:uLnTx/>
                <a:uFillTx/>
                <a:latin typeface="Calibri"/>
                <a:ea typeface="+mn-ea"/>
                <a:cs typeface="+mn-cs"/>
              </a:rPr>
              <a:t> — hospital staff made stereotypical assumptions about her, including that she was a “drug seeker” because she had said she used marijuana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This stereotyping is linked to broader systemic racism in healthcare: for example, evidence was brought forward that Indigenous patients often receive fewer procedures than non-Indigenous patients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40501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275CE6E2-D4B3-46F6-F620-BC639A3081C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6C2BEAF-F426-F8DC-BF9E-EF254A1DD42E}"/>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9F21466-7398-CA69-A993-A5BE597C0788}"/>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4"/>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itle 1">
            <a:extLst>
              <a:ext uri="{FF2B5EF4-FFF2-40B4-BE49-F238E27FC236}">
                <a16:creationId xmlns:a16="http://schemas.microsoft.com/office/drawing/2014/main" id="{03BE2D57-BD28-74C9-389A-18FEA8BABC4E}"/>
              </a:ext>
            </a:extLst>
          </p:cNvPr>
          <p:cNvSpPr txBox="1">
            <a:spLocks/>
          </p:cNvSpPr>
          <p:nvPr/>
        </p:nvSpPr>
        <p:spPr>
          <a:xfrm>
            <a:off x="946938" y="1087782"/>
            <a:ext cx="10058400" cy="1371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AU" dirty="0"/>
              <a:t>SBS Report on Naomi Williams (Oct, 2018) </a:t>
            </a:r>
          </a:p>
        </p:txBody>
      </p:sp>
      <p:pic>
        <p:nvPicPr>
          <p:cNvPr id="8" name="Online Media 3" title="The Feed SBS Naomi Williams 9Oct18">
            <a:hlinkClick r:id="" action="ppaction://media"/>
            <a:extLst>
              <a:ext uri="{FF2B5EF4-FFF2-40B4-BE49-F238E27FC236}">
                <a16:creationId xmlns:a16="http://schemas.microsoft.com/office/drawing/2014/main" id="{CF9FA56B-AE7A-D5D6-A11F-C03FF744BDC2}"/>
              </a:ext>
            </a:extLst>
          </p:cNvPr>
          <p:cNvPicPr>
            <a:picLocks noRot="1" noChangeAspect="1"/>
          </p:cNvPicPr>
          <p:nvPr>
            <a:videoFile r:link="rId1"/>
          </p:nvPr>
        </p:nvPicPr>
        <p:blipFill>
          <a:blip r:embed="rId5"/>
          <a:stretch>
            <a:fillRect/>
          </a:stretch>
        </p:blipFill>
        <p:spPr>
          <a:xfrm>
            <a:off x="2689225" y="2103438"/>
            <a:ext cx="6813550" cy="3849687"/>
          </a:xfrm>
          <a:prstGeom prst="rect">
            <a:avLst/>
          </a:prstGeom>
        </p:spPr>
      </p:pic>
    </p:spTree>
    <p:extLst>
      <p:ext uri="{BB962C8B-B14F-4D97-AF65-F5344CB8AC3E}">
        <p14:creationId xmlns:p14="http://schemas.microsoft.com/office/powerpoint/2010/main" val="273604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vol="80000">
                <p:cTn id="12" fill="hold" display="0">
                  <p:stCondLst>
                    <p:cond delay="indefinite"/>
                  </p:stCondLst>
                </p:cTn>
                <p:tgtEl>
                  <p:spTgt spid="8"/>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5BEC9-7D40-E785-4444-88B65CBF47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1BB713-54F8-2B99-52A4-DA263FA881E2}"/>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D73769B8-37A9-7FB2-E742-2D28D583F4DA}"/>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5" name="Title 1">
            <a:extLst>
              <a:ext uri="{FF2B5EF4-FFF2-40B4-BE49-F238E27FC236}">
                <a16:creationId xmlns:a16="http://schemas.microsoft.com/office/drawing/2014/main" id="{EBF8016E-7269-72FD-BBB9-AD5F687CB117}"/>
              </a:ext>
            </a:extLst>
          </p:cNvPr>
          <p:cNvSpPr txBox="1">
            <a:spLocks/>
          </p:cNvSpPr>
          <p:nvPr/>
        </p:nvSpPr>
        <p:spPr>
          <a:xfrm>
            <a:off x="1092529" y="340318"/>
            <a:ext cx="11310895" cy="12867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dirty="0">
                <a:ln>
                  <a:noFill/>
                </a:ln>
                <a:solidFill>
                  <a:srgbClr val="543E34">
                    <a:lumMod val="75000"/>
                  </a:srgbClr>
                </a:solidFill>
                <a:effectLst/>
                <a:uLnTx/>
                <a:uFillTx/>
                <a:latin typeface="Sagona Book"/>
                <a:ea typeface="+mj-ea"/>
                <a:cs typeface="+mj-cs"/>
              </a:rPr>
              <a:t>Activity: </a:t>
            </a:r>
            <a:r>
              <a:rPr kumimoji="0" lang="en-AU" sz="3600" b="1" i="0" u="none" strike="noStrike" kern="1200" cap="none" spc="0" normalizeH="0" baseline="0" noProof="0" dirty="0">
                <a:ln>
                  <a:noFill/>
                </a:ln>
                <a:solidFill>
                  <a:srgbClr val="543E34">
                    <a:lumMod val="75000"/>
                  </a:srgbClr>
                </a:solidFill>
                <a:effectLst/>
                <a:uLnTx/>
                <a:uFillTx/>
                <a:latin typeface="Sagona Book"/>
                <a:ea typeface="+mj-ea"/>
                <a:cs typeface="+mj-cs"/>
              </a:rPr>
              <a:t>Case Scenario</a:t>
            </a:r>
            <a:endParaRPr kumimoji="0" lang="en-US" sz="3600" b="0" i="0" u="none" strike="noStrike" kern="1200" cap="none" spc="0" normalizeH="0" baseline="0" noProof="0" dirty="0">
              <a:ln>
                <a:noFill/>
              </a:ln>
              <a:solidFill>
                <a:sysClr val="windowText" lastClr="000000"/>
              </a:solidFill>
              <a:effectLst/>
              <a:uLnTx/>
              <a:uFillTx/>
              <a:latin typeface="Sagona Book"/>
              <a:ea typeface="+mj-ea"/>
              <a:cs typeface="+mj-cs"/>
            </a:endParaRPr>
          </a:p>
        </p:txBody>
      </p:sp>
      <p:sp>
        <p:nvSpPr>
          <p:cNvPr id="6" name="TextBox 5">
            <a:extLst>
              <a:ext uri="{FF2B5EF4-FFF2-40B4-BE49-F238E27FC236}">
                <a16:creationId xmlns:a16="http://schemas.microsoft.com/office/drawing/2014/main" id="{982EC6BD-1F87-AB32-A143-0503E599DB9E}"/>
              </a:ext>
            </a:extLst>
          </p:cNvPr>
          <p:cNvSpPr txBox="1"/>
          <p:nvPr/>
        </p:nvSpPr>
        <p:spPr>
          <a:xfrm>
            <a:off x="1" y="2064322"/>
            <a:ext cx="6720114" cy="4150639"/>
          </a:xfrm>
          <a:prstGeom prst="rect">
            <a:avLst/>
          </a:prstGeom>
          <a:solidFill>
            <a:schemeClr val="accent3">
              <a:lumMod val="20000"/>
              <a:lumOff val="80000"/>
            </a:schemeClr>
          </a:solidFill>
        </p:spPr>
        <p:txBody>
          <a:bodyPr vert="horz" lIns="91440" tIns="45720" rIns="91440" bIns="45720" rtlCol="0" anchor="t">
            <a:normAutofit lnSpcReduction="10000"/>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543E34"/>
                </a:solidFill>
                <a:effectLst/>
                <a:uLnTx/>
                <a:uFillTx/>
                <a:latin typeface="Gill Sans Nova Light"/>
                <a:ea typeface="+mn-ea"/>
                <a:cs typeface="+mn-cs"/>
              </a:rPr>
              <a:t>David, an Aboriginal man, presents to the emergency department with chest pain. He is accompanied by a family member. The nurse begins asking clinical questions without introducing themselves or acknowledging the family. The nurse assumes David speaks English fluently and does not ask about language preferences or cultural needs. When David hesitates to answer, the nurse becomes impatient and says, “We need to hurry; this is serious.” The family member tries to speak, but the nurse dismisses them, saying, “We only need the patient’s answers.”</a:t>
            </a:r>
          </a:p>
        </p:txBody>
      </p:sp>
      <p:sp>
        <p:nvSpPr>
          <p:cNvPr id="8" name="TextBox 7">
            <a:extLst>
              <a:ext uri="{FF2B5EF4-FFF2-40B4-BE49-F238E27FC236}">
                <a16:creationId xmlns:a16="http://schemas.microsoft.com/office/drawing/2014/main" id="{8A86C1DA-8674-4D54-B6EE-CE8D27C35B8C}"/>
              </a:ext>
            </a:extLst>
          </p:cNvPr>
          <p:cNvSpPr txBox="1"/>
          <p:nvPr/>
        </p:nvSpPr>
        <p:spPr>
          <a:xfrm>
            <a:off x="6894287" y="2699657"/>
            <a:ext cx="5297712" cy="3170099"/>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543E34"/>
                </a:solidFill>
                <a:effectLst/>
                <a:uLnTx/>
                <a:uFillTx/>
                <a:latin typeface="Gill Sans Nova Light"/>
                <a:ea typeface="+mn-ea"/>
                <a:cs typeface="+mn-cs"/>
              </a:rPr>
              <a:t>1.	What examples of culturally unsafe care can you identify in this scenario?</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543E34"/>
                </a:solidFill>
                <a:effectLst/>
                <a:uLnTx/>
                <a:uFillTx/>
                <a:latin typeface="Gill Sans Nova Light"/>
                <a:ea typeface="+mn-ea"/>
                <a:cs typeface="+mn-cs"/>
              </a:rPr>
              <a:t>2.	How could the nurse have provided culturally safe care?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543E34"/>
                </a:solidFill>
                <a:effectLst/>
                <a:uLnTx/>
                <a:uFillTx/>
                <a:latin typeface="Gill Sans Nova Light"/>
                <a:ea typeface="+mn-ea"/>
                <a:cs typeface="+mn-cs"/>
              </a:rPr>
              <a:t>3.	What strategies would you use to minimise power imbalances and respect cultural protocols?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543E34"/>
                </a:solidFill>
                <a:effectLst/>
                <a:uLnTx/>
                <a:uFillTx/>
                <a:latin typeface="Gill Sans Nova Light"/>
                <a:ea typeface="+mn-ea"/>
                <a:cs typeface="+mn-cs"/>
              </a:rPr>
              <a:t>4.	Reflect on your own practice: How would you ensure cultural safety in similar situations?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20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9" name="TextBox 8">
            <a:extLst>
              <a:ext uri="{FF2B5EF4-FFF2-40B4-BE49-F238E27FC236}">
                <a16:creationId xmlns:a16="http://schemas.microsoft.com/office/drawing/2014/main" id="{9ECAF59A-12E7-4A65-852E-C7630D3B8EA9}"/>
              </a:ext>
            </a:extLst>
          </p:cNvPr>
          <p:cNvSpPr txBox="1"/>
          <p:nvPr/>
        </p:nvSpPr>
        <p:spPr>
          <a:xfrm>
            <a:off x="7315200" y="2220686"/>
            <a:ext cx="383177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000" b="1" i="0" u="none" strike="noStrike" kern="1200" cap="none" spc="0" normalizeH="0" baseline="0" noProof="0" dirty="0">
                <a:ln>
                  <a:noFill/>
                </a:ln>
                <a:solidFill>
                  <a:srgbClr val="543E34"/>
                </a:solidFill>
                <a:effectLst/>
                <a:uLnTx/>
                <a:uFillTx/>
                <a:latin typeface="Gill Sans Nova Light"/>
                <a:ea typeface="+mn-ea"/>
                <a:cs typeface="+mn-cs"/>
              </a:rPr>
              <a:t>Discussion Questions :</a:t>
            </a:r>
          </a:p>
        </p:txBody>
      </p:sp>
    </p:spTree>
    <p:extLst>
      <p:ext uri="{BB962C8B-B14F-4D97-AF65-F5344CB8AC3E}">
        <p14:creationId xmlns:p14="http://schemas.microsoft.com/office/powerpoint/2010/main" val="3151582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ABC46F67-3771-D15C-A1D3-BAEC2A960D28}"/>
            </a:ext>
          </a:extLst>
        </p:cNvPr>
        <p:cNvGrpSpPr/>
        <p:nvPr/>
      </p:nvGrpSpPr>
      <p:grpSpPr>
        <a:xfrm>
          <a:off x="0" y="0"/>
          <a:ext cx="0" cy="0"/>
          <a:chOff x="0" y="0"/>
          <a:chExt cx="0" cy="0"/>
        </a:xfrm>
      </p:grpSpPr>
      <p:sp>
        <p:nvSpPr>
          <p:cNvPr id="2" name="Freeform 2">
            <a:hlinkClick r:id="rId3" tooltip="https://southerncross4.padlet.org/madisonrybka1/how-can-understanding-this-history-shape-your-role-as-a-teac-d47nna8k57xp6vdx"/>
            <a:extLst>
              <a:ext uri="{FF2B5EF4-FFF2-40B4-BE49-F238E27FC236}">
                <a16:creationId xmlns:a16="http://schemas.microsoft.com/office/drawing/2014/main" id="{85891EDE-4776-530B-BD2D-364D967A8391}"/>
              </a:ext>
            </a:extLst>
          </p:cNvPr>
          <p:cNvSpPr/>
          <p:nvPr/>
        </p:nvSpPr>
        <p:spPr>
          <a:xfrm>
            <a:off x="1579203" y="492513"/>
            <a:ext cx="9407720" cy="5872975"/>
          </a:xfrm>
          <a:custGeom>
            <a:avLst/>
            <a:gdLst/>
            <a:ahLst/>
            <a:cxnLst/>
            <a:rect l="l" t="t" r="r" b="b"/>
            <a:pathLst>
              <a:path w="14111580" h="8809462">
                <a:moveTo>
                  <a:pt x="0" y="0"/>
                </a:moveTo>
                <a:lnTo>
                  <a:pt x="14111580" y="0"/>
                </a:lnTo>
                <a:lnTo>
                  <a:pt x="14111580" y="8809462"/>
                </a:lnTo>
                <a:lnTo>
                  <a:pt x="0" y="88094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defTabSz="609630">
              <a:defRPr/>
            </a:pPr>
            <a:endParaRPr lang="en-AU" sz="1200">
              <a:solidFill>
                <a:prstClr val="black"/>
              </a:solidFill>
              <a:latin typeface="Calibri"/>
            </a:endParaRPr>
          </a:p>
        </p:txBody>
      </p:sp>
      <p:sp>
        <p:nvSpPr>
          <p:cNvPr id="3" name="Freeform 3">
            <a:extLst>
              <a:ext uri="{FF2B5EF4-FFF2-40B4-BE49-F238E27FC236}">
                <a16:creationId xmlns:a16="http://schemas.microsoft.com/office/drawing/2014/main" id="{76E99C73-D4C6-53DA-42D6-400500EBC275}"/>
              </a:ext>
            </a:extLst>
          </p:cNvPr>
          <p:cNvSpPr/>
          <p:nvPr/>
        </p:nvSpPr>
        <p:spPr>
          <a:xfrm flipH="1" flipV="1">
            <a:off x="8224861" y="-5842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defTabSz="609630">
              <a:defRPr/>
            </a:pPr>
            <a:endParaRPr lang="en-AU" sz="1200">
              <a:solidFill>
                <a:prstClr val="black"/>
              </a:solidFill>
              <a:latin typeface="Calibri"/>
            </a:endParaRPr>
          </a:p>
        </p:txBody>
      </p:sp>
      <p:sp>
        <p:nvSpPr>
          <p:cNvPr id="5" name="Freeform 5">
            <a:extLst>
              <a:ext uri="{FF2B5EF4-FFF2-40B4-BE49-F238E27FC236}">
                <a16:creationId xmlns:a16="http://schemas.microsoft.com/office/drawing/2014/main" id="{3F3059FE-D6AC-509C-85C1-453EEFDF4EF5}"/>
              </a:ext>
            </a:extLst>
          </p:cNvPr>
          <p:cNvSpPr/>
          <p:nvPr/>
        </p:nvSpPr>
        <p:spPr>
          <a:xfrm>
            <a:off x="-551157" y="4498626"/>
            <a:ext cx="4068739" cy="27432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defTabSz="609630">
              <a:defRPr/>
            </a:pPr>
            <a:endParaRPr lang="en-AU" sz="1200">
              <a:solidFill>
                <a:prstClr val="black"/>
              </a:solidFill>
              <a:latin typeface="Calibri"/>
            </a:endParaRPr>
          </a:p>
        </p:txBody>
      </p:sp>
      <p:sp>
        <p:nvSpPr>
          <p:cNvPr id="7" name="TextBox 6">
            <a:extLst>
              <a:ext uri="{FF2B5EF4-FFF2-40B4-BE49-F238E27FC236}">
                <a16:creationId xmlns:a16="http://schemas.microsoft.com/office/drawing/2014/main" id="{4AB4C78F-8901-0D7B-26ED-80427D37CA5F}"/>
              </a:ext>
            </a:extLst>
          </p:cNvPr>
          <p:cNvSpPr txBox="1"/>
          <p:nvPr/>
        </p:nvSpPr>
        <p:spPr>
          <a:xfrm>
            <a:off x="660400" y="279400"/>
            <a:ext cx="9952397" cy="1323439"/>
          </a:xfrm>
          <a:prstGeom prst="rect">
            <a:avLst/>
          </a:prstGeom>
          <a:noFill/>
        </p:spPr>
        <p:txBody>
          <a:bodyPr wrap="square" rtlCol="0">
            <a:spAutoFit/>
          </a:bodyPr>
          <a:lstStyle/>
          <a:p>
            <a:pPr defTabSz="609630">
              <a:defRPr/>
            </a:pPr>
            <a:r>
              <a:rPr lang="en-AU" sz="4000" dirty="0">
                <a:solidFill>
                  <a:prstClr val="black"/>
                </a:solidFill>
                <a:latin typeface="Calibri" panose="020F0502020204030204" pitchFamily="34" charset="0"/>
                <a:ea typeface="Calibri" panose="020F0502020204030204" pitchFamily="34" charset="0"/>
                <a:cs typeface="Calibri" panose="020F0502020204030204" pitchFamily="34" charset="0"/>
              </a:rPr>
              <a:t>Requesting a Special Consideration Support extension</a:t>
            </a:r>
            <a:endParaRPr lang="en-AU" sz="4000" dirty="0">
              <a:solidFill>
                <a:prstClr val="black"/>
              </a:solidFill>
              <a:latin typeface="Calibri"/>
            </a:endParaRPr>
          </a:p>
        </p:txBody>
      </p:sp>
      <p:sp>
        <p:nvSpPr>
          <p:cNvPr id="4" name="Freeform 4">
            <a:extLst>
              <a:ext uri="{FF2B5EF4-FFF2-40B4-BE49-F238E27FC236}">
                <a16:creationId xmlns:a16="http://schemas.microsoft.com/office/drawing/2014/main" id="{3C5EF489-FAD5-4A58-3AFE-D09DED3C39D8}"/>
              </a:ext>
            </a:extLst>
          </p:cNvPr>
          <p:cNvSpPr/>
          <p:nvPr/>
        </p:nvSpPr>
        <p:spPr>
          <a:xfrm>
            <a:off x="9604816" y="-201749"/>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defTabSz="609630">
              <a:defRPr/>
            </a:pPr>
            <a:endParaRPr lang="en-AU" sz="1200">
              <a:solidFill>
                <a:prstClr val="black"/>
              </a:solidFill>
              <a:latin typeface="Calibri"/>
            </a:endParaRPr>
          </a:p>
        </p:txBody>
      </p:sp>
      <p:pic>
        <p:nvPicPr>
          <p:cNvPr id="9" name="Picture 8">
            <a:extLst>
              <a:ext uri="{FF2B5EF4-FFF2-40B4-BE49-F238E27FC236}">
                <a16:creationId xmlns:a16="http://schemas.microsoft.com/office/drawing/2014/main" id="{FF0B694F-D79A-122B-BBC4-5ABD9E48ADB3}"/>
              </a:ext>
            </a:extLst>
          </p:cNvPr>
          <p:cNvPicPr>
            <a:picLocks noChangeAspect="1"/>
          </p:cNvPicPr>
          <p:nvPr/>
        </p:nvPicPr>
        <p:blipFill>
          <a:blip r:embed="rId7"/>
          <a:stretch>
            <a:fillRect/>
          </a:stretch>
        </p:blipFill>
        <p:spPr>
          <a:xfrm>
            <a:off x="907721" y="1692033"/>
            <a:ext cx="10679741" cy="4673455"/>
          </a:xfrm>
          <a:prstGeom prst="rect">
            <a:avLst/>
          </a:prstGeom>
        </p:spPr>
      </p:pic>
    </p:spTree>
    <p:extLst>
      <p:ext uri="{BB962C8B-B14F-4D97-AF65-F5344CB8AC3E}">
        <p14:creationId xmlns:p14="http://schemas.microsoft.com/office/powerpoint/2010/main" val="1408357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BC9349A-E445-0E4B-26D0-BB726DBF24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0C4042-CA26-BAA3-9E60-CCA838A22206}"/>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DB817B0A-E844-82EC-4257-71AE44CC4A92}"/>
              </a:ext>
            </a:extLst>
          </p:cNvPr>
          <p:cNvSpPr txBox="1"/>
          <p:nvPr/>
        </p:nvSpPr>
        <p:spPr>
          <a:xfrm>
            <a:off x="601577" y="65678"/>
            <a:ext cx="7531769" cy="769441"/>
          </a:xfrm>
          <a:prstGeom prst="rect">
            <a:avLst/>
          </a:prstGeom>
          <a:noFill/>
        </p:spPr>
        <p:txBody>
          <a:bodyPr wrap="square" rtlCol="0">
            <a:spAutoFit/>
          </a:bodyPr>
          <a:lstStyle/>
          <a:p>
            <a:r>
              <a:rPr lang="en-AU" sz="4400" dirty="0"/>
              <a:t>Assessment 2 – Critical Review</a:t>
            </a:r>
          </a:p>
        </p:txBody>
      </p:sp>
      <p:sp>
        <p:nvSpPr>
          <p:cNvPr id="3" name="Freeform 3">
            <a:extLst>
              <a:ext uri="{FF2B5EF4-FFF2-40B4-BE49-F238E27FC236}">
                <a16:creationId xmlns:a16="http://schemas.microsoft.com/office/drawing/2014/main" id="{5538F781-11E7-6C8A-20A6-0452C01952F3}"/>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5" name="Table 4">
            <a:extLst>
              <a:ext uri="{FF2B5EF4-FFF2-40B4-BE49-F238E27FC236}">
                <a16:creationId xmlns:a16="http://schemas.microsoft.com/office/drawing/2014/main" id="{D4A2D360-B347-5A10-D92B-378EF1D6D994}"/>
              </a:ext>
            </a:extLst>
          </p:cNvPr>
          <p:cNvGraphicFramePr>
            <a:graphicFrameLocks noGrp="1"/>
          </p:cNvGraphicFramePr>
          <p:nvPr>
            <p:extLst>
              <p:ext uri="{D42A27DB-BD31-4B8C-83A1-F6EECF244321}">
                <p14:modId xmlns:p14="http://schemas.microsoft.com/office/powerpoint/2010/main" val="3727288504"/>
              </p:ext>
            </p:extLst>
          </p:nvPr>
        </p:nvGraphicFramePr>
        <p:xfrm>
          <a:off x="470903" y="1260727"/>
          <a:ext cx="9901396" cy="4910139"/>
        </p:xfrm>
        <a:graphic>
          <a:graphicData uri="http://schemas.openxmlformats.org/drawingml/2006/table">
            <a:tbl>
              <a:tblPr firstRow="1" firstCol="1" lastRow="1" lastCol="1" bandRow="1" bandCol="1"/>
              <a:tblGrid>
                <a:gridCol w="2173612">
                  <a:extLst>
                    <a:ext uri="{9D8B030D-6E8A-4147-A177-3AD203B41FA5}">
                      <a16:colId xmlns:a16="http://schemas.microsoft.com/office/drawing/2014/main" val="573985350"/>
                    </a:ext>
                  </a:extLst>
                </a:gridCol>
                <a:gridCol w="7727784">
                  <a:extLst>
                    <a:ext uri="{9D8B030D-6E8A-4147-A177-3AD203B41FA5}">
                      <a16:colId xmlns:a16="http://schemas.microsoft.com/office/drawing/2014/main" val="898612310"/>
                    </a:ext>
                  </a:extLst>
                </a:gridCol>
              </a:tblGrid>
              <a:tr h="194613">
                <a:tc>
                  <a:txBody>
                    <a:bodyPr/>
                    <a:lstStyle/>
                    <a:p>
                      <a:pPr marL="69850">
                        <a:lnSpc>
                          <a:spcPct val="92424"/>
                        </a:lnSpc>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Title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18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50" dirty="0">
                          <a:effectLst/>
                          <a:latin typeface="Calibri" panose="020F0502020204030204" pitchFamily="34" charset="0"/>
                          <a:ea typeface="Calibri" panose="020F0502020204030204" pitchFamily="34" charset="0"/>
                          <a:cs typeface="Times New Roman" panose="02020603050405020304" pitchFamily="18" charset="0"/>
                        </a:rPr>
                        <a:t>2</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583743197"/>
                  </a:ext>
                </a:extLst>
              </a:tr>
              <a:tr h="191009">
                <a:tc>
                  <a:txBody>
                    <a:bodyPr/>
                    <a:lstStyle/>
                    <a:p>
                      <a:pPr marL="69850">
                        <a:lnSpc>
                          <a:spcPct val="92424"/>
                        </a:lnSpc>
                        <a:spcBef>
                          <a:spcPts val="20"/>
                        </a:spcBef>
                        <a:buNone/>
                      </a:pPr>
                      <a:r>
                        <a:rPr lang="en-US" sz="18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Type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0"/>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Critical </a:t>
                      </a:r>
                      <a:r>
                        <a:rPr lang="en-US" sz="1800" spc="-10">
                          <a:effectLst/>
                          <a:latin typeface="Calibri" panose="020F0502020204030204" pitchFamily="34" charset="0"/>
                          <a:ea typeface="Calibri" panose="020F0502020204030204" pitchFamily="34" charset="0"/>
                          <a:cs typeface="Times New Roman" panose="02020603050405020304" pitchFamily="18" charset="0"/>
                        </a:rPr>
                        <a:t>Review</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49991629"/>
                  </a:ext>
                </a:extLst>
              </a:tr>
              <a:tr h="194613">
                <a:tc>
                  <a:txBody>
                    <a:bodyPr/>
                    <a:lstStyle/>
                    <a:p>
                      <a:pPr marL="69850">
                        <a:lnSpc>
                          <a:spcPct val="92424"/>
                        </a:lnSpc>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Length</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2,200</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words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927331703"/>
                  </a:ext>
                </a:extLst>
              </a:tr>
              <a:tr h="191009">
                <a:tc>
                  <a:txBody>
                    <a:bodyPr/>
                    <a:lstStyle/>
                    <a:p>
                      <a:pPr marL="69850">
                        <a:lnSpc>
                          <a:spcPct val="92424"/>
                        </a:lnSpc>
                        <a:spcBef>
                          <a:spcPts val="20"/>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Weighting</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0"/>
                        </a:spcBef>
                        <a:buNone/>
                      </a:pPr>
                      <a:r>
                        <a:rPr lang="en-US" sz="1800" spc="-25">
                          <a:effectLst/>
                          <a:latin typeface="Calibri" panose="020F0502020204030204" pitchFamily="34" charset="0"/>
                          <a:ea typeface="Calibri" panose="020F0502020204030204" pitchFamily="34" charset="0"/>
                          <a:cs typeface="Times New Roman" panose="02020603050405020304" pitchFamily="18" charset="0"/>
                        </a:rPr>
                        <a:t>60%</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3638796181"/>
                  </a:ext>
                </a:extLst>
              </a:tr>
              <a:tr h="409345">
                <a:tc>
                  <a:txBody>
                    <a:bodyPr/>
                    <a:lstStyle/>
                    <a:p>
                      <a:pPr marL="69850">
                        <a:spcBef>
                          <a:spcPts val="30"/>
                        </a:spcBef>
                        <a:buNone/>
                      </a:pPr>
                      <a:r>
                        <a:rPr lang="en-US" sz="1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Academic</a:t>
                      </a:r>
                      <a:r>
                        <a:rPr lang="en-US" sz="18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Integrity</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10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Level</a:t>
                      </a:r>
                      <a:r>
                        <a:rPr lang="en-US" sz="1800" spc="-4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2.</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Purpose-Specific</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GenAI</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spc="-25">
                          <a:effectLst/>
                          <a:latin typeface="Calibri" panose="020F0502020204030204" pitchFamily="34" charset="0"/>
                          <a:ea typeface="Calibri" panose="020F0502020204030204" pitchFamily="34" charset="0"/>
                          <a:cs typeface="Times New Roman" panose="02020603050405020304" pitchFamily="18" charset="0"/>
                        </a:rPr>
                        <a:t>Use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p>
                      <a:pPr marL="69850">
                        <a:spcBef>
                          <a:spcPts val="105"/>
                        </a:spcBef>
                        <a:buNone/>
                      </a:pP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GenAI</a:t>
                      </a:r>
                      <a:r>
                        <a:rPr lang="en-US" sz="18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may</a:t>
                      </a:r>
                      <a:r>
                        <a:rPr lang="en-US" sz="18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US" sz="1800" spc="-2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800" spc="-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used EXCEPT Grammarly Premium AI.</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128007036"/>
                  </a:ext>
                </a:extLst>
              </a:tr>
              <a:tr h="367603">
                <a:tc>
                  <a:txBody>
                    <a:bodyPr/>
                    <a:lstStyle/>
                    <a:p>
                      <a:pPr marL="69850">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Submission</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2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Word</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document</a:t>
                      </a:r>
                      <a:r>
                        <a:rPr lang="en-US" sz="1800" spc="-1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submitted</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to</a:t>
                      </a:r>
                      <a:r>
                        <a:rPr lang="en-US" sz="1800" spc="-15">
                          <a:effectLst/>
                          <a:latin typeface="Calibri" panose="020F0502020204030204" pitchFamily="34" charset="0"/>
                          <a:ea typeface="Calibri" panose="020F0502020204030204" pitchFamily="34" charset="0"/>
                          <a:cs typeface="Times New Roman" panose="02020603050405020304" pitchFamily="18" charset="0"/>
                        </a:rPr>
                        <a:t> </a:t>
                      </a:r>
                      <a:r>
                        <a:rPr lang="en-US" sz="1800" spc="-10">
                          <a:effectLst/>
                          <a:latin typeface="Calibri" panose="020F0502020204030204" pitchFamily="34" charset="0"/>
                          <a:ea typeface="Calibri" panose="020F0502020204030204" pitchFamily="34" charset="0"/>
                          <a:cs typeface="Times New Roman" panose="02020603050405020304" pitchFamily="18" charset="0"/>
                        </a:rPr>
                        <a:t>Blackboard</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3624551125"/>
                  </a:ext>
                </a:extLst>
              </a:tr>
              <a:tr h="2259582">
                <a:tc>
                  <a:txBody>
                    <a:bodyPr/>
                    <a:lstStyle/>
                    <a:p>
                      <a:pPr marL="69850" marR="398145">
                        <a:spcBef>
                          <a:spcPts val="25"/>
                        </a:spcBef>
                        <a:buNone/>
                      </a:pP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Unit</a:t>
                      </a:r>
                      <a:r>
                        <a:rPr lang="en-US" sz="1800" b="1" spc="-6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a:t>
                      </a:r>
                      <a:r>
                        <a:rPr lang="en-US" sz="18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Outcomes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task</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maps</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to</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the</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following</a:t>
                      </a:r>
                      <a:r>
                        <a:rPr lang="en-US" sz="1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ULOs: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1. Discuss key concepts of health and wellbeing as determined by Aboriginal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2. Identify key stages of the colonisation process and its relationship to the contemporary health status of Australian Indigenous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3.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Analyse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relationship between socio-economic factors and the contemporary health status of Australian Indigenous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4. Explain how primary health care and/or health promotion enhances the wellbeing of Indigenous people and role of the health professional as an agent of social change</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948275591"/>
                  </a:ext>
                </a:extLst>
              </a:tr>
            </a:tbl>
          </a:graphicData>
        </a:graphic>
      </p:graphicFrame>
    </p:spTree>
    <p:extLst>
      <p:ext uri="{BB962C8B-B14F-4D97-AF65-F5344CB8AC3E}">
        <p14:creationId xmlns:p14="http://schemas.microsoft.com/office/powerpoint/2010/main" val="3427779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571882BC-DF92-DA72-5180-6184AB687448}"/>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E3E47BBA-4946-32FD-E851-9AFDE2F15E04}"/>
              </a:ext>
            </a:extLst>
          </p:cNvPr>
          <p:cNvSpPr/>
          <p:nvPr/>
        </p:nvSpPr>
        <p:spPr>
          <a:xfrm rot="4758208">
            <a:off x="7458820" y="709452"/>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itle 1">
            <a:extLst>
              <a:ext uri="{FF2B5EF4-FFF2-40B4-BE49-F238E27FC236}">
                <a16:creationId xmlns:a16="http://schemas.microsoft.com/office/drawing/2014/main" id="{10054314-D5EC-40E9-4838-76C444CDC4C1}"/>
              </a:ext>
            </a:extLst>
          </p:cNvPr>
          <p:cNvSpPr txBox="1">
            <a:spLocks/>
          </p:cNvSpPr>
          <p:nvPr/>
        </p:nvSpPr>
        <p:spPr>
          <a:xfrm>
            <a:off x="3047167" y="169988"/>
            <a:ext cx="5919821"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rPr>
              <a:t>Writing a Critical Review</a:t>
            </a:r>
          </a:p>
        </p:txBody>
      </p:sp>
      <p:pic>
        <p:nvPicPr>
          <p:cNvPr id="6" name="Content Placeholder 4">
            <a:extLst>
              <a:ext uri="{FF2B5EF4-FFF2-40B4-BE49-F238E27FC236}">
                <a16:creationId xmlns:a16="http://schemas.microsoft.com/office/drawing/2014/main" id="{686FB51C-D66D-17A5-505B-CC69F682BA70}"/>
              </a:ext>
            </a:extLst>
          </p:cNvPr>
          <p:cNvPicPr>
            <a:picLocks noChangeAspect="1"/>
          </p:cNvPicPr>
          <p:nvPr/>
        </p:nvPicPr>
        <p:blipFill>
          <a:blip r:embed="rId4"/>
          <a:stretch>
            <a:fillRect/>
          </a:stretch>
        </p:blipFill>
        <p:spPr>
          <a:xfrm>
            <a:off x="786300" y="1214104"/>
            <a:ext cx="3752479" cy="4788108"/>
          </a:xfrm>
          <a:prstGeom prst="rect">
            <a:avLst/>
          </a:prstGeom>
        </p:spPr>
      </p:pic>
      <p:pic>
        <p:nvPicPr>
          <p:cNvPr id="7" name="Picture 6">
            <a:extLst>
              <a:ext uri="{FF2B5EF4-FFF2-40B4-BE49-F238E27FC236}">
                <a16:creationId xmlns:a16="http://schemas.microsoft.com/office/drawing/2014/main" id="{0A9608B2-78B4-703A-BD6E-8B974566ABB0}"/>
              </a:ext>
            </a:extLst>
          </p:cNvPr>
          <p:cNvPicPr>
            <a:picLocks noChangeAspect="1"/>
          </p:cNvPicPr>
          <p:nvPr/>
        </p:nvPicPr>
        <p:blipFill>
          <a:blip r:embed="rId5"/>
          <a:stretch>
            <a:fillRect/>
          </a:stretch>
        </p:blipFill>
        <p:spPr>
          <a:xfrm>
            <a:off x="5263029" y="1214104"/>
            <a:ext cx="3990412" cy="4788108"/>
          </a:xfrm>
          <a:prstGeom prst="rect">
            <a:avLst/>
          </a:prstGeom>
        </p:spPr>
      </p:pic>
      <p:sp>
        <p:nvSpPr>
          <p:cNvPr id="8" name="TextBox 7">
            <a:extLst>
              <a:ext uri="{FF2B5EF4-FFF2-40B4-BE49-F238E27FC236}">
                <a16:creationId xmlns:a16="http://schemas.microsoft.com/office/drawing/2014/main" id="{3EE74520-FD28-1634-7F9E-049377BA8724}"/>
              </a:ext>
            </a:extLst>
          </p:cNvPr>
          <p:cNvSpPr txBox="1"/>
          <p:nvPr/>
        </p:nvSpPr>
        <p:spPr>
          <a:xfrm>
            <a:off x="786961" y="6334780"/>
            <a:ext cx="10787417" cy="307777"/>
          </a:xfrm>
          <a:prstGeom prst="rect">
            <a:avLst/>
          </a:prstGeom>
          <a:noFill/>
        </p:spPr>
        <p:txBody>
          <a:bodyPr wrap="square">
            <a:spAutoFit/>
          </a:bodyPr>
          <a:lstStyle/>
          <a:p>
            <a:pPr defTabSz="457200"/>
            <a:r>
              <a:rPr lang="en-AU" sz="1400" dirty="0">
                <a:solidFill>
                  <a:prstClr val="white"/>
                </a:solidFill>
                <a:latin typeface="Century Gothic" panose="020B0502020202020204"/>
                <a:hlinkClick r:id="rId6"/>
              </a:rPr>
              <a:t>https://www.scu.edu.au/media/scu-dep/current-students/learning-zone/quick-guides/writing_a_critical_review.pdf</a:t>
            </a:r>
            <a:endParaRPr lang="en-AU" sz="1400" dirty="0">
              <a:solidFill>
                <a:prstClr val="white"/>
              </a:solidFill>
              <a:latin typeface="Century Gothic" panose="020B0502020202020204"/>
            </a:endParaRPr>
          </a:p>
        </p:txBody>
      </p:sp>
    </p:spTree>
    <p:extLst>
      <p:ext uri="{BB962C8B-B14F-4D97-AF65-F5344CB8AC3E}">
        <p14:creationId xmlns:p14="http://schemas.microsoft.com/office/powerpoint/2010/main" val="3982748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70A65DF2-BFE2-BC46-E677-38E2E3FB547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F53A8C-BBF7-CC68-B96B-125009DAFF1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F3F78BE8-1267-67C8-BEE4-A8D26963A19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2B579D9-9DF9-83F9-067E-AD203C65C4D5}"/>
              </a:ext>
            </a:extLst>
          </p:cNvPr>
          <p:cNvSpPr txBox="1"/>
          <p:nvPr/>
        </p:nvSpPr>
        <p:spPr>
          <a:xfrm>
            <a:off x="2093495" y="-216568"/>
            <a:ext cx="8807116"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Critical Review of the Scenario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                               </a:t>
            </a:r>
            <a:endParaRPr kumimoji="0" lang="en-AU"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8">
            <a:extLst>
              <a:ext uri="{FF2B5EF4-FFF2-40B4-BE49-F238E27FC236}">
                <a16:creationId xmlns:a16="http://schemas.microsoft.com/office/drawing/2014/main" id="{F6070599-DDEF-0A69-4792-7C4236ECA404}"/>
              </a:ext>
            </a:extLst>
          </p:cNvPr>
          <p:cNvSpPr txBox="1"/>
          <p:nvPr/>
        </p:nvSpPr>
        <p:spPr>
          <a:xfrm>
            <a:off x="-223935" y="1511559"/>
            <a:ext cx="11308702" cy="2107756"/>
          </a:xfrm>
          <a:prstGeom prst="rect">
            <a:avLst/>
          </a:prstGeom>
          <a:noFill/>
        </p:spPr>
        <p:txBody>
          <a:bodyPr wrap="square" rtlCol="0">
            <a:spAutoFit/>
          </a:bodyPr>
          <a:lstStyle/>
          <a:p>
            <a:pPr marL="285750" marR="0" lvl="0" indent="-285750" algn="l" defTabSz="914400" rtl="0" eaLnBrk="1" fontAlgn="auto" latinLnBrk="0" hangingPunct="1">
              <a:lnSpc>
                <a:spcPct val="120000"/>
              </a:lnSpc>
              <a:spcBef>
                <a:spcPts val="1000"/>
              </a:spcBef>
              <a:spcAft>
                <a:spcPts val="0"/>
              </a:spcAft>
              <a:buClr>
                <a:prstClr val="black"/>
              </a:buClr>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A critical review goes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beyond description</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by examining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why</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something happened,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how</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it influences outcomes, and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what it means</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in a broader context</a:t>
            </a:r>
          </a:p>
          <a:p>
            <a:pPr marL="171450" marR="0" lvl="0" indent="-171450"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endParaRPr kumimoji="0" lang="en-AU" sz="1100" b="0" i="0" u="none" strike="noStrike" kern="1200" cap="none" spc="0" normalizeH="0" baseline="0" noProof="0" dirty="0">
              <a:ln>
                <a:noFill/>
              </a:ln>
              <a:solidFill>
                <a:prstClr val="black"/>
              </a:solidFill>
              <a:effectLst/>
              <a:uLnTx/>
              <a:uFillTx/>
              <a:latin typeface="Gill Sans Nova Light"/>
              <a:ea typeface="+mn-ea"/>
              <a:cs typeface="+mn-cs"/>
            </a:endParaRPr>
          </a:p>
          <a:p>
            <a:pPr marL="285750" marR="0" lvl="0" indent="-285750" algn="l" defTabSz="914400" rtl="0" eaLnBrk="1" fontAlgn="auto" latinLnBrk="0" hangingPunct="1">
              <a:lnSpc>
                <a:spcPct val="120000"/>
              </a:lnSpc>
              <a:spcBef>
                <a:spcPts val="1000"/>
              </a:spcBef>
              <a:spcAft>
                <a:spcPts val="0"/>
              </a:spcAft>
              <a:buClr>
                <a:prstClr val="black"/>
              </a:buClr>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In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this assessment</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you are not reviewing a written document—you are critically reviewing a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scenario and practice interaction</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TextBox 9">
            <a:extLst>
              <a:ext uri="{FF2B5EF4-FFF2-40B4-BE49-F238E27FC236}">
                <a16:creationId xmlns:a16="http://schemas.microsoft.com/office/drawing/2014/main" id="{8548269F-1C6D-3D88-21FE-78CDFB2AE04E}"/>
              </a:ext>
            </a:extLst>
          </p:cNvPr>
          <p:cNvSpPr txBox="1"/>
          <p:nvPr/>
        </p:nvSpPr>
        <p:spPr>
          <a:xfrm>
            <a:off x="1694169" y="4012163"/>
            <a:ext cx="8803661" cy="2354491"/>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600"/>
              </a:spcAft>
              <a:buClr>
                <a:srgbClr val="A9BBAD"/>
              </a:buClr>
              <a:buSzTx/>
              <a:buFontTx/>
              <a:buNone/>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a:ea typeface="+mn-ea"/>
                <a:cs typeface="+mn-cs"/>
              </a:rPr>
              <a:t>Instead of reading an article, you are examining:</a:t>
            </a:r>
          </a:p>
          <a:p>
            <a:pPr lvl="1" defTabSz="457200">
              <a:spcAft>
                <a:spcPts val="600"/>
              </a:spcAft>
              <a:buClr>
                <a:prstClr val="black"/>
              </a:buClr>
              <a:buFont typeface="Wingdings" panose="05000000000000000000" pitchFamily="2" charset="2"/>
              <a:buChar char="Ø"/>
              <a:defRPr/>
            </a:pPr>
            <a:r>
              <a:rPr lang="en-AU" dirty="0">
                <a:latin typeface="Century Gothic" panose="020B0502020202020204" pitchFamily="34" charset="0"/>
              </a:rPr>
              <a:t>Sarah’s experiences </a:t>
            </a:r>
          </a:p>
          <a:p>
            <a:pPr lvl="1" defTabSz="457200">
              <a:spcAft>
                <a:spcPts val="600"/>
              </a:spcAft>
              <a:buClr>
                <a:prstClr val="black"/>
              </a:buClr>
              <a:buFont typeface="Wingdings" panose="05000000000000000000" pitchFamily="2" charset="2"/>
              <a:buChar char="Ø"/>
              <a:defRPr/>
            </a:pPr>
            <a:r>
              <a:rPr lang="en-AU" dirty="0">
                <a:latin typeface="Century Gothic" panose="020B0502020202020204" pitchFamily="34" charset="0"/>
              </a:rPr>
              <a:t>The impacts of colonisation on her contemporary health </a:t>
            </a:r>
          </a:p>
          <a:p>
            <a:pPr lvl="1" defTabSz="457200">
              <a:spcAft>
                <a:spcPts val="600"/>
              </a:spcAft>
              <a:buClr>
                <a:prstClr val="black"/>
              </a:buClr>
              <a:buFont typeface="Wingdings" panose="05000000000000000000" pitchFamily="2" charset="2"/>
              <a:buChar char="Ø"/>
              <a:defRPr/>
            </a:pPr>
            <a:r>
              <a:rPr kumimoji="0" lang="en-AU" sz="2000" i="0" u="none" strike="noStrike" kern="1200" cap="none" spc="0" normalizeH="0" baseline="0" noProof="0" dirty="0">
                <a:ln>
                  <a:noFill/>
                </a:ln>
                <a:solidFill>
                  <a:prstClr val="black"/>
                </a:solidFill>
                <a:effectLst/>
                <a:uLnTx/>
                <a:uFillTx/>
                <a:latin typeface="Century Gothic" panose="020B0502020202020204" pitchFamily="34" charset="0"/>
              </a:rPr>
              <a:t>the cultural context shaping the encounter</a:t>
            </a:r>
          </a:p>
          <a:p>
            <a:pPr marL="457200" marR="0" lvl="1" indent="0" algn="l" defTabSz="4572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000" i="0" u="none" strike="noStrike" kern="1200" cap="none" spc="0" normalizeH="0" baseline="0" noProof="0" dirty="0">
                <a:ln>
                  <a:noFill/>
                </a:ln>
                <a:solidFill>
                  <a:prstClr val="black"/>
                </a:solidFill>
                <a:effectLst/>
                <a:uLnTx/>
                <a:uFillTx/>
                <a:latin typeface="Century Gothic" panose="020B0502020202020204" pitchFamily="34" charset="0"/>
              </a:rPr>
              <a:t>the power dynamics in the consultation</a:t>
            </a:r>
          </a:p>
          <a:p>
            <a:pPr lvl="1" defTabSz="457200">
              <a:spcAft>
                <a:spcPts val="600"/>
              </a:spcAft>
              <a:buClr>
                <a:prstClr val="black"/>
              </a:buClr>
              <a:buFont typeface="Wingdings" panose="05000000000000000000" pitchFamily="2" charset="2"/>
              <a:buChar char="Ø"/>
              <a:defRPr/>
            </a:pPr>
            <a:r>
              <a:rPr lang="en-AU" dirty="0">
                <a:latin typeface="Century Gothic" panose="020B0502020202020204" pitchFamily="34" charset="0"/>
              </a:rPr>
              <a:t>How primary health care and health promotion can respond </a:t>
            </a:r>
            <a:endParaRPr kumimoji="0" lang="en-AU" sz="1800" i="0" u="none" strike="noStrike" kern="1200" cap="none" spc="0" normalizeH="0" baseline="0" noProof="0" dirty="0">
              <a:ln>
                <a:noFill/>
              </a:ln>
              <a:solidFill>
                <a:prstClr val="white"/>
              </a:solidFill>
              <a:effectLst/>
              <a:uLnTx/>
              <a:uFillTx/>
              <a:latin typeface="Century Gothic" panose="020B0502020202020204" pitchFamily="34" charset="0"/>
            </a:endParaRPr>
          </a:p>
        </p:txBody>
      </p:sp>
    </p:spTree>
    <p:extLst>
      <p:ext uri="{BB962C8B-B14F-4D97-AF65-F5344CB8AC3E}">
        <p14:creationId xmlns:p14="http://schemas.microsoft.com/office/powerpoint/2010/main" val="376637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4F4A0AC-8C7E-7B67-A3AC-0BDEF5AAEA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D6909E5-BABA-4127-B2D3-CBC8E5DA71B0}"/>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CF78F9E8-4A0D-9507-5567-71C728A4728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0E08AFA9-AE34-B960-598F-CD4A14A71CC7}"/>
              </a:ext>
            </a:extLst>
          </p:cNvPr>
          <p:cNvSpPr txBox="1"/>
          <p:nvPr/>
        </p:nvSpPr>
        <p:spPr>
          <a:xfrm>
            <a:off x="2093495" y="-216568"/>
            <a:ext cx="8807116"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Critical Review of the Scenario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                               </a:t>
            </a:r>
            <a:endParaRPr kumimoji="0" lang="en-AU"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8">
            <a:extLst>
              <a:ext uri="{FF2B5EF4-FFF2-40B4-BE49-F238E27FC236}">
                <a16:creationId xmlns:a16="http://schemas.microsoft.com/office/drawing/2014/main" id="{2A24D845-3A8A-E7E0-4A23-4146C6EDE50E}"/>
              </a:ext>
            </a:extLst>
          </p:cNvPr>
          <p:cNvSpPr txBox="1"/>
          <p:nvPr/>
        </p:nvSpPr>
        <p:spPr>
          <a:xfrm>
            <a:off x="-223935" y="1511559"/>
            <a:ext cx="11308702" cy="4685257"/>
          </a:xfrm>
          <a:prstGeom prst="rect">
            <a:avLst/>
          </a:prstGeom>
          <a:noFill/>
        </p:spPr>
        <p:txBody>
          <a:bodyPr wrap="square" rtlCol="0">
            <a:spAutoFit/>
          </a:bodyPr>
          <a:lstStyle/>
          <a:p>
            <a:pPr marL="228600" marR="0" lvl="0" indent="-228600" algn="l" defTabSz="9144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Judge the strengths and weaknesses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(of the actions and recommendations in the scenario) – which must be evidence-based </a:t>
            </a:r>
          </a:p>
          <a:p>
            <a:pPr marL="228600" marR="0" lvl="0" indent="-228600" algn="l" defTabSz="9144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Identify bias or assumptions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Analyse privilege, whiteness, and Western norms (how these assumptions affect Sarah’s wellbeing and care) </a:t>
            </a:r>
          </a:p>
          <a:p>
            <a:pPr marL="228600" marR="0" lvl="0" indent="-228600" algn="l" defTabSz="914400" rtl="0" eaLnBrk="1" fontAlgn="auto" latinLnBrk="0" hangingPunct="1">
              <a:lnSpc>
                <a:spcPct val="120000"/>
              </a:lnSpc>
              <a:spcBef>
                <a:spcPts val="100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Overall evaluation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Judgement about the quality of practice - Must be linked to theory </a:t>
            </a:r>
          </a:p>
          <a:p>
            <a:pPr marL="228600" marR="0" lvl="0" indent="-228600" algn="l" defTabSz="914400" rtl="0" eaLnBrk="1" fontAlgn="auto" latinLnBrk="0" hangingPunct="1">
              <a:lnSpc>
                <a:spcPct val="120000"/>
              </a:lnSpc>
              <a:spcBef>
                <a:spcPts val="1000"/>
              </a:spcBef>
              <a:spcAft>
                <a:spcPts val="600"/>
              </a:spcAft>
              <a:buClr>
                <a:prstClr val="black"/>
              </a:buClr>
              <a:buSzTx/>
              <a:buFont typeface="Wingdings" panose="05000000000000000000" pitchFamily="2" charset="2"/>
              <a:buChar char="Ø"/>
              <a:tabLst/>
              <a:defRPr/>
            </a:pP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 critical review </a:t>
            </a:r>
            <a:r>
              <a:rPr kumimoji="0" lang="en-AU" sz="28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always ends with a judgement</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endParaRPr kumimoji="0" lang="en-AU"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342938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16C0A4D5-0861-B8D6-9F54-158E3BCCF7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CA0262-2641-46CD-431B-C52BDD8EAE81}"/>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BFB5BA3-A45B-127D-9387-C67F987AC4D3}"/>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E5BCBCAC-A27B-C11C-022E-FA0E268B27DE}"/>
              </a:ext>
            </a:extLst>
          </p:cNvPr>
          <p:cNvSpPr txBox="1"/>
          <p:nvPr/>
        </p:nvSpPr>
        <p:spPr>
          <a:xfrm>
            <a:off x="1804737" y="168442"/>
            <a:ext cx="6172200" cy="830997"/>
          </a:xfrm>
          <a:prstGeom prst="rect">
            <a:avLst/>
          </a:prstGeom>
          <a:noFill/>
        </p:spPr>
        <p:txBody>
          <a:bodyPr wrap="square" rtlCol="0">
            <a:spAutoFit/>
          </a:bodyPr>
          <a:lstStyle/>
          <a:p>
            <a:r>
              <a:rPr lang="en-AU" sz="4800" dirty="0"/>
              <a:t>Assessment 2 - Brief</a:t>
            </a:r>
          </a:p>
        </p:txBody>
      </p:sp>
      <p:sp>
        <p:nvSpPr>
          <p:cNvPr id="5" name="TextBox 4">
            <a:extLst>
              <a:ext uri="{FF2B5EF4-FFF2-40B4-BE49-F238E27FC236}">
                <a16:creationId xmlns:a16="http://schemas.microsoft.com/office/drawing/2014/main" id="{E087197E-EC38-99D6-F9CD-A004B0EE66A9}"/>
              </a:ext>
            </a:extLst>
          </p:cNvPr>
          <p:cNvSpPr txBox="1"/>
          <p:nvPr/>
        </p:nvSpPr>
        <p:spPr>
          <a:xfrm>
            <a:off x="-150125" y="1781947"/>
            <a:ext cx="5650173" cy="5370701"/>
          </a:xfrm>
          <a:prstGeom prst="rect">
            <a:avLst/>
          </a:prstGeom>
          <a:noFill/>
        </p:spPr>
        <p:txBody>
          <a:bodyPr wrap="square" rtlCol="0">
            <a:spAutoFit/>
          </a:bodyPr>
          <a:lstStyle/>
          <a:p>
            <a:pPr>
              <a:spcAft>
                <a:spcPts val="600"/>
              </a:spcAft>
            </a:pPr>
            <a:r>
              <a:rPr lang="en-AU" b="1" dirty="0"/>
              <a:t>Rationale – Why this assessment matters</a:t>
            </a:r>
          </a:p>
          <a:p>
            <a:pPr marL="285750" lvl="0" indent="-285750">
              <a:spcAft>
                <a:spcPts val="600"/>
              </a:spcAft>
              <a:buFont typeface="Arial" panose="020B0604020202020204" pitchFamily="34" charset="0"/>
              <a:buChar char="•"/>
            </a:pPr>
            <a:r>
              <a:rPr lang="en-AU" dirty="0"/>
              <a:t>Apply unit concepts to a </a:t>
            </a:r>
            <a:r>
              <a:rPr lang="en-AU" b="1" dirty="0"/>
              <a:t>realistic health care scenario</a:t>
            </a:r>
            <a:endParaRPr lang="en-AU" dirty="0"/>
          </a:p>
          <a:p>
            <a:pPr marL="285750" lvl="0" indent="-285750">
              <a:spcAft>
                <a:spcPts val="600"/>
              </a:spcAft>
              <a:buFont typeface="Arial" panose="020B0604020202020204" pitchFamily="34" charset="0"/>
              <a:buChar char="•"/>
            </a:pPr>
            <a:r>
              <a:rPr lang="en-AU" dirty="0"/>
              <a:t>Critically examine </a:t>
            </a:r>
            <a:r>
              <a:rPr lang="en-AU" b="1" dirty="0"/>
              <a:t>culturally safe, strengths‑based, socially responsive</a:t>
            </a:r>
            <a:r>
              <a:rPr lang="en-AU" dirty="0"/>
              <a:t> practice</a:t>
            </a:r>
          </a:p>
          <a:p>
            <a:pPr marL="285750" lvl="0" indent="-285750">
              <a:spcAft>
                <a:spcPts val="600"/>
              </a:spcAft>
              <a:buFont typeface="Arial" panose="020B0604020202020204" pitchFamily="34" charset="0"/>
              <a:buChar char="•"/>
            </a:pPr>
            <a:r>
              <a:rPr lang="en-AU" dirty="0"/>
              <a:t>Analyse:</a:t>
            </a:r>
          </a:p>
          <a:p>
            <a:pPr marL="742950" lvl="1" indent="-285750">
              <a:spcAft>
                <a:spcPts val="600"/>
              </a:spcAft>
              <a:buFont typeface="Arial" panose="020B0604020202020204" pitchFamily="34" charset="0"/>
              <a:buChar char="•"/>
            </a:pPr>
            <a:r>
              <a:rPr lang="en-AU" b="1" dirty="0"/>
              <a:t>SEWB concepts</a:t>
            </a:r>
            <a:endParaRPr lang="en-AU" dirty="0"/>
          </a:p>
          <a:p>
            <a:pPr marL="742950" lvl="1" indent="-285750">
              <a:spcAft>
                <a:spcPts val="600"/>
              </a:spcAft>
              <a:buFont typeface="Arial" panose="020B0604020202020204" pitchFamily="34" charset="0"/>
              <a:buChar char="•"/>
            </a:pPr>
            <a:r>
              <a:rPr lang="en-AU" b="1" dirty="0"/>
              <a:t>Impacts of colonisation</a:t>
            </a:r>
            <a:endParaRPr lang="en-AU" dirty="0"/>
          </a:p>
          <a:p>
            <a:pPr marL="742950" lvl="1" indent="-285750">
              <a:spcAft>
                <a:spcPts val="600"/>
              </a:spcAft>
              <a:buFont typeface="Arial" panose="020B0604020202020204" pitchFamily="34" charset="0"/>
              <a:buChar char="•"/>
            </a:pPr>
            <a:r>
              <a:rPr lang="en-AU" b="1" dirty="0"/>
              <a:t>Socioeconomic determinants</a:t>
            </a:r>
            <a:endParaRPr lang="en-AU" dirty="0"/>
          </a:p>
          <a:p>
            <a:pPr marL="742950" lvl="1" indent="-285750">
              <a:spcAft>
                <a:spcPts val="600"/>
              </a:spcAft>
              <a:buFont typeface="Arial" panose="020B0604020202020204" pitchFamily="34" charset="0"/>
              <a:buChar char="•"/>
            </a:pPr>
            <a:r>
              <a:rPr lang="en-AU" b="1" dirty="0"/>
              <a:t>Primary health care &amp; health promotion</a:t>
            </a:r>
            <a:endParaRPr lang="en-AU" dirty="0"/>
          </a:p>
          <a:p>
            <a:pPr marL="285750" lvl="0" indent="-285750">
              <a:spcAft>
                <a:spcPts val="600"/>
              </a:spcAft>
              <a:buFont typeface="Arial" panose="020B0604020202020204" pitchFamily="34" charset="0"/>
              <a:buChar char="•"/>
            </a:pPr>
            <a:r>
              <a:rPr lang="en-AU" dirty="0"/>
              <a:t>Shift away from deficit views → recognise </a:t>
            </a:r>
            <a:r>
              <a:rPr lang="en-AU" b="1" dirty="0"/>
              <a:t>strengths, resilience, cultural connections, self‑determination</a:t>
            </a:r>
            <a:endParaRPr lang="en-AU" dirty="0"/>
          </a:p>
          <a:p>
            <a:pPr marL="285750" lvl="0" indent="-285750">
              <a:spcAft>
                <a:spcPts val="600"/>
              </a:spcAft>
              <a:buFont typeface="Arial" panose="020B0604020202020204" pitchFamily="34" charset="0"/>
              <a:buChar char="•"/>
            </a:pPr>
            <a:r>
              <a:rPr lang="en-AU" dirty="0"/>
              <a:t>Understand health professionals as </a:t>
            </a:r>
            <a:r>
              <a:rPr lang="en-AU" b="1" dirty="0"/>
              <a:t>agents of social change</a:t>
            </a:r>
            <a:endParaRPr lang="en-AU" dirty="0"/>
          </a:p>
          <a:p>
            <a:pPr marL="285750" lvl="0" indent="-285750">
              <a:spcAft>
                <a:spcPts val="600"/>
              </a:spcAft>
              <a:buFont typeface="Arial" panose="020B0604020202020204" pitchFamily="34" charset="0"/>
              <a:buChar char="•"/>
            </a:pPr>
            <a:r>
              <a:rPr lang="en-AU" dirty="0"/>
              <a:t>Explore how culturally safe, equitable care supports </a:t>
            </a:r>
            <a:r>
              <a:rPr lang="en-AU" b="1" dirty="0"/>
              <a:t>Indigenous wellbeing</a:t>
            </a:r>
            <a:endParaRPr lang="en-AU" dirty="0"/>
          </a:p>
          <a:p>
            <a:endParaRPr lang="en-AU" dirty="0"/>
          </a:p>
        </p:txBody>
      </p:sp>
      <p:sp>
        <p:nvSpPr>
          <p:cNvPr id="6" name="TextBox 5">
            <a:extLst>
              <a:ext uri="{FF2B5EF4-FFF2-40B4-BE49-F238E27FC236}">
                <a16:creationId xmlns:a16="http://schemas.microsoft.com/office/drawing/2014/main" id="{685C7376-001B-32EF-5A1F-3D981DF3EC2D}"/>
              </a:ext>
            </a:extLst>
          </p:cNvPr>
          <p:cNvSpPr txBox="1"/>
          <p:nvPr/>
        </p:nvSpPr>
        <p:spPr>
          <a:xfrm>
            <a:off x="6096000" y="1781947"/>
            <a:ext cx="5500048" cy="4862870"/>
          </a:xfrm>
          <a:prstGeom prst="rect">
            <a:avLst/>
          </a:prstGeom>
          <a:noFill/>
        </p:spPr>
        <p:txBody>
          <a:bodyPr wrap="square" rtlCol="0">
            <a:spAutoFit/>
          </a:bodyPr>
          <a:lstStyle/>
          <a:p>
            <a:pPr>
              <a:spcAft>
                <a:spcPts val="600"/>
              </a:spcAft>
            </a:pPr>
            <a:r>
              <a:rPr lang="en-AU" b="1" dirty="0"/>
              <a:t>Assessment Task – What students must do</a:t>
            </a:r>
          </a:p>
          <a:p>
            <a:pPr marL="285750" lvl="0" indent="-285750">
              <a:spcAft>
                <a:spcPts val="600"/>
              </a:spcAft>
              <a:buFont typeface="Arial" panose="020B0604020202020204" pitchFamily="34" charset="0"/>
              <a:buChar char="•"/>
            </a:pPr>
            <a:r>
              <a:rPr lang="en-AU" dirty="0"/>
              <a:t>Write a </a:t>
            </a:r>
            <a:r>
              <a:rPr lang="en-AU" b="1" dirty="0"/>
              <a:t>critical review</a:t>
            </a:r>
            <a:r>
              <a:rPr lang="en-AU" dirty="0"/>
              <a:t> of the Sarah scenario</a:t>
            </a:r>
          </a:p>
          <a:p>
            <a:pPr marL="285750" lvl="0" indent="-285750">
              <a:spcAft>
                <a:spcPts val="600"/>
              </a:spcAft>
              <a:buFont typeface="Arial" panose="020B0604020202020204" pitchFamily="34" charset="0"/>
              <a:buChar char="•"/>
            </a:pPr>
            <a:r>
              <a:rPr lang="en-AU" dirty="0"/>
              <a:t>Examine how health professionals and services can support </a:t>
            </a:r>
            <a:r>
              <a:rPr lang="en-AU" b="1" dirty="0"/>
              <a:t>Indigenous health and wellbeing</a:t>
            </a:r>
            <a:endParaRPr lang="en-AU" dirty="0"/>
          </a:p>
          <a:p>
            <a:pPr marL="285750" lvl="0" indent="-285750">
              <a:spcAft>
                <a:spcPts val="600"/>
              </a:spcAft>
              <a:buFont typeface="Arial" panose="020B0604020202020204" pitchFamily="34" charset="0"/>
              <a:buChar char="•"/>
            </a:pPr>
            <a:r>
              <a:rPr lang="en-AU" dirty="0"/>
              <a:t>Apply unit concepts to Sarah’s experiences and the clinic’s </a:t>
            </a:r>
            <a:r>
              <a:rPr lang="en-AU" b="1" dirty="0"/>
              <a:t>service improvements</a:t>
            </a:r>
            <a:endParaRPr lang="en-AU" dirty="0"/>
          </a:p>
          <a:p>
            <a:pPr marL="285750" lvl="0" indent="-285750">
              <a:spcAft>
                <a:spcPts val="600"/>
              </a:spcAft>
              <a:buFont typeface="Arial" panose="020B0604020202020204" pitchFamily="34" charset="0"/>
              <a:buChar char="•"/>
            </a:pPr>
            <a:r>
              <a:rPr lang="en-AU" dirty="0"/>
              <a:t>Analyse culturally safe, strengths‑based approaches using </a:t>
            </a:r>
            <a:r>
              <a:rPr lang="en-AU" b="1" dirty="0"/>
              <a:t>scholarly evidence</a:t>
            </a:r>
            <a:r>
              <a:rPr lang="en-AU" dirty="0"/>
              <a:t> (min. 12 sources)</a:t>
            </a:r>
          </a:p>
          <a:p>
            <a:pPr marL="285750" lvl="0" indent="-285750">
              <a:spcAft>
                <a:spcPts val="600"/>
              </a:spcAft>
              <a:buFont typeface="Arial" panose="020B0604020202020204" pitchFamily="34" charset="0"/>
              <a:buChar char="•"/>
            </a:pPr>
            <a:r>
              <a:rPr lang="en-AU" dirty="0"/>
              <a:t>Evaluate the quality of practice → identify strengths, weaknesses, bias, assumptions</a:t>
            </a:r>
          </a:p>
          <a:p>
            <a:pPr marL="285750" lvl="0" indent="-285750">
              <a:spcAft>
                <a:spcPts val="600"/>
              </a:spcAft>
              <a:buFont typeface="Arial" panose="020B0604020202020204" pitchFamily="34" charset="0"/>
              <a:buChar char="•"/>
            </a:pPr>
            <a:r>
              <a:rPr lang="en-AU" dirty="0"/>
              <a:t>Provide </a:t>
            </a:r>
            <a:r>
              <a:rPr lang="en-AU" b="1" dirty="0"/>
              <a:t>evidence‑based recommendations</a:t>
            </a:r>
            <a:r>
              <a:rPr lang="en-AU" dirty="0"/>
              <a:t> for culturally safe care and SEWB‑aligned practice</a:t>
            </a:r>
          </a:p>
          <a:p>
            <a:pPr marL="285750" lvl="0" indent="-285750">
              <a:spcAft>
                <a:spcPts val="600"/>
              </a:spcAft>
              <a:buFont typeface="Arial" panose="020B0604020202020204" pitchFamily="34" charset="0"/>
              <a:buChar char="•"/>
            </a:pPr>
            <a:r>
              <a:rPr lang="en-AU" dirty="0"/>
              <a:t>Link all analysis to theory: SEWB, cultural safety, colonisation, determinants, PHC, health promotion</a:t>
            </a:r>
          </a:p>
          <a:p>
            <a:endParaRPr lang="en-AU" dirty="0"/>
          </a:p>
        </p:txBody>
      </p:sp>
    </p:spTree>
    <p:extLst>
      <p:ext uri="{BB962C8B-B14F-4D97-AF65-F5344CB8AC3E}">
        <p14:creationId xmlns:p14="http://schemas.microsoft.com/office/powerpoint/2010/main" val="37074386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D43288F-6453-21DA-F796-01724CC2CED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6808F4-6672-88A8-15F0-E4953A5F970D}"/>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53E4E6EF-279E-4757-CA8D-1FBC1945319A}"/>
              </a:ext>
            </a:extLst>
          </p:cNvPr>
          <p:cNvSpPr/>
          <p:nvPr/>
        </p:nvSpPr>
        <p:spPr>
          <a:xfrm rot="6674129">
            <a:off x="7720455" y="3112647"/>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7FFAFEC6-BC83-FFC7-5294-1225549010AA}"/>
              </a:ext>
            </a:extLst>
          </p:cNvPr>
          <p:cNvSpPr txBox="1"/>
          <p:nvPr/>
        </p:nvSpPr>
        <p:spPr>
          <a:xfrm>
            <a:off x="8187257" y="726856"/>
            <a:ext cx="3906731"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Assessment 2  Scenario</a:t>
            </a:r>
          </a:p>
        </p:txBody>
      </p:sp>
      <p:pic>
        <p:nvPicPr>
          <p:cNvPr id="7" name="Picture 6">
            <a:extLst>
              <a:ext uri="{FF2B5EF4-FFF2-40B4-BE49-F238E27FC236}">
                <a16:creationId xmlns:a16="http://schemas.microsoft.com/office/drawing/2014/main" id="{3470A1DE-344C-3887-D5C4-65DB04A1E33B}"/>
              </a:ext>
            </a:extLst>
          </p:cNvPr>
          <p:cNvPicPr>
            <a:picLocks noChangeAspect="1"/>
          </p:cNvPicPr>
          <p:nvPr/>
        </p:nvPicPr>
        <p:blipFill>
          <a:blip r:embed="rId4"/>
          <a:stretch>
            <a:fillRect/>
          </a:stretch>
        </p:blipFill>
        <p:spPr>
          <a:xfrm>
            <a:off x="0" y="-466621"/>
            <a:ext cx="7239483" cy="7181319"/>
          </a:xfrm>
          <a:prstGeom prst="rect">
            <a:avLst/>
          </a:prstGeom>
        </p:spPr>
      </p:pic>
    </p:spTree>
    <p:extLst>
      <p:ext uri="{BB962C8B-B14F-4D97-AF65-F5344CB8AC3E}">
        <p14:creationId xmlns:p14="http://schemas.microsoft.com/office/powerpoint/2010/main" val="3174139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70A65DF2-BFE2-BC46-E677-38E2E3FB547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F53A8C-BBF7-CC68-B96B-125009DAFF1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F3F78BE8-1267-67C8-BEE4-A8D26963A19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2B579D9-9DF9-83F9-067E-AD203C65C4D5}"/>
              </a:ext>
            </a:extLst>
          </p:cNvPr>
          <p:cNvSpPr txBox="1"/>
          <p:nvPr/>
        </p:nvSpPr>
        <p:spPr>
          <a:xfrm>
            <a:off x="7930112" y="1443474"/>
            <a:ext cx="4394184"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Example Assessment Structure</a:t>
            </a:r>
          </a:p>
        </p:txBody>
      </p:sp>
      <p:pic>
        <p:nvPicPr>
          <p:cNvPr id="5" name="Picture 4">
            <a:extLst>
              <a:ext uri="{FF2B5EF4-FFF2-40B4-BE49-F238E27FC236}">
                <a16:creationId xmlns:a16="http://schemas.microsoft.com/office/drawing/2014/main" id="{D8557646-3747-BFAB-A60F-373F88A543A1}"/>
              </a:ext>
            </a:extLst>
          </p:cNvPr>
          <p:cNvPicPr>
            <a:picLocks noChangeAspect="1"/>
          </p:cNvPicPr>
          <p:nvPr/>
        </p:nvPicPr>
        <p:blipFill>
          <a:blip r:embed="rId4"/>
          <a:stretch>
            <a:fillRect/>
          </a:stretch>
        </p:blipFill>
        <p:spPr>
          <a:xfrm>
            <a:off x="-634609" y="0"/>
            <a:ext cx="8622487" cy="6242804"/>
          </a:xfrm>
          <a:prstGeom prst="rect">
            <a:avLst/>
          </a:prstGeom>
        </p:spPr>
      </p:pic>
    </p:spTree>
    <p:extLst>
      <p:ext uri="{BB962C8B-B14F-4D97-AF65-F5344CB8AC3E}">
        <p14:creationId xmlns:p14="http://schemas.microsoft.com/office/powerpoint/2010/main" val="7927234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016D2164-512E-1746-E588-56E7E5D7CF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2716D2C-7CEB-8363-EB7C-07E4E0F4405A}"/>
              </a:ext>
            </a:extLst>
          </p:cNvPr>
          <p:cNvSpPr/>
          <p:nvPr/>
        </p:nvSpPr>
        <p:spPr>
          <a:xfrm>
            <a:off x="-657574" y="-784618"/>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C0F8361-8158-69D6-74DA-8FA8561BE4FC}"/>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0B4F96B6-F38E-7A62-5417-9E2A725260C9}"/>
              </a:ext>
            </a:extLst>
          </p:cNvPr>
          <p:cNvSpPr txBox="1"/>
          <p:nvPr/>
        </p:nvSpPr>
        <p:spPr>
          <a:xfrm>
            <a:off x="3283672" y="-323166"/>
            <a:ext cx="439418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Your response must …</a:t>
            </a:r>
          </a:p>
        </p:txBody>
      </p:sp>
      <p:sp>
        <p:nvSpPr>
          <p:cNvPr id="4" name="TextBox 3">
            <a:extLst>
              <a:ext uri="{FF2B5EF4-FFF2-40B4-BE49-F238E27FC236}">
                <a16:creationId xmlns:a16="http://schemas.microsoft.com/office/drawing/2014/main" id="{BCFFDEA4-784D-DBAE-DE31-8B146C92BC9F}"/>
              </a:ext>
            </a:extLst>
          </p:cNvPr>
          <p:cNvSpPr txBox="1"/>
          <p:nvPr/>
        </p:nvSpPr>
        <p:spPr>
          <a:xfrm>
            <a:off x="-318052" y="397564"/>
            <a:ext cx="11867096" cy="8125301"/>
          </a:xfrm>
          <a:prstGeom prst="rect">
            <a:avLst/>
          </a:prstGeom>
          <a:noFill/>
        </p:spPr>
        <p:txBody>
          <a:bodyPr wrap="square" rtlCol="0">
            <a:spAutoFit/>
          </a:bodyPr>
          <a:lstStyle/>
          <a:p>
            <a:r>
              <a:rPr lang="en-AU" b="1" u="sng" dirty="0"/>
              <a:t>Assessment Requirements</a:t>
            </a:r>
          </a:p>
          <a:p>
            <a:endParaRPr lang="en-AU" b="1" u="sng" dirty="0"/>
          </a:p>
          <a:p>
            <a:pPr marL="285750" lvl="0" indent="-285750">
              <a:buFont typeface="Arial" panose="020B0604020202020204" pitchFamily="34" charset="0"/>
              <a:buChar char="•"/>
            </a:pPr>
            <a:r>
              <a:rPr lang="en-US" dirty="0"/>
              <a:t>Be written in a clear, coherent, and respectful academic style.</a:t>
            </a:r>
            <a:endParaRPr lang="en-AU" b="1" dirty="0"/>
          </a:p>
          <a:p>
            <a:pPr marL="285750" indent="-285750">
              <a:buFont typeface="Arial" panose="020B0604020202020204" pitchFamily="34" charset="0"/>
              <a:buChar char="•"/>
            </a:pPr>
            <a:r>
              <a:rPr lang="en-US" dirty="0"/>
              <a:t>Support your discussion with evidence from:</a:t>
            </a:r>
            <a:endParaRPr lang="en-AU" dirty="0"/>
          </a:p>
          <a:p>
            <a:pPr marL="742950" lvl="1" indent="-285750">
              <a:buFont typeface="Arial" panose="020B0604020202020204" pitchFamily="34" charset="0"/>
              <a:buChar char="•"/>
            </a:pPr>
            <a:r>
              <a:rPr lang="en-US" dirty="0"/>
              <a:t>Scholarly literature</a:t>
            </a:r>
            <a:endParaRPr lang="en-AU" dirty="0"/>
          </a:p>
          <a:p>
            <a:pPr marL="742950" lvl="1" indent="-285750">
              <a:buFont typeface="Arial" panose="020B0604020202020204" pitchFamily="34" charset="0"/>
              <a:buChar char="•"/>
            </a:pPr>
            <a:r>
              <a:rPr lang="en-US" dirty="0"/>
              <a:t>Unit materials</a:t>
            </a:r>
            <a:endParaRPr lang="en-AU" dirty="0"/>
          </a:p>
          <a:p>
            <a:pPr lvl="1"/>
            <a:endParaRPr lang="en-US" b="1" dirty="0"/>
          </a:p>
          <a:p>
            <a:pPr lvl="1"/>
            <a:r>
              <a:rPr lang="en-US" b="1" dirty="0"/>
              <a:t>Definition of Scholarly and Peer-Reviewed sources</a:t>
            </a:r>
            <a:endParaRPr lang="en-AU" dirty="0"/>
          </a:p>
          <a:p>
            <a:pPr lvl="1"/>
            <a:r>
              <a:rPr lang="en-AU" dirty="0"/>
              <a:t>Peer-reviewed sources are academic publications that have been evaluated by experts before publication to ensure quality, accuracy, and credibility. Scholarly sources are written by researchers or experts for an academic audience and include journal articles, academic books, conference papers, and theses. They typically provide author credentials and references. All peer-reviewed sources are scholarly, but not all scholarly sources are peer-reviewed. For example, an academic book may be scholarly without undergoing peer review.</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err="1"/>
              <a:t>Utilise</a:t>
            </a:r>
            <a:r>
              <a:rPr lang="en-US" dirty="0"/>
              <a:t> evidence from a </a:t>
            </a:r>
            <a:r>
              <a:rPr lang="en-US" b="1" u="sng" dirty="0"/>
              <a:t>minimum of 12 scholarly sources</a:t>
            </a:r>
            <a:r>
              <a:rPr lang="en-US" u="sng" dirty="0"/>
              <a:t> </a:t>
            </a:r>
            <a:r>
              <a:rPr lang="en-US" dirty="0"/>
              <a:t>to support your analysis </a:t>
            </a:r>
            <a:endParaRPr lang="en-AU" dirty="0"/>
          </a:p>
          <a:p>
            <a:pPr marL="285750" lvl="0" indent="-285750">
              <a:buFont typeface="Arial" panose="020B0604020202020204" pitchFamily="34" charset="0"/>
              <a:buChar char="•"/>
            </a:pPr>
            <a:r>
              <a:rPr lang="en-US" dirty="0"/>
              <a:t>Use correct terminology and tone when referring to Australian Indigenous people</a:t>
            </a:r>
          </a:p>
          <a:p>
            <a:pPr marL="285750" lvl="0" indent="-285750">
              <a:buFont typeface="Arial" panose="020B0604020202020204" pitchFamily="34" charset="0"/>
              <a:buChar char="•"/>
            </a:pPr>
            <a:r>
              <a:rPr lang="en-US" dirty="0"/>
              <a:t>Use APA 7</a:t>
            </a:r>
            <a:r>
              <a:rPr lang="en-US" baseline="30000" dirty="0"/>
              <a:t>th</a:t>
            </a:r>
            <a:r>
              <a:rPr lang="en-US" dirty="0"/>
              <a:t> document, referencing, and citation styles in this Unit</a:t>
            </a:r>
          </a:p>
          <a:p>
            <a:pPr marL="285750" indent="-285750">
              <a:buFont typeface="Arial" panose="020B0604020202020204" pitchFamily="34" charset="0"/>
              <a:buChar char="•"/>
            </a:pPr>
            <a:r>
              <a:rPr lang="en-US" dirty="0"/>
              <a:t>Label your submission with your surname and initials, and the assessment task's name, for example:</a:t>
            </a:r>
            <a:endParaRPr lang="en-AU" dirty="0"/>
          </a:p>
          <a:p>
            <a:r>
              <a:rPr lang="en-US" dirty="0"/>
              <a:t>		</a:t>
            </a:r>
            <a:r>
              <a:rPr lang="en-US" dirty="0" err="1"/>
              <a:t>SmithJ_Critical</a:t>
            </a:r>
            <a:r>
              <a:rPr lang="en-US" dirty="0"/>
              <a:t> Review.docx	</a:t>
            </a:r>
            <a:endParaRPr lang="en-AU" dirty="0"/>
          </a:p>
          <a:p>
            <a:pPr marL="285750" indent="-285750">
              <a:buFont typeface="Arial" panose="020B0604020202020204" pitchFamily="34" charset="0"/>
              <a:buChar char="•"/>
            </a:pPr>
            <a:r>
              <a:rPr lang="en-US" dirty="0"/>
              <a:t> You </a:t>
            </a:r>
            <a:r>
              <a:rPr lang="en-US" b="1" dirty="0"/>
              <a:t>MUST</a:t>
            </a:r>
            <a:r>
              <a:rPr lang="en-US" dirty="0"/>
              <a:t> add a footer to your submission.</a:t>
            </a:r>
            <a:endParaRPr lang="en-AU" dirty="0"/>
          </a:p>
          <a:p>
            <a:r>
              <a:rPr lang="en-US" dirty="0"/>
              <a:t>Add your name and task type – i.e. </a:t>
            </a:r>
            <a:r>
              <a:rPr lang="en-US" dirty="0" err="1"/>
              <a:t>SmithJ_CriticalReview</a:t>
            </a:r>
            <a:r>
              <a:rPr lang="en-US" dirty="0"/>
              <a:t> on left margin, your student ID, and have page number on the right margin. See the example below:</a:t>
            </a:r>
            <a:endParaRPr lang="en-AU" dirty="0"/>
          </a:p>
          <a:p>
            <a:pPr lvl="0"/>
            <a:r>
              <a:rPr lang="en-US" dirty="0"/>
              <a:t>		</a:t>
            </a:r>
            <a:br>
              <a:rPr lang="en-US" dirty="0"/>
            </a:br>
            <a:endParaRPr lang="en-AU" dirty="0"/>
          </a:p>
          <a:p>
            <a:r>
              <a:rPr lang="en-US" dirty="0"/>
              <a:t> </a:t>
            </a:r>
            <a:endParaRPr lang="en-AU" dirty="0"/>
          </a:p>
          <a:p>
            <a:endParaRPr lang="en-AU" dirty="0"/>
          </a:p>
          <a:p>
            <a:endParaRPr lang="en-AU" dirty="0"/>
          </a:p>
          <a:p>
            <a:endParaRPr lang="en-AU" dirty="0"/>
          </a:p>
          <a:p>
            <a:endParaRPr lang="en-AU" dirty="0"/>
          </a:p>
        </p:txBody>
      </p:sp>
      <p:pic>
        <p:nvPicPr>
          <p:cNvPr id="6" name="Picture 5">
            <a:extLst>
              <a:ext uri="{FF2B5EF4-FFF2-40B4-BE49-F238E27FC236}">
                <a16:creationId xmlns:a16="http://schemas.microsoft.com/office/drawing/2014/main" id="{994B7328-30BF-2602-B5E9-A8022DD97A1B}"/>
              </a:ext>
            </a:extLst>
          </p:cNvPr>
          <p:cNvPicPr>
            <a:picLocks noChangeAspect="1"/>
          </p:cNvPicPr>
          <p:nvPr/>
        </p:nvPicPr>
        <p:blipFill>
          <a:blip r:embed="rId4"/>
          <a:stretch>
            <a:fillRect/>
          </a:stretch>
        </p:blipFill>
        <p:spPr>
          <a:xfrm>
            <a:off x="2743232" y="6460436"/>
            <a:ext cx="4857750" cy="247650"/>
          </a:xfrm>
          <a:prstGeom prst="rect">
            <a:avLst/>
          </a:prstGeom>
        </p:spPr>
      </p:pic>
    </p:spTree>
    <p:extLst>
      <p:ext uri="{BB962C8B-B14F-4D97-AF65-F5344CB8AC3E}">
        <p14:creationId xmlns:p14="http://schemas.microsoft.com/office/powerpoint/2010/main" val="4959386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0DD81397-CCE0-3374-F0F0-4A52BC343F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AA7E4F9-7603-40A8-D66C-44C098A6B74C}"/>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A6F4D054-56AA-6E73-46A1-C6E23BBD99FC}"/>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A5B01FAA-9EB5-6897-FA8F-2EF9C5E4ED14}"/>
              </a:ext>
            </a:extLst>
          </p:cNvPr>
          <p:cNvSpPr txBox="1"/>
          <p:nvPr/>
        </p:nvSpPr>
        <p:spPr>
          <a:xfrm>
            <a:off x="7147898" y="1481787"/>
            <a:ext cx="5135525"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Task Resources &amp; Other Requirements</a:t>
            </a:r>
          </a:p>
        </p:txBody>
      </p:sp>
      <p:pic>
        <p:nvPicPr>
          <p:cNvPr id="5" name="Picture 4">
            <a:extLst>
              <a:ext uri="{FF2B5EF4-FFF2-40B4-BE49-F238E27FC236}">
                <a16:creationId xmlns:a16="http://schemas.microsoft.com/office/drawing/2014/main" id="{019A7FFE-1525-EBCA-7FF6-E1C50BDFCBED}"/>
              </a:ext>
            </a:extLst>
          </p:cNvPr>
          <p:cNvPicPr>
            <a:picLocks noChangeAspect="1"/>
          </p:cNvPicPr>
          <p:nvPr/>
        </p:nvPicPr>
        <p:blipFill>
          <a:blip r:embed="rId4"/>
          <a:stretch>
            <a:fillRect/>
          </a:stretch>
        </p:blipFill>
        <p:spPr>
          <a:xfrm>
            <a:off x="-112945" y="-196097"/>
            <a:ext cx="7448952" cy="7448952"/>
          </a:xfrm>
          <a:prstGeom prst="rect">
            <a:avLst/>
          </a:prstGeom>
        </p:spPr>
      </p:pic>
    </p:spTree>
    <p:extLst>
      <p:ext uri="{BB962C8B-B14F-4D97-AF65-F5344CB8AC3E}">
        <p14:creationId xmlns:p14="http://schemas.microsoft.com/office/powerpoint/2010/main" val="3807662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DD65FB65-0E72-7209-286E-5D2BF9AAAA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4F96E57-B65F-F7C4-C149-4AF4C2CFBC78}"/>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63F286D-71A2-A041-9E49-DD814083A647}"/>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89DFF8C-46F1-3F29-DAC6-82EDC4B9A942}"/>
              </a:ext>
            </a:extLst>
          </p:cNvPr>
          <p:cNvSpPr txBox="1"/>
          <p:nvPr/>
        </p:nvSpPr>
        <p:spPr>
          <a:xfrm>
            <a:off x="3144784" y="203142"/>
            <a:ext cx="513552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INDG6002 GenAI Use</a:t>
            </a:r>
          </a:p>
        </p:txBody>
      </p:sp>
      <p:pic>
        <p:nvPicPr>
          <p:cNvPr id="4" name="Picture 3">
            <a:extLst>
              <a:ext uri="{FF2B5EF4-FFF2-40B4-BE49-F238E27FC236}">
                <a16:creationId xmlns:a16="http://schemas.microsoft.com/office/drawing/2014/main" id="{AC531462-131C-5B11-A958-EEF86322583C}"/>
              </a:ext>
            </a:extLst>
          </p:cNvPr>
          <p:cNvPicPr>
            <a:picLocks noChangeAspect="1"/>
          </p:cNvPicPr>
          <p:nvPr/>
        </p:nvPicPr>
        <p:blipFill>
          <a:blip r:embed="rId4"/>
          <a:stretch>
            <a:fillRect/>
          </a:stretch>
        </p:blipFill>
        <p:spPr>
          <a:xfrm>
            <a:off x="1517507" y="1133657"/>
            <a:ext cx="9156986" cy="4590686"/>
          </a:xfrm>
          <a:prstGeom prst="rect">
            <a:avLst/>
          </a:prstGeom>
        </p:spPr>
      </p:pic>
    </p:spTree>
    <p:extLst>
      <p:ext uri="{BB962C8B-B14F-4D97-AF65-F5344CB8AC3E}">
        <p14:creationId xmlns:p14="http://schemas.microsoft.com/office/powerpoint/2010/main" val="15910831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B2B0758A-C798-F12A-0CF7-3FEAAB622A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420FAF4-C562-AA2C-089D-94B1B9FCD304}"/>
              </a:ext>
            </a:extLst>
          </p:cNvPr>
          <p:cNvSpPr/>
          <p:nvPr/>
        </p:nvSpPr>
        <p:spPr>
          <a:xfrm>
            <a:off x="-766905" y="-232705"/>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B6B51CED-9CC3-26FC-7275-ACB42AC5B82E}"/>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483D7ADF-FAD6-02EC-A948-20D49702FE0B}"/>
              </a:ext>
            </a:extLst>
          </p:cNvPr>
          <p:cNvSpPr txBox="1"/>
          <p:nvPr/>
        </p:nvSpPr>
        <p:spPr>
          <a:xfrm>
            <a:off x="3144784" y="203142"/>
            <a:ext cx="6137439"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GenAI Use continued …</a:t>
            </a:r>
          </a:p>
        </p:txBody>
      </p:sp>
      <p:pic>
        <p:nvPicPr>
          <p:cNvPr id="5" name="Picture 4">
            <a:extLst>
              <a:ext uri="{FF2B5EF4-FFF2-40B4-BE49-F238E27FC236}">
                <a16:creationId xmlns:a16="http://schemas.microsoft.com/office/drawing/2014/main" id="{FE678255-301D-0D58-AAFC-C1D9E691A9DE}"/>
              </a:ext>
            </a:extLst>
          </p:cNvPr>
          <p:cNvPicPr>
            <a:picLocks noChangeAspect="1"/>
          </p:cNvPicPr>
          <p:nvPr/>
        </p:nvPicPr>
        <p:blipFill>
          <a:blip r:embed="rId4"/>
          <a:stretch>
            <a:fillRect/>
          </a:stretch>
        </p:blipFill>
        <p:spPr>
          <a:xfrm>
            <a:off x="1544867" y="1447384"/>
            <a:ext cx="8335360" cy="4516197"/>
          </a:xfrm>
          <a:prstGeom prst="rect">
            <a:avLst/>
          </a:prstGeom>
        </p:spPr>
      </p:pic>
    </p:spTree>
    <p:extLst>
      <p:ext uri="{BB962C8B-B14F-4D97-AF65-F5344CB8AC3E}">
        <p14:creationId xmlns:p14="http://schemas.microsoft.com/office/powerpoint/2010/main" val="2422746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B3A52C7-19E5-FCE4-15AF-5622E58D048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D0C62D-078F-AD21-36C1-A243D3D54382}"/>
              </a:ext>
            </a:extLst>
          </p:cNvPr>
          <p:cNvSpPr/>
          <p:nvPr/>
        </p:nvSpPr>
        <p:spPr>
          <a:xfrm>
            <a:off x="-766905" y="-455988"/>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AC364448-1449-64BF-8CA4-66C0C786B029}"/>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DE9C51E8-5F95-B8E2-1DBB-9502D4403228}"/>
              </a:ext>
            </a:extLst>
          </p:cNvPr>
          <p:cNvSpPr txBox="1"/>
          <p:nvPr/>
        </p:nvSpPr>
        <p:spPr>
          <a:xfrm>
            <a:off x="3144784" y="300922"/>
            <a:ext cx="6695252"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Coversheet &amp; Declaration</a:t>
            </a:r>
          </a:p>
        </p:txBody>
      </p:sp>
      <p:pic>
        <p:nvPicPr>
          <p:cNvPr id="5" name="Picture 4">
            <a:extLst>
              <a:ext uri="{FF2B5EF4-FFF2-40B4-BE49-F238E27FC236}">
                <a16:creationId xmlns:a16="http://schemas.microsoft.com/office/drawing/2014/main" id="{AAC85B00-430E-3836-A9F1-607D696802B8}"/>
              </a:ext>
            </a:extLst>
          </p:cNvPr>
          <p:cNvPicPr>
            <a:picLocks noChangeAspect="1"/>
          </p:cNvPicPr>
          <p:nvPr/>
        </p:nvPicPr>
        <p:blipFill>
          <a:blip r:embed="rId4"/>
          <a:stretch>
            <a:fillRect/>
          </a:stretch>
        </p:blipFill>
        <p:spPr>
          <a:xfrm>
            <a:off x="2106584" y="1499827"/>
            <a:ext cx="7978831" cy="5197290"/>
          </a:xfrm>
          <a:prstGeom prst="rect">
            <a:avLst/>
          </a:prstGeom>
        </p:spPr>
      </p:pic>
    </p:spTree>
    <p:extLst>
      <p:ext uri="{BB962C8B-B14F-4D97-AF65-F5344CB8AC3E}">
        <p14:creationId xmlns:p14="http://schemas.microsoft.com/office/powerpoint/2010/main" val="14128355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2FB5D6DF-DEB0-CC32-F6CA-518A3A43CA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30655C-91ED-499F-00F1-DAB526D1E09A}"/>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8E410E1D-FB8E-90BE-0103-D71AD28A0F2A}"/>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32E6625E-CB0D-CB9C-38E5-BB4A049EA67A}"/>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8" name="Picture 7">
            <a:extLst>
              <a:ext uri="{FF2B5EF4-FFF2-40B4-BE49-F238E27FC236}">
                <a16:creationId xmlns:a16="http://schemas.microsoft.com/office/drawing/2014/main" id="{33B9F6D4-6AA9-408C-D153-6150BB9BEE66}"/>
              </a:ext>
            </a:extLst>
          </p:cNvPr>
          <p:cNvPicPr>
            <a:picLocks noChangeAspect="1"/>
          </p:cNvPicPr>
          <p:nvPr/>
        </p:nvPicPr>
        <p:blipFill>
          <a:blip r:embed="rId4"/>
          <a:srcRect b="27690"/>
          <a:stretch>
            <a:fillRect/>
          </a:stretch>
        </p:blipFill>
        <p:spPr>
          <a:xfrm>
            <a:off x="451912" y="1609275"/>
            <a:ext cx="10155117" cy="4602681"/>
          </a:xfrm>
          <a:prstGeom prst="rect">
            <a:avLst/>
          </a:prstGeom>
        </p:spPr>
      </p:pic>
    </p:spTree>
    <p:extLst>
      <p:ext uri="{BB962C8B-B14F-4D97-AF65-F5344CB8AC3E}">
        <p14:creationId xmlns:p14="http://schemas.microsoft.com/office/powerpoint/2010/main" val="39431413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8C14D39-2C22-44D5-B653-737444DFC4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227E47B-B2A7-F105-E744-967333071C5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196936C5-D072-32EE-1073-FA1D322A81DF}"/>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ED05BB2D-C6F1-101A-9853-19F41EF00125}"/>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A80C828A-C661-1960-BCC6-B89B4545A67D}"/>
              </a:ext>
            </a:extLst>
          </p:cNvPr>
          <p:cNvPicPr>
            <a:picLocks noChangeAspect="1"/>
          </p:cNvPicPr>
          <p:nvPr/>
        </p:nvPicPr>
        <p:blipFill>
          <a:blip r:embed="rId4"/>
          <a:stretch>
            <a:fillRect/>
          </a:stretch>
        </p:blipFill>
        <p:spPr>
          <a:xfrm>
            <a:off x="422831" y="1482499"/>
            <a:ext cx="10098879" cy="3537280"/>
          </a:xfrm>
          <a:prstGeom prst="rect">
            <a:avLst/>
          </a:prstGeom>
        </p:spPr>
      </p:pic>
    </p:spTree>
    <p:extLst>
      <p:ext uri="{BB962C8B-B14F-4D97-AF65-F5344CB8AC3E}">
        <p14:creationId xmlns:p14="http://schemas.microsoft.com/office/powerpoint/2010/main" val="12381467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1BF14DEC-B77B-E2EF-6999-E8EC7843A2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02C7DF-BBC2-2C85-71DD-C5422EF1EB1A}"/>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7941DB3E-9327-8727-3AA5-1F01FB332AED}"/>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9DBDDE30-64D3-29B1-B6F6-02AEF304732A}"/>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81667978-7E5F-E686-2520-80783B52FD3C}"/>
              </a:ext>
            </a:extLst>
          </p:cNvPr>
          <p:cNvPicPr>
            <a:picLocks noChangeAspect="1"/>
          </p:cNvPicPr>
          <p:nvPr/>
        </p:nvPicPr>
        <p:blipFill>
          <a:blip r:embed="rId4"/>
          <a:stretch>
            <a:fillRect/>
          </a:stretch>
        </p:blipFill>
        <p:spPr>
          <a:xfrm>
            <a:off x="620916" y="1753624"/>
            <a:ext cx="9597821" cy="4100524"/>
          </a:xfrm>
          <a:prstGeom prst="rect">
            <a:avLst/>
          </a:prstGeom>
        </p:spPr>
      </p:pic>
    </p:spTree>
    <p:extLst>
      <p:ext uri="{BB962C8B-B14F-4D97-AF65-F5344CB8AC3E}">
        <p14:creationId xmlns:p14="http://schemas.microsoft.com/office/powerpoint/2010/main" val="20741086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3F0561B-B550-4BEC-54D6-CE7776BF94A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6BB7D3A-2FC0-F892-4B57-A12AA8FB8152}"/>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0A5CFF7-9E09-3845-9C4D-24390C649927}"/>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21334EAE-9DDA-EA67-313E-7F6A6F82223F}"/>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8695D120-515E-73B2-972C-F4AC315C7E04}"/>
              </a:ext>
            </a:extLst>
          </p:cNvPr>
          <p:cNvPicPr>
            <a:picLocks noChangeAspect="1"/>
          </p:cNvPicPr>
          <p:nvPr/>
        </p:nvPicPr>
        <p:blipFill>
          <a:blip r:embed="rId4"/>
          <a:stretch>
            <a:fillRect/>
          </a:stretch>
        </p:blipFill>
        <p:spPr>
          <a:xfrm>
            <a:off x="1162878" y="1663627"/>
            <a:ext cx="8576785" cy="4526129"/>
          </a:xfrm>
          <a:prstGeom prst="rect">
            <a:avLst/>
          </a:prstGeom>
        </p:spPr>
      </p:pic>
    </p:spTree>
    <p:extLst>
      <p:ext uri="{BB962C8B-B14F-4D97-AF65-F5344CB8AC3E}">
        <p14:creationId xmlns:p14="http://schemas.microsoft.com/office/powerpoint/2010/main" val="13193685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AFCD7A96-0865-F1BB-F475-0157251DE1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AB8624D-A771-BEC6-7CAB-2AF349D2F480}"/>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5" name="Content Placeholder 4" descr="Question marks in a line and one question mark is lit">
            <a:extLst>
              <a:ext uri="{FF2B5EF4-FFF2-40B4-BE49-F238E27FC236}">
                <a16:creationId xmlns:a16="http://schemas.microsoft.com/office/drawing/2014/main" id="{D66EC079-CFC6-0228-B713-AF459F08C73A}"/>
              </a:ext>
            </a:extLst>
          </p:cNvPr>
          <p:cNvPicPr>
            <a:picLocks noChangeAspect="1"/>
          </p:cNvPicPr>
          <p:nvPr/>
        </p:nvPicPr>
        <p:blipFill>
          <a:blip r:embed="rId3"/>
          <a:srcRect t="2148" b="13583"/>
          <a:stretch/>
        </p:blipFill>
        <p:spPr>
          <a:xfrm>
            <a:off x="-2798137" y="-565483"/>
            <a:ext cx="15286917" cy="8598892"/>
          </a:xfrm>
          <a:prstGeom prst="rect">
            <a:avLst/>
          </a:prstGeom>
        </p:spPr>
      </p:pic>
    </p:spTree>
    <p:extLst>
      <p:ext uri="{BB962C8B-B14F-4D97-AF65-F5344CB8AC3E}">
        <p14:creationId xmlns:p14="http://schemas.microsoft.com/office/powerpoint/2010/main" val="2693352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6A3F76AC-7C69-AF97-D12D-6034CE39942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377154-EC93-82F6-6180-F218B0730798}"/>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027B0262-AEA0-F7FE-98F9-1EF91F5C5E3D}"/>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4" name="Content Placeholder 4" descr="A close-up of several different types of text&#10;&#10;AI-generated content may be incorrect.">
            <a:extLst>
              <a:ext uri="{FF2B5EF4-FFF2-40B4-BE49-F238E27FC236}">
                <a16:creationId xmlns:a16="http://schemas.microsoft.com/office/drawing/2014/main" id="{CC7E2C3E-995F-1790-5F11-2FBC0CE78667}"/>
              </a:ext>
            </a:extLst>
          </p:cNvPr>
          <p:cNvPicPr>
            <a:picLocks noChangeAspect="1"/>
          </p:cNvPicPr>
          <p:nvPr/>
        </p:nvPicPr>
        <p:blipFill>
          <a:blip r:embed="rId4"/>
          <a:stretch>
            <a:fillRect/>
          </a:stretch>
        </p:blipFill>
        <p:spPr>
          <a:xfrm>
            <a:off x="3065122" y="2103438"/>
            <a:ext cx="6061756" cy="3849687"/>
          </a:xfrm>
          <a:prstGeom prst="rect">
            <a:avLst/>
          </a:prstGeom>
        </p:spPr>
      </p:pic>
      <p:sp>
        <p:nvSpPr>
          <p:cNvPr id="5" name="TextBox 4">
            <a:extLst>
              <a:ext uri="{FF2B5EF4-FFF2-40B4-BE49-F238E27FC236}">
                <a16:creationId xmlns:a16="http://schemas.microsoft.com/office/drawing/2014/main" id="{5E603DDA-66DF-2E0F-3585-34CD8794D85A}"/>
              </a:ext>
            </a:extLst>
          </p:cNvPr>
          <p:cNvSpPr txBox="1"/>
          <p:nvPr/>
        </p:nvSpPr>
        <p:spPr>
          <a:xfrm>
            <a:off x="1876926" y="770021"/>
            <a:ext cx="376588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5400" b="0" i="0" u="none" strike="noStrike" kern="1200" cap="none" spc="0" normalizeH="0" baseline="0" noProof="0" dirty="0">
                <a:ln>
                  <a:noFill/>
                </a:ln>
                <a:solidFill>
                  <a:prstClr val="black"/>
                </a:solidFill>
                <a:effectLst/>
                <a:uLnTx/>
                <a:uFillTx/>
                <a:latin typeface="Calibri"/>
                <a:ea typeface="+mn-ea"/>
                <a:cs typeface="+mn-cs"/>
              </a:rPr>
              <a:t>Next week … </a:t>
            </a:r>
          </a:p>
        </p:txBody>
      </p:sp>
    </p:spTree>
    <p:extLst>
      <p:ext uri="{BB962C8B-B14F-4D97-AF65-F5344CB8AC3E}">
        <p14:creationId xmlns:p14="http://schemas.microsoft.com/office/powerpoint/2010/main" val="20519540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FDA0F84D-5C6C-0AE8-6C5F-AABAFC9322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3F6E233-77FF-B356-57CF-5BDC8401317D}"/>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9628B037-2686-D870-3B55-67D26D179A2B}"/>
              </a:ext>
            </a:extLst>
          </p:cNvPr>
          <p:cNvSpPr/>
          <p:nvPr/>
        </p:nvSpPr>
        <p:spPr>
          <a:xfrm rot="7949221">
            <a:off x="6834956" y="2675690"/>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4" name="Picture 3" descr="A tree next to a body of water&#10;&#10;Description automatically generated">
            <a:extLst>
              <a:ext uri="{FF2B5EF4-FFF2-40B4-BE49-F238E27FC236}">
                <a16:creationId xmlns:a16="http://schemas.microsoft.com/office/drawing/2014/main" id="{E54C2AB8-4394-AE0C-026C-6C76ACBF4F42}"/>
              </a:ext>
            </a:extLst>
          </p:cNvPr>
          <p:cNvPicPr>
            <a:picLocks noChangeAspect="1"/>
          </p:cNvPicPr>
          <p:nvPr/>
        </p:nvPicPr>
        <p:blipFill>
          <a:blip r:embed="rId4"/>
          <a:stretch>
            <a:fillRect/>
          </a:stretch>
        </p:blipFill>
        <p:spPr>
          <a:xfrm>
            <a:off x="796268" y="880556"/>
            <a:ext cx="4576924" cy="5775299"/>
          </a:xfrm>
          <a:prstGeom prst="rect">
            <a:avLst/>
          </a:prstGeom>
        </p:spPr>
      </p:pic>
      <p:sp>
        <p:nvSpPr>
          <p:cNvPr id="5" name="TextBox 4">
            <a:extLst>
              <a:ext uri="{FF2B5EF4-FFF2-40B4-BE49-F238E27FC236}">
                <a16:creationId xmlns:a16="http://schemas.microsoft.com/office/drawing/2014/main" id="{8FE95EDF-6928-87BF-62F0-EBF845C5BDBF}"/>
              </a:ext>
            </a:extLst>
          </p:cNvPr>
          <p:cNvSpPr txBox="1"/>
          <p:nvPr/>
        </p:nvSpPr>
        <p:spPr>
          <a:xfrm>
            <a:off x="6096000" y="1821447"/>
            <a:ext cx="4576924" cy="830997"/>
          </a:xfrm>
          <a:prstGeom prst="rect">
            <a:avLst/>
          </a:prstGeom>
          <a:noFill/>
        </p:spPr>
        <p:txBody>
          <a:bodyPr wrap="square" rtlCol="0">
            <a:spAutoFit/>
          </a:bodyPr>
          <a:lstStyle/>
          <a:p>
            <a:r>
              <a:rPr lang="en-AU" sz="4800" dirty="0"/>
              <a:t>Until next time …</a:t>
            </a:r>
          </a:p>
        </p:txBody>
      </p:sp>
    </p:spTree>
    <p:extLst>
      <p:ext uri="{BB962C8B-B14F-4D97-AF65-F5344CB8AC3E}">
        <p14:creationId xmlns:p14="http://schemas.microsoft.com/office/powerpoint/2010/main" val="32160533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s_Organic_Presentation_Win32_SW_v10.potx" id="{6F7A4518-677F-49D0-AD76-8F0F7DEFB1E5}" vid="{F577DF72-62B0-42B0-B34E-786789A7979D}"/>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6BCBFB-BBC7-42F1-95CD-058E172363A0}">
  <ds:schemaRefs>
    <ds:schemaRef ds:uri="http://schemas.microsoft.com/office/2006/metadata/properties"/>
    <ds:schemaRef ds:uri="http://schemas.openxmlformats.org/package/2006/metadata/core-properties"/>
    <ds:schemaRef ds:uri="http://purl.org/dc/terms/"/>
    <ds:schemaRef ds:uri="http://purl.org/dc/dcmitype/"/>
    <ds:schemaRef ds:uri="http://schemas.microsoft.com/office/2006/documentManagement/types"/>
    <ds:schemaRef ds:uri="http://schemas.microsoft.com/office/infopath/2007/PartnerControls"/>
    <ds:schemaRef ds:uri="16c05727-aa75-4e4a-9b5f-8a80a1165891"/>
    <ds:schemaRef ds:uri="http://purl.org/dc/elements/1.1/"/>
    <ds:schemaRef ds:uri="71af3243-3dd4-4a8d-8c0d-dd76da1f02a5"/>
    <ds:schemaRef ds:uri="http://www.w3.org/XML/1998/namespace"/>
  </ds:schemaRefs>
</ds:datastoreItem>
</file>

<file path=customXml/itemProps2.xml><?xml version="1.0" encoding="utf-8"?>
<ds:datastoreItem xmlns:ds="http://schemas.openxmlformats.org/officeDocument/2006/customXml" ds:itemID="{1F91CDEB-92ED-41DC-BF33-2916A76876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59D436-C82E-43E0-8A01-53DF9CED6032}">
  <ds:schemaRefs>
    <ds:schemaRef ds:uri="http://schemas.microsoft.com/sharepoint/v3/contenttype/forms"/>
  </ds:schemaRefs>
</ds:datastoreItem>
</file>

<file path=docMetadata/LabelInfo.xml><?xml version="1.0" encoding="utf-8"?>
<clbl:labelList xmlns:clbl="http://schemas.microsoft.com/office/2020/mipLabelMetadata">
  <clbl:label id="{f3e3c40b-f4e3-450b-85e4-4043e55ca004}" enabled="0" method="" siteId="{f3e3c40b-f4e3-450b-85e4-4043e55ca004}" removed="1"/>
</clbl:labelList>
</file>

<file path=docProps/app.xml><?xml version="1.0" encoding="utf-8"?>
<Properties xmlns="http://schemas.openxmlformats.org/officeDocument/2006/extended-properties" xmlns:vt="http://schemas.openxmlformats.org/officeDocument/2006/docPropsVTypes">
  <Template>{1C463D35-7291-4C59-A93B-08D222B945F0}tf11531919_win32</Template>
  <TotalTime>1502</TotalTime>
  <Words>2483</Words>
  <Application>Microsoft Office PowerPoint</Application>
  <PresentationFormat>Widescreen</PresentationFormat>
  <Paragraphs>307</Paragraphs>
  <Slides>46</Slides>
  <Notes>46</Notes>
  <HiddenSlides>0</HiddenSlides>
  <MMClips>4</MMClips>
  <ScaleCrop>false</ScaleCrop>
  <HeadingPairs>
    <vt:vector size="6" baseType="variant">
      <vt:variant>
        <vt:lpstr>Fonts Used</vt:lpstr>
      </vt:variant>
      <vt:variant>
        <vt:i4>15</vt:i4>
      </vt:variant>
      <vt:variant>
        <vt:lpstr>Theme</vt:lpstr>
      </vt:variant>
      <vt:variant>
        <vt:i4>4</vt:i4>
      </vt:variant>
      <vt:variant>
        <vt:lpstr>Slide Titles</vt:lpstr>
      </vt:variant>
      <vt:variant>
        <vt:i4>46</vt:i4>
      </vt:variant>
    </vt:vector>
  </HeadingPairs>
  <TitlesOfParts>
    <vt:vector size="65" baseType="lpstr">
      <vt:lpstr>Abadi</vt:lpstr>
      <vt:lpstr>Aptos</vt:lpstr>
      <vt:lpstr>Aptos Display</vt:lpstr>
      <vt:lpstr>Arial</vt:lpstr>
      <vt:lpstr>Avenir Next LT Pro</vt:lpstr>
      <vt:lpstr>Avenir Next LT Pro Light</vt:lpstr>
      <vt:lpstr>Calibri</vt:lpstr>
      <vt:lpstr>Century Gothic</vt:lpstr>
      <vt:lpstr>Courier New</vt:lpstr>
      <vt:lpstr>Garamond</vt:lpstr>
      <vt:lpstr>Gill Sans Nova</vt:lpstr>
      <vt:lpstr>Gill Sans Nova Light</vt:lpstr>
      <vt:lpstr>Sagona Book</vt:lpstr>
      <vt:lpstr>Segoe UI</vt:lpstr>
      <vt:lpstr>Wingdings</vt:lpstr>
      <vt:lpstr>SavonVTI</vt:lpstr>
      <vt:lpstr>1_Office Theme</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Reflexivity?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INDG2001 Health and Indigenous Australian  Peoples  Creating change and models of health</dc:title>
  <dc:creator>Kelly Menzel</dc:creator>
  <cp:lastModifiedBy>Ros Sawtell</cp:lastModifiedBy>
  <cp:revision>68</cp:revision>
  <cp:lastPrinted>2024-11-16T02:06:47Z</cp:lastPrinted>
  <dcterms:created xsi:type="dcterms:W3CDTF">2022-09-06T05:16:59Z</dcterms:created>
  <dcterms:modified xsi:type="dcterms:W3CDTF">2026-10-17T11:54:56Z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