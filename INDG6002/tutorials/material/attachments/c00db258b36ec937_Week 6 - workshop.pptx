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89" r:id="rId3"/>
    <p:sldId id="617" r:id="rId4"/>
    <p:sldId id="635" r:id="rId5"/>
    <p:sldId id="626" r:id="rId6"/>
    <p:sldId id="618" r:id="rId7"/>
    <p:sldId id="627" r:id="rId8"/>
    <p:sldId id="619" r:id="rId9"/>
    <p:sldId id="628" r:id="rId10"/>
    <p:sldId id="636" r:id="rId11"/>
    <p:sldId id="621" r:id="rId12"/>
    <p:sldId id="620" r:id="rId13"/>
    <p:sldId id="632" r:id="rId14"/>
    <p:sldId id="629" r:id="rId15"/>
    <p:sldId id="630" r:id="rId16"/>
    <p:sldId id="622" r:id="rId17"/>
    <p:sldId id="294" r:id="rId18"/>
    <p:sldId id="274" r:id="rId19"/>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13A1B"/>
    <a:srgbClr val="7F5A2A"/>
    <a:srgbClr val="404329"/>
    <a:srgbClr val="BEC39D"/>
    <a:srgbClr val="A3AB75"/>
    <a:srgbClr val="5D623C"/>
    <a:srgbClr val="949B5F"/>
    <a:srgbClr val="CFD2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75783" autoAdjust="0"/>
  </p:normalViewPr>
  <p:slideViewPr>
    <p:cSldViewPr snapToGrid="0">
      <p:cViewPr varScale="1">
        <p:scale>
          <a:sx n="48" d="100"/>
          <a:sy n="48" d="100"/>
        </p:scale>
        <p:origin x="1172" y="28"/>
      </p:cViewPr>
      <p:guideLst/>
    </p:cSldViewPr>
  </p:slideViewPr>
  <p:notesTextViewPr>
    <p:cViewPr>
      <p:scale>
        <a:sx n="1" d="1"/>
        <a:sy n="1" d="1"/>
      </p:scale>
      <p:origin x="0" y="0"/>
    </p:cViewPr>
  </p:notesTextViewPr>
  <p:notesViewPr>
    <p:cSldViewPr snapToGrid="0">
      <p:cViewPr varScale="1">
        <p:scale>
          <a:sx n="78" d="100"/>
          <a:sy n="78" d="100"/>
        </p:scale>
        <p:origin x="4062"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50DA0980-AC8F-4E8B-B1E6-BE1C0310CBFF}" type="datetimeFigureOut">
              <a:rPr lang="en-AU" smtClean="0"/>
              <a:t>19/10/2026</a:t>
            </a:fld>
            <a:endParaRPr lang="en-AU"/>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34F8803C-413B-49CE-9FB4-C71B16B15C5C}" type="slidenum">
              <a:rPr lang="en-AU" smtClean="0"/>
              <a:t>‹#›</a:t>
            </a:fld>
            <a:endParaRPr lang="en-AU"/>
          </a:p>
        </p:txBody>
      </p:sp>
    </p:spTree>
    <p:extLst>
      <p:ext uri="{BB962C8B-B14F-4D97-AF65-F5344CB8AC3E}">
        <p14:creationId xmlns:p14="http://schemas.microsoft.com/office/powerpoint/2010/main" val="1604658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34F8803C-413B-49CE-9FB4-C71B16B15C5C}" type="slidenum">
              <a:rPr lang="en-AU" smtClean="0"/>
              <a:t>1</a:t>
            </a:fld>
            <a:endParaRPr lang="en-AU"/>
          </a:p>
        </p:txBody>
      </p:sp>
      <p:pic>
        <p:nvPicPr>
          <p:cNvPr id="6" name="Picture 5" descr="A landscape with trees and a cloudy sky&#10;&#10;AI-generated content may be incorrect.">
            <a:extLst>
              <a:ext uri="{FF2B5EF4-FFF2-40B4-BE49-F238E27FC236}">
                <a16:creationId xmlns:a16="http://schemas.microsoft.com/office/drawing/2014/main" id="{0C730CC8-A366-EA59-6A9F-83194DC51D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987" y="1467724"/>
            <a:ext cx="2524851" cy="1298843"/>
          </a:xfrm>
          <a:prstGeom prst="rect">
            <a:avLst/>
          </a:prstGeom>
        </p:spPr>
      </p:pic>
    </p:spTree>
    <p:extLst>
      <p:ext uri="{BB962C8B-B14F-4D97-AF65-F5344CB8AC3E}">
        <p14:creationId xmlns:p14="http://schemas.microsoft.com/office/powerpoint/2010/main" val="7038315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F8803C-413B-49CE-9FB4-C71B16B15C5C}"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876189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4DD77-53C1-1EEC-2965-E726E9468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C023B3-56CA-3CCB-231E-C6B452C1AC21}"/>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DA3733A0-6812-46F8-E84A-4BD585C7374E}"/>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BD9ED143-A396-9A6D-EE57-F3340D156D0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23F47E-B44E-4EA5-8AD1-88257D34C0D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943751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D8F6A-5327-7224-439F-98208F0ADC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AE1786-D718-B947-BC2C-38C718DC6119}"/>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3DCF1D2-4723-AE93-0DB8-1B686EE7DDEE}"/>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EF4B0F71-9807-D455-F852-EFE8CB3A179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23F47E-B44E-4EA5-8AD1-88257D34C0D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722765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8EDD1-8946-7521-0525-C0B1D06382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36B67F-8AE8-95FF-90AC-D1AA253A6E0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3649739D-AAAE-2570-468D-08F3D8B7D5B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4D2E002-E3A0-58B2-8222-956B461FF33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23F47E-B44E-4EA5-8AD1-88257D34C0D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817867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906ED-D4F6-BD36-18BD-450AF03110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F283A4-71A0-94B3-D914-E1CB5286DAC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6B7B8E0-F80B-A258-065B-10BD32D1227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0641AB01-E5F8-D34D-FFFF-CDAF8C8B59B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23F47E-B44E-4EA5-8AD1-88257D34C0D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5663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EF3BB-5837-6EC0-ED02-7383E3645C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BF237-6DEA-4373-F1CA-36A09B963EF8}"/>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EE9BE83-9772-C92F-39F0-D7A205BED350}"/>
              </a:ext>
            </a:extLst>
          </p:cNvPr>
          <p:cNvSpPr>
            <a:spLocks noGrp="1"/>
          </p:cNvSpPr>
          <p:nvPr>
            <p:ph type="body" idx="1"/>
          </p:nvPr>
        </p:nvSpPr>
        <p:spPr>
          <a:xfrm>
            <a:off x="679768" y="4777194"/>
            <a:ext cx="5438140" cy="6919506"/>
          </a:xfrm>
        </p:spPr>
        <p:txBody>
          <a:bodyPr/>
          <a:lstStyle/>
          <a:p>
            <a:endParaRPr lang="en-AU" dirty="0"/>
          </a:p>
        </p:txBody>
      </p:sp>
      <p:sp>
        <p:nvSpPr>
          <p:cNvPr id="4" name="Slide Number Placeholder 3">
            <a:extLst>
              <a:ext uri="{FF2B5EF4-FFF2-40B4-BE49-F238E27FC236}">
                <a16:creationId xmlns:a16="http://schemas.microsoft.com/office/drawing/2014/main" id="{9EE1720B-613A-7DAC-501D-940EE3CFB2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23F47E-B44E-4EA5-8AD1-88257D34C0D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715231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32F3E-E882-597B-2EDA-78A0CB76E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DFD480-C56F-1D51-BDA9-48EC502E9C4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00CAEDF5-43BB-800A-E2EB-AB49CB0A5B5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C5EE05E-522A-3DFD-27F4-193A5FD009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23F47E-B44E-4EA5-8AD1-88257D34C0D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323750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E18F7-A374-24AB-039C-EA8960458B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B0D15-09CF-5833-6777-1E00CE72234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EFC40B9-7D51-12A4-B517-90B4BF3EB04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1322792-88B5-7F99-1A0B-93A1090038D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23F47E-B44E-4EA5-8AD1-88257D34C0D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783074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8F6C-ED0F-9A03-6E96-7C9BEDA390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D55319-F773-9257-AC71-AD4031A7C134}"/>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416347C-4293-66F9-9EE4-171092C6982E}"/>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E7FDB36-E0F8-EA72-4CBE-37443712BE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23F47E-B44E-4EA5-8AD1-88257D34C0D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542072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67B17-FA25-20A1-8112-872580E81B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55F119-4D4C-9481-5472-6468AF160E2F}"/>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9A177E9D-1B60-1A10-A252-890FD0903974}"/>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65FCD18D-34A2-AA13-2DD9-4B412A9AC66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23F47E-B44E-4EA5-8AD1-88257D34C0D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721149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3A6EF-7095-2658-8F79-4C81321B99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AFF94C-C2FD-DE4B-9020-7FF7439F72A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0E96FC8C-F795-DE31-6CEB-5ACBA990D1C0}"/>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8659516-0D40-6849-3E20-17BDBF2068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23F47E-B44E-4EA5-8AD1-88257D34C0D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060778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86B11-E153-F7D5-C24A-13FECD2E65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361075-AD11-38B6-B698-90B61E041C04}"/>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9340B462-4B8A-07FC-3A43-F7315B4F099E}"/>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0E0C42B8-2022-6E24-3D75-844A783FD2B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23F47E-B44E-4EA5-8AD1-88257D34C0D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157114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51DD3-B8D8-AD4A-CFED-5D4B63E9B2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72D90-D452-B6AC-8903-A230F3CE0BF9}"/>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92DA675-03AB-BBE3-0AE3-C25B392B5FC9}"/>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3492B66-6B38-E32D-EBA6-7010316F5CA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23F47E-B44E-4EA5-8AD1-88257D34C0D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635569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BE2F-B9D7-54C0-521B-DC8BFF8EB5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AEB99F-D0FF-F2A2-3AD1-AE3198DC6C68}"/>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DA4A4BE-3335-409F-9DA3-083FCC7F917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6978CC12-72ED-94B1-69B6-46A80DE3C58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23F47E-B44E-4EA5-8AD1-88257D34C0D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436236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DD5FC-F0E8-9746-1FD4-877CD4C24C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2CA06F-DD19-A191-CD23-428270AA7D6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0663D9C0-3BBE-0D26-4EA8-7050992F4B44}"/>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AAF6913-5343-1D76-8847-C739B1C283F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23F47E-B44E-4EA5-8AD1-88257D34C0D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505153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23F47E-B44E-4EA5-8AD1-88257D34C0D0}"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214518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34F8803C-413B-49CE-9FB4-C71B16B15C5C}" type="slidenum">
              <a:rPr lang="en-AU" smtClean="0"/>
              <a:t>18</a:t>
            </a:fld>
            <a:endParaRPr lang="en-AU"/>
          </a:p>
        </p:txBody>
      </p:sp>
    </p:spTree>
    <p:extLst>
      <p:ext uri="{BB962C8B-B14F-4D97-AF65-F5344CB8AC3E}">
        <p14:creationId xmlns:p14="http://schemas.microsoft.com/office/powerpoint/2010/main" val="22309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26E1E-EF4C-F7DF-8C3B-7796E9D54A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240BD5A4-AD97-8DFA-B257-F77DE534BF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0BFC9053-2658-D9B6-1989-6E33795425FE}"/>
              </a:ext>
            </a:extLst>
          </p:cNvPr>
          <p:cNvSpPr>
            <a:spLocks noGrp="1"/>
          </p:cNvSpPr>
          <p:nvPr>
            <p:ph type="dt" sz="half" idx="10"/>
          </p:nvPr>
        </p:nvSpPr>
        <p:spPr/>
        <p:txBody>
          <a:bodyPr/>
          <a:lstStyle/>
          <a:p>
            <a:fld id="{CF1EC185-4A62-4A4F-B57A-5DBF65C0493B}" type="datetimeFigureOut">
              <a:rPr lang="en-AU" smtClean="0"/>
              <a:t>19/10/2026</a:t>
            </a:fld>
            <a:endParaRPr lang="en-AU"/>
          </a:p>
        </p:txBody>
      </p:sp>
      <p:sp>
        <p:nvSpPr>
          <p:cNvPr id="5" name="Footer Placeholder 4">
            <a:extLst>
              <a:ext uri="{FF2B5EF4-FFF2-40B4-BE49-F238E27FC236}">
                <a16:creationId xmlns:a16="http://schemas.microsoft.com/office/drawing/2014/main" id="{F48618E7-14CD-87BD-7F68-FB7A318B081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9EB858A-9459-CA26-FFBA-48312A3850E3}"/>
              </a:ext>
            </a:extLst>
          </p:cNvPr>
          <p:cNvSpPr>
            <a:spLocks noGrp="1"/>
          </p:cNvSpPr>
          <p:nvPr>
            <p:ph type="sldNum" sz="quarter" idx="12"/>
          </p:nvPr>
        </p:nvSpPr>
        <p:spPr/>
        <p:txBody>
          <a:bodyPr/>
          <a:lstStyle/>
          <a:p>
            <a:fld id="{9EB04B5E-0884-43EC-9603-AC9B92FCD1DC}" type="slidenum">
              <a:rPr lang="en-AU" smtClean="0"/>
              <a:t>‹#›</a:t>
            </a:fld>
            <a:endParaRPr lang="en-AU"/>
          </a:p>
        </p:txBody>
      </p:sp>
    </p:spTree>
    <p:extLst>
      <p:ext uri="{BB962C8B-B14F-4D97-AF65-F5344CB8AC3E}">
        <p14:creationId xmlns:p14="http://schemas.microsoft.com/office/powerpoint/2010/main" val="1118038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D0100-9E36-7292-F007-517FFC4C1AC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8C22446-9045-848D-B453-E5CAF04615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D5A5F30-8F8C-69BE-D8E1-1470F9FCD170}"/>
              </a:ext>
            </a:extLst>
          </p:cNvPr>
          <p:cNvSpPr>
            <a:spLocks noGrp="1"/>
          </p:cNvSpPr>
          <p:nvPr>
            <p:ph type="dt" sz="half" idx="10"/>
          </p:nvPr>
        </p:nvSpPr>
        <p:spPr/>
        <p:txBody>
          <a:bodyPr/>
          <a:lstStyle/>
          <a:p>
            <a:fld id="{CF1EC185-4A62-4A4F-B57A-5DBF65C0493B}" type="datetimeFigureOut">
              <a:rPr lang="en-AU" smtClean="0"/>
              <a:t>19/10/2026</a:t>
            </a:fld>
            <a:endParaRPr lang="en-AU"/>
          </a:p>
        </p:txBody>
      </p:sp>
      <p:sp>
        <p:nvSpPr>
          <p:cNvPr id="5" name="Footer Placeholder 4">
            <a:extLst>
              <a:ext uri="{FF2B5EF4-FFF2-40B4-BE49-F238E27FC236}">
                <a16:creationId xmlns:a16="http://schemas.microsoft.com/office/drawing/2014/main" id="{BC27902F-FF78-AF81-4AC1-2969A60D019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9EA0659-5030-424A-44D0-BE0AA0F53F27}"/>
              </a:ext>
            </a:extLst>
          </p:cNvPr>
          <p:cNvSpPr>
            <a:spLocks noGrp="1"/>
          </p:cNvSpPr>
          <p:nvPr>
            <p:ph type="sldNum" sz="quarter" idx="12"/>
          </p:nvPr>
        </p:nvSpPr>
        <p:spPr/>
        <p:txBody>
          <a:bodyPr/>
          <a:lstStyle/>
          <a:p>
            <a:fld id="{9EB04B5E-0884-43EC-9603-AC9B92FCD1DC}" type="slidenum">
              <a:rPr lang="en-AU" smtClean="0"/>
              <a:t>‹#›</a:t>
            </a:fld>
            <a:endParaRPr lang="en-AU"/>
          </a:p>
        </p:txBody>
      </p:sp>
    </p:spTree>
    <p:extLst>
      <p:ext uri="{BB962C8B-B14F-4D97-AF65-F5344CB8AC3E}">
        <p14:creationId xmlns:p14="http://schemas.microsoft.com/office/powerpoint/2010/main" val="3112538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5AFD2-152C-524A-4389-DDAD44B659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80EF8092-C431-9274-4F48-93968C86254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FE8DA4-FF0A-DD47-29A5-89E3042C2483}"/>
              </a:ext>
            </a:extLst>
          </p:cNvPr>
          <p:cNvSpPr>
            <a:spLocks noGrp="1"/>
          </p:cNvSpPr>
          <p:nvPr>
            <p:ph type="dt" sz="half" idx="10"/>
          </p:nvPr>
        </p:nvSpPr>
        <p:spPr/>
        <p:txBody>
          <a:bodyPr/>
          <a:lstStyle/>
          <a:p>
            <a:fld id="{CF1EC185-4A62-4A4F-B57A-5DBF65C0493B}" type="datetimeFigureOut">
              <a:rPr lang="en-AU" smtClean="0"/>
              <a:t>19/10/2026</a:t>
            </a:fld>
            <a:endParaRPr lang="en-AU"/>
          </a:p>
        </p:txBody>
      </p:sp>
      <p:sp>
        <p:nvSpPr>
          <p:cNvPr id="5" name="Footer Placeholder 4">
            <a:extLst>
              <a:ext uri="{FF2B5EF4-FFF2-40B4-BE49-F238E27FC236}">
                <a16:creationId xmlns:a16="http://schemas.microsoft.com/office/drawing/2014/main" id="{1C1D4BD2-825C-83DF-6100-46AD86517D0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75C29F3-8872-BE3D-1D0A-9E4FB83A8721}"/>
              </a:ext>
            </a:extLst>
          </p:cNvPr>
          <p:cNvSpPr>
            <a:spLocks noGrp="1"/>
          </p:cNvSpPr>
          <p:nvPr>
            <p:ph type="sldNum" sz="quarter" idx="12"/>
          </p:nvPr>
        </p:nvSpPr>
        <p:spPr/>
        <p:txBody>
          <a:bodyPr/>
          <a:lstStyle/>
          <a:p>
            <a:fld id="{9EB04B5E-0884-43EC-9603-AC9B92FCD1DC}" type="slidenum">
              <a:rPr lang="en-AU" smtClean="0"/>
              <a:t>‹#›</a:t>
            </a:fld>
            <a:endParaRPr lang="en-AU"/>
          </a:p>
        </p:txBody>
      </p:sp>
    </p:spTree>
    <p:extLst>
      <p:ext uri="{BB962C8B-B14F-4D97-AF65-F5344CB8AC3E}">
        <p14:creationId xmlns:p14="http://schemas.microsoft.com/office/powerpoint/2010/main" val="2097746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3E800-4E53-95B6-6BEC-0763BB58510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2EDFFC0E-AA9B-4D35-769E-3C04A34200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6914F514-4ECF-0B2A-E7F7-1D995BAFFC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BCB202C-5AE2-5A6A-965A-1E2CCC440A12}"/>
              </a:ext>
            </a:extLst>
          </p:cNvPr>
          <p:cNvSpPr>
            <a:spLocks noGrp="1"/>
          </p:cNvSpPr>
          <p:nvPr>
            <p:ph type="dt" sz="half" idx="10"/>
          </p:nvPr>
        </p:nvSpPr>
        <p:spPr/>
        <p:txBody>
          <a:bodyPr/>
          <a:lstStyle/>
          <a:p>
            <a:fld id="{CF1EC185-4A62-4A4F-B57A-5DBF65C0493B}" type="datetimeFigureOut">
              <a:rPr lang="en-AU" smtClean="0"/>
              <a:t>19/10/2026</a:t>
            </a:fld>
            <a:endParaRPr lang="en-AU"/>
          </a:p>
        </p:txBody>
      </p:sp>
      <p:sp>
        <p:nvSpPr>
          <p:cNvPr id="6" name="Footer Placeholder 5">
            <a:extLst>
              <a:ext uri="{FF2B5EF4-FFF2-40B4-BE49-F238E27FC236}">
                <a16:creationId xmlns:a16="http://schemas.microsoft.com/office/drawing/2014/main" id="{06488E1B-AD8F-EC0E-5EDA-94AF9E265D8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4E6F56B-9560-9F43-2CDA-BB37FB5D6846}"/>
              </a:ext>
            </a:extLst>
          </p:cNvPr>
          <p:cNvSpPr>
            <a:spLocks noGrp="1"/>
          </p:cNvSpPr>
          <p:nvPr>
            <p:ph type="sldNum" sz="quarter" idx="12"/>
          </p:nvPr>
        </p:nvSpPr>
        <p:spPr/>
        <p:txBody>
          <a:bodyPr/>
          <a:lstStyle/>
          <a:p>
            <a:fld id="{9EB04B5E-0884-43EC-9603-AC9B92FCD1DC}" type="slidenum">
              <a:rPr lang="en-AU" smtClean="0"/>
              <a:t>‹#›</a:t>
            </a:fld>
            <a:endParaRPr lang="en-AU"/>
          </a:p>
        </p:txBody>
      </p:sp>
    </p:spTree>
    <p:extLst>
      <p:ext uri="{BB962C8B-B14F-4D97-AF65-F5344CB8AC3E}">
        <p14:creationId xmlns:p14="http://schemas.microsoft.com/office/powerpoint/2010/main" val="4165631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0F9C5-765C-7CE0-187C-FB1F1025F759}"/>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74287E1-59B0-A0AF-E721-CF952A6966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5998CD-8DC1-86C1-C8E6-8A44EAC7C4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77E8CBFB-C933-A00D-3484-85442B0372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D0739B-BF20-E974-F70C-F2FED86796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FFDF50C6-DFED-16D7-C1BA-3099BB860F86}"/>
              </a:ext>
            </a:extLst>
          </p:cNvPr>
          <p:cNvSpPr>
            <a:spLocks noGrp="1"/>
          </p:cNvSpPr>
          <p:nvPr>
            <p:ph type="dt" sz="half" idx="10"/>
          </p:nvPr>
        </p:nvSpPr>
        <p:spPr/>
        <p:txBody>
          <a:bodyPr/>
          <a:lstStyle/>
          <a:p>
            <a:fld id="{CF1EC185-4A62-4A4F-B57A-5DBF65C0493B}" type="datetimeFigureOut">
              <a:rPr lang="en-AU" smtClean="0"/>
              <a:t>19/10/2026</a:t>
            </a:fld>
            <a:endParaRPr lang="en-AU"/>
          </a:p>
        </p:txBody>
      </p:sp>
      <p:sp>
        <p:nvSpPr>
          <p:cNvPr id="8" name="Footer Placeholder 7">
            <a:extLst>
              <a:ext uri="{FF2B5EF4-FFF2-40B4-BE49-F238E27FC236}">
                <a16:creationId xmlns:a16="http://schemas.microsoft.com/office/drawing/2014/main" id="{001C7B5B-83CD-9989-6030-D68BABA98D6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2C558ED9-A1D3-40BA-0D9F-14B803FBF9BA}"/>
              </a:ext>
            </a:extLst>
          </p:cNvPr>
          <p:cNvSpPr>
            <a:spLocks noGrp="1"/>
          </p:cNvSpPr>
          <p:nvPr>
            <p:ph type="sldNum" sz="quarter" idx="12"/>
          </p:nvPr>
        </p:nvSpPr>
        <p:spPr/>
        <p:txBody>
          <a:bodyPr/>
          <a:lstStyle/>
          <a:p>
            <a:fld id="{9EB04B5E-0884-43EC-9603-AC9B92FCD1DC}" type="slidenum">
              <a:rPr lang="en-AU" smtClean="0"/>
              <a:t>‹#›</a:t>
            </a:fld>
            <a:endParaRPr lang="en-AU"/>
          </a:p>
        </p:txBody>
      </p:sp>
    </p:spTree>
    <p:extLst>
      <p:ext uri="{BB962C8B-B14F-4D97-AF65-F5344CB8AC3E}">
        <p14:creationId xmlns:p14="http://schemas.microsoft.com/office/powerpoint/2010/main" val="2137934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AC91C-1197-B473-8F41-DEF912C885C8}"/>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6DF07BFA-243F-1B37-C225-E8464C3BCEAF}"/>
              </a:ext>
            </a:extLst>
          </p:cNvPr>
          <p:cNvSpPr>
            <a:spLocks noGrp="1"/>
          </p:cNvSpPr>
          <p:nvPr>
            <p:ph type="dt" sz="half" idx="10"/>
          </p:nvPr>
        </p:nvSpPr>
        <p:spPr/>
        <p:txBody>
          <a:bodyPr/>
          <a:lstStyle/>
          <a:p>
            <a:fld id="{CF1EC185-4A62-4A4F-B57A-5DBF65C0493B}" type="datetimeFigureOut">
              <a:rPr lang="en-AU" smtClean="0"/>
              <a:t>19/10/2026</a:t>
            </a:fld>
            <a:endParaRPr lang="en-AU"/>
          </a:p>
        </p:txBody>
      </p:sp>
      <p:sp>
        <p:nvSpPr>
          <p:cNvPr id="4" name="Footer Placeholder 3">
            <a:extLst>
              <a:ext uri="{FF2B5EF4-FFF2-40B4-BE49-F238E27FC236}">
                <a16:creationId xmlns:a16="http://schemas.microsoft.com/office/drawing/2014/main" id="{AEC2620E-5E67-1601-0A96-3F8A0824D8D7}"/>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1C80608B-F496-AB0F-069D-5D5A5635C959}"/>
              </a:ext>
            </a:extLst>
          </p:cNvPr>
          <p:cNvSpPr>
            <a:spLocks noGrp="1"/>
          </p:cNvSpPr>
          <p:nvPr>
            <p:ph type="sldNum" sz="quarter" idx="12"/>
          </p:nvPr>
        </p:nvSpPr>
        <p:spPr/>
        <p:txBody>
          <a:bodyPr/>
          <a:lstStyle/>
          <a:p>
            <a:fld id="{9EB04B5E-0884-43EC-9603-AC9B92FCD1DC}" type="slidenum">
              <a:rPr lang="en-AU" smtClean="0"/>
              <a:t>‹#›</a:t>
            </a:fld>
            <a:endParaRPr lang="en-AU"/>
          </a:p>
        </p:txBody>
      </p:sp>
    </p:spTree>
    <p:extLst>
      <p:ext uri="{BB962C8B-B14F-4D97-AF65-F5344CB8AC3E}">
        <p14:creationId xmlns:p14="http://schemas.microsoft.com/office/powerpoint/2010/main" val="1375831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4CA4E-8322-4BED-78B5-0E23A5C654D2}"/>
              </a:ext>
            </a:extLst>
          </p:cNvPr>
          <p:cNvSpPr>
            <a:spLocks noGrp="1"/>
          </p:cNvSpPr>
          <p:nvPr>
            <p:ph type="dt" sz="half" idx="10"/>
          </p:nvPr>
        </p:nvSpPr>
        <p:spPr/>
        <p:txBody>
          <a:bodyPr/>
          <a:lstStyle/>
          <a:p>
            <a:fld id="{CF1EC185-4A62-4A4F-B57A-5DBF65C0493B}" type="datetimeFigureOut">
              <a:rPr lang="en-AU" smtClean="0"/>
              <a:t>19/10/2026</a:t>
            </a:fld>
            <a:endParaRPr lang="en-AU"/>
          </a:p>
        </p:txBody>
      </p:sp>
      <p:sp>
        <p:nvSpPr>
          <p:cNvPr id="3" name="Footer Placeholder 2">
            <a:extLst>
              <a:ext uri="{FF2B5EF4-FFF2-40B4-BE49-F238E27FC236}">
                <a16:creationId xmlns:a16="http://schemas.microsoft.com/office/drawing/2014/main" id="{38A970D1-4A9C-276D-FDAA-5E6BE004C61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9E9C07EE-6535-5B05-2E85-A20C5F0378EE}"/>
              </a:ext>
            </a:extLst>
          </p:cNvPr>
          <p:cNvSpPr>
            <a:spLocks noGrp="1"/>
          </p:cNvSpPr>
          <p:nvPr>
            <p:ph type="sldNum" sz="quarter" idx="12"/>
          </p:nvPr>
        </p:nvSpPr>
        <p:spPr/>
        <p:txBody>
          <a:bodyPr/>
          <a:lstStyle/>
          <a:p>
            <a:fld id="{9EB04B5E-0884-43EC-9603-AC9B92FCD1DC}" type="slidenum">
              <a:rPr lang="en-AU" smtClean="0"/>
              <a:t>‹#›</a:t>
            </a:fld>
            <a:endParaRPr lang="en-AU"/>
          </a:p>
        </p:txBody>
      </p:sp>
    </p:spTree>
    <p:extLst>
      <p:ext uri="{BB962C8B-B14F-4D97-AF65-F5344CB8AC3E}">
        <p14:creationId xmlns:p14="http://schemas.microsoft.com/office/powerpoint/2010/main" val="2730337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E75A7-0D7E-11EA-838C-00048C2CA8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BC746C2C-0E60-9E96-2968-F9F2E7E7C3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F132FA31-CCCD-4D33-03DB-20CE33AB19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0F592D-73C7-76DC-151D-C3576577F92B}"/>
              </a:ext>
            </a:extLst>
          </p:cNvPr>
          <p:cNvSpPr>
            <a:spLocks noGrp="1"/>
          </p:cNvSpPr>
          <p:nvPr>
            <p:ph type="dt" sz="half" idx="10"/>
          </p:nvPr>
        </p:nvSpPr>
        <p:spPr/>
        <p:txBody>
          <a:bodyPr/>
          <a:lstStyle/>
          <a:p>
            <a:fld id="{CF1EC185-4A62-4A4F-B57A-5DBF65C0493B}" type="datetimeFigureOut">
              <a:rPr lang="en-AU" smtClean="0"/>
              <a:t>19/10/2026</a:t>
            </a:fld>
            <a:endParaRPr lang="en-AU"/>
          </a:p>
        </p:txBody>
      </p:sp>
      <p:sp>
        <p:nvSpPr>
          <p:cNvPr id="6" name="Footer Placeholder 5">
            <a:extLst>
              <a:ext uri="{FF2B5EF4-FFF2-40B4-BE49-F238E27FC236}">
                <a16:creationId xmlns:a16="http://schemas.microsoft.com/office/drawing/2014/main" id="{616166FB-3645-A457-D833-1827C8E8AFE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5EDE06C-FC2C-604E-BF0F-99B12F99003F}"/>
              </a:ext>
            </a:extLst>
          </p:cNvPr>
          <p:cNvSpPr>
            <a:spLocks noGrp="1"/>
          </p:cNvSpPr>
          <p:nvPr>
            <p:ph type="sldNum" sz="quarter" idx="12"/>
          </p:nvPr>
        </p:nvSpPr>
        <p:spPr/>
        <p:txBody>
          <a:bodyPr/>
          <a:lstStyle/>
          <a:p>
            <a:fld id="{9EB04B5E-0884-43EC-9603-AC9B92FCD1DC}" type="slidenum">
              <a:rPr lang="en-AU" smtClean="0"/>
              <a:t>‹#›</a:t>
            </a:fld>
            <a:endParaRPr lang="en-AU"/>
          </a:p>
        </p:txBody>
      </p:sp>
    </p:spTree>
    <p:extLst>
      <p:ext uri="{BB962C8B-B14F-4D97-AF65-F5344CB8AC3E}">
        <p14:creationId xmlns:p14="http://schemas.microsoft.com/office/powerpoint/2010/main" val="3241210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BF1E9-8B65-56BB-F1C7-691BD77952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AE250B64-C2D1-C556-A6F9-A806A2CD97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6412F571-FC71-80D2-36FE-17BC214ACB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7A3D31-371C-1804-9A1F-330EDB518954}"/>
              </a:ext>
            </a:extLst>
          </p:cNvPr>
          <p:cNvSpPr>
            <a:spLocks noGrp="1"/>
          </p:cNvSpPr>
          <p:nvPr>
            <p:ph type="dt" sz="half" idx="10"/>
          </p:nvPr>
        </p:nvSpPr>
        <p:spPr/>
        <p:txBody>
          <a:bodyPr/>
          <a:lstStyle/>
          <a:p>
            <a:fld id="{CF1EC185-4A62-4A4F-B57A-5DBF65C0493B}" type="datetimeFigureOut">
              <a:rPr lang="en-AU" smtClean="0"/>
              <a:t>19/10/2026</a:t>
            </a:fld>
            <a:endParaRPr lang="en-AU"/>
          </a:p>
        </p:txBody>
      </p:sp>
      <p:sp>
        <p:nvSpPr>
          <p:cNvPr id="6" name="Footer Placeholder 5">
            <a:extLst>
              <a:ext uri="{FF2B5EF4-FFF2-40B4-BE49-F238E27FC236}">
                <a16:creationId xmlns:a16="http://schemas.microsoft.com/office/drawing/2014/main" id="{F863EB76-CBA9-EF47-D323-A59CEB23F87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6CB690E0-4FFE-C4E4-6CD4-0DF70E0E8EFD}"/>
              </a:ext>
            </a:extLst>
          </p:cNvPr>
          <p:cNvSpPr>
            <a:spLocks noGrp="1"/>
          </p:cNvSpPr>
          <p:nvPr>
            <p:ph type="sldNum" sz="quarter" idx="12"/>
          </p:nvPr>
        </p:nvSpPr>
        <p:spPr/>
        <p:txBody>
          <a:bodyPr/>
          <a:lstStyle/>
          <a:p>
            <a:fld id="{9EB04B5E-0884-43EC-9603-AC9B92FCD1DC}" type="slidenum">
              <a:rPr lang="en-AU" smtClean="0"/>
              <a:t>‹#›</a:t>
            </a:fld>
            <a:endParaRPr lang="en-AU"/>
          </a:p>
        </p:txBody>
      </p:sp>
    </p:spTree>
    <p:extLst>
      <p:ext uri="{BB962C8B-B14F-4D97-AF65-F5344CB8AC3E}">
        <p14:creationId xmlns:p14="http://schemas.microsoft.com/office/powerpoint/2010/main" val="627788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12B54-F0A4-D6C3-1CEF-A67C57429E2C}"/>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A0FA8BF2-C66B-EFEC-912D-AFD2BA1F6D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C5324DE-FDD2-C989-56AC-82C3DEC914BE}"/>
              </a:ext>
            </a:extLst>
          </p:cNvPr>
          <p:cNvSpPr>
            <a:spLocks noGrp="1"/>
          </p:cNvSpPr>
          <p:nvPr>
            <p:ph type="dt" sz="half" idx="10"/>
          </p:nvPr>
        </p:nvSpPr>
        <p:spPr/>
        <p:txBody>
          <a:bodyPr/>
          <a:lstStyle/>
          <a:p>
            <a:fld id="{CF1EC185-4A62-4A4F-B57A-5DBF65C0493B}" type="datetimeFigureOut">
              <a:rPr lang="en-AU" smtClean="0"/>
              <a:t>19/10/2026</a:t>
            </a:fld>
            <a:endParaRPr lang="en-AU"/>
          </a:p>
        </p:txBody>
      </p:sp>
      <p:sp>
        <p:nvSpPr>
          <p:cNvPr id="5" name="Footer Placeholder 4">
            <a:extLst>
              <a:ext uri="{FF2B5EF4-FFF2-40B4-BE49-F238E27FC236}">
                <a16:creationId xmlns:a16="http://schemas.microsoft.com/office/drawing/2014/main" id="{BFE830DB-08DF-A7E8-31BF-EB2BD1B3505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79B81C4-EB4B-3C6E-ADD0-62212A523D57}"/>
              </a:ext>
            </a:extLst>
          </p:cNvPr>
          <p:cNvSpPr>
            <a:spLocks noGrp="1"/>
          </p:cNvSpPr>
          <p:nvPr>
            <p:ph type="sldNum" sz="quarter" idx="12"/>
          </p:nvPr>
        </p:nvSpPr>
        <p:spPr/>
        <p:txBody>
          <a:bodyPr/>
          <a:lstStyle/>
          <a:p>
            <a:fld id="{9EB04B5E-0884-43EC-9603-AC9B92FCD1DC}" type="slidenum">
              <a:rPr lang="en-AU" smtClean="0"/>
              <a:t>‹#›</a:t>
            </a:fld>
            <a:endParaRPr lang="en-AU"/>
          </a:p>
        </p:txBody>
      </p:sp>
    </p:spTree>
    <p:extLst>
      <p:ext uri="{BB962C8B-B14F-4D97-AF65-F5344CB8AC3E}">
        <p14:creationId xmlns:p14="http://schemas.microsoft.com/office/powerpoint/2010/main" val="2008081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1FCA6F-6F3F-0C06-C074-CA93E2E68D0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AB6D099C-5775-79EB-B850-12C0A4125E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F7808C4-431F-5B0A-185A-4EFB4B7FC36B}"/>
              </a:ext>
            </a:extLst>
          </p:cNvPr>
          <p:cNvSpPr>
            <a:spLocks noGrp="1"/>
          </p:cNvSpPr>
          <p:nvPr>
            <p:ph type="dt" sz="half" idx="10"/>
          </p:nvPr>
        </p:nvSpPr>
        <p:spPr/>
        <p:txBody>
          <a:bodyPr/>
          <a:lstStyle/>
          <a:p>
            <a:fld id="{CF1EC185-4A62-4A4F-B57A-5DBF65C0493B}" type="datetimeFigureOut">
              <a:rPr lang="en-AU" smtClean="0"/>
              <a:t>19/10/2026</a:t>
            </a:fld>
            <a:endParaRPr lang="en-AU"/>
          </a:p>
        </p:txBody>
      </p:sp>
      <p:sp>
        <p:nvSpPr>
          <p:cNvPr id="5" name="Footer Placeholder 4">
            <a:extLst>
              <a:ext uri="{FF2B5EF4-FFF2-40B4-BE49-F238E27FC236}">
                <a16:creationId xmlns:a16="http://schemas.microsoft.com/office/drawing/2014/main" id="{1F3AC868-233E-570B-1392-F0BF238213F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EE23F72-D747-FCD6-8AD5-19E5C7B00BD2}"/>
              </a:ext>
            </a:extLst>
          </p:cNvPr>
          <p:cNvSpPr>
            <a:spLocks noGrp="1"/>
          </p:cNvSpPr>
          <p:nvPr>
            <p:ph type="sldNum" sz="quarter" idx="12"/>
          </p:nvPr>
        </p:nvSpPr>
        <p:spPr/>
        <p:txBody>
          <a:bodyPr/>
          <a:lstStyle/>
          <a:p>
            <a:fld id="{9EB04B5E-0884-43EC-9603-AC9B92FCD1DC}" type="slidenum">
              <a:rPr lang="en-AU" smtClean="0"/>
              <a:t>‹#›</a:t>
            </a:fld>
            <a:endParaRPr lang="en-AU"/>
          </a:p>
        </p:txBody>
      </p:sp>
    </p:spTree>
    <p:extLst>
      <p:ext uri="{BB962C8B-B14F-4D97-AF65-F5344CB8AC3E}">
        <p14:creationId xmlns:p14="http://schemas.microsoft.com/office/powerpoint/2010/main" val="1960863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r="48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141723-5894-956D-FC93-657AA18DF7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CE301143-38BF-1F52-0A2A-3EC4323B0C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962BBD40-213E-A18E-D537-BD2FCDA189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F1EC185-4A62-4A4F-B57A-5DBF65C0493B}" type="datetimeFigureOut">
              <a:rPr lang="en-AU" smtClean="0"/>
              <a:t>19/10/2026</a:t>
            </a:fld>
            <a:endParaRPr lang="en-AU"/>
          </a:p>
        </p:txBody>
      </p:sp>
      <p:sp>
        <p:nvSpPr>
          <p:cNvPr id="5" name="Footer Placeholder 4">
            <a:extLst>
              <a:ext uri="{FF2B5EF4-FFF2-40B4-BE49-F238E27FC236}">
                <a16:creationId xmlns:a16="http://schemas.microsoft.com/office/drawing/2014/main" id="{2AAE902F-3585-2F2E-80B1-506AE09CCC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D1753691-9B02-95E8-3B88-0CF14A7476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EB04B5E-0884-43EC-9603-AC9B92FCD1DC}" type="slidenum">
              <a:rPr lang="en-AU" smtClean="0"/>
              <a:t>‹#›</a:t>
            </a:fld>
            <a:endParaRPr lang="en-AU"/>
          </a:p>
        </p:txBody>
      </p:sp>
    </p:spTree>
    <p:extLst>
      <p:ext uri="{BB962C8B-B14F-4D97-AF65-F5344CB8AC3E}">
        <p14:creationId xmlns:p14="http://schemas.microsoft.com/office/powerpoint/2010/main" val="18379666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hyperlink" Target="https://www.scu.edu.au/media/scu-dep/current-students/learning-zone/quick-guides/writing_a_critical_review.pdf" TargetMode="Externa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26457-733D-E2B3-F842-45BB6FBBFFC4}"/>
              </a:ext>
            </a:extLst>
          </p:cNvPr>
          <p:cNvSpPr>
            <a:spLocks noGrp="1"/>
          </p:cNvSpPr>
          <p:nvPr>
            <p:ph type="ctrTitle"/>
          </p:nvPr>
        </p:nvSpPr>
        <p:spPr>
          <a:xfrm>
            <a:off x="0" y="3429000"/>
            <a:ext cx="6854757" cy="2387600"/>
          </a:xfrm>
        </p:spPr>
        <p:txBody>
          <a:bodyPr/>
          <a:lstStyle/>
          <a:p>
            <a:r>
              <a:rPr lang="en-US" dirty="0"/>
              <a:t>Week 6 Workshop:</a:t>
            </a:r>
            <a:br>
              <a:rPr lang="en-US" dirty="0"/>
            </a:br>
            <a:r>
              <a:rPr lang="en-US" dirty="0"/>
              <a:t>Wellbeing in practice</a:t>
            </a:r>
            <a:endParaRPr lang="en-AU" dirty="0"/>
          </a:p>
        </p:txBody>
      </p:sp>
      <p:sp>
        <p:nvSpPr>
          <p:cNvPr id="3" name="Subtitle 2">
            <a:extLst>
              <a:ext uri="{FF2B5EF4-FFF2-40B4-BE49-F238E27FC236}">
                <a16:creationId xmlns:a16="http://schemas.microsoft.com/office/drawing/2014/main" id="{CBDC31FE-77D1-C802-9F94-13C6D2EBD146}"/>
              </a:ext>
            </a:extLst>
          </p:cNvPr>
          <p:cNvSpPr>
            <a:spLocks noGrp="1"/>
          </p:cNvSpPr>
          <p:nvPr>
            <p:ph type="subTitle" idx="1"/>
          </p:nvPr>
        </p:nvSpPr>
        <p:spPr>
          <a:xfrm>
            <a:off x="291548" y="5816600"/>
            <a:ext cx="4400145" cy="1655762"/>
          </a:xfrm>
        </p:spPr>
        <p:txBody>
          <a:bodyPr/>
          <a:lstStyle/>
          <a:p>
            <a:r>
              <a:rPr lang="en-AU" dirty="0"/>
              <a:t>INDG6002 Health and Indigenous Peoples</a:t>
            </a:r>
          </a:p>
          <a:p>
            <a:r>
              <a:rPr lang="en-US" dirty="0"/>
              <a:t>​</a:t>
            </a:r>
          </a:p>
          <a:p>
            <a:endParaRPr lang="en-AU" dirty="0"/>
          </a:p>
        </p:txBody>
      </p:sp>
      <p:pic>
        <p:nvPicPr>
          <p:cNvPr id="5" name="Picture 4" descr="A landscape with trees and a cloudy sky&#10;&#10;AI-generated content may be incorrect.">
            <a:extLst>
              <a:ext uri="{FF2B5EF4-FFF2-40B4-BE49-F238E27FC236}">
                <a16:creationId xmlns:a16="http://schemas.microsoft.com/office/drawing/2014/main" id="{4A7FBA4E-5044-A2BE-5A10-0CAD811425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8200" y="1588"/>
            <a:ext cx="7543800" cy="3543300"/>
          </a:xfrm>
          <a:prstGeom prst="rect">
            <a:avLst/>
          </a:prstGeom>
        </p:spPr>
      </p:pic>
    </p:spTree>
    <p:extLst>
      <p:ext uri="{BB962C8B-B14F-4D97-AF65-F5344CB8AC3E}">
        <p14:creationId xmlns:p14="http://schemas.microsoft.com/office/powerpoint/2010/main" val="3877746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F0C276-7842-78F7-03CE-C9B7ECD3E229}"/>
              </a:ext>
            </a:extLst>
          </p:cNvPr>
          <p:cNvSpPr>
            <a:spLocks noGrp="1"/>
          </p:cNvSpPr>
          <p:nvPr>
            <p:ph type="ctrTitle"/>
          </p:nvPr>
        </p:nvSpPr>
        <p:spPr>
          <a:xfrm>
            <a:off x="836679" y="723898"/>
            <a:ext cx="6002110" cy="1495425"/>
          </a:xfrm>
        </p:spPr>
        <p:txBody>
          <a:bodyPr vert="horz" lIns="91440" tIns="45720" rIns="91440" bIns="45720" rtlCol="0" anchor="ctr">
            <a:normAutofit/>
          </a:bodyPr>
          <a:lstStyle/>
          <a:p>
            <a:pPr algn="l"/>
            <a:r>
              <a:rPr lang="en-US" sz="3400" b="1" dirty="0"/>
              <a:t>Gnibi Elders Principle that aligns with: </a:t>
            </a:r>
            <a:br>
              <a:rPr lang="en-US" sz="3400" b="1" dirty="0"/>
            </a:br>
            <a:r>
              <a:rPr lang="en-US" sz="3400" b="1" dirty="0"/>
              <a:t>Wellbeing in practice</a:t>
            </a:r>
            <a:endParaRPr lang="en-US" sz="3400" dirty="0"/>
          </a:p>
        </p:txBody>
      </p:sp>
      <p:sp>
        <p:nvSpPr>
          <p:cNvPr id="6" name="Subtitle 5">
            <a:extLst>
              <a:ext uri="{FF2B5EF4-FFF2-40B4-BE49-F238E27FC236}">
                <a16:creationId xmlns:a16="http://schemas.microsoft.com/office/drawing/2014/main" id="{AAC48155-0AED-6C8D-2524-8818F6635789}"/>
              </a:ext>
            </a:extLst>
          </p:cNvPr>
          <p:cNvSpPr>
            <a:spLocks noGrp="1"/>
          </p:cNvSpPr>
          <p:nvPr>
            <p:ph type="subTitle" idx="1"/>
          </p:nvPr>
        </p:nvSpPr>
        <p:spPr>
          <a:xfrm>
            <a:off x="701214" y="2591333"/>
            <a:ext cx="6002110" cy="3729034"/>
          </a:xfrm>
        </p:spPr>
        <p:txBody>
          <a:bodyPr vert="horz" lIns="91440" tIns="45720" rIns="91440" bIns="45720" rtlCol="0">
            <a:normAutofit/>
          </a:bodyPr>
          <a:lstStyle/>
          <a:p>
            <a:pPr algn="l"/>
            <a:r>
              <a:rPr lang="en-US" sz="2800" b="1" dirty="0"/>
              <a:t>Principle 2: “Indigenous peoples are active, able and worthy peoples.”</a:t>
            </a:r>
          </a:p>
          <a:p>
            <a:pPr indent="-228600" algn="l">
              <a:buFont typeface="Arial" panose="020B0604020202020204" pitchFamily="34" charset="0"/>
              <a:buChar char="•"/>
            </a:pPr>
            <a:endParaRPr lang="en-US" sz="2000" b="1" dirty="0"/>
          </a:p>
          <a:p>
            <a:pPr algn="l"/>
            <a:r>
              <a:rPr lang="en-US" sz="2000" dirty="0"/>
              <a:t>Gnibi Elders Principle 2 reminds us that Aboriginal and Torres Strait Islander peoples are active, capable, and self-determining peoples whose strengths, knowledge, and leadership are central to health and wellbeing.</a:t>
            </a:r>
          </a:p>
          <a:p>
            <a:pPr indent="-228600" algn="l">
              <a:buFont typeface="Arial" panose="020B0604020202020204" pitchFamily="34" charset="0"/>
              <a:buChar char="•"/>
            </a:pPr>
            <a:endParaRPr lang="en-US" sz="2000" b="1" dirty="0"/>
          </a:p>
        </p:txBody>
      </p:sp>
      <p:pic>
        <p:nvPicPr>
          <p:cNvPr id="8" name="Picture 7">
            <a:extLst>
              <a:ext uri="{FF2B5EF4-FFF2-40B4-BE49-F238E27FC236}">
                <a16:creationId xmlns:a16="http://schemas.microsoft.com/office/drawing/2014/main" id="{677996BF-BE26-F6E0-5933-7C3740D0AF32}"/>
              </a:ext>
            </a:extLst>
          </p:cNvPr>
          <p:cNvPicPr>
            <a:picLocks noChangeAspect="1"/>
          </p:cNvPicPr>
          <p:nvPr/>
        </p:nvPicPr>
        <p:blipFill>
          <a:blip r:embed="rId3">
            <a:extLst>
              <a:ext uri="{28A0092B-C50C-407E-A947-70E740481C1C}">
                <a14:useLocalDpi xmlns:a14="http://schemas.microsoft.com/office/drawing/2010/main" val="0"/>
              </a:ext>
            </a:extLst>
          </a:blip>
          <a:srcRect l="5928" r="-1" b="-1"/>
          <a:stretch>
            <a:fillRect/>
          </a:stretch>
        </p:blipFill>
        <p:spPr>
          <a:xfrm>
            <a:off x="7199440" y="10"/>
            <a:ext cx="4992560" cy="6857990"/>
          </a:xfrm>
          <a:prstGeom prst="rect">
            <a:avLst/>
          </a:prstGeom>
          <a:effectLst/>
        </p:spPr>
      </p:pic>
      <p:sp>
        <p:nvSpPr>
          <p:cNvPr id="9" name="TextBox 8">
            <a:extLst>
              <a:ext uri="{FF2B5EF4-FFF2-40B4-BE49-F238E27FC236}">
                <a16:creationId xmlns:a16="http://schemas.microsoft.com/office/drawing/2014/main" id="{44127673-8E20-E143-3970-7C73613CBD71}"/>
              </a:ext>
            </a:extLst>
          </p:cNvPr>
          <p:cNvSpPr txBox="1"/>
          <p:nvPr/>
        </p:nvSpPr>
        <p:spPr>
          <a:xfrm>
            <a:off x="583315" y="6386731"/>
            <a:ext cx="7254056" cy="369332"/>
          </a:xfrm>
          <a:prstGeom prst="rect">
            <a:avLst/>
          </a:prstGeom>
          <a:noFill/>
        </p:spPr>
        <p:txBody>
          <a:bodyPr wrap="square">
            <a:spAutoFit/>
          </a:bodyPr>
          <a:lstStyle/>
          <a:p>
            <a:pPr defTabSz="457200"/>
            <a:r>
              <a:rPr lang="en-AU" dirty="0">
                <a:solidFill>
                  <a:srgbClr val="000000"/>
                </a:solidFill>
                <a:latin typeface="Calibri"/>
              </a:rPr>
              <a:t>https://www.scu.edu.au/about/first-peoples/gnibi-elders-council/</a:t>
            </a:r>
          </a:p>
        </p:txBody>
      </p:sp>
    </p:spTree>
    <p:extLst>
      <p:ext uri="{BB962C8B-B14F-4D97-AF65-F5344CB8AC3E}">
        <p14:creationId xmlns:p14="http://schemas.microsoft.com/office/powerpoint/2010/main" val="1367681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8E4E11-2F8B-DAAF-2687-AB9899DB13B6}"/>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A2B31F0-2478-35F4-504D-6192DD033E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84F08A90-8BE5-6554-A21B-E8CE151AD7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5" name="Group 14">
            <a:extLst>
              <a:ext uri="{FF2B5EF4-FFF2-40B4-BE49-F238E27FC236}">
                <a16:creationId xmlns:a16="http://schemas.microsoft.com/office/drawing/2014/main" id="{FE0F5AF9-554D-E99E-8C3C-205E4C1FC4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381784" y="4178643"/>
            <a:ext cx="3061444" cy="2297267"/>
            <a:chOff x="-305" y="-1"/>
            <a:chExt cx="3832880" cy="2876136"/>
          </a:xfrm>
        </p:grpSpPr>
        <p:sp>
          <p:nvSpPr>
            <p:cNvPr id="16" name="Freeform: Shape 15">
              <a:extLst>
                <a:ext uri="{FF2B5EF4-FFF2-40B4-BE49-F238E27FC236}">
                  <a16:creationId xmlns:a16="http://schemas.microsoft.com/office/drawing/2014/main" id="{DE581592-2743-52C6-9C4A-D44A7BE55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24517021-62A9-DCCB-AFFA-D72F66364F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43143E2C-5F5F-CD8A-31DA-01A22C190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4B2B2EE6-D2D4-DFA1-13A9-010CCFAD56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1" name="Group 20">
            <a:extLst>
              <a:ext uri="{FF2B5EF4-FFF2-40B4-BE49-F238E27FC236}">
                <a16:creationId xmlns:a16="http://schemas.microsoft.com/office/drawing/2014/main" id="{D3C10E11-7DB6-4599-F9EB-D3E95B059D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906190" y="0"/>
            <a:ext cx="3282247" cy="2837712"/>
            <a:chOff x="-305" y="-4155"/>
            <a:chExt cx="2514948" cy="2174333"/>
          </a:xfrm>
        </p:grpSpPr>
        <p:sp>
          <p:nvSpPr>
            <p:cNvPr id="22" name="Freeform: Shape 21">
              <a:extLst>
                <a:ext uri="{FF2B5EF4-FFF2-40B4-BE49-F238E27FC236}">
                  <a16:creationId xmlns:a16="http://schemas.microsoft.com/office/drawing/2014/main" id="{DCEDA76D-80EE-BB8A-F1D9-2A18EE29A4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79688AFB-802F-7C5B-CA2E-568EA66956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F89ECC39-83C4-BB97-BEE1-74CB8368C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Freeform: Shape 24">
              <a:extLst>
                <a:ext uri="{FF2B5EF4-FFF2-40B4-BE49-F238E27FC236}">
                  <a16:creationId xmlns:a16="http://schemas.microsoft.com/office/drawing/2014/main" id="{CEDD2EE8-AC7A-B64D-5DD6-6D9D154BC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6" name="Title 1">
            <a:extLst>
              <a:ext uri="{FF2B5EF4-FFF2-40B4-BE49-F238E27FC236}">
                <a16:creationId xmlns:a16="http://schemas.microsoft.com/office/drawing/2014/main" id="{D295DB6F-563E-F195-EB2E-484B8E388A25}"/>
              </a:ext>
            </a:extLst>
          </p:cNvPr>
          <p:cNvSpPr txBox="1">
            <a:spLocks/>
          </p:cNvSpPr>
          <p:nvPr/>
        </p:nvSpPr>
        <p:spPr>
          <a:xfrm>
            <a:off x="582732" y="391752"/>
            <a:ext cx="11387512" cy="11848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0" i="0" u="none" strike="noStrike" kern="1200" cap="none" spc="0" normalizeH="0" baseline="0" noProof="0" dirty="0">
                <a:ln>
                  <a:noFill/>
                </a:ln>
                <a:solidFill>
                  <a:prstClr val="black"/>
                </a:solidFill>
                <a:effectLst/>
                <a:uLnTx/>
                <a:uFillTx/>
                <a:latin typeface="Aptos Display" panose="02110004020202020204"/>
                <a:ea typeface="+mj-ea"/>
                <a:cs typeface="+mj-cs"/>
              </a:rPr>
              <a:t>Special Considerations Support extension</a:t>
            </a:r>
          </a:p>
        </p:txBody>
      </p:sp>
      <p:pic>
        <p:nvPicPr>
          <p:cNvPr id="3" name="Picture 2">
            <a:extLst>
              <a:ext uri="{FF2B5EF4-FFF2-40B4-BE49-F238E27FC236}">
                <a16:creationId xmlns:a16="http://schemas.microsoft.com/office/drawing/2014/main" id="{FB8E6F8A-814A-7EAD-FE2E-90CC654407AC}"/>
              </a:ext>
            </a:extLst>
          </p:cNvPr>
          <p:cNvPicPr>
            <a:picLocks noChangeAspect="1"/>
          </p:cNvPicPr>
          <p:nvPr/>
        </p:nvPicPr>
        <p:blipFill>
          <a:blip r:embed="rId3"/>
          <a:stretch>
            <a:fillRect/>
          </a:stretch>
        </p:blipFill>
        <p:spPr>
          <a:xfrm>
            <a:off x="1050465" y="1402431"/>
            <a:ext cx="9993086" cy="5194961"/>
          </a:xfrm>
          <a:prstGeom prst="rect">
            <a:avLst/>
          </a:prstGeom>
        </p:spPr>
      </p:pic>
    </p:spTree>
    <p:extLst>
      <p:ext uri="{BB962C8B-B14F-4D97-AF65-F5344CB8AC3E}">
        <p14:creationId xmlns:p14="http://schemas.microsoft.com/office/powerpoint/2010/main" val="32305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7ED984-2A94-CDD8-4569-B2F460DAD033}"/>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402EAD2-32E1-AB10-F691-EB0D8CE1C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FEEA6CD0-8EF6-C72A-93E5-43309AA68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5" name="Group 14">
            <a:extLst>
              <a:ext uri="{FF2B5EF4-FFF2-40B4-BE49-F238E27FC236}">
                <a16:creationId xmlns:a16="http://schemas.microsoft.com/office/drawing/2014/main" id="{3C0EB456-71A4-7C94-E0DC-9AA3112FDD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381784" y="4178643"/>
            <a:ext cx="3061444" cy="2297267"/>
            <a:chOff x="-305" y="-1"/>
            <a:chExt cx="3832880" cy="2876136"/>
          </a:xfrm>
        </p:grpSpPr>
        <p:sp>
          <p:nvSpPr>
            <p:cNvPr id="16" name="Freeform: Shape 15">
              <a:extLst>
                <a:ext uri="{FF2B5EF4-FFF2-40B4-BE49-F238E27FC236}">
                  <a16:creationId xmlns:a16="http://schemas.microsoft.com/office/drawing/2014/main" id="{44A8DEE9-D312-A4CE-DDA3-8CD62087C7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985A9219-D6D9-6BCF-939C-7EF92A93F6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467E1E10-7809-9105-3902-B6296EEACF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9452341C-5EBC-0AC0-7D3B-B77CF14CD0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1" name="Group 20">
            <a:extLst>
              <a:ext uri="{FF2B5EF4-FFF2-40B4-BE49-F238E27FC236}">
                <a16:creationId xmlns:a16="http://schemas.microsoft.com/office/drawing/2014/main" id="{1FA8A6AA-56D6-8041-731B-3B789D282B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906190" y="0"/>
            <a:ext cx="3282247" cy="2837712"/>
            <a:chOff x="-305" y="-4155"/>
            <a:chExt cx="2514948" cy="2174333"/>
          </a:xfrm>
        </p:grpSpPr>
        <p:sp>
          <p:nvSpPr>
            <p:cNvPr id="22" name="Freeform: Shape 21">
              <a:extLst>
                <a:ext uri="{FF2B5EF4-FFF2-40B4-BE49-F238E27FC236}">
                  <a16:creationId xmlns:a16="http://schemas.microsoft.com/office/drawing/2014/main" id="{E19CF54B-0AC5-9DD7-B3D5-52C53B03D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C66E3015-8819-95A3-7670-31A8967148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941F8F37-D7FC-A92C-5030-72DDD7526A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Freeform: Shape 24">
              <a:extLst>
                <a:ext uri="{FF2B5EF4-FFF2-40B4-BE49-F238E27FC236}">
                  <a16:creationId xmlns:a16="http://schemas.microsoft.com/office/drawing/2014/main" id="{72FFE3BD-2BC5-3267-5792-7100626252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4" name="Title 3">
            <a:extLst>
              <a:ext uri="{FF2B5EF4-FFF2-40B4-BE49-F238E27FC236}">
                <a16:creationId xmlns:a16="http://schemas.microsoft.com/office/drawing/2014/main" id="{B00213AB-7F13-6BA4-E0DC-2AA41D109F8E}"/>
              </a:ext>
            </a:extLst>
          </p:cNvPr>
          <p:cNvSpPr>
            <a:spLocks noGrp="1"/>
          </p:cNvSpPr>
          <p:nvPr>
            <p:ph type="title"/>
          </p:nvPr>
        </p:nvSpPr>
        <p:spPr>
          <a:xfrm>
            <a:off x="838047" y="24352"/>
            <a:ext cx="10515600" cy="1325563"/>
          </a:xfrm>
        </p:spPr>
        <p:txBody>
          <a:bodyPr/>
          <a:lstStyle/>
          <a:p>
            <a:r>
              <a:rPr lang="en-AU" dirty="0"/>
              <a:t>Assessment 2 – Critical Review</a:t>
            </a:r>
          </a:p>
        </p:txBody>
      </p:sp>
      <p:graphicFrame>
        <p:nvGraphicFramePr>
          <p:cNvPr id="5" name="Table 4">
            <a:extLst>
              <a:ext uri="{FF2B5EF4-FFF2-40B4-BE49-F238E27FC236}">
                <a16:creationId xmlns:a16="http://schemas.microsoft.com/office/drawing/2014/main" id="{CCCA40BD-D9D9-64DE-8852-5320D95B59B0}"/>
              </a:ext>
            </a:extLst>
          </p:cNvPr>
          <p:cNvGraphicFramePr>
            <a:graphicFrameLocks noGrp="1"/>
          </p:cNvGraphicFramePr>
          <p:nvPr/>
        </p:nvGraphicFramePr>
        <p:xfrm>
          <a:off x="470903" y="1260727"/>
          <a:ext cx="9901396" cy="4910139"/>
        </p:xfrm>
        <a:graphic>
          <a:graphicData uri="http://schemas.openxmlformats.org/drawingml/2006/table">
            <a:tbl>
              <a:tblPr firstRow="1" firstCol="1" lastRow="1" lastCol="1" bandRow="1" bandCol="1"/>
              <a:tblGrid>
                <a:gridCol w="2173612">
                  <a:extLst>
                    <a:ext uri="{9D8B030D-6E8A-4147-A177-3AD203B41FA5}">
                      <a16:colId xmlns:a16="http://schemas.microsoft.com/office/drawing/2014/main" val="573985350"/>
                    </a:ext>
                  </a:extLst>
                </a:gridCol>
                <a:gridCol w="7727784">
                  <a:extLst>
                    <a:ext uri="{9D8B030D-6E8A-4147-A177-3AD203B41FA5}">
                      <a16:colId xmlns:a16="http://schemas.microsoft.com/office/drawing/2014/main" val="898612310"/>
                    </a:ext>
                  </a:extLst>
                </a:gridCol>
              </a:tblGrid>
              <a:tr h="194613">
                <a:tc>
                  <a:txBody>
                    <a:bodyPr/>
                    <a:lstStyle/>
                    <a:p>
                      <a:pPr marL="69850">
                        <a:lnSpc>
                          <a:spcPct val="92424"/>
                        </a:lnSpc>
                        <a:spcBef>
                          <a:spcPts val="25"/>
                        </a:spcBef>
                        <a:buNone/>
                      </a:pPr>
                      <a:r>
                        <a:rPr lang="en-US" sz="18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Title</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lnSpc>
                          <a:spcPct val="92424"/>
                        </a:lnSpc>
                        <a:spcBef>
                          <a:spcPts val="25"/>
                        </a:spcBef>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Assessment</a:t>
                      </a:r>
                      <a:r>
                        <a:rPr lang="en-US" sz="1800" spc="-55" dirty="0">
                          <a:effectLst/>
                          <a:latin typeface="Calibri" panose="020F0502020204030204" pitchFamily="34" charset="0"/>
                          <a:ea typeface="Calibri" panose="020F0502020204030204" pitchFamily="34" charset="0"/>
                          <a:cs typeface="Times New Roman" panose="02020603050405020304" pitchFamily="18" charset="0"/>
                        </a:rPr>
                        <a:t> </a:t>
                      </a:r>
                      <a:r>
                        <a:rPr lang="en-US" sz="1800" spc="-50" dirty="0">
                          <a:effectLst/>
                          <a:latin typeface="Calibri" panose="020F0502020204030204" pitchFamily="34" charset="0"/>
                          <a:ea typeface="Calibri" panose="020F0502020204030204" pitchFamily="34" charset="0"/>
                          <a:cs typeface="Times New Roman" panose="02020603050405020304" pitchFamily="18" charset="0"/>
                        </a:rPr>
                        <a:t>2</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1583743197"/>
                  </a:ext>
                </a:extLst>
              </a:tr>
              <a:tr h="191009">
                <a:tc>
                  <a:txBody>
                    <a:bodyPr/>
                    <a:lstStyle/>
                    <a:p>
                      <a:pPr marL="69850">
                        <a:lnSpc>
                          <a:spcPct val="92424"/>
                        </a:lnSpc>
                        <a:spcBef>
                          <a:spcPts val="20"/>
                        </a:spcBef>
                        <a:buNone/>
                      </a:pPr>
                      <a:r>
                        <a:rPr lang="en-US" sz="18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Type</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lnSpc>
                          <a:spcPct val="92424"/>
                        </a:lnSpc>
                        <a:spcBef>
                          <a:spcPts val="20"/>
                        </a:spcBef>
                        <a:buNone/>
                      </a:pPr>
                      <a:r>
                        <a:rPr lang="en-US" sz="1800">
                          <a:effectLst/>
                          <a:latin typeface="Calibri" panose="020F0502020204030204" pitchFamily="34" charset="0"/>
                          <a:ea typeface="Calibri" panose="020F0502020204030204" pitchFamily="34" charset="0"/>
                          <a:cs typeface="Times New Roman" panose="02020603050405020304" pitchFamily="18" charset="0"/>
                        </a:rPr>
                        <a:t>Critical </a:t>
                      </a:r>
                      <a:r>
                        <a:rPr lang="en-US" sz="1800" spc="-10">
                          <a:effectLst/>
                          <a:latin typeface="Calibri" panose="020F0502020204030204" pitchFamily="34" charset="0"/>
                          <a:ea typeface="Calibri" panose="020F0502020204030204" pitchFamily="34" charset="0"/>
                          <a:cs typeface="Times New Roman" panose="02020603050405020304" pitchFamily="18" charset="0"/>
                        </a:rPr>
                        <a:t>Review</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149991629"/>
                  </a:ext>
                </a:extLst>
              </a:tr>
              <a:tr h="194613">
                <a:tc>
                  <a:txBody>
                    <a:bodyPr/>
                    <a:lstStyle/>
                    <a:p>
                      <a:pPr marL="69850">
                        <a:lnSpc>
                          <a:spcPct val="92424"/>
                        </a:lnSpc>
                        <a:spcBef>
                          <a:spcPts val="25"/>
                        </a:spcBef>
                        <a:buNone/>
                      </a:pPr>
                      <a:r>
                        <a:rPr lang="en-US" sz="18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Length</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lnSpc>
                          <a:spcPct val="92424"/>
                        </a:lnSpc>
                        <a:spcBef>
                          <a:spcPts val="25"/>
                        </a:spcBef>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2,200</a:t>
                      </a:r>
                      <a:r>
                        <a:rPr lang="en-US" sz="18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words</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1927331703"/>
                  </a:ext>
                </a:extLst>
              </a:tr>
              <a:tr h="191009">
                <a:tc>
                  <a:txBody>
                    <a:bodyPr/>
                    <a:lstStyle/>
                    <a:p>
                      <a:pPr marL="69850">
                        <a:lnSpc>
                          <a:spcPct val="92424"/>
                        </a:lnSpc>
                        <a:spcBef>
                          <a:spcPts val="20"/>
                        </a:spcBef>
                        <a:buNone/>
                      </a:pPr>
                      <a:r>
                        <a:rPr lang="en-US" sz="18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Weighting</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lnSpc>
                          <a:spcPct val="92424"/>
                        </a:lnSpc>
                        <a:spcBef>
                          <a:spcPts val="20"/>
                        </a:spcBef>
                        <a:buNone/>
                      </a:pPr>
                      <a:r>
                        <a:rPr lang="en-US" sz="1800" spc="-25">
                          <a:effectLst/>
                          <a:latin typeface="Calibri" panose="020F0502020204030204" pitchFamily="34" charset="0"/>
                          <a:ea typeface="Calibri" panose="020F0502020204030204" pitchFamily="34" charset="0"/>
                          <a:cs typeface="Times New Roman" panose="02020603050405020304" pitchFamily="18" charset="0"/>
                        </a:rPr>
                        <a:t>60%</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3638796181"/>
                  </a:ext>
                </a:extLst>
              </a:tr>
              <a:tr h="409345">
                <a:tc>
                  <a:txBody>
                    <a:bodyPr/>
                    <a:lstStyle/>
                    <a:p>
                      <a:pPr marL="69850">
                        <a:spcBef>
                          <a:spcPts val="30"/>
                        </a:spcBef>
                        <a:buNone/>
                      </a:pPr>
                      <a:r>
                        <a:rPr lang="en-US" sz="18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Academic</a:t>
                      </a:r>
                      <a:r>
                        <a:rPr lang="en-US" sz="18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Integrity</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spcBef>
                          <a:spcPts val="105"/>
                        </a:spcBef>
                        <a:buNone/>
                      </a:pPr>
                      <a:r>
                        <a:rPr lang="en-US" sz="1800">
                          <a:effectLst/>
                          <a:latin typeface="Calibri" panose="020F0502020204030204" pitchFamily="34" charset="0"/>
                          <a:ea typeface="Calibri" panose="020F0502020204030204" pitchFamily="34" charset="0"/>
                          <a:cs typeface="Times New Roman" panose="02020603050405020304" pitchFamily="18" charset="0"/>
                        </a:rPr>
                        <a:t>Level</a:t>
                      </a:r>
                      <a:r>
                        <a:rPr lang="en-US" sz="1800" spc="-4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2.</a:t>
                      </a:r>
                      <a:r>
                        <a:rPr lang="en-US" sz="1800" spc="-2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Purpose-Specific</a:t>
                      </a:r>
                      <a:r>
                        <a:rPr lang="en-US" sz="1800" spc="-2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GenAI</a:t>
                      </a:r>
                      <a:r>
                        <a:rPr lang="en-US" sz="1800" spc="-20">
                          <a:effectLst/>
                          <a:latin typeface="Calibri" panose="020F0502020204030204" pitchFamily="34" charset="0"/>
                          <a:ea typeface="Calibri" panose="020F0502020204030204" pitchFamily="34" charset="0"/>
                          <a:cs typeface="Times New Roman" panose="02020603050405020304" pitchFamily="18" charset="0"/>
                        </a:rPr>
                        <a:t> </a:t>
                      </a:r>
                      <a:r>
                        <a:rPr lang="en-US" sz="1800" spc="-25">
                          <a:effectLst/>
                          <a:latin typeface="Calibri" panose="020F0502020204030204" pitchFamily="34" charset="0"/>
                          <a:ea typeface="Calibri" panose="020F0502020204030204" pitchFamily="34" charset="0"/>
                          <a:cs typeface="Times New Roman" panose="02020603050405020304" pitchFamily="18" charset="0"/>
                        </a:rPr>
                        <a:t>Use</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p>
                      <a:pPr marL="69850">
                        <a:spcBef>
                          <a:spcPts val="105"/>
                        </a:spcBef>
                        <a:buNone/>
                      </a:pPr>
                      <a:r>
                        <a:rPr lang="en-US" sz="18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GenAI</a:t>
                      </a:r>
                      <a:r>
                        <a:rPr lang="en-US" sz="1800" spc="-2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may</a:t>
                      </a:r>
                      <a:r>
                        <a:rPr lang="en-US" sz="1800" spc="-1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a:t>
                      </a:r>
                      <a:r>
                        <a:rPr lang="en-US" sz="1800" spc="-25">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1800" spc="-5">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spc="-2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used EXCEPT Grammarly Premium AI.</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1128007036"/>
                  </a:ext>
                </a:extLst>
              </a:tr>
              <a:tr h="367603">
                <a:tc>
                  <a:txBody>
                    <a:bodyPr/>
                    <a:lstStyle/>
                    <a:p>
                      <a:pPr marL="69850">
                        <a:spcBef>
                          <a:spcPts val="25"/>
                        </a:spcBef>
                        <a:buNone/>
                      </a:pPr>
                      <a:r>
                        <a:rPr lang="en-US" sz="18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Submission</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spcBef>
                          <a:spcPts val="25"/>
                        </a:spcBef>
                        <a:buNone/>
                      </a:pPr>
                      <a:r>
                        <a:rPr lang="en-US" sz="1800">
                          <a:effectLst/>
                          <a:latin typeface="Calibri" panose="020F0502020204030204" pitchFamily="34" charset="0"/>
                          <a:ea typeface="Calibri" panose="020F0502020204030204" pitchFamily="34" charset="0"/>
                          <a:cs typeface="Times New Roman" panose="02020603050405020304" pitchFamily="18" charset="0"/>
                        </a:rPr>
                        <a:t>Word</a:t>
                      </a:r>
                      <a:r>
                        <a:rPr lang="en-US" sz="1800" spc="-2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document</a:t>
                      </a:r>
                      <a:r>
                        <a:rPr lang="en-US" sz="1800" spc="-1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submitted</a:t>
                      </a:r>
                      <a:r>
                        <a:rPr lang="en-US" sz="1800" spc="-20">
                          <a:effectLst/>
                          <a:latin typeface="Calibri" panose="020F0502020204030204" pitchFamily="34" charset="0"/>
                          <a:ea typeface="Calibri" panose="020F0502020204030204" pitchFamily="34" charset="0"/>
                          <a:cs typeface="Times New Roman" panose="02020603050405020304" pitchFamily="18" charset="0"/>
                        </a:rPr>
                        <a:t> </a:t>
                      </a:r>
                      <a:r>
                        <a:rPr lang="en-US" sz="1800">
                          <a:effectLst/>
                          <a:latin typeface="Calibri" panose="020F0502020204030204" pitchFamily="34" charset="0"/>
                          <a:ea typeface="Calibri" panose="020F0502020204030204" pitchFamily="34" charset="0"/>
                          <a:cs typeface="Times New Roman" panose="02020603050405020304" pitchFamily="18" charset="0"/>
                        </a:rPr>
                        <a:t>to</a:t>
                      </a:r>
                      <a:r>
                        <a:rPr lang="en-US" sz="1800" spc="-15">
                          <a:effectLst/>
                          <a:latin typeface="Calibri" panose="020F0502020204030204" pitchFamily="34" charset="0"/>
                          <a:ea typeface="Calibri" panose="020F0502020204030204" pitchFamily="34" charset="0"/>
                          <a:cs typeface="Times New Roman" panose="02020603050405020304" pitchFamily="18" charset="0"/>
                        </a:rPr>
                        <a:t> </a:t>
                      </a:r>
                      <a:r>
                        <a:rPr lang="en-US" sz="1800" spc="-10">
                          <a:effectLst/>
                          <a:latin typeface="Calibri" panose="020F0502020204030204" pitchFamily="34" charset="0"/>
                          <a:ea typeface="Calibri" panose="020F0502020204030204" pitchFamily="34" charset="0"/>
                          <a:cs typeface="Times New Roman" panose="02020603050405020304" pitchFamily="18" charset="0"/>
                        </a:rPr>
                        <a:t>Blackboard</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3624551125"/>
                  </a:ext>
                </a:extLst>
              </a:tr>
              <a:tr h="2259582">
                <a:tc>
                  <a:txBody>
                    <a:bodyPr/>
                    <a:lstStyle/>
                    <a:p>
                      <a:pPr marL="69850" marR="398145">
                        <a:spcBef>
                          <a:spcPts val="25"/>
                        </a:spcBef>
                        <a:buNone/>
                      </a:pPr>
                      <a:r>
                        <a:rPr lang="en-US" sz="1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Unit</a:t>
                      </a:r>
                      <a:r>
                        <a:rPr lang="en-US" sz="1800" b="1" spc="-65"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Learning </a:t>
                      </a:r>
                      <a:r>
                        <a:rPr lang="en-US" sz="18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Outcomes</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F1F1F1"/>
                    </a:solidFill>
                  </a:tcPr>
                </a:tc>
                <a:tc>
                  <a:txBody>
                    <a:bodyPr/>
                    <a:lstStyle/>
                    <a:p>
                      <a:pPr marL="69850">
                        <a:spcBef>
                          <a:spcPts val="25"/>
                        </a:spcBef>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a:t>
                      </a:r>
                      <a:r>
                        <a:rPr lang="en-US" sz="18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assessment</a:t>
                      </a:r>
                      <a:r>
                        <a:rPr lang="en-US" sz="1800" spc="-1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task</a:t>
                      </a:r>
                      <a:r>
                        <a:rPr lang="en-US" sz="18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maps</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to</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the</a:t>
                      </a:r>
                      <a:r>
                        <a:rPr lang="en-US" sz="1800" spc="-15"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following</a:t>
                      </a:r>
                      <a:r>
                        <a:rPr lang="en-US" sz="1800" spc="-5" dirty="0">
                          <a:effectLst/>
                          <a:latin typeface="Calibri" panose="020F0502020204030204" pitchFamily="34" charset="0"/>
                          <a:ea typeface="Calibri" panose="020F0502020204030204" pitchFamily="34" charset="0"/>
                          <a:cs typeface="Times New Roman" panose="02020603050405020304" pitchFamily="18" charset="0"/>
                        </a:rPr>
                        <a:t> </a:t>
                      </a:r>
                      <a:r>
                        <a:rPr lang="en-US" sz="1800" spc="-20" dirty="0">
                          <a:effectLst/>
                          <a:latin typeface="Calibri" panose="020F0502020204030204" pitchFamily="34" charset="0"/>
                          <a:ea typeface="Calibri" panose="020F0502020204030204" pitchFamily="34" charset="0"/>
                          <a:cs typeface="Times New Roman" panose="02020603050405020304" pitchFamily="18" charset="0"/>
                        </a:rPr>
                        <a:t>ULOs:</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68580" marR="17780">
                        <a:spcBef>
                          <a:spcPts val="5"/>
                        </a:spcBef>
                        <a:spcAft>
                          <a:spcPts val="6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1. Discuss key concepts of health and wellbeing as determined by Aboriginal people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68580" marR="17780">
                        <a:spcBef>
                          <a:spcPts val="5"/>
                        </a:spcBef>
                        <a:spcAft>
                          <a:spcPts val="6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2. Identify key stages of the colonisation process and its relationship to the contemporary health status of Australian Indigenous people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68580" marR="17780">
                        <a:spcBef>
                          <a:spcPts val="5"/>
                        </a:spcBef>
                        <a:spcAft>
                          <a:spcPts val="6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3.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Analyse</a:t>
                      </a:r>
                      <a:r>
                        <a:rPr lang="en-US" sz="1800" dirty="0">
                          <a:effectLst/>
                          <a:latin typeface="Calibri" panose="020F0502020204030204" pitchFamily="34" charset="0"/>
                          <a:ea typeface="Calibri" panose="020F0502020204030204" pitchFamily="34" charset="0"/>
                          <a:cs typeface="Times New Roman" panose="02020603050405020304" pitchFamily="18" charset="0"/>
                        </a:rPr>
                        <a:t> the relationship between socio-economic factors and the contemporary health status of Australian Indigenous people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68580" marR="17780">
                        <a:spcBef>
                          <a:spcPts val="5"/>
                        </a:spcBef>
                        <a:spcAft>
                          <a:spcPts val="6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4. Explain how primary health care and/or health promotion enhances the wellbeing of Indigenous people and role of the health professional as an agent of social change</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BEBEBE"/>
                      </a:solidFill>
                      <a:prstDash val="solid"/>
                      <a:round/>
                      <a:headEnd type="none" w="med" len="med"/>
                      <a:tailEnd type="none" w="med" len="med"/>
                    </a:lnB>
                    <a:noFill/>
                  </a:tcPr>
                </a:tc>
                <a:extLst>
                  <a:ext uri="{0D108BD9-81ED-4DB2-BD59-A6C34878D82A}">
                    <a16:rowId xmlns:a16="http://schemas.microsoft.com/office/drawing/2014/main" val="948275591"/>
                  </a:ext>
                </a:extLst>
              </a:tr>
            </a:tbl>
          </a:graphicData>
        </a:graphic>
      </p:graphicFrame>
    </p:spTree>
    <p:extLst>
      <p:ext uri="{BB962C8B-B14F-4D97-AF65-F5344CB8AC3E}">
        <p14:creationId xmlns:p14="http://schemas.microsoft.com/office/powerpoint/2010/main" val="1981042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682A99-9165-6D65-4F0B-7A7119F2DA68}"/>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758EB86-D064-AC40-7935-CD2BA0BAD9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5F3FFD4E-8E8C-E391-511A-E906594BE2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5" name="Group 14">
            <a:extLst>
              <a:ext uri="{FF2B5EF4-FFF2-40B4-BE49-F238E27FC236}">
                <a16:creationId xmlns:a16="http://schemas.microsoft.com/office/drawing/2014/main" id="{3BD30EEA-062A-8FA7-4F6E-9F04886130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381784" y="4178643"/>
            <a:ext cx="3061444" cy="2297267"/>
            <a:chOff x="-305" y="-1"/>
            <a:chExt cx="3832880" cy="2876136"/>
          </a:xfrm>
        </p:grpSpPr>
        <p:sp>
          <p:nvSpPr>
            <p:cNvPr id="16" name="Freeform: Shape 15">
              <a:extLst>
                <a:ext uri="{FF2B5EF4-FFF2-40B4-BE49-F238E27FC236}">
                  <a16:creationId xmlns:a16="http://schemas.microsoft.com/office/drawing/2014/main" id="{F0785AF2-BFC2-ED0B-5DD1-CD0A821D8B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DE41B5A7-2027-9463-70E9-EE1A82EBC3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054DFB34-B580-5826-F59B-A526524112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BD71D3BD-33A7-B8A4-D1B5-8D8AC0722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1" name="Group 20">
            <a:extLst>
              <a:ext uri="{FF2B5EF4-FFF2-40B4-BE49-F238E27FC236}">
                <a16:creationId xmlns:a16="http://schemas.microsoft.com/office/drawing/2014/main" id="{07B20E03-D110-BE32-38C2-DF87663B60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906190" y="0"/>
            <a:ext cx="3282247" cy="2837712"/>
            <a:chOff x="-305" y="-4155"/>
            <a:chExt cx="2514948" cy="2174333"/>
          </a:xfrm>
        </p:grpSpPr>
        <p:sp>
          <p:nvSpPr>
            <p:cNvPr id="22" name="Freeform: Shape 21">
              <a:extLst>
                <a:ext uri="{FF2B5EF4-FFF2-40B4-BE49-F238E27FC236}">
                  <a16:creationId xmlns:a16="http://schemas.microsoft.com/office/drawing/2014/main" id="{234131AE-7456-DE13-911A-9C1EE10070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433FD9C0-7B99-D101-C588-515E4B9D0E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4B516B6E-C32D-E6D5-E516-9912C22A8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Freeform: Shape 24">
              <a:extLst>
                <a:ext uri="{FF2B5EF4-FFF2-40B4-BE49-F238E27FC236}">
                  <a16:creationId xmlns:a16="http://schemas.microsoft.com/office/drawing/2014/main" id="{57A19AB1-7A19-B136-5BB9-5B09F55196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4" name="Title 3">
            <a:extLst>
              <a:ext uri="{FF2B5EF4-FFF2-40B4-BE49-F238E27FC236}">
                <a16:creationId xmlns:a16="http://schemas.microsoft.com/office/drawing/2014/main" id="{74249D3D-0D3A-4AB7-63CA-1C261627494D}"/>
              </a:ext>
            </a:extLst>
          </p:cNvPr>
          <p:cNvSpPr>
            <a:spLocks noGrp="1"/>
          </p:cNvSpPr>
          <p:nvPr>
            <p:ph type="title"/>
          </p:nvPr>
        </p:nvSpPr>
        <p:spPr>
          <a:xfrm>
            <a:off x="3030529" y="224004"/>
            <a:ext cx="6130636" cy="1325563"/>
          </a:xfrm>
        </p:spPr>
        <p:txBody>
          <a:bodyPr/>
          <a:lstStyle/>
          <a:p>
            <a:r>
              <a:rPr lang="en-AU" dirty="0"/>
              <a:t>Writing a Critical Review</a:t>
            </a:r>
          </a:p>
        </p:txBody>
      </p:sp>
      <p:pic>
        <p:nvPicPr>
          <p:cNvPr id="3" name="Content Placeholder 4">
            <a:extLst>
              <a:ext uri="{FF2B5EF4-FFF2-40B4-BE49-F238E27FC236}">
                <a16:creationId xmlns:a16="http://schemas.microsoft.com/office/drawing/2014/main" id="{6631D9EE-7598-5853-E36E-1281F5864897}"/>
              </a:ext>
            </a:extLst>
          </p:cNvPr>
          <p:cNvPicPr>
            <a:picLocks noChangeAspect="1"/>
          </p:cNvPicPr>
          <p:nvPr/>
        </p:nvPicPr>
        <p:blipFill>
          <a:blip r:embed="rId3"/>
          <a:stretch>
            <a:fillRect/>
          </a:stretch>
        </p:blipFill>
        <p:spPr>
          <a:xfrm>
            <a:off x="1950082" y="1108513"/>
            <a:ext cx="3752479" cy="4788108"/>
          </a:xfrm>
          <a:prstGeom prst="rect">
            <a:avLst/>
          </a:prstGeom>
        </p:spPr>
      </p:pic>
      <p:pic>
        <p:nvPicPr>
          <p:cNvPr id="5" name="Picture 4">
            <a:extLst>
              <a:ext uri="{FF2B5EF4-FFF2-40B4-BE49-F238E27FC236}">
                <a16:creationId xmlns:a16="http://schemas.microsoft.com/office/drawing/2014/main" id="{0B8BECE6-44E3-C571-D426-D60C8C961663}"/>
              </a:ext>
            </a:extLst>
          </p:cNvPr>
          <p:cNvPicPr>
            <a:picLocks noChangeAspect="1"/>
          </p:cNvPicPr>
          <p:nvPr/>
        </p:nvPicPr>
        <p:blipFill>
          <a:blip r:embed="rId4"/>
          <a:stretch>
            <a:fillRect/>
          </a:stretch>
        </p:blipFill>
        <p:spPr>
          <a:xfrm>
            <a:off x="6426811" y="1108513"/>
            <a:ext cx="3990412" cy="4788108"/>
          </a:xfrm>
          <a:prstGeom prst="rect">
            <a:avLst/>
          </a:prstGeom>
        </p:spPr>
      </p:pic>
      <p:sp>
        <p:nvSpPr>
          <p:cNvPr id="7" name="TextBox 6">
            <a:extLst>
              <a:ext uri="{FF2B5EF4-FFF2-40B4-BE49-F238E27FC236}">
                <a16:creationId xmlns:a16="http://schemas.microsoft.com/office/drawing/2014/main" id="{9EA241CD-40A3-F248-23E6-7A36D5A2F311}"/>
              </a:ext>
            </a:extLst>
          </p:cNvPr>
          <p:cNvSpPr txBox="1"/>
          <p:nvPr/>
        </p:nvSpPr>
        <p:spPr>
          <a:xfrm>
            <a:off x="1466092" y="6223177"/>
            <a:ext cx="10501745"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white"/>
                </a:solidFill>
                <a:effectLst/>
                <a:uLnTx/>
                <a:uFillTx/>
                <a:latin typeface="Century Gothic" panose="020B0502020202020204"/>
                <a:ea typeface="+mn-ea"/>
                <a:cs typeface="+mn-cs"/>
                <a:hlinkClick r:id="rId5"/>
              </a:rPr>
              <a:t>https://www.scu.edu.au/media/scu-dep/current-students/learning-zone/quick-guides/writing_a_critical_review.pdf</a:t>
            </a:r>
            <a:endParaRPr kumimoji="0" lang="en-AU" sz="14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625430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7E838A-BC89-7874-EC38-7FD1B7F7243C}"/>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134C67F-7C0D-7D75-0885-01B4FBD3C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4AF18697-018D-DBE4-8D11-A8D6F24EFB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5" name="Group 14">
            <a:extLst>
              <a:ext uri="{FF2B5EF4-FFF2-40B4-BE49-F238E27FC236}">
                <a16:creationId xmlns:a16="http://schemas.microsoft.com/office/drawing/2014/main" id="{200E484E-9B5D-5CAF-D235-E4E865F503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381784" y="4178643"/>
            <a:ext cx="3061444" cy="2297267"/>
            <a:chOff x="-305" y="-1"/>
            <a:chExt cx="3832880" cy="2876136"/>
          </a:xfrm>
        </p:grpSpPr>
        <p:sp>
          <p:nvSpPr>
            <p:cNvPr id="16" name="Freeform: Shape 15">
              <a:extLst>
                <a:ext uri="{FF2B5EF4-FFF2-40B4-BE49-F238E27FC236}">
                  <a16:creationId xmlns:a16="http://schemas.microsoft.com/office/drawing/2014/main" id="{9F0F6EFA-E2B0-8BC8-1497-FBB27E9AF8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E83F2479-D8D9-7FCF-7BC4-98D43B59F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82D0A0D8-4F87-E99C-1493-F95AF08814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F246D37A-24CF-E425-662A-6C568A4129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1" name="Group 20">
            <a:extLst>
              <a:ext uri="{FF2B5EF4-FFF2-40B4-BE49-F238E27FC236}">
                <a16:creationId xmlns:a16="http://schemas.microsoft.com/office/drawing/2014/main" id="{923D7A58-8ABE-E9C3-2212-31CDCC16C98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906190" y="0"/>
            <a:ext cx="3282247" cy="2837712"/>
            <a:chOff x="-305" y="-4155"/>
            <a:chExt cx="2514948" cy="2174333"/>
          </a:xfrm>
        </p:grpSpPr>
        <p:sp>
          <p:nvSpPr>
            <p:cNvPr id="22" name="Freeform: Shape 21">
              <a:extLst>
                <a:ext uri="{FF2B5EF4-FFF2-40B4-BE49-F238E27FC236}">
                  <a16:creationId xmlns:a16="http://schemas.microsoft.com/office/drawing/2014/main" id="{A929A631-C77A-FE06-EBD0-D3C7FF9232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E819C311-7AF2-2E0B-4652-94494647B7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47B2F1C4-889D-3C70-1275-845D0B0CC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Freeform: Shape 24">
              <a:extLst>
                <a:ext uri="{FF2B5EF4-FFF2-40B4-BE49-F238E27FC236}">
                  <a16:creationId xmlns:a16="http://schemas.microsoft.com/office/drawing/2014/main" id="{22FFAB33-CA66-4901-4562-C8ABED74F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4" name="Title 3">
            <a:extLst>
              <a:ext uri="{FF2B5EF4-FFF2-40B4-BE49-F238E27FC236}">
                <a16:creationId xmlns:a16="http://schemas.microsoft.com/office/drawing/2014/main" id="{2689A306-89B0-584D-BF0B-70AF47E22B4D}"/>
              </a:ext>
            </a:extLst>
          </p:cNvPr>
          <p:cNvSpPr>
            <a:spLocks noGrp="1"/>
          </p:cNvSpPr>
          <p:nvPr>
            <p:ph type="title"/>
          </p:nvPr>
        </p:nvSpPr>
        <p:spPr>
          <a:xfrm>
            <a:off x="1479115" y="-54468"/>
            <a:ext cx="9233464" cy="1325563"/>
          </a:xfrm>
        </p:spPr>
        <p:txBody>
          <a:bodyPr/>
          <a:lstStyle/>
          <a:p>
            <a:r>
              <a:rPr lang="en-AU" dirty="0"/>
              <a:t>Critical Review of the Scenario</a:t>
            </a:r>
          </a:p>
        </p:txBody>
      </p:sp>
      <p:sp>
        <p:nvSpPr>
          <p:cNvPr id="6" name="TextBox 5">
            <a:extLst>
              <a:ext uri="{FF2B5EF4-FFF2-40B4-BE49-F238E27FC236}">
                <a16:creationId xmlns:a16="http://schemas.microsoft.com/office/drawing/2014/main" id="{B53E459E-DFD8-4369-1967-55CD2684E16D}"/>
              </a:ext>
            </a:extLst>
          </p:cNvPr>
          <p:cNvSpPr txBox="1"/>
          <p:nvPr/>
        </p:nvSpPr>
        <p:spPr>
          <a:xfrm>
            <a:off x="429491" y="1854287"/>
            <a:ext cx="9892146" cy="1798698"/>
          </a:xfrm>
          <a:prstGeom prst="rect">
            <a:avLst/>
          </a:prstGeom>
          <a:noFill/>
        </p:spPr>
        <p:txBody>
          <a:bodyPr wrap="square">
            <a:spAutoFit/>
          </a:bodyPr>
          <a:lstStyle/>
          <a:p>
            <a:pPr marL="285750" marR="0" lvl="0" indent="-285750" algn="l" defTabSz="914400" rtl="0" eaLnBrk="1" fontAlgn="auto" latinLnBrk="0" hangingPunct="1">
              <a:lnSpc>
                <a:spcPct val="120000"/>
              </a:lnSpc>
              <a:spcBef>
                <a:spcPts val="1000"/>
              </a:spcBef>
              <a:spcAft>
                <a:spcPts val="0"/>
              </a:spcAft>
              <a:buClr>
                <a:prstClr val="black"/>
              </a:buClr>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A critical review goes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beyond description</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 by examining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why</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 something happened,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how</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 it influences outcomes, and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what it means</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 in a broader context</a:t>
            </a:r>
          </a:p>
          <a:p>
            <a:pPr marL="171450" marR="0" lvl="0" indent="-171450" algn="l" defTabSz="914400" rtl="0" eaLnBrk="1" fontAlgn="auto" latinLnBrk="0" hangingPunct="1">
              <a:lnSpc>
                <a:spcPct val="90000"/>
              </a:lnSpc>
              <a:spcBef>
                <a:spcPts val="1000"/>
              </a:spcBef>
              <a:spcAft>
                <a:spcPts val="0"/>
              </a:spcAft>
              <a:buClr>
                <a:prstClr val="black"/>
              </a:buClr>
              <a:buSzTx/>
              <a:buFont typeface="Arial" panose="020B0604020202020204" pitchFamily="34" charset="0"/>
              <a:buChar char="•"/>
              <a:tabLst/>
              <a:defRPr/>
            </a:pPr>
            <a:endParaRPr kumimoji="0" lang="en-AU" sz="1100" b="0" i="0" u="none" strike="noStrike" kern="1200" cap="none" spc="0" normalizeH="0" baseline="0" noProof="0" dirty="0">
              <a:ln>
                <a:noFill/>
              </a:ln>
              <a:solidFill>
                <a:prstClr val="black"/>
              </a:solidFill>
              <a:effectLst/>
              <a:uLnTx/>
              <a:uFillTx/>
              <a:latin typeface="Gill Sans Nova Light"/>
              <a:ea typeface="+mn-ea"/>
              <a:cs typeface="+mn-cs"/>
            </a:endParaRPr>
          </a:p>
          <a:p>
            <a:pPr marL="285750" marR="0" lvl="0" indent="-285750" algn="l" defTabSz="914400" rtl="0" eaLnBrk="1" fontAlgn="auto" latinLnBrk="0" hangingPunct="1">
              <a:lnSpc>
                <a:spcPct val="120000"/>
              </a:lnSpc>
              <a:spcBef>
                <a:spcPts val="1000"/>
              </a:spcBef>
              <a:spcAft>
                <a:spcPts val="0"/>
              </a:spcAft>
              <a:buClr>
                <a:prstClr val="black"/>
              </a:buClr>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In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this assessment</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 you are not reviewing a written document—you are critically reviewing a </a:t>
            </a: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scenario and practice interaction</a:t>
            </a: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a:t>
            </a:r>
          </a:p>
        </p:txBody>
      </p:sp>
      <p:sp>
        <p:nvSpPr>
          <p:cNvPr id="2" name="TextBox 1">
            <a:extLst>
              <a:ext uri="{FF2B5EF4-FFF2-40B4-BE49-F238E27FC236}">
                <a16:creationId xmlns:a16="http://schemas.microsoft.com/office/drawing/2014/main" id="{794CEC5F-1AFF-C9C8-FFD5-33D5A34BD560}"/>
              </a:ext>
            </a:extLst>
          </p:cNvPr>
          <p:cNvSpPr txBox="1"/>
          <p:nvPr/>
        </p:nvSpPr>
        <p:spPr>
          <a:xfrm>
            <a:off x="1694169" y="4012163"/>
            <a:ext cx="8803661" cy="2354491"/>
          </a:xfrm>
          <a:prstGeom prst="rect">
            <a:avLst/>
          </a:prstGeom>
          <a:noFill/>
        </p:spPr>
        <p:txBody>
          <a:bodyPr wrap="square" rtlCol="0">
            <a:spAutoFit/>
          </a:bodyPr>
          <a:lstStyle/>
          <a:p>
            <a:pPr marL="0" marR="0" lvl="0" indent="0" algn="l" defTabSz="457200" rtl="0" eaLnBrk="1" fontAlgn="auto" latinLnBrk="0" hangingPunct="1">
              <a:lnSpc>
                <a:spcPct val="120000"/>
              </a:lnSpc>
              <a:spcBef>
                <a:spcPts val="0"/>
              </a:spcBef>
              <a:spcAft>
                <a:spcPts val="600"/>
              </a:spcAft>
              <a:buClr>
                <a:srgbClr val="A9BBAD"/>
              </a:buClr>
              <a:buSzTx/>
              <a:buFontTx/>
              <a:buNone/>
              <a:tabLst/>
              <a:defRPr/>
            </a:pPr>
            <a:r>
              <a:rPr kumimoji="0" lang="en-AU" sz="2000" b="0" i="0" u="none" strike="noStrike" kern="1200" cap="none" spc="0" normalizeH="0" baseline="0" noProof="0" dirty="0">
                <a:ln>
                  <a:noFill/>
                </a:ln>
                <a:solidFill>
                  <a:prstClr val="black"/>
                </a:solidFill>
                <a:effectLst/>
                <a:uLnTx/>
                <a:uFillTx/>
                <a:latin typeface="Century Gothic" panose="020B0502020202020204"/>
                <a:ea typeface="+mn-ea"/>
                <a:cs typeface="+mn-cs"/>
              </a:rPr>
              <a:t>Instead of reading an article, you are examining:</a:t>
            </a:r>
          </a:p>
          <a:p>
            <a:pPr marL="457200" marR="0" lvl="1" indent="0" algn="l" defTabSz="457200" rtl="0" eaLnBrk="1" fontAlgn="auto" latinLnBrk="0" hangingPunct="1">
              <a:lnSpc>
                <a:spcPct val="100000"/>
              </a:lnSpc>
              <a:spcBef>
                <a:spcPts val="0"/>
              </a:spcBef>
              <a:spcAft>
                <a:spcPts val="600"/>
              </a:spcAft>
              <a:buClr>
                <a:prstClr val="black"/>
              </a:buClr>
              <a:buSzTx/>
              <a:buFont typeface="Wingdings" panose="05000000000000000000" pitchFamily="2" charset="2"/>
              <a:buChar char="Ø"/>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Sarah’s experiences </a:t>
            </a:r>
          </a:p>
          <a:p>
            <a:pPr marL="457200" marR="0" lvl="1" indent="0" algn="l" defTabSz="457200" rtl="0" eaLnBrk="1" fontAlgn="auto" latinLnBrk="0" hangingPunct="1">
              <a:lnSpc>
                <a:spcPct val="100000"/>
              </a:lnSpc>
              <a:spcBef>
                <a:spcPts val="0"/>
              </a:spcBef>
              <a:spcAft>
                <a:spcPts val="600"/>
              </a:spcAft>
              <a:buClr>
                <a:prstClr val="black"/>
              </a:buClr>
              <a:buSzTx/>
              <a:buFont typeface="Wingdings" panose="05000000000000000000" pitchFamily="2" charset="2"/>
              <a:buChar char="Ø"/>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The impacts of colonisation on her contemporary health </a:t>
            </a:r>
          </a:p>
          <a:p>
            <a:pPr marL="457200" marR="0" lvl="1" indent="0" algn="l" defTabSz="457200" rtl="0" eaLnBrk="1" fontAlgn="auto" latinLnBrk="0" hangingPunct="1">
              <a:lnSpc>
                <a:spcPct val="100000"/>
              </a:lnSpc>
              <a:spcBef>
                <a:spcPts val="0"/>
              </a:spcBef>
              <a:spcAft>
                <a:spcPts val="600"/>
              </a:spcAft>
              <a:buClr>
                <a:prstClr val="black"/>
              </a:buClr>
              <a:buSzTx/>
              <a:buFont typeface="Wingdings" panose="05000000000000000000" pitchFamily="2" charset="2"/>
              <a:buChar char="Ø"/>
              <a:tabLst/>
              <a:defRPr/>
            </a:pPr>
            <a:r>
              <a:rPr kumimoji="0" lang="en-AU"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the cultural context shaping the encounter</a:t>
            </a:r>
          </a:p>
          <a:p>
            <a:pPr marL="457200" marR="0" lvl="1" indent="0" algn="l" defTabSz="457200" rtl="0" eaLnBrk="1" fontAlgn="auto" latinLnBrk="0" hangingPunct="1">
              <a:lnSpc>
                <a:spcPct val="120000"/>
              </a:lnSpc>
              <a:spcBef>
                <a:spcPts val="0"/>
              </a:spcBef>
              <a:spcAft>
                <a:spcPts val="600"/>
              </a:spcAft>
              <a:buClr>
                <a:prstClr val="black"/>
              </a:buClr>
              <a:buSzTx/>
              <a:buFont typeface="Wingdings" panose="05000000000000000000" pitchFamily="2" charset="2"/>
              <a:buChar char="Ø"/>
              <a:tabLst/>
              <a:defRPr/>
            </a:pPr>
            <a:r>
              <a:rPr kumimoji="0" lang="en-AU" sz="2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the power dynamics in the consultation</a:t>
            </a:r>
          </a:p>
          <a:p>
            <a:pPr marL="457200" marR="0" lvl="1" indent="0" algn="l" defTabSz="457200" rtl="0" eaLnBrk="1" fontAlgn="auto" latinLnBrk="0" hangingPunct="1">
              <a:lnSpc>
                <a:spcPct val="100000"/>
              </a:lnSpc>
              <a:spcBef>
                <a:spcPts val="0"/>
              </a:spcBef>
              <a:spcAft>
                <a:spcPts val="600"/>
              </a:spcAft>
              <a:buClr>
                <a:prstClr val="black"/>
              </a:buClr>
              <a:buSzTx/>
              <a:buFont typeface="Wingdings" panose="05000000000000000000" pitchFamily="2" charset="2"/>
              <a:buChar char="Ø"/>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How primary health care and health promotion can respond </a:t>
            </a:r>
            <a:endParaRPr kumimoji="0" lang="en-AU" sz="18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4083099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52F48D-A350-3DE2-E614-2EA4D385F6B8}"/>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EB62D6E-240E-226D-9C8E-9A51E8636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42B34EFE-10A5-919C-E333-67FDC75244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5" name="Group 14">
            <a:extLst>
              <a:ext uri="{FF2B5EF4-FFF2-40B4-BE49-F238E27FC236}">
                <a16:creationId xmlns:a16="http://schemas.microsoft.com/office/drawing/2014/main" id="{B6E37032-FD35-199B-1A74-9CC74E7A50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381784" y="4178643"/>
            <a:ext cx="3061444" cy="2297267"/>
            <a:chOff x="-305" y="-1"/>
            <a:chExt cx="3832880" cy="2876136"/>
          </a:xfrm>
        </p:grpSpPr>
        <p:sp>
          <p:nvSpPr>
            <p:cNvPr id="16" name="Freeform: Shape 15">
              <a:extLst>
                <a:ext uri="{FF2B5EF4-FFF2-40B4-BE49-F238E27FC236}">
                  <a16:creationId xmlns:a16="http://schemas.microsoft.com/office/drawing/2014/main" id="{ACCB50B0-4239-69BF-EB39-7DA9A7EB9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E824BC69-D1DA-F1F7-04D8-ADE0E48DC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E1867FAB-EF2C-0715-D561-F3EEA7CD0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60258F6C-02A9-E975-B673-FA86CD1A9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1" name="Group 20">
            <a:extLst>
              <a:ext uri="{FF2B5EF4-FFF2-40B4-BE49-F238E27FC236}">
                <a16:creationId xmlns:a16="http://schemas.microsoft.com/office/drawing/2014/main" id="{7C276BAD-327B-7FA9-CDEA-EA3AC2738A2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906190" y="0"/>
            <a:ext cx="3282247" cy="2837712"/>
            <a:chOff x="-305" y="-4155"/>
            <a:chExt cx="2514948" cy="2174333"/>
          </a:xfrm>
        </p:grpSpPr>
        <p:sp>
          <p:nvSpPr>
            <p:cNvPr id="22" name="Freeform: Shape 21">
              <a:extLst>
                <a:ext uri="{FF2B5EF4-FFF2-40B4-BE49-F238E27FC236}">
                  <a16:creationId xmlns:a16="http://schemas.microsoft.com/office/drawing/2014/main" id="{5866EBB8-E280-A9AF-0E0B-6A2ED7B106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D0FFB7A5-7B74-3E1F-3C43-CBA5A2DFF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64A049F1-2FB0-B1EB-9B8C-00284F1276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Freeform: Shape 24">
              <a:extLst>
                <a:ext uri="{FF2B5EF4-FFF2-40B4-BE49-F238E27FC236}">
                  <a16:creationId xmlns:a16="http://schemas.microsoft.com/office/drawing/2014/main" id="{7FF535FD-A090-3CA6-1908-E856E2A002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4" name="Title 3">
            <a:extLst>
              <a:ext uri="{FF2B5EF4-FFF2-40B4-BE49-F238E27FC236}">
                <a16:creationId xmlns:a16="http://schemas.microsoft.com/office/drawing/2014/main" id="{D2680459-C5A1-FBB3-53ED-F8158FAA4944}"/>
              </a:ext>
            </a:extLst>
          </p:cNvPr>
          <p:cNvSpPr>
            <a:spLocks noGrp="1"/>
          </p:cNvSpPr>
          <p:nvPr>
            <p:ph type="title"/>
          </p:nvPr>
        </p:nvSpPr>
        <p:spPr>
          <a:xfrm>
            <a:off x="954303" y="264362"/>
            <a:ext cx="10283088" cy="1325563"/>
          </a:xfrm>
        </p:spPr>
        <p:txBody>
          <a:bodyPr/>
          <a:lstStyle/>
          <a:p>
            <a:r>
              <a:rPr lang="en-AU" dirty="0"/>
              <a:t>Critical Review of the Scenario continued …</a:t>
            </a:r>
          </a:p>
        </p:txBody>
      </p:sp>
      <p:sp>
        <p:nvSpPr>
          <p:cNvPr id="3" name="TextBox 2">
            <a:extLst>
              <a:ext uri="{FF2B5EF4-FFF2-40B4-BE49-F238E27FC236}">
                <a16:creationId xmlns:a16="http://schemas.microsoft.com/office/drawing/2014/main" id="{D3AF2311-2EBF-974A-D9AD-302487C3281B}"/>
              </a:ext>
            </a:extLst>
          </p:cNvPr>
          <p:cNvSpPr txBox="1"/>
          <p:nvPr/>
        </p:nvSpPr>
        <p:spPr>
          <a:xfrm>
            <a:off x="562645" y="1533286"/>
            <a:ext cx="11308702" cy="4685257"/>
          </a:xfrm>
          <a:prstGeom prst="rect">
            <a:avLst/>
          </a:prstGeom>
          <a:noFill/>
        </p:spPr>
        <p:txBody>
          <a:bodyPr wrap="square" rtlCol="0">
            <a:spAutoFit/>
          </a:bodyPr>
          <a:lstStyle/>
          <a:p>
            <a:pPr marL="228600" marR="0" lvl="0" indent="-228600" algn="l" defTabSz="914400" rtl="0" eaLnBrk="1" fontAlgn="auto" latinLnBrk="0" hangingPunct="1">
              <a:lnSpc>
                <a:spcPct val="120000"/>
              </a:lnSpc>
              <a:spcBef>
                <a:spcPts val="0"/>
              </a:spcBef>
              <a:spcAft>
                <a:spcPts val="600"/>
              </a:spcAft>
              <a:buClr>
                <a:prstClr val="black"/>
              </a:buClr>
              <a:buSzTx/>
              <a:buFont typeface="Wingdings" panose="05000000000000000000" pitchFamily="2" charset="2"/>
              <a:buChar char="Ø"/>
              <a:tabLst/>
              <a:defRPr/>
            </a:pPr>
            <a:r>
              <a:rPr kumimoji="0" lang="en-AU" sz="28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Judge the strengths and weaknesses </a:t>
            </a: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(of the actions and recommendations in the scenario) – which must be evidence-based </a:t>
            </a:r>
          </a:p>
          <a:p>
            <a:pPr marL="228600" marR="0" lvl="0" indent="-228600" algn="l" defTabSz="914400" rtl="0" eaLnBrk="1" fontAlgn="auto" latinLnBrk="0" hangingPunct="1">
              <a:lnSpc>
                <a:spcPct val="120000"/>
              </a:lnSpc>
              <a:spcBef>
                <a:spcPts val="0"/>
              </a:spcBef>
              <a:spcAft>
                <a:spcPts val="600"/>
              </a:spcAft>
              <a:buClr>
                <a:prstClr val="black"/>
              </a:buClr>
              <a:buSzTx/>
              <a:buFont typeface="Wingdings" panose="05000000000000000000" pitchFamily="2" charset="2"/>
              <a:buChar char="Ø"/>
              <a:tabLst/>
              <a:defRPr/>
            </a:pPr>
            <a:r>
              <a:rPr kumimoji="0" lang="en-AU" sz="28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Identify bias or assumptions </a:t>
            </a: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Analyse privilege, whiteness, and Western norms (how these assumptions affect Sarah’s wellbeing and care) </a:t>
            </a:r>
          </a:p>
          <a:p>
            <a:pPr marL="228600" marR="0" lvl="0" indent="-228600" algn="l" defTabSz="914400" rtl="0" eaLnBrk="1" fontAlgn="auto" latinLnBrk="0" hangingPunct="1">
              <a:lnSpc>
                <a:spcPct val="120000"/>
              </a:lnSpc>
              <a:spcBef>
                <a:spcPts val="1000"/>
              </a:spcBef>
              <a:spcAft>
                <a:spcPts val="600"/>
              </a:spcAft>
              <a:buClr>
                <a:prstClr val="black"/>
              </a:buClr>
              <a:buSzTx/>
              <a:buFont typeface="Wingdings" panose="05000000000000000000" pitchFamily="2" charset="2"/>
              <a:buChar char="Ø"/>
              <a:tabLst/>
              <a:defRPr/>
            </a:pPr>
            <a:r>
              <a:rPr kumimoji="0" lang="en-AU" sz="2800" b="1"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Overall evaluation </a:t>
            </a: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 Judgement about the quality of practice - Must be linked to theory </a:t>
            </a:r>
          </a:p>
          <a:p>
            <a:pPr marL="228600" marR="0" lvl="0" indent="-228600" algn="l" defTabSz="914400" rtl="0" eaLnBrk="1" fontAlgn="auto" latinLnBrk="0" hangingPunct="1">
              <a:lnSpc>
                <a:spcPct val="120000"/>
              </a:lnSpc>
              <a:spcBef>
                <a:spcPts val="1000"/>
              </a:spcBef>
              <a:spcAft>
                <a:spcPts val="600"/>
              </a:spcAft>
              <a:buClr>
                <a:prstClr val="black"/>
              </a:buClr>
              <a:buSzTx/>
              <a:buFont typeface="Wingdings" panose="05000000000000000000" pitchFamily="2" charset="2"/>
              <a:buChar char="Ø"/>
              <a:tabLst/>
              <a:defRPr/>
            </a:pP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 critical review </a:t>
            </a:r>
            <a:r>
              <a:rPr kumimoji="0" lang="en-AU" sz="2800" b="1" i="0" u="sng" strike="noStrike" kern="1200" cap="none" spc="0" normalizeH="0" baseline="0" noProof="0" dirty="0">
                <a:ln>
                  <a:noFill/>
                </a:ln>
                <a:solidFill>
                  <a:prstClr val="black"/>
                </a:solidFill>
                <a:effectLst/>
                <a:uLnTx/>
                <a:uFillTx/>
                <a:latin typeface="Aptos" panose="020B0004020202020204" pitchFamily="34" charset="0"/>
                <a:ea typeface="+mn-ea"/>
                <a:cs typeface="+mn-cs"/>
              </a:rPr>
              <a:t>always ends with a judgement</a:t>
            </a:r>
            <a:r>
              <a:rPr kumimoji="0" lang="en-AU" sz="2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rPr>
              <a:t>.</a:t>
            </a:r>
            <a:endParaRPr kumimoji="0" lang="en-AU" sz="2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17305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C67C50-8E0C-7691-04BD-5144FAC387A0}"/>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7C50979-161C-1A2F-12B5-A1AEF1767F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471ACBD9-0D6C-A8CD-81E0-9647CD211C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5" name="Group 14">
            <a:extLst>
              <a:ext uri="{FF2B5EF4-FFF2-40B4-BE49-F238E27FC236}">
                <a16:creationId xmlns:a16="http://schemas.microsoft.com/office/drawing/2014/main" id="{AB61ADA1-0D56-5FF2-1DB2-FF11799FD7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381784" y="4178643"/>
            <a:ext cx="3061444" cy="2297267"/>
            <a:chOff x="-305" y="-1"/>
            <a:chExt cx="3832880" cy="2876136"/>
          </a:xfrm>
        </p:grpSpPr>
        <p:sp>
          <p:nvSpPr>
            <p:cNvPr id="16" name="Freeform: Shape 15">
              <a:extLst>
                <a:ext uri="{FF2B5EF4-FFF2-40B4-BE49-F238E27FC236}">
                  <a16:creationId xmlns:a16="http://schemas.microsoft.com/office/drawing/2014/main" id="{B4EEEBE0-5075-EF1D-F465-FF664D1D3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ADD6F7AF-0E3E-CD12-F88F-5F50DA996D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6BB5A392-5699-2F9B-DDCC-73F32FBA8B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B81ACC7C-A209-4DF6-BC73-9231AB873D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1" name="Group 20">
            <a:extLst>
              <a:ext uri="{FF2B5EF4-FFF2-40B4-BE49-F238E27FC236}">
                <a16:creationId xmlns:a16="http://schemas.microsoft.com/office/drawing/2014/main" id="{743EBFFE-DEF6-83E9-A65B-386D575993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906190" y="0"/>
            <a:ext cx="3282247" cy="2837712"/>
            <a:chOff x="-305" y="-4155"/>
            <a:chExt cx="2514948" cy="2174333"/>
          </a:xfrm>
        </p:grpSpPr>
        <p:sp>
          <p:nvSpPr>
            <p:cNvPr id="22" name="Freeform: Shape 21">
              <a:extLst>
                <a:ext uri="{FF2B5EF4-FFF2-40B4-BE49-F238E27FC236}">
                  <a16:creationId xmlns:a16="http://schemas.microsoft.com/office/drawing/2014/main" id="{E8446F01-D2F2-A530-19AB-515D92C35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19A495FD-CE63-1A3E-E32A-DE81925CBF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D70B3DC3-028F-E46C-4595-9CA80258D7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Freeform: Shape 24">
              <a:extLst>
                <a:ext uri="{FF2B5EF4-FFF2-40B4-BE49-F238E27FC236}">
                  <a16:creationId xmlns:a16="http://schemas.microsoft.com/office/drawing/2014/main" id="{29B68E66-4BF2-AC14-8FD3-FAA2CFDBE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4" name="Title 3">
            <a:extLst>
              <a:ext uri="{FF2B5EF4-FFF2-40B4-BE49-F238E27FC236}">
                <a16:creationId xmlns:a16="http://schemas.microsoft.com/office/drawing/2014/main" id="{3D452CED-72B7-9918-0CE4-F01DCF52FA09}"/>
              </a:ext>
            </a:extLst>
          </p:cNvPr>
          <p:cNvSpPr>
            <a:spLocks noGrp="1"/>
          </p:cNvSpPr>
          <p:nvPr>
            <p:ph type="title"/>
          </p:nvPr>
        </p:nvSpPr>
        <p:spPr>
          <a:xfrm>
            <a:off x="4313263" y="5105"/>
            <a:ext cx="10515600" cy="1325563"/>
          </a:xfrm>
        </p:spPr>
        <p:txBody>
          <a:bodyPr>
            <a:normAutofit/>
          </a:bodyPr>
          <a:lstStyle/>
          <a:p>
            <a:r>
              <a:rPr lang="en-AU" sz="3600" dirty="0"/>
              <a:t>Assessment 2 – Brief</a:t>
            </a:r>
          </a:p>
        </p:txBody>
      </p:sp>
      <p:sp>
        <p:nvSpPr>
          <p:cNvPr id="2" name="TextBox 1">
            <a:extLst>
              <a:ext uri="{FF2B5EF4-FFF2-40B4-BE49-F238E27FC236}">
                <a16:creationId xmlns:a16="http://schemas.microsoft.com/office/drawing/2014/main" id="{48106FF9-9E06-6E99-228B-D8B9E3DB9929}"/>
              </a:ext>
            </a:extLst>
          </p:cNvPr>
          <p:cNvSpPr txBox="1"/>
          <p:nvPr/>
        </p:nvSpPr>
        <p:spPr>
          <a:xfrm>
            <a:off x="470827" y="1616161"/>
            <a:ext cx="5650173" cy="537070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800" b="1" i="0" u="none" strike="noStrike" kern="1200" cap="none" spc="0" normalizeH="0" baseline="0" noProof="0" dirty="0">
                <a:ln>
                  <a:noFill/>
                </a:ln>
                <a:solidFill>
                  <a:prstClr val="black"/>
                </a:solidFill>
                <a:effectLst/>
                <a:uLnTx/>
                <a:uFillTx/>
                <a:latin typeface="Calibri"/>
                <a:ea typeface="+mn-ea"/>
                <a:cs typeface="+mn-cs"/>
              </a:rPr>
              <a:t>Rationale – Why this assessment matters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Apply unit concepts to a </a:t>
            </a:r>
            <a:r>
              <a:rPr kumimoji="0" lang="en-AU" sz="1800" b="1" i="0" u="none" strike="noStrike" kern="1200" cap="none" spc="0" normalizeH="0" baseline="0" noProof="0" dirty="0">
                <a:ln>
                  <a:noFill/>
                </a:ln>
                <a:solidFill>
                  <a:prstClr val="black"/>
                </a:solidFill>
                <a:effectLst/>
                <a:uLnTx/>
                <a:uFillTx/>
                <a:latin typeface="Calibri"/>
                <a:ea typeface="+mn-ea"/>
                <a:cs typeface="+mn-cs"/>
              </a:rPr>
              <a:t>realistic health care scenario</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Critically examine </a:t>
            </a:r>
            <a:r>
              <a:rPr kumimoji="0" lang="en-AU" sz="1800" b="1" i="0" u="none" strike="noStrike" kern="1200" cap="none" spc="0" normalizeH="0" baseline="0" noProof="0" dirty="0">
                <a:ln>
                  <a:noFill/>
                </a:ln>
                <a:solidFill>
                  <a:prstClr val="black"/>
                </a:solidFill>
                <a:effectLst/>
                <a:uLnTx/>
                <a:uFillTx/>
                <a:latin typeface="Calibri"/>
                <a:ea typeface="+mn-ea"/>
                <a:cs typeface="+mn-cs"/>
              </a:rPr>
              <a:t>culturally safe, strengths‑based, socially responsive</a:t>
            </a:r>
            <a:r>
              <a:rPr kumimoji="0" lang="en-AU" sz="1800" b="0" i="0" u="none" strike="noStrike" kern="1200" cap="none" spc="0" normalizeH="0" baseline="0" noProof="0" dirty="0">
                <a:ln>
                  <a:noFill/>
                </a:ln>
                <a:solidFill>
                  <a:prstClr val="black"/>
                </a:solidFill>
                <a:effectLst/>
                <a:uLnTx/>
                <a:uFillTx/>
                <a:latin typeface="Calibri"/>
                <a:ea typeface="+mn-ea"/>
                <a:cs typeface="+mn-cs"/>
              </a:rPr>
              <a:t> practice</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Analyse:</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1" i="0" u="none" strike="noStrike" kern="1200" cap="none" spc="0" normalizeH="0" baseline="0" noProof="0" dirty="0">
                <a:ln>
                  <a:noFill/>
                </a:ln>
                <a:solidFill>
                  <a:prstClr val="black"/>
                </a:solidFill>
                <a:effectLst/>
                <a:uLnTx/>
                <a:uFillTx/>
                <a:latin typeface="Calibri"/>
                <a:ea typeface="+mn-ea"/>
                <a:cs typeface="+mn-cs"/>
              </a:rPr>
              <a:t>SEWB concepts</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1" i="0" u="none" strike="noStrike" kern="1200" cap="none" spc="0" normalizeH="0" baseline="0" noProof="0" dirty="0">
                <a:ln>
                  <a:noFill/>
                </a:ln>
                <a:solidFill>
                  <a:prstClr val="black"/>
                </a:solidFill>
                <a:effectLst/>
                <a:uLnTx/>
                <a:uFillTx/>
                <a:latin typeface="Calibri"/>
                <a:ea typeface="+mn-ea"/>
                <a:cs typeface="+mn-cs"/>
              </a:rPr>
              <a:t>Impacts of colonisation</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1" i="0" u="none" strike="noStrike" kern="1200" cap="none" spc="0" normalizeH="0" baseline="0" noProof="0" dirty="0">
                <a:ln>
                  <a:noFill/>
                </a:ln>
                <a:solidFill>
                  <a:prstClr val="black"/>
                </a:solidFill>
                <a:effectLst/>
                <a:uLnTx/>
                <a:uFillTx/>
                <a:latin typeface="Calibri"/>
                <a:ea typeface="+mn-ea"/>
                <a:cs typeface="+mn-cs"/>
              </a:rPr>
              <a:t>Socioeconomic determinants</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1" i="0" u="none" strike="noStrike" kern="1200" cap="none" spc="0" normalizeH="0" baseline="0" noProof="0" dirty="0">
                <a:ln>
                  <a:noFill/>
                </a:ln>
                <a:solidFill>
                  <a:prstClr val="black"/>
                </a:solidFill>
                <a:effectLst/>
                <a:uLnTx/>
                <a:uFillTx/>
                <a:latin typeface="Calibri"/>
                <a:ea typeface="+mn-ea"/>
                <a:cs typeface="+mn-cs"/>
              </a:rPr>
              <a:t>Primary health care &amp; health promotion</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Shift away from deficit views → recognise </a:t>
            </a:r>
            <a:r>
              <a:rPr kumimoji="0" lang="en-AU" sz="1800" b="1" i="0" u="none" strike="noStrike" kern="1200" cap="none" spc="0" normalizeH="0" baseline="0" noProof="0" dirty="0">
                <a:ln>
                  <a:noFill/>
                </a:ln>
                <a:solidFill>
                  <a:prstClr val="black"/>
                </a:solidFill>
                <a:effectLst/>
                <a:uLnTx/>
                <a:uFillTx/>
                <a:latin typeface="Calibri"/>
                <a:ea typeface="+mn-ea"/>
                <a:cs typeface="+mn-cs"/>
              </a:rPr>
              <a:t>strengths, resilience, cultural connections, self‑determination</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Understand health professionals as </a:t>
            </a:r>
            <a:r>
              <a:rPr kumimoji="0" lang="en-AU" sz="1800" b="1" i="0" u="none" strike="noStrike" kern="1200" cap="none" spc="0" normalizeH="0" baseline="0" noProof="0" dirty="0">
                <a:ln>
                  <a:noFill/>
                </a:ln>
                <a:solidFill>
                  <a:prstClr val="black"/>
                </a:solidFill>
                <a:effectLst/>
                <a:uLnTx/>
                <a:uFillTx/>
                <a:latin typeface="Calibri"/>
                <a:ea typeface="+mn-ea"/>
                <a:cs typeface="+mn-cs"/>
              </a:rPr>
              <a:t>agents of social change</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Explore how culturally safe, equitable care supports </a:t>
            </a:r>
            <a:r>
              <a:rPr kumimoji="0" lang="en-AU" sz="1800" b="1" i="0" u="none" strike="noStrike" kern="1200" cap="none" spc="0" normalizeH="0" baseline="0" noProof="0" dirty="0">
                <a:ln>
                  <a:noFill/>
                </a:ln>
                <a:solidFill>
                  <a:prstClr val="black"/>
                </a:solidFill>
                <a:effectLst/>
                <a:uLnTx/>
                <a:uFillTx/>
                <a:latin typeface="Calibri"/>
                <a:ea typeface="+mn-ea"/>
                <a:cs typeface="+mn-cs"/>
              </a:rPr>
              <a:t>Indigenous wellbeing</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TextBox 2">
            <a:extLst>
              <a:ext uri="{FF2B5EF4-FFF2-40B4-BE49-F238E27FC236}">
                <a16:creationId xmlns:a16="http://schemas.microsoft.com/office/drawing/2014/main" id="{2434DD47-6AC0-78BE-7BDB-20319F0038A5}"/>
              </a:ext>
            </a:extLst>
          </p:cNvPr>
          <p:cNvSpPr txBox="1"/>
          <p:nvPr/>
        </p:nvSpPr>
        <p:spPr>
          <a:xfrm>
            <a:off x="6716952" y="1616161"/>
            <a:ext cx="5500048" cy="48628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800" b="1" i="0" u="none" strike="noStrike" kern="1200" cap="none" spc="0" normalizeH="0" baseline="0" noProof="0" dirty="0">
                <a:ln>
                  <a:noFill/>
                </a:ln>
                <a:solidFill>
                  <a:prstClr val="black"/>
                </a:solidFill>
                <a:effectLst/>
                <a:uLnTx/>
                <a:uFillTx/>
                <a:latin typeface="Calibri"/>
                <a:ea typeface="+mn-ea"/>
                <a:cs typeface="+mn-cs"/>
              </a:rPr>
              <a:t>Assessment Task – What students must do</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Write a </a:t>
            </a:r>
            <a:r>
              <a:rPr kumimoji="0" lang="en-AU" sz="1800" b="1" i="0" u="none" strike="noStrike" kern="1200" cap="none" spc="0" normalizeH="0" baseline="0" noProof="0" dirty="0">
                <a:ln>
                  <a:noFill/>
                </a:ln>
                <a:solidFill>
                  <a:prstClr val="black"/>
                </a:solidFill>
                <a:effectLst/>
                <a:uLnTx/>
                <a:uFillTx/>
                <a:latin typeface="Calibri"/>
                <a:ea typeface="+mn-ea"/>
                <a:cs typeface="+mn-cs"/>
              </a:rPr>
              <a:t>critical review</a:t>
            </a:r>
            <a:r>
              <a:rPr kumimoji="0" lang="en-AU" sz="1800" b="0" i="0" u="none" strike="noStrike" kern="1200" cap="none" spc="0" normalizeH="0" baseline="0" noProof="0" dirty="0">
                <a:ln>
                  <a:noFill/>
                </a:ln>
                <a:solidFill>
                  <a:prstClr val="black"/>
                </a:solidFill>
                <a:effectLst/>
                <a:uLnTx/>
                <a:uFillTx/>
                <a:latin typeface="Calibri"/>
                <a:ea typeface="+mn-ea"/>
                <a:cs typeface="+mn-cs"/>
              </a:rPr>
              <a:t> of the Sarah scenario</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Examine how health professionals and services can support </a:t>
            </a:r>
            <a:r>
              <a:rPr kumimoji="0" lang="en-AU" sz="1800" b="1" i="0" u="none" strike="noStrike" kern="1200" cap="none" spc="0" normalizeH="0" baseline="0" noProof="0" dirty="0">
                <a:ln>
                  <a:noFill/>
                </a:ln>
                <a:solidFill>
                  <a:prstClr val="black"/>
                </a:solidFill>
                <a:effectLst/>
                <a:uLnTx/>
                <a:uFillTx/>
                <a:latin typeface="Calibri"/>
                <a:ea typeface="+mn-ea"/>
                <a:cs typeface="+mn-cs"/>
              </a:rPr>
              <a:t>Indigenous health and wellbeing</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Apply unit concepts to Sarah’s experiences and the clinic’s </a:t>
            </a:r>
            <a:r>
              <a:rPr kumimoji="0" lang="en-AU" sz="1800" b="1" i="0" u="none" strike="noStrike" kern="1200" cap="none" spc="0" normalizeH="0" baseline="0" noProof="0" dirty="0">
                <a:ln>
                  <a:noFill/>
                </a:ln>
                <a:solidFill>
                  <a:prstClr val="black"/>
                </a:solidFill>
                <a:effectLst/>
                <a:uLnTx/>
                <a:uFillTx/>
                <a:latin typeface="Calibri"/>
                <a:ea typeface="+mn-ea"/>
                <a:cs typeface="+mn-cs"/>
              </a:rPr>
              <a:t>service improvements</a:t>
            </a: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Analyse culturally safe, strengths‑based approaches using </a:t>
            </a:r>
            <a:r>
              <a:rPr kumimoji="0" lang="en-AU" sz="1800" b="1" i="0" u="none" strike="noStrike" kern="1200" cap="none" spc="0" normalizeH="0" baseline="0" noProof="0" dirty="0">
                <a:ln>
                  <a:noFill/>
                </a:ln>
                <a:solidFill>
                  <a:prstClr val="black"/>
                </a:solidFill>
                <a:effectLst/>
                <a:uLnTx/>
                <a:uFillTx/>
                <a:latin typeface="Calibri"/>
                <a:ea typeface="+mn-ea"/>
                <a:cs typeface="+mn-cs"/>
              </a:rPr>
              <a:t>scholarly evidence</a:t>
            </a:r>
            <a:r>
              <a:rPr kumimoji="0" lang="en-AU" sz="1800" b="0" i="0" u="none" strike="noStrike" kern="1200" cap="none" spc="0" normalizeH="0" baseline="0" noProof="0" dirty="0">
                <a:ln>
                  <a:noFill/>
                </a:ln>
                <a:solidFill>
                  <a:prstClr val="black"/>
                </a:solidFill>
                <a:effectLst/>
                <a:uLnTx/>
                <a:uFillTx/>
                <a:latin typeface="Calibri"/>
                <a:ea typeface="+mn-ea"/>
                <a:cs typeface="+mn-cs"/>
              </a:rPr>
              <a:t> (min. 12 sources)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Evaluate the quality of practice → identify strengths, weaknesses, bias, assumptions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Provide </a:t>
            </a:r>
            <a:r>
              <a:rPr kumimoji="0" lang="en-AU" sz="1800" b="1" i="0" u="none" strike="noStrike" kern="1200" cap="none" spc="0" normalizeH="0" baseline="0" noProof="0" dirty="0">
                <a:ln>
                  <a:noFill/>
                </a:ln>
                <a:solidFill>
                  <a:prstClr val="black"/>
                </a:solidFill>
                <a:effectLst/>
                <a:uLnTx/>
                <a:uFillTx/>
                <a:latin typeface="Calibri"/>
                <a:ea typeface="+mn-ea"/>
                <a:cs typeface="+mn-cs"/>
              </a:rPr>
              <a:t>evidence‑based recommendations</a:t>
            </a:r>
            <a:r>
              <a:rPr kumimoji="0" lang="en-AU" sz="1800" b="0" i="0" u="none" strike="noStrike" kern="1200" cap="none" spc="0" normalizeH="0" baseline="0" noProof="0" dirty="0">
                <a:ln>
                  <a:noFill/>
                </a:ln>
                <a:solidFill>
                  <a:prstClr val="black"/>
                </a:solidFill>
                <a:effectLst/>
                <a:uLnTx/>
                <a:uFillTx/>
                <a:latin typeface="Calibri"/>
                <a:ea typeface="+mn-ea"/>
                <a:cs typeface="+mn-cs"/>
              </a:rPr>
              <a:t> for culturally safe care and SEWB‑aligned practice</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800" b="0" i="0" u="none" strike="noStrike" kern="1200" cap="none" spc="0" normalizeH="0" baseline="0" noProof="0" dirty="0">
                <a:ln>
                  <a:noFill/>
                </a:ln>
                <a:solidFill>
                  <a:prstClr val="black"/>
                </a:solidFill>
                <a:effectLst/>
                <a:uLnTx/>
                <a:uFillTx/>
                <a:latin typeface="Calibri"/>
                <a:ea typeface="+mn-ea"/>
                <a:cs typeface="+mn-cs"/>
              </a:rPr>
              <a:t>Link all analysis to theory: SEWB, cultural safety, colonisation, determinants, PHC, health promotion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35403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CEC3F4-96E5-D32E-B002-02229FEAD3ED}"/>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C6BE688-2AD6-30ED-C625-06F7629CD9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4D5E2516-902F-99A7-1802-900052390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5" name="Group 14">
            <a:extLst>
              <a:ext uri="{FF2B5EF4-FFF2-40B4-BE49-F238E27FC236}">
                <a16:creationId xmlns:a16="http://schemas.microsoft.com/office/drawing/2014/main" id="{86595E77-A4E2-830E-7CC2-4FCF19D81A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381784" y="4178643"/>
            <a:ext cx="3061444" cy="2297267"/>
            <a:chOff x="-305" y="-1"/>
            <a:chExt cx="3832880" cy="2876136"/>
          </a:xfrm>
        </p:grpSpPr>
        <p:sp>
          <p:nvSpPr>
            <p:cNvPr id="16" name="Freeform: Shape 15">
              <a:extLst>
                <a:ext uri="{FF2B5EF4-FFF2-40B4-BE49-F238E27FC236}">
                  <a16:creationId xmlns:a16="http://schemas.microsoft.com/office/drawing/2014/main" id="{25C0E8E4-B415-FFDB-9F58-563E3858B0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B400143E-E79C-3D7A-5E3C-7FA210ECCB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8C3C8B85-830A-75BA-F5AE-F9AE55DD0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A85A3A24-C02B-6104-F956-CDB7891671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1" name="Group 20">
            <a:extLst>
              <a:ext uri="{FF2B5EF4-FFF2-40B4-BE49-F238E27FC236}">
                <a16:creationId xmlns:a16="http://schemas.microsoft.com/office/drawing/2014/main" id="{41331649-F31A-994F-F8EC-80BE81080C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906190" y="0"/>
            <a:ext cx="3282247" cy="2837712"/>
            <a:chOff x="-305" y="-4155"/>
            <a:chExt cx="2514948" cy="2174333"/>
          </a:xfrm>
        </p:grpSpPr>
        <p:sp>
          <p:nvSpPr>
            <p:cNvPr id="22" name="Freeform: Shape 21">
              <a:extLst>
                <a:ext uri="{FF2B5EF4-FFF2-40B4-BE49-F238E27FC236}">
                  <a16:creationId xmlns:a16="http://schemas.microsoft.com/office/drawing/2014/main" id="{2F2DBE5E-3DB6-0384-0B2F-62F3C47FA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9D584A36-B724-63F0-0D32-43DE5B690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A036752F-B000-EEDF-E3AC-A05261C43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Freeform: Shape 24">
              <a:extLst>
                <a:ext uri="{FF2B5EF4-FFF2-40B4-BE49-F238E27FC236}">
                  <a16:creationId xmlns:a16="http://schemas.microsoft.com/office/drawing/2014/main" id="{1B7BA7B8-18A4-FB72-0488-2FAD6E1898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4" name="Title 3">
            <a:extLst>
              <a:ext uri="{FF2B5EF4-FFF2-40B4-BE49-F238E27FC236}">
                <a16:creationId xmlns:a16="http://schemas.microsoft.com/office/drawing/2014/main" id="{8F509FFA-888B-398E-C9BC-85FB0C190240}"/>
              </a:ext>
            </a:extLst>
          </p:cNvPr>
          <p:cNvSpPr>
            <a:spLocks noGrp="1"/>
          </p:cNvSpPr>
          <p:nvPr>
            <p:ph type="title"/>
          </p:nvPr>
        </p:nvSpPr>
        <p:spPr>
          <a:xfrm>
            <a:off x="8662219" y="2046068"/>
            <a:ext cx="3401962" cy="2122809"/>
          </a:xfrm>
        </p:spPr>
        <p:txBody>
          <a:bodyPr>
            <a:normAutofit/>
          </a:bodyPr>
          <a:lstStyle/>
          <a:p>
            <a:r>
              <a:rPr lang="en-AU" sz="3600" dirty="0"/>
              <a:t>Assessment 2  Scenario</a:t>
            </a:r>
          </a:p>
        </p:txBody>
      </p:sp>
      <p:pic>
        <p:nvPicPr>
          <p:cNvPr id="2" name="Picture 1">
            <a:extLst>
              <a:ext uri="{FF2B5EF4-FFF2-40B4-BE49-F238E27FC236}">
                <a16:creationId xmlns:a16="http://schemas.microsoft.com/office/drawing/2014/main" id="{9782E856-85B9-3036-A516-8A44F134B55A}"/>
              </a:ext>
            </a:extLst>
          </p:cNvPr>
          <p:cNvPicPr>
            <a:picLocks noChangeAspect="1"/>
          </p:cNvPicPr>
          <p:nvPr/>
        </p:nvPicPr>
        <p:blipFill>
          <a:blip r:embed="rId3"/>
          <a:stretch>
            <a:fillRect/>
          </a:stretch>
        </p:blipFill>
        <p:spPr>
          <a:xfrm>
            <a:off x="3563" y="0"/>
            <a:ext cx="7934937" cy="6858000"/>
          </a:xfrm>
          <a:prstGeom prst="rect">
            <a:avLst/>
          </a:prstGeom>
        </p:spPr>
      </p:pic>
    </p:spTree>
    <p:extLst>
      <p:ext uri="{BB962C8B-B14F-4D97-AF65-F5344CB8AC3E}">
        <p14:creationId xmlns:p14="http://schemas.microsoft.com/office/powerpoint/2010/main" val="3984521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7B5550-5D55-5CF9-D693-D6FA0DE98ED5}"/>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26F4DA1-B45C-8452-E490-0339B6766E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4E14F1A0-6A3C-DDAB-3F08-CDC637149B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5" name="Group 14">
            <a:extLst>
              <a:ext uri="{FF2B5EF4-FFF2-40B4-BE49-F238E27FC236}">
                <a16:creationId xmlns:a16="http://schemas.microsoft.com/office/drawing/2014/main" id="{D98A9876-6857-C619-D58E-85A977D3F33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381784" y="4178643"/>
            <a:ext cx="3061444" cy="2297267"/>
            <a:chOff x="-305" y="-1"/>
            <a:chExt cx="3832880" cy="2876136"/>
          </a:xfrm>
        </p:grpSpPr>
        <p:sp>
          <p:nvSpPr>
            <p:cNvPr id="16" name="Freeform: Shape 15">
              <a:extLst>
                <a:ext uri="{FF2B5EF4-FFF2-40B4-BE49-F238E27FC236}">
                  <a16:creationId xmlns:a16="http://schemas.microsoft.com/office/drawing/2014/main" id="{B4892592-E3A9-FCEE-FEEC-CEC67B7685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657E6DBD-AD7F-E25E-D029-5D3FB1A751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61D17A28-7D3D-3789-39EC-203993DC18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F8AC4F79-A298-8BF8-5DC4-927D18D9B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1" name="Group 20">
            <a:extLst>
              <a:ext uri="{FF2B5EF4-FFF2-40B4-BE49-F238E27FC236}">
                <a16:creationId xmlns:a16="http://schemas.microsoft.com/office/drawing/2014/main" id="{D4E4551B-DFA8-0E56-49AF-00BF23755D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906190" y="0"/>
            <a:ext cx="3282247" cy="2837712"/>
            <a:chOff x="-305" y="-4155"/>
            <a:chExt cx="2514948" cy="2174333"/>
          </a:xfrm>
        </p:grpSpPr>
        <p:sp>
          <p:nvSpPr>
            <p:cNvPr id="22" name="Freeform: Shape 21">
              <a:extLst>
                <a:ext uri="{FF2B5EF4-FFF2-40B4-BE49-F238E27FC236}">
                  <a16:creationId xmlns:a16="http://schemas.microsoft.com/office/drawing/2014/main" id="{3789DFDE-FEB5-A396-7DEE-CA89E00589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8C7496AD-8BC3-2DCE-7334-6027705C74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D90552FF-87A4-A2BA-59B1-6FD728EB82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Freeform: Shape 24">
              <a:extLst>
                <a:ext uri="{FF2B5EF4-FFF2-40B4-BE49-F238E27FC236}">
                  <a16:creationId xmlns:a16="http://schemas.microsoft.com/office/drawing/2014/main" id="{3DECCECC-4710-F0A8-3D8D-3CE5ECFF53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4" name="Title 3">
            <a:extLst>
              <a:ext uri="{FF2B5EF4-FFF2-40B4-BE49-F238E27FC236}">
                <a16:creationId xmlns:a16="http://schemas.microsoft.com/office/drawing/2014/main" id="{30D808EB-D889-9AD7-22F1-A517163ECFD7}"/>
              </a:ext>
            </a:extLst>
          </p:cNvPr>
          <p:cNvSpPr>
            <a:spLocks noGrp="1"/>
          </p:cNvSpPr>
          <p:nvPr>
            <p:ph type="title"/>
          </p:nvPr>
        </p:nvSpPr>
        <p:spPr>
          <a:xfrm>
            <a:off x="8662219" y="2046068"/>
            <a:ext cx="3401962" cy="2122809"/>
          </a:xfrm>
        </p:spPr>
        <p:txBody>
          <a:bodyPr>
            <a:normAutofit/>
          </a:bodyPr>
          <a:lstStyle/>
          <a:p>
            <a:pPr lvl="0" algn="ctr">
              <a:lnSpc>
                <a:spcPct val="100000"/>
              </a:lnSpc>
              <a:spcBef>
                <a:spcPts val="0"/>
              </a:spcBef>
              <a:defRPr/>
            </a:pPr>
            <a:r>
              <a:rPr lang="en-AU" sz="3600" dirty="0">
                <a:solidFill>
                  <a:prstClr val="black"/>
                </a:solidFill>
                <a:latin typeface="Calibri"/>
              </a:rPr>
              <a:t>Example Assessment Structure</a:t>
            </a:r>
          </a:p>
        </p:txBody>
      </p:sp>
      <p:pic>
        <p:nvPicPr>
          <p:cNvPr id="5" name="Picture 4">
            <a:extLst>
              <a:ext uri="{FF2B5EF4-FFF2-40B4-BE49-F238E27FC236}">
                <a16:creationId xmlns:a16="http://schemas.microsoft.com/office/drawing/2014/main" id="{2F09DA6C-1113-3DE9-878E-B92F6413F5E7}"/>
              </a:ext>
            </a:extLst>
          </p:cNvPr>
          <p:cNvPicPr>
            <a:picLocks noChangeAspect="1"/>
          </p:cNvPicPr>
          <p:nvPr/>
        </p:nvPicPr>
        <p:blipFill>
          <a:blip r:embed="rId3"/>
          <a:stretch>
            <a:fillRect/>
          </a:stretch>
        </p:blipFill>
        <p:spPr>
          <a:xfrm>
            <a:off x="-305" y="196645"/>
            <a:ext cx="8622487" cy="6242804"/>
          </a:xfrm>
          <a:prstGeom prst="rect">
            <a:avLst/>
          </a:prstGeom>
        </p:spPr>
      </p:pic>
    </p:spTree>
    <p:extLst>
      <p:ext uri="{BB962C8B-B14F-4D97-AF65-F5344CB8AC3E}">
        <p14:creationId xmlns:p14="http://schemas.microsoft.com/office/powerpoint/2010/main" val="3434980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57411F-80FC-E724-4AFC-B8000F6A724D}"/>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D71422B-3179-46A4-7E37-704221C430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51F03064-A43B-D091-2C18-E51F7450A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5" name="Group 14">
            <a:extLst>
              <a:ext uri="{FF2B5EF4-FFF2-40B4-BE49-F238E27FC236}">
                <a16:creationId xmlns:a16="http://schemas.microsoft.com/office/drawing/2014/main" id="{F100C27D-C293-377B-BC9D-AA482A6AA5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381784" y="4178643"/>
            <a:ext cx="3061444" cy="2297267"/>
            <a:chOff x="-305" y="-1"/>
            <a:chExt cx="3832880" cy="2876136"/>
          </a:xfrm>
        </p:grpSpPr>
        <p:sp>
          <p:nvSpPr>
            <p:cNvPr id="16" name="Freeform: Shape 15">
              <a:extLst>
                <a:ext uri="{FF2B5EF4-FFF2-40B4-BE49-F238E27FC236}">
                  <a16:creationId xmlns:a16="http://schemas.microsoft.com/office/drawing/2014/main" id="{24D579D7-1DB8-FB97-57F4-BC10A386E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A0E1932B-DE80-50B8-AA49-F12B9B07CF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AA85E03B-6383-DC84-9CF9-0626AA2E89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9E48B533-31A5-58C4-9F81-FBB09ADC78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1" name="Group 20">
            <a:extLst>
              <a:ext uri="{FF2B5EF4-FFF2-40B4-BE49-F238E27FC236}">
                <a16:creationId xmlns:a16="http://schemas.microsoft.com/office/drawing/2014/main" id="{C5022A7A-3BCE-A950-F4FA-E6420DB030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906190" y="0"/>
            <a:ext cx="3282247" cy="2837712"/>
            <a:chOff x="-305" y="-4155"/>
            <a:chExt cx="2514948" cy="2174333"/>
          </a:xfrm>
        </p:grpSpPr>
        <p:sp>
          <p:nvSpPr>
            <p:cNvPr id="22" name="Freeform: Shape 21">
              <a:extLst>
                <a:ext uri="{FF2B5EF4-FFF2-40B4-BE49-F238E27FC236}">
                  <a16:creationId xmlns:a16="http://schemas.microsoft.com/office/drawing/2014/main" id="{51BCE358-8509-0E7C-B9AD-B8C51AA4AB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148A8471-2016-7C7E-CB5B-01F7FB627F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04D11867-AC3A-BF46-17E3-E1F436582F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Freeform: Shape 24">
              <a:extLst>
                <a:ext uri="{FF2B5EF4-FFF2-40B4-BE49-F238E27FC236}">
                  <a16:creationId xmlns:a16="http://schemas.microsoft.com/office/drawing/2014/main" id="{9F716A28-23B0-19F1-330F-4E43646FC4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4" name="Title 3">
            <a:extLst>
              <a:ext uri="{FF2B5EF4-FFF2-40B4-BE49-F238E27FC236}">
                <a16:creationId xmlns:a16="http://schemas.microsoft.com/office/drawing/2014/main" id="{919B3A74-12D7-D801-4D85-2DC24B8D2C34}"/>
              </a:ext>
            </a:extLst>
          </p:cNvPr>
          <p:cNvSpPr>
            <a:spLocks noGrp="1"/>
          </p:cNvSpPr>
          <p:nvPr>
            <p:ph type="title"/>
          </p:nvPr>
        </p:nvSpPr>
        <p:spPr>
          <a:xfrm>
            <a:off x="3067665" y="92468"/>
            <a:ext cx="5636566" cy="1172730"/>
          </a:xfrm>
        </p:spPr>
        <p:txBody>
          <a:bodyPr>
            <a:normAutofit fontScale="90000"/>
          </a:bodyPr>
          <a:lstStyle/>
          <a:p>
            <a:pPr lvl="0">
              <a:defRPr/>
            </a:pPr>
            <a:r>
              <a:rPr lang="en-AU" dirty="0">
                <a:solidFill>
                  <a:sysClr val="windowText" lastClr="000000">
                    <a:lumMod val="85000"/>
                    <a:lumOff val="15000"/>
                  </a:sysClr>
                </a:solidFill>
                <a:latin typeface="Avenir Next LT Pro Light" panose="02020404030301010803"/>
              </a:rPr>
              <a:t>Your response must …</a:t>
            </a:r>
          </a:p>
        </p:txBody>
      </p:sp>
      <p:sp>
        <p:nvSpPr>
          <p:cNvPr id="2" name="TextBox 1">
            <a:extLst>
              <a:ext uri="{FF2B5EF4-FFF2-40B4-BE49-F238E27FC236}">
                <a16:creationId xmlns:a16="http://schemas.microsoft.com/office/drawing/2014/main" id="{C8CAE3F3-78E0-D5BA-6C18-24E8C08C8B14}"/>
              </a:ext>
            </a:extLst>
          </p:cNvPr>
          <p:cNvSpPr txBox="1"/>
          <p:nvPr/>
        </p:nvSpPr>
        <p:spPr>
          <a:xfrm>
            <a:off x="232554" y="1273755"/>
            <a:ext cx="11867096" cy="701730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600" b="1" i="0" u="sng" strike="noStrike" kern="1200" cap="none" spc="0" normalizeH="0" baseline="0" noProof="0" dirty="0">
                <a:ln>
                  <a:noFill/>
                </a:ln>
                <a:solidFill>
                  <a:prstClr val="black"/>
                </a:solidFill>
                <a:effectLst/>
                <a:uLnTx/>
                <a:uFillTx/>
                <a:latin typeface="Calibri"/>
                <a:ea typeface="+mn-ea"/>
                <a:cs typeface="+mn-cs"/>
              </a:rPr>
              <a:t>Assessment Requirements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1" i="0" u="sng"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Be written in a clear, coherent, and respectful academic style.</a:t>
            </a:r>
            <a:endParaRPr kumimoji="0" lang="en-AU" sz="1600" b="1"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Support your discussion with evidence from:</a:t>
            </a:r>
            <a:endParaRPr kumimoji="0" lang="en-AU" sz="16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Scholarly literature</a:t>
            </a:r>
            <a:endParaRPr kumimoji="0" lang="en-AU" sz="1600" b="0" i="0" u="none" strike="noStrike" kern="1200" cap="none" spc="0" normalizeH="0" baseline="0" noProof="0" dirty="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Unit materials</a:t>
            </a:r>
            <a:endParaRPr kumimoji="0" lang="en-AU" sz="1600" b="0" i="0" u="none" strike="noStrike" kern="1200" cap="none" spc="0" normalizeH="0" baseline="0" noProof="0" dirty="0">
              <a:ln>
                <a:noFill/>
              </a:ln>
              <a:solidFill>
                <a:prstClr val="black"/>
              </a:solidFill>
              <a:effectLst/>
              <a:uLnTx/>
              <a:uFillTx/>
              <a:latin typeface="Calibri"/>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Calibri"/>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Definition of Scholarly and Peer-Reviewed sources</a:t>
            </a:r>
            <a:endParaRPr kumimoji="0" lang="en-AU" sz="1600" b="0" i="0" u="none" strike="noStrike" kern="1200" cap="none" spc="0" normalizeH="0" baseline="0" noProof="0" dirty="0">
              <a:ln>
                <a:noFill/>
              </a:ln>
              <a:solidFill>
                <a:prstClr val="black"/>
              </a:solidFill>
              <a:effectLst/>
              <a:uLnTx/>
              <a:uFillTx/>
              <a:latin typeface="Calibri"/>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alibri"/>
                <a:ea typeface="+mn-ea"/>
                <a:cs typeface="+mn-cs"/>
              </a:rPr>
              <a:t>Peer-reviewed sources are academic publications that have been evaluated by experts before publication to ensure quality, accuracy, and credibility. Scholarly sources are written by researchers or experts for an academic audience and include journal articles, academic books, conference papers, and theses. They typically provide author credentials and references. All peer-reviewed sources are scholarly, but not all scholarly sources are peer-reviewed. For example, an academic book may be scholarly without undergoing peer review.</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err="1">
                <a:ln>
                  <a:noFill/>
                </a:ln>
                <a:solidFill>
                  <a:prstClr val="black"/>
                </a:solidFill>
                <a:effectLst/>
                <a:uLnTx/>
                <a:uFillTx/>
                <a:latin typeface="Calibri"/>
                <a:ea typeface="+mn-ea"/>
                <a:cs typeface="+mn-cs"/>
              </a:rPr>
              <a:t>Utilise</a:t>
            </a:r>
            <a:r>
              <a:rPr kumimoji="0" lang="en-US" sz="1600" b="0" i="0" u="none" strike="noStrike" kern="1200" cap="none" spc="0" normalizeH="0" baseline="0" noProof="0" dirty="0">
                <a:ln>
                  <a:noFill/>
                </a:ln>
                <a:solidFill>
                  <a:prstClr val="black"/>
                </a:solidFill>
                <a:effectLst/>
                <a:uLnTx/>
                <a:uFillTx/>
                <a:latin typeface="Calibri"/>
                <a:ea typeface="+mn-ea"/>
                <a:cs typeface="+mn-cs"/>
              </a:rPr>
              <a:t> evidence from a </a:t>
            </a:r>
            <a:r>
              <a:rPr kumimoji="0" lang="en-US" sz="1600" b="1" i="0" u="sng" strike="noStrike" kern="1200" cap="none" spc="0" normalizeH="0" baseline="0" noProof="0" dirty="0">
                <a:ln>
                  <a:noFill/>
                </a:ln>
                <a:solidFill>
                  <a:prstClr val="black"/>
                </a:solidFill>
                <a:effectLst/>
                <a:uLnTx/>
                <a:uFillTx/>
                <a:latin typeface="Calibri"/>
                <a:ea typeface="+mn-ea"/>
                <a:cs typeface="+mn-cs"/>
              </a:rPr>
              <a:t>minimum of 12 scholarly sources</a:t>
            </a:r>
            <a:r>
              <a:rPr kumimoji="0" lang="en-US" sz="1600" b="0" i="0" u="sng"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prstClr val="black"/>
                </a:solidFill>
                <a:effectLst/>
                <a:uLnTx/>
                <a:uFillTx/>
                <a:latin typeface="Calibri"/>
                <a:ea typeface="+mn-ea"/>
                <a:cs typeface="+mn-cs"/>
              </a:rPr>
              <a:t>to support your analysis </a:t>
            </a:r>
            <a:endParaRPr kumimoji="0" lang="en-AU" sz="16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Use correct terminology and tone when referring to Australian Indigenous people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Use APA 7</a:t>
            </a:r>
            <a:r>
              <a:rPr kumimoji="0" lang="en-US" sz="1600" b="0" i="0" u="none" strike="noStrike" kern="1200" cap="none" spc="0" normalizeH="0" baseline="30000" noProof="0" dirty="0">
                <a:ln>
                  <a:noFill/>
                </a:ln>
                <a:solidFill>
                  <a:prstClr val="black"/>
                </a:solidFill>
                <a:effectLst/>
                <a:uLnTx/>
                <a:uFillTx/>
                <a:latin typeface="Calibri"/>
                <a:ea typeface="+mn-ea"/>
                <a:cs typeface="+mn-cs"/>
              </a:rPr>
              <a:t>th</a:t>
            </a:r>
            <a:r>
              <a:rPr kumimoji="0" lang="en-US" sz="1600" b="0" i="0" u="none" strike="noStrike" kern="1200" cap="none" spc="0" normalizeH="0" baseline="0" noProof="0" dirty="0">
                <a:ln>
                  <a:noFill/>
                </a:ln>
                <a:solidFill>
                  <a:prstClr val="black"/>
                </a:solidFill>
                <a:effectLst/>
                <a:uLnTx/>
                <a:uFillTx/>
                <a:latin typeface="Calibri"/>
                <a:ea typeface="+mn-ea"/>
                <a:cs typeface="+mn-cs"/>
              </a:rPr>
              <a:t> document, referencing, and citation styles in this Unit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Label your submission with your surname and initials, and the assessment task's name, for example:</a:t>
            </a:r>
            <a:endParaRPr kumimoji="0" lang="en-AU"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SmithJ_Critical</a:t>
            </a:r>
            <a:r>
              <a:rPr kumimoji="0" lang="en-US" sz="1600" b="0" i="0" u="none" strike="noStrike" kern="1200" cap="none" spc="0" normalizeH="0" baseline="0" noProof="0" dirty="0">
                <a:ln>
                  <a:noFill/>
                </a:ln>
                <a:solidFill>
                  <a:prstClr val="black"/>
                </a:solidFill>
                <a:effectLst/>
                <a:uLnTx/>
                <a:uFillTx/>
                <a:latin typeface="Calibri"/>
                <a:ea typeface="+mn-ea"/>
                <a:cs typeface="+mn-cs"/>
              </a:rPr>
              <a:t> Review.docx	</a:t>
            </a:r>
            <a:endParaRPr kumimoji="0" lang="en-AU" sz="1600" b="0" i="0" u="none" strike="noStrike" kern="1200" cap="none" spc="0" normalizeH="0" baseline="0" noProof="0" dirty="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You </a:t>
            </a:r>
            <a:r>
              <a:rPr kumimoji="0" lang="en-US" sz="1600" b="1" i="0" u="none" strike="noStrike" kern="1200" cap="none" spc="0" normalizeH="0" baseline="0" noProof="0" dirty="0">
                <a:ln>
                  <a:noFill/>
                </a:ln>
                <a:solidFill>
                  <a:prstClr val="black"/>
                </a:solidFill>
                <a:effectLst/>
                <a:uLnTx/>
                <a:uFillTx/>
                <a:latin typeface="Calibri"/>
                <a:ea typeface="+mn-ea"/>
                <a:cs typeface="+mn-cs"/>
              </a:rPr>
              <a:t>MUST</a:t>
            </a:r>
            <a:r>
              <a:rPr kumimoji="0" lang="en-US" sz="1600" b="0" i="0" u="none" strike="noStrike" kern="1200" cap="none" spc="0" normalizeH="0" baseline="0" noProof="0" dirty="0">
                <a:ln>
                  <a:noFill/>
                </a:ln>
                <a:solidFill>
                  <a:prstClr val="black"/>
                </a:solidFill>
                <a:effectLst/>
                <a:uLnTx/>
                <a:uFillTx/>
                <a:latin typeface="Calibri"/>
                <a:ea typeface="+mn-ea"/>
                <a:cs typeface="+mn-cs"/>
              </a:rPr>
              <a:t> add a footer to your submission.</a:t>
            </a:r>
            <a:endParaRPr kumimoji="0" lang="en-AU"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Add your name and task type – i.e.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SmithJ_CriticalReview</a:t>
            </a:r>
            <a:r>
              <a:rPr kumimoji="0" lang="en-US" sz="1600" b="0" i="0" u="none" strike="noStrike" kern="1200" cap="none" spc="0" normalizeH="0" baseline="0" noProof="0" dirty="0">
                <a:ln>
                  <a:noFill/>
                </a:ln>
                <a:solidFill>
                  <a:prstClr val="black"/>
                </a:solidFill>
                <a:effectLst/>
                <a:uLnTx/>
                <a:uFillTx/>
                <a:latin typeface="Calibri"/>
                <a:ea typeface="+mn-ea"/>
                <a:cs typeface="+mn-cs"/>
              </a:rPr>
              <a:t> on left margin, your student ID, and have page number on the right margin. See the example below:</a:t>
            </a:r>
            <a:endParaRPr kumimoji="0" lang="en-AU"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br>
              <a:rPr kumimoji="0" lang="en-US" sz="1600" b="0" i="0" u="none" strike="noStrike" kern="1200" cap="none" spc="0" normalizeH="0" baseline="0" noProof="0" dirty="0">
                <a:ln>
                  <a:noFill/>
                </a:ln>
                <a:solidFill>
                  <a:prstClr val="black"/>
                </a:solidFill>
                <a:effectLst/>
                <a:uLnTx/>
                <a:uFillTx/>
                <a:latin typeface="Calibri"/>
                <a:ea typeface="+mn-ea"/>
                <a:cs typeface="+mn-cs"/>
              </a:rPr>
            </a:br>
            <a:endParaRPr kumimoji="0" lang="en-AU"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a:t>
            </a:r>
            <a:endParaRPr kumimoji="0" lang="en-AU"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7" name="Picture 6">
            <a:extLst>
              <a:ext uri="{FF2B5EF4-FFF2-40B4-BE49-F238E27FC236}">
                <a16:creationId xmlns:a16="http://schemas.microsoft.com/office/drawing/2014/main" id="{1E5EC593-EB61-5944-BD8D-E255E6DBAD76}"/>
              </a:ext>
            </a:extLst>
          </p:cNvPr>
          <p:cNvPicPr>
            <a:picLocks noChangeAspect="1"/>
          </p:cNvPicPr>
          <p:nvPr/>
        </p:nvPicPr>
        <p:blipFill>
          <a:blip r:embed="rId3"/>
          <a:stretch>
            <a:fillRect/>
          </a:stretch>
        </p:blipFill>
        <p:spPr>
          <a:xfrm>
            <a:off x="2743232" y="6460436"/>
            <a:ext cx="4857750" cy="247650"/>
          </a:xfrm>
          <a:prstGeom prst="rect">
            <a:avLst/>
          </a:prstGeom>
        </p:spPr>
      </p:pic>
    </p:spTree>
    <p:extLst>
      <p:ext uri="{BB962C8B-B14F-4D97-AF65-F5344CB8AC3E}">
        <p14:creationId xmlns:p14="http://schemas.microsoft.com/office/powerpoint/2010/main" val="1715068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A14713-85F9-EE77-0B3B-152F15FC4BFD}"/>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023D04-5A74-5052-60BB-E8F3F42B4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24DF79DC-F132-4155-3A6E-0E1C85429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5" name="Group 14">
            <a:extLst>
              <a:ext uri="{FF2B5EF4-FFF2-40B4-BE49-F238E27FC236}">
                <a16:creationId xmlns:a16="http://schemas.microsoft.com/office/drawing/2014/main" id="{19D0DF7B-4480-8151-1A74-E04FBC5419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381784" y="4178643"/>
            <a:ext cx="3061444" cy="2297267"/>
            <a:chOff x="-305" y="-1"/>
            <a:chExt cx="3832880" cy="2876136"/>
          </a:xfrm>
        </p:grpSpPr>
        <p:sp>
          <p:nvSpPr>
            <p:cNvPr id="16" name="Freeform: Shape 15">
              <a:extLst>
                <a:ext uri="{FF2B5EF4-FFF2-40B4-BE49-F238E27FC236}">
                  <a16:creationId xmlns:a16="http://schemas.microsoft.com/office/drawing/2014/main" id="{58D84046-B44C-E26A-B349-DC6AB2B27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5077F850-0FD4-F9E8-F7A2-B4D6B4D4A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194C8C11-D5AE-0E09-1454-B7B2CA7175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8EDF80A0-AFF2-EB3B-4F34-7186CBF9B5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1" name="Group 20">
            <a:extLst>
              <a:ext uri="{FF2B5EF4-FFF2-40B4-BE49-F238E27FC236}">
                <a16:creationId xmlns:a16="http://schemas.microsoft.com/office/drawing/2014/main" id="{FF898F13-98FA-9BF1-823B-85667A9A4C9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906190" y="0"/>
            <a:ext cx="3282247" cy="2837712"/>
            <a:chOff x="-305" y="-4155"/>
            <a:chExt cx="2514948" cy="2174333"/>
          </a:xfrm>
        </p:grpSpPr>
        <p:sp>
          <p:nvSpPr>
            <p:cNvPr id="22" name="Freeform: Shape 21">
              <a:extLst>
                <a:ext uri="{FF2B5EF4-FFF2-40B4-BE49-F238E27FC236}">
                  <a16:creationId xmlns:a16="http://schemas.microsoft.com/office/drawing/2014/main" id="{757D9877-BA9B-9276-02D5-4863DB5384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B027BF60-BE22-792C-8EC7-A452FBB769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9E26A6D9-B9E0-0F44-5BA1-E2A8B8DD1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Freeform: Shape 24">
              <a:extLst>
                <a:ext uri="{FF2B5EF4-FFF2-40B4-BE49-F238E27FC236}">
                  <a16:creationId xmlns:a16="http://schemas.microsoft.com/office/drawing/2014/main" id="{5CCE952B-36A9-0B1D-2A99-0853987EA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4" name="Title 3">
            <a:extLst>
              <a:ext uri="{FF2B5EF4-FFF2-40B4-BE49-F238E27FC236}">
                <a16:creationId xmlns:a16="http://schemas.microsoft.com/office/drawing/2014/main" id="{13BD2267-A29D-DB58-4D23-0D780A8B018C}"/>
              </a:ext>
            </a:extLst>
          </p:cNvPr>
          <p:cNvSpPr>
            <a:spLocks noGrp="1"/>
          </p:cNvSpPr>
          <p:nvPr>
            <p:ph type="title"/>
          </p:nvPr>
        </p:nvSpPr>
        <p:spPr>
          <a:xfrm>
            <a:off x="7366333" y="2990248"/>
            <a:ext cx="4821308" cy="1325563"/>
          </a:xfrm>
        </p:spPr>
        <p:txBody>
          <a:bodyPr>
            <a:normAutofit/>
          </a:bodyPr>
          <a:lstStyle/>
          <a:p>
            <a:r>
              <a:rPr lang="en-AU" dirty="0"/>
              <a:t>Task Resources &amp; Other Requirements</a:t>
            </a:r>
          </a:p>
        </p:txBody>
      </p:sp>
      <p:pic>
        <p:nvPicPr>
          <p:cNvPr id="3" name="Picture 2">
            <a:extLst>
              <a:ext uri="{FF2B5EF4-FFF2-40B4-BE49-F238E27FC236}">
                <a16:creationId xmlns:a16="http://schemas.microsoft.com/office/drawing/2014/main" id="{D3399B04-CBFD-E9CA-FFAB-147F5B528A12}"/>
              </a:ext>
            </a:extLst>
          </p:cNvPr>
          <p:cNvPicPr>
            <a:picLocks noChangeAspect="1"/>
          </p:cNvPicPr>
          <p:nvPr/>
        </p:nvPicPr>
        <p:blipFill>
          <a:blip r:embed="rId3"/>
          <a:stretch>
            <a:fillRect/>
          </a:stretch>
        </p:blipFill>
        <p:spPr>
          <a:xfrm>
            <a:off x="341944" y="171000"/>
            <a:ext cx="6495807" cy="6495807"/>
          </a:xfrm>
          <a:prstGeom prst="rect">
            <a:avLst/>
          </a:prstGeom>
        </p:spPr>
      </p:pic>
    </p:spTree>
    <p:extLst>
      <p:ext uri="{BB962C8B-B14F-4D97-AF65-F5344CB8AC3E}">
        <p14:creationId xmlns:p14="http://schemas.microsoft.com/office/powerpoint/2010/main" val="3577099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7121F5-67F8-B77B-8BB7-08C61ABB9954}"/>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70C51D0-8B2C-8BB7-32C3-7659368146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4F385D98-0FE9-27D4-0CDF-33C2308FD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5" name="Group 14">
            <a:extLst>
              <a:ext uri="{FF2B5EF4-FFF2-40B4-BE49-F238E27FC236}">
                <a16:creationId xmlns:a16="http://schemas.microsoft.com/office/drawing/2014/main" id="{51DA963D-3EFC-0B50-7EF3-FB9066C1DB2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381784" y="4178643"/>
            <a:ext cx="3061444" cy="2297267"/>
            <a:chOff x="-305" y="-1"/>
            <a:chExt cx="3832880" cy="2876136"/>
          </a:xfrm>
        </p:grpSpPr>
        <p:sp>
          <p:nvSpPr>
            <p:cNvPr id="16" name="Freeform: Shape 15">
              <a:extLst>
                <a:ext uri="{FF2B5EF4-FFF2-40B4-BE49-F238E27FC236}">
                  <a16:creationId xmlns:a16="http://schemas.microsoft.com/office/drawing/2014/main" id="{625AB62E-A142-7F59-601D-CE4057923A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8A89839A-5DDD-2BA8-01DB-6DF27705A5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6B2FC9A1-DE63-D8E0-0B0F-DC231B61D5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6A82C626-2AC0-EB0C-2327-B9D987A43A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1" name="Group 20">
            <a:extLst>
              <a:ext uri="{FF2B5EF4-FFF2-40B4-BE49-F238E27FC236}">
                <a16:creationId xmlns:a16="http://schemas.microsoft.com/office/drawing/2014/main" id="{931D7771-6E47-D0C0-CA78-B7F9A698B96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906190" y="0"/>
            <a:ext cx="3282247" cy="2837712"/>
            <a:chOff x="-305" y="-4155"/>
            <a:chExt cx="2514948" cy="2174333"/>
          </a:xfrm>
        </p:grpSpPr>
        <p:sp>
          <p:nvSpPr>
            <p:cNvPr id="22" name="Freeform: Shape 21">
              <a:extLst>
                <a:ext uri="{FF2B5EF4-FFF2-40B4-BE49-F238E27FC236}">
                  <a16:creationId xmlns:a16="http://schemas.microsoft.com/office/drawing/2014/main" id="{5EE36C36-3021-C195-482A-A2050A14A9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1D7F5EE6-FE9F-802F-63DA-5B117F81D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12DFCE58-7130-F2C7-2D88-EC03B337A6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Freeform: Shape 24">
              <a:extLst>
                <a:ext uri="{FF2B5EF4-FFF2-40B4-BE49-F238E27FC236}">
                  <a16:creationId xmlns:a16="http://schemas.microsoft.com/office/drawing/2014/main" id="{9B32BC63-CF6D-5863-B3B1-31BFF5CB6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4" name="Title 3">
            <a:extLst>
              <a:ext uri="{FF2B5EF4-FFF2-40B4-BE49-F238E27FC236}">
                <a16:creationId xmlns:a16="http://schemas.microsoft.com/office/drawing/2014/main" id="{2C3503E3-FE6B-8584-A8CA-2AD260928267}"/>
              </a:ext>
            </a:extLst>
          </p:cNvPr>
          <p:cNvSpPr>
            <a:spLocks noGrp="1"/>
          </p:cNvSpPr>
          <p:nvPr>
            <p:ph type="title"/>
          </p:nvPr>
        </p:nvSpPr>
        <p:spPr>
          <a:xfrm>
            <a:off x="3519056" y="398855"/>
            <a:ext cx="5527962" cy="1325563"/>
          </a:xfrm>
        </p:spPr>
        <p:txBody>
          <a:bodyPr>
            <a:normAutofit/>
          </a:bodyPr>
          <a:lstStyle/>
          <a:p>
            <a:r>
              <a:rPr lang="en-AU" dirty="0"/>
              <a:t>INDG6002 GenAI Use</a:t>
            </a:r>
          </a:p>
        </p:txBody>
      </p:sp>
      <p:sp>
        <p:nvSpPr>
          <p:cNvPr id="3" name="TextBox 2">
            <a:extLst>
              <a:ext uri="{FF2B5EF4-FFF2-40B4-BE49-F238E27FC236}">
                <a16:creationId xmlns:a16="http://schemas.microsoft.com/office/drawing/2014/main" id="{9AED5277-BA36-A896-08C1-15599FA25203}"/>
              </a:ext>
            </a:extLst>
          </p:cNvPr>
          <p:cNvSpPr txBox="1"/>
          <p:nvPr/>
        </p:nvSpPr>
        <p:spPr>
          <a:xfrm>
            <a:off x="1695052" y="1671260"/>
            <a:ext cx="9035143" cy="44012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1" u="none" strike="noStrike" kern="0" cap="none" spc="0" normalizeH="0" baseline="0" noProof="0" dirty="0">
                <a:ln>
                  <a:noFill/>
                </a:ln>
                <a:solidFill>
                  <a:prstClr val="black"/>
                </a:solidFill>
                <a:effectLst/>
                <a:uLnTx/>
                <a:uFillTx/>
                <a:latin typeface="Aptos" panose="02110004020202020204"/>
                <a:ea typeface="+mn-ea"/>
                <a:cs typeface="+mn-cs"/>
              </a:rPr>
              <a:t>In Gnibi College units, the use of GenAI in assessments is generally restricted to protect the integrity and authenticity of the learning process. Indigenous Knowledges are grounded in lived experience, cultural practices, and relational ways of knowing. Engaging meaningfully with these knowledges requires personal reflection, respectful interpretation, and a commitment to culturally responsive learning—something that cannot be authentically achieved through AI-generated content.</a:t>
            </a:r>
            <a:endParaRPr kumimoji="0" lang="en-AU" sz="2800" b="0" i="0" u="none" strike="noStrike" kern="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05756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6A3835-95E8-110D-3534-52F613D3E535}"/>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D4C52BF-5F3D-8E97-3AD1-EBD07107D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3DDD437C-BF28-8B81-4287-BF901AE89F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5" name="Group 14">
            <a:extLst>
              <a:ext uri="{FF2B5EF4-FFF2-40B4-BE49-F238E27FC236}">
                <a16:creationId xmlns:a16="http://schemas.microsoft.com/office/drawing/2014/main" id="{F5B1E450-5C45-0E1B-0D94-062F3FC5C3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381784" y="4178643"/>
            <a:ext cx="3061444" cy="2297267"/>
            <a:chOff x="-305" y="-1"/>
            <a:chExt cx="3832880" cy="2876136"/>
          </a:xfrm>
        </p:grpSpPr>
        <p:sp>
          <p:nvSpPr>
            <p:cNvPr id="16" name="Freeform: Shape 15">
              <a:extLst>
                <a:ext uri="{FF2B5EF4-FFF2-40B4-BE49-F238E27FC236}">
                  <a16:creationId xmlns:a16="http://schemas.microsoft.com/office/drawing/2014/main" id="{9AD19013-2B09-544C-57D1-76747D523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8C157CB6-55A7-3831-6F0D-BAD2E7AB0A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176CEA8E-A02D-5145-D131-CE1851C962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EFB23D0E-CAA3-951D-0B66-63CD05249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1" name="Group 20">
            <a:extLst>
              <a:ext uri="{FF2B5EF4-FFF2-40B4-BE49-F238E27FC236}">
                <a16:creationId xmlns:a16="http://schemas.microsoft.com/office/drawing/2014/main" id="{BF9ADF22-B626-93C7-785E-639B8D8602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906190" y="0"/>
            <a:ext cx="3282247" cy="2837712"/>
            <a:chOff x="-305" y="-4155"/>
            <a:chExt cx="2514948" cy="2174333"/>
          </a:xfrm>
        </p:grpSpPr>
        <p:sp>
          <p:nvSpPr>
            <p:cNvPr id="22" name="Freeform: Shape 21">
              <a:extLst>
                <a:ext uri="{FF2B5EF4-FFF2-40B4-BE49-F238E27FC236}">
                  <a16:creationId xmlns:a16="http://schemas.microsoft.com/office/drawing/2014/main" id="{90651236-FE94-DA2C-7877-8709DDAA34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DD621AA3-9B33-0627-045F-1E9DC0A9D8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0EB6C36E-28EC-CE18-4FD5-F3538B7430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Freeform: Shape 24">
              <a:extLst>
                <a:ext uri="{FF2B5EF4-FFF2-40B4-BE49-F238E27FC236}">
                  <a16:creationId xmlns:a16="http://schemas.microsoft.com/office/drawing/2014/main" id="{F8D65DC9-F1FA-7E9F-1DE8-AA93A4C466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4" name="Title 3">
            <a:extLst>
              <a:ext uri="{FF2B5EF4-FFF2-40B4-BE49-F238E27FC236}">
                <a16:creationId xmlns:a16="http://schemas.microsoft.com/office/drawing/2014/main" id="{01C97237-83EE-F21E-800D-4874953482E6}"/>
              </a:ext>
            </a:extLst>
          </p:cNvPr>
          <p:cNvSpPr>
            <a:spLocks noGrp="1"/>
          </p:cNvSpPr>
          <p:nvPr>
            <p:ph type="title"/>
          </p:nvPr>
        </p:nvSpPr>
        <p:spPr>
          <a:xfrm>
            <a:off x="3026810" y="398855"/>
            <a:ext cx="6138071" cy="1325563"/>
          </a:xfrm>
        </p:spPr>
        <p:txBody>
          <a:bodyPr>
            <a:normAutofit/>
          </a:bodyPr>
          <a:lstStyle/>
          <a:p>
            <a:r>
              <a:rPr lang="en-AU" dirty="0"/>
              <a:t>GenAI Use Continued … </a:t>
            </a:r>
          </a:p>
        </p:txBody>
      </p:sp>
      <p:pic>
        <p:nvPicPr>
          <p:cNvPr id="2" name="Picture 1">
            <a:extLst>
              <a:ext uri="{FF2B5EF4-FFF2-40B4-BE49-F238E27FC236}">
                <a16:creationId xmlns:a16="http://schemas.microsoft.com/office/drawing/2014/main" id="{17725C6C-5FB1-F96C-9C03-CB12E371F258}"/>
              </a:ext>
            </a:extLst>
          </p:cNvPr>
          <p:cNvPicPr>
            <a:picLocks noChangeAspect="1"/>
          </p:cNvPicPr>
          <p:nvPr/>
        </p:nvPicPr>
        <p:blipFill>
          <a:blip r:embed="rId3"/>
          <a:stretch>
            <a:fillRect/>
          </a:stretch>
        </p:blipFill>
        <p:spPr>
          <a:xfrm>
            <a:off x="1925821" y="1724418"/>
            <a:ext cx="8340051" cy="4517528"/>
          </a:xfrm>
          <a:prstGeom prst="rect">
            <a:avLst/>
          </a:prstGeom>
        </p:spPr>
      </p:pic>
    </p:spTree>
    <p:extLst>
      <p:ext uri="{BB962C8B-B14F-4D97-AF65-F5344CB8AC3E}">
        <p14:creationId xmlns:p14="http://schemas.microsoft.com/office/powerpoint/2010/main" val="1128656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95716F-3463-7520-D328-3CCD3E01A8F5}"/>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ACC2C7F-08A3-2438-D567-29E71EB46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BD5275EC-2E2D-5091-1D1C-170BA3699C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5" name="Group 14">
            <a:extLst>
              <a:ext uri="{FF2B5EF4-FFF2-40B4-BE49-F238E27FC236}">
                <a16:creationId xmlns:a16="http://schemas.microsoft.com/office/drawing/2014/main" id="{D17219D0-E2B8-9333-DA21-F02C98756F9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381784" y="4178643"/>
            <a:ext cx="3061444" cy="2297267"/>
            <a:chOff x="-305" y="-1"/>
            <a:chExt cx="3832880" cy="2876136"/>
          </a:xfrm>
        </p:grpSpPr>
        <p:sp>
          <p:nvSpPr>
            <p:cNvPr id="16" name="Freeform: Shape 15">
              <a:extLst>
                <a:ext uri="{FF2B5EF4-FFF2-40B4-BE49-F238E27FC236}">
                  <a16:creationId xmlns:a16="http://schemas.microsoft.com/office/drawing/2014/main" id="{8A808D3A-18D0-E85A-3A0C-4C567DBF6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FC36F2F9-8168-5DE5-E9DB-FC484DA7E4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9BC19BB8-CDA3-0DE7-56AF-079D8F2383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3524EE82-8392-7571-0726-D38CA98C2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1" name="Group 20">
            <a:extLst>
              <a:ext uri="{FF2B5EF4-FFF2-40B4-BE49-F238E27FC236}">
                <a16:creationId xmlns:a16="http://schemas.microsoft.com/office/drawing/2014/main" id="{BAC1561D-600E-72A4-9EA1-C8DDDCE7E6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906190" y="0"/>
            <a:ext cx="3282247" cy="2837712"/>
            <a:chOff x="-305" y="-4155"/>
            <a:chExt cx="2514948" cy="2174333"/>
          </a:xfrm>
        </p:grpSpPr>
        <p:sp>
          <p:nvSpPr>
            <p:cNvPr id="22" name="Freeform: Shape 21">
              <a:extLst>
                <a:ext uri="{FF2B5EF4-FFF2-40B4-BE49-F238E27FC236}">
                  <a16:creationId xmlns:a16="http://schemas.microsoft.com/office/drawing/2014/main" id="{79AF6B28-9572-58D8-E6EC-F765DE24B3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9E9CA6F1-3879-2F4C-45AA-5BB2BD48C2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57AD9AAD-C469-BBA5-1130-3598DA82D7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Freeform: Shape 24">
              <a:extLst>
                <a:ext uri="{FF2B5EF4-FFF2-40B4-BE49-F238E27FC236}">
                  <a16:creationId xmlns:a16="http://schemas.microsoft.com/office/drawing/2014/main" id="{CABB9230-71BF-A762-C783-459B1DA589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4" name="Title 3">
            <a:extLst>
              <a:ext uri="{FF2B5EF4-FFF2-40B4-BE49-F238E27FC236}">
                <a16:creationId xmlns:a16="http://schemas.microsoft.com/office/drawing/2014/main" id="{466A8FD4-2E89-7EC8-EB77-FB7BBC7395BE}"/>
              </a:ext>
            </a:extLst>
          </p:cNvPr>
          <p:cNvSpPr>
            <a:spLocks noGrp="1"/>
          </p:cNvSpPr>
          <p:nvPr>
            <p:ph type="title"/>
          </p:nvPr>
        </p:nvSpPr>
        <p:spPr>
          <a:xfrm>
            <a:off x="3881433" y="398855"/>
            <a:ext cx="6462101" cy="653197"/>
          </a:xfrm>
        </p:spPr>
        <p:txBody>
          <a:bodyPr>
            <a:normAutofit fontScale="90000"/>
          </a:bodyPr>
          <a:lstStyle/>
          <a:p>
            <a:r>
              <a:rPr lang="en-AU" dirty="0"/>
              <a:t>Coversheet &amp; Declaration</a:t>
            </a:r>
          </a:p>
        </p:txBody>
      </p:sp>
      <p:pic>
        <p:nvPicPr>
          <p:cNvPr id="3" name="Picture 2">
            <a:extLst>
              <a:ext uri="{FF2B5EF4-FFF2-40B4-BE49-F238E27FC236}">
                <a16:creationId xmlns:a16="http://schemas.microsoft.com/office/drawing/2014/main" id="{56488388-B151-6212-FF2C-42D2263DC863}"/>
              </a:ext>
            </a:extLst>
          </p:cNvPr>
          <p:cNvPicPr>
            <a:picLocks noChangeAspect="1"/>
          </p:cNvPicPr>
          <p:nvPr/>
        </p:nvPicPr>
        <p:blipFill>
          <a:blip r:embed="rId3"/>
          <a:stretch>
            <a:fillRect/>
          </a:stretch>
        </p:blipFill>
        <p:spPr>
          <a:xfrm>
            <a:off x="2030896" y="1285696"/>
            <a:ext cx="7937513" cy="5266871"/>
          </a:xfrm>
          <a:prstGeom prst="rect">
            <a:avLst/>
          </a:prstGeom>
        </p:spPr>
      </p:pic>
    </p:spTree>
    <p:extLst>
      <p:ext uri="{BB962C8B-B14F-4D97-AF65-F5344CB8AC3E}">
        <p14:creationId xmlns:p14="http://schemas.microsoft.com/office/powerpoint/2010/main" val="2734116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811CE3-4647-53E1-EA3B-6E4C76E8F031}"/>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448F01A-2EE1-5B21-9516-8B2381FEB2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9C5510C5-702F-1D50-4BE5-4024FC2123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5" name="Group 14">
            <a:extLst>
              <a:ext uri="{FF2B5EF4-FFF2-40B4-BE49-F238E27FC236}">
                <a16:creationId xmlns:a16="http://schemas.microsoft.com/office/drawing/2014/main" id="{1B4669FA-8742-062F-1B2F-6BAA575C357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381784" y="4178643"/>
            <a:ext cx="3061444" cy="2297267"/>
            <a:chOff x="-305" y="-1"/>
            <a:chExt cx="3832880" cy="2876136"/>
          </a:xfrm>
        </p:grpSpPr>
        <p:sp>
          <p:nvSpPr>
            <p:cNvPr id="16" name="Freeform: Shape 15">
              <a:extLst>
                <a:ext uri="{FF2B5EF4-FFF2-40B4-BE49-F238E27FC236}">
                  <a16:creationId xmlns:a16="http://schemas.microsoft.com/office/drawing/2014/main" id="{464B0FB3-6A7C-D9AE-DB42-F2CC85E33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556D6BEF-2990-B4D8-643F-2249980AB2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CACF3D0E-7E46-7240-6378-E5B4909485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F900AEC6-AFB5-9743-9DB4-E4370B9ACC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1" name="Group 20">
            <a:extLst>
              <a:ext uri="{FF2B5EF4-FFF2-40B4-BE49-F238E27FC236}">
                <a16:creationId xmlns:a16="http://schemas.microsoft.com/office/drawing/2014/main" id="{2D2E47F0-1DB0-0DD4-1E43-6812733180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906190" y="0"/>
            <a:ext cx="3282247" cy="2837712"/>
            <a:chOff x="-305" y="-4155"/>
            <a:chExt cx="2514948" cy="2174333"/>
          </a:xfrm>
        </p:grpSpPr>
        <p:sp>
          <p:nvSpPr>
            <p:cNvPr id="22" name="Freeform: Shape 21">
              <a:extLst>
                <a:ext uri="{FF2B5EF4-FFF2-40B4-BE49-F238E27FC236}">
                  <a16:creationId xmlns:a16="http://schemas.microsoft.com/office/drawing/2014/main" id="{FD738727-EAC5-0566-861C-5F8A36E13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B401BBD9-9272-0999-7D88-34DCFFA45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EE72FB12-4FA9-7B08-C2FE-10DE36BF72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Freeform: Shape 24">
              <a:extLst>
                <a:ext uri="{FF2B5EF4-FFF2-40B4-BE49-F238E27FC236}">
                  <a16:creationId xmlns:a16="http://schemas.microsoft.com/office/drawing/2014/main" id="{D57E87CA-D993-C331-D156-FF0EB6CE1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4" name="Title 3">
            <a:extLst>
              <a:ext uri="{FF2B5EF4-FFF2-40B4-BE49-F238E27FC236}">
                <a16:creationId xmlns:a16="http://schemas.microsoft.com/office/drawing/2014/main" id="{EB599AA8-3D27-C1D5-943E-6DB4B59F7766}"/>
              </a:ext>
            </a:extLst>
          </p:cNvPr>
          <p:cNvSpPr>
            <a:spLocks noGrp="1"/>
          </p:cNvSpPr>
          <p:nvPr>
            <p:ph type="title"/>
          </p:nvPr>
        </p:nvSpPr>
        <p:spPr>
          <a:xfrm>
            <a:off x="2757541" y="96004"/>
            <a:ext cx="10515600" cy="1325563"/>
          </a:xfrm>
        </p:spPr>
        <p:txBody>
          <a:bodyPr/>
          <a:lstStyle/>
          <a:p>
            <a:r>
              <a:rPr lang="en-AU" dirty="0"/>
              <a:t>Assessment 2 – Rubric</a:t>
            </a:r>
          </a:p>
        </p:txBody>
      </p:sp>
      <p:sp>
        <p:nvSpPr>
          <p:cNvPr id="3" name="Content Placeholder 8">
            <a:extLst>
              <a:ext uri="{FF2B5EF4-FFF2-40B4-BE49-F238E27FC236}">
                <a16:creationId xmlns:a16="http://schemas.microsoft.com/office/drawing/2014/main" id="{1F943A1E-3FA1-BCE5-5799-31F2F18BF8B7}"/>
              </a:ext>
            </a:extLst>
          </p:cNvPr>
          <p:cNvSpPr txBox="1">
            <a:spLocks/>
          </p:cNvSpPr>
          <p:nvPr/>
        </p:nvSpPr>
        <p:spPr>
          <a:xfrm>
            <a:off x="724522" y="1037813"/>
            <a:ext cx="3657600" cy="5820187"/>
          </a:xfrm>
          <a:prstGeom prst="rect">
            <a:avLst/>
          </a:prstGeom>
        </p:spPr>
        <p:txBody>
          <a:bodyPr>
            <a:no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marR="0" lvl="0" indent="0" algn="l" defTabSz="609630" rtl="0" eaLnBrk="1" fontAlgn="auto" latinLnBrk="0" hangingPunct="1">
              <a:lnSpc>
                <a:spcPct val="100000"/>
              </a:lnSpc>
              <a:spcBef>
                <a:spcPct val="20000"/>
              </a:spcBef>
              <a:spcAft>
                <a:spcPts val="0"/>
              </a:spcAft>
              <a:buClrTx/>
              <a:buSzTx/>
              <a:buFont typeface="Arial" pitchFamily="34" charset="0"/>
              <a:buNone/>
              <a:tabLst/>
              <a:defRPr/>
            </a:pPr>
            <a:r>
              <a:rPr kumimoji="0" lang="en-US" sz="1600" b="1" i="0" u="none" strike="noStrike" kern="1200" cap="none" spc="0" normalizeH="0" baseline="0" noProof="0" dirty="0">
                <a:ln>
                  <a:noFill/>
                </a:ln>
                <a:solidFill>
                  <a:prstClr val="black">
                    <a:lumMod val="85000"/>
                    <a:lumOff val="15000"/>
                  </a:prstClr>
                </a:solidFill>
                <a:effectLst/>
                <a:uLnTx/>
                <a:uFillTx/>
                <a:latin typeface="Calibri"/>
                <a:ea typeface="+mn-ea"/>
                <a:cs typeface="+mn-cs"/>
              </a:rPr>
              <a:t>5 Criteria</a:t>
            </a:r>
          </a:p>
          <a:p>
            <a:pPr marL="228611" marR="0" lvl="0" indent="-228611" algn="l" defTabSz="609630" rtl="0" eaLnBrk="1" fontAlgn="auto" latinLnBrk="0" hangingPunct="1">
              <a:lnSpc>
                <a:spcPct val="100000"/>
              </a:lnSpc>
              <a:spcBef>
                <a:spcPct val="20000"/>
              </a:spcBef>
              <a:spcAft>
                <a:spcPts val="0"/>
              </a:spcAft>
              <a:buClrTx/>
              <a:buSzTx/>
              <a:buFont typeface="Arial" pitchFamily="34" charset="0"/>
              <a:buChar char="•"/>
              <a:tabLst/>
              <a:defRPr/>
            </a:pPr>
            <a:r>
              <a:rPr kumimoji="0" lang="en-US" sz="1600" b="1" i="0" u="none" strike="noStrike" kern="1200" cap="none" spc="0" normalizeH="0" baseline="0" noProof="0" dirty="0">
                <a:ln>
                  <a:noFill/>
                </a:ln>
                <a:solidFill>
                  <a:prstClr val="black"/>
                </a:solidFill>
                <a:effectLst/>
                <a:uLnTx/>
                <a:uFillTx/>
                <a:latin typeface="Aptos" panose="02110004020202020204"/>
                <a:ea typeface="+mn-ea"/>
                <a:cs typeface="+mn-cs"/>
              </a:rPr>
              <a:t>1: Examine Australian Indigenous concepts of health and wellbeing in the scenario</a:t>
            </a:r>
            <a:endParaRPr kumimoji="0" lang="en-AU" sz="16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228611" marR="0" lvl="0" indent="-228611" algn="l" defTabSz="609630" rtl="0" eaLnBrk="1" fontAlgn="auto" latinLnBrk="0" hangingPunct="1">
              <a:lnSpc>
                <a:spcPct val="100000"/>
              </a:lnSpc>
              <a:spcBef>
                <a:spcPct val="20000"/>
              </a:spcBef>
              <a:spcAft>
                <a:spcPts val="0"/>
              </a:spcAft>
              <a:buClrTx/>
              <a:buSzTx/>
              <a:buFont typeface="Arial" pitchFamily="34" charset="0"/>
              <a:buChar char="•"/>
              <a:tabLst/>
              <a:defRPr/>
            </a:pPr>
            <a:r>
              <a:rPr kumimoji="0" lang="en-US" sz="1600" b="1" i="0" u="none" strike="noStrike" kern="1200" cap="none" spc="0" normalizeH="0" baseline="0" noProof="0" dirty="0">
                <a:ln>
                  <a:noFill/>
                </a:ln>
                <a:solidFill>
                  <a:prstClr val="black">
                    <a:lumMod val="85000"/>
                    <a:lumOff val="15000"/>
                  </a:prstClr>
                </a:solidFill>
                <a:effectLst/>
                <a:uLnTx/>
                <a:uFillTx/>
                <a:latin typeface="Calibri"/>
                <a:ea typeface="+mn-ea"/>
                <a:cs typeface="+mn-cs"/>
              </a:rPr>
              <a:t>2: </a:t>
            </a:r>
            <a:r>
              <a:rPr kumimoji="0" lang="en-US" sz="1600" b="1" i="0" u="none" strike="noStrike" kern="1200" cap="none" spc="0" normalizeH="0" baseline="0" noProof="0" dirty="0" err="1">
                <a:ln>
                  <a:noFill/>
                </a:ln>
                <a:solidFill>
                  <a:prstClr val="black"/>
                </a:solidFill>
                <a:effectLst/>
                <a:uLnTx/>
                <a:uFillTx/>
                <a:latin typeface="Aptos" panose="02110004020202020204"/>
                <a:ea typeface="+mn-ea"/>
                <a:cs typeface="+mn-cs"/>
              </a:rPr>
              <a:t>Analyse</a:t>
            </a:r>
            <a:r>
              <a:rPr kumimoji="0" lang="en-US" sz="1600" b="1" i="0" u="none" strike="noStrike" kern="1200" cap="none" spc="0" normalizeH="0" baseline="0" noProof="0" dirty="0">
                <a:ln>
                  <a:noFill/>
                </a:ln>
                <a:solidFill>
                  <a:prstClr val="black"/>
                </a:solidFill>
                <a:effectLst/>
                <a:uLnTx/>
                <a:uFillTx/>
                <a:latin typeface="Aptos" panose="02110004020202020204"/>
                <a:ea typeface="+mn-ea"/>
                <a:cs typeface="+mn-cs"/>
              </a:rPr>
              <a:t> the role of Primary Health Care, Health Promotion, and Culturally Safe Recommendations in supporting Australian Indigenous health and wellbeing </a:t>
            </a:r>
            <a:endParaRPr kumimoji="0" lang="en-AU" sz="16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228611" marR="0" lvl="0" indent="-228611" algn="l" defTabSz="609630" rtl="0" eaLnBrk="1" fontAlgn="auto" latinLnBrk="0" hangingPunct="1">
              <a:lnSpc>
                <a:spcPct val="100000"/>
              </a:lnSpc>
              <a:spcBef>
                <a:spcPct val="20000"/>
              </a:spcBef>
              <a:spcAft>
                <a:spcPts val="1200"/>
              </a:spcAft>
              <a:buClrTx/>
              <a:buSzTx/>
              <a:buFont typeface="Arial" pitchFamily="34" charset="0"/>
              <a:buChar char="•"/>
              <a:tabLst/>
              <a:defRPr/>
            </a:pPr>
            <a:r>
              <a:rPr kumimoji="0" lang="en-US" sz="1600" b="1" i="0" u="none" strike="noStrike" kern="1200" cap="none" spc="0" normalizeH="0" baseline="0" noProof="0" dirty="0">
                <a:ln>
                  <a:noFill/>
                </a:ln>
                <a:solidFill>
                  <a:prstClr val="black">
                    <a:lumMod val="85000"/>
                    <a:lumOff val="15000"/>
                  </a:prstClr>
                </a:solidFill>
                <a:effectLst/>
                <a:uLnTx/>
                <a:uFillTx/>
                <a:latin typeface="Calibri"/>
                <a:ea typeface="+mn-ea"/>
                <a:cs typeface="+mn-cs"/>
              </a:rPr>
              <a:t>3: </a:t>
            </a:r>
            <a:r>
              <a:rPr kumimoji="0" lang="en-AU" sz="1600" b="1" i="0" u="none" strike="noStrike" kern="1200" cap="none" spc="0" normalizeH="0" baseline="0" noProof="0" dirty="0">
                <a:ln>
                  <a:noFill/>
                </a:ln>
                <a:solidFill>
                  <a:prstClr val="black"/>
                </a:solidFill>
                <a:effectLst/>
                <a:uLnTx/>
                <a:uFillTx/>
                <a:latin typeface="Aptos" panose="02110004020202020204"/>
                <a:ea typeface="+mn-ea"/>
                <a:cs typeface="+mn-cs"/>
              </a:rPr>
              <a:t>Critical reflection on how historical contexts have shaped socioeconomic determinants and continue to influence the health and wellbeing of Australian Indigenous peoples</a:t>
            </a:r>
          </a:p>
          <a:p>
            <a:pPr marL="228611" marR="0" lvl="0" indent="-228611" algn="l" defTabSz="609630" rtl="0" eaLnBrk="1" fontAlgn="auto" latinLnBrk="0" hangingPunct="1">
              <a:lnSpc>
                <a:spcPct val="100000"/>
              </a:lnSpc>
              <a:spcBef>
                <a:spcPct val="20000"/>
              </a:spcBef>
              <a:spcAft>
                <a:spcPts val="1200"/>
              </a:spcAft>
              <a:buClrTx/>
              <a:buSzTx/>
              <a:buFont typeface="Arial" pitchFamily="34" charset="0"/>
              <a:buChar char="•"/>
              <a:tabLst/>
              <a:defRPr/>
            </a:pPr>
            <a:r>
              <a:rPr kumimoji="0" lang="en-US" sz="1600" b="1" i="0" u="none" strike="noStrike" kern="1200" cap="none" spc="0" normalizeH="0" baseline="0" noProof="0" dirty="0">
                <a:ln>
                  <a:noFill/>
                </a:ln>
                <a:solidFill>
                  <a:prstClr val="black">
                    <a:lumMod val="85000"/>
                    <a:lumOff val="15000"/>
                  </a:prstClr>
                </a:solidFill>
                <a:effectLst/>
                <a:uLnTx/>
                <a:uFillTx/>
                <a:latin typeface="Calibri"/>
                <a:ea typeface="+mn-ea"/>
                <a:cs typeface="+mn-cs"/>
              </a:rPr>
              <a:t>4: </a:t>
            </a:r>
            <a:r>
              <a:rPr kumimoji="0" lang="en-US" sz="1600" b="1" i="0" u="none" strike="noStrike" kern="1200" cap="none" spc="0" normalizeH="0" baseline="0" noProof="0" dirty="0">
                <a:ln>
                  <a:noFill/>
                </a:ln>
                <a:solidFill>
                  <a:prstClr val="black"/>
                </a:solidFill>
                <a:effectLst/>
                <a:uLnTx/>
                <a:uFillTx/>
                <a:latin typeface="Aptos" panose="02110004020202020204"/>
                <a:ea typeface="+mn-ea"/>
                <a:cs typeface="+mn-cs"/>
              </a:rPr>
              <a:t>Respectful treatment of Australian Indigenous content</a:t>
            </a:r>
            <a:endParaRPr kumimoji="0" lang="en-US" sz="1600" b="1"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a:p>
            <a:pPr marL="228611" marR="0" lvl="0" indent="-228611" algn="l" defTabSz="609630" rtl="0" eaLnBrk="1" fontAlgn="auto" latinLnBrk="0" hangingPunct="1">
              <a:lnSpc>
                <a:spcPct val="100000"/>
              </a:lnSpc>
              <a:spcBef>
                <a:spcPct val="20000"/>
              </a:spcBef>
              <a:spcAft>
                <a:spcPts val="0"/>
              </a:spcAft>
              <a:buClrTx/>
              <a:buSzTx/>
              <a:buFont typeface="Arial" pitchFamily="34" charset="0"/>
              <a:buChar char="•"/>
              <a:tabLst/>
              <a:defRPr/>
            </a:pPr>
            <a:r>
              <a:rPr kumimoji="0" lang="en-US" sz="1600" b="1" i="0" u="none" strike="noStrike" kern="1200" cap="none" spc="0" normalizeH="0" baseline="0" noProof="0" dirty="0">
                <a:ln>
                  <a:noFill/>
                </a:ln>
                <a:solidFill>
                  <a:prstClr val="black">
                    <a:lumMod val="85000"/>
                    <a:lumOff val="15000"/>
                  </a:prstClr>
                </a:solidFill>
                <a:effectLst/>
                <a:uLnTx/>
                <a:uFillTx/>
                <a:latin typeface="Calibri"/>
                <a:ea typeface="+mn-ea"/>
                <a:cs typeface="+mn-cs"/>
              </a:rPr>
              <a:t>5: </a:t>
            </a:r>
            <a:r>
              <a:rPr kumimoji="0" lang="en-US" sz="1600" b="1" i="0" u="none" strike="noStrike" kern="1200" cap="none" spc="0" normalizeH="0" baseline="0" noProof="0" dirty="0">
                <a:ln>
                  <a:noFill/>
                </a:ln>
                <a:solidFill>
                  <a:prstClr val="black"/>
                </a:solidFill>
                <a:effectLst/>
                <a:uLnTx/>
                <a:uFillTx/>
                <a:latin typeface="Aptos" panose="02110004020202020204"/>
                <a:ea typeface="+mn-ea"/>
                <a:cs typeface="+mn-cs"/>
              </a:rPr>
              <a:t>Academic Communication style, referencing and citation </a:t>
            </a:r>
            <a:endParaRPr kumimoji="0" lang="en-AU" sz="16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7" name="Picture 6">
            <a:extLst>
              <a:ext uri="{FF2B5EF4-FFF2-40B4-BE49-F238E27FC236}">
                <a16:creationId xmlns:a16="http://schemas.microsoft.com/office/drawing/2014/main" id="{37E531F0-4AB2-3B03-8B23-0C6FDA79DBD1}"/>
              </a:ext>
            </a:extLst>
          </p:cNvPr>
          <p:cNvPicPr>
            <a:picLocks noChangeAspect="1"/>
          </p:cNvPicPr>
          <p:nvPr/>
        </p:nvPicPr>
        <p:blipFill>
          <a:blip r:embed="rId3"/>
          <a:srcRect b="27690"/>
          <a:stretch>
            <a:fillRect/>
          </a:stretch>
        </p:blipFill>
        <p:spPr>
          <a:xfrm>
            <a:off x="4382122" y="1881473"/>
            <a:ext cx="7584977" cy="3437797"/>
          </a:xfrm>
          <a:prstGeom prst="rect">
            <a:avLst/>
          </a:prstGeom>
        </p:spPr>
      </p:pic>
    </p:spTree>
    <p:extLst>
      <p:ext uri="{BB962C8B-B14F-4D97-AF65-F5344CB8AC3E}">
        <p14:creationId xmlns:p14="http://schemas.microsoft.com/office/powerpoint/2010/main" val="828456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3B3A97-4B01-0D09-315E-A0A5F424A4D1}"/>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CABEB48-D486-A8CA-FD32-FAF13C05E4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B3567ED4-DE41-D726-B9CD-2E74CD875B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ED09DE89-2F6E-0179-25FA-2B8BE9B54914}"/>
              </a:ext>
            </a:extLst>
          </p:cNvPr>
          <p:cNvSpPr>
            <a:spLocks noGrp="1"/>
          </p:cNvSpPr>
          <p:nvPr>
            <p:ph type="title"/>
          </p:nvPr>
        </p:nvSpPr>
        <p:spPr>
          <a:xfrm>
            <a:off x="653709" y="3028413"/>
            <a:ext cx="10579398" cy="1015947"/>
          </a:xfrm>
        </p:spPr>
        <p:txBody>
          <a:bodyPr>
            <a:normAutofit/>
          </a:bodyPr>
          <a:lstStyle/>
          <a:p>
            <a:pPr algn="ctr"/>
            <a:r>
              <a:rPr lang="en-AU" sz="3600" dirty="0">
                <a:solidFill>
                  <a:schemeClr val="tx2"/>
                </a:solidFill>
              </a:rPr>
              <a:t>Questions?</a:t>
            </a:r>
          </a:p>
        </p:txBody>
      </p:sp>
      <p:grpSp>
        <p:nvGrpSpPr>
          <p:cNvPr id="15" name="Group 14">
            <a:extLst>
              <a:ext uri="{FF2B5EF4-FFF2-40B4-BE49-F238E27FC236}">
                <a16:creationId xmlns:a16="http://schemas.microsoft.com/office/drawing/2014/main" id="{FF64E996-6523-3897-0574-885C3A563C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381784" y="4178643"/>
            <a:ext cx="3061444" cy="2297267"/>
            <a:chOff x="-305" y="-1"/>
            <a:chExt cx="3832880" cy="2876136"/>
          </a:xfrm>
        </p:grpSpPr>
        <p:sp>
          <p:nvSpPr>
            <p:cNvPr id="16" name="Freeform: Shape 15">
              <a:extLst>
                <a:ext uri="{FF2B5EF4-FFF2-40B4-BE49-F238E27FC236}">
                  <a16:creationId xmlns:a16="http://schemas.microsoft.com/office/drawing/2014/main" id="{9B4717C5-D8B7-CBA8-3754-E57DCFCD38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086048D6-8B47-A5C2-A9D1-8992578C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B9F78CCA-5871-8D3E-D654-5C6BA2BE9D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422FF343-4CEE-848B-A2C8-47C2AB2F5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21" name="Group 20">
            <a:extLst>
              <a:ext uri="{FF2B5EF4-FFF2-40B4-BE49-F238E27FC236}">
                <a16:creationId xmlns:a16="http://schemas.microsoft.com/office/drawing/2014/main" id="{E825EB2C-4DBF-059C-715A-715D3AC00C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906190" y="0"/>
            <a:ext cx="3282247" cy="2837712"/>
            <a:chOff x="-305" y="-4155"/>
            <a:chExt cx="2514948" cy="2174333"/>
          </a:xfrm>
        </p:grpSpPr>
        <p:sp>
          <p:nvSpPr>
            <p:cNvPr id="22" name="Freeform: Shape 21">
              <a:extLst>
                <a:ext uri="{FF2B5EF4-FFF2-40B4-BE49-F238E27FC236}">
                  <a16:creationId xmlns:a16="http://schemas.microsoft.com/office/drawing/2014/main" id="{A5833A43-6BF7-0FB1-8AD5-2465F8D685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Freeform: Shape 22">
              <a:extLst>
                <a:ext uri="{FF2B5EF4-FFF2-40B4-BE49-F238E27FC236}">
                  <a16:creationId xmlns:a16="http://schemas.microsoft.com/office/drawing/2014/main" id="{9937B39B-90E3-8893-CAB2-3BF83EC1D1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23">
              <a:extLst>
                <a:ext uri="{FF2B5EF4-FFF2-40B4-BE49-F238E27FC236}">
                  <a16:creationId xmlns:a16="http://schemas.microsoft.com/office/drawing/2014/main" id="{A0ED4B7A-4296-159B-40BB-38013864B4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Freeform: Shape 24">
              <a:extLst>
                <a:ext uri="{FF2B5EF4-FFF2-40B4-BE49-F238E27FC236}">
                  <a16:creationId xmlns:a16="http://schemas.microsoft.com/office/drawing/2014/main" id="{BF53092A-5DB9-7D84-429B-0C31B743F1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Tree>
    <p:extLst>
      <p:ext uri="{BB962C8B-B14F-4D97-AF65-F5344CB8AC3E}">
        <p14:creationId xmlns:p14="http://schemas.microsoft.com/office/powerpoint/2010/main" val="3314149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0BA083-8F7A-5A34-0775-83D730AAD062}"/>
              </a:ext>
            </a:extLst>
          </p:cNvPr>
          <p:cNvSpPr>
            <a:spLocks noGrp="1"/>
          </p:cNvSpPr>
          <p:nvPr>
            <p:ph idx="1"/>
          </p:nvPr>
        </p:nvSpPr>
        <p:spPr>
          <a:xfrm>
            <a:off x="5579706" y="1240873"/>
            <a:ext cx="6315269" cy="5617127"/>
          </a:xfrm>
        </p:spPr>
        <p:txBody>
          <a:bodyPr>
            <a:normAutofit fontScale="77500" lnSpcReduction="20000"/>
          </a:bodyPr>
          <a:lstStyle/>
          <a:p>
            <a:pPr marL="0" indent="0">
              <a:buNone/>
            </a:pPr>
            <a:endParaRPr lang="en-AU" sz="3600" b="1" dirty="0">
              <a:latin typeface="Bradley Hand ITC" panose="03070402050302030203" pitchFamily="66" charset="0"/>
            </a:endParaRPr>
          </a:p>
          <a:p>
            <a:pPr marL="0" indent="0">
              <a:buNone/>
            </a:pPr>
            <a:r>
              <a:rPr lang="en-AU" sz="3600" i="1" dirty="0">
                <a:latin typeface="Comic Sans MS" panose="030F0702030302020204" pitchFamily="66" charset="0"/>
              </a:rPr>
              <a:t>Thank you for participating and sharing in ‘Health and Indigenous Peoples’. </a:t>
            </a:r>
          </a:p>
          <a:p>
            <a:pPr marL="0" indent="0">
              <a:buNone/>
            </a:pPr>
            <a:endParaRPr lang="en-AU" sz="3600" i="1" dirty="0">
              <a:latin typeface="Comic Sans MS" panose="030F0702030302020204" pitchFamily="66" charset="0"/>
            </a:endParaRPr>
          </a:p>
          <a:p>
            <a:pPr marL="0" indent="0">
              <a:buNone/>
            </a:pPr>
            <a:r>
              <a:rPr lang="en-AU" sz="3600" i="1" dirty="0">
                <a:latin typeface="Comic Sans MS" panose="030F0702030302020204" pitchFamily="66" charset="0"/>
              </a:rPr>
              <a:t>I hope you have enjoyed your learning journey as much as I have enjoyed teaching and learning from your questions and experiences. </a:t>
            </a:r>
          </a:p>
          <a:p>
            <a:pPr marL="0" indent="0">
              <a:buNone/>
            </a:pPr>
            <a:endParaRPr lang="en-AU" sz="3600" i="1" dirty="0">
              <a:latin typeface="Comic Sans MS" panose="030F0702030302020204" pitchFamily="66" charset="0"/>
            </a:endParaRPr>
          </a:p>
          <a:p>
            <a:pPr marL="0" indent="0">
              <a:buNone/>
            </a:pPr>
            <a:r>
              <a:rPr lang="en-AU" sz="3600" i="1" dirty="0">
                <a:latin typeface="Comic Sans MS" panose="030F0702030302020204" pitchFamily="66" charset="0"/>
              </a:rPr>
              <a:t>I wish you well in your future studies and endeavours.</a:t>
            </a:r>
          </a:p>
          <a:p>
            <a:pPr marL="0" indent="0">
              <a:buNone/>
            </a:pPr>
            <a:endParaRPr lang="en-AU" sz="3600" i="1" dirty="0">
              <a:latin typeface="Comic Sans MS" panose="030F0702030302020204" pitchFamily="66" charset="0"/>
            </a:endParaRPr>
          </a:p>
          <a:p>
            <a:pPr marL="0" indent="0">
              <a:buNone/>
            </a:pPr>
            <a:r>
              <a:rPr lang="en-AU" sz="3600" i="1" dirty="0">
                <a:latin typeface="Comic Sans MS" panose="030F0702030302020204" pitchFamily="66" charset="0"/>
              </a:rPr>
              <a:t>Ros</a:t>
            </a:r>
          </a:p>
        </p:txBody>
      </p:sp>
    </p:spTree>
    <p:extLst>
      <p:ext uri="{BB962C8B-B14F-4D97-AF65-F5344CB8AC3E}">
        <p14:creationId xmlns:p14="http://schemas.microsoft.com/office/powerpoint/2010/main" val="5044074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3e3c40b-f4e3-450b-85e4-4043e55ca004}" enabled="0" method="" siteId="{f3e3c40b-f4e3-450b-85e4-4043e55ca004}" removed="1"/>
</clbl:labelList>
</file>

<file path=docProps/app.xml><?xml version="1.0" encoding="utf-8"?>
<Properties xmlns="http://schemas.openxmlformats.org/officeDocument/2006/extended-properties" xmlns:vt="http://schemas.openxmlformats.org/officeDocument/2006/docPropsVTypes">
  <TotalTime>680</TotalTime>
  <Words>1091</Words>
  <Application>Microsoft Office PowerPoint</Application>
  <PresentationFormat>Widescreen</PresentationFormat>
  <Paragraphs>129</Paragraphs>
  <Slides>18</Slides>
  <Notes>18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vt:i4>
      </vt:variant>
    </vt:vector>
  </HeadingPairs>
  <TitlesOfParts>
    <vt:vector size="29" baseType="lpstr">
      <vt:lpstr>Aptos</vt:lpstr>
      <vt:lpstr>Aptos Display</vt:lpstr>
      <vt:lpstr>Arial</vt:lpstr>
      <vt:lpstr>Avenir Next LT Pro Light</vt:lpstr>
      <vt:lpstr>Bradley Hand ITC</vt:lpstr>
      <vt:lpstr>Calibri</vt:lpstr>
      <vt:lpstr>Century Gothic</vt:lpstr>
      <vt:lpstr>Comic Sans MS</vt:lpstr>
      <vt:lpstr>Gill Sans Nova Light</vt:lpstr>
      <vt:lpstr>Wingdings</vt:lpstr>
      <vt:lpstr>Office Theme</vt:lpstr>
      <vt:lpstr>Week 6 Workshop: Wellbeing in practice</vt:lpstr>
      <vt:lpstr>Gnibi Elders Principle that aligns with:  Wellbeing in practice</vt:lpstr>
      <vt:lpstr>PowerPoint Presentation</vt:lpstr>
      <vt:lpstr>Assessment 2 – Critical Review</vt:lpstr>
      <vt:lpstr>Writing a Critical Review</vt:lpstr>
      <vt:lpstr>Critical Review of the Scenario</vt:lpstr>
      <vt:lpstr>Critical Review of the Scenario continued …</vt:lpstr>
      <vt:lpstr>Assessment 2 – Brief</vt:lpstr>
      <vt:lpstr>Assessment 2  Scenario</vt:lpstr>
      <vt:lpstr>Example Assessment Structure</vt:lpstr>
      <vt:lpstr>Your response must …</vt:lpstr>
      <vt:lpstr>Task Resources &amp; Other Requirements</vt:lpstr>
      <vt:lpstr>INDG6002 GenAI Use</vt:lpstr>
      <vt:lpstr>GenAI Use Continued … </vt:lpstr>
      <vt:lpstr>Coversheet &amp; Declaration</vt:lpstr>
      <vt:lpstr>Assessment 2 – Rubric</vt:lpstr>
      <vt:lpstr>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Roselyn Sawtell</dc:creator>
  <cp:lastModifiedBy>Ros Sawtell</cp:lastModifiedBy>
  <cp:revision>22</cp:revision>
  <cp:lastPrinted>2025-11-11T22:05:16Z</cp:lastPrinted>
  <dcterms:created xsi:type="dcterms:W3CDTF">2024-11-28T21:11:12Z</dcterms:created>
  <dcterms:modified xsi:type="dcterms:W3CDTF">2026-10-19T04:28:59Z</dcterms:modified>
</cp:coreProperties>
</file>