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4"/>
    <p:sldMasterId id="2147483801" r:id="rId5"/>
    <p:sldMasterId id="2147483813" r:id="rId6"/>
    <p:sldMasterId id="2147483825" r:id="rId7"/>
  </p:sldMasterIdLst>
  <p:notesMasterIdLst>
    <p:notesMasterId r:id="rId53"/>
  </p:notesMasterIdLst>
  <p:sldIdLst>
    <p:sldId id="256" r:id="rId8"/>
    <p:sldId id="472" r:id="rId9"/>
    <p:sldId id="534" r:id="rId10"/>
    <p:sldId id="592" r:id="rId11"/>
    <p:sldId id="630" r:id="rId12"/>
    <p:sldId id="584" r:id="rId13"/>
    <p:sldId id="480" r:id="rId14"/>
    <p:sldId id="473" r:id="rId15"/>
    <p:sldId id="475" r:id="rId16"/>
    <p:sldId id="474" r:id="rId17"/>
    <p:sldId id="629" r:id="rId18"/>
    <p:sldId id="623" r:id="rId19"/>
    <p:sldId id="624" r:id="rId20"/>
    <p:sldId id="625" r:id="rId21"/>
    <p:sldId id="594" r:id="rId22"/>
    <p:sldId id="590" r:id="rId23"/>
    <p:sldId id="479" r:id="rId24"/>
    <p:sldId id="561" r:id="rId25"/>
    <p:sldId id="262" r:id="rId26"/>
    <p:sldId id="621" r:id="rId27"/>
    <p:sldId id="605" r:id="rId28"/>
    <p:sldId id="646" r:id="rId29"/>
    <p:sldId id="606" r:id="rId30"/>
    <p:sldId id="634" r:id="rId31"/>
    <p:sldId id="635" r:id="rId32"/>
    <p:sldId id="608" r:id="rId33"/>
    <p:sldId id="631" r:id="rId34"/>
    <p:sldId id="636" r:id="rId35"/>
    <p:sldId id="633" r:id="rId36"/>
    <p:sldId id="632" r:id="rId37"/>
    <p:sldId id="639" r:id="rId38"/>
    <p:sldId id="638" r:id="rId39"/>
    <p:sldId id="637" r:id="rId40"/>
    <p:sldId id="641" r:id="rId41"/>
    <p:sldId id="614" r:id="rId42"/>
    <p:sldId id="613" r:id="rId43"/>
    <p:sldId id="640" r:id="rId44"/>
    <p:sldId id="615" r:id="rId45"/>
    <p:sldId id="618" r:id="rId46"/>
    <p:sldId id="642" r:id="rId47"/>
    <p:sldId id="645" r:id="rId48"/>
    <p:sldId id="644" r:id="rId49"/>
    <p:sldId id="487" r:id="rId50"/>
    <p:sldId id="619" r:id="rId51"/>
    <p:sldId id="620" r:id="rId52"/>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8D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37C6A1-0EB0-436A-8E26-3E31010917BE}" v="1" dt="2026-10-19T00:35:17.0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71429" autoAdjust="0"/>
  </p:normalViewPr>
  <p:slideViewPr>
    <p:cSldViewPr snapToGrid="0">
      <p:cViewPr varScale="1">
        <p:scale>
          <a:sx n="45" d="100"/>
          <a:sy n="45" d="100"/>
        </p:scale>
        <p:origin x="1480" y="44"/>
      </p:cViewPr>
      <p:guideLst/>
    </p:cSldViewPr>
  </p:slideViewPr>
  <p:notesTextViewPr>
    <p:cViewPr>
      <p:scale>
        <a:sx n="1" d="1"/>
        <a:sy n="1" d="1"/>
      </p:scale>
      <p:origin x="0" y="0"/>
    </p:cViewPr>
  </p:notesTextViewPr>
  <p:notesViewPr>
    <p:cSldViewPr snapToGrid="0">
      <p:cViewPr>
        <p:scale>
          <a:sx n="170" d="100"/>
          <a:sy n="170" d="100"/>
        </p:scale>
        <p:origin x="2076" y="-84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tableStyles" Target="tableStyle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 Sawtell" userId="7b49c2e9-9460-4f6b-ae72-c68ca4c8147b" providerId="ADAL" clId="{D6E2EB28-9AB7-4762-8034-BC1DFBA9528C}"/>
    <pc:docChg chg="custSel addSld delSld modSld">
      <pc:chgData name="Ros Sawtell" userId="7b49c2e9-9460-4f6b-ae72-c68ca4c8147b" providerId="ADAL" clId="{D6E2EB28-9AB7-4762-8034-BC1DFBA9528C}" dt="2026-10-17T13:33:02.597" v="166"/>
      <pc:docMkLst>
        <pc:docMk/>
      </pc:docMkLst>
      <pc:sldChg chg="modNotes">
        <pc:chgData name="Ros Sawtell" userId="7b49c2e9-9460-4f6b-ae72-c68ca4c8147b" providerId="ADAL" clId="{D6E2EB28-9AB7-4762-8034-BC1DFBA9528C}" dt="2026-10-17T11:53:51.332" v="134" actId="368"/>
        <pc:sldMkLst>
          <pc:docMk/>
          <pc:sldMk cId="0" sldId="262"/>
        </pc:sldMkLst>
      </pc:sldChg>
      <pc:sldChg chg="modNotes">
        <pc:chgData name="Ros Sawtell" userId="7b49c2e9-9460-4f6b-ae72-c68ca4c8147b" providerId="ADAL" clId="{D6E2EB28-9AB7-4762-8034-BC1DFBA9528C}" dt="2026-10-17T11:53:51.292" v="116" actId="368"/>
        <pc:sldMkLst>
          <pc:docMk/>
          <pc:sldMk cId="1546904331" sldId="473"/>
        </pc:sldMkLst>
      </pc:sldChg>
      <pc:sldChg chg="modNotes">
        <pc:chgData name="Ros Sawtell" userId="7b49c2e9-9460-4f6b-ae72-c68ca4c8147b" providerId="ADAL" clId="{D6E2EB28-9AB7-4762-8034-BC1DFBA9528C}" dt="2026-10-17T11:53:51.301" v="120" actId="368"/>
        <pc:sldMkLst>
          <pc:docMk/>
          <pc:sldMk cId="3561899140" sldId="474"/>
        </pc:sldMkLst>
      </pc:sldChg>
      <pc:sldChg chg="modNotes">
        <pc:chgData name="Ros Sawtell" userId="7b49c2e9-9460-4f6b-ae72-c68ca4c8147b" providerId="ADAL" clId="{D6E2EB28-9AB7-4762-8034-BC1DFBA9528C}" dt="2026-10-17T11:53:51.292" v="118" actId="368"/>
        <pc:sldMkLst>
          <pc:docMk/>
          <pc:sldMk cId="3546033724" sldId="475"/>
        </pc:sldMkLst>
      </pc:sldChg>
      <pc:sldChg chg="modNotes">
        <pc:chgData name="Ros Sawtell" userId="7b49c2e9-9460-4f6b-ae72-c68ca4c8147b" providerId="ADAL" clId="{D6E2EB28-9AB7-4762-8034-BC1DFBA9528C}" dt="2026-10-17T11:53:51.330" v="130" actId="368"/>
        <pc:sldMkLst>
          <pc:docMk/>
          <pc:sldMk cId="2532960016" sldId="479"/>
        </pc:sldMkLst>
      </pc:sldChg>
      <pc:sldChg chg="modNotes">
        <pc:chgData name="Ros Sawtell" userId="7b49c2e9-9460-4f6b-ae72-c68ca4c8147b" providerId="ADAL" clId="{D6E2EB28-9AB7-4762-8034-BC1DFBA9528C}" dt="2026-10-17T11:53:51.285" v="114" actId="368"/>
        <pc:sldMkLst>
          <pc:docMk/>
          <pc:sldMk cId="0" sldId="480"/>
        </pc:sldMkLst>
      </pc:sldChg>
      <pc:sldChg chg="modNotes">
        <pc:chgData name="Ros Sawtell" userId="7b49c2e9-9460-4f6b-ae72-c68ca4c8147b" providerId="ADAL" clId="{D6E2EB28-9AB7-4762-8034-BC1DFBA9528C}" dt="2026-10-17T11:53:51.274" v="108" actId="368"/>
        <pc:sldMkLst>
          <pc:docMk/>
          <pc:sldMk cId="3743865895" sldId="534"/>
        </pc:sldMkLst>
      </pc:sldChg>
      <pc:sldChg chg="modNotes">
        <pc:chgData name="Ros Sawtell" userId="7b49c2e9-9460-4f6b-ae72-c68ca4c8147b" providerId="ADAL" clId="{D6E2EB28-9AB7-4762-8034-BC1DFBA9528C}" dt="2026-10-17T11:53:51.332" v="132" actId="368"/>
        <pc:sldMkLst>
          <pc:docMk/>
          <pc:sldMk cId="146985149" sldId="561"/>
        </pc:sldMkLst>
      </pc:sldChg>
      <pc:sldChg chg="modNotes">
        <pc:chgData name="Ros Sawtell" userId="7b49c2e9-9460-4f6b-ae72-c68ca4c8147b" providerId="ADAL" clId="{D6E2EB28-9AB7-4762-8034-BC1DFBA9528C}" dt="2026-10-17T11:53:51.285" v="112" actId="368"/>
        <pc:sldMkLst>
          <pc:docMk/>
          <pc:sldMk cId="3708067970" sldId="584"/>
        </pc:sldMkLst>
      </pc:sldChg>
      <pc:sldChg chg="modNotes">
        <pc:chgData name="Ros Sawtell" userId="7b49c2e9-9460-4f6b-ae72-c68ca4c8147b" providerId="ADAL" clId="{D6E2EB28-9AB7-4762-8034-BC1DFBA9528C}" dt="2026-10-17T11:53:51.317" v="128" actId="368"/>
        <pc:sldMkLst>
          <pc:docMk/>
          <pc:sldMk cId="2058814852" sldId="590"/>
        </pc:sldMkLst>
      </pc:sldChg>
      <pc:sldChg chg="addSp delSp modSp mod modNotes modNotesTx">
        <pc:chgData name="Ros Sawtell" userId="7b49c2e9-9460-4f6b-ae72-c68ca4c8147b" providerId="ADAL" clId="{D6E2EB28-9AB7-4762-8034-BC1DFBA9528C}" dt="2026-10-17T11:53:51.274" v="110" actId="368"/>
        <pc:sldMkLst>
          <pc:docMk/>
          <pc:sldMk cId="3050086450" sldId="592"/>
        </pc:sldMkLst>
        <pc:spChg chg="mod">
          <ac:chgData name="Ros Sawtell" userId="7b49c2e9-9460-4f6b-ae72-c68ca4c8147b" providerId="ADAL" clId="{D6E2EB28-9AB7-4762-8034-BC1DFBA9528C}" dt="2026-10-05T08:51:38.583" v="36" actId="1076"/>
          <ac:spMkLst>
            <pc:docMk/>
            <pc:sldMk cId="3050086450" sldId="592"/>
            <ac:spMk id="7" creationId="{2FFB8457-EB40-A842-E54C-25A1FA78AFF2}"/>
          </ac:spMkLst>
        </pc:spChg>
        <pc:picChg chg="add mod">
          <ac:chgData name="Ros Sawtell" userId="7b49c2e9-9460-4f6b-ae72-c68ca4c8147b" providerId="ADAL" clId="{D6E2EB28-9AB7-4762-8034-BC1DFBA9528C}" dt="2026-10-05T08:48:57.047" v="20" actId="1076"/>
          <ac:picMkLst>
            <pc:docMk/>
            <pc:sldMk cId="3050086450" sldId="592"/>
            <ac:picMk id="8" creationId="{B2B02AB3-ABE0-F3F0-AE78-FC96BA686F11}"/>
          </ac:picMkLst>
        </pc:picChg>
      </pc:sldChg>
      <pc:sldChg chg="modNotes">
        <pc:chgData name="Ros Sawtell" userId="7b49c2e9-9460-4f6b-ae72-c68ca4c8147b" providerId="ADAL" clId="{D6E2EB28-9AB7-4762-8034-BC1DFBA9528C}" dt="2026-10-17T11:53:51.317" v="126" actId="368"/>
        <pc:sldMkLst>
          <pc:docMk/>
          <pc:sldMk cId="3334813338" sldId="594"/>
        </pc:sldMkLst>
      </pc:sldChg>
      <pc:sldChg chg="addSp delSp modSp add del mod modNotes modNotesTx">
        <pc:chgData name="Ros Sawtell" userId="7b49c2e9-9460-4f6b-ae72-c68ca4c8147b" providerId="ADAL" clId="{D6E2EB28-9AB7-4762-8034-BC1DFBA9528C}" dt="2026-10-17T11:53:51.348" v="136" actId="368"/>
        <pc:sldMkLst>
          <pc:docMk/>
          <pc:sldMk cId="247786969" sldId="605"/>
        </pc:sldMkLst>
        <pc:spChg chg="mod">
          <ac:chgData name="Ros Sawtell" userId="7b49c2e9-9460-4f6b-ae72-c68ca4c8147b" providerId="ADAL" clId="{D6E2EB28-9AB7-4762-8034-BC1DFBA9528C}" dt="2026-10-17T11:49:36.704" v="106" actId="1076"/>
          <ac:spMkLst>
            <pc:docMk/>
            <pc:sldMk cId="247786969" sldId="605"/>
            <ac:spMk id="3" creationId="{F311D39A-5702-A641-F203-2FCC97E224CB}"/>
          </ac:spMkLst>
        </pc:spChg>
        <pc:picChg chg="add mod">
          <ac:chgData name="Ros Sawtell" userId="7b49c2e9-9460-4f6b-ae72-c68ca4c8147b" providerId="ADAL" clId="{D6E2EB28-9AB7-4762-8034-BC1DFBA9528C}" dt="2026-10-17T11:49:08.943" v="104"/>
          <ac:picMkLst>
            <pc:docMk/>
            <pc:sldMk cId="247786969" sldId="605"/>
            <ac:picMk id="2" creationId="{12DF3290-4A94-0AC8-82C7-34B67FF979F8}"/>
          </ac:picMkLst>
        </pc:picChg>
      </pc:sldChg>
      <pc:sldChg chg="add del">
        <pc:chgData name="Ros Sawtell" userId="7b49c2e9-9460-4f6b-ae72-c68ca4c8147b" providerId="ADAL" clId="{D6E2EB28-9AB7-4762-8034-BC1DFBA9528C}" dt="2026-10-10T06:43:56.028" v="90"/>
        <pc:sldMkLst>
          <pc:docMk/>
          <pc:sldMk cId="2719387858" sldId="606"/>
        </pc:sldMkLst>
      </pc:sldChg>
      <pc:sldChg chg="add del">
        <pc:chgData name="Ros Sawtell" userId="7b49c2e9-9460-4f6b-ae72-c68ca4c8147b" providerId="ADAL" clId="{D6E2EB28-9AB7-4762-8034-BC1DFBA9528C}" dt="2026-10-10T06:43:56.028" v="90"/>
        <pc:sldMkLst>
          <pc:docMk/>
          <pc:sldMk cId="710409686" sldId="608"/>
        </pc:sldMkLst>
      </pc:sldChg>
      <pc:sldChg chg="add del">
        <pc:chgData name="Ros Sawtell" userId="7b49c2e9-9460-4f6b-ae72-c68ca4c8147b" providerId="ADAL" clId="{D6E2EB28-9AB7-4762-8034-BC1DFBA9528C}" dt="2026-10-10T06:43:56.028" v="90"/>
        <pc:sldMkLst>
          <pc:docMk/>
          <pc:sldMk cId="3849043342" sldId="613"/>
        </pc:sldMkLst>
      </pc:sldChg>
      <pc:sldChg chg="add del">
        <pc:chgData name="Ros Sawtell" userId="7b49c2e9-9460-4f6b-ae72-c68ca4c8147b" providerId="ADAL" clId="{D6E2EB28-9AB7-4762-8034-BC1DFBA9528C}" dt="2026-10-10T06:43:56.028" v="90"/>
        <pc:sldMkLst>
          <pc:docMk/>
          <pc:sldMk cId="3068536143" sldId="614"/>
        </pc:sldMkLst>
      </pc:sldChg>
      <pc:sldChg chg="add del modNotes">
        <pc:chgData name="Ros Sawtell" userId="7b49c2e9-9460-4f6b-ae72-c68ca4c8147b" providerId="ADAL" clId="{D6E2EB28-9AB7-4762-8034-BC1DFBA9528C}" dt="2026-10-17T11:53:51.396" v="154" actId="368"/>
        <pc:sldMkLst>
          <pc:docMk/>
          <pc:sldMk cId="4184045396" sldId="615"/>
        </pc:sldMkLst>
      </pc:sldChg>
      <pc:sldChg chg="add del modNotes">
        <pc:chgData name="Ros Sawtell" userId="7b49c2e9-9460-4f6b-ae72-c68ca4c8147b" providerId="ADAL" clId="{D6E2EB28-9AB7-4762-8034-BC1DFBA9528C}" dt="2026-10-17T11:53:51.396" v="156" actId="368"/>
        <pc:sldMkLst>
          <pc:docMk/>
          <pc:sldMk cId="2193812257" sldId="618"/>
        </pc:sldMkLst>
      </pc:sldChg>
      <pc:sldChg chg="modNotes">
        <pc:chgData name="Ros Sawtell" userId="7b49c2e9-9460-4f6b-ae72-c68ca4c8147b" providerId="ADAL" clId="{D6E2EB28-9AB7-4762-8034-BC1DFBA9528C}" dt="2026-10-17T11:53:51.314" v="124" actId="368"/>
        <pc:sldMkLst>
          <pc:docMk/>
          <pc:sldMk cId="4166765358" sldId="624"/>
        </pc:sldMkLst>
      </pc:sldChg>
      <pc:sldChg chg="addSp modSp modNotes">
        <pc:chgData name="Ros Sawtell" userId="7b49c2e9-9460-4f6b-ae72-c68ca4c8147b" providerId="ADAL" clId="{D6E2EB28-9AB7-4762-8034-BC1DFBA9528C}" dt="2026-10-17T11:53:51.301" v="122" actId="368"/>
        <pc:sldMkLst>
          <pc:docMk/>
          <pc:sldMk cId="3157197055" sldId="629"/>
        </pc:sldMkLst>
        <pc:spChg chg="add mod">
          <ac:chgData name="Ros Sawtell" userId="7b49c2e9-9460-4f6b-ae72-c68ca4c8147b" providerId="ADAL" clId="{D6E2EB28-9AB7-4762-8034-BC1DFBA9528C}" dt="2026-10-05T04:51:04.915" v="5"/>
          <ac:spMkLst>
            <pc:docMk/>
            <pc:sldMk cId="3157197055" sldId="629"/>
            <ac:spMk id="5" creationId="{B21996C6-9769-25F0-A06E-93A2C7334535}"/>
          </ac:spMkLst>
        </pc:spChg>
        <pc:spChg chg="mod">
          <ac:chgData name="Ros Sawtell" userId="7b49c2e9-9460-4f6b-ae72-c68ca4c8147b" providerId="ADAL" clId="{D6E2EB28-9AB7-4762-8034-BC1DFBA9528C}" dt="2026-10-05T04:51:30.034" v="6"/>
          <ac:spMkLst>
            <pc:docMk/>
            <pc:sldMk cId="3157197055" sldId="629"/>
            <ac:spMk id="9" creationId="{11AEAAF3-8C90-0F18-5F7F-8A612FF6E13D}"/>
          </ac:spMkLst>
        </pc:spChg>
        <pc:spChg chg="mod">
          <ac:chgData name="Ros Sawtell" userId="7b49c2e9-9460-4f6b-ae72-c68ca4c8147b" providerId="ADAL" clId="{D6E2EB28-9AB7-4762-8034-BC1DFBA9528C}" dt="2026-10-05T04:49:55.198" v="4"/>
          <ac:spMkLst>
            <pc:docMk/>
            <pc:sldMk cId="3157197055" sldId="629"/>
            <ac:spMk id="11" creationId="{9F51FC1F-12B4-B02F-597E-98F9E1603460}"/>
          </ac:spMkLst>
        </pc:spChg>
      </pc:sldChg>
      <pc:sldChg chg="add">
        <pc:chgData name="Ros Sawtell" userId="7b49c2e9-9460-4f6b-ae72-c68ca4c8147b" providerId="ADAL" clId="{D6E2EB28-9AB7-4762-8034-BC1DFBA9528C}" dt="2026-10-05T08:38:42.447" v="8" actId="2890"/>
        <pc:sldMkLst>
          <pc:docMk/>
          <pc:sldMk cId="4128813746" sldId="630"/>
        </pc:sldMkLst>
      </pc:sldChg>
      <pc:sldChg chg="add modNotes">
        <pc:chgData name="Ros Sawtell" userId="7b49c2e9-9460-4f6b-ae72-c68ca4c8147b" providerId="ADAL" clId="{D6E2EB28-9AB7-4762-8034-BC1DFBA9528C}" dt="2026-10-17T11:53:51.364" v="140" actId="368"/>
        <pc:sldMkLst>
          <pc:docMk/>
          <pc:sldMk cId="4224380722" sldId="631"/>
        </pc:sldMkLst>
      </pc:sldChg>
      <pc:sldChg chg="add modNotes">
        <pc:chgData name="Ros Sawtell" userId="7b49c2e9-9460-4f6b-ae72-c68ca4c8147b" providerId="ADAL" clId="{D6E2EB28-9AB7-4762-8034-BC1DFBA9528C}" dt="2026-10-17T11:53:51.364" v="146" actId="368"/>
        <pc:sldMkLst>
          <pc:docMk/>
          <pc:sldMk cId="425231741" sldId="632"/>
        </pc:sldMkLst>
      </pc:sldChg>
      <pc:sldChg chg="add modNotes">
        <pc:chgData name="Ros Sawtell" userId="7b49c2e9-9460-4f6b-ae72-c68ca4c8147b" providerId="ADAL" clId="{D6E2EB28-9AB7-4762-8034-BC1DFBA9528C}" dt="2026-10-17T11:53:51.364" v="144" actId="368"/>
        <pc:sldMkLst>
          <pc:docMk/>
          <pc:sldMk cId="1301737181" sldId="633"/>
        </pc:sldMkLst>
      </pc:sldChg>
      <pc:sldChg chg="addSp delSp modSp add mod">
        <pc:chgData name="Ros Sawtell" userId="7b49c2e9-9460-4f6b-ae72-c68ca4c8147b" providerId="ADAL" clId="{D6E2EB28-9AB7-4762-8034-BC1DFBA9528C}" dt="2026-10-17T13:32:44.248" v="164"/>
        <pc:sldMkLst>
          <pc:docMk/>
          <pc:sldMk cId="666484103" sldId="634"/>
        </pc:sldMkLst>
        <pc:spChg chg="add mod">
          <ac:chgData name="Ros Sawtell" userId="7b49c2e9-9460-4f6b-ae72-c68ca4c8147b" providerId="ADAL" clId="{D6E2EB28-9AB7-4762-8034-BC1DFBA9528C}" dt="2026-10-17T13:32:44.248" v="164"/>
          <ac:spMkLst>
            <pc:docMk/>
            <pc:sldMk cId="666484103" sldId="634"/>
            <ac:spMk id="2" creationId="{AB679E6C-5D67-0AC8-0D15-F73F6DD0B087}"/>
          </ac:spMkLst>
        </pc:spChg>
      </pc:sldChg>
      <pc:sldChg chg="addSp delSp modSp add mod">
        <pc:chgData name="Ros Sawtell" userId="7b49c2e9-9460-4f6b-ae72-c68ca4c8147b" providerId="ADAL" clId="{D6E2EB28-9AB7-4762-8034-BC1DFBA9528C}" dt="2026-10-17T13:33:02.597" v="166"/>
        <pc:sldMkLst>
          <pc:docMk/>
          <pc:sldMk cId="3914800461" sldId="635"/>
        </pc:sldMkLst>
        <pc:spChg chg="add mod">
          <ac:chgData name="Ros Sawtell" userId="7b49c2e9-9460-4f6b-ae72-c68ca4c8147b" providerId="ADAL" clId="{D6E2EB28-9AB7-4762-8034-BC1DFBA9528C}" dt="2026-10-17T13:33:02.597" v="166"/>
          <ac:spMkLst>
            <pc:docMk/>
            <pc:sldMk cId="3914800461" sldId="635"/>
            <ac:spMk id="2" creationId="{149F42FA-6754-A33D-5026-D2A6898A1D99}"/>
          </ac:spMkLst>
        </pc:spChg>
      </pc:sldChg>
      <pc:sldChg chg="add modNotes">
        <pc:chgData name="Ros Sawtell" userId="7b49c2e9-9460-4f6b-ae72-c68ca4c8147b" providerId="ADAL" clId="{D6E2EB28-9AB7-4762-8034-BC1DFBA9528C}" dt="2026-10-17T11:53:51.364" v="142" actId="368"/>
        <pc:sldMkLst>
          <pc:docMk/>
          <pc:sldMk cId="3663247380" sldId="636"/>
        </pc:sldMkLst>
      </pc:sldChg>
      <pc:sldChg chg="addSp modSp add mod">
        <pc:chgData name="Ros Sawtell" userId="7b49c2e9-9460-4f6b-ae72-c68ca4c8147b" providerId="ADAL" clId="{D6E2EB28-9AB7-4762-8034-BC1DFBA9528C}" dt="2026-10-17T11:27:44.025" v="101" actId="14100"/>
        <pc:sldMkLst>
          <pc:docMk/>
          <pc:sldMk cId="2908139068" sldId="637"/>
        </pc:sldMkLst>
        <pc:picChg chg="add mod">
          <ac:chgData name="Ros Sawtell" userId="7b49c2e9-9460-4f6b-ae72-c68ca4c8147b" providerId="ADAL" clId="{D6E2EB28-9AB7-4762-8034-BC1DFBA9528C}" dt="2026-10-17T11:27:44.025" v="101" actId="14100"/>
          <ac:picMkLst>
            <pc:docMk/>
            <pc:sldMk cId="2908139068" sldId="637"/>
            <ac:picMk id="3" creationId="{BBAA2324-B376-1644-1F5B-68497BE04F41}"/>
          </ac:picMkLst>
        </pc:picChg>
      </pc:sldChg>
      <pc:sldChg chg="add modNotes">
        <pc:chgData name="Ros Sawtell" userId="7b49c2e9-9460-4f6b-ae72-c68ca4c8147b" providerId="ADAL" clId="{D6E2EB28-9AB7-4762-8034-BC1DFBA9528C}" dt="2026-10-17T11:53:51.383" v="150" actId="368"/>
        <pc:sldMkLst>
          <pc:docMk/>
          <pc:sldMk cId="2913517982" sldId="638"/>
        </pc:sldMkLst>
      </pc:sldChg>
      <pc:sldChg chg="add modNotes">
        <pc:chgData name="Ros Sawtell" userId="7b49c2e9-9460-4f6b-ae72-c68ca4c8147b" providerId="ADAL" clId="{D6E2EB28-9AB7-4762-8034-BC1DFBA9528C}" dt="2026-10-17T11:53:51.381" v="148" actId="368"/>
        <pc:sldMkLst>
          <pc:docMk/>
          <pc:sldMk cId="1584098325" sldId="639"/>
        </pc:sldMkLst>
      </pc:sldChg>
      <pc:sldChg chg="add">
        <pc:chgData name="Ros Sawtell" userId="7b49c2e9-9460-4f6b-ae72-c68ca4c8147b" providerId="ADAL" clId="{D6E2EB28-9AB7-4762-8034-BC1DFBA9528C}" dt="2026-10-10T06:43:56.028" v="90"/>
        <pc:sldMkLst>
          <pc:docMk/>
          <pc:sldMk cId="1580171918" sldId="640"/>
        </pc:sldMkLst>
      </pc:sldChg>
      <pc:sldChg chg="add modNotes">
        <pc:chgData name="Ros Sawtell" userId="7b49c2e9-9460-4f6b-ae72-c68ca4c8147b" providerId="ADAL" clId="{D6E2EB28-9AB7-4762-8034-BC1DFBA9528C}" dt="2026-10-17T11:53:51.383" v="152" actId="368"/>
        <pc:sldMkLst>
          <pc:docMk/>
          <pc:sldMk cId="2305117886" sldId="641"/>
        </pc:sldMkLst>
      </pc:sldChg>
      <pc:sldChg chg="add modNotes">
        <pc:chgData name="Ros Sawtell" userId="7b49c2e9-9460-4f6b-ae72-c68ca4c8147b" providerId="ADAL" clId="{D6E2EB28-9AB7-4762-8034-BC1DFBA9528C}" dt="2026-10-17T11:53:51.396" v="158" actId="368"/>
        <pc:sldMkLst>
          <pc:docMk/>
          <pc:sldMk cId="4181041824" sldId="642"/>
        </pc:sldMkLst>
      </pc:sldChg>
      <pc:sldChg chg="add modNotes modNotesTx">
        <pc:chgData name="Ros Sawtell" userId="7b49c2e9-9460-4f6b-ae72-c68ca4c8147b" providerId="ADAL" clId="{D6E2EB28-9AB7-4762-8034-BC1DFBA9528C}" dt="2026-10-17T11:53:51.415" v="162" actId="368"/>
        <pc:sldMkLst>
          <pc:docMk/>
          <pc:sldMk cId="1218409451" sldId="644"/>
        </pc:sldMkLst>
      </pc:sldChg>
      <pc:sldChg chg="add modNotes">
        <pc:chgData name="Ros Sawtell" userId="7b49c2e9-9460-4f6b-ae72-c68ca4c8147b" providerId="ADAL" clId="{D6E2EB28-9AB7-4762-8034-BC1DFBA9528C}" dt="2026-10-17T11:53:51.415" v="160" actId="368"/>
        <pc:sldMkLst>
          <pc:docMk/>
          <pc:sldMk cId="4241547557" sldId="645"/>
        </pc:sldMkLst>
      </pc:sldChg>
      <pc:sldChg chg="add modNotes">
        <pc:chgData name="Ros Sawtell" userId="7b49c2e9-9460-4f6b-ae72-c68ca4c8147b" providerId="ADAL" clId="{D6E2EB28-9AB7-4762-8034-BC1DFBA9528C}" dt="2026-10-17T11:53:51.348" v="138" actId="368"/>
        <pc:sldMkLst>
          <pc:docMk/>
          <pc:sldMk cId="1562175045" sldId="646"/>
        </pc:sldMkLst>
      </pc:sldChg>
    </pc:docChg>
  </pc:docChgLst>
  <pc:docChgLst>
    <pc:chgData name="Ros Sawtell" userId="7b49c2e9-9460-4f6b-ae72-c68ca4c8147b" providerId="ADAL" clId="{2F764A8F-DCF9-4699-A27E-8C8DEF301858}"/>
    <pc:docChg chg="modSld">
      <pc:chgData name="Ros Sawtell" userId="7b49c2e9-9460-4f6b-ae72-c68ca4c8147b" providerId="ADAL" clId="{2F764A8F-DCF9-4699-A27E-8C8DEF301858}" dt="2026-10-19T04:37:05.267" v="2" actId="14100"/>
      <pc:docMkLst>
        <pc:docMk/>
      </pc:docMkLst>
      <pc:sldChg chg="modSp mod">
        <pc:chgData name="Ros Sawtell" userId="7b49c2e9-9460-4f6b-ae72-c68ca4c8147b" providerId="ADAL" clId="{2F764A8F-DCF9-4699-A27E-8C8DEF301858}" dt="2026-10-19T04:37:05.267" v="2" actId="14100"/>
        <pc:sldMkLst>
          <pc:docMk/>
          <pc:sldMk cId="666484103" sldId="634"/>
        </pc:sldMkLst>
        <pc:spChg chg="mod">
          <ac:chgData name="Ros Sawtell" userId="7b49c2e9-9460-4f6b-ae72-c68ca4c8147b" providerId="ADAL" clId="{2F764A8F-DCF9-4699-A27E-8C8DEF301858}" dt="2026-10-19T04:37:05.267" v="2" actId="14100"/>
          <ac:spMkLst>
            <pc:docMk/>
            <pc:sldMk cId="666484103" sldId="634"/>
            <ac:spMk id="2" creationId="{AB679E6C-5D67-0AC8-0D15-F73F6DD0B087}"/>
          </ac:spMkLst>
        </pc:spChg>
      </pc:sldChg>
      <pc:sldChg chg="modSp">
        <pc:chgData name="Ros Sawtell" userId="7b49c2e9-9460-4f6b-ae72-c68ca4c8147b" providerId="ADAL" clId="{2F764A8F-DCF9-4699-A27E-8C8DEF301858}" dt="2026-10-19T00:35:17.070" v="0"/>
        <pc:sldMkLst>
          <pc:docMk/>
          <pc:sldMk cId="1584098325" sldId="639"/>
        </pc:sldMkLst>
        <pc:spChg chg="mod">
          <ac:chgData name="Ros Sawtell" userId="7b49c2e9-9460-4f6b-ae72-c68ca4c8147b" providerId="ADAL" clId="{2F764A8F-DCF9-4699-A27E-8C8DEF301858}" dt="2026-10-19T00:35:17.070" v="0"/>
          <ac:spMkLst>
            <pc:docMk/>
            <pc:sldMk cId="1584098325" sldId="639"/>
            <ac:spMk id="3" creationId="{B5F5FED7-7B9D-9C32-F797-B093ECC3699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E59A93FF-AC81-4994-A3B8-A80F89F813BB}" type="datetimeFigureOut">
              <a:rPr lang="en-AU" smtClean="0"/>
              <a:t>19/10/2026</a:t>
            </a:fld>
            <a:endParaRPr lang="en-AU"/>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1D3E74B-8D6F-4E4A-B30C-0A604C214E9A}" type="slidenum">
              <a:rPr lang="en-AU" smtClean="0"/>
              <a:t>‹#›</a:t>
            </a:fld>
            <a:endParaRPr lang="en-AU"/>
          </a:p>
        </p:txBody>
      </p:sp>
    </p:spTree>
    <p:extLst>
      <p:ext uri="{BB962C8B-B14F-4D97-AF65-F5344CB8AC3E}">
        <p14:creationId xmlns:p14="http://schemas.microsoft.com/office/powerpoint/2010/main" val="3505567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57400" y="557213"/>
            <a:ext cx="4959350" cy="2790825"/>
          </a:xfrm>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3379956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57400" y="557213"/>
            <a:ext cx="4959350" cy="2790825"/>
          </a:xfrm>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71B2431-D351-4C6E-A3CF-9DFAC0E3E050}" type="slidenum">
              <a:rPr lang="cs-CZ" smtClean="0"/>
              <a:t>2</a:t>
            </a:fld>
            <a:endParaRPr lang="cs-CZ"/>
          </a:p>
        </p:txBody>
      </p:sp>
    </p:spTree>
    <p:extLst>
      <p:ext uri="{BB962C8B-B14F-4D97-AF65-F5344CB8AC3E}">
        <p14:creationId xmlns:p14="http://schemas.microsoft.com/office/powerpoint/2010/main" val="3379956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2986E-92F3-B111-0A2D-A6CBFD958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3A9D9-E920-9AD6-39CB-F017DB9E70C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88A46E3-CFD4-0F14-766E-77C998077C8C}"/>
              </a:ext>
            </a:extLst>
          </p:cNvPr>
          <p:cNvSpPr>
            <a:spLocks noGrp="1"/>
          </p:cNvSpPr>
          <p:nvPr>
            <p:ph type="body" idx="1"/>
          </p:nvPr>
        </p:nvSpPr>
        <p:spPr>
          <a:xfrm>
            <a:off x="680562" y="4783306"/>
            <a:ext cx="5444490" cy="7541473"/>
          </a:xfrm>
        </p:spPr>
        <p:txBody>
          <a:bodyPr/>
          <a:lstStyle/>
          <a:p>
            <a:pPr>
              <a:buNone/>
            </a:pPr>
            <a:endParaRPr lang="en-AU" dirty="0"/>
          </a:p>
        </p:txBody>
      </p:sp>
      <p:sp>
        <p:nvSpPr>
          <p:cNvPr id="4" name="Slide Number Placeholder 3">
            <a:extLst>
              <a:ext uri="{FF2B5EF4-FFF2-40B4-BE49-F238E27FC236}">
                <a16:creationId xmlns:a16="http://schemas.microsoft.com/office/drawing/2014/main" id="{AD9CD0DF-6BE0-1D25-7277-7EF258C7AA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F8803C-413B-49CE-9FB4-C71B16B15C5C}"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8813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D3E74B-8D6F-4E4A-B30C-0A604C214E9A}" type="slidenum">
              <a:rPr lang="en-AU" smtClean="0"/>
              <a:t>4</a:t>
            </a:fld>
            <a:endParaRPr lang="en-AU"/>
          </a:p>
        </p:txBody>
      </p:sp>
    </p:spTree>
    <p:extLst>
      <p:ext uri="{BB962C8B-B14F-4D97-AF65-F5344CB8AC3E}">
        <p14:creationId xmlns:p14="http://schemas.microsoft.com/office/powerpoint/2010/main" val="3090200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D3E74B-8D6F-4E4A-B30C-0A604C214E9A}" type="slidenum">
              <a:rPr lang="en-AU" smtClean="0"/>
              <a:t>6</a:t>
            </a:fld>
            <a:endParaRPr lang="en-AU"/>
          </a:p>
        </p:txBody>
      </p:sp>
    </p:spTree>
    <p:extLst>
      <p:ext uri="{BB962C8B-B14F-4D97-AF65-F5344CB8AC3E}">
        <p14:creationId xmlns:p14="http://schemas.microsoft.com/office/powerpoint/2010/main" val="152627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D3E74B-8D6F-4E4A-B30C-0A604C214E9A}" type="slidenum">
              <a:rPr lang="en-AU" smtClean="0"/>
              <a:t>7</a:t>
            </a:fld>
            <a:endParaRPr lang="en-AU"/>
          </a:p>
        </p:txBody>
      </p:sp>
    </p:spTree>
    <p:extLst>
      <p:ext uri="{BB962C8B-B14F-4D97-AF65-F5344CB8AC3E}">
        <p14:creationId xmlns:p14="http://schemas.microsoft.com/office/powerpoint/2010/main" val="1557574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9BBA-CF28-AA45-3C81-E694848F0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413C8-27D2-D63F-7AB7-F4BDD7BD55C4}"/>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7F6DAA4C-5C8A-7D18-D5D8-DDE5092A293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E3C9D72-3754-AF32-8D02-B9FD3D511E62}"/>
              </a:ext>
            </a:extLst>
          </p:cNvPr>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2668306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CEA7-9EF6-54EF-BFD0-68CCCF0C6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8C7AA-D283-9E6D-9874-D7CCCA5D715B}"/>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8EC353DF-733D-B4AF-E4E1-815851A56A0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90710F0-C07C-9EC8-FBA2-95B6B76BA5BE}"/>
              </a:ext>
            </a:extLst>
          </p:cNvPr>
          <p:cNvSpPr>
            <a:spLocks noGrp="1"/>
          </p:cNvSpPr>
          <p:nvPr>
            <p:ph type="sldNum" sz="quarter" idx="5"/>
          </p:nvPr>
        </p:nvSpPr>
        <p:spPr/>
        <p:txBody>
          <a:bodyPr/>
          <a:lstStyle/>
          <a:p>
            <a:fld id="{871B2431-D351-4C6E-A3CF-9DFAC0E3E050}" type="slidenum">
              <a:rPr lang="cs-CZ" smtClean="0"/>
              <a:t>9</a:t>
            </a:fld>
            <a:endParaRPr lang="cs-CZ"/>
          </a:p>
        </p:txBody>
      </p:sp>
    </p:spTree>
    <p:extLst>
      <p:ext uri="{BB962C8B-B14F-4D97-AF65-F5344CB8AC3E}">
        <p14:creationId xmlns:p14="http://schemas.microsoft.com/office/powerpoint/2010/main" val="2054659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4E6B-6AD0-776E-DFDD-BB1D39299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170CE-F202-184E-E1B7-B1CED8F0F9CC}"/>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9E376050-80AF-2D77-2891-03A89C607A5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26DD130-75F7-E338-0121-9AAB6BF4522A}"/>
              </a:ext>
            </a:extLst>
          </p:cNvPr>
          <p:cNvSpPr>
            <a:spLocks noGrp="1"/>
          </p:cNvSpPr>
          <p:nvPr>
            <p:ph type="sldNum" sz="quarter" idx="5"/>
          </p:nvPr>
        </p:nvSpPr>
        <p:spPr/>
        <p:txBody>
          <a:bodyPr/>
          <a:lstStyle/>
          <a:p>
            <a:fld id="{871B2431-D351-4C6E-A3CF-9DFAC0E3E050}" type="slidenum">
              <a:rPr lang="cs-CZ" smtClean="0"/>
              <a:t>10</a:t>
            </a:fld>
            <a:endParaRPr lang="cs-CZ"/>
          </a:p>
        </p:txBody>
      </p:sp>
    </p:spTree>
    <p:extLst>
      <p:ext uri="{BB962C8B-B14F-4D97-AF65-F5344CB8AC3E}">
        <p14:creationId xmlns:p14="http://schemas.microsoft.com/office/powerpoint/2010/main" val="27161719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201A8-959E-69C1-05FB-557B53562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005FD-E715-8262-2BFA-6CF16DEDEA30}"/>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3ABEB647-C53C-1F91-BD6B-B2C1EE87540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8E75BFC-03C2-9758-BD38-9F98C75EAE4A}"/>
              </a:ext>
            </a:extLst>
          </p:cNvPr>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4081839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FACB1-62FD-F6E4-A0F1-4E36EC22E28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F840204-1345-EBD1-A5EB-491768D448A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A4CA63C-BA0F-18C9-992E-6F9C90F9919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819AEFF-9BAA-D4EB-4931-C1990E00D93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2D92D8F-49BA-36CB-DC8E-239C53A9B73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B76C4E32-58A1-70EF-2164-DDE95489A4A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1B5F11D-E182-DA25-4D13-308AC6E39BB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91099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F5A3F-65A0-9326-A81D-2C5F25A2D24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980E61-355B-9604-D025-40368848A54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0321542-EAEA-4BD4-CBB6-34D5573B260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F9EAF89-554D-CBC0-7D41-F8E1DF668B8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E9E04B5-8B63-541D-602D-A99F8A52431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spcAft>
                <a:spcPts val="600"/>
              </a:spcAft>
            </a:pPr>
            <a:endParaRPr lang="en-US" dirty="0"/>
          </a:p>
        </p:txBody>
      </p:sp>
      <p:sp>
        <p:nvSpPr>
          <p:cNvPr id="6" name="Footer Placeholder 5">
            <a:extLst>
              <a:ext uri="{FF2B5EF4-FFF2-40B4-BE49-F238E27FC236}">
                <a16:creationId xmlns:a16="http://schemas.microsoft.com/office/drawing/2014/main" id="{468A3C7F-7085-6236-686C-CC809025058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9AC1594-A2CA-D377-FBBE-E6F4569D192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940536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B0F6A-AAA1-FCAD-EC87-EFF13CB7434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D08C593-5D72-C720-40FA-CB9B5C2A185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7781F4C-FDB5-816F-0084-226ABA565D5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FD22205-3ED5-D99F-40F9-3B52BCAF4D0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8EA7055-870B-5C3B-A410-F26EC3C0942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spcAft>
                <a:spcPts val="600"/>
              </a:spcAft>
            </a:pPr>
            <a:endParaRPr lang="en-US" dirty="0"/>
          </a:p>
        </p:txBody>
      </p:sp>
      <p:sp>
        <p:nvSpPr>
          <p:cNvPr id="6" name="Footer Placeholder 5">
            <a:extLst>
              <a:ext uri="{FF2B5EF4-FFF2-40B4-BE49-F238E27FC236}">
                <a16:creationId xmlns:a16="http://schemas.microsoft.com/office/drawing/2014/main" id="{1A0D7733-5983-09D6-5C07-5717F3D2F21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C1FF89D-8F35-9343-66E0-F3B1A31D99D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12689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A0BF9-758B-4566-4DDD-F08B2EA8D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88DA4-7EB2-A4D9-774B-2CC150217E9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7A37557-EEF3-1AF1-6310-FD67754E7BCD}"/>
              </a:ext>
            </a:extLst>
          </p:cNvPr>
          <p:cNvSpPr>
            <a:spLocks noGrp="1"/>
          </p:cNvSpPr>
          <p:nvPr>
            <p:ph type="body" idx="1"/>
          </p:nvPr>
        </p:nvSpPr>
        <p:spPr>
          <a:xfrm>
            <a:off x="680562" y="4783307"/>
            <a:ext cx="5444490" cy="7972177"/>
          </a:xfrm>
        </p:spPr>
        <p:txBody>
          <a:bodyPr/>
          <a:lstStyle/>
          <a:p>
            <a:endParaRPr lang="en-AU" dirty="0"/>
          </a:p>
        </p:txBody>
      </p:sp>
      <p:sp>
        <p:nvSpPr>
          <p:cNvPr id="4" name="Slide Number Placeholder 3">
            <a:extLst>
              <a:ext uri="{FF2B5EF4-FFF2-40B4-BE49-F238E27FC236}">
                <a16:creationId xmlns:a16="http://schemas.microsoft.com/office/drawing/2014/main" id="{CB7AB15D-D9B6-4893-D31A-7E70ACB95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F8803C-413B-49CE-9FB4-C71B16B15C5C}"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3193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C7202-1F80-4F1E-7497-E8127D9B0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76DFF-9288-EC5C-FB78-4C96D3DC18F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C1CC6FA-EB8F-3687-8166-94EBF5DA8E7E}"/>
              </a:ext>
            </a:extLst>
          </p:cNvPr>
          <p:cNvSpPr>
            <a:spLocks noGrp="1"/>
          </p:cNvSpPr>
          <p:nvPr>
            <p:ph type="body" idx="1"/>
          </p:nvPr>
        </p:nvSpPr>
        <p:spPr>
          <a:xfrm>
            <a:off x="680562" y="4783307"/>
            <a:ext cx="5444490" cy="7972177"/>
          </a:xfrm>
        </p:spPr>
        <p:txBody>
          <a:bodyPr/>
          <a:lstStyle/>
          <a:p>
            <a:endParaRPr lang="en-AU" dirty="0"/>
          </a:p>
        </p:txBody>
      </p:sp>
      <p:sp>
        <p:nvSpPr>
          <p:cNvPr id="4" name="Slide Number Placeholder 3">
            <a:extLst>
              <a:ext uri="{FF2B5EF4-FFF2-40B4-BE49-F238E27FC236}">
                <a16:creationId xmlns:a16="http://schemas.microsoft.com/office/drawing/2014/main" id="{CA5B685A-8E69-94A1-BC1C-CD703DF5BE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F8803C-413B-49CE-9FB4-C71B16B15C5C}"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499063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CEA7-9EF6-54EF-BFD0-68CCCF0C6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8C7AA-D283-9E6D-9874-D7CCCA5D715B}"/>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8EC353DF-733D-B4AF-E4E1-815851A56A0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90710F0-C07C-9EC8-FBA2-95B6B76BA5B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4659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88C82-E8D6-BE4D-41E6-7ABEDC3E8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C94ED-A3D0-2E02-6968-40A8C0990B8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26A8621-B91A-BA4E-E0C7-6D63AEA0F40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13589C6-3E38-9DAA-D2C3-15500F1184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F8803C-413B-49CE-9FB4-C71B16B15C5C}"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0603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2693-FF0E-AE12-E6E0-897FE965A24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DC37EC-6175-3116-7AA6-2B5C0E56633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636F07C-5D13-BBBA-A455-8B65B83B021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72EF2E6-6D4C-C889-E104-3C74D9BB9C2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92824E9-3DC7-CA22-71EB-560C22854DB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BC5FE22D-9FA6-A2C0-65C2-D3BC5FAAB69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35BD7F7-5671-085D-D2CF-ACE4C197D45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19635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9345D-3E18-1450-E0F7-AD86FE52C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B72BF-8B5B-2535-6341-696962BC5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605B0-7331-4DC8-7100-CF69A10AC29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ABA61BD-9B8B-DB2B-6F73-FDD39C0379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61116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F1113-13B1-0723-CD2C-CD943C05A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4778C-DAB9-E422-19F6-C999374851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B0823-13DD-0C5B-EE5E-3B55812A402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624781B-5486-6B4F-4FBB-A1C2DA5CFE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5678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9235A-EDE9-5871-A189-7F028AC21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8C93E-03AE-1ADD-D3AD-C531CA677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F4901-656A-86F1-9FD7-F853278701B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2C1E243-AA30-99C6-D9AE-BD5EF32A69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3029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5ABA0-689B-5ADF-F1A1-330C8A546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8155E-829C-C1B2-DD43-5919D13C8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10162E-6AAD-6E5B-E822-C639F4BE3AB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D918313-1301-E2C6-0B1C-FBE2BB6FBF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84914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2C09C-2E66-4C99-B6D1-26300FAD5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C7192-B511-F048-0660-564B7098C0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EA438F-7214-E4C4-9397-5236EA8BCC4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2CB38C04-D326-44A4-C671-FB11746DF9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01431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E81F0-3A8A-E8B0-D90E-A0F10EAF2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1B922-0B36-6C19-1248-752E18BAB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B852EC-CDBD-B2AB-7B31-C6239EFD4F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2ACA628-56A7-4B29-A386-D4C42B45E4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68584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D2BDA-1B5C-CC15-E5BE-7A729D4A9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40EFD-B4AA-B96A-0D38-D262B007A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BC5FA-7690-013E-06F9-D62006081A6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7906151-BBE2-DF11-96FE-5C45BAF109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94716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C4D9B-D1D3-1608-7A6A-9A85E82EC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2D769-A6B2-4591-BF45-B7A05915B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95ECB-A1DA-B307-6E0E-6143B04EC9E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EBBE7FB-F17C-E165-1730-80D24455A5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2842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7C5E-E844-83E5-D5FC-4999F8739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ED555-AC08-5DF2-6B35-C98F86DC1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CBA00-472A-96CC-14BB-A8ACEFE9A13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5051A85-5E6F-5365-0B15-C11B3A61BA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8233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5ACA7-A164-E8AC-EC58-A633B6606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56C96-5D36-1772-EBFC-A416C3AE9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5E882-C048-5B17-A073-D11D732F8A8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DD378CA-90BF-E3DE-4F72-DB1C101767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83948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6D5A9-B4C6-D2AD-95CC-0B26257EA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5A44C-CE47-6732-0D93-17E10FB61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8FF6A-87C3-67C5-DACC-0153F3F6A66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06AFB8B-E8AC-2E01-AA6D-E2702914A7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83821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7252-6E88-1C42-0A7B-62B6984DE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4CE46-6C13-06F5-AC5D-2052DB1B5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84B31-94CF-A5E0-D259-680EFA0B61C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9A54003-9D35-E01A-BFED-D96AB11788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34105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A190-CF9C-086C-59BC-6766404AD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F2254-982E-62A6-2FD4-CDA6FEB97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02C67-5C07-6A9C-7EFC-DD4F4F45C7D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6F10FB65-7187-597E-D38E-206F06B12C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71747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3335E-6F62-4E50-0A32-036522E91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94ABF-4DEA-6911-A51B-773B2A7DB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86795-7B93-66C0-B201-1B65B4DD1EA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7162D1E-FD83-83BD-D295-0FFD7DA498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4817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4F7E-9F7E-053F-7DCE-2F00A3D7A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E9E47-4F68-261B-2989-C5AF8FCA4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FAA0E-E7BB-4E96-527B-D7852B70646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FABDA599-5EF9-4534-BC2E-A5395FE975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61880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7DB61-4300-1203-B6AC-1BCAD3BB7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E2725-86D2-5359-B3BB-94708AF79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87898-CE37-378A-0F1B-496D78703D7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6A779F3-8919-013F-3542-A3B4B7B816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4507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47945-2CA9-8D1B-6FBA-1BDACFBCA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99EF4-A1C6-0976-E902-78174E8A1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ED4E4A-D9A5-79E5-4D1D-F44B17E9F80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A59B91E-853C-571D-E977-EBD9763C5E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3482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BF9C6-7233-EDF4-A21A-B7B2FB430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8578F-0C4E-62E0-A166-A02D592A0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79C0D-EECE-B808-031B-487F795E88D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699057B-AF6D-DB1E-F5B5-3CB49E5A06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53289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C5B8F-6B95-B609-44AB-805A514FA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0AB29-CD4F-9C36-0CF9-0AC324B3F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71D93-84E0-40E7-B10C-A7211F15713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5C87B1F-D5FA-97C7-3DCE-88E8918F98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13684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AF5A9-4117-E444-E081-D5356E9A2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310F6-479E-83D0-CE1B-1AC33EC92F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52268-AB4F-1333-A088-D1520735624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64A3E7F-20C6-0E3C-279F-56E558FABB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85648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C75EE-9919-7A36-87E5-66B8D14A8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ADC08-8A18-94E3-3C83-0BB81ADF4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C30F9-9C03-D35F-96E1-266B934AF26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EF482B0-6725-72AB-DA77-D3774E15CB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25450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AC50-AA09-05FD-2F89-13AD6453A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E9DEB-C552-A233-585E-1A1F7E78D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29450-2517-F077-F3C2-BB3BD78FD4B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6A71C00-8D34-1C5F-BF5D-0FAAAF7E59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07C93D-D6A9-48FC-9727-17FC0EB38D3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84492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10393-294C-9F57-4DCE-F751E1F8316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A9E3DB-A9B9-696F-2C69-066198AA79B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CF3AFB91-B59D-C760-0380-12FAD2E6601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a:extLst>
              <a:ext uri="{FF2B5EF4-FFF2-40B4-BE49-F238E27FC236}">
                <a16:creationId xmlns:a16="http://schemas.microsoft.com/office/drawing/2014/main" id="{1E2EB17B-1606-CA3D-0425-D086D5C41A0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7BEC4BB-B55A-3E2C-B71F-2508EFD5F52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930EFD08-B1EA-845E-181B-E3D3F1A5EDA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A80F7ED1-4FB0-84D3-D3BA-21979F17659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12959083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2D334-3520-5ABF-DADB-28EA8BB4EE1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9925BF-DDFB-FC32-E088-7C2008D420A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28EF17A5-2435-BD0A-6A2F-64BAF39F9C4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a:extLst>
              <a:ext uri="{FF2B5EF4-FFF2-40B4-BE49-F238E27FC236}">
                <a16:creationId xmlns:a16="http://schemas.microsoft.com/office/drawing/2014/main" id="{092F7F31-8B94-8264-85B8-9D782BBDD0E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98A16FA-C53F-D199-0EC9-396CB2D5C9D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A53C84AF-4AEC-3311-8F8B-173AA8C3B05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7B1F8889-7F57-D6ED-97D2-2169CFF6506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4171382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260851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132516501"/>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103268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20184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178966794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530915801"/>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83581112"/>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a:alphaModFix/>
            <a:extLst>
              <a:ext uri="{96DAC541-7B7A-43D3-8B79-37D633B846F1}">
                <asvg:svgBlip xmlns:asvg="http://schemas.microsoft.com/office/drawing/2016/SVG/main" r:embed="rId2"/>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623818982"/>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61841636"/>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259386460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490676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79349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832223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405461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31519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544217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3207820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14054499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2299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85935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5604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89315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79231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087385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84546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200741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299096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492207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787866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113888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664F-01AE-AE96-9FC1-05134F0B1F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7FE61F77-56C7-2A0A-4F3E-8EBBBB806B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32DBBDFA-D651-1364-4EE6-D568E763C742}"/>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5" name="Footer Placeholder 4">
            <a:extLst>
              <a:ext uri="{FF2B5EF4-FFF2-40B4-BE49-F238E27FC236}">
                <a16:creationId xmlns:a16="http://schemas.microsoft.com/office/drawing/2014/main" id="{8235FD09-67FC-BD92-706A-BBAC2DF3F87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4CEA94-0ABD-553F-8A63-9512BF21C76E}"/>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35352848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A0AA-3481-522B-3A7F-62313E85A01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EB91BC-41B3-BA9F-BAC3-A285971187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FA8D754-B666-D83A-E324-AEC4E8C11DC9}"/>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5" name="Footer Placeholder 4">
            <a:extLst>
              <a:ext uri="{FF2B5EF4-FFF2-40B4-BE49-F238E27FC236}">
                <a16:creationId xmlns:a16="http://schemas.microsoft.com/office/drawing/2014/main" id="{5A04EA82-41AA-A336-0328-046CB2FA24E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82D75AC-8614-4989-CBB7-53B1B0E879C2}"/>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10283408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0ACC6-7200-A40E-E39A-5810BD3AC1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481E6989-4BE1-1AB3-A74F-0DC3503701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41CB36-5762-7B7D-E8CB-807CE4C471CE}"/>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5" name="Footer Placeholder 4">
            <a:extLst>
              <a:ext uri="{FF2B5EF4-FFF2-40B4-BE49-F238E27FC236}">
                <a16:creationId xmlns:a16="http://schemas.microsoft.com/office/drawing/2014/main" id="{8FAEC3E6-CD00-9D45-B94D-D7758ECB747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F969562-BBAE-B556-1832-EA36D92048BF}"/>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385428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8005-9CA4-A1D0-02D9-DCCC8CE8686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647F760-E0EA-F2BF-9A15-CCBD247616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E0497F9-E80E-A6B8-4714-BBBA5E0416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65A7C56-3895-A3F2-E5D3-E97436BD03A4}"/>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6" name="Footer Placeholder 5">
            <a:extLst>
              <a:ext uri="{FF2B5EF4-FFF2-40B4-BE49-F238E27FC236}">
                <a16:creationId xmlns:a16="http://schemas.microsoft.com/office/drawing/2014/main" id="{CC30F933-2615-3D1D-8A65-30DD1767766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BF23326-166F-B633-5559-9884E97F9954}"/>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36556690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FA5C6-74A4-565A-FB5C-AACAEEA63A0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A6544F0-CB97-F6F7-E753-91D956419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F11610-B3E3-8B4A-340D-9E730B12BA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5A27E4E-1426-07C5-2218-4CA2578AA3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5E4502-8651-B6DD-6D69-94815E319E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A101F8C-0E69-2247-3333-30D9B1DA2EC0}"/>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8" name="Footer Placeholder 7">
            <a:extLst>
              <a:ext uri="{FF2B5EF4-FFF2-40B4-BE49-F238E27FC236}">
                <a16:creationId xmlns:a16="http://schemas.microsoft.com/office/drawing/2014/main" id="{E76CA3F3-830B-123F-D97A-BB0AB5C4343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3F3D5D0-3961-BA14-9F4E-F7AECB2BDF7E}"/>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38378871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1E4F-70C1-2A53-98E8-CEF313940F0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3942757-60C5-4118-2554-45FD17D20854}"/>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4" name="Footer Placeholder 3">
            <a:extLst>
              <a:ext uri="{FF2B5EF4-FFF2-40B4-BE49-F238E27FC236}">
                <a16:creationId xmlns:a16="http://schemas.microsoft.com/office/drawing/2014/main" id="{15CA4C5B-8326-9493-B43A-4158763E105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0DC18CC-722B-6E88-45CA-073BF3CCF87E}"/>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31827870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806D97-4C18-64A6-4439-20E51585265E}"/>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3" name="Footer Placeholder 2">
            <a:extLst>
              <a:ext uri="{FF2B5EF4-FFF2-40B4-BE49-F238E27FC236}">
                <a16:creationId xmlns:a16="http://schemas.microsoft.com/office/drawing/2014/main" id="{CD6F8A2A-3669-0EDD-EE90-EEB9E1AE8B02}"/>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61DE327-893E-C603-DE13-9EE55D708184}"/>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29067820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2AB84-4C4F-DA91-C81D-443B5C118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EC78FAE-F246-3275-01B8-2CB4DC0F22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D093D0D-F358-235C-B742-C5D9C8C39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3D78BA-BEDC-AB46-69AA-85237823AED9}"/>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6" name="Footer Placeholder 5">
            <a:extLst>
              <a:ext uri="{FF2B5EF4-FFF2-40B4-BE49-F238E27FC236}">
                <a16:creationId xmlns:a16="http://schemas.microsoft.com/office/drawing/2014/main" id="{B530E2EC-0CFA-8D86-1978-D3772B76474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39ADFA0-2A74-2AE4-9E3A-F786B2D99232}"/>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32245260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9D91-19B5-57DA-1E9A-F3BDE8C0DA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8FA69D4-719F-F892-94B6-7D64676506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CB46603-92AB-B216-98F1-099D8F4332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40EA96-F514-2C2A-B119-F0412FAF3400}"/>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6" name="Footer Placeholder 5">
            <a:extLst>
              <a:ext uri="{FF2B5EF4-FFF2-40B4-BE49-F238E27FC236}">
                <a16:creationId xmlns:a16="http://schemas.microsoft.com/office/drawing/2014/main" id="{9DCBCD5B-2515-AE72-998F-4D295DFA9A3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406DB9-9119-F517-94D0-72B3CB7C2A14}"/>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33624706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C4C60-A743-3DED-B8B9-68E5A1218C0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241C044-5CA6-901A-F4B2-5C792E5611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859B644-EB34-3BF6-1743-86F950735DBC}"/>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5" name="Footer Placeholder 4">
            <a:extLst>
              <a:ext uri="{FF2B5EF4-FFF2-40B4-BE49-F238E27FC236}">
                <a16:creationId xmlns:a16="http://schemas.microsoft.com/office/drawing/2014/main" id="{0FAC116F-AA29-7545-AC8B-2B51022AAB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620B7C7-87CA-F4E8-EDF3-DD22AAC7BB8F}"/>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414616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A63D5A-E382-72A4-20E2-68AE15AECE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D6110F6-A2A1-402B-49B2-D4704B3079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C771BEB-EE4C-2DEC-3447-B30CDDE4FDFA}"/>
              </a:ext>
            </a:extLst>
          </p:cNvPr>
          <p:cNvSpPr>
            <a:spLocks noGrp="1"/>
          </p:cNvSpPr>
          <p:nvPr>
            <p:ph type="dt" sz="half" idx="10"/>
          </p:nvPr>
        </p:nvSpPr>
        <p:spPr/>
        <p:txBody>
          <a:bodyPr/>
          <a:lstStyle/>
          <a:p>
            <a:fld id="{5FE175B6-3748-4C84-BE32-616FC8F942D1}" type="datetimeFigureOut">
              <a:rPr lang="en-AU" smtClean="0"/>
              <a:t>19/10/2026</a:t>
            </a:fld>
            <a:endParaRPr lang="en-AU"/>
          </a:p>
        </p:txBody>
      </p:sp>
      <p:sp>
        <p:nvSpPr>
          <p:cNvPr id="5" name="Footer Placeholder 4">
            <a:extLst>
              <a:ext uri="{FF2B5EF4-FFF2-40B4-BE49-F238E27FC236}">
                <a16:creationId xmlns:a16="http://schemas.microsoft.com/office/drawing/2014/main" id="{060EED14-372C-3BC0-39AE-8FBC9B700E7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5516375-1EC8-9B99-CD52-8FD9A9EFCD93}"/>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21018536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10/19/2026</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83764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57045050"/>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12971492"/>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FB7440-DE22-0C18-B35A-26E9F85631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1B22AE5-CA17-8906-0F37-CF863EDAAF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0056D3E-900A-F146-E288-809BB974EC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E175B6-3748-4C84-BE32-616FC8F942D1}" type="datetimeFigureOut">
              <a:rPr lang="en-AU" smtClean="0"/>
              <a:t>19/10/2026</a:t>
            </a:fld>
            <a:endParaRPr lang="en-AU"/>
          </a:p>
        </p:txBody>
      </p:sp>
      <p:sp>
        <p:nvSpPr>
          <p:cNvPr id="5" name="Footer Placeholder 4">
            <a:extLst>
              <a:ext uri="{FF2B5EF4-FFF2-40B4-BE49-F238E27FC236}">
                <a16:creationId xmlns:a16="http://schemas.microsoft.com/office/drawing/2014/main" id="{56D2423E-7660-D586-7A01-3FA3F7E495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604DCCB7-5101-75E9-401D-DF130726D7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6A9612-E4DD-4525-B11D-3CE12DE00D23}" type="slidenum">
              <a:rPr lang="en-AU" smtClean="0"/>
              <a:t>‹#›</a:t>
            </a:fld>
            <a:endParaRPr lang="en-AU"/>
          </a:p>
        </p:txBody>
      </p:sp>
    </p:spTree>
    <p:extLst>
      <p:ext uri="{BB962C8B-B14F-4D97-AF65-F5344CB8AC3E}">
        <p14:creationId xmlns:p14="http://schemas.microsoft.com/office/powerpoint/2010/main" val="3037784381"/>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CC8A4"/>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10/19/2026</a:t>
            </a:fld>
            <a:endParaRPr lang="en-US" sz="100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842138"/>
      </p:ext>
    </p:extLst>
  </p:cSld>
  <p:clrMap bg1="lt1" tx1="dk1" bg2="lt2" tx2="dk2" accent1="accent1" accent2="accent2" accent3="accent3" accent4="accent4" accent5="accent5" accent6="accent6" hlink="hlink" folHlink="folHlink"/>
  <p:sldLayoutIdLst>
    <p:sldLayoutId id="2147483826" r:id="rId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26.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OByUX1o6puU" TargetMode="External"/><Relationship Id="rId2" Type="http://schemas.openxmlformats.org/officeDocument/2006/relationships/notesSlide" Target="../notesSlides/notesSlide5.xml"/><Relationship Id="rId1" Type="http://schemas.openxmlformats.org/officeDocument/2006/relationships/slideLayout" Target="../slideLayouts/slideLayout3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hyperlink" Target="https://healthinfonet.ecu.edu.au/learn/health-facts/overview-aboriginal-torres-strait-islander-health-status/" TargetMode="External"/><Relationship Id="rId3" Type="http://schemas.openxmlformats.org/officeDocument/2006/relationships/image" Target="../media/image3.sv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hyperlink" Target="https://www.aihw.gov.au/reports/australias-health/social-determinants-of-health" TargetMode="External"/><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hyperlink" Target="https://www.health.gov.au/topics/aboriginal-and-torres-strait-islander-health/status-and-determinants" TargetMode="External"/><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8.xml"/><Relationship Id="rId1" Type="http://schemas.openxmlformats.org/officeDocument/2006/relationships/slideLayout" Target="../slideLayouts/slideLayout19.xml"/><Relationship Id="rId5" Type="http://schemas.openxmlformats.org/officeDocument/2006/relationships/hyperlink" Target="https://mk-engaged.anu.edu.au/ending-racism/checkup/?utm_source=printqr" TargetMode="Externa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4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42.xml"/><Relationship Id="rId4" Type="http://schemas.openxmlformats.org/officeDocument/2006/relationships/image" Target="../media/image26.jpg"/></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4.xml"/><Relationship Id="rId1" Type="http://schemas.openxmlformats.org/officeDocument/2006/relationships/slideLayout" Target="../slideLayouts/slideLayout42.xml"/><Relationship Id="rId4" Type="http://schemas.openxmlformats.org/officeDocument/2006/relationships/image" Target="../media/image26.jpg"/></Relationships>
</file>

<file path=ppt/slides/_rels/slide2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5.xml"/><Relationship Id="rId1" Type="http://schemas.openxmlformats.org/officeDocument/2006/relationships/slideLayout" Target="../slideLayouts/slideLayout4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6.xml"/><Relationship Id="rId1" Type="http://schemas.openxmlformats.org/officeDocument/2006/relationships/slideLayout" Target="../slideLayouts/slideLayout42.xml"/><Relationship Id="rId4" Type="http://schemas.openxmlformats.org/officeDocument/2006/relationships/image" Target="../media/image26.jpg"/></Relationships>
</file>

<file path=ppt/slides/_rels/slide2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42.xml"/><Relationship Id="rId4" Type="http://schemas.openxmlformats.org/officeDocument/2006/relationships/image" Target="../media/image26.jpg"/></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8.xml"/><Relationship Id="rId1" Type="http://schemas.openxmlformats.org/officeDocument/2006/relationships/slideLayout" Target="../slideLayouts/slideLayout42.xml"/><Relationship Id="rId4" Type="http://schemas.openxmlformats.org/officeDocument/2006/relationships/image" Target="../media/image26.jpg"/></Relationships>
</file>

<file path=ppt/slides/_rels/slide3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9.xml"/><Relationship Id="rId1" Type="http://schemas.openxmlformats.org/officeDocument/2006/relationships/slideLayout" Target="../slideLayouts/slideLayout42.xml"/><Relationship Id="rId4" Type="http://schemas.openxmlformats.org/officeDocument/2006/relationships/image" Target="../media/image26.jpg"/></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0.xml"/><Relationship Id="rId1" Type="http://schemas.openxmlformats.org/officeDocument/2006/relationships/slideLayout" Target="../slideLayouts/slideLayout42.xml"/><Relationship Id="rId4" Type="http://schemas.openxmlformats.org/officeDocument/2006/relationships/image" Target="../media/image26.jpg"/></Relationships>
</file>

<file path=ppt/slides/_rels/slide3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1.xml"/><Relationship Id="rId1" Type="http://schemas.openxmlformats.org/officeDocument/2006/relationships/slideLayout" Target="../slideLayouts/slideLayout42.xml"/><Relationship Id="rId5" Type="http://schemas.openxmlformats.org/officeDocument/2006/relationships/image" Target="../media/image28.png"/><Relationship Id="rId4" Type="http://schemas.openxmlformats.org/officeDocument/2006/relationships/image" Target="../media/image26.jpg"/></Relationships>
</file>

<file path=ppt/slides/_rels/slide3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2.xml"/><Relationship Id="rId1" Type="http://schemas.openxmlformats.org/officeDocument/2006/relationships/slideLayout" Target="../slideLayouts/slideLayout42.xml"/><Relationship Id="rId5" Type="http://schemas.openxmlformats.org/officeDocument/2006/relationships/image" Target="../media/image29.png"/><Relationship Id="rId4" Type="http://schemas.openxmlformats.org/officeDocument/2006/relationships/image" Target="../media/image26.jpg"/></Relationships>
</file>

<file path=ppt/slides/_rels/slide3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3.xml"/><Relationship Id="rId1" Type="http://schemas.openxmlformats.org/officeDocument/2006/relationships/slideLayout" Target="../slideLayouts/slideLayout42.xml"/><Relationship Id="rId5" Type="http://schemas.openxmlformats.org/officeDocument/2006/relationships/image" Target="../media/image30.png"/><Relationship Id="rId4" Type="http://schemas.openxmlformats.org/officeDocument/2006/relationships/image" Target="../media/image26.jpg"/></Relationships>
</file>

<file path=ppt/slides/_rels/slide3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4.xml"/><Relationship Id="rId1" Type="http://schemas.openxmlformats.org/officeDocument/2006/relationships/slideLayout" Target="../slideLayouts/slideLayout21.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6.xml"/><Relationship Id="rId1" Type="http://schemas.openxmlformats.org/officeDocument/2006/relationships/slideLayout" Target="../slideLayouts/slideLayout42.xml"/><Relationship Id="rId4" Type="http://schemas.openxmlformats.org/officeDocument/2006/relationships/image" Target="../media/image26.jpg"/></Relationships>
</file>

<file path=ppt/slides/_rels/slide3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7.xml"/><Relationship Id="rId1" Type="http://schemas.openxmlformats.org/officeDocument/2006/relationships/slideLayout" Target="../slideLayouts/slideLayout21.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8.xml"/><Relationship Id="rId1" Type="http://schemas.openxmlformats.org/officeDocument/2006/relationships/slideLayout" Target="../slideLayouts/slideLayout21.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9.xml"/><Relationship Id="rId1" Type="http://schemas.openxmlformats.org/officeDocument/2006/relationships/slideLayout" Target="../slideLayouts/slideLayout21.xml"/><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0.xml"/><Relationship Id="rId1" Type="http://schemas.openxmlformats.org/officeDocument/2006/relationships/slideLayout" Target="../slideLayouts/slideLayout21.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1.xml"/><Relationship Id="rId1" Type="http://schemas.openxmlformats.org/officeDocument/2006/relationships/slideLayout" Target="../slideLayouts/slideLayout21.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26.xml"/><Relationship Id="rId4" Type="http://schemas.openxmlformats.org/officeDocument/2006/relationships/image" Target="../media/image38.jpg"/></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26.xml"/><Relationship Id="rId4" Type="http://schemas.openxmlformats.org/officeDocument/2006/relationships/image" Target="../media/image3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3" name="Freeform 3"/>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4" name="Freeform 4"/>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5" name="TextBox 5"/>
          <p:cNvSpPr txBox="1"/>
          <p:nvPr/>
        </p:nvSpPr>
        <p:spPr>
          <a:xfrm>
            <a:off x="2938391" y="4451669"/>
            <a:ext cx="7485059" cy="450957"/>
          </a:xfrm>
          <a:prstGeom prst="rect">
            <a:avLst/>
          </a:prstGeom>
        </p:spPr>
        <p:txBody>
          <a:bodyPr wrap="square" lIns="0" tIns="0" rIns="0" bIns="0" rtlCol="0" anchor="t">
            <a:spAutoFit/>
          </a:bodyPr>
          <a:lstStyle/>
          <a:p>
            <a:pPr algn="ctr">
              <a:lnSpc>
                <a:spcPts val="3655"/>
              </a:lnSpc>
              <a:spcBef>
                <a:spcPct val="0"/>
              </a:spcBef>
            </a:pPr>
            <a:r>
              <a:rPr lang="en-US" sz="2800" dirty="0">
                <a:solidFill>
                  <a:schemeClr val="accent6">
                    <a:lumMod val="10000"/>
                  </a:schemeClr>
                </a:solidFill>
              </a:rPr>
              <a:t>Week 3 Tutorial:</a:t>
            </a:r>
            <a:endParaRPr lang="en-US" sz="2436" spc="73" dirty="0">
              <a:solidFill>
                <a:srgbClr val="3F3E3A"/>
              </a:solidFill>
              <a:latin typeface="Abstracted Dream"/>
              <a:ea typeface="Abstracted Dream"/>
              <a:cs typeface="Abstracted Dream"/>
              <a:sym typeface="Abstracted Dream"/>
            </a:endParaRPr>
          </a:p>
        </p:txBody>
      </p:sp>
      <p:sp>
        <p:nvSpPr>
          <p:cNvPr id="6" name="Freeform 6"/>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7" name="Freeform 7"/>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sz="1200"/>
          </a:p>
        </p:txBody>
      </p:sp>
      <p:sp>
        <p:nvSpPr>
          <p:cNvPr id="8" name="Freeform 8"/>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endParaRPr lang="en-AU" sz="1200"/>
          </a:p>
        </p:txBody>
      </p:sp>
      <p:sp>
        <p:nvSpPr>
          <p:cNvPr id="10" name="Subtitle 2">
            <a:extLst>
              <a:ext uri="{FF2B5EF4-FFF2-40B4-BE49-F238E27FC236}">
                <a16:creationId xmlns:a16="http://schemas.microsoft.com/office/drawing/2014/main" id="{6D189F5C-2F0C-EF00-E01C-054E37E7A67E}"/>
              </a:ext>
            </a:extLst>
          </p:cNvPr>
          <p:cNvSpPr txBox="1">
            <a:spLocks/>
          </p:cNvSpPr>
          <p:nvPr/>
        </p:nvSpPr>
        <p:spPr>
          <a:xfrm>
            <a:off x="938784" y="1761292"/>
            <a:ext cx="10704576" cy="14932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4000" b="1" dirty="0">
                <a:solidFill>
                  <a:schemeClr val="accent6">
                    <a:lumMod val="10000"/>
                  </a:schemeClr>
                </a:solidFill>
              </a:rPr>
              <a:t>INDG6002 Health and Indigenous Australian Peoples </a:t>
            </a:r>
          </a:p>
          <a:p>
            <a:pPr marL="0" indent="0">
              <a:buNone/>
            </a:pPr>
            <a:endParaRPr lang="en-AU" b="1" dirty="0">
              <a:solidFill>
                <a:schemeClr val="accent6">
                  <a:lumMod val="10000"/>
                </a:schemeClr>
              </a:solidFill>
            </a:endParaRPr>
          </a:p>
          <a:p>
            <a:pPr marL="0" indent="0">
              <a:buNone/>
            </a:pPr>
            <a:endParaRPr lang="en-AU" b="1" dirty="0">
              <a:solidFill>
                <a:schemeClr val="accent6">
                  <a:lumMod val="10000"/>
                </a:schemeClr>
              </a:solidFill>
            </a:endParaRPr>
          </a:p>
          <a:p>
            <a:pPr marL="0" indent="0" algn="ctr">
              <a:buNone/>
            </a:pPr>
            <a:r>
              <a:rPr lang="en-US" sz="3200" b="1" dirty="0">
                <a:solidFill>
                  <a:schemeClr val="accent6">
                    <a:lumMod val="10000"/>
                  </a:schemeClr>
                </a:solidFill>
              </a:rPr>
              <a:t>Social and Cultural Determinants of Health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3" name="Freeform 3"/>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4" name="Freeform 4"/>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6" name="Freeform 6"/>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7" name="Freeform 7"/>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sz="1200"/>
          </a:p>
        </p:txBody>
      </p:sp>
      <p:sp>
        <p:nvSpPr>
          <p:cNvPr id="8" name="Freeform 8"/>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endParaRPr lang="en-AU" sz="1200"/>
          </a:p>
        </p:txBody>
      </p:sp>
      <p:sp>
        <p:nvSpPr>
          <p:cNvPr id="10" name="Title 1">
            <a:extLst>
              <a:ext uri="{FF2B5EF4-FFF2-40B4-BE49-F238E27FC236}">
                <a16:creationId xmlns:a16="http://schemas.microsoft.com/office/drawing/2014/main" id="{95431BCD-EF40-08C3-7BFA-B5154C3632E0}"/>
              </a:ext>
            </a:extLst>
          </p:cNvPr>
          <p:cNvSpPr txBox="1">
            <a:spLocks/>
          </p:cNvSpPr>
          <p:nvPr/>
        </p:nvSpPr>
        <p:spPr>
          <a:xfrm>
            <a:off x="338328" y="873825"/>
            <a:ext cx="10659110"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5400" kern="1200">
                <a:solidFill>
                  <a:schemeClr val="tx2"/>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5400" b="1" i="0" u="none" strike="noStrike" kern="1200" cap="none" spc="0" normalizeH="0" baseline="0" noProof="0">
                <a:ln>
                  <a:noFill/>
                </a:ln>
                <a:solidFill>
                  <a:srgbClr val="171735"/>
                </a:solidFill>
                <a:effectLst/>
                <a:uLnTx/>
                <a:uFillTx/>
                <a:latin typeface="Gill Sans Nova"/>
                <a:ea typeface="+mj-ea"/>
                <a:cs typeface="+mj-cs"/>
              </a:rPr>
              <a:t>Warning</a:t>
            </a:r>
            <a:br>
              <a:rPr kumimoji="0" lang="en-AU" sz="5400" b="0" i="0" u="none" strike="noStrike" kern="1200" cap="none" spc="0" normalizeH="0" baseline="0" noProof="0">
                <a:ln>
                  <a:noFill/>
                </a:ln>
                <a:solidFill>
                  <a:srgbClr val="171735"/>
                </a:solidFill>
                <a:effectLst/>
                <a:uLnTx/>
                <a:uFillTx/>
                <a:latin typeface="Gill Sans Nova"/>
                <a:ea typeface="+mj-ea"/>
                <a:cs typeface="+mj-cs"/>
              </a:rPr>
            </a:br>
            <a:endParaRPr kumimoji="0" lang="en-AU" sz="5400" b="0" i="0" u="none" strike="noStrike" kern="1200" cap="none" spc="0" normalizeH="0" baseline="0" noProof="0" dirty="0">
              <a:ln>
                <a:noFill/>
              </a:ln>
              <a:solidFill>
                <a:srgbClr val="171735"/>
              </a:solidFill>
              <a:effectLst/>
              <a:uLnTx/>
              <a:uFillTx/>
              <a:latin typeface="Gill Sans Nova"/>
              <a:ea typeface="+mj-ea"/>
              <a:cs typeface="+mj-cs"/>
            </a:endParaRPr>
          </a:p>
        </p:txBody>
      </p:sp>
      <p:sp>
        <p:nvSpPr>
          <p:cNvPr id="12" name="TextBox 11">
            <a:extLst>
              <a:ext uri="{FF2B5EF4-FFF2-40B4-BE49-F238E27FC236}">
                <a16:creationId xmlns:a16="http://schemas.microsoft.com/office/drawing/2014/main" id="{29FEFCBB-997C-8B60-A9F8-3F66F4C20F62}"/>
              </a:ext>
            </a:extLst>
          </p:cNvPr>
          <p:cNvSpPr txBox="1"/>
          <p:nvPr/>
        </p:nvSpPr>
        <p:spPr>
          <a:xfrm>
            <a:off x="2364805" y="2262273"/>
            <a:ext cx="7117080" cy="275440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None/>
              <a:tabLst/>
              <a:defRPr/>
            </a:pPr>
            <a:r>
              <a:rPr kumimoji="0" lang="en-AU" sz="3200" b="0" i="0" u="none" strike="noStrike" kern="1200" cap="none" spc="0" normalizeH="0" baseline="0" noProof="0" dirty="0">
                <a:ln>
                  <a:noFill/>
                </a:ln>
                <a:solidFill>
                  <a:srgbClr val="171735"/>
                </a:solidFill>
                <a:effectLst/>
                <a:uLnTx/>
                <a:uFillTx/>
                <a:latin typeface="Aptos" panose="020B0004020202020204" pitchFamily="34" charset="0"/>
                <a:ea typeface="Aptos" panose="020B0004020202020204" pitchFamily="34" charset="0"/>
                <a:cs typeface="Times New Roman" panose="02020603050405020304" pitchFamily="18" charset="0"/>
              </a:rPr>
              <a:t>This presentation may include images, voices, stories, and names of deceased people now resting in the Dreaming that may cause sadness or distress to Aboriginal and Torres Strait Islander students.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6EE3F8-F8A5-39B9-9ED0-B3092B35141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 name="Picture 5" descr="A group of flags with words on them&#10;&#10;AI-generated content may be incorrect.">
            <a:extLst>
              <a:ext uri="{FF2B5EF4-FFF2-40B4-BE49-F238E27FC236}">
                <a16:creationId xmlns:a16="http://schemas.microsoft.com/office/drawing/2014/main" id="{5C4A60C6-6971-B406-E882-9AE24EAD7547}"/>
              </a:ext>
            </a:extLst>
          </p:cNvPr>
          <p:cNvPicPr>
            <a:picLocks noChangeAspect="1"/>
          </p:cNvPicPr>
          <p:nvPr/>
        </p:nvPicPr>
        <p:blipFill>
          <a:blip r:embed="rId3">
            <a:extLst>
              <a:ext uri="{28A0092B-C50C-407E-A947-70E740481C1C}">
                <a14:useLocalDpi xmlns:a14="http://schemas.microsoft.com/office/drawing/2010/main" val="0"/>
              </a:ext>
            </a:extLst>
          </a:blip>
          <a:srcRect l="1599" r="7456" b="-1"/>
          <a:stretch/>
        </p:blipFill>
        <p:spPr>
          <a:xfrm>
            <a:off x="1" y="10"/>
            <a:ext cx="9669642" cy="6857990"/>
          </a:xfrm>
          <a:prstGeom prst="rect">
            <a:avLst/>
          </a:prstGeom>
        </p:spPr>
      </p:pic>
      <p:sp>
        <p:nvSpPr>
          <p:cNvPr id="13" name="Rectangle 1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EBDAD87-AB8D-600E-E124-50E3164FED76}"/>
              </a:ext>
            </a:extLst>
          </p:cNvPr>
          <p:cNvSpPr>
            <a:spLocks noGrp="1"/>
          </p:cNvSpPr>
          <p:nvPr>
            <p:ph type="ctrTitle"/>
          </p:nvPr>
        </p:nvSpPr>
        <p:spPr>
          <a:xfrm>
            <a:off x="8507896" y="365125"/>
            <a:ext cx="2845903" cy="1899912"/>
          </a:xfrm>
        </p:spPr>
        <p:txBody>
          <a:bodyPr vert="horz" lIns="91440" tIns="45720" rIns="91440" bIns="45720" rtlCol="0" anchor="ctr">
            <a:normAutofit/>
          </a:bodyPr>
          <a:lstStyle/>
          <a:p>
            <a:pPr algn="l"/>
            <a:r>
              <a:rPr lang="en-US" sz="4000" dirty="0"/>
              <a:t>Themes</a:t>
            </a:r>
          </a:p>
        </p:txBody>
      </p:sp>
      <p:sp>
        <p:nvSpPr>
          <p:cNvPr id="4" name="TextBox 3">
            <a:extLst>
              <a:ext uri="{FF2B5EF4-FFF2-40B4-BE49-F238E27FC236}">
                <a16:creationId xmlns:a16="http://schemas.microsoft.com/office/drawing/2014/main" id="{AF39F0FD-0CF9-843C-A37F-2891A07D9724}"/>
              </a:ext>
            </a:extLst>
          </p:cNvPr>
          <p:cNvSpPr txBox="1"/>
          <p:nvPr/>
        </p:nvSpPr>
        <p:spPr>
          <a:xfrm>
            <a:off x="7531610" y="2434201"/>
            <a:ext cx="4209816" cy="3742762"/>
          </a:xfrm>
          <a:prstGeom prst="rect">
            <a:avLst/>
          </a:prstGeom>
        </p:spPr>
        <p:txBody>
          <a:bodyPr vert="horz" lIns="91440" tIns="45720" rIns="91440" bIns="45720" rtlCol="0">
            <a:normAutofit/>
          </a:bodyPr>
          <a:lstStyle/>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Cultural and Social determinants of health</a:t>
            </a:r>
          </a:p>
          <a:p>
            <a:pPr marL="0" marR="0" lvl="0" indent="0" algn="l" defTabSz="914400" rtl="0" eaLnBrk="1" fontAlgn="auto" latinLnBrk="0" hangingPunct="1">
              <a:lnSpc>
                <a:spcPct val="15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Strengths-based approaches</a:t>
            </a:r>
          </a:p>
          <a:p>
            <a:pPr marL="0" marR="0" lvl="0" indent="0" algn="l" defTabSz="914400" rtl="0" eaLnBrk="1" fontAlgn="auto" latinLnBrk="0" hangingPunct="1">
              <a:lnSpc>
                <a:spcPct val="15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Institutional / systemic racism</a:t>
            </a:r>
          </a:p>
        </p:txBody>
      </p:sp>
    </p:spTree>
    <p:extLst>
      <p:ext uri="{BB962C8B-B14F-4D97-AF65-F5344CB8AC3E}">
        <p14:creationId xmlns:p14="http://schemas.microsoft.com/office/powerpoint/2010/main" val="3743865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82DB942-2D7C-95C0-8623-5B56726F2C6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A4AF0CFF-5B68-F168-B0F8-595BB308C710}"/>
              </a:ext>
            </a:extLst>
          </p:cNvPr>
          <p:cNvSpPr txBox="1"/>
          <p:nvPr/>
        </p:nvSpPr>
        <p:spPr>
          <a:xfrm>
            <a:off x="6092826" y="3324226"/>
            <a:ext cx="6350" cy="166712"/>
          </a:xfrm>
          <a:prstGeom prst="rect">
            <a:avLst/>
          </a:prstGeom>
        </p:spPr>
        <p:txBody>
          <a:bodyPr lIns="0" tIns="0" rIns="0" bIns="0" rtlCol="0" anchor="t">
            <a:spAutoFit/>
          </a:bodyPr>
          <a:lstStyle/>
          <a:p>
            <a:pPr marL="0" marR="0" lvl="0" indent="0" algn="ctr" defTabSz="609630" rtl="0" eaLnBrk="1" fontAlgn="auto" latinLnBrk="0" hangingPunct="1">
              <a:lnSpc>
                <a:spcPts val="12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Title 1">
            <a:extLst>
              <a:ext uri="{FF2B5EF4-FFF2-40B4-BE49-F238E27FC236}">
                <a16:creationId xmlns:a16="http://schemas.microsoft.com/office/drawing/2014/main" id="{2FFB8457-EB40-A842-E54C-25A1FA78AFF2}"/>
              </a:ext>
            </a:extLst>
          </p:cNvPr>
          <p:cNvSpPr txBox="1">
            <a:spLocks/>
          </p:cNvSpPr>
          <p:nvPr/>
        </p:nvSpPr>
        <p:spPr>
          <a:xfrm>
            <a:off x="211015" y="2174867"/>
            <a:ext cx="2739124" cy="2508266"/>
          </a:xfrm>
          <a:prstGeom prst="rect">
            <a:avLst/>
          </a:prstGeom>
        </p:spPr>
        <p:txBody>
          <a:bodyPr vert="horz" lIns="91440" tIns="45720" rIns="91440" bIns="45720" rtlCol="0" anchor="b">
            <a:normAutofit fontScale="40000" lnSpcReduction="20000"/>
          </a:bodyPr>
          <a:lstStyle>
            <a:lvl1pPr algn="l" defTabSz="914400" rtl="0" eaLnBrk="1" latinLnBrk="0" hangingPunct="1">
              <a:lnSpc>
                <a:spcPct val="90000"/>
              </a:lnSpc>
              <a:spcBef>
                <a:spcPct val="0"/>
              </a:spcBef>
              <a:buNone/>
              <a:defRPr sz="5400" kern="1200">
                <a:solidFill>
                  <a:schemeClr val="tx2"/>
                </a:solidFill>
                <a:latin typeface="+mj-lt"/>
                <a:ea typeface="+mj-ea"/>
                <a:cs typeface="+mj-cs"/>
              </a:defRPr>
            </a:lvl1pPr>
          </a:lstStyle>
          <a:p>
            <a:pPr lvl="0">
              <a:defRPr/>
            </a:pPr>
            <a:r>
              <a:rPr lang="en-AU" sz="5900" b="1" dirty="0">
                <a:solidFill>
                  <a:srgbClr val="9D8D15"/>
                </a:solidFill>
              </a:rPr>
              <a:t>Mapping Module to grass-roots, community-led Indigenous frameworks and approaches</a:t>
            </a:r>
          </a:p>
          <a:p>
            <a:pPr lvl="0">
              <a:defRPr/>
            </a:pPr>
            <a:endParaRPr lang="en-AU" sz="5900" b="1" dirty="0">
              <a:solidFill>
                <a:srgbClr val="9D8D15"/>
              </a:solidFill>
            </a:endParaRPr>
          </a:p>
          <a:p>
            <a:pPr lvl="0">
              <a:defRPr/>
            </a:pPr>
            <a:r>
              <a:rPr lang="en-AU" sz="4400" b="1" dirty="0">
                <a:solidFill>
                  <a:srgbClr val="9D8D15"/>
                </a:solidFill>
              </a:rPr>
              <a:t>The National Aboriginal and Torres Strait Islander Health Plan 2021–2031 </a:t>
            </a:r>
            <a:endParaRPr kumimoji="0" lang="en-AU" sz="4400" b="0" i="0" u="none" strike="noStrike" kern="1200" cap="none" spc="0" normalizeH="0" baseline="0" noProof="0" dirty="0">
              <a:ln>
                <a:noFill/>
              </a:ln>
              <a:solidFill>
                <a:srgbClr val="9D8D15"/>
              </a:solidFill>
              <a:effectLst/>
              <a:uLnTx/>
              <a:uFillTx/>
              <a:latin typeface="Gill Sans Nova"/>
              <a:ea typeface="+mj-ea"/>
              <a:cs typeface="+mj-cs"/>
            </a:endParaRPr>
          </a:p>
        </p:txBody>
      </p:sp>
      <p:pic>
        <p:nvPicPr>
          <p:cNvPr id="8" name="Picture 7">
            <a:extLst>
              <a:ext uri="{FF2B5EF4-FFF2-40B4-BE49-F238E27FC236}">
                <a16:creationId xmlns:a16="http://schemas.microsoft.com/office/drawing/2014/main" id="{B2B02AB3-ABE0-F3F0-AE78-FC96BA686F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1527" y="304068"/>
            <a:ext cx="9060473" cy="6040315"/>
          </a:xfrm>
          <a:prstGeom prst="rect">
            <a:avLst/>
          </a:prstGeom>
        </p:spPr>
      </p:pic>
    </p:spTree>
    <p:extLst>
      <p:ext uri="{BB962C8B-B14F-4D97-AF65-F5344CB8AC3E}">
        <p14:creationId xmlns:p14="http://schemas.microsoft.com/office/powerpoint/2010/main" val="3050086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AEE8D62B-A50D-E711-CAF1-2EAE1CEA28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7C57921-7658-166C-7E6A-53270EE61BE7}"/>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AE68513-BC0B-A43E-74A7-8184A2F1E7A7}"/>
              </a:ext>
            </a:extLst>
          </p:cNvPr>
          <p:cNvSpPr/>
          <p:nvPr/>
        </p:nvSpPr>
        <p:spPr>
          <a:xfrm>
            <a:off x="-722523" y="-444084"/>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50DD5F3E-B9C1-08FE-8CD1-22D3664387B4}"/>
              </a:ext>
            </a:extLst>
          </p:cNvPr>
          <p:cNvSpPr/>
          <p:nvPr/>
        </p:nvSpPr>
        <p:spPr>
          <a:xfrm rot="2700000">
            <a:off x="10845638" y="4443356"/>
            <a:ext cx="1485007" cy="3290875"/>
          </a:xfrm>
          <a:custGeom>
            <a:avLst/>
            <a:gdLst/>
            <a:ahLst/>
            <a:cxnLst/>
            <a:rect l="l" t="t" r="r" b="b"/>
            <a:pathLst>
              <a:path w="2227511" h="4936313">
                <a:moveTo>
                  <a:pt x="0" y="0"/>
                </a:moveTo>
                <a:lnTo>
                  <a:pt x="2227511" y="0"/>
                </a:lnTo>
                <a:lnTo>
                  <a:pt x="2227511" y="4936313"/>
                </a:lnTo>
                <a:lnTo>
                  <a:pt x="0" y="4936313"/>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D87075FA-6E6E-6B5A-FF8F-CF8D7B5206D2}"/>
              </a:ext>
            </a:extLst>
          </p:cNvPr>
          <p:cNvSpPr txBox="1"/>
          <p:nvPr/>
        </p:nvSpPr>
        <p:spPr>
          <a:xfrm>
            <a:off x="6092826" y="3324226"/>
            <a:ext cx="6350" cy="166712"/>
          </a:xfrm>
          <a:prstGeom prst="rect">
            <a:avLst/>
          </a:prstGeom>
        </p:spPr>
        <p:txBody>
          <a:bodyPr lIns="0" tIns="0" rIns="0" bIns="0" rtlCol="0" anchor="t">
            <a:spAutoFit/>
          </a:bodyPr>
          <a:lstStyle/>
          <a:p>
            <a:pPr marL="0" marR="0" lvl="0" indent="0" algn="ctr" defTabSz="609630" rtl="0" eaLnBrk="1" fontAlgn="auto" latinLnBrk="0" hangingPunct="1">
              <a:lnSpc>
                <a:spcPts val="12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Content Placeholder 2">
            <a:extLst>
              <a:ext uri="{FF2B5EF4-FFF2-40B4-BE49-F238E27FC236}">
                <a16:creationId xmlns:a16="http://schemas.microsoft.com/office/drawing/2014/main" id="{5B938BBB-731A-CA55-209B-59AC9CF18BC0}"/>
              </a:ext>
            </a:extLst>
          </p:cNvPr>
          <p:cNvSpPr txBox="1">
            <a:spLocks/>
          </p:cNvSpPr>
          <p:nvPr/>
        </p:nvSpPr>
        <p:spPr>
          <a:xfrm>
            <a:off x="777239" y="2267713"/>
            <a:ext cx="5108187" cy="3909250"/>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None/>
              <a:tabLst/>
              <a:defRPr/>
            </a:pPr>
            <a:r>
              <a:rPr kumimoji="0" lang="en-AU" sz="2400" b="0" i="0" u="none" strike="noStrike" kern="1200" cap="none" spc="0" normalizeH="0" baseline="0" noProof="0" dirty="0">
                <a:ln>
                  <a:noFill/>
                </a:ln>
                <a:solidFill>
                  <a:srgbClr val="171735"/>
                </a:solidFill>
                <a:effectLst/>
                <a:uLnTx/>
                <a:uFillTx/>
                <a:latin typeface="Calibri"/>
                <a:ea typeface="+mn-ea"/>
                <a:cs typeface="+mn-cs"/>
              </a:rPr>
              <a:t>Is a ‘learned’ set of:</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400" b="0" i="0" u="none" strike="noStrike" kern="1200" cap="none" spc="0" normalizeH="0" baseline="0" noProof="0" dirty="0">
                <a:ln>
                  <a:noFill/>
                </a:ln>
                <a:solidFill>
                  <a:srgbClr val="171735"/>
                </a:solidFill>
                <a:effectLst/>
                <a:uLnTx/>
                <a:uFillTx/>
                <a:latin typeface="Calibri"/>
                <a:ea typeface="+mn-ea"/>
                <a:cs typeface="+mn-cs"/>
              </a:rPr>
              <a:t>Beliefs</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400" b="0" i="0" u="none" strike="noStrike" kern="1200" cap="none" spc="0" normalizeH="0" baseline="0" noProof="0" dirty="0">
                <a:ln>
                  <a:noFill/>
                </a:ln>
                <a:solidFill>
                  <a:srgbClr val="171735"/>
                </a:solidFill>
                <a:effectLst/>
                <a:uLnTx/>
                <a:uFillTx/>
                <a:latin typeface="Calibri"/>
                <a:ea typeface="+mn-ea"/>
                <a:cs typeface="+mn-cs"/>
              </a:rPr>
              <a:t>Practices</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400" b="0" i="0" u="none" strike="noStrike" kern="1200" cap="none" spc="0" normalizeH="0" baseline="0" noProof="0" dirty="0">
                <a:ln>
                  <a:noFill/>
                </a:ln>
                <a:solidFill>
                  <a:srgbClr val="171735"/>
                </a:solidFill>
                <a:effectLst/>
                <a:uLnTx/>
                <a:uFillTx/>
                <a:latin typeface="Calibri"/>
                <a:ea typeface="+mn-ea"/>
                <a:cs typeface="+mn-cs"/>
              </a:rPr>
              <a:t>Philosophies</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400" b="0" i="0" u="none" strike="noStrike" kern="1200" cap="none" spc="0" normalizeH="0" baseline="0" noProof="0" dirty="0">
                <a:ln>
                  <a:noFill/>
                </a:ln>
                <a:solidFill>
                  <a:srgbClr val="171735"/>
                </a:solidFill>
                <a:effectLst/>
                <a:uLnTx/>
                <a:uFillTx/>
                <a:latin typeface="Calibri"/>
                <a:ea typeface="+mn-ea"/>
                <a:cs typeface="+mn-cs"/>
              </a:rPr>
              <a:t>Traditions </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400" b="0" i="0" u="none" strike="noStrike" kern="1200" cap="none" spc="0" normalizeH="0" baseline="0" noProof="0" dirty="0">
                <a:ln>
                  <a:noFill/>
                </a:ln>
                <a:solidFill>
                  <a:srgbClr val="171735"/>
                </a:solidFill>
                <a:effectLst/>
                <a:uLnTx/>
                <a:uFillTx/>
                <a:latin typeface="Calibri"/>
                <a:ea typeface="+mn-ea"/>
                <a:cs typeface="+mn-cs"/>
              </a:rPr>
              <a:t>Set of principles</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400" b="0" i="0" u="none" strike="noStrike" kern="1200" cap="none" spc="0" normalizeH="0" baseline="0" noProof="0" dirty="0">
                <a:ln>
                  <a:noFill/>
                </a:ln>
                <a:solidFill>
                  <a:srgbClr val="171735"/>
                </a:solidFill>
                <a:effectLst/>
                <a:uLnTx/>
                <a:uFillTx/>
                <a:latin typeface="Calibri"/>
                <a:ea typeface="+mn-ea"/>
                <a:cs typeface="+mn-cs"/>
              </a:rPr>
              <a:t>Values, and Norms that describe a groups particular way of living …their template or pattern for living as a group</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endParaRPr kumimoji="0" lang="en-AU" sz="1500" b="0" i="0" u="none" strike="noStrike" kern="1200" cap="none" spc="0" normalizeH="0" baseline="0" noProof="0" dirty="0">
              <a:ln>
                <a:noFill/>
              </a:ln>
              <a:solidFill>
                <a:srgbClr val="171735"/>
              </a:solidFill>
              <a:effectLst/>
              <a:uLnTx/>
              <a:uFillTx/>
              <a:latin typeface="Calibri"/>
              <a:ea typeface="+mn-ea"/>
              <a:cs typeface="+mn-cs"/>
            </a:endParaRPr>
          </a:p>
        </p:txBody>
      </p:sp>
      <p:sp>
        <p:nvSpPr>
          <p:cNvPr id="7" name="Title 1">
            <a:extLst>
              <a:ext uri="{FF2B5EF4-FFF2-40B4-BE49-F238E27FC236}">
                <a16:creationId xmlns:a16="http://schemas.microsoft.com/office/drawing/2014/main" id="{11180B1E-CDF8-CEE7-29EF-620C961ECB30}"/>
              </a:ext>
            </a:extLst>
          </p:cNvPr>
          <p:cNvSpPr txBox="1">
            <a:spLocks/>
          </p:cNvSpPr>
          <p:nvPr/>
        </p:nvSpPr>
        <p:spPr>
          <a:xfrm>
            <a:off x="721999" y="681037"/>
            <a:ext cx="4606280" cy="10582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400" b="0" i="0" u="none" strike="noStrike" kern="1200" cap="none" spc="0" normalizeH="0" baseline="0" noProof="0">
                <a:ln>
                  <a:noFill/>
                </a:ln>
                <a:solidFill>
                  <a:srgbClr val="171735"/>
                </a:solidFill>
                <a:effectLst/>
                <a:uLnTx/>
                <a:uFillTx/>
                <a:latin typeface="Gill Sans Nova"/>
                <a:ea typeface="+mj-ea"/>
                <a:cs typeface="+mj-cs"/>
              </a:rPr>
              <a:t>What is culture</a:t>
            </a:r>
            <a:endParaRPr kumimoji="0" lang="en-AU" sz="4400" b="0" i="0" u="none" strike="noStrike" kern="1200" cap="none" spc="0" normalizeH="0" baseline="0" noProof="0" dirty="0">
              <a:ln>
                <a:noFill/>
              </a:ln>
              <a:solidFill>
                <a:srgbClr val="171735"/>
              </a:solidFill>
              <a:effectLst/>
              <a:uLnTx/>
              <a:uFillTx/>
              <a:latin typeface="Gill Sans Nova"/>
              <a:ea typeface="+mj-ea"/>
              <a:cs typeface="+mj-cs"/>
            </a:endParaRPr>
          </a:p>
        </p:txBody>
      </p:sp>
      <p:pic>
        <p:nvPicPr>
          <p:cNvPr id="8" name="Picture 7">
            <a:extLst>
              <a:ext uri="{FF2B5EF4-FFF2-40B4-BE49-F238E27FC236}">
                <a16:creationId xmlns:a16="http://schemas.microsoft.com/office/drawing/2014/main" id="{B79F0A6F-124F-EC09-3CB0-C085ABC695B8}"/>
              </a:ext>
            </a:extLst>
          </p:cNvPr>
          <p:cNvPicPr>
            <a:picLocks noChangeAspect="1"/>
          </p:cNvPicPr>
          <p:nvPr/>
        </p:nvPicPr>
        <p:blipFill>
          <a:blip r:embed="rId5"/>
          <a:srcRect l="10031" r="2242" b="1"/>
          <a:stretch/>
        </p:blipFill>
        <p:spPr>
          <a:xfrm>
            <a:off x="6306574" y="552339"/>
            <a:ext cx="5728174" cy="5728174"/>
          </a:xfrm>
          <a:custGeom>
            <a:avLst/>
            <a:gdLst/>
            <a:ahLst/>
            <a:cxnLst/>
            <a:rect l="l" t="t" r="r" b="b"/>
            <a:pathLst>
              <a:path w="3111160" h="3111160">
                <a:moveTo>
                  <a:pt x="1555580" y="0"/>
                </a:moveTo>
                <a:cubicBezTo>
                  <a:pt x="2414703" y="0"/>
                  <a:pt x="3111160" y="696457"/>
                  <a:pt x="3111160" y="1555580"/>
                </a:cubicBezTo>
                <a:cubicBezTo>
                  <a:pt x="3111160" y="2414703"/>
                  <a:pt x="2414703" y="3111160"/>
                  <a:pt x="1555580" y="3111160"/>
                </a:cubicBezTo>
                <a:cubicBezTo>
                  <a:pt x="696457" y="3111160"/>
                  <a:pt x="0" y="2414703"/>
                  <a:pt x="0" y="1555580"/>
                </a:cubicBezTo>
                <a:cubicBezTo>
                  <a:pt x="0" y="696457"/>
                  <a:pt x="696457" y="0"/>
                  <a:pt x="1555580" y="0"/>
                </a:cubicBezTo>
                <a:close/>
              </a:path>
            </a:pathLst>
          </a:custGeom>
        </p:spPr>
      </p:pic>
    </p:spTree>
    <p:extLst>
      <p:ext uri="{BB962C8B-B14F-4D97-AF65-F5344CB8AC3E}">
        <p14:creationId xmlns:p14="http://schemas.microsoft.com/office/powerpoint/2010/main" val="4128813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8EC8-B955-FE4C-4D46-C808B688B939}"/>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22D74EBD-125A-005B-02DE-C99A6A99297F}"/>
              </a:ext>
            </a:extLst>
          </p:cNvPr>
          <p:cNvSpPr>
            <a:spLocks noGrp="1"/>
          </p:cNvSpPr>
          <p:nvPr>
            <p:ph idx="1"/>
          </p:nvPr>
        </p:nvSpPr>
        <p:spPr/>
        <p:txBody>
          <a:bodyPr/>
          <a:lstStyle/>
          <a:p>
            <a:endParaRPr lang="en-AU"/>
          </a:p>
        </p:txBody>
      </p:sp>
      <p:pic>
        <p:nvPicPr>
          <p:cNvPr id="5" name="Picture 4">
            <a:hlinkClick r:id="rId3"/>
            <a:extLst>
              <a:ext uri="{FF2B5EF4-FFF2-40B4-BE49-F238E27FC236}">
                <a16:creationId xmlns:a16="http://schemas.microsoft.com/office/drawing/2014/main" id="{14D17215-2F98-4D2E-EE91-6FE08881DD31}"/>
              </a:ext>
            </a:extLst>
          </p:cNvPr>
          <p:cNvPicPr>
            <a:picLocks noChangeAspect="1"/>
          </p:cNvPicPr>
          <p:nvPr/>
        </p:nvPicPr>
        <p:blipFill>
          <a:blip r:embed="rId4"/>
          <a:stretch>
            <a:fillRect/>
          </a:stretch>
        </p:blipFill>
        <p:spPr>
          <a:xfrm>
            <a:off x="-217230" y="0"/>
            <a:ext cx="12409230" cy="6857999"/>
          </a:xfrm>
          <a:prstGeom prst="rect">
            <a:avLst/>
          </a:prstGeom>
        </p:spPr>
      </p:pic>
      <p:sp>
        <p:nvSpPr>
          <p:cNvPr id="4" name="TextBox 3">
            <a:extLst>
              <a:ext uri="{FF2B5EF4-FFF2-40B4-BE49-F238E27FC236}">
                <a16:creationId xmlns:a16="http://schemas.microsoft.com/office/drawing/2014/main" id="{C98CB560-F3E9-37EB-CF30-5829AE487DE6}"/>
              </a:ext>
            </a:extLst>
          </p:cNvPr>
          <p:cNvSpPr txBox="1"/>
          <p:nvPr/>
        </p:nvSpPr>
        <p:spPr>
          <a:xfrm>
            <a:off x="2109216" y="6176963"/>
            <a:ext cx="6096000" cy="369332"/>
          </a:xfrm>
          <a:prstGeom prst="rect">
            <a:avLst/>
          </a:prstGeom>
          <a:noFill/>
        </p:spPr>
        <p:txBody>
          <a:bodyPr wrap="square" rtlCol="0">
            <a:spAutoFit/>
          </a:bodyPr>
          <a:lstStyle/>
          <a:p>
            <a:r>
              <a:rPr lang="en-AU" dirty="0">
                <a:hlinkClick r:id="rId3"/>
              </a:rPr>
              <a:t>https://www.youtube.com/watch?v=OByUX1o6puU</a:t>
            </a:r>
            <a:endParaRPr lang="en-AU" dirty="0"/>
          </a:p>
        </p:txBody>
      </p:sp>
    </p:spTree>
    <p:extLst>
      <p:ext uri="{BB962C8B-B14F-4D97-AF65-F5344CB8AC3E}">
        <p14:creationId xmlns:p14="http://schemas.microsoft.com/office/powerpoint/2010/main" val="3708067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3075220">
            <a:off x="-148540" y="-1013342"/>
            <a:ext cx="1190975" cy="4089186"/>
          </a:xfrm>
          <a:custGeom>
            <a:avLst/>
            <a:gdLst/>
            <a:ahLst/>
            <a:cxnLst/>
            <a:rect l="l" t="t" r="r" b="b"/>
            <a:pathLst>
              <a:path w="1786463" h="6133779">
                <a:moveTo>
                  <a:pt x="0" y="0"/>
                </a:moveTo>
                <a:lnTo>
                  <a:pt x="1786463" y="0"/>
                </a:lnTo>
                <a:lnTo>
                  <a:pt x="1786463" y="6133778"/>
                </a:lnTo>
                <a:lnTo>
                  <a:pt x="0" y="6133778"/>
                </a:lnTo>
                <a:lnTo>
                  <a:pt x="0" y="0"/>
                </a:lnTo>
                <a:close/>
              </a:path>
            </a:pathLst>
          </a:custGeom>
          <a:blipFill>
            <a:blip r:embed="rId3"/>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pic>
        <p:nvPicPr>
          <p:cNvPr id="3" name="Picture 2" descr="A diagram of the five steps of self&#10;&#10;Description automatically generated">
            <a:extLst>
              <a:ext uri="{FF2B5EF4-FFF2-40B4-BE49-F238E27FC236}">
                <a16:creationId xmlns:a16="http://schemas.microsoft.com/office/drawing/2014/main" id="{3A350E2C-C61F-BC5E-8CA2-AB4E1FDBED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8165" y="865191"/>
            <a:ext cx="5568662" cy="5512975"/>
          </a:xfrm>
          <a:prstGeom prst="rect">
            <a:avLst/>
          </a:prstGeom>
          <a:effectLst>
            <a:innerShdw blurRad="63500" dist="50800" dir="2700000">
              <a:srgbClr val="CB6845">
                <a:lumMod val="50000"/>
                <a:alpha val="50000"/>
              </a:srgbClr>
            </a:innerShdw>
            <a:softEdge rad="31750"/>
          </a:effectLst>
        </p:spPr>
      </p:pic>
      <p:sp>
        <p:nvSpPr>
          <p:cNvPr id="4" name="TextBox 3">
            <a:extLst>
              <a:ext uri="{FF2B5EF4-FFF2-40B4-BE49-F238E27FC236}">
                <a16:creationId xmlns:a16="http://schemas.microsoft.com/office/drawing/2014/main" id="{DE3FBB95-9503-C823-9B81-059C5E1DF36A}"/>
              </a:ext>
            </a:extLst>
          </p:cNvPr>
          <p:cNvSpPr txBox="1"/>
          <p:nvPr/>
        </p:nvSpPr>
        <p:spPr>
          <a:xfrm>
            <a:off x="3096768" y="280416"/>
            <a:ext cx="6205728" cy="584775"/>
          </a:xfrm>
          <a:prstGeom prst="rect">
            <a:avLst/>
          </a:prstGeom>
          <a:noFill/>
        </p:spPr>
        <p:txBody>
          <a:bodyPr wrap="square" rtlCol="0">
            <a:spAutoFit/>
          </a:bodyPr>
          <a:lstStyle/>
          <a:p>
            <a:r>
              <a:rPr lang="en-AU" sz="3200" dirty="0"/>
              <a:t>Cultural Determinants of Health</a:t>
            </a:r>
          </a:p>
        </p:txBody>
      </p:sp>
      <p:sp>
        <p:nvSpPr>
          <p:cNvPr id="7" name="TextBox 6">
            <a:extLst>
              <a:ext uri="{FF2B5EF4-FFF2-40B4-BE49-F238E27FC236}">
                <a16:creationId xmlns:a16="http://schemas.microsoft.com/office/drawing/2014/main" id="{6BEE0313-D7F5-2D98-A228-B2731BDBE11D}"/>
              </a:ext>
            </a:extLst>
          </p:cNvPr>
          <p:cNvSpPr txBox="1"/>
          <p:nvPr/>
        </p:nvSpPr>
        <p:spPr>
          <a:xfrm>
            <a:off x="420001" y="1648212"/>
            <a:ext cx="4885944" cy="41549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Aptos" panose="02110004020202020204"/>
                <a:ea typeface="+mn-ea"/>
                <a:cs typeface="+mn-cs"/>
              </a:rPr>
              <a:t>“Cultural Determinants originate from and promote a strength-based perspective, acknowledging that stronger connections to culture and Country build stronger individual and collective identities, a sense of self-esteem, resilience, and improved outcomes across the other determinants of health including education, economic stability and community safety.”</a:t>
            </a:r>
          </a:p>
        </p:txBody>
      </p:sp>
      <p:sp>
        <p:nvSpPr>
          <p:cNvPr id="10" name="TextBox 9">
            <a:extLst>
              <a:ext uri="{FF2B5EF4-FFF2-40B4-BE49-F238E27FC236}">
                <a16:creationId xmlns:a16="http://schemas.microsoft.com/office/drawing/2014/main" id="{DD8C8C9E-7BD1-A575-2B06-521DA610740C}"/>
              </a:ext>
            </a:extLst>
          </p:cNvPr>
          <p:cNvSpPr txBox="1"/>
          <p:nvPr/>
        </p:nvSpPr>
        <p:spPr>
          <a:xfrm>
            <a:off x="105173" y="5769403"/>
            <a:ext cx="6864096" cy="523220"/>
          </a:xfrm>
          <a:prstGeom prst="rect">
            <a:avLst/>
          </a:prstGeom>
          <a:noFill/>
        </p:spPr>
        <p:txBody>
          <a:bodyPr wrap="square">
            <a:spAutoFit/>
          </a:bodyPr>
          <a:lstStyle/>
          <a:p>
            <a:r>
              <a:rPr lang="en-US" sz="1400" dirty="0">
                <a:solidFill>
                  <a:schemeClr val="tx1">
                    <a:lumMod val="50000"/>
                  </a:schemeClr>
                </a:solidFill>
              </a:rPr>
              <a:t>Prof. </a:t>
            </a:r>
            <a:r>
              <a:rPr lang="en-US" sz="1400" dirty="0" err="1">
                <a:solidFill>
                  <a:schemeClr val="tx1">
                    <a:lumMod val="50000"/>
                  </a:schemeClr>
                </a:solidFill>
              </a:rPr>
              <a:t>Ngiare</a:t>
            </a:r>
            <a:r>
              <a:rPr lang="en-US" sz="1400" dirty="0">
                <a:solidFill>
                  <a:schemeClr val="tx1">
                    <a:lumMod val="50000"/>
                  </a:schemeClr>
                </a:solidFill>
              </a:rPr>
              <a:t> Brown (undated), cited in The </a:t>
            </a:r>
            <a:r>
              <a:rPr lang="en-US" sz="1400" dirty="0" err="1">
                <a:solidFill>
                  <a:schemeClr val="tx1">
                    <a:lumMod val="50000"/>
                  </a:schemeClr>
                </a:solidFill>
              </a:rPr>
              <a:t>Lowitja</a:t>
            </a:r>
            <a:r>
              <a:rPr lang="en-US" sz="1400" dirty="0">
                <a:solidFill>
                  <a:schemeClr val="tx1">
                    <a:lumMod val="50000"/>
                  </a:schemeClr>
                </a:solidFill>
              </a:rPr>
              <a:t> Institute – Cultural Determinants Roundtable, Melbourne 26th November 2014, </a:t>
            </a:r>
          </a:p>
        </p:txBody>
      </p:sp>
      <p:sp>
        <p:nvSpPr>
          <p:cNvPr id="12" name="TextBox 11">
            <a:extLst>
              <a:ext uri="{FF2B5EF4-FFF2-40B4-BE49-F238E27FC236}">
                <a16:creationId xmlns:a16="http://schemas.microsoft.com/office/drawing/2014/main" id="{87A7326E-E842-8BC7-8D2F-C22EF3A416E6}"/>
              </a:ext>
            </a:extLst>
          </p:cNvPr>
          <p:cNvSpPr txBox="1"/>
          <p:nvPr/>
        </p:nvSpPr>
        <p:spPr>
          <a:xfrm>
            <a:off x="6969269" y="6378166"/>
            <a:ext cx="6864096" cy="276999"/>
          </a:xfrm>
          <a:prstGeom prst="rect">
            <a:avLst/>
          </a:prstGeom>
          <a:noFill/>
        </p:spPr>
        <p:txBody>
          <a:bodyPr wrap="square">
            <a:spAutoFit/>
          </a:bodyPr>
          <a:lstStyle/>
          <a:p>
            <a:r>
              <a:rPr lang="en-AU" sz="1200" dirty="0">
                <a:latin typeface="Calibri" panose="020F0502020204030204" pitchFamily="34" charset="0"/>
                <a:ea typeface="Calibri" panose="020F0502020204030204" pitchFamily="34" charset="0"/>
                <a:cs typeface="Calibri" panose="020F0502020204030204" pitchFamily="34" charset="0"/>
              </a:rPr>
              <a:t>Image: Gee, Dudgeon, Schultz, Hart &amp; Kelly 2014 – Ch 4 – p. 57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321E9-57D1-B49C-BF68-7A2810213E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704DB8-1788-D3AC-C057-91277BE002C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3" name="Freeform 3">
            <a:extLst>
              <a:ext uri="{FF2B5EF4-FFF2-40B4-BE49-F238E27FC236}">
                <a16:creationId xmlns:a16="http://schemas.microsoft.com/office/drawing/2014/main" id="{5433D654-0C7D-8B40-F5D0-8DB6E62CAAB0}"/>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4" name="Freeform 4">
            <a:extLst>
              <a:ext uri="{FF2B5EF4-FFF2-40B4-BE49-F238E27FC236}">
                <a16:creationId xmlns:a16="http://schemas.microsoft.com/office/drawing/2014/main" id="{E4BA1B34-1A73-6419-DD56-BCB2D4795D60}"/>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6" name="Freeform 6">
            <a:extLst>
              <a:ext uri="{FF2B5EF4-FFF2-40B4-BE49-F238E27FC236}">
                <a16:creationId xmlns:a16="http://schemas.microsoft.com/office/drawing/2014/main" id="{7300EC18-D08A-D138-A04B-DBC84AEE3250}"/>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7" name="Freeform 7">
            <a:extLst>
              <a:ext uri="{FF2B5EF4-FFF2-40B4-BE49-F238E27FC236}">
                <a16:creationId xmlns:a16="http://schemas.microsoft.com/office/drawing/2014/main" id="{0364E6B1-C725-E223-36E9-3DD2149A85D6}"/>
              </a:ext>
            </a:extLst>
          </p:cNvPr>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sz="1200"/>
          </a:p>
        </p:txBody>
      </p:sp>
      <p:sp>
        <p:nvSpPr>
          <p:cNvPr id="8" name="Freeform 8">
            <a:extLst>
              <a:ext uri="{FF2B5EF4-FFF2-40B4-BE49-F238E27FC236}">
                <a16:creationId xmlns:a16="http://schemas.microsoft.com/office/drawing/2014/main" id="{D20CE573-D613-4B46-839B-EFF1C4D86351}"/>
              </a:ext>
            </a:extLst>
          </p:cNvPr>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endParaRPr lang="en-AU" sz="1200"/>
          </a:p>
        </p:txBody>
      </p:sp>
      <p:pic>
        <p:nvPicPr>
          <p:cNvPr id="5" name="Picture 4" descr="A ball of yarn on a black surface&#10;&#10;AI-generated content may be incorrect.">
            <a:extLst>
              <a:ext uri="{FF2B5EF4-FFF2-40B4-BE49-F238E27FC236}">
                <a16:creationId xmlns:a16="http://schemas.microsoft.com/office/drawing/2014/main" id="{F243F9E6-D62C-D58A-DE63-E317ACA2771D}"/>
              </a:ext>
            </a:extLst>
          </p:cNvPr>
          <p:cNvPicPr>
            <a:picLocks noChangeAspect="1"/>
          </p:cNvPicPr>
          <p:nvPr/>
        </p:nvPicPr>
        <p:blipFill>
          <a:blip r:embed="rId7">
            <a:extLst>
              <a:ext uri="{28A0092B-C50C-407E-A947-70E740481C1C}">
                <a14:useLocalDpi xmlns:a14="http://schemas.microsoft.com/office/drawing/2010/main" val="0"/>
              </a:ext>
            </a:extLst>
          </a:blip>
          <a:srcRect t="11478" b="10320"/>
          <a:stretch>
            <a:fillRect/>
          </a:stretch>
        </p:blipFill>
        <p:spPr>
          <a:xfrm>
            <a:off x="7437424" y="1876799"/>
            <a:ext cx="4796026" cy="4981201"/>
          </a:xfrm>
          <a:prstGeom prst="rect">
            <a:avLst/>
          </a:prstGeom>
        </p:spPr>
      </p:pic>
      <p:sp>
        <p:nvSpPr>
          <p:cNvPr id="9" name="Title 1">
            <a:extLst>
              <a:ext uri="{FF2B5EF4-FFF2-40B4-BE49-F238E27FC236}">
                <a16:creationId xmlns:a16="http://schemas.microsoft.com/office/drawing/2014/main" id="{67E45888-06F7-2958-BEB7-50A0E238C58F}"/>
              </a:ext>
            </a:extLst>
          </p:cNvPr>
          <p:cNvSpPr txBox="1">
            <a:spLocks/>
          </p:cNvSpPr>
          <p:nvPr/>
        </p:nvSpPr>
        <p:spPr>
          <a:xfrm>
            <a:off x="1602309" y="359969"/>
            <a:ext cx="9144000" cy="1157011"/>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6000" b="0" i="0" u="none" strike="noStrike" kern="1200" cap="none" spc="0" normalizeH="0" baseline="0" noProof="0">
                <a:ln>
                  <a:noFill/>
                </a:ln>
                <a:solidFill>
                  <a:srgbClr val="4C5131"/>
                </a:solidFill>
                <a:effectLst/>
                <a:uLnTx/>
                <a:uFillTx/>
                <a:latin typeface="Aptos Display" panose="02110004020202020204"/>
                <a:ea typeface="+mj-ea"/>
                <a:cs typeface="+mj-cs"/>
              </a:rPr>
              <a:t>Cultural Determinants of health</a:t>
            </a:r>
            <a:endParaRPr kumimoji="0" lang="en-AU" sz="6000" b="0" i="0" u="none" strike="noStrike" kern="1200" cap="none" spc="0" normalizeH="0" baseline="0" noProof="0" dirty="0">
              <a:ln>
                <a:noFill/>
              </a:ln>
              <a:solidFill>
                <a:srgbClr val="4C5131"/>
              </a:solidFill>
              <a:effectLst/>
              <a:uLnTx/>
              <a:uFillTx/>
              <a:latin typeface="Aptos Display" panose="02110004020202020204"/>
              <a:ea typeface="+mj-ea"/>
              <a:cs typeface="+mj-cs"/>
            </a:endParaRPr>
          </a:p>
        </p:txBody>
      </p:sp>
      <p:sp>
        <p:nvSpPr>
          <p:cNvPr id="10" name="TextBox 9">
            <a:extLst>
              <a:ext uri="{FF2B5EF4-FFF2-40B4-BE49-F238E27FC236}">
                <a16:creationId xmlns:a16="http://schemas.microsoft.com/office/drawing/2014/main" id="{C6829168-8B1B-C971-E7ED-F25F65307083}"/>
              </a:ext>
            </a:extLst>
          </p:cNvPr>
          <p:cNvSpPr txBox="1"/>
          <p:nvPr/>
        </p:nvSpPr>
        <p:spPr>
          <a:xfrm>
            <a:off x="1794170" y="1716248"/>
            <a:ext cx="4549140" cy="923330"/>
          </a:xfrm>
          <a:prstGeom prst="rect">
            <a:avLst/>
          </a:prstGeom>
          <a:noFill/>
        </p:spPr>
        <p:txBody>
          <a:bodyPr wrap="square" rtlCol="0">
            <a:spAutoFit/>
          </a:bodyPr>
          <a:lstStyle/>
          <a:p>
            <a:r>
              <a:rPr lang="en-AU" dirty="0"/>
              <a:t>… are the protective factors that support good health, wellbeing , and resilience for Aboriginal &amp; Torres Strait Islander peoples, including:</a:t>
            </a:r>
          </a:p>
        </p:txBody>
      </p:sp>
      <p:sp>
        <p:nvSpPr>
          <p:cNvPr id="11" name="TextBox 10">
            <a:extLst>
              <a:ext uri="{FF2B5EF4-FFF2-40B4-BE49-F238E27FC236}">
                <a16:creationId xmlns:a16="http://schemas.microsoft.com/office/drawing/2014/main" id="{63CBD1DA-FF31-F352-4675-6B048E62BFB4}"/>
              </a:ext>
            </a:extLst>
          </p:cNvPr>
          <p:cNvSpPr txBox="1"/>
          <p:nvPr/>
        </p:nvSpPr>
        <p:spPr>
          <a:xfrm>
            <a:off x="2279582" y="2787262"/>
            <a:ext cx="4549140" cy="2308324"/>
          </a:xfrm>
          <a:prstGeom prst="rect">
            <a:avLst/>
          </a:prstGeom>
          <a:noFill/>
        </p:spPr>
        <p:txBody>
          <a:bodyPr wrap="square" rtlCol="0">
            <a:spAutoFit/>
          </a:bodyPr>
          <a:lstStyle/>
          <a:p>
            <a:pPr marL="285750" indent="-285750" defTabSz="914400">
              <a:buFont typeface="Courier New" panose="02070309020205020404" pitchFamily="49" charset="0"/>
              <a:buChar char="o"/>
            </a:pPr>
            <a:r>
              <a:rPr lang="en-AU" dirty="0">
                <a:solidFill>
                  <a:prstClr val="black"/>
                </a:solidFill>
                <a:latin typeface="Aptos" panose="02110004020202020204"/>
              </a:rPr>
              <a:t>Connection to Country</a:t>
            </a:r>
          </a:p>
          <a:p>
            <a:pPr marL="285750" indent="-285750" defTabSz="914400">
              <a:buFont typeface="Courier New" panose="02070309020205020404" pitchFamily="49" charset="0"/>
              <a:buChar char="o"/>
            </a:pPr>
            <a:r>
              <a:rPr lang="en-AU" dirty="0">
                <a:solidFill>
                  <a:prstClr val="black"/>
                </a:solidFill>
                <a:latin typeface="Aptos" panose="02110004020202020204"/>
              </a:rPr>
              <a:t>Connection to Community</a:t>
            </a:r>
          </a:p>
          <a:p>
            <a:pPr marL="285750" indent="-285750" defTabSz="914400">
              <a:buFont typeface="Courier New" panose="02070309020205020404" pitchFamily="49" charset="0"/>
              <a:buChar char="o"/>
            </a:pPr>
            <a:r>
              <a:rPr lang="en-AU" dirty="0">
                <a:solidFill>
                  <a:prstClr val="black"/>
                </a:solidFill>
                <a:latin typeface="Aptos" panose="02110004020202020204"/>
              </a:rPr>
              <a:t>Identity</a:t>
            </a:r>
          </a:p>
          <a:p>
            <a:pPr marL="285750" indent="-285750" defTabSz="914400">
              <a:buFont typeface="Courier New" panose="02070309020205020404" pitchFamily="49" charset="0"/>
              <a:buChar char="o"/>
            </a:pPr>
            <a:r>
              <a:rPr lang="en-AU" dirty="0">
                <a:solidFill>
                  <a:prstClr val="black"/>
                </a:solidFill>
                <a:latin typeface="Aptos" panose="02110004020202020204"/>
              </a:rPr>
              <a:t>Kinship</a:t>
            </a:r>
          </a:p>
          <a:p>
            <a:pPr marL="285750" indent="-285750" defTabSz="914400">
              <a:buFont typeface="Courier New" panose="02070309020205020404" pitchFamily="49" charset="0"/>
              <a:buChar char="o"/>
            </a:pPr>
            <a:r>
              <a:rPr lang="en-AU" dirty="0">
                <a:solidFill>
                  <a:prstClr val="black"/>
                </a:solidFill>
                <a:latin typeface="Aptos" panose="02110004020202020204"/>
              </a:rPr>
              <a:t>Knowledge and Beliefs</a:t>
            </a:r>
          </a:p>
          <a:p>
            <a:pPr marL="285750" indent="-285750" defTabSz="914400">
              <a:buFont typeface="Courier New" panose="02070309020205020404" pitchFamily="49" charset="0"/>
              <a:buChar char="o"/>
            </a:pPr>
            <a:r>
              <a:rPr lang="en-AU" dirty="0">
                <a:solidFill>
                  <a:prstClr val="black"/>
                </a:solidFill>
                <a:latin typeface="Aptos" panose="02110004020202020204"/>
              </a:rPr>
              <a:t>Language</a:t>
            </a:r>
          </a:p>
          <a:p>
            <a:pPr marL="285750" indent="-285750" defTabSz="914400">
              <a:buFont typeface="Courier New" panose="02070309020205020404" pitchFamily="49" charset="0"/>
              <a:buChar char="o"/>
            </a:pPr>
            <a:r>
              <a:rPr lang="en-AU" dirty="0">
                <a:solidFill>
                  <a:prstClr val="black"/>
                </a:solidFill>
                <a:latin typeface="Aptos" panose="02110004020202020204"/>
              </a:rPr>
              <a:t>Self-determination</a:t>
            </a:r>
          </a:p>
          <a:p>
            <a:pPr marL="285750" indent="-285750" defTabSz="914400">
              <a:buFont typeface="Courier New" panose="02070309020205020404" pitchFamily="49" charset="0"/>
              <a:buChar char="o"/>
            </a:pPr>
            <a:r>
              <a:rPr lang="en-AU" dirty="0">
                <a:solidFill>
                  <a:prstClr val="black"/>
                </a:solidFill>
                <a:latin typeface="Aptos" panose="02110004020202020204"/>
              </a:rPr>
              <a:t>Cultural expression</a:t>
            </a:r>
          </a:p>
        </p:txBody>
      </p:sp>
      <p:sp>
        <p:nvSpPr>
          <p:cNvPr id="12" name="TextBox 11">
            <a:extLst>
              <a:ext uri="{FF2B5EF4-FFF2-40B4-BE49-F238E27FC236}">
                <a16:creationId xmlns:a16="http://schemas.microsoft.com/office/drawing/2014/main" id="{E65D68F6-D5EA-DF82-9CAC-193B86C1E5A6}"/>
              </a:ext>
            </a:extLst>
          </p:cNvPr>
          <p:cNvSpPr txBox="1"/>
          <p:nvPr/>
        </p:nvSpPr>
        <p:spPr>
          <a:xfrm>
            <a:off x="2871123" y="5095586"/>
            <a:ext cx="3957599" cy="338554"/>
          </a:xfrm>
          <a:prstGeom prst="rect">
            <a:avLst/>
          </a:prstGeom>
          <a:noFill/>
        </p:spPr>
        <p:txBody>
          <a:bodyPr wrap="square" rtlCol="0">
            <a:spAutoFit/>
          </a:bodyPr>
          <a:lstStyle/>
          <a:p>
            <a:pPr defTabSz="914400"/>
            <a:r>
              <a:rPr lang="en-AU" sz="1600" dirty="0">
                <a:solidFill>
                  <a:prstClr val="black"/>
                </a:solidFill>
                <a:latin typeface="Calibri" panose="020F0502020204030204" pitchFamily="34" charset="0"/>
                <a:ea typeface="Calibri" panose="020F0502020204030204" pitchFamily="34" charset="0"/>
                <a:cs typeface="Calibri" panose="020F0502020204030204" pitchFamily="34" charset="0"/>
              </a:rPr>
              <a:t>Gee et al, 2014 – Ch 4 – pp. 57-61</a:t>
            </a:r>
          </a:p>
        </p:txBody>
      </p:sp>
    </p:spTree>
    <p:extLst>
      <p:ext uri="{BB962C8B-B14F-4D97-AF65-F5344CB8AC3E}">
        <p14:creationId xmlns:p14="http://schemas.microsoft.com/office/powerpoint/2010/main" val="1546904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897B-D598-A772-E3F7-550D67D810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6FF128-F92D-19AE-492D-69D8E6F5AA5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3" name="Freeform 3">
            <a:extLst>
              <a:ext uri="{FF2B5EF4-FFF2-40B4-BE49-F238E27FC236}">
                <a16:creationId xmlns:a16="http://schemas.microsoft.com/office/drawing/2014/main" id="{333B7B0E-4889-B242-8627-2AEBC8CFB740}"/>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4" name="Freeform 4">
            <a:extLst>
              <a:ext uri="{FF2B5EF4-FFF2-40B4-BE49-F238E27FC236}">
                <a16:creationId xmlns:a16="http://schemas.microsoft.com/office/drawing/2014/main" id="{DBB93CEF-94FF-D761-3C87-FACA98DDF3CF}"/>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6" name="Freeform 6">
            <a:extLst>
              <a:ext uri="{FF2B5EF4-FFF2-40B4-BE49-F238E27FC236}">
                <a16:creationId xmlns:a16="http://schemas.microsoft.com/office/drawing/2014/main" id="{6416E4CE-3BBF-5153-7FD8-69163C314399}"/>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7" name="Freeform 7">
            <a:extLst>
              <a:ext uri="{FF2B5EF4-FFF2-40B4-BE49-F238E27FC236}">
                <a16:creationId xmlns:a16="http://schemas.microsoft.com/office/drawing/2014/main" id="{DEE680A7-C3F6-61BE-F0FF-39BC7582016E}"/>
              </a:ext>
            </a:extLst>
          </p:cNvPr>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sz="1200"/>
          </a:p>
        </p:txBody>
      </p:sp>
      <p:sp>
        <p:nvSpPr>
          <p:cNvPr id="8" name="Freeform 8">
            <a:extLst>
              <a:ext uri="{FF2B5EF4-FFF2-40B4-BE49-F238E27FC236}">
                <a16:creationId xmlns:a16="http://schemas.microsoft.com/office/drawing/2014/main" id="{9A66CD2E-E2EE-5FDF-8A85-B6EDECF1605F}"/>
              </a:ext>
            </a:extLst>
          </p:cNvPr>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endParaRPr lang="en-AU" sz="1200"/>
          </a:p>
        </p:txBody>
      </p:sp>
      <p:pic>
        <p:nvPicPr>
          <p:cNvPr id="5" name="Picture 4">
            <a:extLst>
              <a:ext uri="{FF2B5EF4-FFF2-40B4-BE49-F238E27FC236}">
                <a16:creationId xmlns:a16="http://schemas.microsoft.com/office/drawing/2014/main" id="{2B4CC2E1-4AFB-78A3-6822-1821B92C5A6C}"/>
              </a:ext>
            </a:extLst>
          </p:cNvPr>
          <p:cNvPicPr>
            <a:picLocks noChangeAspect="1"/>
          </p:cNvPicPr>
          <p:nvPr/>
        </p:nvPicPr>
        <p:blipFill>
          <a:blip r:embed="rId7"/>
          <a:srcRect r="2984"/>
          <a:stretch/>
        </p:blipFill>
        <p:spPr>
          <a:xfrm>
            <a:off x="-78308" y="10"/>
            <a:ext cx="617430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0" name="TextBox 9">
            <a:extLst>
              <a:ext uri="{FF2B5EF4-FFF2-40B4-BE49-F238E27FC236}">
                <a16:creationId xmlns:a16="http://schemas.microsoft.com/office/drawing/2014/main" id="{B214D523-D17E-92B6-A8BA-4137B98FF4FE}"/>
              </a:ext>
            </a:extLst>
          </p:cNvPr>
          <p:cNvSpPr txBox="1"/>
          <p:nvPr/>
        </p:nvSpPr>
        <p:spPr>
          <a:xfrm>
            <a:off x="5957487" y="1605706"/>
            <a:ext cx="6638544" cy="1446550"/>
          </a:xfrm>
          <a:prstGeom prst="rect">
            <a:avLst/>
          </a:prstGeom>
          <a:noFill/>
        </p:spPr>
        <p:txBody>
          <a:bodyPr wrap="square">
            <a:spAutoFit/>
          </a:bodyPr>
          <a:lstStyle/>
          <a:p>
            <a:r>
              <a:rPr kumimoji="0" lang="en-AU" sz="4400" b="0" i="0" u="none" strike="noStrike" kern="1200" cap="none" spc="0" normalizeH="0" baseline="0" noProof="0" dirty="0">
                <a:ln>
                  <a:noFill/>
                </a:ln>
                <a:solidFill>
                  <a:prstClr val="black"/>
                </a:solidFill>
                <a:effectLst/>
                <a:uLnTx/>
                <a:uFillTx/>
                <a:latin typeface="Aptos Display" panose="02110004020202020204"/>
                <a:ea typeface="+mj-ea"/>
                <a:cs typeface="+mj-cs"/>
              </a:rPr>
              <a:t>Aboriginal and Torres Strait Islander Health Status</a:t>
            </a:r>
            <a:endParaRPr lang="en-AU" sz="4400" dirty="0"/>
          </a:p>
        </p:txBody>
      </p:sp>
      <p:sp>
        <p:nvSpPr>
          <p:cNvPr id="11" name="TextBox 10">
            <a:extLst>
              <a:ext uri="{FF2B5EF4-FFF2-40B4-BE49-F238E27FC236}">
                <a16:creationId xmlns:a16="http://schemas.microsoft.com/office/drawing/2014/main" id="{2FDBA68A-7B93-7AED-CAB6-F9FFFA9C26E4}"/>
              </a:ext>
            </a:extLst>
          </p:cNvPr>
          <p:cNvSpPr txBox="1"/>
          <p:nvPr/>
        </p:nvSpPr>
        <p:spPr>
          <a:xfrm>
            <a:off x="5659712" y="6321168"/>
            <a:ext cx="6532288" cy="523220"/>
          </a:xfrm>
          <a:prstGeom prst="rect">
            <a:avLst/>
          </a:prstGeom>
          <a:noFill/>
        </p:spPr>
        <p:txBody>
          <a:bodyPr wrap="square" rtlCol="0">
            <a:spAutoFit/>
          </a:bodyPr>
          <a:lstStyle/>
          <a:p>
            <a:r>
              <a:rPr lang="en-AU" sz="1400" dirty="0">
                <a:hlinkClick r:id="rId8"/>
              </a:rPr>
              <a:t>https://healthinfonet.ecu.edu.au/learn/health-facts/overview-aboriginal-torres-strait-islander-health-status/</a:t>
            </a:r>
            <a:endParaRPr lang="en-AU" sz="1400" dirty="0"/>
          </a:p>
        </p:txBody>
      </p:sp>
      <p:sp>
        <p:nvSpPr>
          <p:cNvPr id="13" name="TextBox 12">
            <a:extLst>
              <a:ext uri="{FF2B5EF4-FFF2-40B4-BE49-F238E27FC236}">
                <a16:creationId xmlns:a16="http://schemas.microsoft.com/office/drawing/2014/main" id="{9907B30C-A450-9E0A-186B-2DC65A5BE0DC}"/>
              </a:ext>
            </a:extLst>
          </p:cNvPr>
          <p:cNvSpPr txBox="1"/>
          <p:nvPr/>
        </p:nvSpPr>
        <p:spPr>
          <a:xfrm>
            <a:off x="6402962" y="3112841"/>
            <a:ext cx="5369264" cy="2677656"/>
          </a:xfrm>
          <a:prstGeom prst="rect">
            <a:avLst/>
          </a:prstGeom>
          <a:noFill/>
        </p:spPr>
        <p:txBody>
          <a:bodyPr wrap="square">
            <a:spAutoFit/>
          </a:bodyPr>
          <a:lstStyle/>
          <a:p>
            <a:r>
              <a:rPr lang="en-US" sz="2400" b="1" dirty="0"/>
              <a:t>“Focusing less on the deficit narratives promoted by the way these indicators are framed and more on the positive affirming impacts of cultural determinants, the narrative can shift more towards strengths based understandings of Aboriginal and Torres Strait Islander health.”</a:t>
            </a:r>
            <a:r>
              <a:rPr lang="en-US" b="1" dirty="0"/>
              <a:t> p.12</a:t>
            </a:r>
            <a:endParaRPr lang="en-AU" dirty="0"/>
          </a:p>
        </p:txBody>
      </p:sp>
    </p:spTree>
    <p:extLst>
      <p:ext uri="{BB962C8B-B14F-4D97-AF65-F5344CB8AC3E}">
        <p14:creationId xmlns:p14="http://schemas.microsoft.com/office/powerpoint/2010/main" val="3546033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6B13B-AB8D-3490-5EE2-D28A1EC35CB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F5415C-6149-74F9-CCFB-ECCB2E958CC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3" name="Freeform 3">
            <a:extLst>
              <a:ext uri="{FF2B5EF4-FFF2-40B4-BE49-F238E27FC236}">
                <a16:creationId xmlns:a16="http://schemas.microsoft.com/office/drawing/2014/main" id="{F0F6ECD9-E31C-4771-FB04-5A161BE2CE94}"/>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4" name="Freeform 4">
            <a:extLst>
              <a:ext uri="{FF2B5EF4-FFF2-40B4-BE49-F238E27FC236}">
                <a16:creationId xmlns:a16="http://schemas.microsoft.com/office/drawing/2014/main" id="{0009096A-D870-DF00-1319-97AF56C45178}"/>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6" name="Freeform 6">
            <a:extLst>
              <a:ext uri="{FF2B5EF4-FFF2-40B4-BE49-F238E27FC236}">
                <a16:creationId xmlns:a16="http://schemas.microsoft.com/office/drawing/2014/main" id="{5FF8F7DB-C9AE-25C3-7CD1-CA2B2FCC825E}"/>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9" name="Title 1">
            <a:extLst>
              <a:ext uri="{FF2B5EF4-FFF2-40B4-BE49-F238E27FC236}">
                <a16:creationId xmlns:a16="http://schemas.microsoft.com/office/drawing/2014/main" id="{AF77C6C0-3262-6A9F-DC3E-2B5308F36037}"/>
              </a:ext>
            </a:extLst>
          </p:cNvPr>
          <p:cNvSpPr txBox="1">
            <a:spLocks/>
          </p:cNvSpPr>
          <p:nvPr/>
        </p:nvSpPr>
        <p:spPr>
          <a:xfrm>
            <a:off x="2377285" y="579063"/>
            <a:ext cx="10570210" cy="1500188"/>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54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5400" b="0" i="0" u="none" strike="noStrike" kern="1200" cap="none" spc="0" normalizeH="0" baseline="0" noProof="0" dirty="0">
                <a:ln>
                  <a:noFill/>
                </a:ln>
                <a:solidFill>
                  <a:srgbClr val="171735"/>
                </a:solidFill>
                <a:effectLst/>
                <a:uLnTx/>
                <a:uFillTx/>
                <a:latin typeface="Gill Sans Nova"/>
                <a:ea typeface="+mj-ea"/>
                <a:cs typeface="+mj-cs"/>
              </a:rPr>
              <a:t>Re-cap (Module 1):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5400" b="0" i="0" u="none" strike="noStrike" kern="1200" cap="none" spc="0" normalizeH="0" baseline="0" noProof="0" dirty="0">
                <a:ln>
                  <a:noFill/>
                </a:ln>
                <a:solidFill>
                  <a:srgbClr val="171735"/>
                </a:solidFill>
                <a:effectLst/>
                <a:uLnTx/>
                <a:uFillTx/>
                <a:latin typeface="Gill Sans Nova"/>
                <a:ea typeface="+mj-ea"/>
                <a:cs typeface="+mj-cs"/>
              </a:rPr>
              <a:t>Strengths-based approaches</a:t>
            </a:r>
          </a:p>
        </p:txBody>
      </p:sp>
      <p:sp>
        <p:nvSpPr>
          <p:cNvPr id="11" name="TextBox 10">
            <a:extLst>
              <a:ext uri="{FF2B5EF4-FFF2-40B4-BE49-F238E27FC236}">
                <a16:creationId xmlns:a16="http://schemas.microsoft.com/office/drawing/2014/main" id="{07F1DCC1-00D0-97B5-4723-C9B30838C770}"/>
              </a:ext>
            </a:extLst>
          </p:cNvPr>
          <p:cNvSpPr txBox="1"/>
          <p:nvPr/>
        </p:nvSpPr>
        <p:spPr>
          <a:xfrm>
            <a:off x="2819400" y="2101102"/>
            <a:ext cx="6516624" cy="3385542"/>
          </a:xfrm>
          <a:prstGeom prst="rect">
            <a:avLst/>
          </a:prstGeom>
          <a:noFill/>
        </p:spPr>
        <p:txBody>
          <a:bodyPr wrap="square">
            <a:spAutoFit/>
          </a:bodyPr>
          <a:lstStyle/>
          <a:p>
            <a:pPr marL="342900" indent="-342900">
              <a:spcAft>
                <a:spcPts val="1200"/>
              </a:spcAft>
              <a:buFont typeface="Wingdings" panose="05000000000000000000" pitchFamily="2" charset="2"/>
              <a:buChar char="v"/>
            </a:pPr>
            <a:r>
              <a:rPr lang="en-AU" dirty="0">
                <a:solidFill>
                  <a:srgbClr val="171717"/>
                </a:solidFill>
                <a:latin typeface="Aptos" panose="020B0004020202020204" pitchFamily="34" charset="0"/>
                <a:ea typeface="Aptos" panose="020B0004020202020204" pitchFamily="34" charset="0"/>
                <a:cs typeface="Times New Roman" panose="02020603050405020304" pitchFamily="18" charset="0"/>
              </a:rPr>
              <a:t>    </a:t>
            </a:r>
            <a:r>
              <a:rPr lang="en-AU" sz="1800" dirty="0">
                <a:solidFill>
                  <a:srgbClr val="171717"/>
                </a:solidFill>
                <a:latin typeface="Aptos" panose="020B0004020202020204" pitchFamily="34" charset="0"/>
                <a:ea typeface="Aptos" panose="020B0004020202020204" pitchFamily="34" charset="0"/>
                <a:cs typeface="Times New Roman" panose="02020603050405020304" pitchFamily="18" charset="0"/>
              </a:rPr>
              <a:t>Strength and cultural determinants of health</a:t>
            </a:r>
          </a:p>
          <a:p>
            <a:pPr marL="342900" indent="-342900">
              <a:spcAft>
                <a:spcPts val="1200"/>
              </a:spcAft>
              <a:buFont typeface="Wingdings" panose="05000000000000000000" pitchFamily="2" charset="2"/>
              <a:buChar char="v"/>
            </a:pPr>
            <a:r>
              <a:rPr lang="en-AU" sz="1800" dirty="0">
                <a:latin typeface="Aptos" panose="020B0004020202020204" pitchFamily="34" charset="0"/>
                <a:ea typeface="Aptos" panose="020B0004020202020204" pitchFamily="34" charset="0"/>
                <a:cs typeface="Times New Roman" panose="02020603050405020304" pitchFamily="18" charset="0"/>
              </a:rPr>
              <a:t>    Strength through protective factors</a:t>
            </a:r>
          </a:p>
          <a:p>
            <a:pPr marL="342900" indent="-342900">
              <a:spcAft>
                <a:spcPts val="1200"/>
              </a:spcAft>
              <a:buFont typeface="Wingdings" panose="05000000000000000000" pitchFamily="2" charset="2"/>
              <a:buChar char="v"/>
            </a:pPr>
            <a:r>
              <a:rPr lang="en-AU" sz="1800" dirty="0">
                <a:latin typeface="Aptos" panose="020B0004020202020204" pitchFamily="34" charset="0"/>
                <a:ea typeface="Aptos" panose="020B0004020202020204" pitchFamily="34" charset="0"/>
                <a:cs typeface="Times New Roman" panose="02020603050405020304" pitchFamily="18" charset="0"/>
              </a:rPr>
              <a:t>    Asset-based approaches and resilience</a:t>
            </a:r>
          </a:p>
          <a:p>
            <a:pPr marL="342900" indent="-342900">
              <a:spcAft>
                <a:spcPts val="1200"/>
              </a:spcAft>
              <a:buFont typeface="Wingdings" panose="05000000000000000000" pitchFamily="2" charset="2"/>
              <a:buChar char="v"/>
            </a:pPr>
            <a:r>
              <a:rPr lang="en-AU" sz="1800" dirty="0">
                <a:latin typeface="Aptos" panose="020B0004020202020204" pitchFamily="34" charset="0"/>
                <a:ea typeface="Aptos" panose="020B0004020202020204" pitchFamily="34" charset="0"/>
                <a:cs typeface="Times New Roman" panose="02020603050405020304" pitchFamily="18" charset="0"/>
              </a:rPr>
              <a:t>    Strength through decolonisation</a:t>
            </a:r>
          </a:p>
          <a:p>
            <a:pPr marL="342900" indent="-342900">
              <a:spcAft>
                <a:spcPts val="1200"/>
              </a:spcAft>
              <a:buFont typeface="Wingdings" panose="05000000000000000000" pitchFamily="2" charset="2"/>
              <a:buChar char="v"/>
            </a:pPr>
            <a:r>
              <a:rPr lang="en-AU" sz="1800" dirty="0">
                <a:latin typeface="Aptos" panose="020B0004020202020204" pitchFamily="34" charset="0"/>
                <a:ea typeface="Aptos" panose="020B0004020202020204" pitchFamily="34" charset="0"/>
                <a:cs typeface="Times New Roman" panose="02020603050405020304" pitchFamily="18" charset="0"/>
              </a:rPr>
              <a:t>    Strength as empowerment</a:t>
            </a:r>
          </a:p>
          <a:p>
            <a:pPr marL="342900" indent="-342900">
              <a:spcAft>
                <a:spcPts val="1200"/>
              </a:spcAft>
              <a:buFont typeface="Wingdings" panose="05000000000000000000" pitchFamily="2" charset="2"/>
              <a:buChar char="v"/>
            </a:pPr>
            <a:r>
              <a:rPr lang="en-AU" sz="1800" dirty="0">
                <a:latin typeface="Aptos" panose="020B0004020202020204" pitchFamily="34" charset="0"/>
                <a:ea typeface="Aptos" panose="020B0004020202020204" pitchFamily="34" charset="0"/>
                <a:cs typeface="Times New Roman" panose="02020603050405020304" pitchFamily="18" charset="0"/>
              </a:rPr>
              <a:t>    Strength as ‘Wholistic health and cultural appropriateness’</a:t>
            </a:r>
          </a:p>
          <a:p>
            <a:pPr marL="342900" indent="-342900">
              <a:spcAft>
                <a:spcPts val="1200"/>
              </a:spcAft>
              <a:buFont typeface="Wingdings" panose="05000000000000000000" pitchFamily="2" charset="2"/>
              <a:buChar char="v"/>
            </a:pPr>
            <a:r>
              <a:rPr lang="en-AU" sz="1800" dirty="0">
                <a:latin typeface="Aptos" panose="020B0004020202020204" pitchFamily="34" charset="0"/>
                <a:ea typeface="Aptos" panose="020B0004020202020204" pitchFamily="34" charset="0"/>
                <a:cs typeface="Times New Roman" panose="02020603050405020304" pitchFamily="18" charset="0"/>
              </a:rPr>
              <a:t>    Strengths-based counselling approaches</a:t>
            </a:r>
          </a:p>
          <a:p>
            <a:pPr marL="342900" indent="-342900">
              <a:spcAft>
                <a:spcPts val="1200"/>
              </a:spcAft>
              <a:buFont typeface="Wingdings" panose="05000000000000000000" pitchFamily="2" charset="2"/>
              <a:buChar char="v"/>
            </a:pPr>
            <a:r>
              <a:rPr lang="en-AU" sz="1800" dirty="0">
                <a:latin typeface="Aptos" panose="020B0004020202020204" pitchFamily="34" charset="0"/>
                <a:ea typeface="Aptos" panose="020B0004020202020204" pitchFamily="34" charset="0"/>
                <a:cs typeface="Times New Roman" panose="02020603050405020304" pitchFamily="18" charset="0"/>
              </a:rPr>
              <a:t>    Strength, wellness, and wellbeing</a:t>
            </a:r>
            <a:endParaRPr lang="en-AU" dirty="0"/>
          </a:p>
        </p:txBody>
      </p:sp>
    </p:spTree>
    <p:extLst>
      <p:ext uri="{BB962C8B-B14F-4D97-AF65-F5344CB8AC3E}">
        <p14:creationId xmlns:p14="http://schemas.microsoft.com/office/powerpoint/2010/main" val="3561899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83DD-283E-A71C-5666-5C58263E06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1FFD8E4-E2BD-3112-90E4-40DBF756DA38}"/>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3" name="Freeform 3">
            <a:extLst>
              <a:ext uri="{FF2B5EF4-FFF2-40B4-BE49-F238E27FC236}">
                <a16:creationId xmlns:a16="http://schemas.microsoft.com/office/drawing/2014/main" id="{C92FF2DA-92A4-9698-2B25-689DC02A99E5}"/>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4" name="Freeform 4">
            <a:extLst>
              <a:ext uri="{FF2B5EF4-FFF2-40B4-BE49-F238E27FC236}">
                <a16:creationId xmlns:a16="http://schemas.microsoft.com/office/drawing/2014/main" id="{AE987B8B-1E95-A84C-7BE0-2D304E716BC9}"/>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6" name="Freeform 6">
            <a:extLst>
              <a:ext uri="{FF2B5EF4-FFF2-40B4-BE49-F238E27FC236}">
                <a16:creationId xmlns:a16="http://schemas.microsoft.com/office/drawing/2014/main" id="{BFD4F7EA-F3C4-2363-7A33-08AB58E02933}"/>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sz="1200"/>
          </a:p>
        </p:txBody>
      </p:sp>
      <p:sp>
        <p:nvSpPr>
          <p:cNvPr id="9" name="Title 1">
            <a:extLst>
              <a:ext uri="{FF2B5EF4-FFF2-40B4-BE49-F238E27FC236}">
                <a16:creationId xmlns:a16="http://schemas.microsoft.com/office/drawing/2014/main" id="{11AEAAF3-8C90-0F18-5F7F-8A612FF6E13D}"/>
              </a:ext>
            </a:extLst>
          </p:cNvPr>
          <p:cNvSpPr txBox="1">
            <a:spLocks/>
          </p:cNvSpPr>
          <p:nvPr/>
        </p:nvSpPr>
        <p:spPr>
          <a:xfrm>
            <a:off x="5401839" y="420800"/>
            <a:ext cx="6142461" cy="17950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kern="1200">
                <a:solidFill>
                  <a:schemeClr val="tx2"/>
                </a:solidFill>
                <a:latin typeface="+mj-lt"/>
                <a:ea typeface="+mj-ea"/>
                <a:cs typeface="+mj-cs"/>
              </a:defRPr>
            </a:lvl1pPr>
          </a:lstStyle>
          <a:p>
            <a:pPr lvl="0" algn="ctr">
              <a:defRPr/>
            </a:pPr>
            <a:r>
              <a:rPr lang="en-AU" b="1" dirty="0"/>
              <a:t>Akeyulerre Healing Centre </a:t>
            </a:r>
            <a:endParaRPr kumimoji="0" lang="en-AU" sz="5400" b="0" i="0" u="none" strike="noStrike" kern="1200" cap="none" spc="0" normalizeH="0" baseline="0" noProof="0" dirty="0">
              <a:ln>
                <a:noFill/>
              </a:ln>
              <a:solidFill>
                <a:srgbClr val="171735"/>
              </a:solidFill>
              <a:effectLst/>
              <a:uLnTx/>
              <a:uFillTx/>
              <a:latin typeface="Angsana New" panose="02020603050405020304" pitchFamily="18" charset="-34"/>
              <a:cs typeface="Angsana New" panose="02020603050405020304" pitchFamily="18" charset="-34"/>
            </a:endParaRPr>
          </a:p>
        </p:txBody>
      </p:sp>
      <p:sp>
        <p:nvSpPr>
          <p:cNvPr id="11" name="TextBox 10">
            <a:extLst>
              <a:ext uri="{FF2B5EF4-FFF2-40B4-BE49-F238E27FC236}">
                <a16:creationId xmlns:a16="http://schemas.microsoft.com/office/drawing/2014/main" id="{9F51FC1F-12B4-B02F-597E-98F9E1603460}"/>
              </a:ext>
            </a:extLst>
          </p:cNvPr>
          <p:cNvSpPr txBox="1"/>
          <p:nvPr/>
        </p:nvSpPr>
        <p:spPr>
          <a:xfrm>
            <a:off x="1060939" y="2657873"/>
            <a:ext cx="4068739" cy="3139321"/>
          </a:xfrm>
          <a:prstGeom prst="rect">
            <a:avLst/>
          </a:prstGeom>
          <a:noFill/>
        </p:spPr>
        <p:txBody>
          <a:bodyPr wrap="square">
            <a:spAutoFit/>
          </a:bodyPr>
          <a:lstStyle/>
          <a:p>
            <a:pPr lvl="0"/>
            <a:r>
              <a:rPr lang="en-AU" b="1" dirty="0"/>
              <a:t>What happens:</a:t>
            </a:r>
          </a:p>
          <a:p>
            <a:pPr marL="285750" lvl="0" indent="-285750">
              <a:buFont typeface="Wingdings" panose="05000000000000000000" pitchFamily="2" charset="2"/>
              <a:buChar char="Ø"/>
            </a:pPr>
            <a:r>
              <a:rPr lang="en-AU" dirty="0"/>
              <a:t>Aboriginal Elders created a healing centre in Alice Springs.</a:t>
            </a:r>
          </a:p>
          <a:p>
            <a:pPr marL="285750" lvl="0" indent="-285750">
              <a:buFont typeface="Wingdings" panose="05000000000000000000" pitchFamily="2" charset="2"/>
              <a:buChar char="Ø"/>
            </a:pPr>
            <a:r>
              <a:rPr lang="en-AU" dirty="0"/>
              <a:t>Activities include bush medicine making, trips to Country, language teaching, and storytelling.</a:t>
            </a:r>
          </a:p>
          <a:p>
            <a:pPr marL="285750" lvl="0" indent="-285750">
              <a:buFont typeface="Wingdings" panose="05000000000000000000" pitchFamily="2" charset="2"/>
              <a:buChar char="Ø"/>
            </a:pPr>
            <a:r>
              <a:rPr lang="en-AU" dirty="0"/>
              <a:t>Families and kin are involved in healing.</a:t>
            </a:r>
          </a:p>
          <a:p>
            <a:pPr marL="285750" lvl="0" indent="-285750">
              <a:buFont typeface="Wingdings" panose="05000000000000000000" pitchFamily="2" charset="2"/>
              <a:buChar char="Ø"/>
            </a:pPr>
            <a:r>
              <a:rPr lang="en-AU" dirty="0"/>
              <a:t>Decisions are made by the community (community‑controlled).</a:t>
            </a:r>
          </a:p>
          <a:p>
            <a:pPr marL="285750" lvl="0" indent="-285750">
              <a:buFont typeface="Wingdings" panose="05000000000000000000" pitchFamily="2" charset="2"/>
              <a:buChar char="Ø"/>
            </a:pPr>
            <a:r>
              <a:rPr lang="en-AU" dirty="0"/>
              <a:t>Culture is treated as medicine.</a:t>
            </a:r>
          </a:p>
          <a:p>
            <a:pPr>
              <a:spcAft>
                <a:spcPts val="1200"/>
              </a:spcAft>
            </a:pPr>
            <a:endParaRPr lang="en-AU" dirty="0"/>
          </a:p>
        </p:txBody>
      </p:sp>
      <p:sp>
        <p:nvSpPr>
          <p:cNvPr id="5" name="TextBox 4">
            <a:extLst>
              <a:ext uri="{FF2B5EF4-FFF2-40B4-BE49-F238E27FC236}">
                <a16:creationId xmlns:a16="http://schemas.microsoft.com/office/drawing/2014/main" id="{B21996C6-9769-25F0-A06E-93A2C7334535}"/>
              </a:ext>
            </a:extLst>
          </p:cNvPr>
          <p:cNvSpPr txBox="1"/>
          <p:nvPr/>
        </p:nvSpPr>
        <p:spPr>
          <a:xfrm>
            <a:off x="6471138" y="2453054"/>
            <a:ext cx="4528039" cy="4247317"/>
          </a:xfrm>
          <a:prstGeom prst="rect">
            <a:avLst/>
          </a:prstGeom>
          <a:noFill/>
        </p:spPr>
        <p:txBody>
          <a:bodyPr wrap="square" rtlCol="0">
            <a:spAutoFit/>
          </a:bodyPr>
          <a:lstStyle/>
          <a:p>
            <a:pPr lvl="0"/>
            <a:r>
              <a:rPr lang="en-AU" b="1" dirty="0"/>
              <a:t>Why it matters:</a:t>
            </a:r>
          </a:p>
          <a:p>
            <a:pPr marL="285750" lvl="0" indent="-285750">
              <a:buFont typeface="Wingdings" panose="05000000000000000000" pitchFamily="2" charset="2"/>
              <a:buChar char="Ø"/>
            </a:pPr>
            <a:r>
              <a:rPr lang="en-AU" b="1" dirty="0"/>
              <a:t>Cultural determinants:</a:t>
            </a:r>
            <a:r>
              <a:rPr lang="en-AU" dirty="0"/>
              <a:t> Culture, Country, language, kinship, identity.</a:t>
            </a:r>
          </a:p>
          <a:p>
            <a:pPr marL="285750" lvl="0" indent="-285750">
              <a:buFont typeface="Wingdings" panose="05000000000000000000" pitchFamily="2" charset="2"/>
              <a:buChar char="Ø"/>
            </a:pPr>
            <a:r>
              <a:rPr lang="en-AU" b="1" dirty="0"/>
              <a:t>Strengths‑based practice:</a:t>
            </a:r>
            <a:r>
              <a:rPr lang="en-AU" dirty="0"/>
              <a:t> Focus on resilience, pride, and cultural continuity.</a:t>
            </a:r>
          </a:p>
          <a:p>
            <a:pPr marL="285750" lvl="0" indent="-285750">
              <a:buFont typeface="Wingdings" panose="05000000000000000000" pitchFamily="2" charset="2"/>
              <a:buChar char="Ø"/>
            </a:pPr>
            <a:r>
              <a:rPr lang="en-AU" b="1" dirty="0"/>
              <a:t>SEWB:</a:t>
            </a:r>
            <a:r>
              <a:rPr lang="en-AU" dirty="0"/>
              <a:t> Supports spirit, mind, body, family, community, and Country.</a:t>
            </a:r>
          </a:p>
          <a:p>
            <a:pPr marL="285750" lvl="0" indent="-285750">
              <a:buFont typeface="Wingdings" panose="05000000000000000000" pitchFamily="2" charset="2"/>
              <a:buChar char="Ø"/>
            </a:pPr>
            <a:r>
              <a:rPr lang="en-AU" b="1" dirty="0"/>
              <a:t>Community governance:</a:t>
            </a:r>
            <a:r>
              <a:rPr lang="en-AU" dirty="0"/>
              <a:t> Elders lead and decide.</a:t>
            </a:r>
          </a:p>
          <a:p>
            <a:pPr marL="285750" lvl="0" indent="-285750">
              <a:buFont typeface="Wingdings" panose="05000000000000000000" pitchFamily="2" charset="2"/>
              <a:buChar char="Ø"/>
            </a:pPr>
            <a:r>
              <a:rPr lang="en-AU" b="1" dirty="0"/>
              <a:t>Holistic wellbeing:</a:t>
            </a:r>
            <a:r>
              <a:rPr lang="en-AU" dirty="0"/>
              <a:t> Culture improves emotional, spiritual, and social health.</a:t>
            </a:r>
          </a:p>
          <a:p>
            <a:pPr marL="285750" lvl="0" indent="-285750">
              <a:buFont typeface="Wingdings" panose="05000000000000000000" pitchFamily="2" charset="2"/>
              <a:buChar char="Ø"/>
            </a:pPr>
            <a:r>
              <a:rPr lang="en-AU" b="1" dirty="0"/>
              <a:t>Contrast with deficit models:</a:t>
            </a:r>
            <a:r>
              <a:rPr lang="en-AU" dirty="0"/>
              <a:t> Moves away from “problems” to cultural strengths.</a:t>
            </a:r>
          </a:p>
          <a:p>
            <a:pPr lvl="0"/>
            <a:endParaRPr lang="en-AU" dirty="0"/>
          </a:p>
          <a:p>
            <a:endParaRPr lang="en-AU" dirty="0"/>
          </a:p>
        </p:txBody>
      </p:sp>
      <p:pic>
        <p:nvPicPr>
          <p:cNvPr id="8" name="Picture 7">
            <a:extLst>
              <a:ext uri="{FF2B5EF4-FFF2-40B4-BE49-F238E27FC236}">
                <a16:creationId xmlns:a16="http://schemas.microsoft.com/office/drawing/2014/main" id="{BFAF5ED6-D3C1-3E39-58AC-FD683434EAE7}"/>
              </a:ext>
            </a:extLst>
          </p:cNvPr>
          <p:cNvPicPr>
            <a:picLocks noChangeAspect="1"/>
          </p:cNvPicPr>
          <p:nvPr/>
        </p:nvPicPr>
        <p:blipFill>
          <a:blip r:embed="rId5"/>
          <a:stretch>
            <a:fillRect/>
          </a:stretch>
        </p:blipFill>
        <p:spPr>
          <a:xfrm>
            <a:off x="-61115" y="-31694"/>
            <a:ext cx="5076092" cy="2438025"/>
          </a:xfrm>
          <a:prstGeom prst="rect">
            <a:avLst/>
          </a:prstGeom>
        </p:spPr>
      </p:pic>
      <p:sp>
        <p:nvSpPr>
          <p:cNvPr id="12" name="TextBox 11">
            <a:extLst>
              <a:ext uri="{FF2B5EF4-FFF2-40B4-BE49-F238E27FC236}">
                <a16:creationId xmlns:a16="http://schemas.microsoft.com/office/drawing/2014/main" id="{4162D7BB-AFA3-C6B3-CFBB-AEA266112D9B}"/>
              </a:ext>
            </a:extLst>
          </p:cNvPr>
          <p:cNvSpPr txBox="1"/>
          <p:nvPr/>
        </p:nvSpPr>
        <p:spPr>
          <a:xfrm>
            <a:off x="1118040" y="6331039"/>
            <a:ext cx="6519496" cy="369332"/>
          </a:xfrm>
          <a:prstGeom prst="rect">
            <a:avLst/>
          </a:prstGeom>
          <a:noFill/>
        </p:spPr>
        <p:txBody>
          <a:bodyPr wrap="square">
            <a:spAutoFit/>
          </a:bodyPr>
          <a:lstStyle/>
          <a:p>
            <a:r>
              <a:rPr lang="en-AU" dirty="0"/>
              <a:t>https://www.akeyulerre.org.au/</a:t>
            </a:r>
          </a:p>
        </p:txBody>
      </p:sp>
    </p:spTree>
    <p:extLst>
      <p:ext uri="{BB962C8B-B14F-4D97-AF65-F5344CB8AC3E}">
        <p14:creationId xmlns:p14="http://schemas.microsoft.com/office/powerpoint/2010/main" val="3157197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EED5F-8287-ED59-AEFF-516CEF58162E}"/>
            </a:ext>
          </a:extLst>
        </p:cNvPr>
        <p:cNvGrpSpPr/>
        <p:nvPr/>
      </p:nvGrpSpPr>
      <p:grpSpPr>
        <a:xfrm>
          <a:off x="0" y="0"/>
          <a:ext cx="0" cy="0"/>
          <a:chOff x="0" y="0"/>
          <a:chExt cx="0" cy="0"/>
        </a:xfrm>
      </p:grpSpPr>
      <p:pic>
        <p:nvPicPr>
          <p:cNvPr id="5" name="Picture 4" descr="A river with trees around it&#10;&#10;AI-generated content may be incorrect.">
            <a:extLst>
              <a:ext uri="{FF2B5EF4-FFF2-40B4-BE49-F238E27FC236}">
                <a16:creationId xmlns:a16="http://schemas.microsoft.com/office/drawing/2014/main" id="{92D8A6A7-46CD-AED3-B3D2-F4DBB8871286}"/>
              </a:ext>
            </a:extLst>
          </p:cNvPr>
          <p:cNvPicPr>
            <a:picLocks noChangeAspect="1"/>
          </p:cNvPicPr>
          <p:nvPr/>
        </p:nvPicPr>
        <p:blipFill>
          <a:blip r:embed="rId3">
            <a:extLst>
              <a:ext uri="{28A0092B-C50C-407E-A947-70E740481C1C}">
                <a14:useLocalDpi xmlns:a14="http://schemas.microsoft.com/office/drawing/2010/main" val="0"/>
              </a:ext>
            </a:extLst>
          </a:blip>
          <a:srcRect l="801" r="20008" b="-3"/>
          <a:stretch>
            <a:fillRect/>
          </a:stretch>
        </p:blipFill>
        <p:spPr>
          <a:xfrm>
            <a:off x="247650" y="1825625"/>
            <a:ext cx="5181600" cy="4351338"/>
          </a:xfrm>
          <a:prstGeom prst="rect">
            <a:avLst/>
          </a:prstGeom>
          <a:noFill/>
        </p:spPr>
      </p:pic>
      <p:sp>
        <p:nvSpPr>
          <p:cNvPr id="20" name="Content Placeholder 2">
            <a:extLst>
              <a:ext uri="{FF2B5EF4-FFF2-40B4-BE49-F238E27FC236}">
                <a16:creationId xmlns:a16="http://schemas.microsoft.com/office/drawing/2014/main" id="{B1E6BCDC-0474-0777-976F-BD51B1EAC949}"/>
              </a:ext>
            </a:extLst>
          </p:cNvPr>
          <p:cNvSpPr>
            <a:spLocks noGrp="1"/>
          </p:cNvSpPr>
          <p:nvPr>
            <p:ph sz="half" idx="2"/>
          </p:nvPr>
        </p:nvSpPr>
        <p:spPr>
          <a:xfrm>
            <a:off x="6172200" y="1825625"/>
            <a:ext cx="5181600" cy="4351338"/>
          </a:xfrm>
        </p:spPr>
        <p:txBody>
          <a:bodyPr>
            <a:normAutofit lnSpcReduction="10000"/>
          </a:bodyPr>
          <a:lstStyle/>
          <a:p>
            <a:pPr lvl="0"/>
            <a:r>
              <a:rPr lang="en-AU" dirty="0"/>
              <a:t>Identify key cultural determinants of health.</a:t>
            </a:r>
          </a:p>
          <a:p>
            <a:pPr lvl="0"/>
            <a:r>
              <a:rPr lang="en-AU" dirty="0"/>
              <a:t>Reflect on how these determinants intersect with clinical and community health practice.</a:t>
            </a:r>
          </a:p>
          <a:p>
            <a:pPr lvl="0"/>
            <a:r>
              <a:rPr lang="en-AU" dirty="0"/>
              <a:t>Explore culturally safe and responsive approaches to health care.</a:t>
            </a:r>
          </a:p>
          <a:p>
            <a:r>
              <a:rPr lang="en-AU" dirty="0"/>
              <a:t>Collaborate across disciplines to propose culturally safety health strategies.</a:t>
            </a:r>
            <a:endParaRPr lang="en-US" dirty="0"/>
          </a:p>
        </p:txBody>
      </p:sp>
      <p:sp>
        <p:nvSpPr>
          <p:cNvPr id="7" name="Title 1">
            <a:extLst>
              <a:ext uri="{FF2B5EF4-FFF2-40B4-BE49-F238E27FC236}">
                <a16:creationId xmlns:a16="http://schemas.microsoft.com/office/drawing/2014/main" id="{4AAF2A9E-5AF6-36C6-1D5E-1E5BDF41AF3B}"/>
              </a:ext>
            </a:extLst>
          </p:cNvPr>
          <p:cNvSpPr txBox="1">
            <a:spLocks/>
          </p:cNvSpPr>
          <p:nvPr/>
        </p:nvSpPr>
        <p:spPr>
          <a:xfrm>
            <a:off x="729423" y="342709"/>
            <a:ext cx="10777729" cy="676656"/>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2400" b="1" kern="1200" dirty="0">
                <a:latin typeface="+mj-lt"/>
                <a:ea typeface="+mj-ea"/>
                <a:cs typeface="+mj-cs"/>
              </a:rPr>
              <a:t>Activity: Listening to Country: Cultural Determinants in Practice</a:t>
            </a:r>
          </a:p>
        </p:txBody>
      </p:sp>
    </p:spTree>
    <p:extLst>
      <p:ext uri="{BB962C8B-B14F-4D97-AF65-F5344CB8AC3E}">
        <p14:creationId xmlns:p14="http://schemas.microsoft.com/office/powerpoint/2010/main" val="525854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9CE58-B5FE-4FEF-A9A0-0388353824A9}"/>
            </a:ext>
          </a:extLst>
        </p:cNvPr>
        <p:cNvGrpSpPr/>
        <p:nvPr/>
      </p:nvGrpSpPr>
      <p:grpSpPr>
        <a:xfrm>
          <a:off x="0" y="0"/>
          <a:ext cx="0" cy="0"/>
          <a:chOff x="0" y="0"/>
          <a:chExt cx="0" cy="0"/>
        </a:xfrm>
      </p:grpSpPr>
      <p:pic>
        <p:nvPicPr>
          <p:cNvPr id="3" name="Picture 2" descr="A diagram of the self&#10;&#10;AI-generated content may be incorrect.">
            <a:extLst>
              <a:ext uri="{FF2B5EF4-FFF2-40B4-BE49-F238E27FC236}">
                <a16:creationId xmlns:a16="http://schemas.microsoft.com/office/drawing/2014/main" id="{1191FE76-9853-5C15-EE2B-A47E8AC0BF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927273" cy="6858000"/>
          </a:xfrm>
          <a:prstGeom prst="rect">
            <a:avLst/>
          </a:prstGeom>
          <a:effectLst>
            <a:softEdge rad="558800"/>
          </a:effectLst>
        </p:spPr>
      </p:pic>
      <p:sp>
        <p:nvSpPr>
          <p:cNvPr id="20" name="Content Placeholder 2">
            <a:extLst>
              <a:ext uri="{FF2B5EF4-FFF2-40B4-BE49-F238E27FC236}">
                <a16:creationId xmlns:a16="http://schemas.microsoft.com/office/drawing/2014/main" id="{82F801CB-D812-475D-ED84-B253BE1B3406}"/>
              </a:ext>
            </a:extLst>
          </p:cNvPr>
          <p:cNvSpPr>
            <a:spLocks noGrp="1"/>
          </p:cNvSpPr>
          <p:nvPr>
            <p:ph sz="half" idx="2"/>
          </p:nvPr>
        </p:nvSpPr>
        <p:spPr>
          <a:xfrm>
            <a:off x="6586538" y="400050"/>
            <a:ext cx="5381624" cy="5819775"/>
          </a:xfrm>
        </p:spPr>
        <p:txBody>
          <a:bodyPr>
            <a:normAutofit/>
          </a:bodyPr>
          <a:lstStyle/>
          <a:p>
            <a:pPr lvl="0">
              <a:spcAft>
                <a:spcPts val="600"/>
              </a:spcAft>
            </a:pPr>
            <a:r>
              <a:rPr lang="en-AU" b="1" dirty="0"/>
              <a:t>In groups – either same discipline or mixed discipline fields</a:t>
            </a:r>
          </a:p>
          <a:p>
            <a:pPr lvl="0">
              <a:spcAft>
                <a:spcPts val="600"/>
              </a:spcAft>
            </a:pPr>
            <a:r>
              <a:rPr lang="en-AU" b="1" dirty="0"/>
              <a:t>Select a ‘Scenario’ </a:t>
            </a:r>
          </a:p>
          <a:p>
            <a:pPr>
              <a:spcAft>
                <a:spcPts val="600"/>
              </a:spcAft>
            </a:pPr>
            <a:r>
              <a:rPr lang="en-AU" b="1" dirty="0"/>
              <a:t>Review the Cultural Determinants of Health: Key Concepts Handout</a:t>
            </a:r>
          </a:p>
          <a:p>
            <a:pPr lvl="0">
              <a:spcAft>
                <a:spcPts val="600"/>
              </a:spcAft>
            </a:pPr>
            <a:r>
              <a:rPr lang="en-US" b="1" dirty="0"/>
              <a:t>Identify the Cultural determinants in your scenario</a:t>
            </a:r>
          </a:p>
          <a:p>
            <a:pPr lvl="0">
              <a:spcAft>
                <a:spcPts val="600"/>
              </a:spcAft>
            </a:pPr>
            <a:r>
              <a:rPr lang="en-US" b="1" dirty="0"/>
              <a:t>Post the Group Reflections and Responses – you can use the discussion prompts (provided) to get the conversation started </a:t>
            </a:r>
          </a:p>
          <a:p>
            <a:pPr lvl="0">
              <a:spcAft>
                <a:spcPts val="600"/>
              </a:spcAft>
            </a:pPr>
            <a:r>
              <a:rPr lang="en-US" b="1" dirty="0"/>
              <a:t>Share your findings with the class</a:t>
            </a:r>
          </a:p>
        </p:txBody>
      </p:sp>
    </p:spTree>
    <p:extLst>
      <p:ext uri="{BB962C8B-B14F-4D97-AF65-F5344CB8AC3E}">
        <p14:creationId xmlns:p14="http://schemas.microsoft.com/office/powerpoint/2010/main" val="4166765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F22B9-5175-3DD6-B93D-4E663417D070}"/>
            </a:ext>
          </a:extLst>
        </p:cNvPr>
        <p:cNvGrpSpPr/>
        <p:nvPr/>
      </p:nvGrpSpPr>
      <p:grpSpPr>
        <a:xfrm>
          <a:off x="0" y="0"/>
          <a:ext cx="0" cy="0"/>
          <a:chOff x="0" y="0"/>
          <a:chExt cx="0" cy="0"/>
        </a:xfrm>
      </p:grpSpPr>
      <p:pic>
        <p:nvPicPr>
          <p:cNvPr id="3" name="Picture 2" descr="A diagram of the self&#10;&#10;AI-generated content may be incorrect.">
            <a:extLst>
              <a:ext uri="{FF2B5EF4-FFF2-40B4-BE49-F238E27FC236}">
                <a16:creationId xmlns:a16="http://schemas.microsoft.com/office/drawing/2014/main" id="{C2CA29AF-0232-385A-2037-9422A020C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4727" y="-119063"/>
            <a:ext cx="6927273" cy="6858000"/>
          </a:xfrm>
          <a:prstGeom prst="rect">
            <a:avLst/>
          </a:prstGeom>
          <a:effectLst>
            <a:softEdge rad="558800"/>
          </a:effectLst>
        </p:spPr>
      </p:pic>
      <p:sp>
        <p:nvSpPr>
          <p:cNvPr id="20" name="Content Placeholder 2">
            <a:extLst>
              <a:ext uri="{FF2B5EF4-FFF2-40B4-BE49-F238E27FC236}">
                <a16:creationId xmlns:a16="http://schemas.microsoft.com/office/drawing/2014/main" id="{430D0AB8-1F7B-3CAA-7841-A91DEE5019B1}"/>
              </a:ext>
            </a:extLst>
          </p:cNvPr>
          <p:cNvSpPr>
            <a:spLocks noGrp="1"/>
          </p:cNvSpPr>
          <p:nvPr>
            <p:ph sz="half" idx="2"/>
          </p:nvPr>
        </p:nvSpPr>
        <p:spPr>
          <a:xfrm>
            <a:off x="223838" y="642937"/>
            <a:ext cx="5381624" cy="5819775"/>
          </a:xfrm>
        </p:spPr>
        <p:txBody>
          <a:bodyPr>
            <a:normAutofit lnSpcReduction="10000"/>
          </a:bodyPr>
          <a:lstStyle/>
          <a:p>
            <a:pPr lvl="0">
              <a:spcAft>
                <a:spcPts val="600"/>
              </a:spcAft>
            </a:pPr>
            <a:r>
              <a:rPr lang="en-AU" b="1" dirty="0"/>
              <a:t>The activity showed where we get strength.</a:t>
            </a:r>
          </a:p>
          <a:p>
            <a:pPr marL="0" lvl="0" indent="0">
              <a:spcAft>
                <a:spcPts val="600"/>
              </a:spcAft>
              <a:buNone/>
            </a:pPr>
            <a:endParaRPr lang="en-AU" b="1" dirty="0"/>
          </a:p>
          <a:p>
            <a:pPr lvl="0">
              <a:spcAft>
                <a:spcPts val="600"/>
              </a:spcAft>
            </a:pPr>
            <a:r>
              <a:rPr lang="en-AU" b="1" dirty="0"/>
              <a:t>Next, we discuss Why they are necessary. Why we need our strengths to support us </a:t>
            </a:r>
            <a:r>
              <a:rPr lang="en-AU" b="1"/>
              <a:t>and our health.</a:t>
            </a:r>
            <a:endParaRPr lang="en-AU" b="1" dirty="0"/>
          </a:p>
          <a:p>
            <a:pPr marL="0" lvl="0" indent="0">
              <a:spcAft>
                <a:spcPts val="600"/>
              </a:spcAft>
              <a:buNone/>
            </a:pPr>
            <a:endParaRPr lang="en-AU" b="1" dirty="0"/>
          </a:p>
          <a:p>
            <a:pPr lvl="0">
              <a:spcAft>
                <a:spcPts val="600"/>
              </a:spcAft>
            </a:pPr>
            <a:r>
              <a:rPr lang="en-AU" b="1" dirty="0"/>
              <a:t>These help us deal with those situations beyond our control, the social determinants, which continually, and cumulatively impact our health and wellbeing </a:t>
            </a:r>
            <a:endParaRPr lang="en-US" b="1" dirty="0"/>
          </a:p>
        </p:txBody>
      </p:sp>
    </p:spTree>
    <p:extLst>
      <p:ext uri="{BB962C8B-B14F-4D97-AF65-F5344CB8AC3E}">
        <p14:creationId xmlns:p14="http://schemas.microsoft.com/office/powerpoint/2010/main" val="2615052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3C85E3-2AE4-BB24-D999-FB71F0BBBE85}"/>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06544AF-6F6B-8E67-0532-08D2D1B43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3D128116-8BB8-A2D8-5862-AF7BAFCA8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0DE54C2-DFA3-C294-D473-B940D96ACAFA}"/>
              </a:ext>
            </a:extLst>
          </p:cNvPr>
          <p:cNvSpPr>
            <a:spLocks noGrp="1"/>
          </p:cNvSpPr>
          <p:nvPr>
            <p:ph type="ctrTitle"/>
          </p:nvPr>
        </p:nvSpPr>
        <p:spPr>
          <a:xfrm>
            <a:off x="793159" y="1377146"/>
            <a:ext cx="4076460" cy="3626217"/>
          </a:xfrm>
        </p:spPr>
        <p:txBody>
          <a:bodyPr vert="horz" lIns="91440" tIns="45720" rIns="91440" bIns="45720" rtlCol="0" anchor="b">
            <a:normAutofit/>
          </a:bodyPr>
          <a:lstStyle/>
          <a:p>
            <a:pPr algn="r"/>
            <a:r>
              <a:rPr lang="en-US" sz="5000" kern="1200" dirty="0">
                <a:solidFill>
                  <a:srgbClr val="FFFFFF"/>
                </a:solidFill>
                <a:latin typeface="+mj-lt"/>
                <a:ea typeface="+mj-ea"/>
                <a:cs typeface="+mj-cs"/>
              </a:rPr>
              <a:t>Social Determinants of health (</a:t>
            </a:r>
            <a:r>
              <a:rPr lang="en-US" sz="5000" kern="1200" dirty="0" err="1">
                <a:solidFill>
                  <a:srgbClr val="FFFFFF"/>
                </a:solidFill>
                <a:latin typeface="+mj-lt"/>
                <a:ea typeface="+mj-ea"/>
                <a:cs typeface="+mj-cs"/>
              </a:rPr>
              <a:t>SDoH</a:t>
            </a:r>
            <a:r>
              <a:rPr lang="en-US" sz="5000" kern="1200" dirty="0">
                <a:solidFill>
                  <a:srgbClr val="FFFFFF"/>
                </a:solidFill>
                <a:latin typeface="+mj-lt"/>
                <a:ea typeface="+mj-ea"/>
                <a:cs typeface="+mj-cs"/>
              </a:rPr>
              <a:t>)</a:t>
            </a:r>
          </a:p>
        </p:txBody>
      </p:sp>
      <p:grpSp>
        <p:nvGrpSpPr>
          <p:cNvPr id="19" name="Group 18">
            <a:extLst>
              <a:ext uri="{FF2B5EF4-FFF2-40B4-BE49-F238E27FC236}">
                <a16:creationId xmlns:a16="http://schemas.microsoft.com/office/drawing/2014/main" id="{170D764C-6CF9-6762-14A7-671355B176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42198" y="814999"/>
            <a:ext cx="465458" cy="581435"/>
            <a:chOff x="10942198" y="814999"/>
            <a:chExt cx="465458" cy="581435"/>
          </a:xfrm>
          <a:solidFill>
            <a:srgbClr val="FFFFFF"/>
          </a:solidFill>
        </p:grpSpPr>
        <p:sp>
          <p:nvSpPr>
            <p:cNvPr id="20" name="Graphic 17">
              <a:extLst>
                <a:ext uri="{FF2B5EF4-FFF2-40B4-BE49-F238E27FC236}">
                  <a16:creationId xmlns:a16="http://schemas.microsoft.com/office/drawing/2014/main" id="{953424C6-647A-96FD-2468-D572858F48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7738" y="81499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grp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1" name="Graphic 15">
              <a:extLst>
                <a:ext uri="{FF2B5EF4-FFF2-40B4-BE49-F238E27FC236}">
                  <a16:creationId xmlns:a16="http://schemas.microsoft.com/office/drawing/2014/main" id="{79C6D8DE-ED6E-8DBD-74DC-F169D80E02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16518" y="104429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2" name="Graphic 21">
              <a:extLst>
                <a:ext uri="{FF2B5EF4-FFF2-40B4-BE49-F238E27FC236}">
                  <a16:creationId xmlns:a16="http://schemas.microsoft.com/office/drawing/2014/main" id="{455F2A6C-7007-70C5-7597-CAEFF19D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2198" y="1268720"/>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grp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cxnSp>
        <p:nvCxnSpPr>
          <p:cNvPr id="24" name="Straight Connector 23">
            <a:extLst>
              <a:ext uri="{FF2B5EF4-FFF2-40B4-BE49-F238E27FC236}">
                <a16:creationId xmlns:a16="http://schemas.microsoft.com/office/drawing/2014/main" id="{8EA5A8E3-1A83-D06E-A3F0-10DE4EFC41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9322" y="6274341"/>
            <a:ext cx="11353800"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D403B8B-7FFC-B77C-A1AC-2E4325293DFD}"/>
              </a:ext>
            </a:extLst>
          </p:cNvPr>
          <p:cNvSpPr txBox="1"/>
          <p:nvPr/>
        </p:nvSpPr>
        <p:spPr>
          <a:xfrm>
            <a:off x="5509648" y="583658"/>
            <a:ext cx="6042323" cy="5355312"/>
          </a:xfrm>
          <a:prstGeom prst="rect">
            <a:avLst/>
          </a:prstGeom>
          <a:noFill/>
        </p:spPr>
        <p:txBody>
          <a:bodyPr wrap="square">
            <a:spAutoFit/>
          </a:bodyPr>
          <a:lstStyle/>
          <a:p>
            <a:r>
              <a:rPr lang="en-US" dirty="0"/>
              <a:t>Examples of social determinants of health, which can influence health equity in positive and negative ways:</a:t>
            </a:r>
          </a:p>
          <a:p>
            <a:endParaRPr lang="en-US" dirty="0"/>
          </a:p>
          <a:p>
            <a:pPr marL="285750" indent="-285750">
              <a:spcAft>
                <a:spcPts val="1200"/>
              </a:spcAft>
              <a:buFont typeface="Arial" panose="020B0604020202020204" pitchFamily="34" charset="0"/>
              <a:buChar char="•"/>
            </a:pPr>
            <a:r>
              <a:rPr lang="en-US" dirty="0"/>
              <a:t>income and social protection</a:t>
            </a:r>
          </a:p>
          <a:p>
            <a:pPr marL="285750" indent="-285750">
              <a:spcAft>
                <a:spcPts val="1200"/>
              </a:spcAft>
              <a:buFont typeface="Arial" panose="020B0604020202020204" pitchFamily="34" charset="0"/>
              <a:buChar char="•"/>
            </a:pPr>
            <a:r>
              <a:rPr lang="en-US" dirty="0"/>
              <a:t>education</a:t>
            </a:r>
          </a:p>
          <a:p>
            <a:pPr marL="285750" indent="-285750">
              <a:spcAft>
                <a:spcPts val="1200"/>
              </a:spcAft>
              <a:buFont typeface="Arial" panose="020B0604020202020204" pitchFamily="34" charset="0"/>
              <a:buChar char="•"/>
            </a:pPr>
            <a:r>
              <a:rPr lang="en-US" dirty="0"/>
              <a:t>unemployment and job insecurity</a:t>
            </a:r>
          </a:p>
          <a:p>
            <a:pPr marL="285750" indent="-285750">
              <a:spcAft>
                <a:spcPts val="1200"/>
              </a:spcAft>
              <a:buFont typeface="Arial" panose="020B0604020202020204" pitchFamily="34" charset="0"/>
              <a:buChar char="•"/>
            </a:pPr>
            <a:r>
              <a:rPr lang="en-US" dirty="0"/>
              <a:t>working life conditions</a:t>
            </a:r>
          </a:p>
          <a:p>
            <a:pPr marL="285750" indent="-285750">
              <a:spcAft>
                <a:spcPts val="1200"/>
              </a:spcAft>
              <a:buFont typeface="Arial" panose="020B0604020202020204" pitchFamily="34" charset="0"/>
              <a:buChar char="•"/>
            </a:pPr>
            <a:r>
              <a:rPr lang="en-US" dirty="0"/>
              <a:t>food insecurity</a:t>
            </a:r>
          </a:p>
          <a:p>
            <a:pPr marL="285750" indent="-285750">
              <a:spcAft>
                <a:spcPts val="1200"/>
              </a:spcAft>
              <a:buFont typeface="Arial" panose="020B0604020202020204" pitchFamily="34" charset="0"/>
              <a:buChar char="•"/>
            </a:pPr>
            <a:r>
              <a:rPr lang="en-US" dirty="0"/>
              <a:t>housing, basic amenities and the environment</a:t>
            </a:r>
          </a:p>
          <a:p>
            <a:pPr marL="285750" indent="-285750">
              <a:spcAft>
                <a:spcPts val="1200"/>
              </a:spcAft>
              <a:buFont typeface="Arial" panose="020B0604020202020204" pitchFamily="34" charset="0"/>
              <a:buChar char="•"/>
            </a:pPr>
            <a:r>
              <a:rPr lang="en-US" dirty="0"/>
              <a:t>early childhood development</a:t>
            </a:r>
          </a:p>
          <a:p>
            <a:pPr marL="285750" indent="-285750">
              <a:spcAft>
                <a:spcPts val="1200"/>
              </a:spcAft>
              <a:buFont typeface="Arial" panose="020B0604020202020204" pitchFamily="34" charset="0"/>
              <a:buChar char="•"/>
            </a:pPr>
            <a:r>
              <a:rPr lang="en-US" dirty="0"/>
              <a:t>social inclusion and non-discrimination</a:t>
            </a:r>
          </a:p>
          <a:p>
            <a:pPr marL="285750" indent="-285750">
              <a:spcAft>
                <a:spcPts val="1200"/>
              </a:spcAft>
              <a:buFont typeface="Arial" panose="020B0604020202020204" pitchFamily="34" charset="0"/>
              <a:buChar char="•"/>
            </a:pPr>
            <a:r>
              <a:rPr lang="en-US" dirty="0"/>
              <a:t>structural conflict</a:t>
            </a:r>
          </a:p>
          <a:p>
            <a:pPr marL="285750" indent="-285750">
              <a:spcAft>
                <a:spcPts val="1200"/>
              </a:spcAft>
              <a:buFont typeface="Arial" panose="020B0604020202020204" pitchFamily="34" charset="0"/>
              <a:buChar char="•"/>
            </a:pPr>
            <a:r>
              <a:rPr lang="en-US" dirty="0"/>
              <a:t>access to affordable health services of decent quality (WHO 2023 in AIHW, 2024).</a:t>
            </a:r>
          </a:p>
        </p:txBody>
      </p:sp>
      <p:sp>
        <p:nvSpPr>
          <p:cNvPr id="4" name="TextBox 3">
            <a:extLst>
              <a:ext uri="{FF2B5EF4-FFF2-40B4-BE49-F238E27FC236}">
                <a16:creationId xmlns:a16="http://schemas.microsoft.com/office/drawing/2014/main" id="{E88BE2EB-F517-AF7D-A25B-67CAF6C2D64E}"/>
              </a:ext>
            </a:extLst>
          </p:cNvPr>
          <p:cNvSpPr txBox="1"/>
          <p:nvPr/>
        </p:nvSpPr>
        <p:spPr>
          <a:xfrm>
            <a:off x="829322" y="6404617"/>
            <a:ext cx="9031224" cy="369332"/>
          </a:xfrm>
          <a:prstGeom prst="rect">
            <a:avLst/>
          </a:prstGeom>
          <a:noFill/>
        </p:spPr>
        <p:txBody>
          <a:bodyPr wrap="square">
            <a:spAutoFit/>
          </a:bodyPr>
          <a:lstStyle/>
          <a:p>
            <a:r>
              <a:rPr lang="en-AU" dirty="0">
                <a:hlinkClick r:id="rId3"/>
              </a:rPr>
              <a:t>https://www.aihw.gov.au/reports/australias-health/social-determinants-of-health</a:t>
            </a:r>
            <a:endParaRPr lang="en-AU" dirty="0"/>
          </a:p>
        </p:txBody>
      </p:sp>
    </p:spTree>
    <p:extLst>
      <p:ext uri="{BB962C8B-B14F-4D97-AF65-F5344CB8AC3E}">
        <p14:creationId xmlns:p14="http://schemas.microsoft.com/office/powerpoint/2010/main" val="3334813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C5B74A-36E1-BDD6-29C7-27B77DF126D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A9834C6-FF84-5724-6E35-A3B1DD9C06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91F91154-B419-01E4-20E6-FAB76EA76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95F4FC-31FC-A4F1-49C3-35048F158E0E}"/>
              </a:ext>
            </a:extLst>
          </p:cNvPr>
          <p:cNvSpPr>
            <a:spLocks noGrp="1"/>
          </p:cNvSpPr>
          <p:nvPr>
            <p:ph type="ctrTitle"/>
          </p:nvPr>
        </p:nvSpPr>
        <p:spPr>
          <a:xfrm>
            <a:off x="793159" y="1377146"/>
            <a:ext cx="4076460" cy="3626217"/>
          </a:xfrm>
        </p:spPr>
        <p:txBody>
          <a:bodyPr vert="horz" lIns="91440" tIns="45720" rIns="91440" bIns="45720" rtlCol="0" anchor="b">
            <a:normAutofit/>
          </a:bodyPr>
          <a:lstStyle/>
          <a:p>
            <a:pPr algn="r"/>
            <a:r>
              <a:rPr lang="en-US" sz="3600" kern="1200" dirty="0">
                <a:solidFill>
                  <a:srgbClr val="FFFFFF"/>
                </a:solidFill>
                <a:latin typeface="+mj-lt"/>
                <a:ea typeface="+mj-ea"/>
                <a:cs typeface="+mj-cs"/>
              </a:rPr>
              <a:t>Social Determinants of Health further impacting </a:t>
            </a:r>
            <a:r>
              <a:rPr lang="en-US" sz="3600" dirty="0">
                <a:solidFill>
                  <a:schemeClr val="bg1"/>
                </a:solidFill>
              </a:rPr>
              <a:t>Aboriginal and Torres Strait Islander peoples</a:t>
            </a:r>
            <a:r>
              <a:rPr lang="en-US" sz="3600" kern="1200" dirty="0">
                <a:solidFill>
                  <a:schemeClr val="bg1"/>
                </a:solidFill>
                <a:latin typeface="+mj-lt"/>
                <a:ea typeface="+mj-ea"/>
                <a:cs typeface="+mj-cs"/>
              </a:rPr>
              <a:t>  </a:t>
            </a:r>
            <a:r>
              <a:rPr lang="en-US" sz="3600" kern="1200" dirty="0">
                <a:solidFill>
                  <a:srgbClr val="FFFFFF"/>
                </a:solidFill>
                <a:latin typeface="+mj-lt"/>
                <a:ea typeface="+mj-ea"/>
                <a:cs typeface="+mj-cs"/>
              </a:rPr>
              <a:t>(</a:t>
            </a:r>
            <a:r>
              <a:rPr lang="en-US" sz="3600" kern="1200" dirty="0" err="1">
                <a:solidFill>
                  <a:srgbClr val="FFFFFF"/>
                </a:solidFill>
                <a:latin typeface="+mj-lt"/>
                <a:ea typeface="+mj-ea"/>
                <a:cs typeface="+mj-cs"/>
              </a:rPr>
              <a:t>SDoH</a:t>
            </a:r>
            <a:r>
              <a:rPr lang="en-US" sz="3600" kern="1200" dirty="0">
                <a:solidFill>
                  <a:srgbClr val="FFFFFF"/>
                </a:solidFill>
                <a:latin typeface="+mj-lt"/>
                <a:ea typeface="+mj-ea"/>
                <a:cs typeface="+mj-cs"/>
              </a:rPr>
              <a:t>)</a:t>
            </a:r>
          </a:p>
        </p:txBody>
      </p:sp>
      <p:sp>
        <p:nvSpPr>
          <p:cNvPr id="10" name="TextBox 9">
            <a:extLst>
              <a:ext uri="{FF2B5EF4-FFF2-40B4-BE49-F238E27FC236}">
                <a16:creationId xmlns:a16="http://schemas.microsoft.com/office/drawing/2014/main" id="{CE252916-01A6-7D3D-76D9-A50F3F90E5B8}"/>
              </a:ext>
            </a:extLst>
          </p:cNvPr>
          <p:cNvSpPr txBox="1"/>
          <p:nvPr/>
        </p:nvSpPr>
        <p:spPr>
          <a:xfrm>
            <a:off x="793159" y="5170453"/>
            <a:ext cx="4076458" cy="990197"/>
          </a:xfrm>
          <a:prstGeom prst="rect">
            <a:avLst/>
          </a:prstGeom>
        </p:spPr>
        <p:txBody>
          <a:bodyPr vert="horz" lIns="91440" tIns="45720" rIns="91440" bIns="45720" rtlCol="0">
            <a:normAutofit/>
          </a:bodyPr>
          <a:lstStyle/>
          <a:p>
            <a:pPr marL="0" marR="0" lvl="0" indent="0" algn="r" defTabSz="914400" rtl="0" eaLnBrk="1" fontAlgn="auto" latinLnBrk="0" hangingPunct="1">
              <a:lnSpc>
                <a:spcPct val="90000"/>
              </a:lnSpc>
              <a:spcBef>
                <a:spcPts val="100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rPr>
              <a:t>Australian</a:t>
            </a:r>
            <a:r>
              <a:rPr kumimoji="0" lang="en-US" sz="1100" b="0" i="0" u="none" strike="noStrike" kern="1200" cap="none" spc="-55" normalizeH="0" baseline="0" noProof="0" dirty="0">
                <a:ln>
                  <a:noFill/>
                </a:ln>
                <a:solidFill>
                  <a:srgbClr val="FFFFFF"/>
                </a:solidFill>
                <a:effectLst/>
                <a:uLnTx/>
                <a:uFillTx/>
                <a:latin typeface="Aptos" panose="02110004020202020204"/>
                <a:ea typeface="+mn-ea"/>
                <a:cs typeface="+mn-cs"/>
              </a:rPr>
              <a:t> </a:t>
            </a:r>
            <a:r>
              <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rPr>
              <a:t>Government,</a:t>
            </a:r>
            <a:r>
              <a:rPr kumimoji="0" lang="en-US" sz="1100" b="0" i="0" u="none" strike="noStrike" kern="1200" cap="none" spc="-50" normalizeH="0" baseline="0" noProof="0" dirty="0">
                <a:ln>
                  <a:noFill/>
                </a:ln>
                <a:solidFill>
                  <a:srgbClr val="FFFFFF"/>
                </a:solidFill>
                <a:effectLst/>
                <a:uLnTx/>
                <a:uFillTx/>
                <a:latin typeface="Aptos" panose="02110004020202020204"/>
                <a:ea typeface="+mn-ea"/>
                <a:cs typeface="+mn-cs"/>
              </a:rPr>
              <a:t> </a:t>
            </a:r>
            <a:r>
              <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rPr>
              <a:t>Department</a:t>
            </a:r>
            <a:r>
              <a:rPr kumimoji="0" lang="en-US" sz="1100" b="0" i="0" u="none" strike="noStrike" kern="1200" cap="none" spc="-50" normalizeH="0" baseline="0" noProof="0" dirty="0">
                <a:ln>
                  <a:noFill/>
                </a:ln>
                <a:solidFill>
                  <a:srgbClr val="FFFFFF"/>
                </a:solidFill>
                <a:effectLst/>
                <a:uLnTx/>
                <a:uFillTx/>
                <a:latin typeface="Aptos" panose="02110004020202020204"/>
                <a:ea typeface="+mn-ea"/>
                <a:cs typeface="+mn-cs"/>
              </a:rPr>
              <a:t> </a:t>
            </a:r>
            <a:r>
              <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rPr>
              <a:t>of</a:t>
            </a:r>
            <a:r>
              <a:rPr kumimoji="0" lang="en-US" sz="1100" b="0" i="0" u="none" strike="noStrike" kern="1200" cap="none" spc="-20" normalizeH="0" baseline="0" noProof="0" dirty="0">
                <a:ln>
                  <a:noFill/>
                </a:ln>
                <a:solidFill>
                  <a:srgbClr val="FFFFFF"/>
                </a:solidFill>
                <a:effectLst/>
                <a:uLnTx/>
                <a:uFillTx/>
                <a:latin typeface="Aptos" panose="02110004020202020204"/>
                <a:ea typeface="+mn-ea"/>
                <a:cs typeface="+mn-cs"/>
              </a:rPr>
              <a:t> </a:t>
            </a:r>
            <a:r>
              <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rPr>
              <a:t>Health, Disability and Ageing,</a:t>
            </a:r>
            <a:r>
              <a:rPr kumimoji="0" lang="en-US" sz="1100" b="0" i="0" u="none" strike="noStrike" kern="1200" cap="none" spc="-30" normalizeH="0" baseline="0" noProof="0" dirty="0">
                <a:ln>
                  <a:noFill/>
                </a:ln>
                <a:solidFill>
                  <a:srgbClr val="FFFFFF"/>
                </a:solidFill>
                <a:effectLst/>
                <a:uLnTx/>
                <a:uFillTx/>
                <a:latin typeface="Aptos" panose="02110004020202020204"/>
                <a:ea typeface="+mn-ea"/>
                <a:cs typeface="+mn-cs"/>
              </a:rPr>
              <a:t> </a:t>
            </a:r>
            <a:r>
              <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rPr>
              <a:t>2021,</a:t>
            </a:r>
            <a:r>
              <a:rPr kumimoji="0" lang="en-US" sz="1100" b="0" i="0" u="none" strike="noStrike" kern="1200" cap="none" spc="70"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Status</a:t>
            </a:r>
            <a:r>
              <a:rPr kumimoji="0" lang="en-US" sz="1100" b="0" i="1" u="none" strike="noStrike" kern="1200" cap="none" spc="-35"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and</a:t>
            </a:r>
            <a:r>
              <a:rPr kumimoji="0" lang="en-US" sz="1100" b="0" i="1" u="none" strike="noStrike" kern="1200" cap="none" spc="-25"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determinants</a:t>
            </a:r>
            <a:r>
              <a:rPr kumimoji="0" lang="en-US" sz="1100" b="0" i="1" u="none" strike="noStrike" kern="1200" cap="none" spc="-55"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of</a:t>
            </a:r>
            <a:r>
              <a:rPr kumimoji="0" lang="en-US" sz="1100" b="0" i="1" u="none" strike="noStrike" kern="1200" cap="none" spc="-20"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Aboriginal</a:t>
            </a:r>
            <a:r>
              <a:rPr kumimoji="0" lang="en-US" sz="1100" b="0" i="1" u="none" strike="noStrike" kern="1200" cap="none" spc="-70"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and</a:t>
            </a:r>
            <a:r>
              <a:rPr kumimoji="0" lang="en-US" sz="1100" b="0" i="1" u="none" strike="noStrike" kern="1200" cap="none" spc="-25"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Torres</a:t>
            </a:r>
            <a:r>
              <a:rPr kumimoji="0" lang="en-US" sz="1100" b="0" i="1" u="none" strike="noStrike" kern="1200" cap="none" spc="-35"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Strait</a:t>
            </a:r>
            <a:r>
              <a:rPr kumimoji="0" lang="en-US" sz="1100" b="0" i="1" u="none" strike="noStrike" kern="1200" cap="none" spc="-55"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Islander</a:t>
            </a:r>
            <a:r>
              <a:rPr kumimoji="0" lang="en-US" sz="1100" b="0" i="1" u="none" strike="noStrike" kern="1200" cap="none" spc="-40"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0" normalizeH="0" baseline="0" noProof="0" dirty="0">
                <a:ln>
                  <a:noFill/>
                </a:ln>
                <a:solidFill>
                  <a:srgbClr val="FFFFFF"/>
                </a:solidFill>
                <a:effectLst/>
                <a:uLnTx/>
                <a:uFillTx/>
                <a:latin typeface="Aptos" panose="02110004020202020204"/>
                <a:ea typeface="+mn-ea"/>
                <a:cs typeface="+mn-cs"/>
              </a:rPr>
              <a:t>health,</a:t>
            </a:r>
            <a:r>
              <a:rPr kumimoji="0" lang="en-US" sz="1100" b="0" i="1" u="none" strike="noStrike" kern="1200" cap="none" spc="215" normalizeH="0" baseline="0" noProof="0" dirty="0">
                <a:ln>
                  <a:noFill/>
                </a:ln>
                <a:solidFill>
                  <a:srgbClr val="FFFFFF"/>
                </a:solidFill>
                <a:effectLst/>
                <a:uLnTx/>
                <a:uFillTx/>
                <a:latin typeface="Aptos" panose="02110004020202020204"/>
                <a:ea typeface="+mn-ea"/>
                <a:cs typeface="+mn-cs"/>
              </a:rPr>
              <a:t> </a:t>
            </a:r>
            <a:r>
              <a:rPr kumimoji="0" lang="en-US" sz="1100" b="0" i="1" u="none" strike="noStrike" kern="1200" cap="none" spc="-10" normalizeH="0" baseline="0" noProof="0" dirty="0">
                <a:ln>
                  <a:noFill/>
                </a:ln>
                <a:solidFill>
                  <a:srgbClr val="FFFFFF"/>
                </a:solidFill>
                <a:effectLst/>
                <a:uLnTx/>
                <a:uFillTx/>
                <a:latin typeface="Aptos" panose="02110004020202020204"/>
                <a:ea typeface="+mn-ea"/>
                <a:cs typeface="+mn-cs"/>
              </a:rPr>
              <a:t>Canberra.</a:t>
            </a:r>
            <a:endPar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endParaRPr>
          </a:p>
          <a:p>
            <a:pPr marL="0" marR="0" lvl="0" indent="0" algn="r" defTabSz="914400" rtl="0" eaLnBrk="1" fontAlgn="auto" latinLnBrk="0" hangingPunct="1">
              <a:lnSpc>
                <a:spcPct val="90000"/>
              </a:lnSpc>
              <a:spcBef>
                <a:spcPts val="1000"/>
              </a:spcBef>
              <a:spcAft>
                <a:spcPts val="0"/>
              </a:spcAft>
              <a:buClrTx/>
              <a:buSzTx/>
              <a:buFontTx/>
              <a:buNone/>
              <a:tabLst/>
              <a:defRPr/>
            </a:pPr>
            <a:r>
              <a:rPr kumimoji="0" lang="en-US" sz="1100" b="0" i="0" u="sng" strike="noStrike" kern="1200" cap="none" spc="-10" normalizeH="0" baseline="0" noProof="0" dirty="0">
                <a:ln>
                  <a:noFill/>
                </a:ln>
                <a:solidFill>
                  <a:srgbClr val="FFFFFF"/>
                </a:solidFill>
                <a:effectLst/>
                <a:uLnTx/>
                <a:uFillTx/>
                <a:latin typeface="Aptos" panose="02110004020202020204"/>
                <a:ea typeface="+mn-ea"/>
                <a:cs typeface="+mn-cs"/>
                <a:hlinkClick r:id="rId3"/>
              </a:rPr>
              <a:t>https://www.health.gov.au/topics/aboriginal-and-torres-strait-islander-health/status-and-determinants</a:t>
            </a:r>
            <a:endPar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endParaRPr>
          </a:p>
          <a:p>
            <a:pPr marL="0" marR="0" lvl="0" indent="0" algn="r" defTabSz="914400" rtl="0" eaLnBrk="1" fontAlgn="auto" latinLnBrk="0" hangingPunct="1">
              <a:lnSpc>
                <a:spcPct val="90000"/>
              </a:lnSpc>
              <a:spcBef>
                <a:spcPts val="1000"/>
              </a:spcBef>
              <a:spcAft>
                <a:spcPts val="0"/>
              </a:spcAft>
              <a:buClrTx/>
              <a:buSzTx/>
              <a:buFontTx/>
              <a:buNone/>
              <a:tabLst/>
              <a:defRPr/>
            </a:pPr>
            <a:endParaRPr kumimoji="0" lang="en-US" sz="11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grpSp>
        <p:nvGrpSpPr>
          <p:cNvPr id="19" name="Group 18">
            <a:extLst>
              <a:ext uri="{FF2B5EF4-FFF2-40B4-BE49-F238E27FC236}">
                <a16:creationId xmlns:a16="http://schemas.microsoft.com/office/drawing/2014/main" id="{45361AA7-772D-3B0D-34D9-8327361131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42198" y="814999"/>
            <a:ext cx="465458" cy="581435"/>
            <a:chOff x="10942198" y="814999"/>
            <a:chExt cx="465458" cy="581435"/>
          </a:xfrm>
          <a:solidFill>
            <a:srgbClr val="FFFFFF"/>
          </a:solidFill>
        </p:grpSpPr>
        <p:sp>
          <p:nvSpPr>
            <p:cNvPr id="20" name="Graphic 17">
              <a:extLst>
                <a:ext uri="{FF2B5EF4-FFF2-40B4-BE49-F238E27FC236}">
                  <a16:creationId xmlns:a16="http://schemas.microsoft.com/office/drawing/2014/main" id="{A7976B3F-25D8-C236-35EC-A8DC3225F5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7738" y="81499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grp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1" name="Graphic 15">
              <a:extLst>
                <a:ext uri="{FF2B5EF4-FFF2-40B4-BE49-F238E27FC236}">
                  <a16:creationId xmlns:a16="http://schemas.microsoft.com/office/drawing/2014/main" id="{1D3DE0F2-5701-1B22-26FE-4EF3D627FF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16518" y="104429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2" name="Graphic 21">
              <a:extLst>
                <a:ext uri="{FF2B5EF4-FFF2-40B4-BE49-F238E27FC236}">
                  <a16:creationId xmlns:a16="http://schemas.microsoft.com/office/drawing/2014/main" id="{3B74538D-30ED-2464-FD26-322CF59924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2198" y="1268720"/>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grp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cxnSp>
        <p:nvCxnSpPr>
          <p:cNvPr id="24" name="Straight Connector 23">
            <a:extLst>
              <a:ext uri="{FF2B5EF4-FFF2-40B4-BE49-F238E27FC236}">
                <a16:creationId xmlns:a16="http://schemas.microsoft.com/office/drawing/2014/main" id="{2D59A8A7-1EF4-2E82-48EE-1C4B61F9F0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9322" y="6274341"/>
            <a:ext cx="11353800"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A6E0B10-4962-1249-420B-79D02497E881}"/>
              </a:ext>
            </a:extLst>
          </p:cNvPr>
          <p:cNvSpPr txBox="1"/>
          <p:nvPr/>
        </p:nvSpPr>
        <p:spPr>
          <a:xfrm>
            <a:off x="5662776" y="1140171"/>
            <a:ext cx="6042323" cy="4555093"/>
          </a:xfrm>
          <a:prstGeom prst="rect">
            <a:avLst/>
          </a:prstGeom>
          <a:noFill/>
        </p:spPr>
        <p:txBody>
          <a:bodyPr wrap="square">
            <a:spAutoFit/>
          </a:bodyPr>
          <a:lstStyle/>
          <a:p>
            <a:r>
              <a:rPr lang="en-US" dirty="0"/>
              <a:t>Social determinants of health also impacting Aboriginal and Torres Strait Islander peoples </a:t>
            </a:r>
          </a:p>
          <a:p>
            <a:endParaRPr lang="en-US" dirty="0"/>
          </a:p>
          <a:p>
            <a:pPr marL="285750" indent="-285750">
              <a:buFont typeface="Arial" panose="020B0604020202020204" pitchFamily="34" charset="0"/>
              <a:buChar char="•"/>
            </a:pPr>
            <a:r>
              <a:rPr lang="en-US" dirty="0"/>
              <a:t>early childhood development</a:t>
            </a:r>
          </a:p>
          <a:p>
            <a:pPr marL="285750" indent="-285750">
              <a:buFont typeface="Arial" panose="020B0604020202020204" pitchFamily="34" charset="0"/>
              <a:buChar char="•"/>
            </a:pPr>
            <a:r>
              <a:rPr lang="en-US" dirty="0"/>
              <a:t>community and family safety</a:t>
            </a:r>
          </a:p>
          <a:p>
            <a:pPr marL="285750" indent="-285750">
              <a:buFont typeface="Arial" panose="020B0604020202020204" pitchFamily="34" charset="0"/>
              <a:buChar char="•"/>
            </a:pPr>
            <a:r>
              <a:rPr lang="en-US" dirty="0"/>
              <a:t>education and youth</a:t>
            </a:r>
          </a:p>
          <a:p>
            <a:pPr marL="285750" indent="-285750">
              <a:buFont typeface="Arial" panose="020B0604020202020204" pitchFamily="34" charset="0"/>
              <a:buChar char="•"/>
            </a:pPr>
            <a:r>
              <a:rPr lang="en-US" dirty="0"/>
              <a:t>employment and income</a:t>
            </a:r>
          </a:p>
          <a:p>
            <a:pPr marL="285750" indent="-285750">
              <a:buFont typeface="Arial" panose="020B0604020202020204" pitchFamily="34" charset="0"/>
              <a:buChar char="•"/>
            </a:pPr>
            <a:r>
              <a:rPr lang="en-US" dirty="0"/>
              <a:t>racism</a:t>
            </a:r>
          </a:p>
          <a:p>
            <a:pPr marL="285750" indent="-285750">
              <a:buFont typeface="Arial" panose="020B0604020202020204" pitchFamily="34" charset="0"/>
              <a:buChar char="•"/>
            </a:pPr>
            <a:r>
              <a:rPr lang="en-US" dirty="0"/>
              <a:t>housing</a:t>
            </a:r>
          </a:p>
          <a:p>
            <a:pPr marL="285750" indent="-285750">
              <a:buFont typeface="Arial" panose="020B0604020202020204" pitchFamily="34" charset="0"/>
              <a:buChar char="•"/>
            </a:pPr>
            <a:r>
              <a:rPr lang="en-US" dirty="0"/>
              <a:t>environment and infrastructure</a:t>
            </a:r>
          </a:p>
          <a:p>
            <a:pPr marL="285750" indent="-285750">
              <a:buFont typeface="Arial" panose="020B0604020202020204" pitchFamily="34" charset="0"/>
              <a:buChar char="•"/>
            </a:pPr>
            <a:r>
              <a:rPr lang="en-US" dirty="0"/>
              <a:t>interactions with government systems and services</a:t>
            </a:r>
          </a:p>
          <a:p>
            <a:pPr marL="285750" indent="-285750">
              <a:buFont typeface="Arial" panose="020B0604020202020204" pitchFamily="34" charset="0"/>
              <a:buChar char="•"/>
            </a:pPr>
            <a:r>
              <a:rPr lang="en-US" dirty="0"/>
              <a:t>law and justice</a:t>
            </a:r>
          </a:p>
          <a:p>
            <a:pPr marL="285750" indent="-285750">
              <a:buFont typeface="Arial" panose="020B0604020202020204" pitchFamily="34" charset="0"/>
              <a:buChar char="•"/>
            </a:pPr>
            <a:r>
              <a:rPr lang="en-US" dirty="0"/>
              <a:t>poverty</a:t>
            </a:r>
          </a:p>
          <a:p>
            <a:pPr marL="285750" indent="-285750">
              <a:buFont typeface="Arial" panose="020B0604020202020204" pitchFamily="34" charset="0"/>
              <a:buChar char="•"/>
            </a:pPr>
            <a:r>
              <a:rPr lang="en-US" dirty="0"/>
              <a:t>food security</a:t>
            </a:r>
          </a:p>
          <a:p>
            <a:pPr marL="285750" indent="-285750">
              <a:buFont typeface="Arial" panose="020B0604020202020204" pitchFamily="34" charset="0"/>
              <a:buChar char="•"/>
            </a:pPr>
            <a:r>
              <a:rPr lang="en-US" dirty="0"/>
              <a:t>experiences with alcohol, tobacco and other drugs</a:t>
            </a:r>
          </a:p>
          <a:p>
            <a:pPr marL="285750" indent="-285750">
              <a:buFont typeface="Arial" panose="020B0604020202020204" pitchFamily="34" charset="0"/>
              <a:buChar char="•"/>
            </a:pPr>
            <a:r>
              <a:rPr kumimoji="0" lang="en-AU"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colonisation and intergenerational trauma</a:t>
            </a:r>
          </a:p>
        </p:txBody>
      </p:sp>
    </p:spTree>
    <p:extLst>
      <p:ext uri="{BB962C8B-B14F-4D97-AF65-F5344CB8AC3E}">
        <p14:creationId xmlns:p14="http://schemas.microsoft.com/office/powerpoint/2010/main" val="2058814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897B-D598-A772-E3F7-550D67D810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6FF128-F92D-19AE-492D-69D8E6F5AA5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333B7B0E-4889-B242-8627-2AEBC8CFB740}"/>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4">
            <a:extLst>
              <a:ext uri="{FF2B5EF4-FFF2-40B4-BE49-F238E27FC236}">
                <a16:creationId xmlns:a16="http://schemas.microsoft.com/office/drawing/2014/main" id="{DBB93CEF-94FF-D761-3C87-FACA98DDF3CF}"/>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Freeform 6">
            <a:extLst>
              <a:ext uri="{FF2B5EF4-FFF2-40B4-BE49-F238E27FC236}">
                <a16:creationId xmlns:a16="http://schemas.microsoft.com/office/drawing/2014/main" id="{6416E4CE-3BBF-5153-7FD8-69163C314399}"/>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7" name="Freeform 7">
            <a:extLst>
              <a:ext uri="{FF2B5EF4-FFF2-40B4-BE49-F238E27FC236}">
                <a16:creationId xmlns:a16="http://schemas.microsoft.com/office/drawing/2014/main" id="{DEE680A7-C3F6-61BE-F0FF-39BC7582016E}"/>
              </a:ext>
            </a:extLst>
          </p:cNvPr>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8" name="Freeform 8">
            <a:extLst>
              <a:ext uri="{FF2B5EF4-FFF2-40B4-BE49-F238E27FC236}">
                <a16:creationId xmlns:a16="http://schemas.microsoft.com/office/drawing/2014/main" id="{9A66CD2E-E2EE-5FDF-8A85-B6EDECF1605F}"/>
              </a:ext>
            </a:extLst>
          </p:cNvPr>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5" name="TextBox 4">
            <a:extLst>
              <a:ext uri="{FF2B5EF4-FFF2-40B4-BE49-F238E27FC236}">
                <a16:creationId xmlns:a16="http://schemas.microsoft.com/office/drawing/2014/main" id="{2A826BC3-9285-9EA4-5649-EF53B922316D}"/>
              </a:ext>
            </a:extLst>
          </p:cNvPr>
          <p:cNvSpPr txBox="1"/>
          <p:nvPr/>
        </p:nvSpPr>
        <p:spPr>
          <a:xfrm>
            <a:off x="827088" y="742051"/>
            <a:ext cx="10071135" cy="646331"/>
          </a:xfrm>
          <a:prstGeom prst="rect">
            <a:avLst/>
          </a:prstGeom>
          <a:noFill/>
        </p:spPr>
        <p:txBody>
          <a:bodyPr wrap="square">
            <a:spAutoFit/>
          </a:bodyPr>
          <a:lstStyle/>
          <a:p>
            <a:pPr algn="ctr" defTabSz="914400">
              <a:lnSpc>
                <a:spcPct val="90000"/>
              </a:lnSpc>
              <a:spcBef>
                <a:spcPct val="0"/>
              </a:spcBef>
              <a:spcAft>
                <a:spcPts val="600"/>
              </a:spcAft>
              <a:defRPr/>
            </a:pPr>
            <a:r>
              <a:rPr lang="en-US" sz="4000" b="1" dirty="0">
                <a:solidFill>
                  <a:srgbClr val="000000"/>
                </a:solidFill>
                <a:latin typeface="Calibri Light" panose="020F0302020204030204"/>
              </a:rPr>
              <a:t>Recap (Module 2): Racism &amp; Bias</a:t>
            </a:r>
          </a:p>
        </p:txBody>
      </p:sp>
      <p:sp>
        <p:nvSpPr>
          <p:cNvPr id="10" name="TextBox 9">
            <a:extLst>
              <a:ext uri="{FF2B5EF4-FFF2-40B4-BE49-F238E27FC236}">
                <a16:creationId xmlns:a16="http://schemas.microsoft.com/office/drawing/2014/main" id="{E7880DD1-CC60-CAB4-D6A4-7573757DDB07}"/>
              </a:ext>
            </a:extLst>
          </p:cNvPr>
          <p:cNvSpPr txBox="1"/>
          <p:nvPr/>
        </p:nvSpPr>
        <p:spPr>
          <a:xfrm>
            <a:off x="1750137" y="1817336"/>
            <a:ext cx="8848344" cy="3652282"/>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None/>
              <a:tabLst/>
              <a:defRPr/>
            </a:pPr>
            <a:r>
              <a:rPr kumimoji="0" lang="en-AU" sz="2000" b="0" i="0" u="none" strike="noStrike" kern="1200" cap="none" spc="0" normalizeH="0" baseline="0" noProof="0" dirty="0">
                <a:ln>
                  <a:noFill/>
                </a:ln>
                <a:solidFill>
                  <a:srgbClr val="F0F2F3">
                    <a:lumMod val="25000"/>
                  </a:srgbClr>
                </a:solidFill>
                <a:effectLst/>
                <a:uLnTx/>
                <a:uFillTx/>
                <a:latin typeface="Calibri"/>
                <a:ea typeface="Calibri"/>
                <a:cs typeface="Calibri"/>
              </a:rPr>
              <a:t>Racism is a stressor that has been reported to affect both mental and physical health. </a:t>
            </a:r>
          </a:p>
          <a:p>
            <a:pPr marL="0" marR="0" lvl="0" indent="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None/>
              <a:tabLst/>
              <a:defRPr/>
            </a:pPr>
            <a:endParaRPr kumimoji="0" lang="en-AU" sz="2000" b="0" i="0" u="none" strike="noStrike" kern="1200" cap="none" spc="0" normalizeH="0" baseline="0" noProof="0" dirty="0">
              <a:ln>
                <a:noFill/>
              </a:ln>
              <a:solidFill>
                <a:srgbClr val="F0F2F3">
                  <a:lumMod val="25000"/>
                </a:srgbClr>
              </a:solidFill>
              <a:effectLst/>
              <a:uLnTx/>
              <a:uFillTx/>
              <a:latin typeface="Calibri"/>
              <a:ea typeface="Calibri"/>
              <a:cs typeface="Calibri"/>
            </a:endParaRPr>
          </a:p>
          <a:p>
            <a:pPr marL="571500" marR="0" lvl="0" indent="-5715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F0F2F3">
                    <a:lumMod val="25000"/>
                  </a:srgbClr>
                </a:solidFill>
                <a:effectLst/>
                <a:uLnTx/>
                <a:uFillTx/>
                <a:latin typeface="Calibri"/>
                <a:ea typeface="Calibri"/>
                <a:cs typeface="Calibri"/>
              </a:rPr>
              <a:t>There is a growing body of literature that validates the public health impact of racial bias, implicit and explicit, on the lives and health of First Nations Peoples.</a:t>
            </a:r>
          </a:p>
          <a:p>
            <a:pPr marL="571500" marR="0" lvl="0" indent="-5715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F0F2F3">
                  <a:lumMod val="25000"/>
                </a:srgbClr>
              </a:solidFill>
              <a:effectLst/>
              <a:uLnTx/>
              <a:uFillTx/>
              <a:latin typeface="Calibri"/>
              <a:ea typeface="Calibri"/>
              <a:cs typeface="Calibri"/>
            </a:endParaRPr>
          </a:p>
          <a:p>
            <a:pPr marL="571500" marR="0" lvl="0" indent="-5715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Stereotyping and negative discourse enable the racism to continue – t</a:t>
            </a:r>
            <a:r>
              <a:rPr kumimoji="0" lang="en-US" sz="2000" b="0" i="0" u="none" strike="noStrike" kern="1200" cap="none" spc="0" normalizeH="0" baseline="0" noProof="0" dirty="0">
                <a:ln>
                  <a:noFill/>
                </a:ln>
                <a:solidFill>
                  <a:srgbClr val="242021"/>
                </a:solidFill>
                <a:effectLst/>
                <a:uLnTx/>
                <a:uFillTx/>
                <a:latin typeface="TeXGyrePagella-Regular"/>
                <a:ea typeface="+mn-ea"/>
                <a:cs typeface="+mn-cs"/>
              </a:rPr>
              <a:t>he construction of understanding Aboriginal peoples “reinforces unequal power relationships; in other words, an image of sick, </a:t>
            </a:r>
            <a:r>
              <a:rPr kumimoji="0" lang="en-US" sz="2000" b="0" i="0" u="none" strike="noStrike" kern="1200" cap="none" spc="0" normalizeH="0" baseline="0" noProof="0" dirty="0" err="1">
                <a:ln>
                  <a:noFill/>
                </a:ln>
                <a:solidFill>
                  <a:srgbClr val="242021"/>
                </a:solidFill>
                <a:effectLst/>
                <a:uLnTx/>
                <a:uFillTx/>
                <a:latin typeface="TeXGyrePagella-Regular"/>
                <a:ea typeface="+mn-ea"/>
                <a:cs typeface="+mn-cs"/>
              </a:rPr>
              <a:t>disorganised</a:t>
            </a:r>
            <a:r>
              <a:rPr kumimoji="0" lang="en-US" sz="2000" b="0" i="0" u="none" strike="noStrike" kern="1200" cap="none" spc="0" normalizeH="0" baseline="0" noProof="0" dirty="0">
                <a:ln>
                  <a:noFill/>
                </a:ln>
                <a:solidFill>
                  <a:srgbClr val="242021"/>
                </a:solidFill>
                <a:effectLst/>
                <a:uLnTx/>
                <a:uFillTx/>
                <a:latin typeface="TeXGyrePagella-Regular"/>
                <a:ea typeface="+mn-ea"/>
                <a:cs typeface="+mn-cs"/>
              </a:rPr>
              <a:t> communities can be used to justify paternalism and dependency”</a:t>
            </a:r>
            <a:r>
              <a:rPr kumimoji="0" lang="en-US" sz="2000" b="0" i="0" u="none" strike="noStrike" kern="1200" cap="none" spc="0" normalizeH="0" baseline="0" noProof="0" dirty="0">
                <a:ln>
                  <a:noFill/>
                </a:ln>
                <a:solidFill>
                  <a:srgbClr val="171735"/>
                </a:solidFill>
                <a:effectLst/>
                <a:uLnTx/>
                <a:uFillTx/>
                <a:latin typeface="Calibri"/>
                <a:ea typeface="+mn-ea"/>
                <a:cs typeface="+mn-cs"/>
              </a:rPr>
              <a:t> (Bond &amp; Singh, 2020)</a:t>
            </a:r>
          </a:p>
        </p:txBody>
      </p:sp>
    </p:spTree>
    <p:extLst>
      <p:ext uri="{BB962C8B-B14F-4D97-AF65-F5344CB8AC3E}">
        <p14:creationId xmlns:p14="http://schemas.microsoft.com/office/powerpoint/2010/main" val="2532960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CDB3CB-22E7-D8D9-7073-B7B4AC256DE7}"/>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5AB58F2-41FC-5AED-8EE5-C65D83F01ABE}"/>
              </a:ext>
            </a:extLst>
          </p:cNvPr>
          <p:cNvSpPr>
            <a:spLocks noGrp="1"/>
          </p:cNvSpPr>
          <p:nvPr>
            <p:ph type="ctrTitle"/>
          </p:nvPr>
        </p:nvSpPr>
        <p:spPr>
          <a:xfrm>
            <a:off x="5297762" y="329184"/>
            <a:ext cx="6251110" cy="1783080"/>
          </a:xfrm>
        </p:spPr>
        <p:txBody>
          <a:bodyPr vert="horz" lIns="91440" tIns="45720" rIns="91440" bIns="45720" rtlCol="0" anchor="b">
            <a:normAutofit/>
          </a:bodyPr>
          <a:lstStyle/>
          <a:p>
            <a:pPr algn="l"/>
            <a:r>
              <a:rPr lang="en-US" sz="5400"/>
              <a:t>Systemic and Institutional Racism</a:t>
            </a:r>
          </a:p>
        </p:txBody>
      </p:sp>
      <p:pic>
        <p:nvPicPr>
          <p:cNvPr id="16" name="Picture 15">
            <a:extLst>
              <a:ext uri="{FF2B5EF4-FFF2-40B4-BE49-F238E27FC236}">
                <a16:creationId xmlns:a16="http://schemas.microsoft.com/office/drawing/2014/main" id="{E6C5FF9D-F1E7-4660-0952-FA558A0E32D7}"/>
              </a:ext>
            </a:extLst>
          </p:cNvPr>
          <p:cNvPicPr>
            <a:picLocks noChangeAspect="1"/>
          </p:cNvPicPr>
          <p:nvPr/>
        </p:nvPicPr>
        <p:blipFill>
          <a:blip r:embed="rId3">
            <a:extLst>
              <a:ext uri="{28A0092B-C50C-407E-A947-70E740481C1C}">
                <a14:useLocalDpi xmlns:a14="http://schemas.microsoft.com/office/drawing/2010/main" val="0"/>
              </a:ext>
            </a:extLst>
          </a:blip>
          <a:srcRect l="6268" r="6666"/>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87705323-5C74-7DE3-CA08-FB0F6A37E22C}"/>
              </a:ext>
            </a:extLst>
          </p:cNvPr>
          <p:cNvSpPr txBox="1"/>
          <p:nvPr/>
        </p:nvSpPr>
        <p:spPr>
          <a:xfrm>
            <a:off x="5297762" y="2706624"/>
            <a:ext cx="6251110" cy="3483864"/>
          </a:xfrm>
          <a:prstGeom prst="rect">
            <a:avLst/>
          </a:prstGeom>
        </p:spPr>
        <p:txBody>
          <a:bodyPr vert="horz" lIns="91440" tIns="45720" rIns="91440" bIns="45720" rtlCol="0">
            <a:normAutofit/>
          </a:bodyPr>
          <a:lstStyle/>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rPr>
              <a:t>Braveman et al (2022) shared: “</a:t>
            </a:r>
            <a:r>
              <a:rPr kumimoji="0" lang="en-US" sz="2200" b="0" i="1" u="none" strike="noStrike" kern="1200" cap="none" spc="0" normalizeH="0" baseline="0" noProof="0" dirty="0">
                <a:ln>
                  <a:noFill/>
                </a:ln>
                <a:solidFill>
                  <a:prstClr val="black"/>
                </a:solidFill>
                <a:effectLst/>
                <a:uLnTx/>
                <a:uFillTx/>
                <a:latin typeface="Aptos" panose="02110004020202020204"/>
                <a:ea typeface="+mn-ea"/>
                <a:cs typeface="+mn-cs"/>
              </a:rPr>
              <a:t>Systemic racism</a:t>
            </a:r>
            <a:r>
              <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rPr>
              <a:t> emphasizes the involvement of whole systems, and often all systems—for example, political, legal, economic, health care, school, and criminal justice systems—including the structures that uphold the systems. </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200" b="0" i="1" u="none" strike="noStrike" kern="1200" cap="none" spc="0" normalizeH="0" baseline="0" noProof="0" dirty="0">
                <a:ln>
                  <a:noFill/>
                </a:ln>
                <a:solidFill>
                  <a:prstClr val="black"/>
                </a:solidFill>
                <a:effectLst/>
                <a:uLnTx/>
                <a:uFillTx/>
                <a:latin typeface="Aptos" panose="02110004020202020204"/>
                <a:ea typeface="+mn-ea"/>
                <a:cs typeface="+mn-cs"/>
              </a:rPr>
              <a:t>Institutional (Structural) racism</a:t>
            </a:r>
            <a:r>
              <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200" b="0" i="0" u="none" strike="noStrike" kern="1200" cap="none" spc="0" normalizeH="0" baseline="0" noProof="0" dirty="0" err="1">
                <a:ln>
                  <a:noFill/>
                </a:ln>
                <a:solidFill>
                  <a:prstClr val="black"/>
                </a:solidFill>
                <a:effectLst/>
                <a:uLnTx/>
                <a:uFillTx/>
                <a:latin typeface="Aptos" panose="02110004020202020204"/>
                <a:ea typeface="+mn-ea"/>
                <a:cs typeface="+mn-cs"/>
              </a:rPr>
              <a:t>emphasises</a:t>
            </a:r>
            <a:r>
              <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rPr>
              <a:t> the role of the structures (laws, policies, institutional practices, and entrenched norms) that are the systems’ scaffolding.</a:t>
            </a:r>
            <a:r>
              <a:rPr kumimoji="0" lang="en-US" sz="2200" b="1" i="0" u="none" strike="noStrike" kern="1200" cap="none" spc="0" normalizeH="0" baseline="30000" noProof="0" dirty="0">
                <a:ln>
                  <a:noFill/>
                </a:ln>
                <a:solidFill>
                  <a:prstClr val="black"/>
                </a:solidFill>
                <a:effectLst/>
                <a:uLnTx/>
                <a:uFillTx/>
                <a:latin typeface="Aptos" panose="02110004020202020204"/>
                <a:ea typeface="+mn-ea"/>
                <a:cs typeface="+mn-cs"/>
              </a:rPr>
              <a:t> </a:t>
            </a:r>
            <a:endPar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68400684-B180-8924-1A3C-0DAC45D5B74C}"/>
              </a:ext>
            </a:extLst>
          </p:cNvPr>
          <p:cNvSpPr txBox="1"/>
          <p:nvPr/>
        </p:nvSpPr>
        <p:spPr>
          <a:xfrm>
            <a:off x="4294001" y="6216467"/>
            <a:ext cx="625111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Aptos" panose="02110004020202020204"/>
                <a:ea typeface="+mn-ea"/>
                <a:cs typeface="+mn-cs"/>
              </a:rPr>
              <a:t>Image: Iceberg Simon Lee </a:t>
            </a:r>
            <a:r>
              <a:rPr kumimoji="0" lang="en-AU" sz="1400" b="0" i="0" u="none" strike="noStrike" kern="1200" cap="none" spc="0" normalizeH="0" baseline="0" noProof="0" dirty="0" err="1">
                <a:ln>
                  <a:noFill/>
                </a:ln>
                <a:solidFill>
                  <a:prstClr val="black"/>
                </a:solidFill>
                <a:effectLst/>
                <a:uLnTx/>
                <a:uFillTx/>
                <a:latin typeface="Aptos" panose="02110004020202020204"/>
                <a:ea typeface="+mn-ea"/>
                <a:cs typeface="+mn-cs"/>
              </a:rPr>
              <a:t>Unsplash</a:t>
            </a:r>
            <a:endParaRPr kumimoji="0" lang="en-AU"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985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3" name="Freeform 3"/>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7" name="Title 1">
            <a:extLst>
              <a:ext uri="{FF2B5EF4-FFF2-40B4-BE49-F238E27FC236}">
                <a16:creationId xmlns:a16="http://schemas.microsoft.com/office/drawing/2014/main" id="{E51AEEE0-9848-1512-18C1-AAA0F0316D86}"/>
              </a:ext>
            </a:extLst>
          </p:cNvPr>
          <p:cNvSpPr txBox="1">
            <a:spLocks/>
          </p:cNvSpPr>
          <p:nvPr/>
        </p:nvSpPr>
        <p:spPr>
          <a:xfrm>
            <a:off x="2741549" y="473428"/>
            <a:ext cx="10659110" cy="1325563"/>
          </a:xfrm>
          <a:prstGeom prst="rect">
            <a:avLst/>
          </a:prstGeom>
        </p:spPr>
        <p:txBody>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4800" dirty="0"/>
              <a:t>Check Up</a:t>
            </a:r>
          </a:p>
          <a:p>
            <a:r>
              <a:rPr lang="en-AU" sz="3600" dirty="0"/>
              <a:t>What are we doing about racism</a:t>
            </a:r>
          </a:p>
        </p:txBody>
      </p:sp>
      <p:pic>
        <p:nvPicPr>
          <p:cNvPr id="9" name="Content Placeholder 3">
            <a:extLst>
              <a:ext uri="{FF2B5EF4-FFF2-40B4-BE49-F238E27FC236}">
                <a16:creationId xmlns:a16="http://schemas.microsoft.com/office/drawing/2014/main" id="{6FC2429F-7DED-9EBE-41CC-F1A3B5B70E0D}"/>
              </a:ext>
            </a:extLst>
          </p:cNvPr>
          <p:cNvPicPr>
            <a:picLocks noChangeAspect="1"/>
          </p:cNvPicPr>
          <p:nvPr/>
        </p:nvPicPr>
        <p:blipFill>
          <a:blip r:embed="rId4"/>
          <a:stretch>
            <a:fillRect/>
          </a:stretch>
        </p:blipFill>
        <p:spPr>
          <a:xfrm>
            <a:off x="2318473" y="1843931"/>
            <a:ext cx="8026813" cy="4273770"/>
          </a:xfrm>
          <a:prstGeom prst="rect">
            <a:avLst/>
          </a:prstGeom>
        </p:spPr>
      </p:pic>
      <p:sp>
        <p:nvSpPr>
          <p:cNvPr id="10" name="TextBox 9">
            <a:extLst>
              <a:ext uri="{FF2B5EF4-FFF2-40B4-BE49-F238E27FC236}">
                <a16:creationId xmlns:a16="http://schemas.microsoft.com/office/drawing/2014/main" id="{8BD28A54-4A27-A0A9-C4AA-F6B0725AC326}"/>
              </a:ext>
            </a:extLst>
          </p:cNvPr>
          <p:cNvSpPr txBox="1"/>
          <p:nvPr/>
        </p:nvSpPr>
        <p:spPr>
          <a:xfrm>
            <a:off x="3596811" y="6308737"/>
            <a:ext cx="6560820" cy="369332"/>
          </a:xfrm>
          <a:prstGeom prst="rect">
            <a:avLst/>
          </a:prstGeom>
          <a:noFill/>
        </p:spPr>
        <p:txBody>
          <a:bodyPr wrap="square" rtlCol="0">
            <a:spAutoFit/>
          </a:bodyPr>
          <a:lstStyle/>
          <a:p>
            <a:pPr defTabSz="914400"/>
            <a:r>
              <a:rPr lang="en-AU" dirty="0">
                <a:solidFill>
                  <a:prstClr val="black"/>
                </a:solidFill>
                <a:latin typeface="Aptos" panose="02110004020202020204"/>
                <a:hlinkClick r:id="rId5"/>
              </a:rPr>
              <a:t>Engaged ANU | Ending racism: Check up</a:t>
            </a:r>
            <a:endParaRPr lang="en-AU" dirty="0">
              <a:solidFill>
                <a:prstClr val="black"/>
              </a:solidFill>
              <a:latin typeface="Aptos" panose="021100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3C5AD-B61A-01DE-912A-349BC575D0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86DE6CC-6472-5802-A8AF-1C67EA39A440}"/>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3" name="Freeform 3">
            <a:extLst>
              <a:ext uri="{FF2B5EF4-FFF2-40B4-BE49-F238E27FC236}">
                <a16:creationId xmlns:a16="http://schemas.microsoft.com/office/drawing/2014/main" id="{722342EF-CAA5-19D4-FDA6-B54DDCCE0576}"/>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sz="1200"/>
          </a:p>
        </p:txBody>
      </p:sp>
      <p:sp>
        <p:nvSpPr>
          <p:cNvPr id="7" name="Title 1">
            <a:extLst>
              <a:ext uri="{FF2B5EF4-FFF2-40B4-BE49-F238E27FC236}">
                <a16:creationId xmlns:a16="http://schemas.microsoft.com/office/drawing/2014/main" id="{C08C63F9-AB3E-F126-A7F8-533FAC338B4F}"/>
              </a:ext>
            </a:extLst>
          </p:cNvPr>
          <p:cNvSpPr txBox="1">
            <a:spLocks/>
          </p:cNvSpPr>
          <p:nvPr/>
        </p:nvSpPr>
        <p:spPr>
          <a:xfrm>
            <a:off x="3607181" y="495581"/>
            <a:ext cx="10659110" cy="1325563"/>
          </a:xfrm>
          <a:prstGeom prst="rect">
            <a:avLst/>
          </a:prstGeom>
        </p:spPr>
        <p:txBody>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Othering</a:t>
            </a:r>
          </a:p>
        </p:txBody>
      </p:sp>
      <p:sp>
        <p:nvSpPr>
          <p:cNvPr id="8" name="Content Placeholder 2">
            <a:extLst>
              <a:ext uri="{FF2B5EF4-FFF2-40B4-BE49-F238E27FC236}">
                <a16:creationId xmlns:a16="http://schemas.microsoft.com/office/drawing/2014/main" id="{4ED4F2D1-C200-959B-D0A7-7B444F0A2759}"/>
              </a:ext>
            </a:extLst>
          </p:cNvPr>
          <p:cNvSpPr txBox="1">
            <a:spLocks/>
          </p:cNvSpPr>
          <p:nvPr/>
        </p:nvSpPr>
        <p:spPr>
          <a:xfrm>
            <a:off x="888365" y="1754051"/>
            <a:ext cx="10058400" cy="504932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2400" dirty="0"/>
              <a:t>Othering can be seen by actions such as:</a:t>
            </a:r>
          </a:p>
          <a:p>
            <a:pPr>
              <a:lnSpc>
                <a:spcPct val="150000"/>
              </a:lnSpc>
            </a:pPr>
            <a:r>
              <a:rPr lang="en-AU" sz="2400" dirty="0"/>
              <a:t>thinking that people outside your social/cultural group are not as intelligent or skilled as you and this is then reflected in your actions and tone of language</a:t>
            </a:r>
          </a:p>
          <a:p>
            <a:pPr>
              <a:lnSpc>
                <a:spcPct val="150000"/>
              </a:lnSpc>
            </a:pPr>
            <a:r>
              <a:rPr lang="en-AU" sz="2400" dirty="0"/>
              <a:t>ignoring people’s ideas or opinions</a:t>
            </a:r>
          </a:p>
          <a:p>
            <a:pPr>
              <a:lnSpc>
                <a:spcPct val="150000"/>
              </a:lnSpc>
            </a:pPr>
            <a:r>
              <a:rPr lang="en-AU" sz="2400" dirty="0"/>
              <a:t>not giving people the benefit of the doubt</a:t>
            </a:r>
          </a:p>
          <a:p>
            <a:pPr>
              <a:lnSpc>
                <a:spcPct val="150000"/>
              </a:lnSpc>
            </a:pPr>
            <a:r>
              <a:rPr lang="en-AU" sz="2400" dirty="0"/>
              <a:t>failing to share vital information with others</a:t>
            </a:r>
          </a:p>
          <a:p>
            <a:pPr>
              <a:lnSpc>
                <a:spcPct val="150000"/>
              </a:lnSpc>
            </a:pPr>
            <a:r>
              <a:rPr lang="en-AU" sz="2400" dirty="0"/>
              <a:t>excluding others</a:t>
            </a:r>
          </a:p>
        </p:txBody>
      </p:sp>
    </p:spTree>
    <p:extLst>
      <p:ext uri="{BB962C8B-B14F-4D97-AF65-F5344CB8AC3E}">
        <p14:creationId xmlns:p14="http://schemas.microsoft.com/office/powerpoint/2010/main" val="1484250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1B766-34C1-CD53-5F43-EE6C9BAE5899}"/>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B9F95A82-082D-2280-493E-E2C3472EB90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3858" y="0"/>
            <a:ext cx="12191980" cy="6856718"/>
          </a:xfrm>
          <a:prstGeom prst="rect">
            <a:avLst/>
          </a:prstGeom>
        </p:spPr>
      </p:pic>
      <p:sp>
        <p:nvSpPr>
          <p:cNvPr id="3" name="Title 1">
            <a:extLst>
              <a:ext uri="{FF2B5EF4-FFF2-40B4-BE49-F238E27FC236}">
                <a16:creationId xmlns:a16="http://schemas.microsoft.com/office/drawing/2014/main" id="{F311D39A-5702-A641-F203-2FCC97E224CB}"/>
              </a:ext>
            </a:extLst>
          </p:cNvPr>
          <p:cNvSpPr txBox="1">
            <a:spLocks/>
          </p:cNvSpPr>
          <p:nvPr/>
        </p:nvSpPr>
        <p:spPr>
          <a:xfrm>
            <a:off x="688859" y="-99909"/>
            <a:ext cx="10806545" cy="118484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609630">
              <a:defRPr/>
            </a:pPr>
            <a:r>
              <a:rPr lang="en-AU" sz="3600" dirty="0">
                <a:solidFill>
                  <a:prstClr val="black"/>
                </a:solidFill>
                <a:latin typeface="Calibri" panose="020F0502020204030204" pitchFamily="34" charset="0"/>
                <a:ea typeface="Calibri" panose="020F0502020204030204" pitchFamily="34" charset="0"/>
                <a:cs typeface="Calibri" panose="020F0502020204030204" pitchFamily="34" charset="0"/>
              </a:rPr>
              <a:t>Requesting a Special Consideration Support extension</a:t>
            </a:r>
            <a:endParaRPr lang="en-AU" sz="3600" dirty="0">
              <a:solidFill>
                <a:prstClr val="black"/>
              </a:solidFill>
              <a:latin typeface="Calibri"/>
            </a:endParaRPr>
          </a:p>
        </p:txBody>
      </p:sp>
      <p:pic>
        <p:nvPicPr>
          <p:cNvPr id="2" name="Picture 1">
            <a:extLst>
              <a:ext uri="{FF2B5EF4-FFF2-40B4-BE49-F238E27FC236}">
                <a16:creationId xmlns:a16="http://schemas.microsoft.com/office/drawing/2014/main" id="{12DF3290-4A94-0AC8-82C7-34B67FF979F8}"/>
              </a:ext>
            </a:extLst>
          </p:cNvPr>
          <p:cNvPicPr>
            <a:picLocks noChangeAspect="1"/>
          </p:cNvPicPr>
          <p:nvPr/>
        </p:nvPicPr>
        <p:blipFill>
          <a:blip r:embed="rId4"/>
          <a:stretch>
            <a:fillRect/>
          </a:stretch>
        </p:blipFill>
        <p:spPr>
          <a:xfrm>
            <a:off x="907721" y="1692033"/>
            <a:ext cx="10679741" cy="4673455"/>
          </a:xfrm>
          <a:prstGeom prst="rect">
            <a:avLst/>
          </a:prstGeom>
        </p:spPr>
      </p:pic>
    </p:spTree>
    <p:extLst>
      <p:ext uri="{BB962C8B-B14F-4D97-AF65-F5344CB8AC3E}">
        <p14:creationId xmlns:p14="http://schemas.microsoft.com/office/powerpoint/2010/main" val="247786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D68BC-F7E1-5682-805F-8EE91D01160C}"/>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0C49FA06-FBA0-3D25-4BCF-67538F784CA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3858" y="0"/>
            <a:ext cx="12191980" cy="6856718"/>
          </a:xfrm>
          <a:prstGeom prst="rect">
            <a:avLst/>
          </a:prstGeom>
        </p:spPr>
      </p:pic>
      <p:sp>
        <p:nvSpPr>
          <p:cNvPr id="3" name="Title 1">
            <a:extLst>
              <a:ext uri="{FF2B5EF4-FFF2-40B4-BE49-F238E27FC236}">
                <a16:creationId xmlns:a16="http://schemas.microsoft.com/office/drawing/2014/main" id="{D48F699A-25B5-3D99-7624-BB5AB1120881}"/>
              </a:ext>
            </a:extLst>
          </p:cNvPr>
          <p:cNvSpPr txBox="1">
            <a:spLocks/>
          </p:cNvSpPr>
          <p:nvPr/>
        </p:nvSpPr>
        <p:spPr>
          <a:xfrm>
            <a:off x="845126" y="-462988"/>
            <a:ext cx="10806545" cy="118484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srgbClr val="543E34"/>
                </a:solidFill>
                <a:effectLst/>
                <a:uLnTx/>
                <a:uFillTx/>
                <a:latin typeface="Sagona Book"/>
                <a:ea typeface="+mj-ea"/>
                <a:cs typeface="+mj-cs"/>
              </a:rPr>
              <a:t>Assessment 1 – Short Response</a:t>
            </a:r>
          </a:p>
        </p:txBody>
      </p:sp>
      <p:graphicFrame>
        <p:nvGraphicFramePr>
          <p:cNvPr id="6" name="Table 5">
            <a:extLst>
              <a:ext uri="{FF2B5EF4-FFF2-40B4-BE49-F238E27FC236}">
                <a16:creationId xmlns:a16="http://schemas.microsoft.com/office/drawing/2014/main" id="{D11B34B5-615D-E456-4FFB-586C5738F1E7}"/>
              </a:ext>
            </a:extLst>
          </p:cNvPr>
          <p:cNvGraphicFramePr>
            <a:graphicFrameLocks noGrp="1"/>
          </p:cNvGraphicFramePr>
          <p:nvPr/>
        </p:nvGraphicFramePr>
        <p:xfrm>
          <a:off x="1341120" y="2050869"/>
          <a:ext cx="9509760" cy="4103742"/>
        </p:xfrm>
        <a:graphic>
          <a:graphicData uri="http://schemas.openxmlformats.org/drawingml/2006/table">
            <a:tbl>
              <a:tblPr firstRow="1" firstCol="1" lastRow="1" lastCol="1" bandRow="1" bandCol="1"/>
              <a:tblGrid>
                <a:gridCol w="2237715">
                  <a:extLst>
                    <a:ext uri="{9D8B030D-6E8A-4147-A177-3AD203B41FA5}">
                      <a16:colId xmlns:a16="http://schemas.microsoft.com/office/drawing/2014/main" val="3741493981"/>
                    </a:ext>
                  </a:extLst>
                </a:gridCol>
                <a:gridCol w="7272045">
                  <a:extLst>
                    <a:ext uri="{9D8B030D-6E8A-4147-A177-3AD203B41FA5}">
                      <a16:colId xmlns:a16="http://schemas.microsoft.com/office/drawing/2014/main" val="1434727651"/>
                    </a:ext>
                  </a:extLst>
                </a:gridCol>
              </a:tblGrid>
              <a:tr h="270127">
                <a:tc>
                  <a:txBody>
                    <a:body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spc="-1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1</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703720888"/>
                  </a:ext>
                </a:extLst>
              </a:tr>
              <a:tr h="270127">
                <a:tc>
                  <a:txBody>
                    <a:bodyPr/>
                    <a:lstStyle/>
                    <a:p>
                      <a:pPr marL="71120">
                        <a:lnSpc>
                          <a:spcPct val="93939"/>
                        </a:lnSpc>
                        <a:buNone/>
                      </a:pPr>
                      <a:r>
                        <a:rPr lang="en-US" sz="2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a:effectLst/>
                          <a:latin typeface="Calibri" panose="020F0502020204030204" pitchFamily="34" charset="0"/>
                          <a:ea typeface="Calibri" panose="020F0502020204030204" pitchFamily="34" charset="0"/>
                          <a:cs typeface="Times New Roman" panose="02020603050405020304" pitchFamily="18" charset="0"/>
                        </a:rPr>
                        <a:t>Short</a:t>
                      </a:r>
                      <a:r>
                        <a:rPr lang="en-US" sz="2000" spc="-20">
                          <a:effectLst/>
                          <a:latin typeface="Calibri" panose="020F0502020204030204" pitchFamily="34" charset="0"/>
                          <a:ea typeface="Calibri" panose="020F0502020204030204" pitchFamily="34" charset="0"/>
                          <a:cs typeface="Times New Roman" panose="02020603050405020304" pitchFamily="18" charset="0"/>
                        </a:rPr>
                        <a:t> </a:t>
                      </a:r>
                      <a:r>
                        <a:rPr lang="en-US" sz="2000" spc="-10">
                          <a:effectLst/>
                          <a:latin typeface="Calibri" panose="020F0502020204030204" pitchFamily="34" charset="0"/>
                          <a:ea typeface="Calibri" panose="020F0502020204030204" pitchFamily="34" charset="0"/>
                          <a:cs typeface="Times New Roman" panose="02020603050405020304" pitchFamily="18" charset="0"/>
                        </a:rPr>
                        <a:t>response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2002684535"/>
                  </a:ext>
                </a:extLst>
              </a:tr>
              <a:tr h="270127">
                <a:tc>
                  <a:txBody>
                    <a:body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1,000</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1560343199"/>
                  </a:ext>
                </a:extLst>
              </a:tr>
              <a:tr h="270127">
                <a:tc>
                  <a:txBody>
                    <a:body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spc="-25">
                          <a:effectLst/>
                          <a:latin typeface="Calibri" panose="020F0502020204030204" pitchFamily="34" charset="0"/>
                          <a:ea typeface="Calibri" panose="020F0502020204030204" pitchFamily="34" charset="0"/>
                          <a:cs typeface="Times New Roman" panose="02020603050405020304" pitchFamily="18" charset="0"/>
                        </a:rPr>
                        <a:t>40%</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3259183628"/>
                  </a:ext>
                </a:extLst>
              </a:tr>
              <a:tr h="618873">
                <a:tc>
                  <a:txBody>
                    <a:bodyPr/>
                    <a:lstStyle/>
                    <a:p>
                      <a:pPr marL="71120">
                        <a:lnSpc>
                          <a:spcPct val="101515"/>
                        </a:lnSpc>
                        <a:buNone/>
                      </a:pPr>
                      <a:r>
                        <a:rPr lang="en-US" sz="2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2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Level</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2.</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GenAI</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Use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1755">
                        <a:lnSpc>
                          <a:spcPct val="93939"/>
                        </a:lnSpc>
                        <a:buNone/>
                      </a:pP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20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20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2000" spc="-2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20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1522273824"/>
                  </a:ext>
                </a:extLst>
              </a:tr>
              <a:tr h="541263">
                <a:tc>
                  <a:txBody>
                    <a:bodyPr/>
                    <a:lstStyle/>
                    <a:p>
                      <a:pPr marL="71120">
                        <a:lnSpc>
                          <a:spcPct val="93939"/>
                        </a:lnSpc>
                        <a:spcBef>
                          <a:spcPts val="30"/>
                        </a:spcBef>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spcBef>
                          <a:spcPts val="30"/>
                        </a:spcBef>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Word</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document</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submitted</a:t>
                      </a:r>
                      <a:r>
                        <a:rPr lang="en-US" sz="20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to</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3104242583"/>
                  </a:ext>
                </a:extLst>
              </a:tr>
              <a:tr h="1351644">
                <a:tc>
                  <a:txBody>
                    <a:bodyPr/>
                    <a:lstStyle/>
                    <a:p>
                      <a:pPr marL="71120">
                        <a:lnSpc>
                          <a:spcPct val="93939"/>
                        </a:lnSpc>
                        <a:buNone/>
                      </a:pPr>
                      <a:r>
                        <a:rPr lang="en-US" sz="20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2000" b="1" spc="-7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Outcomes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101515"/>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This</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task</a:t>
                      </a:r>
                      <a:r>
                        <a:rPr lang="en-US" sz="20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maps</a:t>
                      </a:r>
                      <a:r>
                        <a:rPr lang="en-US" sz="20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to</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the</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93939"/>
                        </a:lnSpc>
                        <a:buNone/>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ULO1</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Discuss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concepts</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health</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wellbeing</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as</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determined</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by </a:t>
                      </a:r>
                      <a:r>
                        <a:rPr lang="en-US" sz="2000" dirty="0">
                          <a:effectLst/>
                          <a:latin typeface="Calibri" panose="020F0502020204030204" pitchFamily="34" charset="0"/>
                          <a:ea typeface="Calibri" panose="020F0502020204030204" pitchFamily="34" charset="0"/>
                          <a:cs typeface="Times New Roman" panose="02020603050405020304" pitchFamily="18" charset="0"/>
                        </a:rPr>
                        <a:t>Aboriginal People.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100758"/>
                        </a:lnSpc>
                        <a:buNone/>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ULO2</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Identify</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stages</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the</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colonisation</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process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its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relationship</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to </a:t>
                      </a:r>
                      <a:r>
                        <a:rPr lang="en-US" sz="2000" dirty="0">
                          <a:effectLst/>
                          <a:latin typeface="Calibri" panose="020F0502020204030204" pitchFamily="34" charset="0"/>
                          <a:ea typeface="Calibri" panose="020F0502020204030204" pitchFamily="34" charset="0"/>
                          <a:cs typeface="Times New Roman" panose="02020603050405020304" pitchFamily="18" charset="0"/>
                        </a:rPr>
                        <a:t>the contemporary health status of Australian Indigenous People.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3968711129"/>
                  </a:ext>
                </a:extLst>
              </a:tr>
            </a:tbl>
          </a:graphicData>
        </a:graphic>
      </p:graphicFrame>
    </p:spTree>
    <p:extLst>
      <p:ext uri="{BB962C8B-B14F-4D97-AF65-F5344CB8AC3E}">
        <p14:creationId xmlns:p14="http://schemas.microsoft.com/office/powerpoint/2010/main" val="1562175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947B0-7196-6627-813B-8248C08A777E}"/>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99D81764-6215-901A-BA28-318881F03B2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sp>
        <p:nvSpPr>
          <p:cNvPr id="2" name="Title 3">
            <a:extLst>
              <a:ext uri="{FF2B5EF4-FFF2-40B4-BE49-F238E27FC236}">
                <a16:creationId xmlns:a16="http://schemas.microsoft.com/office/drawing/2014/main" id="{BD981AAA-4478-8BF5-3628-6E86037800A0}"/>
              </a:ext>
            </a:extLst>
          </p:cNvPr>
          <p:cNvSpPr txBox="1">
            <a:spLocks/>
          </p:cNvSpPr>
          <p:nvPr/>
        </p:nvSpPr>
        <p:spPr>
          <a:xfrm>
            <a:off x="508000" y="1437930"/>
            <a:ext cx="3876221" cy="398213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6000" b="0" i="0" u="none" strike="noStrike" kern="1200" cap="none" spc="0" normalizeH="0" baseline="0" noProof="0" dirty="0">
                <a:ln>
                  <a:noFill/>
                </a:ln>
                <a:solidFill>
                  <a:srgbClr val="543E34"/>
                </a:solidFill>
                <a:effectLst/>
                <a:uLnTx/>
                <a:uFillTx/>
                <a:latin typeface="Sagona Book"/>
                <a:ea typeface="+mj-ea"/>
                <a:cs typeface="+mj-cs"/>
              </a:rPr>
              <a:t>Overview to Writing a Short Response</a:t>
            </a:r>
          </a:p>
        </p:txBody>
      </p:sp>
      <p:sp>
        <p:nvSpPr>
          <p:cNvPr id="3" name="TextBox 2">
            <a:extLst>
              <a:ext uri="{FF2B5EF4-FFF2-40B4-BE49-F238E27FC236}">
                <a16:creationId xmlns:a16="http://schemas.microsoft.com/office/drawing/2014/main" id="{2C98E62B-6A4B-9A29-94F2-E41908495C84}"/>
              </a:ext>
            </a:extLst>
          </p:cNvPr>
          <p:cNvSpPr txBox="1"/>
          <p:nvPr/>
        </p:nvSpPr>
        <p:spPr>
          <a:xfrm>
            <a:off x="4996543" y="576745"/>
            <a:ext cx="6832538" cy="6358600"/>
          </a:xfrm>
          <a:prstGeom prst="rect">
            <a:avLst/>
          </a:prstGeom>
          <a:noFill/>
        </p:spPr>
        <p:txBody>
          <a:bodyPr wrap="square">
            <a:spAutoFit/>
          </a:bodyPr>
          <a:lstStyle/>
          <a:p>
            <a:pPr marL="14605" marR="494030" lvl="0" indent="0" algn="l" defTabSz="914400" rtl="0" eaLnBrk="1" fontAlgn="auto" latinLnBrk="0" hangingPunct="1">
              <a:lnSpc>
                <a:spcPct val="113000"/>
              </a:lnSpc>
              <a:spcBef>
                <a:spcPts val="615"/>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Always</a:t>
            </a:r>
            <a:r>
              <a:rPr kumimoji="0" lang="en-US" sz="1800" b="1"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use</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unit</a:t>
            </a:r>
            <a:r>
              <a:rPr kumimoji="0" lang="en-US" sz="1800" b="1"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approaches</a:t>
            </a:r>
            <a:r>
              <a:rPr kumimoji="0" lang="en-US" sz="1800" b="1"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(concepts,</a:t>
            </a:r>
            <a:r>
              <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theories,</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models,</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processes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or</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guidelines)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in</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your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short</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responses.</a:t>
            </a:r>
            <a:r>
              <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Often,</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this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means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defining</a:t>
            </a:r>
            <a:r>
              <a:rPr kumimoji="0" lang="en-US" sz="1800" b="1"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and</a:t>
            </a:r>
            <a:r>
              <a:rPr kumimoji="0" lang="en-US" sz="1800" b="1"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applying</a:t>
            </a:r>
            <a:r>
              <a:rPr kumimoji="0" lang="en-US" sz="1800" b="1" i="0" u="none" strike="noStrike" kern="1200" cap="none" spc="-6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unit</a:t>
            </a:r>
            <a:r>
              <a:rPr kumimoji="0" lang="en-US" sz="1800" b="0" i="0" u="none" strike="noStrike" kern="1200" cap="none" spc="-6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concepts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or</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theories</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t>
            </a:r>
            <a:r>
              <a:rPr kumimoji="0" lang="en-US" sz="1800" b="1" i="0" u="none" strike="noStrike" kern="1200" cap="none" spc="-6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br>
              <a:rPr kumimoji="0" lang="en-AU"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br>
            <a:endParaRPr kumimoji="0" lang="en-AU"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endParaRPr>
          </a:p>
          <a:p>
            <a:pPr marL="14605" marR="575945" lvl="0" indent="-635" algn="l" defTabSz="914400" rtl="0" eaLnBrk="1" fontAlgn="auto" latinLnBrk="0" hangingPunct="1">
              <a:lnSpc>
                <a:spcPct val="113000"/>
              </a:lnSpc>
              <a:spcBef>
                <a:spcPts val="775"/>
              </a:spcBef>
              <a:spcAft>
                <a:spcPts val="0"/>
              </a:spcAft>
              <a:buClrTx/>
              <a:buSzTx/>
              <a:buFontTx/>
              <a:buNone/>
              <a:tabLst/>
              <a:defRPr/>
            </a:pPr>
            <a:r>
              <a:rPr kumimoji="0" lang="en-US" sz="1800" b="1"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Before</a:t>
            </a:r>
            <a:r>
              <a:rPr kumimoji="0" lang="en-US" sz="1800" b="1"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start</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working</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on</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assessment,</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find</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definitions</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in</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the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unit</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materials.</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This</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step</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will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help</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gain</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more</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detailed</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grasp</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of</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unit</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ideas</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and</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theories</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so</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that</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can</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show</a:t>
            </a:r>
            <a:r>
              <a:rPr kumimoji="0" lang="en-US" sz="1800" b="1"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this understanding</a:t>
            </a:r>
            <a:r>
              <a:rPr kumimoji="0" lang="en-US" sz="1800" b="1" i="0" u="none" strike="noStrike" kern="1200" cap="none" spc="-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a:t>
            </a:r>
            <a:r>
              <a:rPr kumimoji="0" lang="en-US" sz="1800" b="0" i="0" u="none" strike="noStrike" kern="1200" cap="none" spc="-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marker.</a:t>
            </a:r>
            <a:endParaRPr kumimoji="0" lang="en-AU"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p>
          <a:p>
            <a:pPr marL="14605" marR="494030" lvl="0" indent="0" algn="l" defTabSz="914400" rtl="0" eaLnBrk="1" fontAlgn="auto" latinLnBrk="0" hangingPunct="1">
              <a:lnSpc>
                <a:spcPct val="112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Don't</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try</a:t>
            </a:r>
            <a:r>
              <a:rPr kumimoji="0" lang="en-US" sz="1800" b="1"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COVER</a:t>
            </a:r>
            <a:r>
              <a:rPr kumimoji="0" lang="en-US" sz="1800" b="1"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EVERYTHING</a:t>
            </a:r>
            <a:r>
              <a:rPr kumimoji="0" lang="en-US" sz="1800" b="1"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know</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about</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topic.</a:t>
            </a:r>
            <a:r>
              <a:rPr kumimoji="0" lang="en-US" sz="1800" b="0"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While</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it</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can</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be</a:t>
            </a:r>
            <a:r>
              <a:rPr kumimoji="0" lang="en-US" sz="1800" b="0"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tempting,</a:t>
            </a:r>
            <a:r>
              <a:rPr kumimoji="0" lang="en-US" sz="1800" b="0"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this</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is</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not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your</a:t>
            </a:r>
            <a:r>
              <a:rPr kumimoji="0" lang="en-US" sz="1800" b="1"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task</a:t>
            </a:r>
            <a:r>
              <a:rPr kumimoji="0" lang="en-US" sz="1800" b="1" i="0" u="none" strike="noStrike" kern="1200" cap="none" spc="-1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in</a:t>
            </a:r>
            <a:r>
              <a:rPr kumimoji="0" lang="en-US" sz="1800" b="0"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short</a:t>
            </a:r>
            <a:r>
              <a:rPr kumimoji="0" lang="en-US" sz="1800" b="0"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response,</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and</a:t>
            </a:r>
            <a:r>
              <a:rPr kumimoji="0" lang="en-US" sz="1800" b="0"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don't</a:t>
            </a:r>
            <a:r>
              <a:rPr kumimoji="0" lang="en-US" sz="1800" b="0"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have</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enough</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words.</a:t>
            </a:r>
            <a:r>
              <a:rPr kumimoji="0" lang="en-US" sz="1800" b="0" i="0" u="none" strike="noStrike" kern="1200" cap="none" spc="-1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Offer your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informed</a:t>
            </a:r>
            <a:r>
              <a:rPr kumimoji="0" lang="en-US" sz="1800" b="1"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answer</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a:t>
            </a:r>
            <a:r>
              <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question</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within</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a:t>
            </a:r>
            <a:r>
              <a:rPr kumimoji="0" lang="en-US" sz="1800" b="0" i="0" u="none" strike="noStrike" kern="1200" cap="none" spc="-7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limited</a:t>
            </a:r>
            <a:r>
              <a:rPr kumimoji="0" lang="en-US" sz="1800" b="0" i="0" u="none" strike="noStrike" kern="1200" cap="none" spc="-6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word count.</a:t>
            </a:r>
            <a:r>
              <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p>
          <a:p>
            <a:pPr marL="14605" marR="494030" lvl="0" indent="0" algn="l" defTabSz="914400" rtl="0" eaLnBrk="1" fontAlgn="auto" latinLnBrk="0" hangingPunct="1">
              <a:lnSpc>
                <a:spcPct val="112000"/>
              </a:lnSpc>
              <a:spcBef>
                <a:spcPts val="0"/>
              </a:spcBef>
              <a:spcAft>
                <a:spcPts val="0"/>
              </a:spcAft>
              <a:buClrTx/>
              <a:buSzTx/>
              <a:buFontTx/>
              <a:buNone/>
              <a:tabLst/>
              <a:defRPr/>
            </a:pPr>
            <a:endPar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endParaRPr>
          </a:p>
          <a:p>
            <a:pPr marL="14605" marR="494030" lvl="0" indent="0" algn="l" defTabSz="914400" rtl="0" eaLnBrk="1" fontAlgn="auto" latinLnBrk="0" hangingPunct="1">
              <a:lnSpc>
                <a:spcPct val="112000"/>
              </a:lnSpc>
              <a:spcBef>
                <a:spcPts val="0"/>
              </a:spcBef>
              <a:spcAft>
                <a:spcPts val="0"/>
              </a:spcAft>
              <a:buClrTx/>
              <a:buSzTx/>
              <a:buFontTx/>
              <a:buNone/>
              <a:tabLst/>
              <a:defRPr/>
            </a:pP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As</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brainstorm,</a:t>
            </a:r>
            <a:r>
              <a:rPr kumimoji="0" lang="en-US" sz="1800" b="0"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plan,</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and</a:t>
            </a:r>
            <a:r>
              <a:rPr kumimoji="0" lang="en-US" sz="1800" b="0"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draft</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keep</a:t>
            </a:r>
            <a:r>
              <a:rPr kumimoji="0" lang="en-US" sz="1800" b="0"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trying</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narrow,</a:t>
            </a:r>
            <a:r>
              <a:rPr kumimoji="0" lang="en-US" sz="1800" b="1"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narrow,</a:t>
            </a:r>
            <a:r>
              <a:rPr kumimoji="0" lang="en-US" sz="1800" b="1"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narrow</a:t>
            </a:r>
            <a:r>
              <a:rPr kumimoji="0" lang="en-US" sz="1800" b="1"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your</a:t>
            </a:r>
            <a:r>
              <a:rPr kumimoji="0" lang="en-US" sz="1800" b="1"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focus.</a:t>
            </a:r>
          </a:p>
          <a:p>
            <a:pPr marL="14605" marR="494030" lvl="0" indent="0" algn="l" defTabSz="914400" rtl="0" eaLnBrk="1" fontAlgn="auto" latinLnBrk="0" hangingPunct="1">
              <a:lnSpc>
                <a:spcPct val="112000"/>
              </a:lnSpc>
              <a:spcBef>
                <a:spcPts val="0"/>
              </a:spcBef>
              <a:spcAft>
                <a:spcPts val="0"/>
              </a:spcAft>
              <a:buClrTx/>
              <a:buSzTx/>
              <a:buFontTx/>
              <a:buNone/>
              <a:tabLst/>
              <a:defRPr/>
            </a:pPr>
            <a:endPar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mn-ea"/>
              <a:cs typeface="+mn-cs"/>
            </a:endParaRPr>
          </a:p>
          <a:p>
            <a:pPr marL="14605" marR="494030" lvl="0" indent="0" algn="l" defTabSz="914400" rtl="0" eaLnBrk="1" fontAlgn="auto" latinLnBrk="0" hangingPunct="1">
              <a:lnSpc>
                <a:spcPct val="112000"/>
              </a:lnSpc>
              <a:spcBef>
                <a:spcPts val="0"/>
              </a:spcBef>
              <a:spcAft>
                <a:spcPts val="0"/>
              </a:spcAft>
              <a:buClrTx/>
              <a:buSzTx/>
              <a:buFontTx/>
              <a:buNone/>
              <a:tabLst/>
              <a:defRPr/>
            </a:pP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mn-ea"/>
                <a:cs typeface="+mn-cs"/>
              </a:rPr>
              <a:t>You can use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mn-ea"/>
                <a:cs typeface="+mn-cs"/>
              </a:rPr>
              <a:t>headings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mn-ea"/>
                <a:cs typeface="+mn-cs"/>
              </a:rPr>
              <a:t>in a short response,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mn-ea"/>
                <a:cs typeface="+mn-cs"/>
              </a:rPr>
              <a:t>it is part of the word count.</a:t>
            </a:r>
            <a:endParaRPr kumimoji="0" lang="en-AU" sz="1800" b="0" i="0" u="none" strike="noStrike" kern="1200" cap="none" spc="0" normalizeH="0" baseline="0" noProof="0" dirty="0">
              <a:ln>
                <a:noFill/>
              </a:ln>
              <a:solidFill>
                <a:srgbClr val="000000"/>
              </a:solidFill>
              <a:effectLst/>
              <a:uLnTx/>
              <a:uFillTx/>
              <a:latin typeface="Grandview Display"/>
              <a:ea typeface="+mn-ea"/>
              <a:cs typeface="+mn-cs"/>
            </a:endParaRPr>
          </a:p>
          <a:p>
            <a:pPr marL="14605" marR="494030" lvl="0" indent="0" algn="l" defTabSz="914400" rtl="0" eaLnBrk="1" fontAlgn="auto" latinLnBrk="0" hangingPunct="1">
              <a:lnSpc>
                <a:spcPct val="112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Grandview Display"/>
              <a:ea typeface="+mn-ea"/>
              <a:cs typeface="+mn-cs"/>
            </a:endParaRPr>
          </a:p>
        </p:txBody>
      </p:sp>
    </p:spTree>
    <p:extLst>
      <p:ext uri="{BB962C8B-B14F-4D97-AF65-F5344CB8AC3E}">
        <p14:creationId xmlns:p14="http://schemas.microsoft.com/office/powerpoint/2010/main" val="2719387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C4F81-5DC7-ECC0-3B4D-AF15C38EAD6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C54D043-68FD-9FDC-7BAD-C47588C070BB}"/>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33B31EDA-5C58-2A06-FC17-2B7F464BD616}"/>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5" name="Title 3">
            <a:extLst>
              <a:ext uri="{FF2B5EF4-FFF2-40B4-BE49-F238E27FC236}">
                <a16:creationId xmlns:a16="http://schemas.microsoft.com/office/drawing/2014/main" id="{3BD2298D-3E61-0F75-4ED2-E41E47FB905A}"/>
              </a:ext>
            </a:extLst>
          </p:cNvPr>
          <p:cNvSpPr txBox="1">
            <a:spLocks/>
          </p:cNvSpPr>
          <p:nvPr/>
        </p:nvSpPr>
        <p:spPr>
          <a:xfrm>
            <a:off x="3028985" y="539496"/>
            <a:ext cx="7225357" cy="676656"/>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400" b="1" i="1" u="none" strike="noStrike" kern="1200" cap="none" spc="0" normalizeH="0" baseline="0" noProof="0" dirty="0">
                <a:ln>
                  <a:noFill/>
                </a:ln>
                <a:solidFill>
                  <a:srgbClr val="000000"/>
                </a:solidFill>
                <a:effectLst/>
                <a:uLnTx/>
                <a:uFillTx/>
                <a:latin typeface="Gill Sans Nova"/>
                <a:ea typeface="+mj-ea"/>
                <a:cs typeface="+mj-cs"/>
              </a:rPr>
              <a:t>10 Key Steps for Strong Short Response Writing</a:t>
            </a:r>
          </a:p>
        </p:txBody>
      </p:sp>
      <p:sp>
        <p:nvSpPr>
          <p:cNvPr id="2" name="Text Placeholder 4">
            <a:extLst>
              <a:ext uri="{FF2B5EF4-FFF2-40B4-BE49-F238E27FC236}">
                <a16:creationId xmlns:a16="http://schemas.microsoft.com/office/drawing/2014/main" id="{AB679E6C-5D67-0AC8-0D15-F73F6DD0B087}"/>
              </a:ext>
            </a:extLst>
          </p:cNvPr>
          <p:cNvSpPr txBox="1">
            <a:spLocks/>
          </p:cNvSpPr>
          <p:nvPr/>
        </p:nvSpPr>
        <p:spPr>
          <a:xfrm>
            <a:off x="1222900" y="1894115"/>
            <a:ext cx="9746199" cy="4963885"/>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4800">
              <a:spcBef>
                <a:spcPts val="1395"/>
              </a:spcBef>
              <a:buFont typeface="+mj-lt"/>
              <a:buAutoNum type="arabicPeriod"/>
            </a:pPr>
            <a:r>
              <a:rPr lang="en-AU" b="1" dirty="0"/>
              <a:t>Start with a clear main point: </a:t>
            </a:r>
            <a:r>
              <a:rPr lang="en-AU" dirty="0"/>
              <a:t>Emphasise that short responses must begin with the answer, not background. Example sentence starters such as: </a:t>
            </a:r>
            <a:r>
              <a:rPr lang="en-AU" i="1" dirty="0"/>
              <a:t>“This concept refers to…”</a:t>
            </a:r>
            <a:r>
              <a:rPr lang="en-AU" dirty="0"/>
              <a:t> or </a:t>
            </a:r>
            <a:r>
              <a:rPr lang="en-AU" i="1" dirty="0"/>
              <a:t>“In the scenario, this is evident when…”</a:t>
            </a:r>
            <a:r>
              <a:rPr lang="en-AU" dirty="0"/>
              <a:t>.</a:t>
            </a:r>
            <a:endParaRPr lang="en-AU" b="1" dirty="0"/>
          </a:p>
          <a:p>
            <a:pPr marL="76200">
              <a:spcBef>
                <a:spcPts val="1395"/>
              </a:spcBef>
            </a:pPr>
            <a:r>
              <a:rPr lang="en-AU" b="1" dirty="0"/>
              <a:t>2. Explain the key concept briefly:  D</a:t>
            </a:r>
            <a:r>
              <a:rPr lang="en-AU" dirty="0"/>
              <a:t>efine or clarify the concept in their own words before applying it. This prevents vague or incorrect use of terms </a:t>
            </a:r>
            <a:endParaRPr lang="en-AU" b="1" dirty="0"/>
          </a:p>
          <a:p>
            <a:r>
              <a:rPr lang="en-AU" b="1" dirty="0"/>
              <a:t>3. Link the concept to UNDRIP Article 3</a:t>
            </a:r>
            <a:r>
              <a:rPr lang="en-AU" dirty="0"/>
              <a:t> </a:t>
            </a:r>
          </a:p>
          <a:p>
            <a:r>
              <a:rPr lang="en-AU" dirty="0"/>
              <a:t>Show clearly how the concept relates to the rights described in Article 3 and to Australian Indigenous Peoples understandings of health and wellbeing. Interpret the connection—do not retell general background information.</a:t>
            </a:r>
          </a:p>
          <a:p>
            <a:pPr marL="76200">
              <a:spcBef>
                <a:spcPts val="1395"/>
              </a:spcBef>
            </a:pPr>
            <a:r>
              <a:rPr lang="en-AU" b="1" dirty="0"/>
              <a:t>4. Use scholarly or unit evidence: </a:t>
            </a:r>
            <a:r>
              <a:rPr lang="en-AU" dirty="0"/>
              <a:t>Short responses still require academic grounding. Evidence can be a unit concept, framework, or scholarly idea. Keep it brief. </a:t>
            </a:r>
            <a:endParaRPr lang="en-AU" b="1" dirty="0"/>
          </a:p>
          <a:p>
            <a:pPr marL="76200">
              <a:spcBef>
                <a:spcPts val="1395"/>
              </a:spcBef>
            </a:pPr>
            <a:r>
              <a:rPr lang="en-AU" b="1" dirty="0"/>
              <a:t>5. Write concisely and coherently: </a:t>
            </a:r>
            <a:r>
              <a:rPr lang="en-AU" dirty="0"/>
              <a:t>Use short, direct sentences - improves clarity and reduces grammatical errors - avoid long introductions, unnecessary detail, or narrative writing.</a:t>
            </a:r>
            <a:endParaRPr lang="en-AU" b="1" dirty="0"/>
          </a:p>
        </p:txBody>
      </p:sp>
    </p:spTree>
    <p:extLst>
      <p:ext uri="{BB962C8B-B14F-4D97-AF65-F5344CB8AC3E}">
        <p14:creationId xmlns:p14="http://schemas.microsoft.com/office/powerpoint/2010/main" val="6664841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E3ABF-6DAB-4C4B-F85C-492108EDD09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AA55AD4-D0BE-110C-ECA2-7459D9D0F48B}"/>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F55F5A5A-3325-FDD3-B65C-D10BC9900470}"/>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5" name="Title 3">
            <a:extLst>
              <a:ext uri="{FF2B5EF4-FFF2-40B4-BE49-F238E27FC236}">
                <a16:creationId xmlns:a16="http://schemas.microsoft.com/office/drawing/2014/main" id="{BD46F2D2-89BF-B62D-71AA-01EAF380F30F}"/>
              </a:ext>
            </a:extLst>
          </p:cNvPr>
          <p:cNvSpPr txBox="1">
            <a:spLocks/>
          </p:cNvSpPr>
          <p:nvPr/>
        </p:nvSpPr>
        <p:spPr>
          <a:xfrm>
            <a:off x="1722665" y="539496"/>
            <a:ext cx="8531678" cy="676656"/>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400" b="1" i="1" u="none" strike="noStrike" kern="1200" cap="none" spc="0" normalizeH="0" baseline="0" noProof="0" dirty="0">
                <a:ln>
                  <a:noFill/>
                </a:ln>
                <a:solidFill>
                  <a:srgbClr val="000000"/>
                </a:solidFill>
                <a:effectLst/>
                <a:uLnTx/>
                <a:uFillTx/>
                <a:latin typeface="Gill Sans Nova"/>
                <a:ea typeface="+mj-ea"/>
                <a:cs typeface="+mj-cs"/>
              </a:rPr>
              <a:t>10 Key Steps for Strong Short Response Writing continued …</a:t>
            </a:r>
          </a:p>
        </p:txBody>
      </p:sp>
      <p:sp>
        <p:nvSpPr>
          <p:cNvPr id="2" name="Text Placeholder 4">
            <a:extLst>
              <a:ext uri="{FF2B5EF4-FFF2-40B4-BE49-F238E27FC236}">
                <a16:creationId xmlns:a16="http://schemas.microsoft.com/office/drawing/2014/main" id="{149F42FA-6754-A33D-5026-D2A6898A1D99}"/>
              </a:ext>
            </a:extLst>
          </p:cNvPr>
          <p:cNvSpPr txBox="1">
            <a:spLocks/>
          </p:cNvSpPr>
          <p:nvPr/>
        </p:nvSpPr>
        <p:spPr>
          <a:xfrm>
            <a:off x="913093" y="1623861"/>
            <a:ext cx="9498004" cy="4032356"/>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0">
              <a:spcBef>
                <a:spcPts val="1395"/>
              </a:spcBef>
            </a:pPr>
            <a:r>
              <a:rPr lang="en-AU" b="1"/>
              <a:t>6. Maintain respectful terminology: </a:t>
            </a:r>
            <a:r>
              <a:rPr lang="en-AU"/>
              <a:t>Remember: Correct and consistent use of your chosen term</a:t>
            </a:r>
            <a:endParaRPr lang="en-AU" b="1"/>
          </a:p>
          <a:p>
            <a:pPr marL="76200">
              <a:spcBef>
                <a:spcPts val="1395"/>
              </a:spcBef>
            </a:pPr>
            <a:r>
              <a:rPr lang="en-AU" b="1"/>
              <a:t>7. Conclude by linking back to the question: 	</a:t>
            </a:r>
            <a:r>
              <a:rPr lang="en-AU"/>
              <a:t>A final sentence should reinforce the main point to close the paragraph logically and signals relevance to the marker.</a:t>
            </a:r>
            <a:endParaRPr lang="en-AU" b="1"/>
          </a:p>
          <a:p>
            <a:pPr marL="76200">
              <a:spcBef>
                <a:spcPts val="1395"/>
              </a:spcBef>
            </a:pPr>
            <a:r>
              <a:rPr lang="en-AU" b="1"/>
              <a:t>8. Avoid common pitfalls: </a:t>
            </a:r>
            <a:r>
              <a:rPr lang="en-AU"/>
              <a:t>Highlight typical issues: over‑description, missing the main point, unclear links to Article 3, lack of evidence, incorrect terminology, and overly long sentences. </a:t>
            </a:r>
            <a:endParaRPr lang="en-AU" b="1"/>
          </a:p>
          <a:p>
            <a:pPr marL="76200">
              <a:spcBef>
                <a:spcPts val="1395"/>
              </a:spcBef>
            </a:pPr>
            <a:r>
              <a:rPr lang="en-AU" b="1"/>
              <a:t>9. Use postgraduate verbs: </a:t>
            </a:r>
            <a:r>
              <a:rPr lang="en-AU"/>
              <a:t>Encourage verbs that show analysis and interpretation: </a:t>
            </a:r>
            <a:r>
              <a:rPr lang="en-AU" i="1"/>
              <a:t>analyse, interpret, examine, integrate, contextualise</a:t>
            </a:r>
            <a:r>
              <a:rPr lang="en-AU"/>
              <a:t>. Discourage vague verbs like </a:t>
            </a:r>
            <a:r>
              <a:rPr lang="en-AU" i="1"/>
              <a:t>talk about</a:t>
            </a:r>
            <a:r>
              <a:rPr lang="en-AU"/>
              <a:t> or </a:t>
            </a:r>
            <a:r>
              <a:rPr lang="en-AU" i="1"/>
              <a:t>discuss</a:t>
            </a:r>
            <a:r>
              <a:rPr lang="en-AU"/>
              <a:t>.</a:t>
            </a:r>
            <a:endParaRPr lang="en-AU" b="1"/>
          </a:p>
          <a:p>
            <a:pPr marL="76200">
              <a:spcBef>
                <a:spcPts val="1395"/>
              </a:spcBef>
            </a:pPr>
            <a:r>
              <a:rPr lang="en-AU" b="1"/>
              <a:t>10. Follow a simple structure (PEEL): Point → Explain → Evidence/Scenario → Link</a:t>
            </a:r>
            <a:r>
              <a:rPr lang="en-AU"/>
              <a:t>.</a:t>
            </a:r>
            <a:endParaRPr lang="en-AU" dirty="0">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914800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4865-58BC-D8BB-DA82-B256D4B009B5}"/>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93B3A9C1-B407-4BF1-2F8D-E19775FC905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sp>
        <p:nvSpPr>
          <p:cNvPr id="2" name="Title 3">
            <a:extLst>
              <a:ext uri="{FF2B5EF4-FFF2-40B4-BE49-F238E27FC236}">
                <a16:creationId xmlns:a16="http://schemas.microsoft.com/office/drawing/2014/main" id="{B7693EEC-26E7-F4DE-6EC1-67BA086DD0AB}"/>
              </a:ext>
            </a:extLst>
          </p:cNvPr>
          <p:cNvSpPr txBox="1">
            <a:spLocks/>
          </p:cNvSpPr>
          <p:nvPr/>
        </p:nvSpPr>
        <p:spPr>
          <a:xfrm>
            <a:off x="0" y="0"/>
            <a:ext cx="5471886" cy="43740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6000" b="0" i="0" u="none" strike="noStrike" kern="1200" cap="none" spc="0" normalizeH="0" baseline="0" noProof="0">
                <a:ln>
                  <a:noFill/>
                </a:ln>
                <a:solidFill>
                  <a:srgbClr val="543E34"/>
                </a:solidFill>
                <a:effectLst/>
                <a:uLnTx/>
                <a:uFillTx/>
                <a:latin typeface="Sagona Book"/>
                <a:ea typeface="+mj-ea"/>
                <a:cs typeface="+mj-cs"/>
              </a:rPr>
              <a:t>PEEL Writing Structure</a:t>
            </a:r>
            <a:endParaRPr kumimoji="0" lang="en-AU" sz="6000" b="0" i="0" u="none" strike="noStrike" kern="1200" cap="none" spc="0" normalizeH="0" baseline="0" noProof="0" dirty="0">
              <a:ln>
                <a:noFill/>
              </a:ln>
              <a:solidFill>
                <a:srgbClr val="543E34"/>
              </a:solidFill>
              <a:effectLst/>
              <a:uLnTx/>
              <a:uFillTx/>
              <a:latin typeface="Sagona Book"/>
              <a:ea typeface="+mj-ea"/>
              <a:cs typeface="+mj-cs"/>
            </a:endParaRPr>
          </a:p>
        </p:txBody>
      </p:sp>
      <p:pic>
        <p:nvPicPr>
          <p:cNvPr id="3" name="Picture 2">
            <a:extLst>
              <a:ext uri="{FF2B5EF4-FFF2-40B4-BE49-F238E27FC236}">
                <a16:creationId xmlns:a16="http://schemas.microsoft.com/office/drawing/2014/main" id="{17CA4C91-D6A8-0DC0-CA84-4949FB1998A9}"/>
              </a:ext>
            </a:extLst>
          </p:cNvPr>
          <p:cNvPicPr>
            <a:picLocks noChangeAspect="1"/>
          </p:cNvPicPr>
          <p:nvPr/>
        </p:nvPicPr>
        <p:blipFill>
          <a:blip r:embed="rId4"/>
          <a:stretch>
            <a:fillRect/>
          </a:stretch>
        </p:blipFill>
        <p:spPr>
          <a:xfrm>
            <a:off x="5708268" y="487217"/>
            <a:ext cx="6083235" cy="5883566"/>
          </a:xfrm>
          <a:prstGeom prst="rect">
            <a:avLst/>
          </a:prstGeom>
        </p:spPr>
      </p:pic>
    </p:spTree>
    <p:extLst>
      <p:ext uri="{BB962C8B-B14F-4D97-AF65-F5344CB8AC3E}">
        <p14:creationId xmlns:p14="http://schemas.microsoft.com/office/powerpoint/2010/main" val="710409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2F08A-2A84-E523-7CA2-B647AC4270C2}"/>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A4DC8BB-850E-2F39-2D71-2FD1A8D047B5}"/>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2C2C190B-C16D-0CF9-D476-7688E0C6081E}"/>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3" name="Text Placeholder 4">
            <a:extLst>
              <a:ext uri="{FF2B5EF4-FFF2-40B4-BE49-F238E27FC236}">
                <a16:creationId xmlns:a16="http://schemas.microsoft.com/office/drawing/2014/main" id="{0C557CBD-C8F1-BD6D-EC21-CA59B3FD50FD}"/>
              </a:ext>
            </a:extLst>
          </p:cNvPr>
          <p:cNvSpPr txBox="1">
            <a:spLocks/>
          </p:cNvSpPr>
          <p:nvPr/>
        </p:nvSpPr>
        <p:spPr>
          <a:xfrm>
            <a:off x="499870" y="1117022"/>
            <a:ext cx="11515345" cy="5140087"/>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Purpose of the Assessment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Builds understanding of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Australian Indigenous perspectives of health and wellbeing</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Introduces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self‑determination</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 as a core principle in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UNDRIP Article 3</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Highlights differences between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Australian Indigenous wholistic health</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 and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Western biomedical models</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Examines how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colonisation has limited the ability to exercise self‑determination</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Develops foundational knowledge for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culturally safe practice</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 in health, social services, and community work.</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Strengthens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critical thinking</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 and culturally grounded analysis for professional contexts.</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100298"/>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US" sz="2000" b="1" i="0" u="none" strike="noStrike" kern="0" cap="none" spc="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mn-cs"/>
              </a:rPr>
              <a:t>Task</a:t>
            </a:r>
            <a:r>
              <a:rPr kumimoji="0" lang="en-US" sz="2000" b="1" i="0" u="none" strike="noStrike" kern="0" cap="none" spc="-2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mn-cs"/>
              </a:rPr>
              <a:t> </a:t>
            </a:r>
            <a:r>
              <a:rPr kumimoji="0" lang="en-US" sz="2000" b="1" i="0" u="none" strike="noStrike" kern="0" cap="none" spc="-1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mn-cs"/>
              </a:rPr>
              <a:t>Description</a:t>
            </a:r>
            <a:endParaRPr kumimoji="0" lang="en-AU" sz="2000" b="1" i="0" u="none" strike="noStrike" kern="0" cap="none" spc="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mn-cs"/>
            </a:endParaRPr>
          </a:p>
          <a:p>
            <a:pPr marL="342900" marR="0" lvl="0" indent="-342900" algn="l" defTabSz="914400" rtl="0" eaLnBrk="1" fontAlgn="auto" latinLnBrk="0" hangingPunct="1">
              <a:lnSpc>
                <a:spcPct val="90000"/>
              </a:lnSpc>
              <a:spcBef>
                <a:spcPts val="5"/>
              </a:spcBef>
              <a:spcAft>
                <a:spcPts val="0"/>
              </a:spcAft>
              <a:buClr>
                <a:srgbClr val="171735">
                  <a:lumMod val="75000"/>
                  <a:lumOff val="25000"/>
                </a:srgbClr>
              </a:buClr>
              <a:buSzPts val="1000"/>
              <a:buFont typeface="Symbol" panose="05050102010706020507" pitchFamily="18" charset="2"/>
              <a:buChar char=""/>
              <a:tabLst/>
              <a:defRPr/>
            </a:pP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Read </a:t>
            </a:r>
            <a:r>
              <a:rPr kumimoji="0" lang="en-US" sz="2000" b="1"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Article 3 of the United Nations Declaration on the Rights of Indigenous Peoples (UNDRIP)</a:t>
            </a: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a:t>
            </a: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endParaRPr>
          </a:p>
          <a:p>
            <a:pPr marL="342900" marR="0" lvl="0" indent="-342900" algn="l" defTabSz="914400" rtl="0" eaLnBrk="1" fontAlgn="auto" latinLnBrk="0" hangingPunct="1">
              <a:lnSpc>
                <a:spcPct val="90000"/>
              </a:lnSpc>
              <a:spcBef>
                <a:spcPts val="5"/>
              </a:spcBef>
              <a:spcAft>
                <a:spcPts val="0"/>
              </a:spcAft>
              <a:buClr>
                <a:srgbClr val="171735">
                  <a:lumMod val="75000"/>
                  <a:lumOff val="25000"/>
                </a:srgbClr>
              </a:buClr>
              <a:buSzPts val="1000"/>
              <a:buFont typeface="Symbol" panose="05050102010706020507" pitchFamily="18" charset="2"/>
              <a:buChar char=""/>
              <a:tabLst/>
              <a:defRPr/>
            </a:pPr>
            <a:r>
              <a:rPr kumimoji="0" lang="en-US" sz="2000" b="1" i="1"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"Indigenous peoples have the right to self-determination. By virtue of that right, they freely determine their political status and freely pursue their economic, social and cultural development."</a:t>
            </a: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endParaRPr>
          </a:p>
          <a:p>
            <a:pPr marL="342900" marR="0" lvl="0" indent="-342900" algn="l" defTabSz="914400" rtl="0" eaLnBrk="1" fontAlgn="auto" latinLnBrk="0" hangingPunct="1">
              <a:lnSpc>
                <a:spcPct val="90000"/>
              </a:lnSpc>
              <a:spcBef>
                <a:spcPts val="5"/>
              </a:spcBef>
              <a:spcAft>
                <a:spcPts val="0"/>
              </a:spcAft>
              <a:buClr>
                <a:srgbClr val="171735">
                  <a:lumMod val="75000"/>
                  <a:lumOff val="25000"/>
                </a:srgbClr>
              </a:buClr>
              <a:buSzPts val="1000"/>
              <a:buFont typeface="Symbol" panose="05050102010706020507" pitchFamily="18" charset="2"/>
              <a:buChar char=""/>
              <a:tabLst/>
              <a:defRPr/>
            </a:pP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Write a </a:t>
            </a:r>
            <a:r>
              <a:rPr kumimoji="0" lang="en-US" sz="2000" b="1"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1,000-word short response</a:t>
            </a: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 explaining how this article relates to Australian Indigenous Peoples understandings of health and wellbeing.</a:t>
            </a: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endParaRPr>
          </a:p>
          <a:p>
            <a:pPr marL="228600" marR="0" lvl="0" indent="-228600" algn="l" defTabSz="914400" rtl="0" eaLnBrk="1" fontAlgn="auto" latinLnBrk="0" hangingPunct="1">
              <a:lnSpc>
                <a:spcPct val="107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rPr>
              <a:t> </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endParaRPr>
          </a:p>
        </p:txBody>
      </p:sp>
      <p:sp>
        <p:nvSpPr>
          <p:cNvPr id="4" name="TextBox 3">
            <a:extLst>
              <a:ext uri="{FF2B5EF4-FFF2-40B4-BE49-F238E27FC236}">
                <a16:creationId xmlns:a16="http://schemas.microsoft.com/office/drawing/2014/main" id="{90696B4D-84CD-4CCF-E0A5-7A71923DFB07}"/>
              </a:ext>
            </a:extLst>
          </p:cNvPr>
          <p:cNvSpPr txBox="1"/>
          <p:nvPr/>
        </p:nvSpPr>
        <p:spPr>
          <a:xfrm>
            <a:off x="3667125" y="82746"/>
            <a:ext cx="485775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srgbClr val="000000"/>
                </a:solidFill>
                <a:effectLst/>
                <a:uLnTx/>
                <a:uFillTx/>
                <a:latin typeface="Calibri"/>
                <a:ea typeface="+mn-ea"/>
                <a:cs typeface="+mn-cs"/>
              </a:rPr>
              <a:t>Assessment 1 Overview</a:t>
            </a:r>
          </a:p>
        </p:txBody>
      </p:sp>
    </p:spTree>
    <p:extLst>
      <p:ext uri="{BB962C8B-B14F-4D97-AF65-F5344CB8AC3E}">
        <p14:creationId xmlns:p14="http://schemas.microsoft.com/office/powerpoint/2010/main" val="4224380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9B5B-0166-1D07-150F-F42929B7F5A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7A68B07-F72B-982A-C562-3E16BDE9A1C2}"/>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61EC7BB6-A87B-11C7-943C-644340C26953}"/>
              </a:ext>
            </a:extLst>
          </p:cNvPr>
          <p:cNvPicPr>
            <a:picLocks noGrp="1" noChangeAspect="1"/>
          </p:cNvPicPr>
          <p:nvPr>
            <p:ph idx="1"/>
          </p:nvPr>
        </p:nvPicPr>
        <p:blipFill>
          <a:blip r:embed="rId4"/>
          <a:stretch>
            <a:fillRect/>
          </a:stretch>
        </p:blipFill>
        <p:spPr>
          <a:xfrm>
            <a:off x="-2" y="-305199"/>
            <a:ext cx="12192000" cy="7283430"/>
          </a:xfrm>
          <a:prstGeom prst="rect">
            <a:avLst/>
          </a:prstGeom>
        </p:spPr>
      </p:pic>
      <p:sp>
        <p:nvSpPr>
          <p:cNvPr id="18" name="Title 3">
            <a:extLst>
              <a:ext uri="{FF2B5EF4-FFF2-40B4-BE49-F238E27FC236}">
                <a16:creationId xmlns:a16="http://schemas.microsoft.com/office/drawing/2014/main" id="{25D0E1D9-6EB5-6B2F-50BB-D9E21456B88D}"/>
              </a:ext>
            </a:extLst>
          </p:cNvPr>
          <p:cNvSpPr txBox="1">
            <a:spLocks/>
          </p:cNvSpPr>
          <p:nvPr/>
        </p:nvSpPr>
        <p:spPr>
          <a:xfrm>
            <a:off x="3148313" y="0"/>
            <a:ext cx="6205615" cy="64019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3600" b="0" i="0" u="none" strike="noStrike" kern="1200" cap="none" spc="0" normalizeH="0" baseline="0" noProof="0" dirty="0">
                <a:ln>
                  <a:noFill/>
                </a:ln>
                <a:solidFill>
                  <a:srgbClr val="543E34"/>
                </a:solidFill>
                <a:effectLst/>
                <a:uLnTx/>
                <a:uFillTx/>
                <a:latin typeface="Sagona Book"/>
                <a:ea typeface="+mj-ea"/>
                <a:cs typeface="+mj-cs"/>
              </a:rPr>
              <a:t>Assessment 1 - Instructions</a:t>
            </a:r>
          </a:p>
        </p:txBody>
      </p:sp>
      <p:sp>
        <p:nvSpPr>
          <p:cNvPr id="19" name="Text Placeholder 4">
            <a:extLst>
              <a:ext uri="{FF2B5EF4-FFF2-40B4-BE49-F238E27FC236}">
                <a16:creationId xmlns:a16="http://schemas.microsoft.com/office/drawing/2014/main" id="{BCF588E8-5F1E-AE5B-39AE-A1C65D4D5503}"/>
              </a:ext>
            </a:extLst>
          </p:cNvPr>
          <p:cNvSpPr txBox="1">
            <a:spLocks/>
          </p:cNvSpPr>
          <p:nvPr/>
        </p:nvSpPr>
        <p:spPr>
          <a:xfrm>
            <a:off x="330324" y="569635"/>
            <a:ext cx="11841591" cy="6157735"/>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171735"/>
                </a:solidFill>
                <a:effectLst/>
                <a:uLnTx/>
                <a:uFillTx/>
                <a:latin typeface="Calibri"/>
                <a:ea typeface="+mn-ea"/>
                <a:cs typeface="+mn-cs"/>
              </a:rPr>
              <a:t>Step 1: Read UNDRIP Article 3</a:t>
            </a: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171735"/>
                </a:solidFill>
                <a:effectLst/>
                <a:uLnTx/>
                <a:uFillTx/>
                <a:latin typeface="Calibri"/>
                <a:ea typeface="+mn-ea"/>
                <a:cs typeface="+mn-cs"/>
              </a:rPr>
              <a:t>Consider what the term </a:t>
            </a:r>
            <a:r>
              <a:rPr kumimoji="0" lang="en-US" sz="1600" b="1" i="0" u="none" strike="noStrike" kern="1200" cap="none" spc="0" normalizeH="0" baseline="0" noProof="0" dirty="0">
                <a:ln>
                  <a:noFill/>
                </a:ln>
                <a:solidFill>
                  <a:srgbClr val="171735"/>
                </a:solidFill>
                <a:effectLst/>
                <a:uLnTx/>
                <a:uFillTx/>
                <a:latin typeface="Calibri"/>
                <a:ea typeface="+mn-ea"/>
                <a:cs typeface="+mn-cs"/>
              </a:rPr>
              <a:t>self-determination</a:t>
            </a:r>
            <a:r>
              <a:rPr kumimoji="0" lang="en-US" sz="1600" b="0" i="0" u="none" strike="noStrike" kern="1200" cap="none" spc="0" normalizeH="0" baseline="0" noProof="0" dirty="0">
                <a:ln>
                  <a:noFill/>
                </a:ln>
                <a:solidFill>
                  <a:srgbClr val="171735"/>
                </a:solidFill>
                <a:effectLst/>
                <a:uLnTx/>
                <a:uFillTx/>
                <a:latin typeface="Calibri"/>
                <a:ea typeface="+mn-ea"/>
                <a:cs typeface="+mn-cs"/>
              </a:rPr>
              <a:t> means and why it is important for Australian Indigenous Peoples.</a:t>
            </a: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US" sz="16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171735"/>
                </a:solidFill>
                <a:effectLst/>
                <a:uLnTx/>
                <a:uFillTx/>
                <a:latin typeface="Calibri"/>
                <a:ea typeface="+mn-ea"/>
                <a:cs typeface="+mn-cs"/>
              </a:rPr>
              <a:t>Step 2: Review Unit Content</a:t>
            </a: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171735"/>
                </a:solidFill>
                <a:effectLst/>
                <a:uLnTx/>
                <a:uFillTx/>
                <a:latin typeface="Calibri"/>
                <a:ea typeface="+mn-ea"/>
                <a:cs typeface="+mn-cs"/>
              </a:rPr>
              <a:t>Use learning materials from:</a:t>
            </a: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685800" marR="0" lvl="1" indent="-22860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171735"/>
                </a:solidFill>
                <a:effectLst/>
                <a:uLnTx/>
                <a:uFillTx/>
                <a:latin typeface="Calibri"/>
                <a:ea typeface="+mn-ea"/>
                <a:cs typeface="+mn-cs"/>
              </a:rPr>
              <a:t>Module 1: Australian Indigenous concepts of health and wellbeing.</a:t>
            </a: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685800" marR="0" lvl="1" indent="-22860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171735"/>
                </a:solidFill>
                <a:effectLst/>
                <a:uLnTx/>
                <a:uFillTx/>
                <a:latin typeface="Calibri"/>
                <a:ea typeface="+mn-ea"/>
                <a:cs typeface="+mn-cs"/>
              </a:rPr>
              <a:t>Module 2: Colonisation and its impacts on Australian Indigenous health and wellbeing.</a:t>
            </a:r>
          </a:p>
          <a:p>
            <a:pPr marL="457200" marR="0" lvl="1"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US" sz="16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171735"/>
                </a:solidFill>
                <a:effectLst/>
                <a:uLnTx/>
                <a:uFillTx/>
                <a:latin typeface="Calibri"/>
                <a:ea typeface="+mn-ea"/>
                <a:cs typeface="+mn-cs"/>
              </a:rPr>
              <a:t>Step 3: Research</a:t>
            </a: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171735"/>
                </a:solidFill>
                <a:effectLst/>
                <a:uLnTx/>
                <a:uFillTx/>
                <a:latin typeface="Calibri"/>
                <a:ea typeface="+mn-ea"/>
                <a:cs typeface="+mn-cs"/>
              </a:rPr>
              <a:t>Locate additional scholarly literature that supports your discussion.</a:t>
            </a: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457200" marR="0" lvl="1"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171735"/>
                </a:solidFill>
                <a:effectLst/>
                <a:uLnTx/>
                <a:uFillTx/>
                <a:latin typeface="Calibri"/>
                <a:ea typeface="+mn-ea"/>
                <a:cs typeface="+mn-cs"/>
              </a:rPr>
              <a:t>Definition of Scholarly and Peer-Reviewed sources</a:t>
            </a: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457200" marR="0" lvl="1"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AU" sz="1600" b="0" i="0" u="none" strike="noStrike" kern="1200" cap="none" spc="0" normalizeH="0" baseline="0" noProof="0" dirty="0">
                <a:ln>
                  <a:noFill/>
                </a:ln>
                <a:solidFill>
                  <a:srgbClr val="171735"/>
                </a:solidFill>
                <a:effectLst/>
                <a:uLnTx/>
                <a:uFillTx/>
                <a:latin typeface="Calibri"/>
                <a:ea typeface="+mn-ea"/>
                <a:cs typeface="+mn-cs"/>
              </a:rPr>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marL="457200" marR="0" lvl="1"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171735"/>
                </a:solidFill>
                <a:effectLst/>
                <a:uLnTx/>
                <a:uFillTx/>
                <a:latin typeface="Calibri"/>
                <a:ea typeface="+mn-ea"/>
                <a:cs typeface="+mn-cs"/>
              </a:rPr>
              <a:t>Step 4: Write Your Response</a:t>
            </a:r>
            <a:endParaRPr kumimoji="0" lang="en-AU" sz="16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Char char="•"/>
              <a:tabLst/>
              <a:defRPr/>
            </a:pPr>
            <a:r>
              <a:rPr kumimoji="0" lang="en-AU" sz="1600" b="0" i="0" u="none" strike="noStrike" kern="1200" cap="none" spc="0" normalizeH="0" baseline="0" noProof="0" dirty="0">
                <a:ln>
                  <a:noFill/>
                </a:ln>
                <a:solidFill>
                  <a:srgbClr val="171735"/>
                </a:solidFill>
                <a:effectLst/>
                <a:uLnTx/>
                <a:uFillTx/>
                <a:latin typeface="Calibri"/>
                <a:ea typeface="+mn-ea"/>
                <a:cs typeface="+mn-cs"/>
              </a:rPr>
              <a:t>Your response should explain how Australian Indigenous concepts of health and wellbeing, self-determination, and community-accepted communication styles are interconnected, and how these relate to the ongoing impacts of colonisation on Australian Indigenous health and wellbeing.</a:t>
            </a: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3663247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D81CA-49CE-38EA-E54F-920063B2719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279F316-F28D-1D17-EB33-D89BAB4AC39E}"/>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7BA55827-29EA-173F-D5C0-E374DE5BCFE6}"/>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2" name="Text Placeholder 4">
            <a:extLst>
              <a:ext uri="{FF2B5EF4-FFF2-40B4-BE49-F238E27FC236}">
                <a16:creationId xmlns:a16="http://schemas.microsoft.com/office/drawing/2014/main" id="{8BF05177-BC97-256C-BA7D-FDB30B961FF7}"/>
              </a:ext>
            </a:extLst>
          </p:cNvPr>
          <p:cNvSpPr txBox="1">
            <a:spLocks/>
          </p:cNvSpPr>
          <p:nvPr/>
        </p:nvSpPr>
        <p:spPr>
          <a:xfrm>
            <a:off x="378824" y="855337"/>
            <a:ext cx="11813176" cy="5609471"/>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Introduction (Approx. 100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Introduce UNDRIP Article 3.</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Outline the main points of your response.</a:t>
            </a: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AU" sz="8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Health and Wellbeing (Approx. 300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Examine the key concepts of health and wellbeing from Australian Indigenous perspectives.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Reflect on why self-determination is important for Australian Indigenous health and wellbeing.</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Critically evaluate one cultural determinant which shapes Australian Indigenous health and wellbeing.</a:t>
            </a: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AU" sz="8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Community-accepted communication styles (Approx. 300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Critically </a:t>
            </a:r>
            <a:r>
              <a:rPr kumimoji="0" lang="en-US" sz="2000" b="0" i="0" u="none" strike="noStrike" kern="1200" cap="none" spc="0" normalizeH="0" baseline="0" noProof="0" dirty="0" err="1">
                <a:ln>
                  <a:noFill/>
                </a:ln>
                <a:solidFill>
                  <a:srgbClr val="171735"/>
                </a:solidFill>
                <a:effectLst/>
                <a:uLnTx/>
                <a:uFillTx/>
                <a:latin typeface="Calibri"/>
                <a:ea typeface="+mn-ea"/>
                <a:cs typeface="+mn-cs"/>
              </a:rPr>
              <a:t>analyse</a:t>
            </a:r>
            <a:r>
              <a:rPr kumimoji="0" lang="en-US" sz="2000" b="0" i="0" u="none" strike="noStrike" kern="1200" cap="none" spc="0" normalizeH="0" baseline="0" noProof="0" dirty="0">
                <a:ln>
                  <a:noFill/>
                </a:ln>
                <a:solidFill>
                  <a:srgbClr val="171735"/>
                </a:solidFill>
                <a:effectLst/>
                <a:uLnTx/>
                <a:uFillTx/>
                <a:latin typeface="Calibri"/>
                <a:ea typeface="+mn-ea"/>
                <a:cs typeface="+mn-cs"/>
              </a:rPr>
              <a:t> the role of community-accepted communication styles in supporting</a:t>
            </a:r>
            <a:r>
              <a:rPr kumimoji="0" lang="en-US" sz="2000" b="1" i="0" u="none" strike="noStrike" kern="1200" cap="none" spc="0" normalizeH="0" baseline="0" noProof="0" dirty="0">
                <a:ln>
                  <a:noFill/>
                </a:ln>
                <a:solidFill>
                  <a:srgbClr val="171735"/>
                </a:solidFill>
                <a:effectLst/>
                <a:uLnTx/>
                <a:uFillTx/>
                <a:latin typeface="Calibri"/>
                <a:ea typeface="+mn-ea"/>
                <a:cs typeface="+mn-cs"/>
              </a:rPr>
              <a:t> </a:t>
            </a:r>
            <a:r>
              <a:rPr kumimoji="0" lang="en-US" sz="2000" b="0" i="0" u="none" strike="noStrike" kern="1200" cap="none" spc="0" normalizeH="0" baseline="0" noProof="0" dirty="0">
                <a:ln>
                  <a:noFill/>
                </a:ln>
                <a:solidFill>
                  <a:srgbClr val="171735"/>
                </a:solidFill>
                <a:effectLst/>
                <a:uLnTx/>
                <a:uFillTx/>
                <a:latin typeface="Calibri"/>
                <a:ea typeface="+mn-ea"/>
                <a:cs typeface="+mn-cs"/>
              </a:rPr>
              <a:t>Australian Indigenous health and wellbeing.</a:t>
            </a:r>
            <a:r>
              <a:rPr kumimoji="0" lang="en-US" sz="2000" b="1" i="0" u="none" strike="noStrike" kern="1200" cap="none" spc="0" normalizeH="0" baseline="0" noProof="0" dirty="0">
                <a:ln>
                  <a:noFill/>
                </a:ln>
                <a:solidFill>
                  <a:srgbClr val="171735"/>
                </a:solidFill>
                <a:effectLst/>
                <a:uLnTx/>
                <a:uFillTx/>
                <a:latin typeface="Calibri"/>
                <a:ea typeface="+mn-ea"/>
                <a:cs typeface="+mn-cs"/>
              </a:rPr>
              <a:t> </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US" sz="800" b="1"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Colonisation and Health (Approx. 200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Critically reflect on the enduring effects of colonisation on Australian Indigenous health and wellbeing.</a:t>
            </a: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AU" sz="8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Conclusion (Approx. 100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err="1">
                <a:ln>
                  <a:noFill/>
                </a:ln>
                <a:solidFill>
                  <a:srgbClr val="171735"/>
                </a:solidFill>
                <a:effectLst/>
                <a:uLnTx/>
                <a:uFillTx/>
                <a:latin typeface="Calibri"/>
                <a:ea typeface="+mn-ea"/>
                <a:cs typeface="+mn-cs"/>
              </a:rPr>
              <a:t>Summarise</a:t>
            </a:r>
            <a:r>
              <a:rPr kumimoji="0" lang="en-US" sz="2000" b="0" i="0" u="none" strike="noStrike" kern="1200" cap="none" spc="0" normalizeH="0" baseline="0" noProof="0" dirty="0">
                <a:ln>
                  <a:noFill/>
                </a:ln>
                <a:solidFill>
                  <a:srgbClr val="171735"/>
                </a:solidFill>
                <a:effectLst/>
                <a:uLnTx/>
                <a:uFillTx/>
                <a:latin typeface="Calibri"/>
                <a:ea typeface="+mn-ea"/>
                <a:cs typeface="+mn-cs"/>
              </a:rPr>
              <a:t> your key points. </a:t>
            </a:r>
            <a:r>
              <a:rPr kumimoji="0" lang="en-US" sz="2000" b="1" i="0" u="none" strike="noStrike" kern="1200" cap="none" spc="0" normalizeH="0" baseline="0" noProof="0" dirty="0">
                <a:ln>
                  <a:noFill/>
                </a:ln>
                <a:solidFill>
                  <a:srgbClr val="171735"/>
                </a:solidFill>
                <a:effectLst/>
                <a:uLnTx/>
                <a:uFillTx/>
                <a:latin typeface="Calibri"/>
                <a:ea typeface="+mn-ea"/>
                <a:cs typeface="+mn-cs"/>
              </a:rPr>
              <a:t>NO</a:t>
            </a:r>
            <a:r>
              <a:rPr kumimoji="0" lang="en-US" sz="2000" b="0" i="0" u="none" strike="noStrike" kern="1200" cap="none" spc="0" normalizeH="0" baseline="0" noProof="0" dirty="0">
                <a:ln>
                  <a:noFill/>
                </a:ln>
                <a:solidFill>
                  <a:srgbClr val="171735"/>
                </a:solidFill>
                <a:effectLst/>
                <a:uLnTx/>
                <a:uFillTx/>
                <a:latin typeface="Calibri"/>
                <a:ea typeface="+mn-ea"/>
                <a:cs typeface="+mn-cs"/>
              </a:rPr>
              <a:t> new information</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br>
              <a:rPr kumimoji="0" lang="en-US" sz="2000" b="1" i="0" u="none" strike="noStrike" kern="1200" cap="none" spc="0" normalizeH="0" baseline="0" noProof="0" dirty="0">
                <a:ln>
                  <a:noFill/>
                </a:ln>
                <a:solidFill>
                  <a:srgbClr val="171735"/>
                </a:solidFill>
                <a:effectLst/>
                <a:uLnTx/>
                <a:uFillTx/>
                <a:latin typeface="Calibri"/>
                <a:ea typeface="+mn-ea"/>
                <a:cs typeface="+mn-cs"/>
              </a:rPr>
            </a:b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 </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endParaRPr>
          </a:p>
        </p:txBody>
      </p:sp>
      <p:sp>
        <p:nvSpPr>
          <p:cNvPr id="4" name="TextBox 3">
            <a:extLst>
              <a:ext uri="{FF2B5EF4-FFF2-40B4-BE49-F238E27FC236}">
                <a16:creationId xmlns:a16="http://schemas.microsoft.com/office/drawing/2014/main" id="{81B2115B-B6DE-D381-D019-CE869BB91D3E}"/>
              </a:ext>
            </a:extLst>
          </p:cNvPr>
          <p:cNvSpPr txBox="1"/>
          <p:nvPr/>
        </p:nvSpPr>
        <p:spPr>
          <a:xfrm>
            <a:off x="2780756" y="70026"/>
            <a:ext cx="70093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Calibri"/>
                <a:ea typeface="+mn-ea"/>
                <a:cs typeface="+mn-cs"/>
              </a:rPr>
              <a:t>Example Short Response Structure</a:t>
            </a:r>
            <a:endParaRPr kumimoji="0" lang="en-AU" sz="36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3017371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C6975-6563-F8D6-26DC-7DA57AC6D9A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1894CD9-6E8B-14AB-CAC3-4E51E0289EAA}"/>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F63895BC-0588-5BE5-38BF-D5B28289E2FD}"/>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3" name="TextBox 2">
            <a:extLst>
              <a:ext uri="{FF2B5EF4-FFF2-40B4-BE49-F238E27FC236}">
                <a16:creationId xmlns:a16="http://schemas.microsoft.com/office/drawing/2014/main" id="{3D2D531B-376C-BA83-4A8F-8879FA9BC8C6}"/>
              </a:ext>
            </a:extLst>
          </p:cNvPr>
          <p:cNvSpPr txBox="1"/>
          <p:nvPr/>
        </p:nvSpPr>
        <p:spPr>
          <a:xfrm>
            <a:off x="2168978" y="1336660"/>
            <a:ext cx="7854043" cy="47859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2000" b="1" i="0" u="sng" strike="noStrike" kern="1200" cap="none" spc="0" normalizeH="0" baseline="0" noProof="0" dirty="0">
                <a:ln>
                  <a:noFill/>
                </a:ln>
                <a:solidFill>
                  <a:srgbClr val="000000"/>
                </a:solidFill>
                <a:effectLst/>
                <a:uLnTx/>
                <a:uFillTx/>
                <a:latin typeface="Calibri"/>
                <a:ea typeface="+mn-ea"/>
                <a:cs typeface="+mn-cs"/>
              </a:rPr>
              <a:t>Assessment Requirements</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Calibri"/>
                <a:ea typeface="+mn-ea"/>
                <a:cs typeface="+mn-cs"/>
              </a:rPr>
              <a:t>Follow the </a:t>
            </a:r>
            <a:r>
              <a:rPr kumimoji="0" lang="en-AU" sz="2000" b="1" i="0" u="none" strike="noStrike" kern="1200" cap="none" spc="0" normalizeH="0" baseline="0" noProof="0" dirty="0">
                <a:ln>
                  <a:noFill/>
                </a:ln>
                <a:solidFill>
                  <a:srgbClr val="000000"/>
                </a:solidFill>
                <a:effectLst/>
                <a:uLnTx/>
                <a:uFillTx/>
                <a:latin typeface="Calibri"/>
                <a:ea typeface="+mn-ea"/>
                <a:cs typeface="+mn-cs"/>
              </a:rPr>
              <a:t>Short Response Quick Guide</a:t>
            </a:r>
            <a:r>
              <a:rPr kumimoji="0" lang="en-AU" sz="2000" b="0" i="0" u="none" strike="noStrike" kern="1200" cap="none" spc="0" normalizeH="0" baseline="0" noProof="0" dirty="0">
                <a:ln>
                  <a:noFill/>
                </a:ln>
                <a:solidFill>
                  <a:srgbClr val="000000"/>
                </a:solidFill>
                <a:effectLst/>
                <a:uLnTx/>
                <a:uFillTx/>
                <a:latin typeface="Calibri"/>
                <a:ea typeface="+mn-ea"/>
                <a:cs typeface="+mn-cs"/>
              </a:rPr>
              <a:t> (Assessment 1 resources).</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Calibri"/>
                <a:ea typeface="+mn-ea"/>
                <a:cs typeface="+mn-cs"/>
              </a:rPr>
              <a:t>Address </a:t>
            </a:r>
            <a:r>
              <a:rPr kumimoji="0" lang="en-AU" sz="2000" b="1" i="0" u="none" strike="noStrike" kern="1200" cap="none" spc="0" normalizeH="0" baseline="0" noProof="0" dirty="0">
                <a:ln>
                  <a:noFill/>
                </a:ln>
                <a:solidFill>
                  <a:srgbClr val="000000"/>
                </a:solidFill>
                <a:effectLst/>
                <a:uLnTx/>
                <a:uFillTx/>
                <a:latin typeface="Calibri"/>
                <a:ea typeface="+mn-ea"/>
                <a:cs typeface="+mn-cs"/>
              </a:rPr>
              <a:t>UNDRIP Article 3</a:t>
            </a:r>
            <a:r>
              <a:rPr kumimoji="0" lang="en-AU" sz="2000" b="0" i="0" u="none" strike="noStrike" kern="1200" cap="none" spc="0" normalizeH="0" baseline="0" noProof="0" dirty="0">
                <a:ln>
                  <a:noFill/>
                </a:ln>
                <a:solidFill>
                  <a:srgbClr val="000000"/>
                </a:solidFill>
                <a:effectLst/>
                <a:uLnTx/>
                <a:uFillTx/>
                <a:latin typeface="Calibri"/>
                <a:ea typeface="+mn-ea"/>
                <a:cs typeface="+mn-cs"/>
              </a:rPr>
              <a:t> throughout your discussion.</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Calibri"/>
                <a:ea typeface="+mn-ea"/>
                <a:cs typeface="+mn-cs"/>
              </a:rPr>
              <a:t>Analyse </a:t>
            </a:r>
            <a:r>
              <a:rPr kumimoji="0" lang="en-AU" sz="2000" b="1" i="0" u="none" strike="noStrike" kern="1200" cap="none" spc="0" normalizeH="0" baseline="0" noProof="0" dirty="0">
                <a:ln>
                  <a:noFill/>
                </a:ln>
                <a:solidFill>
                  <a:srgbClr val="000000"/>
                </a:solidFill>
                <a:effectLst/>
                <a:uLnTx/>
                <a:uFillTx/>
                <a:latin typeface="Calibri"/>
                <a:ea typeface="+mn-ea"/>
                <a:cs typeface="+mn-cs"/>
              </a:rPr>
              <a:t>Australian Indigenous concepts of health and wellbeing</a:t>
            </a:r>
            <a:r>
              <a:rPr kumimoji="0" lang="en-AU" sz="2000" b="0" i="0" u="none" strike="noStrike" kern="1200" cap="none" spc="0" normalizeH="0" baseline="0" noProof="0" dirty="0">
                <a:ln>
                  <a:noFill/>
                </a:ln>
                <a:solidFill>
                  <a:srgbClr val="000000"/>
                </a:solidFill>
                <a:effectLst/>
                <a:uLnTx/>
                <a:uFillTx/>
                <a:latin typeface="Calibri"/>
                <a:ea typeface="+mn-ea"/>
                <a:cs typeface="+mn-cs"/>
              </a:rPr>
              <a:t>, including </a:t>
            </a:r>
            <a:r>
              <a:rPr kumimoji="0" lang="en-AU" sz="2000" b="1" i="0" u="none" strike="noStrike" kern="1200" cap="none" spc="0" normalizeH="0" baseline="0" noProof="0" dirty="0">
                <a:ln>
                  <a:noFill/>
                </a:ln>
                <a:solidFill>
                  <a:srgbClr val="000000"/>
                </a:solidFill>
                <a:effectLst/>
                <a:uLnTx/>
                <a:uFillTx/>
                <a:latin typeface="Calibri"/>
                <a:ea typeface="+mn-ea"/>
                <a:cs typeface="+mn-cs"/>
              </a:rPr>
              <a:t>self‑determination</a:t>
            </a:r>
            <a:r>
              <a:rPr kumimoji="0" lang="en-AU" sz="2000" b="0" i="0" u="none" strike="noStrike" kern="1200" cap="none" spc="0" normalizeH="0" baseline="0" noProof="0" dirty="0">
                <a:ln>
                  <a:noFill/>
                </a:ln>
                <a:solidFill>
                  <a:srgbClr val="000000"/>
                </a:solidFill>
                <a:effectLst/>
                <a:uLnTx/>
                <a:uFillTx/>
                <a:latin typeface="Calibri"/>
                <a:ea typeface="+mn-ea"/>
                <a:cs typeface="+mn-cs"/>
              </a:rPr>
              <a:t> and </a:t>
            </a:r>
            <a:r>
              <a:rPr kumimoji="0" lang="en-AU" sz="2000" b="1" i="0" u="none" strike="noStrike" kern="1200" cap="none" spc="0" normalizeH="0" baseline="0" noProof="0" dirty="0">
                <a:ln>
                  <a:noFill/>
                </a:ln>
                <a:solidFill>
                  <a:srgbClr val="000000"/>
                </a:solidFill>
                <a:effectLst/>
                <a:uLnTx/>
                <a:uFillTx/>
                <a:latin typeface="Calibri"/>
                <a:ea typeface="+mn-ea"/>
                <a:cs typeface="+mn-cs"/>
              </a:rPr>
              <a:t>one cultural determinant</a:t>
            </a:r>
            <a:r>
              <a:rPr kumimoji="0" lang="en-AU" sz="2000" b="0" i="0" u="none" strike="noStrike" kern="1200" cap="none" spc="0" normalizeH="0" baseline="0" noProof="0" dirty="0">
                <a:ln>
                  <a:noFill/>
                </a:ln>
                <a:solidFill>
                  <a:srgbClr val="000000"/>
                </a:solidFill>
                <a:effectLst/>
                <a:uLnTx/>
                <a:uFillTx/>
                <a:latin typeface="Calibri"/>
                <a:ea typeface="+mn-ea"/>
                <a:cs typeface="+mn-cs"/>
              </a:rPr>
              <a:t>.</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Calibri"/>
                <a:ea typeface="+mn-ea"/>
                <a:cs typeface="+mn-cs"/>
              </a:rPr>
              <a:t>Explain the </a:t>
            </a:r>
            <a:r>
              <a:rPr kumimoji="0" lang="en-AU" sz="2000" b="1" i="0" u="none" strike="noStrike" kern="1200" cap="none" spc="0" normalizeH="0" baseline="0" noProof="0" dirty="0">
                <a:ln>
                  <a:noFill/>
                </a:ln>
                <a:solidFill>
                  <a:srgbClr val="000000"/>
                </a:solidFill>
                <a:effectLst/>
                <a:uLnTx/>
                <a:uFillTx/>
                <a:latin typeface="Calibri"/>
                <a:ea typeface="+mn-ea"/>
                <a:cs typeface="+mn-cs"/>
              </a:rPr>
              <a:t>relationship between colonisation and contemporary Australian Indigenous health outcomes</a:t>
            </a:r>
            <a:r>
              <a:rPr kumimoji="0" lang="en-AU" sz="2000" b="0" i="0" u="none" strike="noStrike" kern="1200" cap="none" spc="0" normalizeH="0" baseline="0" noProof="0" dirty="0">
                <a:ln>
                  <a:noFill/>
                </a:ln>
                <a:solidFill>
                  <a:srgbClr val="000000"/>
                </a:solidFill>
                <a:effectLst/>
                <a:uLnTx/>
                <a:uFillTx/>
                <a:latin typeface="Calibri"/>
                <a:ea typeface="+mn-ea"/>
                <a:cs typeface="+mn-cs"/>
              </a:rPr>
              <a:t>.</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Calibri"/>
                <a:ea typeface="+mn-ea"/>
                <a:cs typeface="+mn-cs"/>
              </a:rPr>
              <a:t>Support your discussion with </a:t>
            </a:r>
            <a:r>
              <a:rPr kumimoji="0" lang="en-AU" sz="2000" b="1" i="0" u="none" strike="noStrike" kern="1200" cap="none" spc="0" normalizeH="0" baseline="0" noProof="0" dirty="0">
                <a:ln>
                  <a:noFill/>
                </a:ln>
                <a:solidFill>
                  <a:srgbClr val="000000"/>
                </a:solidFill>
                <a:effectLst/>
                <a:uLnTx/>
                <a:uFillTx/>
                <a:latin typeface="Calibri"/>
                <a:ea typeface="+mn-ea"/>
                <a:cs typeface="+mn-cs"/>
              </a:rPr>
              <a:t>scholarly evidence</a:t>
            </a:r>
            <a:r>
              <a:rPr kumimoji="0" lang="en-AU" sz="2000" b="0" i="0" u="none" strike="noStrike" kern="1200" cap="none" spc="0" normalizeH="0" baseline="0" noProof="0" dirty="0">
                <a:ln>
                  <a:noFill/>
                </a:ln>
                <a:solidFill>
                  <a:srgbClr val="000000"/>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2000" b="1" i="0" u="sng" strike="noStrike" kern="1200" cap="none" spc="0" normalizeH="0" baseline="0" noProof="0" dirty="0">
                <a:ln>
                  <a:noFill/>
                </a:ln>
                <a:solidFill>
                  <a:srgbClr val="000000"/>
                </a:solidFill>
                <a:effectLst/>
                <a:uLnTx/>
                <a:uFillTx/>
                <a:latin typeface="Calibri"/>
                <a:ea typeface="+mn-ea"/>
                <a:cs typeface="+mn-cs"/>
              </a:rPr>
              <a:t>Sources &amp; Referencing</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Calibri"/>
                <a:ea typeface="+mn-ea"/>
                <a:cs typeface="+mn-cs"/>
              </a:rPr>
              <a:t>Use a </a:t>
            </a:r>
            <a:r>
              <a:rPr kumimoji="0" lang="en-AU" sz="2000" b="1" i="0" u="none" strike="noStrike" kern="1200" cap="none" spc="0" normalizeH="0" baseline="0" noProof="0" dirty="0">
                <a:ln>
                  <a:noFill/>
                </a:ln>
                <a:solidFill>
                  <a:srgbClr val="000000"/>
                </a:solidFill>
                <a:effectLst/>
                <a:uLnTx/>
                <a:uFillTx/>
                <a:latin typeface="Calibri"/>
                <a:ea typeface="+mn-ea"/>
                <a:cs typeface="+mn-cs"/>
              </a:rPr>
              <a:t>minimum of five (5) scholarly sources</a:t>
            </a:r>
            <a:r>
              <a:rPr kumimoji="0" lang="en-AU" sz="2000" b="0" i="0" u="none" strike="noStrike" kern="1200" cap="none" spc="0" normalizeH="0" baseline="0" noProof="0" dirty="0">
                <a:ln>
                  <a:noFill/>
                </a:ln>
                <a:solidFill>
                  <a:srgbClr val="000000"/>
                </a:solidFill>
                <a:effectLst/>
                <a:uLnTx/>
                <a:uFillTx/>
                <a:latin typeface="Calibri"/>
                <a:ea typeface="+mn-ea"/>
                <a:cs typeface="+mn-cs"/>
              </a:rPr>
              <a:t>.</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1" i="0" u="none" strike="noStrike" kern="1200" cap="none" spc="0" normalizeH="0" baseline="0" noProof="0" dirty="0">
                <a:ln>
                  <a:noFill/>
                </a:ln>
                <a:solidFill>
                  <a:srgbClr val="000000"/>
                </a:solidFill>
                <a:effectLst/>
                <a:uLnTx/>
                <a:uFillTx/>
                <a:latin typeface="Calibri"/>
                <a:ea typeface="+mn-ea"/>
                <a:cs typeface="+mn-cs"/>
              </a:rPr>
              <a:t>UNDRIP must be cited and referenced</a:t>
            </a:r>
            <a:r>
              <a:rPr kumimoji="0" lang="en-AU" sz="2000" b="0" i="0" u="none" strike="noStrike" kern="1200" cap="none" spc="0" normalizeH="0" baseline="0" noProof="0" dirty="0">
                <a:ln>
                  <a:noFill/>
                </a:ln>
                <a:solidFill>
                  <a:srgbClr val="000000"/>
                </a:solidFill>
                <a:effectLst/>
                <a:uLnTx/>
                <a:uFillTx/>
                <a:latin typeface="Calibri"/>
                <a:ea typeface="+mn-ea"/>
                <a:cs typeface="+mn-cs"/>
              </a:rPr>
              <a:t>, but </a:t>
            </a:r>
            <a:r>
              <a:rPr kumimoji="0" lang="en-AU" sz="2000" b="1" i="0" u="none" strike="noStrike" kern="1200" cap="none" spc="0" normalizeH="0" baseline="0" noProof="0" dirty="0">
                <a:ln>
                  <a:noFill/>
                </a:ln>
                <a:solidFill>
                  <a:srgbClr val="000000"/>
                </a:solidFill>
                <a:effectLst/>
                <a:uLnTx/>
                <a:uFillTx/>
                <a:latin typeface="Calibri"/>
                <a:ea typeface="+mn-ea"/>
                <a:cs typeface="+mn-cs"/>
              </a:rPr>
              <a:t>does not count</a:t>
            </a:r>
            <a:r>
              <a:rPr kumimoji="0" lang="en-AU" sz="2000" b="0" i="0" u="none" strike="noStrike" kern="1200" cap="none" spc="0" normalizeH="0" baseline="0" noProof="0" dirty="0">
                <a:ln>
                  <a:noFill/>
                </a:ln>
                <a:solidFill>
                  <a:srgbClr val="000000"/>
                </a:solidFill>
                <a:effectLst/>
                <a:uLnTx/>
                <a:uFillTx/>
                <a:latin typeface="Calibri"/>
                <a:ea typeface="+mn-ea"/>
                <a:cs typeface="+mn-cs"/>
              </a:rPr>
              <a:t> toward the five scholarly sources.</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Calibri"/>
                <a:ea typeface="+mn-ea"/>
                <a:cs typeface="+mn-cs"/>
              </a:rPr>
              <a:t>Your reference list must contain </a:t>
            </a:r>
            <a:r>
              <a:rPr kumimoji="0" lang="en-AU" sz="2000" b="1" i="0" u="none" strike="noStrike" kern="1200" cap="none" spc="0" normalizeH="0" baseline="0" noProof="0" dirty="0">
                <a:ln>
                  <a:noFill/>
                </a:ln>
                <a:solidFill>
                  <a:srgbClr val="000000"/>
                </a:solidFill>
                <a:effectLst/>
                <a:uLnTx/>
                <a:uFillTx/>
                <a:latin typeface="Calibri"/>
                <a:ea typeface="+mn-ea"/>
                <a:cs typeface="+mn-cs"/>
              </a:rPr>
              <a:t>at least six (6) references</a:t>
            </a:r>
            <a:r>
              <a:rPr kumimoji="0" lang="en-AU" sz="2000" b="0" i="0" u="none" strike="noStrike" kern="1200" cap="none" spc="0" normalizeH="0" baseline="0" noProof="0" dirty="0">
                <a:ln>
                  <a:noFill/>
                </a:ln>
                <a:solidFill>
                  <a:srgbClr val="000000"/>
                </a:solidFill>
                <a:effectLst/>
                <a:uLnTx/>
                <a:uFillTx/>
                <a:latin typeface="Calibri"/>
                <a:ea typeface="+mn-ea"/>
                <a:cs typeface="+mn-cs"/>
              </a:rPr>
              <a:t> in total.</a:t>
            </a:r>
          </a:p>
        </p:txBody>
      </p:sp>
      <p:sp>
        <p:nvSpPr>
          <p:cNvPr id="5" name="TextBox 4">
            <a:extLst>
              <a:ext uri="{FF2B5EF4-FFF2-40B4-BE49-F238E27FC236}">
                <a16:creationId xmlns:a16="http://schemas.microsoft.com/office/drawing/2014/main" id="{095C28E6-9009-3132-BBBE-17192A502EA0}"/>
              </a:ext>
            </a:extLst>
          </p:cNvPr>
          <p:cNvSpPr txBox="1"/>
          <p:nvPr/>
        </p:nvSpPr>
        <p:spPr>
          <a:xfrm>
            <a:off x="3542211" y="458957"/>
            <a:ext cx="510757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Calibri"/>
                <a:ea typeface="Calibri" panose="020F0502020204030204" pitchFamily="34" charset="0"/>
                <a:cs typeface="+mn-cs"/>
              </a:rPr>
              <a:t>Your response must …</a:t>
            </a:r>
            <a:endParaRPr kumimoji="0" lang="en-AU" sz="4000" b="0" i="0" u="none" strike="noStrike" kern="1200" cap="none" spc="0" normalizeH="0" baseline="0" noProof="0" dirty="0">
              <a:ln>
                <a:noFill/>
              </a:ln>
              <a:solidFill>
                <a:srgbClr val="000000"/>
              </a:solidFill>
              <a:effectLst/>
              <a:uLnTx/>
              <a:uFillTx/>
              <a:latin typeface="Calibri"/>
              <a:ea typeface="Calibri" panose="020F0502020204030204" pitchFamily="34" charset="0"/>
              <a:cs typeface="+mn-cs"/>
            </a:endParaRPr>
          </a:p>
        </p:txBody>
      </p:sp>
    </p:spTree>
    <p:extLst>
      <p:ext uri="{BB962C8B-B14F-4D97-AF65-F5344CB8AC3E}">
        <p14:creationId xmlns:p14="http://schemas.microsoft.com/office/powerpoint/2010/main" val="425231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0A844-DED8-0EFC-A042-8C367806F80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C839130-38B4-9CEB-D8CD-27BA2F53564D}"/>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8DC97413-0FB4-50CB-ADC8-13DAB220BFF7}"/>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3" name="TextBox 2">
            <a:extLst>
              <a:ext uri="{FF2B5EF4-FFF2-40B4-BE49-F238E27FC236}">
                <a16:creationId xmlns:a16="http://schemas.microsoft.com/office/drawing/2014/main" id="{B5F5FED7-7B9D-9C32-F797-B093ECC36992}"/>
              </a:ext>
            </a:extLst>
          </p:cNvPr>
          <p:cNvSpPr txBox="1"/>
          <p:nvPr/>
        </p:nvSpPr>
        <p:spPr>
          <a:xfrm>
            <a:off x="5596649" y="306643"/>
            <a:ext cx="6097904" cy="5297861"/>
          </a:xfrm>
          <a:prstGeom prst="rect">
            <a:avLst/>
          </a:prstGeom>
          <a:noFill/>
        </p:spPr>
        <p:txBody>
          <a:bodyPr wrap="square">
            <a:spAutoFit/>
          </a:bodyPr>
          <a:lstStyle/>
          <a:p>
            <a:pPr algn="just">
              <a:spcBef>
                <a:spcPts val="1145"/>
              </a:spcBef>
              <a:tabLst>
                <a:tab pos="596265" algn="l"/>
              </a:tabLst>
              <a:defRPr/>
            </a:pPr>
            <a:r>
              <a:rPr lang="en-US" sz="2000" dirty="0">
                <a:solidFill>
                  <a:prstClr val="black"/>
                </a:solidFill>
                <a:latin typeface="Aptos" panose="02110004020202020204"/>
                <a:ea typeface="Symbol" panose="05050102010706020507" pitchFamily="18" charset="2"/>
                <a:cs typeface="Symbol" panose="05050102010706020507" pitchFamily="18" charset="2"/>
              </a:rPr>
              <a:t>Ensure you meet the following Criteria:</a:t>
            </a:r>
          </a:p>
          <a:p>
            <a:pPr algn="just">
              <a:spcBef>
                <a:spcPts val="1145"/>
              </a:spcBef>
              <a:tabLst>
                <a:tab pos="596265" algn="l"/>
              </a:tabLst>
              <a:defRPr/>
            </a:pPr>
            <a:endParaRPr lang="en-US" sz="2000" dirty="0">
              <a:solidFill>
                <a:prstClr val="black"/>
              </a:solidFill>
              <a:latin typeface="Aptos" panose="02110004020202020204"/>
              <a:ea typeface="Symbol" panose="05050102010706020507" pitchFamily="18" charset="2"/>
              <a:cs typeface="Symbol" panose="05050102010706020507" pitchFamily="18" charset="2"/>
            </a:endParaRPr>
          </a:p>
          <a:p>
            <a:pPr marL="342900" indent="-342900" algn="just">
              <a:spcBef>
                <a:spcPts val="1145"/>
              </a:spcBef>
              <a:spcAft>
                <a:spcPts val="1800"/>
              </a:spcAft>
              <a:buFont typeface="Symbol" panose="05050102010706020507" pitchFamily="18" charset="2"/>
              <a:buChar char=""/>
              <a:tabLst>
                <a:tab pos="596265" algn="l"/>
              </a:tabLst>
              <a:defRPr/>
            </a:pPr>
            <a:r>
              <a:rPr lang="en-US" sz="2000" dirty="0">
                <a:solidFill>
                  <a:prstClr val="black"/>
                </a:solidFill>
                <a:latin typeface="Aptos" panose="02110004020202020204"/>
                <a:ea typeface="Symbol" panose="05050102010706020507" pitchFamily="18" charset="2"/>
                <a:cs typeface="Symbol" panose="05050102010706020507" pitchFamily="18" charset="2"/>
              </a:rPr>
              <a:t>Referencing</a:t>
            </a:r>
            <a:r>
              <a:rPr lang="en-US" sz="2000" spc="-70" dirty="0">
                <a:solidFill>
                  <a:prstClr val="black"/>
                </a:solidFill>
                <a:latin typeface="Aptos" panose="02110004020202020204"/>
                <a:ea typeface="Symbol" panose="05050102010706020507" pitchFamily="18" charset="2"/>
                <a:cs typeface="Symbol" panose="05050102010706020507" pitchFamily="18" charset="2"/>
              </a:rPr>
              <a:t> </a:t>
            </a:r>
            <a:r>
              <a:rPr lang="en-US" sz="2000" dirty="0">
                <a:solidFill>
                  <a:prstClr val="black"/>
                </a:solidFill>
                <a:latin typeface="Aptos" panose="02110004020202020204"/>
                <a:ea typeface="Symbol" panose="05050102010706020507" pitchFamily="18" charset="2"/>
                <a:cs typeface="Symbol" panose="05050102010706020507" pitchFamily="18" charset="2"/>
              </a:rPr>
              <a:t>style</a:t>
            </a:r>
            <a:r>
              <a:rPr lang="en-US" sz="2000" spc="-55" dirty="0">
                <a:solidFill>
                  <a:prstClr val="black"/>
                </a:solidFill>
                <a:latin typeface="Aptos" panose="02110004020202020204"/>
                <a:ea typeface="Symbol" panose="05050102010706020507" pitchFamily="18" charset="2"/>
                <a:cs typeface="Symbol" panose="05050102010706020507" pitchFamily="18" charset="2"/>
              </a:rPr>
              <a:t> </a:t>
            </a:r>
            <a:r>
              <a:rPr lang="en-US" sz="2000" dirty="0">
                <a:solidFill>
                  <a:prstClr val="black"/>
                </a:solidFill>
                <a:latin typeface="Aptos" panose="02110004020202020204"/>
                <a:ea typeface="Symbol" panose="05050102010706020507" pitchFamily="18" charset="2"/>
                <a:cs typeface="Symbol" panose="05050102010706020507" pitchFamily="18" charset="2"/>
              </a:rPr>
              <a:t>of</a:t>
            </a:r>
            <a:r>
              <a:rPr lang="en-US" sz="2000" spc="-35" dirty="0">
                <a:solidFill>
                  <a:prstClr val="black"/>
                </a:solidFill>
                <a:latin typeface="Aptos" panose="02110004020202020204"/>
                <a:ea typeface="Symbol" panose="05050102010706020507" pitchFamily="18" charset="2"/>
                <a:cs typeface="Symbol" panose="05050102010706020507" pitchFamily="18" charset="2"/>
              </a:rPr>
              <a:t> </a:t>
            </a:r>
            <a:r>
              <a:rPr lang="en-US" sz="2000" b="1" spc="-20" dirty="0">
                <a:solidFill>
                  <a:prstClr val="black"/>
                </a:solidFill>
                <a:latin typeface="Aptos" panose="02110004020202020204"/>
                <a:ea typeface="Symbol" panose="05050102010706020507" pitchFamily="18" charset="2"/>
                <a:cs typeface="Symbol" panose="05050102010706020507" pitchFamily="18" charset="2"/>
              </a:rPr>
              <a:t>APA7</a:t>
            </a:r>
            <a:r>
              <a:rPr lang="en-US" sz="2000" spc="-20" dirty="0">
                <a:solidFill>
                  <a:prstClr val="black"/>
                </a:solidFill>
                <a:latin typeface="Aptos" panose="02110004020202020204"/>
                <a:ea typeface="Symbol" panose="05050102010706020507" pitchFamily="18" charset="2"/>
                <a:cs typeface="Symbol" panose="05050102010706020507" pitchFamily="18" charset="2"/>
              </a:rPr>
              <a:t>.</a:t>
            </a:r>
            <a:endParaRPr lang="en-AU" sz="2000" dirty="0">
              <a:solidFill>
                <a:prstClr val="black"/>
              </a:solidFill>
              <a:latin typeface="Aptos" panose="02110004020202020204"/>
              <a:ea typeface="Symbol" panose="05050102010706020507" pitchFamily="18" charset="2"/>
              <a:cs typeface="Symbol" panose="05050102010706020507" pitchFamily="18" charset="2"/>
            </a:endParaRPr>
          </a:p>
          <a:p>
            <a:pPr marL="342900" marR="179070" indent="-342900" algn="just">
              <a:lnSpc>
                <a:spcPct val="107000"/>
              </a:lnSpc>
              <a:spcBef>
                <a:spcPts val="110"/>
              </a:spcBef>
              <a:spcAft>
                <a:spcPts val="1800"/>
              </a:spcAft>
              <a:buFont typeface="Symbol" panose="05050102010706020507" pitchFamily="18" charset="2"/>
              <a:buChar char=""/>
              <a:tabLst>
                <a:tab pos="594360" algn="l"/>
                <a:tab pos="596900" algn="l"/>
              </a:tabLst>
              <a:defRPr/>
            </a:pPr>
            <a:r>
              <a:rPr lang="en-US" sz="2000" dirty="0">
                <a:solidFill>
                  <a:prstClr val="black"/>
                </a:solidFill>
                <a:latin typeface="Aptos" panose="02110004020202020204"/>
                <a:ea typeface="Symbol" panose="05050102010706020507" pitchFamily="18" charset="2"/>
                <a:cs typeface="Symbol" panose="05050102010706020507" pitchFamily="18" charset="2"/>
              </a:rPr>
              <a:t>Consistent use of </a:t>
            </a:r>
            <a:r>
              <a:rPr lang="en-US" sz="2000" b="1" dirty="0">
                <a:solidFill>
                  <a:prstClr val="black"/>
                </a:solidFill>
                <a:latin typeface="Aptos" panose="02110004020202020204"/>
                <a:ea typeface="Symbol" panose="05050102010706020507" pitchFamily="18" charset="2"/>
                <a:cs typeface="Symbol" panose="05050102010706020507" pitchFamily="18" charset="2"/>
              </a:rPr>
              <a:t>correct </a:t>
            </a:r>
            <a:r>
              <a:rPr lang="en-US" sz="2000" dirty="0">
                <a:solidFill>
                  <a:prstClr val="black"/>
                </a:solidFill>
                <a:latin typeface="Aptos" panose="02110004020202020204"/>
                <a:ea typeface="Symbol" panose="05050102010706020507" pitchFamily="18" charset="2"/>
                <a:cs typeface="Symbol" panose="05050102010706020507" pitchFamily="18" charset="2"/>
              </a:rPr>
              <a:t>and </a:t>
            </a:r>
            <a:r>
              <a:rPr lang="en-US" sz="2000" b="1" dirty="0">
                <a:solidFill>
                  <a:prstClr val="black"/>
                </a:solidFill>
                <a:latin typeface="Aptos" panose="02110004020202020204"/>
                <a:ea typeface="Symbol" panose="05050102010706020507" pitchFamily="18" charset="2"/>
                <a:cs typeface="Symbol" panose="05050102010706020507" pitchFamily="18" charset="2"/>
              </a:rPr>
              <a:t>appropriate </a:t>
            </a:r>
            <a:r>
              <a:rPr lang="en-US" sz="2000" dirty="0">
                <a:solidFill>
                  <a:prstClr val="black"/>
                </a:solidFill>
                <a:latin typeface="Aptos" panose="02110004020202020204"/>
                <a:ea typeface="Symbol" panose="05050102010706020507" pitchFamily="18" charset="2"/>
                <a:cs typeface="Symbol" panose="05050102010706020507" pitchFamily="18" charset="2"/>
              </a:rPr>
              <a:t>terminology and tone in reference to Indigenous Australian Peoples, communities, and issues. </a:t>
            </a:r>
          </a:p>
          <a:p>
            <a:pPr marL="342900" marR="179070" indent="-342900" algn="just">
              <a:lnSpc>
                <a:spcPct val="107000"/>
              </a:lnSpc>
              <a:spcBef>
                <a:spcPts val="110"/>
              </a:spcBef>
              <a:spcAft>
                <a:spcPts val="1800"/>
              </a:spcAft>
              <a:buFont typeface="Symbol" panose="05050102010706020507" pitchFamily="18" charset="2"/>
              <a:buChar char=""/>
              <a:tabLst>
                <a:tab pos="594360" algn="l"/>
                <a:tab pos="596900" algn="l"/>
              </a:tabLst>
              <a:defRPr/>
            </a:pPr>
            <a:r>
              <a:rPr lang="en-US" sz="2000" dirty="0">
                <a:solidFill>
                  <a:srgbClr val="000000"/>
                </a:solidFill>
                <a:latin typeface="Aptos" panose="02110004020202020204"/>
              </a:rPr>
              <a:t>U</a:t>
            </a:r>
            <a:r>
              <a:rPr lang="en-US" sz="2000" dirty="0">
                <a:solidFill>
                  <a:srgbClr val="000000"/>
                </a:solidFill>
                <a:latin typeface="Aptos" panose="020B0004020202020204" pitchFamily="34" charset="0"/>
              </a:rPr>
              <a:t>se </a:t>
            </a:r>
            <a:r>
              <a:rPr lang="en-US" sz="2000" b="1" u="sng" dirty="0">
                <a:solidFill>
                  <a:srgbClr val="000000"/>
                </a:solidFill>
                <a:latin typeface="Aptos" panose="020B0004020202020204" pitchFamily="34" charset="0"/>
              </a:rPr>
              <a:t>a minimum of 5 peer-reviewed scholarly sources</a:t>
            </a:r>
            <a:r>
              <a:rPr lang="en-US" sz="2000" dirty="0">
                <a:solidFill>
                  <a:srgbClr val="000000"/>
                </a:solidFill>
                <a:latin typeface="Aptos" panose="020B0004020202020204" pitchFamily="34" charset="0"/>
              </a:rPr>
              <a:t>, 1 </a:t>
            </a:r>
            <a:r>
              <a:rPr lang="en-US" sz="2000" b="1" dirty="0">
                <a:solidFill>
                  <a:srgbClr val="000000"/>
                </a:solidFill>
                <a:latin typeface="Aptos" panose="020B0004020202020204" pitchFamily="34" charset="0"/>
              </a:rPr>
              <a:t>MUST</a:t>
            </a:r>
            <a:r>
              <a:rPr lang="en-US" sz="2000" dirty="0">
                <a:solidFill>
                  <a:srgbClr val="000000"/>
                </a:solidFill>
                <a:latin typeface="Aptos" panose="020B0004020202020204" pitchFamily="34" charset="0"/>
              </a:rPr>
              <a:t> be the </a:t>
            </a:r>
            <a:r>
              <a:rPr lang="en-AU" sz="2000" dirty="0"/>
              <a:t>The </a:t>
            </a:r>
            <a:r>
              <a:rPr lang="en-AU" sz="2000" b="1" dirty="0"/>
              <a:t>United Nations Declaration on the Rights of Indigenous Peoples</a:t>
            </a:r>
            <a:r>
              <a:rPr lang="en-AU" sz="2000" dirty="0"/>
              <a:t> (</a:t>
            </a:r>
            <a:r>
              <a:rPr lang="en-AU" sz="2000" b="1" dirty="0"/>
              <a:t>UNDRIP</a:t>
            </a:r>
            <a:r>
              <a:rPr lang="en-AU" sz="2000" dirty="0"/>
              <a:t>) 2007.</a:t>
            </a:r>
            <a:endParaRPr lang="en-AU" sz="2000" dirty="0">
              <a:solidFill>
                <a:srgbClr val="000000"/>
              </a:solidFill>
              <a:latin typeface="Aptos" panose="020B0004020202020204" pitchFamily="34" charset="0"/>
            </a:endParaRPr>
          </a:p>
          <a:p>
            <a:pPr marL="342900" marR="179070" indent="-342900" algn="just">
              <a:lnSpc>
                <a:spcPct val="107000"/>
              </a:lnSpc>
              <a:spcBef>
                <a:spcPts val="15"/>
              </a:spcBef>
              <a:spcAft>
                <a:spcPts val="1800"/>
              </a:spcAft>
              <a:buFont typeface="Symbol" panose="05050102010706020507" pitchFamily="18" charset="2"/>
              <a:buChar char=""/>
              <a:tabLst>
                <a:tab pos="596900" algn="l"/>
              </a:tabLst>
              <a:defRPr/>
            </a:pPr>
            <a:r>
              <a:rPr lang="en-US" sz="2000" i="1" dirty="0">
                <a:solidFill>
                  <a:prstClr val="black"/>
                </a:solidFill>
                <a:latin typeface="Aptos" panose="02110004020202020204"/>
                <a:ea typeface="Symbol" panose="05050102010706020507" pitchFamily="18" charset="2"/>
                <a:cs typeface="Symbol" panose="05050102010706020507" pitchFamily="18" charset="2"/>
              </a:rPr>
              <a:t>Wikipedia, Creative</a:t>
            </a:r>
            <a:r>
              <a:rPr lang="en-US" sz="2000" i="1" spc="-5" dirty="0">
                <a:solidFill>
                  <a:prstClr val="black"/>
                </a:solidFill>
                <a:latin typeface="Aptos" panose="02110004020202020204"/>
                <a:ea typeface="Symbol" panose="05050102010706020507" pitchFamily="18" charset="2"/>
                <a:cs typeface="Symbol" panose="05050102010706020507" pitchFamily="18" charset="2"/>
              </a:rPr>
              <a:t> </a:t>
            </a:r>
            <a:r>
              <a:rPr lang="en-US" sz="2000" i="1" dirty="0">
                <a:solidFill>
                  <a:prstClr val="black"/>
                </a:solidFill>
                <a:latin typeface="Aptos" panose="02110004020202020204"/>
                <a:ea typeface="Symbol" panose="05050102010706020507" pitchFamily="18" charset="2"/>
                <a:cs typeface="Symbol" panose="05050102010706020507" pitchFamily="18" charset="2"/>
              </a:rPr>
              <a:t>Spirits </a:t>
            </a:r>
            <a:r>
              <a:rPr lang="en-US" sz="2000" dirty="0">
                <a:solidFill>
                  <a:prstClr val="black"/>
                </a:solidFill>
                <a:latin typeface="Aptos" panose="02110004020202020204"/>
                <a:ea typeface="Symbol" panose="05050102010706020507" pitchFamily="18" charset="2"/>
                <a:cs typeface="Symbol" panose="05050102010706020507" pitchFamily="18" charset="2"/>
              </a:rPr>
              <a:t>and or other such websites are </a:t>
            </a:r>
            <a:r>
              <a:rPr lang="en-US" sz="2000" b="1" u="sng" dirty="0">
                <a:solidFill>
                  <a:prstClr val="black"/>
                </a:solidFill>
                <a:latin typeface="Aptos" panose="02110004020202020204"/>
                <a:ea typeface="Symbol" panose="05050102010706020507" pitchFamily="18" charset="2"/>
                <a:cs typeface="Symbol" panose="05050102010706020507" pitchFamily="18" charset="2"/>
              </a:rPr>
              <a:t>not</a:t>
            </a:r>
            <a:r>
              <a:rPr lang="en-US" sz="2000" b="1" dirty="0">
                <a:solidFill>
                  <a:prstClr val="black"/>
                </a:solidFill>
                <a:latin typeface="Aptos" panose="02110004020202020204"/>
                <a:ea typeface="Symbol" panose="05050102010706020507" pitchFamily="18" charset="2"/>
                <a:cs typeface="Symbol" panose="05050102010706020507" pitchFamily="18" charset="2"/>
              </a:rPr>
              <a:t> </a:t>
            </a:r>
            <a:r>
              <a:rPr lang="en-US" sz="2000" dirty="0">
                <a:solidFill>
                  <a:prstClr val="black"/>
                </a:solidFill>
                <a:latin typeface="Aptos" panose="02110004020202020204"/>
                <a:ea typeface="Symbol" panose="05050102010706020507" pitchFamily="18" charset="2"/>
                <a:cs typeface="Symbol" panose="05050102010706020507" pitchFamily="18" charset="2"/>
              </a:rPr>
              <a:t>acceptable scholarly reference material.</a:t>
            </a:r>
            <a:endParaRPr lang="en-AU" sz="2000" dirty="0">
              <a:solidFill>
                <a:prstClr val="black"/>
              </a:solidFill>
              <a:latin typeface="Aptos" panose="02110004020202020204"/>
              <a:ea typeface="Symbol" panose="05050102010706020507" pitchFamily="18" charset="2"/>
              <a:cs typeface="Symbol" panose="05050102010706020507" pitchFamily="18" charset="2"/>
            </a:endParaRPr>
          </a:p>
        </p:txBody>
      </p:sp>
      <p:sp>
        <p:nvSpPr>
          <p:cNvPr id="5" name="Title 3">
            <a:extLst>
              <a:ext uri="{FF2B5EF4-FFF2-40B4-BE49-F238E27FC236}">
                <a16:creationId xmlns:a16="http://schemas.microsoft.com/office/drawing/2014/main" id="{28A9275A-9BD6-939C-4990-3E78673CEE6E}"/>
              </a:ext>
            </a:extLst>
          </p:cNvPr>
          <p:cNvSpPr txBox="1">
            <a:spLocks/>
          </p:cNvSpPr>
          <p:nvPr/>
        </p:nvSpPr>
        <p:spPr>
          <a:xfrm>
            <a:off x="1262743" y="1741715"/>
            <a:ext cx="3381829" cy="145142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3600" b="0" i="0" u="none" strike="noStrike" kern="1200" cap="none" spc="0" normalizeH="0" baseline="0" noProof="0" dirty="0">
                <a:ln>
                  <a:noFill/>
                </a:ln>
                <a:solidFill>
                  <a:srgbClr val="543E34"/>
                </a:solidFill>
                <a:effectLst/>
                <a:uLnTx/>
                <a:uFillTx/>
                <a:latin typeface="Sagona Book"/>
                <a:ea typeface="+mj-ea"/>
                <a:cs typeface="+mj-cs"/>
              </a:rPr>
              <a:t>Referencing Requirements</a:t>
            </a:r>
          </a:p>
        </p:txBody>
      </p:sp>
    </p:spTree>
    <p:extLst>
      <p:ext uri="{BB962C8B-B14F-4D97-AF65-F5344CB8AC3E}">
        <p14:creationId xmlns:p14="http://schemas.microsoft.com/office/powerpoint/2010/main" val="1584098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097C-D46E-8838-C1D9-AEC8CF5228F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A3A6276-D4AC-7B4A-231F-39BEEE7713AB}"/>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C97D0038-F3D8-0D39-CC28-0F299360A926}"/>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2" name="Text Placeholder 4">
            <a:extLst>
              <a:ext uri="{FF2B5EF4-FFF2-40B4-BE49-F238E27FC236}">
                <a16:creationId xmlns:a16="http://schemas.microsoft.com/office/drawing/2014/main" id="{01DC00CD-5A5D-3C5A-97F2-E123042B7166}"/>
              </a:ext>
            </a:extLst>
          </p:cNvPr>
          <p:cNvSpPr txBox="1">
            <a:spLocks/>
          </p:cNvSpPr>
          <p:nvPr/>
        </p:nvSpPr>
        <p:spPr>
          <a:xfrm>
            <a:off x="913093" y="1623861"/>
            <a:ext cx="9498004" cy="4032356"/>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Ensure you have attached your </a:t>
            </a:r>
            <a:r>
              <a:rPr kumimoji="0" lang="en-US" sz="2000" b="0" i="0" u="sng" strike="noStrike" kern="1200" cap="none" spc="0" normalizeH="0" baseline="0" noProof="0" dirty="0">
                <a:ln>
                  <a:noFill/>
                </a:ln>
                <a:solidFill>
                  <a:srgbClr val="171735"/>
                </a:solidFill>
                <a:effectLst/>
                <a:uLnTx/>
                <a:uFillTx/>
                <a:latin typeface="Calibri"/>
                <a:ea typeface="+mn-ea"/>
                <a:cs typeface="+mn-cs"/>
              </a:rPr>
              <a:t>signed and correctly completed</a:t>
            </a:r>
            <a:r>
              <a:rPr kumimoji="0" lang="en-US" sz="2000" b="0" i="0" u="none" strike="noStrike" kern="1200" cap="none" spc="0" normalizeH="0" baseline="0" noProof="0" dirty="0">
                <a:ln>
                  <a:noFill/>
                </a:ln>
                <a:solidFill>
                  <a:srgbClr val="171735"/>
                </a:solidFill>
                <a:effectLst/>
                <a:uLnTx/>
                <a:uFillTx/>
                <a:latin typeface="Calibri"/>
                <a:ea typeface="+mn-ea"/>
                <a:cs typeface="+mn-cs"/>
              </a:rPr>
              <a:t> </a:t>
            </a:r>
            <a:r>
              <a:rPr kumimoji="0" lang="en-US" sz="2000" b="1" i="0" u="none" strike="noStrike" kern="1200" cap="none" spc="0" normalizeH="0" baseline="0" noProof="0" dirty="0">
                <a:ln>
                  <a:noFill/>
                </a:ln>
                <a:solidFill>
                  <a:srgbClr val="171735"/>
                </a:solidFill>
                <a:effectLst/>
                <a:uLnTx/>
                <a:uFillTx/>
                <a:latin typeface="Calibri"/>
                <a:ea typeface="+mn-ea"/>
                <a:cs typeface="+mn-cs"/>
              </a:rPr>
              <a:t>Coversheet</a:t>
            </a:r>
            <a:r>
              <a:rPr kumimoji="0" lang="en-US" sz="2000" b="0" i="0" u="none" strike="noStrike" kern="1200" cap="none" spc="0" normalizeH="0" baseline="0" noProof="0" dirty="0">
                <a:ln>
                  <a:noFill/>
                </a:ln>
                <a:solidFill>
                  <a:srgbClr val="171735"/>
                </a:solidFill>
                <a:effectLst/>
                <a:uLnTx/>
                <a:uFillTx/>
                <a:latin typeface="Calibri"/>
                <a:ea typeface="+mn-ea"/>
                <a:cs typeface="+mn-cs"/>
              </a:rPr>
              <a:t> to the front of your assessment document prior to uploading your final submission.</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Label your submission with your surname and initials, and the assessment task's name e.g. SmithJ_ShortResponse.docx</a:t>
            </a: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You are required to use APA 7</a:t>
            </a:r>
            <a:r>
              <a:rPr kumimoji="0" lang="en-US" sz="2000" b="0" i="0" u="none" strike="noStrike" kern="1200" cap="none" spc="0" normalizeH="0" baseline="30000" noProof="0" dirty="0">
                <a:ln>
                  <a:noFill/>
                </a:ln>
                <a:solidFill>
                  <a:srgbClr val="171735"/>
                </a:solidFill>
                <a:effectLst/>
                <a:uLnTx/>
                <a:uFillTx/>
                <a:latin typeface="Calibri"/>
                <a:ea typeface="+mn-ea"/>
                <a:cs typeface="+mn-cs"/>
              </a:rPr>
              <a:t>th</a:t>
            </a:r>
            <a:r>
              <a:rPr kumimoji="0" lang="en-US" sz="2000" b="0" i="0" u="none" strike="noStrike" kern="1200" cap="none" spc="0" normalizeH="0" baseline="0" noProof="0" dirty="0">
                <a:ln>
                  <a:noFill/>
                </a:ln>
                <a:solidFill>
                  <a:srgbClr val="171735"/>
                </a:solidFill>
                <a:effectLst/>
                <a:uLnTx/>
                <a:uFillTx/>
                <a:latin typeface="Calibri"/>
                <a:ea typeface="+mn-ea"/>
                <a:cs typeface="+mn-cs"/>
              </a:rPr>
              <a:t> referencing style in this Unit formatting your document, citations, and references</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rPr>
              <a:t>Instead of a Header you MUST </a:t>
            </a:r>
            <a:r>
              <a:rPr kumimoji="0" lang="en-US" sz="2000" b="0" i="0" u="none" strike="noStrike" kern="1200" cap="none" spc="0" normalizeH="0" baseline="0" noProof="0" dirty="0">
                <a:ln>
                  <a:noFill/>
                </a:ln>
                <a:solidFill>
                  <a:srgbClr val="171735"/>
                </a:solidFill>
                <a:effectLst/>
                <a:uLnTx/>
                <a:uFillTx/>
                <a:latin typeface="Calibri"/>
                <a:ea typeface="+mn-ea"/>
                <a:cs typeface="+mn-cs"/>
              </a:rPr>
              <a:t>add a footer to your submission.</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 </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Add your name and task type – i.e. </a:t>
            </a:r>
            <a:r>
              <a:rPr kumimoji="0" lang="en-US" sz="2000" b="0" i="0" u="none" strike="noStrike" kern="1200" cap="none" spc="0" normalizeH="0" baseline="0" noProof="0" dirty="0" err="1">
                <a:ln>
                  <a:noFill/>
                </a:ln>
                <a:solidFill>
                  <a:srgbClr val="171735"/>
                </a:solidFill>
                <a:effectLst/>
                <a:uLnTx/>
                <a:uFillTx/>
                <a:latin typeface="Calibri"/>
                <a:ea typeface="+mn-ea"/>
                <a:cs typeface="+mn-cs"/>
              </a:rPr>
              <a:t>SmithJ_ShortResponse</a:t>
            </a:r>
            <a:r>
              <a:rPr kumimoji="0" lang="en-US" sz="2000" b="0" i="0" u="none" strike="noStrike" kern="1200" cap="none" spc="0" normalizeH="0" baseline="0" noProof="0" dirty="0">
                <a:ln>
                  <a:noFill/>
                </a:ln>
                <a:solidFill>
                  <a:srgbClr val="171735"/>
                </a:solidFill>
                <a:effectLst/>
                <a:uLnTx/>
                <a:uFillTx/>
                <a:latin typeface="Calibri"/>
                <a:ea typeface="+mn-ea"/>
                <a:cs typeface="+mn-cs"/>
              </a:rPr>
              <a:t> on left margin, your student ID, and have page number on the right margin e.g.</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endParaRPr>
          </a:p>
        </p:txBody>
      </p:sp>
      <p:pic>
        <p:nvPicPr>
          <p:cNvPr id="4" name="Picture 1">
            <a:extLst>
              <a:ext uri="{FF2B5EF4-FFF2-40B4-BE49-F238E27FC236}">
                <a16:creationId xmlns:a16="http://schemas.microsoft.com/office/drawing/2014/main" id="{AD4E5458-D7A3-B3C5-0545-AECE351196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6326" y="5491701"/>
            <a:ext cx="5951538" cy="4492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ACCD303-6DA3-7DFB-2777-60BEE7DBA61E}"/>
              </a:ext>
            </a:extLst>
          </p:cNvPr>
          <p:cNvSpPr txBox="1"/>
          <p:nvPr/>
        </p:nvSpPr>
        <p:spPr>
          <a:xfrm>
            <a:off x="3561806" y="491490"/>
            <a:ext cx="506838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srgbClr val="000000"/>
                </a:solidFill>
                <a:effectLst/>
                <a:uLnTx/>
                <a:uFillTx/>
                <a:latin typeface="Calibri"/>
                <a:ea typeface="+mn-ea"/>
                <a:cs typeface="+mn-cs"/>
              </a:rPr>
              <a:t>Other Requirements …</a:t>
            </a:r>
          </a:p>
        </p:txBody>
      </p:sp>
    </p:spTree>
    <p:extLst>
      <p:ext uri="{BB962C8B-B14F-4D97-AF65-F5344CB8AC3E}">
        <p14:creationId xmlns:p14="http://schemas.microsoft.com/office/powerpoint/2010/main" val="29135179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D2410-C5AE-CB8C-D02F-537ECB1526E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8B21D35-6FFF-B3CB-1DFF-7756C55CC04F}"/>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CB92B4B8-8FCE-DE60-B516-B6AC030ED151}"/>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2" name="Title 3">
            <a:extLst>
              <a:ext uri="{FF2B5EF4-FFF2-40B4-BE49-F238E27FC236}">
                <a16:creationId xmlns:a16="http://schemas.microsoft.com/office/drawing/2014/main" id="{C22A9993-827B-AF0A-7899-AE6263138F54}"/>
              </a:ext>
            </a:extLst>
          </p:cNvPr>
          <p:cNvSpPr txBox="1">
            <a:spLocks/>
          </p:cNvSpPr>
          <p:nvPr/>
        </p:nvSpPr>
        <p:spPr>
          <a:xfrm>
            <a:off x="8432799" y="2895600"/>
            <a:ext cx="3759201" cy="13309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0" i="0" u="none" strike="noStrike" kern="1200" cap="none" spc="0" normalizeH="0" baseline="0" noProof="0">
                <a:ln>
                  <a:noFill/>
                </a:ln>
                <a:solidFill>
                  <a:srgbClr val="171735"/>
                </a:solidFill>
                <a:effectLst/>
                <a:uLnTx/>
                <a:uFillTx/>
                <a:latin typeface="Gill Sans Nova"/>
                <a:ea typeface="+mj-ea"/>
                <a:cs typeface="+mj-cs"/>
              </a:rPr>
              <a:t>Assessment 1 – Resources &amp; Other Requirements</a:t>
            </a:r>
            <a:endParaRPr kumimoji="0" lang="en-AU" sz="2800" b="0" i="0" u="none" strike="noStrike" kern="1200" cap="none" spc="0" normalizeH="0" baseline="0" noProof="0" dirty="0">
              <a:ln>
                <a:noFill/>
              </a:ln>
              <a:solidFill>
                <a:srgbClr val="171735"/>
              </a:solidFill>
              <a:effectLst/>
              <a:uLnTx/>
              <a:uFillTx/>
              <a:latin typeface="Gill Sans Nova"/>
              <a:ea typeface="+mj-ea"/>
              <a:cs typeface="+mj-cs"/>
            </a:endParaRPr>
          </a:p>
        </p:txBody>
      </p:sp>
      <p:pic>
        <p:nvPicPr>
          <p:cNvPr id="3" name="Picture 2">
            <a:extLst>
              <a:ext uri="{FF2B5EF4-FFF2-40B4-BE49-F238E27FC236}">
                <a16:creationId xmlns:a16="http://schemas.microsoft.com/office/drawing/2014/main" id="{BBAA2324-B376-1644-1F5B-68497BE04F41}"/>
              </a:ext>
            </a:extLst>
          </p:cNvPr>
          <p:cNvPicPr>
            <a:picLocks noChangeAspect="1"/>
          </p:cNvPicPr>
          <p:nvPr/>
        </p:nvPicPr>
        <p:blipFill>
          <a:blip r:embed="rId5"/>
          <a:stretch>
            <a:fillRect/>
          </a:stretch>
        </p:blipFill>
        <p:spPr>
          <a:xfrm>
            <a:off x="1404258" y="-352944"/>
            <a:ext cx="6433456" cy="7401090"/>
          </a:xfrm>
          <a:prstGeom prst="rect">
            <a:avLst/>
          </a:prstGeom>
        </p:spPr>
      </p:pic>
    </p:spTree>
    <p:extLst>
      <p:ext uri="{BB962C8B-B14F-4D97-AF65-F5344CB8AC3E}">
        <p14:creationId xmlns:p14="http://schemas.microsoft.com/office/powerpoint/2010/main" val="2908139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E8624-1124-7FBF-7716-DAC560899F2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4D0C373-5B39-74B7-7664-61F5CE22CDCB}"/>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FDDD7811-F3AC-01AE-AB6F-A4DCCF7714F0}"/>
              </a:ext>
            </a:extLst>
          </p:cNvPr>
          <p:cNvPicPr>
            <a:picLocks noGrp="1" noChangeAspect="1"/>
          </p:cNvPicPr>
          <p:nvPr>
            <p:ph idx="1"/>
          </p:nvPr>
        </p:nvPicPr>
        <p:blipFill>
          <a:blip r:embed="rId4"/>
          <a:stretch>
            <a:fillRect/>
          </a:stretch>
        </p:blipFill>
        <p:spPr>
          <a:xfrm>
            <a:off x="0" y="-305199"/>
            <a:ext cx="12192000" cy="7283430"/>
          </a:xfrm>
          <a:prstGeom prst="rect">
            <a:avLst/>
          </a:prstGeom>
        </p:spPr>
      </p:pic>
      <p:pic>
        <p:nvPicPr>
          <p:cNvPr id="3" name="Picture 2">
            <a:extLst>
              <a:ext uri="{FF2B5EF4-FFF2-40B4-BE49-F238E27FC236}">
                <a16:creationId xmlns:a16="http://schemas.microsoft.com/office/drawing/2014/main" id="{9862A48E-044D-CE28-7571-DC338F090856}"/>
              </a:ext>
            </a:extLst>
          </p:cNvPr>
          <p:cNvPicPr>
            <a:picLocks noChangeAspect="1"/>
          </p:cNvPicPr>
          <p:nvPr/>
        </p:nvPicPr>
        <p:blipFill>
          <a:blip r:embed="rId5"/>
          <a:stretch>
            <a:fillRect/>
          </a:stretch>
        </p:blipFill>
        <p:spPr>
          <a:xfrm>
            <a:off x="2106584" y="1499827"/>
            <a:ext cx="7978831" cy="5197290"/>
          </a:xfrm>
          <a:prstGeom prst="rect">
            <a:avLst/>
          </a:prstGeom>
        </p:spPr>
      </p:pic>
      <p:sp>
        <p:nvSpPr>
          <p:cNvPr id="4" name="Text Placeholder 4">
            <a:extLst>
              <a:ext uri="{FF2B5EF4-FFF2-40B4-BE49-F238E27FC236}">
                <a16:creationId xmlns:a16="http://schemas.microsoft.com/office/drawing/2014/main" id="{D3855B7A-ED38-899B-245F-5F55A681ADDB}"/>
              </a:ext>
            </a:extLst>
          </p:cNvPr>
          <p:cNvSpPr txBox="1">
            <a:spLocks/>
          </p:cNvSpPr>
          <p:nvPr/>
        </p:nvSpPr>
        <p:spPr>
          <a:xfrm>
            <a:off x="2340427" y="305433"/>
            <a:ext cx="7511143" cy="583762"/>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None/>
              <a:tabLst/>
              <a:defRPr/>
            </a:pPr>
            <a:r>
              <a:rPr kumimoji="0" lang="en-AU" sz="36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rPr>
              <a:t>Assessment Coversheet &amp; Declaration</a:t>
            </a:r>
          </a:p>
        </p:txBody>
      </p:sp>
    </p:spTree>
    <p:extLst>
      <p:ext uri="{BB962C8B-B14F-4D97-AF65-F5344CB8AC3E}">
        <p14:creationId xmlns:p14="http://schemas.microsoft.com/office/powerpoint/2010/main" val="2305117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C54C9-11DC-FCC2-0930-DA3856E76AB6}"/>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F24DE7E8-C63C-3AF8-98FC-99374DDD3EB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sp>
        <p:nvSpPr>
          <p:cNvPr id="4" name="Title 3">
            <a:extLst>
              <a:ext uri="{FF2B5EF4-FFF2-40B4-BE49-F238E27FC236}">
                <a16:creationId xmlns:a16="http://schemas.microsoft.com/office/drawing/2014/main" id="{861C33ED-D2E5-A1EB-88E0-7E1E1945A519}"/>
              </a:ext>
            </a:extLst>
          </p:cNvPr>
          <p:cNvSpPr txBox="1">
            <a:spLocks/>
          </p:cNvSpPr>
          <p:nvPr/>
        </p:nvSpPr>
        <p:spPr>
          <a:xfrm>
            <a:off x="1770743" y="1640114"/>
            <a:ext cx="3004457" cy="246742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3600" b="0" i="0" u="none" strike="noStrike" kern="1200" cap="none" spc="0" normalizeH="0" baseline="0" noProof="0">
                <a:ln>
                  <a:noFill/>
                </a:ln>
                <a:solidFill>
                  <a:srgbClr val="543E34"/>
                </a:solidFill>
                <a:effectLst/>
                <a:uLnTx/>
                <a:uFillTx/>
                <a:latin typeface="Sagona Book"/>
                <a:ea typeface="+mj-ea"/>
                <a:cs typeface="+mj-cs"/>
              </a:rPr>
              <a:t>APA 7</a:t>
            </a:r>
            <a:r>
              <a:rPr kumimoji="0" lang="en-AU" sz="3600" b="0" i="0" u="none" strike="noStrike" kern="1200" cap="none" spc="0" normalizeH="0" baseline="30000" noProof="0">
                <a:ln>
                  <a:noFill/>
                </a:ln>
                <a:solidFill>
                  <a:srgbClr val="543E34"/>
                </a:solidFill>
                <a:effectLst/>
                <a:uLnTx/>
                <a:uFillTx/>
                <a:latin typeface="Sagona Book"/>
                <a:ea typeface="+mj-ea"/>
                <a:cs typeface="+mj-cs"/>
              </a:rPr>
              <a:t>th</a:t>
            </a:r>
            <a:r>
              <a:rPr kumimoji="0" lang="en-AU" sz="3600" b="0" i="0" u="none" strike="noStrike" kern="1200" cap="none" spc="0" normalizeH="0" baseline="0" noProof="0">
                <a:ln>
                  <a:noFill/>
                </a:ln>
                <a:solidFill>
                  <a:srgbClr val="543E34"/>
                </a:solidFill>
                <a:effectLst/>
                <a:uLnTx/>
                <a:uFillTx/>
                <a:latin typeface="Sagona Book"/>
                <a:ea typeface="+mj-ea"/>
                <a:cs typeface="+mj-cs"/>
              </a:rPr>
              <a:t> Formatting your Document</a:t>
            </a:r>
            <a:endParaRPr kumimoji="0" lang="en-AU" sz="3600" b="0" i="0" u="none" strike="noStrike" kern="1200" cap="none" spc="0" normalizeH="0" baseline="0" noProof="0" dirty="0">
              <a:ln>
                <a:noFill/>
              </a:ln>
              <a:solidFill>
                <a:srgbClr val="543E34"/>
              </a:solidFill>
              <a:effectLst/>
              <a:uLnTx/>
              <a:uFillTx/>
              <a:latin typeface="Sagona Book"/>
              <a:ea typeface="+mj-ea"/>
              <a:cs typeface="+mj-cs"/>
            </a:endParaRPr>
          </a:p>
        </p:txBody>
      </p:sp>
      <p:pic>
        <p:nvPicPr>
          <p:cNvPr id="2" name="Picture 1">
            <a:extLst>
              <a:ext uri="{FF2B5EF4-FFF2-40B4-BE49-F238E27FC236}">
                <a16:creationId xmlns:a16="http://schemas.microsoft.com/office/drawing/2014/main" id="{7E02DE29-7BBE-D26F-AE12-8B306AEE219F}"/>
              </a:ext>
            </a:extLst>
          </p:cNvPr>
          <p:cNvPicPr>
            <a:picLocks noChangeAspect="1"/>
          </p:cNvPicPr>
          <p:nvPr/>
        </p:nvPicPr>
        <p:blipFill>
          <a:blip r:embed="rId4"/>
          <a:stretch>
            <a:fillRect/>
          </a:stretch>
        </p:blipFill>
        <p:spPr>
          <a:xfrm>
            <a:off x="6632812" y="5284"/>
            <a:ext cx="5550509" cy="6852716"/>
          </a:xfrm>
          <a:prstGeom prst="rect">
            <a:avLst/>
          </a:prstGeom>
        </p:spPr>
      </p:pic>
    </p:spTree>
    <p:extLst>
      <p:ext uri="{BB962C8B-B14F-4D97-AF65-F5344CB8AC3E}">
        <p14:creationId xmlns:p14="http://schemas.microsoft.com/office/powerpoint/2010/main" val="3068536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95BC-FC91-9F4E-ACC8-7AF531FF9186}"/>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107970DB-1273-7B7F-0761-05474B59466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sp>
        <p:nvSpPr>
          <p:cNvPr id="2" name="Title 3">
            <a:extLst>
              <a:ext uri="{FF2B5EF4-FFF2-40B4-BE49-F238E27FC236}">
                <a16:creationId xmlns:a16="http://schemas.microsoft.com/office/drawing/2014/main" id="{375AE86C-7ECF-59EE-E37F-FAB0433ABDB6}"/>
              </a:ext>
            </a:extLst>
          </p:cNvPr>
          <p:cNvSpPr txBox="1">
            <a:spLocks/>
          </p:cNvSpPr>
          <p:nvPr/>
        </p:nvSpPr>
        <p:spPr>
          <a:xfrm>
            <a:off x="2852057" y="264978"/>
            <a:ext cx="6487886" cy="96341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3600" b="0" i="0" u="none" strike="noStrike" kern="1200" cap="none" spc="0" normalizeH="0" baseline="0" noProof="0">
                <a:ln>
                  <a:noFill/>
                </a:ln>
                <a:solidFill>
                  <a:srgbClr val="543E34"/>
                </a:solidFill>
                <a:effectLst/>
                <a:uLnTx/>
                <a:uFillTx/>
                <a:latin typeface="Sagona Book"/>
                <a:ea typeface="+mj-ea"/>
                <a:cs typeface="+mj-cs"/>
              </a:rPr>
              <a:t>INDG6002 - GenAI Use</a:t>
            </a:r>
            <a:endParaRPr kumimoji="0" lang="en-AU" sz="3600" b="0" i="0" u="none" strike="noStrike" kern="1200" cap="none" spc="0" normalizeH="0" baseline="0" noProof="0" dirty="0">
              <a:ln>
                <a:noFill/>
              </a:ln>
              <a:solidFill>
                <a:srgbClr val="543E34"/>
              </a:solidFill>
              <a:effectLst/>
              <a:uLnTx/>
              <a:uFillTx/>
              <a:latin typeface="Sagona Book"/>
              <a:ea typeface="+mj-ea"/>
              <a:cs typeface="+mj-cs"/>
            </a:endParaRPr>
          </a:p>
        </p:txBody>
      </p:sp>
      <p:sp>
        <p:nvSpPr>
          <p:cNvPr id="3" name="TextBox 2">
            <a:extLst>
              <a:ext uri="{FF2B5EF4-FFF2-40B4-BE49-F238E27FC236}">
                <a16:creationId xmlns:a16="http://schemas.microsoft.com/office/drawing/2014/main" id="{8BA0A393-518D-EBEF-14E7-999B28F83A28}"/>
              </a:ext>
            </a:extLst>
          </p:cNvPr>
          <p:cNvSpPr txBox="1"/>
          <p:nvPr/>
        </p:nvSpPr>
        <p:spPr>
          <a:xfrm>
            <a:off x="1995713" y="1710107"/>
            <a:ext cx="9035143"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prstClr val="black"/>
                </a:solidFill>
                <a:effectLst/>
                <a:uLnTx/>
                <a:uFillTx/>
                <a:latin typeface="Aptos" panose="02110004020202020204"/>
                <a:ea typeface="+mn-ea"/>
                <a:cs typeface="+mn-cs"/>
              </a:rPr>
              <a:t>In Gnibi College units, the use of GenAI in assessments is generally restricted to protect the integrity and authenticity of the learning process. Indigenous Knowledges are grounded in lived experience, cultural practices, and relational ways of knowing. Engaging meaningfully with these knowledges requires personal reflection, respectful interpretation, and a commitment to culturally responsive learning—something that cannot be authentically achieved through AI-generated content.</a:t>
            </a:r>
            <a:endParaRPr kumimoji="0" lang="en-AU"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90433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4027C-F9AA-CBC9-59D7-7F3A98B9C14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EE6AC35-465E-1FC2-C0BC-560FA1F6D398}"/>
              </a:ext>
            </a:extLst>
          </p:cNvPr>
          <p:cNvPicPr>
            <a:picLocks noChangeAspect="1"/>
          </p:cNvPicPr>
          <p:nvPr/>
        </p:nvPicPr>
        <p:blipFill>
          <a:blip r:embed="rId3"/>
          <a:stretch>
            <a:fillRect/>
          </a:stretch>
        </p:blipFill>
        <p:spPr>
          <a:xfrm>
            <a:off x="0" y="-305199"/>
            <a:ext cx="12192000" cy="7163199"/>
          </a:xfrm>
          <a:prstGeom prst="rect">
            <a:avLst/>
          </a:prstGeom>
        </p:spPr>
      </p:pic>
      <p:pic>
        <p:nvPicPr>
          <p:cNvPr id="14" name="Content Placeholder 13">
            <a:extLst>
              <a:ext uri="{FF2B5EF4-FFF2-40B4-BE49-F238E27FC236}">
                <a16:creationId xmlns:a16="http://schemas.microsoft.com/office/drawing/2014/main" id="{4C5D9F94-C14D-1BA7-1BBA-12731EF6ADFE}"/>
              </a:ext>
            </a:extLst>
          </p:cNvPr>
          <p:cNvPicPr>
            <a:picLocks noGrp="1" noChangeAspect="1"/>
          </p:cNvPicPr>
          <p:nvPr>
            <p:ph idx="1"/>
          </p:nvPr>
        </p:nvPicPr>
        <p:blipFill>
          <a:blip r:embed="rId4"/>
          <a:stretch>
            <a:fillRect/>
          </a:stretch>
        </p:blipFill>
        <p:spPr>
          <a:xfrm>
            <a:off x="0" y="-305199"/>
            <a:ext cx="12192000" cy="7283430"/>
          </a:xfrm>
          <a:prstGeom prst="rect">
            <a:avLst/>
          </a:prstGeom>
        </p:spPr>
      </p:pic>
      <p:sp>
        <p:nvSpPr>
          <p:cNvPr id="2" name="Text Placeholder 5">
            <a:extLst>
              <a:ext uri="{FF2B5EF4-FFF2-40B4-BE49-F238E27FC236}">
                <a16:creationId xmlns:a16="http://schemas.microsoft.com/office/drawing/2014/main" id="{7CCB5D1A-DF92-BEEC-5242-00AA475FFFB5}"/>
              </a:ext>
            </a:extLst>
          </p:cNvPr>
          <p:cNvSpPr txBox="1">
            <a:spLocks/>
          </p:cNvSpPr>
          <p:nvPr/>
        </p:nvSpPr>
        <p:spPr>
          <a:xfrm>
            <a:off x="667589" y="1310504"/>
            <a:ext cx="10856821" cy="5262979"/>
          </a:xfrm>
          <a:prstGeom prst="rect">
            <a:avLst/>
          </a:prstGeom>
          <a:noFill/>
        </p:spPr>
        <p:txBody>
          <a:bodyPr vert="horz" wrap="square" lIns="91440" tIns="45720" rIns="91440" bIns="45720" rtlCol="0">
            <a:sp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This assessment is classified as: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Level 2: AI use permitted for specific purposes. </a:t>
            </a: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You can use AI for specific tasks as identified by the Unit Assessor.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 You may use GenAI to: </a:t>
            </a: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Formatting, spelling and grammar - Grammarly Premium AI is permitted for formatting, spelling and grammar. Grammarly is permitted for language improvements – </a:t>
            </a:r>
            <a:r>
              <a:rPr kumimoji="0" lang="en-AU" sz="2000" b="1" i="0" u="none" strike="noStrike" kern="1200" cap="none" spc="0" normalizeH="0" baseline="0" noProof="0" dirty="0">
                <a:ln>
                  <a:noFill/>
                </a:ln>
                <a:solidFill>
                  <a:srgbClr val="543E34"/>
                </a:solidFill>
                <a:effectLst/>
                <a:uLnTx/>
                <a:uFillTx/>
                <a:latin typeface="Gill Sans Nova Light"/>
                <a:ea typeface="+mn-ea"/>
                <a:cs typeface="+mn-cs"/>
              </a:rPr>
              <a:t>no content or knowledge creation is permitted.</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Paraphrasing permitted - Use of </a:t>
            </a: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Grammarly Premium AI </a:t>
            </a: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is permitted for paraphrasing. Pay careful attention to any language adjustments that may affect the clarity of your work. Paraphrasing using </a:t>
            </a: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Grammarly Premium AI </a:t>
            </a: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must be referenced.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 You may not use GenAI to: </a:t>
            </a: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a:p>
            <a:pPr marL="342900" marR="0" lvl="0" indent="-34290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Use of any other GenAI for content or knowledge creation is not within the permitted uses for this task.</a:t>
            </a: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a:p>
            <a:pPr marL="342900" marR="0" lvl="0" indent="-34290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Present GenAI-generated material as your own original ideas</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Ask GenAI to </a:t>
            </a: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write any part of the analysis</a:t>
            </a: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 commentary, or conclusions about your chosen study. </a:t>
            </a:r>
          </a:p>
          <a:p>
            <a:pPr marL="342900" marR="0" lvl="0" indent="-34290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Upload or provide text from the research article or for GenAI to rewrite, summarise, or interpret the article.</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b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4" name="Title 3">
            <a:extLst>
              <a:ext uri="{FF2B5EF4-FFF2-40B4-BE49-F238E27FC236}">
                <a16:creationId xmlns:a16="http://schemas.microsoft.com/office/drawing/2014/main" id="{DAA5EE6C-4A70-EC1E-B7CC-CF4BD851E456}"/>
              </a:ext>
            </a:extLst>
          </p:cNvPr>
          <p:cNvSpPr txBox="1">
            <a:spLocks/>
          </p:cNvSpPr>
          <p:nvPr/>
        </p:nvSpPr>
        <p:spPr>
          <a:xfrm>
            <a:off x="2301783" y="78897"/>
            <a:ext cx="7588432" cy="96341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3600" b="0" i="0" u="none" strike="noStrike" kern="1200" cap="none" spc="0" normalizeH="0" baseline="0" noProof="0" dirty="0">
                <a:ln>
                  <a:noFill/>
                </a:ln>
                <a:solidFill>
                  <a:srgbClr val="000000"/>
                </a:solidFill>
                <a:effectLst/>
                <a:uLnTx/>
                <a:uFillTx/>
                <a:latin typeface="Gill Sans Nova"/>
                <a:ea typeface="+mj-ea"/>
                <a:cs typeface="+mj-cs"/>
              </a:rPr>
              <a:t>INDG6002 - GenAI Use continued …</a:t>
            </a:r>
          </a:p>
        </p:txBody>
      </p:sp>
    </p:spTree>
    <p:extLst>
      <p:ext uri="{BB962C8B-B14F-4D97-AF65-F5344CB8AC3E}">
        <p14:creationId xmlns:p14="http://schemas.microsoft.com/office/powerpoint/2010/main" val="1580171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646D7-06DB-1ABE-4CB2-B3AAE8810F4C}"/>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295D0E59-BECC-D2E1-2ECD-6C3E78CA38E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pic>
        <p:nvPicPr>
          <p:cNvPr id="6" name="Picture 5">
            <a:extLst>
              <a:ext uri="{FF2B5EF4-FFF2-40B4-BE49-F238E27FC236}">
                <a16:creationId xmlns:a16="http://schemas.microsoft.com/office/drawing/2014/main" id="{AF910B1E-DF68-ED7C-308B-21E8C8B59FCC}"/>
              </a:ext>
            </a:extLst>
          </p:cNvPr>
          <p:cNvPicPr>
            <a:picLocks noChangeAspect="1"/>
          </p:cNvPicPr>
          <p:nvPr/>
        </p:nvPicPr>
        <p:blipFill>
          <a:blip r:embed="rId4"/>
          <a:stretch>
            <a:fillRect/>
          </a:stretch>
        </p:blipFill>
        <p:spPr>
          <a:xfrm>
            <a:off x="1162722" y="1901952"/>
            <a:ext cx="9342300" cy="3877056"/>
          </a:xfrm>
          <a:prstGeom prst="rect">
            <a:avLst/>
          </a:prstGeom>
          <a:noFill/>
        </p:spPr>
      </p:pic>
      <p:sp>
        <p:nvSpPr>
          <p:cNvPr id="7" name="Title 4">
            <a:extLst>
              <a:ext uri="{FF2B5EF4-FFF2-40B4-BE49-F238E27FC236}">
                <a16:creationId xmlns:a16="http://schemas.microsoft.com/office/drawing/2014/main" id="{BD977A7D-9AD7-5B7B-062A-2A887335267C}"/>
              </a:ext>
            </a:extLst>
          </p:cNvPr>
          <p:cNvSpPr>
            <a:spLocks noGrp="1"/>
          </p:cNvSpPr>
          <p:nvPr>
            <p:ph type="title"/>
          </p:nvPr>
        </p:nvSpPr>
        <p:spPr>
          <a:xfrm>
            <a:off x="576072" y="704088"/>
            <a:ext cx="10515600" cy="676656"/>
          </a:xfrm>
        </p:spPr>
        <p:txBody>
          <a:bodyPr/>
          <a:lstStyle/>
          <a:p>
            <a:r>
              <a:rPr lang="en-US" dirty="0"/>
              <a:t>Rubric Assessment 1: Criterion 1</a:t>
            </a:r>
          </a:p>
        </p:txBody>
      </p:sp>
    </p:spTree>
    <p:extLst>
      <p:ext uri="{BB962C8B-B14F-4D97-AF65-F5344CB8AC3E}">
        <p14:creationId xmlns:p14="http://schemas.microsoft.com/office/powerpoint/2010/main" val="4184045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CE9B7-ECCF-BFCD-BA54-3753A32A5BBD}"/>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42390660-6DC4-17EC-B7D6-41B4953EC5E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sp>
        <p:nvSpPr>
          <p:cNvPr id="4" name="Title 4">
            <a:extLst>
              <a:ext uri="{FF2B5EF4-FFF2-40B4-BE49-F238E27FC236}">
                <a16:creationId xmlns:a16="http://schemas.microsoft.com/office/drawing/2014/main" id="{F6F1B147-9515-BE80-9DB6-36F3D309BA4A}"/>
              </a:ext>
            </a:extLst>
          </p:cNvPr>
          <p:cNvSpPr>
            <a:spLocks noGrp="1"/>
          </p:cNvSpPr>
          <p:nvPr>
            <p:ph type="title"/>
          </p:nvPr>
        </p:nvSpPr>
        <p:spPr>
          <a:xfrm>
            <a:off x="576072" y="704088"/>
            <a:ext cx="10515600" cy="676656"/>
          </a:xfrm>
        </p:spPr>
        <p:txBody>
          <a:bodyPr/>
          <a:lstStyle/>
          <a:p>
            <a:r>
              <a:rPr lang="en-US" dirty="0"/>
              <a:t>Rubric Assessment 1: Criterion 2</a:t>
            </a:r>
          </a:p>
        </p:txBody>
      </p:sp>
      <p:pic>
        <p:nvPicPr>
          <p:cNvPr id="6" name="Picture 5">
            <a:extLst>
              <a:ext uri="{FF2B5EF4-FFF2-40B4-BE49-F238E27FC236}">
                <a16:creationId xmlns:a16="http://schemas.microsoft.com/office/drawing/2014/main" id="{DEEAA3D3-24DF-A498-B028-5249AB168160}"/>
              </a:ext>
            </a:extLst>
          </p:cNvPr>
          <p:cNvPicPr>
            <a:picLocks noChangeAspect="1"/>
          </p:cNvPicPr>
          <p:nvPr/>
        </p:nvPicPr>
        <p:blipFill>
          <a:blip r:embed="rId4"/>
          <a:stretch>
            <a:fillRect/>
          </a:stretch>
        </p:blipFill>
        <p:spPr>
          <a:xfrm>
            <a:off x="275626" y="1859333"/>
            <a:ext cx="11123762" cy="2947797"/>
          </a:xfrm>
          <a:prstGeom prst="rect">
            <a:avLst/>
          </a:prstGeom>
          <a:noFill/>
        </p:spPr>
      </p:pic>
    </p:spTree>
    <p:extLst>
      <p:ext uri="{BB962C8B-B14F-4D97-AF65-F5344CB8AC3E}">
        <p14:creationId xmlns:p14="http://schemas.microsoft.com/office/powerpoint/2010/main" val="2193812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BF758-8E44-F117-FDF4-3A873044CFCD}"/>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4E06B6B6-5ABF-4A24-E160-CF884092C8F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sp>
        <p:nvSpPr>
          <p:cNvPr id="2" name="Title 4">
            <a:extLst>
              <a:ext uri="{FF2B5EF4-FFF2-40B4-BE49-F238E27FC236}">
                <a16:creationId xmlns:a16="http://schemas.microsoft.com/office/drawing/2014/main" id="{0D7F6FC6-51D9-477E-2CA5-306EB47507FB}"/>
              </a:ext>
            </a:extLst>
          </p:cNvPr>
          <p:cNvSpPr>
            <a:spLocks noGrp="1"/>
          </p:cNvSpPr>
          <p:nvPr>
            <p:ph type="title"/>
          </p:nvPr>
        </p:nvSpPr>
        <p:spPr>
          <a:xfrm>
            <a:off x="576072" y="704088"/>
            <a:ext cx="10515600" cy="676656"/>
          </a:xfrm>
        </p:spPr>
        <p:txBody>
          <a:bodyPr/>
          <a:lstStyle/>
          <a:p>
            <a:r>
              <a:rPr lang="en-US" dirty="0"/>
              <a:t>Rubric Assessment 1: Criterion 3</a:t>
            </a:r>
          </a:p>
        </p:txBody>
      </p:sp>
      <p:pic>
        <p:nvPicPr>
          <p:cNvPr id="4" name="Picture 3">
            <a:extLst>
              <a:ext uri="{FF2B5EF4-FFF2-40B4-BE49-F238E27FC236}">
                <a16:creationId xmlns:a16="http://schemas.microsoft.com/office/drawing/2014/main" id="{3AE46AEA-F8DF-3C17-B900-835277428BE5}"/>
              </a:ext>
            </a:extLst>
          </p:cNvPr>
          <p:cNvPicPr>
            <a:picLocks noChangeAspect="1"/>
          </p:cNvPicPr>
          <p:nvPr/>
        </p:nvPicPr>
        <p:blipFill>
          <a:blip r:embed="rId4"/>
          <a:stretch>
            <a:fillRect/>
          </a:stretch>
        </p:blipFill>
        <p:spPr>
          <a:xfrm>
            <a:off x="691243" y="1925905"/>
            <a:ext cx="10809513" cy="3547431"/>
          </a:xfrm>
          <a:prstGeom prst="rect">
            <a:avLst/>
          </a:prstGeom>
        </p:spPr>
      </p:pic>
    </p:spTree>
    <p:extLst>
      <p:ext uri="{BB962C8B-B14F-4D97-AF65-F5344CB8AC3E}">
        <p14:creationId xmlns:p14="http://schemas.microsoft.com/office/powerpoint/2010/main" val="41810418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84B64-B00E-B94F-E7D4-A99F9314C479}"/>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B02BFF22-9B2D-6BE5-7F20-6DF48CB515C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sp>
        <p:nvSpPr>
          <p:cNvPr id="4" name="Title 4">
            <a:extLst>
              <a:ext uri="{FF2B5EF4-FFF2-40B4-BE49-F238E27FC236}">
                <a16:creationId xmlns:a16="http://schemas.microsoft.com/office/drawing/2014/main" id="{DD87DD78-D2B0-290F-F5A1-72BEDB2239D7}"/>
              </a:ext>
            </a:extLst>
          </p:cNvPr>
          <p:cNvSpPr>
            <a:spLocks noGrp="1"/>
          </p:cNvSpPr>
          <p:nvPr>
            <p:ph type="title"/>
          </p:nvPr>
        </p:nvSpPr>
        <p:spPr>
          <a:xfrm>
            <a:off x="576072" y="704088"/>
            <a:ext cx="10515600" cy="676656"/>
          </a:xfrm>
        </p:spPr>
        <p:txBody>
          <a:bodyPr/>
          <a:lstStyle/>
          <a:p>
            <a:r>
              <a:rPr lang="en-US" dirty="0"/>
              <a:t>Rubric Assessment 1: Criterion 4</a:t>
            </a:r>
          </a:p>
        </p:txBody>
      </p:sp>
      <p:pic>
        <p:nvPicPr>
          <p:cNvPr id="6" name="Picture 5">
            <a:extLst>
              <a:ext uri="{FF2B5EF4-FFF2-40B4-BE49-F238E27FC236}">
                <a16:creationId xmlns:a16="http://schemas.microsoft.com/office/drawing/2014/main" id="{EF377F75-DEF7-4504-2AA1-A84A52099B3D}"/>
              </a:ext>
            </a:extLst>
          </p:cNvPr>
          <p:cNvPicPr>
            <a:picLocks noChangeAspect="1"/>
          </p:cNvPicPr>
          <p:nvPr/>
        </p:nvPicPr>
        <p:blipFill>
          <a:blip r:embed="rId4"/>
          <a:stretch>
            <a:fillRect/>
          </a:stretch>
        </p:blipFill>
        <p:spPr>
          <a:xfrm>
            <a:off x="1579760" y="1602782"/>
            <a:ext cx="8940810" cy="4131812"/>
          </a:xfrm>
          <a:prstGeom prst="rect">
            <a:avLst/>
          </a:prstGeom>
        </p:spPr>
      </p:pic>
    </p:spTree>
    <p:extLst>
      <p:ext uri="{BB962C8B-B14F-4D97-AF65-F5344CB8AC3E}">
        <p14:creationId xmlns:p14="http://schemas.microsoft.com/office/powerpoint/2010/main" val="42415475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9111-74BE-DBB5-6A69-E95F67F1E426}"/>
            </a:ext>
          </a:extLst>
        </p:cNvPr>
        <p:cNvGrpSpPr/>
        <p:nvPr/>
      </p:nvGrpSpPr>
      <p:grpSpPr>
        <a:xfrm>
          <a:off x="0" y="0"/>
          <a:ext cx="0" cy="0"/>
          <a:chOff x="0" y="0"/>
          <a:chExt cx="0" cy="0"/>
        </a:xfrm>
      </p:grpSpPr>
      <p:pic>
        <p:nvPicPr>
          <p:cNvPr id="5" name="Content Placeholder 4" descr="A white fabric with gold threads&#10;&#10;Description automatically generated with medium confidence">
            <a:extLst>
              <a:ext uri="{FF2B5EF4-FFF2-40B4-BE49-F238E27FC236}">
                <a16:creationId xmlns:a16="http://schemas.microsoft.com/office/drawing/2014/main" id="{9416CF98-EFD2-C15F-EA3F-493AA067432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151" b="5595"/>
          <a:stretch/>
        </p:blipFill>
        <p:spPr>
          <a:xfrm>
            <a:off x="20" y="1282"/>
            <a:ext cx="12191980" cy="6856718"/>
          </a:xfrm>
          <a:prstGeom prst="rect">
            <a:avLst/>
          </a:prstGeom>
        </p:spPr>
      </p:pic>
      <p:sp>
        <p:nvSpPr>
          <p:cNvPr id="2" name="Text Placeholder 4">
            <a:extLst>
              <a:ext uri="{FF2B5EF4-FFF2-40B4-BE49-F238E27FC236}">
                <a16:creationId xmlns:a16="http://schemas.microsoft.com/office/drawing/2014/main" id="{569A8BB9-B5A1-6CB6-FEE0-8F632D518873}"/>
              </a:ext>
            </a:extLst>
          </p:cNvPr>
          <p:cNvSpPr>
            <a:spLocks noGrp="1"/>
          </p:cNvSpPr>
          <p:nvPr>
            <p:ph type="title"/>
          </p:nvPr>
        </p:nvSpPr>
        <p:spPr>
          <a:xfrm>
            <a:off x="576072" y="704088"/>
            <a:ext cx="10515600" cy="676656"/>
          </a:xfrm>
        </p:spPr>
        <p:txBody>
          <a:bodyPr anchor="ctr">
            <a:normAutofit fontScale="90000"/>
          </a:bodyPr>
          <a:lstStyle/>
          <a:p>
            <a:pPr marL="76200">
              <a:spcBef>
                <a:spcPts val="1395"/>
              </a:spcBef>
            </a:pPr>
            <a:r>
              <a:rPr lang="en-AU" sz="4100" dirty="0"/>
              <a:t>Rubric Assessment 1: Criterion 5</a:t>
            </a:r>
          </a:p>
        </p:txBody>
      </p:sp>
      <p:pic>
        <p:nvPicPr>
          <p:cNvPr id="3" name="Picture 2">
            <a:extLst>
              <a:ext uri="{FF2B5EF4-FFF2-40B4-BE49-F238E27FC236}">
                <a16:creationId xmlns:a16="http://schemas.microsoft.com/office/drawing/2014/main" id="{88019AD2-070A-AC69-7417-AFFC9C9AE9B9}"/>
              </a:ext>
            </a:extLst>
          </p:cNvPr>
          <p:cNvPicPr>
            <a:picLocks noChangeAspect="1"/>
          </p:cNvPicPr>
          <p:nvPr/>
        </p:nvPicPr>
        <p:blipFill>
          <a:blip r:embed="rId4"/>
          <a:stretch>
            <a:fillRect/>
          </a:stretch>
        </p:blipFill>
        <p:spPr>
          <a:xfrm>
            <a:off x="1526033" y="1901952"/>
            <a:ext cx="8615678" cy="3877056"/>
          </a:xfrm>
          <a:prstGeom prst="rect">
            <a:avLst/>
          </a:prstGeom>
          <a:noFill/>
        </p:spPr>
      </p:pic>
    </p:spTree>
    <p:extLst>
      <p:ext uri="{BB962C8B-B14F-4D97-AF65-F5344CB8AC3E}">
        <p14:creationId xmlns:p14="http://schemas.microsoft.com/office/powerpoint/2010/main" val="1218409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Freeform 2"/>
          <p:cNvSpPr/>
          <p:nvPr/>
        </p:nvSpPr>
        <p:spPr>
          <a:xfrm>
            <a:off x="-585803"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p:cNvSpPr/>
          <p:nvPr/>
        </p:nvSpPr>
        <p:spPr>
          <a:xfrm rot="-10800000">
            <a:off x="-442544"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p:cNvSpPr/>
          <p:nvPr/>
        </p:nvSpPr>
        <p:spPr>
          <a:xfrm>
            <a:off x="10995297"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p:cNvSpPr/>
          <p:nvPr/>
        </p:nvSpPr>
        <p:spPr>
          <a:xfrm rot="-10800000">
            <a:off x="11138556"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244CA5B1-747E-9098-5994-4C16BA888886}"/>
              </a:ext>
            </a:extLst>
          </p:cNvPr>
          <p:cNvSpPr txBox="1"/>
          <p:nvPr/>
        </p:nvSpPr>
        <p:spPr>
          <a:xfrm>
            <a:off x="4181856" y="2487783"/>
            <a:ext cx="5084064" cy="769441"/>
          </a:xfrm>
          <a:prstGeom prst="rect">
            <a:avLst/>
          </a:prstGeom>
          <a:noFill/>
        </p:spPr>
        <p:txBody>
          <a:bodyPr wrap="square" rtlCol="0">
            <a:spAutoFit/>
          </a:bodyPr>
          <a:lstStyle/>
          <a:p>
            <a:r>
              <a:rPr lang="en-AU" sz="4400" dirty="0"/>
              <a:t>Questions?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69501001-32A7-5A4E-EB86-61D577BC76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C86E40E-AA00-0017-30A4-8B234A7D8B7A}"/>
              </a:ext>
            </a:extLst>
          </p:cNvPr>
          <p:cNvSpPr/>
          <p:nvPr/>
        </p:nvSpPr>
        <p:spPr>
          <a:xfrm>
            <a:off x="-585803"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451B254-5AAA-6E82-B50F-2ED5A51CD230}"/>
              </a:ext>
            </a:extLst>
          </p:cNvPr>
          <p:cNvSpPr/>
          <p:nvPr/>
        </p:nvSpPr>
        <p:spPr>
          <a:xfrm rot="-10800000">
            <a:off x="-442544"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FA4F1806-6DD0-54F5-BF04-00E2B46F4F1A}"/>
              </a:ext>
            </a:extLst>
          </p:cNvPr>
          <p:cNvSpPr/>
          <p:nvPr/>
        </p:nvSpPr>
        <p:spPr>
          <a:xfrm>
            <a:off x="10995297"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a:extLst>
              <a:ext uri="{FF2B5EF4-FFF2-40B4-BE49-F238E27FC236}">
                <a16:creationId xmlns:a16="http://schemas.microsoft.com/office/drawing/2014/main" id="{90F9D33F-CCFF-1366-BDBD-5ABC7DBF2671}"/>
              </a:ext>
            </a:extLst>
          </p:cNvPr>
          <p:cNvSpPr/>
          <p:nvPr/>
        </p:nvSpPr>
        <p:spPr>
          <a:xfrm rot="-10800000">
            <a:off x="11138556"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643A3F6D-F4F8-2DDC-8C54-C1637D02EE3A}"/>
              </a:ext>
            </a:extLst>
          </p:cNvPr>
          <p:cNvSpPr txBox="1"/>
          <p:nvPr/>
        </p:nvSpPr>
        <p:spPr>
          <a:xfrm>
            <a:off x="757427" y="2872504"/>
            <a:ext cx="2865120" cy="769441"/>
          </a:xfrm>
          <a:prstGeom prst="rect">
            <a:avLst/>
          </a:prstGeom>
          <a:noFill/>
        </p:spPr>
        <p:txBody>
          <a:bodyPr wrap="square" rtlCol="0">
            <a:spAutoFit/>
          </a:bodyPr>
          <a:lstStyle/>
          <a:p>
            <a:r>
              <a:rPr lang="en-AU" sz="4400" dirty="0"/>
              <a:t>Next week</a:t>
            </a:r>
          </a:p>
        </p:txBody>
      </p:sp>
      <p:pic>
        <p:nvPicPr>
          <p:cNvPr id="7" name="Picture Placeholder 8" descr="A close-up of a word cloud&#10;&#10;AI-generated content may be incorrect.">
            <a:extLst>
              <a:ext uri="{FF2B5EF4-FFF2-40B4-BE49-F238E27FC236}">
                <a16:creationId xmlns:a16="http://schemas.microsoft.com/office/drawing/2014/main" id="{C5E54ECD-485A-A4B1-9F4A-376F860225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4176" y="174332"/>
            <a:ext cx="7659624" cy="5783016"/>
          </a:xfrm>
          <a:prstGeom prst="rect">
            <a:avLst/>
          </a:prstGeom>
          <a:noFill/>
        </p:spPr>
      </p:pic>
    </p:spTree>
    <p:extLst>
      <p:ext uri="{BB962C8B-B14F-4D97-AF65-F5344CB8AC3E}">
        <p14:creationId xmlns:p14="http://schemas.microsoft.com/office/powerpoint/2010/main" val="31148240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5C5CE17C-98AE-D91A-8387-29AC89CB2A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3F0D64-C582-C3F3-35FB-98611CA15395}"/>
              </a:ext>
            </a:extLst>
          </p:cNvPr>
          <p:cNvSpPr/>
          <p:nvPr/>
        </p:nvSpPr>
        <p:spPr>
          <a:xfrm>
            <a:off x="-585803"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ED94A4C7-2252-E2B6-C7B4-36A42BD30B3F}"/>
              </a:ext>
            </a:extLst>
          </p:cNvPr>
          <p:cNvSpPr/>
          <p:nvPr/>
        </p:nvSpPr>
        <p:spPr>
          <a:xfrm rot="-10800000">
            <a:off x="-442544"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66784A8D-4ADA-FB79-BC17-C422C993B3C8}"/>
              </a:ext>
            </a:extLst>
          </p:cNvPr>
          <p:cNvSpPr txBox="1"/>
          <p:nvPr/>
        </p:nvSpPr>
        <p:spPr>
          <a:xfrm>
            <a:off x="1871758" y="2624484"/>
            <a:ext cx="5084064" cy="769441"/>
          </a:xfrm>
          <a:prstGeom prst="rect">
            <a:avLst/>
          </a:prstGeom>
          <a:noFill/>
        </p:spPr>
        <p:txBody>
          <a:bodyPr wrap="square" rtlCol="0">
            <a:spAutoFit/>
          </a:bodyPr>
          <a:lstStyle/>
          <a:p>
            <a:r>
              <a:rPr lang="en-AU" sz="4400" dirty="0"/>
              <a:t>Until Next Time</a:t>
            </a:r>
          </a:p>
        </p:txBody>
      </p:sp>
      <p:pic>
        <p:nvPicPr>
          <p:cNvPr id="7" name="Picture 6" descr="A tree next to a body of water&#10;&#10;Description automatically generated">
            <a:extLst>
              <a:ext uri="{FF2B5EF4-FFF2-40B4-BE49-F238E27FC236}">
                <a16:creationId xmlns:a16="http://schemas.microsoft.com/office/drawing/2014/main" id="{ADD1A427-9614-9E93-E6EF-50DC94348073}"/>
              </a:ext>
            </a:extLst>
          </p:cNvPr>
          <p:cNvPicPr>
            <a:picLocks noChangeAspect="1"/>
          </p:cNvPicPr>
          <p:nvPr/>
        </p:nvPicPr>
        <p:blipFill>
          <a:blip r:embed="rId4">
            <a:extLst>
              <a:ext uri="{28A0092B-C50C-407E-A947-70E740481C1C}">
                <a14:useLocalDpi xmlns:a14="http://schemas.microsoft.com/office/drawing/2010/main" val="0"/>
              </a:ext>
            </a:extLst>
          </a:blip>
          <a:srcRect l="3884" r="4066"/>
          <a:stretch/>
        </p:blipFill>
        <p:spPr>
          <a:xfrm>
            <a:off x="6669024" y="-17000"/>
            <a:ext cx="5522976" cy="6875000"/>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noFill/>
        </p:spPr>
      </p:pic>
    </p:spTree>
    <p:extLst>
      <p:ext uri="{BB962C8B-B14F-4D97-AF65-F5344CB8AC3E}">
        <p14:creationId xmlns:p14="http://schemas.microsoft.com/office/powerpoint/2010/main" val="3314009447"/>
      </p:ext>
    </p:extLst>
  </p:cSld>
  <p:clrMapOvr>
    <a:masterClrMapping/>
  </p:clrMapOvr>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6F7A4518-677F-49D0-AD76-8F0F7DEFB1E5}" vid="{F577DF72-62B0-42B0-B34E-786789A7979D}"/>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ConfettiVTI">
  <a:themeElements>
    <a:clrScheme name="AnalogousFromDarkSeedLeftStep">
      <a:dk1>
        <a:srgbClr val="000000"/>
      </a:dk1>
      <a:lt1>
        <a:srgbClr val="FFFFFF"/>
      </a:lt1>
      <a:dk2>
        <a:srgbClr val="171735"/>
      </a:dk2>
      <a:lt2>
        <a:srgbClr val="F0F2F3"/>
      </a:lt2>
      <a:accent1>
        <a:srgbClr val="CB6845"/>
      </a:accent1>
      <a:accent2>
        <a:srgbClr val="B93348"/>
      </a:accent2>
      <a:accent3>
        <a:srgbClr val="CB4592"/>
      </a:accent3>
      <a:accent4>
        <a:srgbClr val="B933B8"/>
      </a:accent4>
      <a:accent5>
        <a:srgbClr val="9445CB"/>
      </a:accent5>
      <a:accent6>
        <a:srgbClr val="4D36BA"/>
      </a:accent6>
      <a:hlink>
        <a:srgbClr val="A03FBF"/>
      </a:hlink>
      <a:folHlink>
        <a:srgbClr val="7F7F7F"/>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75C10FC01289439163198F93FB4054" ma:contentTypeVersion="7" ma:contentTypeDescription="Create a new document." ma:contentTypeScope="" ma:versionID="adbc3829ceeb370842b74b29b2f1735d">
  <xsd:schema xmlns:xsd="http://www.w3.org/2001/XMLSchema" xmlns:xs="http://www.w3.org/2001/XMLSchema" xmlns:p="http://schemas.microsoft.com/office/2006/metadata/properties" xmlns:ns2="1a07419a-7fae-44ff-adca-644589c7e86d" targetNamespace="http://schemas.microsoft.com/office/2006/metadata/properties" ma:root="true" ma:fieldsID="19704cffaff5330354c360c1bb6ddc48" ns2:_="">
    <xsd:import namespace="1a07419a-7fae-44ff-adca-644589c7e86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07419a-7fae-44ff-adca-644589c7e8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46721D-B3E5-461F-8F22-56BBDEFA25D6}">
  <ds:schemaRefs>
    <ds:schemaRef ds:uri="1a07419a-7fae-44ff-adca-644589c7e86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FD0FEF5-EE65-4EAB-A04A-295B237BB2CD}">
  <ds:schemaRefs>
    <ds:schemaRef ds:uri="http://www.w3.org/XML/1998/namespace"/>
    <ds:schemaRef ds:uri="1a07419a-7fae-44ff-adca-644589c7e86d"/>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 ds:uri="http://purl.org/dc/dcmitype/"/>
    <ds:schemaRef ds:uri="http://purl.org/dc/terms/"/>
  </ds:schemaRefs>
</ds:datastoreItem>
</file>

<file path=customXml/itemProps3.xml><?xml version="1.0" encoding="utf-8"?>
<ds:datastoreItem xmlns:ds="http://schemas.openxmlformats.org/officeDocument/2006/customXml" ds:itemID="{0F68574B-2607-47EC-A4AB-28FBCF3DC942}">
  <ds:schemaRefs>
    <ds:schemaRef ds:uri="http://schemas.microsoft.com/sharepoint/v3/contenttype/forms"/>
  </ds:schemaRefs>
</ds:datastoreItem>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
  <TotalTime>2059</TotalTime>
  <Words>2970</Words>
  <Application>Microsoft Office PowerPoint</Application>
  <PresentationFormat>Widescreen</PresentationFormat>
  <Paragraphs>332</Paragraphs>
  <Slides>45</Slides>
  <Notes>44</Notes>
  <HiddenSlides>0</HiddenSlides>
  <MMClips>0</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45</vt:i4>
      </vt:variant>
    </vt:vector>
  </HeadingPairs>
  <TitlesOfParts>
    <vt:vector size="64" baseType="lpstr">
      <vt:lpstr>Abstracted Dream</vt:lpstr>
      <vt:lpstr>Angsana New</vt:lpstr>
      <vt:lpstr>Aptos</vt:lpstr>
      <vt:lpstr>Aptos Display</vt:lpstr>
      <vt:lpstr>Arial</vt:lpstr>
      <vt:lpstr>Calibri</vt:lpstr>
      <vt:lpstr>Calibri Light</vt:lpstr>
      <vt:lpstr>Courier New</vt:lpstr>
      <vt:lpstr>Gill Sans Nova</vt:lpstr>
      <vt:lpstr>Gill Sans Nova Light</vt:lpstr>
      <vt:lpstr>Grandview Display</vt:lpstr>
      <vt:lpstr>Sagona Book</vt:lpstr>
      <vt:lpstr>Symbol</vt:lpstr>
      <vt:lpstr>TeXGyrePagella-Regular</vt:lpstr>
      <vt:lpstr>Wingdings</vt:lpstr>
      <vt:lpstr>Office Theme</vt:lpstr>
      <vt:lpstr>2_Office Theme</vt:lpstr>
      <vt:lpstr>1_Office Theme</vt:lpstr>
      <vt:lpstr>ConfettiVTI</vt:lpstr>
      <vt:lpstr>PowerPoint Presentation</vt:lpstr>
      <vt:lpstr>PowerPoint Presentation</vt:lpstr>
      <vt:lpstr>Themes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Social Determinants of health (SDoH)</vt:lpstr>
      <vt:lpstr>Social Determinants of Health further impacting Aboriginal and Torres Strait Islander peoples  (SDoH)</vt:lpstr>
      <vt:lpstr>PowerPoint Presentation</vt:lpstr>
      <vt:lpstr>Systemic and Institutional Racism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Rubric Assessment 1: Criterion 1</vt:lpstr>
      <vt:lpstr>Rubric Assessment 1: Criterion 2</vt:lpstr>
      <vt:lpstr>Rubric Assessment 1: Criterion 3</vt:lpstr>
      <vt:lpstr>Rubric Assessment 1: Criterion 4</vt:lpstr>
      <vt:lpstr>Rubric Assessment 1: Criterion 5</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Kelly Menzel</dc:creator>
  <cp:lastModifiedBy>Ros Sawtell</cp:lastModifiedBy>
  <cp:revision>231</cp:revision>
  <cp:lastPrinted>2024-11-12T09:44:40Z</cp:lastPrinted>
  <dcterms:created xsi:type="dcterms:W3CDTF">2021-10-05T03:08:12Z</dcterms:created>
  <dcterms:modified xsi:type="dcterms:W3CDTF">2026-10-19T04:37:07Z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0x0101003775C10FC01289439163198F93FB4054</vt:lpwstr>
  </property>
</Properties>
</file>