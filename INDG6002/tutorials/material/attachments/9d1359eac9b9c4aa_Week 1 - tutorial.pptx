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1.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8" r:id="rId2"/>
  </p:sldMasterIdLst>
  <p:notesMasterIdLst>
    <p:notesMasterId r:id="rId55"/>
  </p:notesMasterIdLst>
  <p:handoutMasterIdLst>
    <p:handoutMasterId r:id="rId56"/>
  </p:handoutMasterIdLst>
  <p:sldIdLst>
    <p:sldId id="272" r:id="rId3"/>
    <p:sldId id="583" r:id="rId4"/>
    <p:sldId id="465" r:id="rId5"/>
    <p:sldId id="593" r:id="rId6"/>
    <p:sldId id="453" r:id="rId7"/>
    <p:sldId id="259" r:id="rId8"/>
    <p:sldId id="462" r:id="rId9"/>
    <p:sldId id="582" r:id="rId10"/>
    <p:sldId id="585" r:id="rId11"/>
    <p:sldId id="266" r:id="rId12"/>
    <p:sldId id="595" r:id="rId13"/>
    <p:sldId id="594" r:id="rId14"/>
    <p:sldId id="587" r:id="rId15"/>
    <p:sldId id="586" r:id="rId16"/>
    <p:sldId id="461" r:id="rId17"/>
    <p:sldId id="285" r:id="rId18"/>
    <p:sldId id="291" r:id="rId19"/>
    <p:sldId id="449" r:id="rId20"/>
    <p:sldId id="341" r:id="rId21"/>
    <p:sldId id="447" r:id="rId22"/>
    <p:sldId id="268" r:id="rId23"/>
    <p:sldId id="436" r:id="rId24"/>
    <p:sldId id="463" r:id="rId25"/>
    <p:sldId id="286" r:id="rId26"/>
    <p:sldId id="288" r:id="rId27"/>
    <p:sldId id="455" r:id="rId28"/>
    <p:sldId id="458" r:id="rId29"/>
    <p:sldId id="592" r:id="rId30"/>
    <p:sldId id="281" r:id="rId31"/>
    <p:sldId id="612" r:id="rId32"/>
    <p:sldId id="466" r:id="rId33"/>
    <p:sldId id="597" r:id="rId34"/>
    <p:sldId id="598" r:id="rId35"/>
    <p:sldId id="469" r:id="rId36"/>
    <p:sldId id="596" r:id="rId37"/>
    <p:sldId id="599" r:id="rId38"/>
    <p:sldId id="601" r:id="rId39"/>
    <p:sldId id="605" r:id="rId40"/>
    <p:sldId id="474" r:id="rId41"/>
    <p:sldId id="604" r:id="rId42"/>
    <p:sldId id="590" r:id="rId43"/>
    <p:sldId id="603" r:id="rId44"/>
    <p:sldId id="472" r:id="rId45"/>
    <p:sldId id="473" r:id="rId46"/>
    <p:sldId id="600" r:id="rId47"/>
    <p:sldId id="602" r:id="rId48"/>
    <p:sldId id="606" r:id="rId49"/>
    <p:sldId id="610" r:id="rId50"/>
    <p:sldId id="611" r:id="rId51"/>
    <p:sldId id="609" r:id="rId52"/>
    <p:sldId id="467" r:id="rId53"/>
    <p:sldId id="290" r:id="rId54"/>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elly Menzel" initials="KM" lastIdx="1" clrIdx="0">
    <p:extLst>
      <p:ext uri="{19B8F6BF-5375-455C-9EA6-DF929625EA0E}">
        <p15:presenceInfo xmlns:p15="http://schemas.microsoft.com/office/powerpoint/2012/main" userId="S::kelly.menzel@scu.edu.au::d1d664c6-32f5-4ac9-a809-4457f53632a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09D79"/>
    <a:srgbClr val="D1D8B7"/>
    <a:srgbClr val="AD5C4D"/>
    <a:srgbClr val="543E35"/>
    <a:srgbClr val="637700"/>
    <a:srgbClr val="FFF4ED"/>
    <a:srgbClr val="5E6A76"/>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48995" autoAdjust="0"/>
  </p:normalViewPr>
  <p:slideViewPr>
    <p:cSldViewPr snapToGrid="0">
      <p:cViewPr varScale="1">
        <p:scale>
          <a:sx n="31" d="100"/>
          <a:sy n="31" d="100"/>
        </p:scale>
        <p:origin x="1992" y="28"/>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78" d="100"/>
          <a:sy n="78" d="100"/>
        </p:scale>
        <p:origin x="406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63" Type="http://schemas.microsoft.com/office/2018/10/relationships/authors" Targe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commentAuthors" Target="commentAuthor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 Sawtell" userId="7b49c2e9-9460-4f6b-ae72-c68ca4c8147b" providerId="ADAL" clId="{D6E2EB28-9AB7-4762-8034-BC1DFBA9528C}"/>
    <pc:docChg chg="undo redo custSel addSld delSld modSld sldOrd">
      <pc:chgData name="Ros Sawtell" userId="7b49c2e9-9460-4f6b-ae72-c68ca4c8147b" providerId="ADAL" clId="{D6E2EB28-9AB7-4762-8034-BC1DFBA9528C}" dt="2026-10-17T13:31:28.406" v="3300"/>
      <pc:docMkLst>
        <pc:docMk/>
      </pc:docMkLst>
      <pc:sldChg chg="modNotes">
        <pc:chgData name="Ros Sawtell" userId="7b49c2e9-9460-4f6b-ae72-c68ca4c8147b" providerId="ADAL" clId="{D6E2EB28-9AB7-4762-8034-BC1DFBA9528C}" dt="2026-10-17T11:52:14.039" v="3235" actId="368"/>
        <pc:sldMkLst>
          <pc:docMk/>
          <pc:sldMk cId="3435077016" sldId="259"/>
        </pc:sldMkLst>
      </pc:sldChg>
      <pc:sldChg chg="modNotes">
        <pc:chgData name="Ros Sawtell" userId="7b49c2e9-9460-4f6b-ae72-c68ca4c8147b" providerId="ADAL" clId="{D6E2EB28-9AB7-4762-8034-BC1DFBA9528C}" dt="2026-10-17T11:52:14.055" v="3243" actId="368"/>
        <pc:sldMkLst>
          <pc:docMk/>
          <pc:sldMk cId="0" sldId="266"/>
        </pc:sldMkLst>
      </pc:sldChg>
      <pc:sldChg chg="addSp delSp modSp mod modNotes modNotesTx">
        <pc:chgData name="Ros Sawtell" userId="7b49c2e9-9460-4f6b-ae72-c68ca4c8147b" providerId="ADAL" clId="{D6E2EB28-9AB7-4762-8034-BC1DFBA9528C}" dt="2026-10-17T11:52:14.121" v="3267" actId="368"/>
        <pc:sldMkLst>
          <pc:docMk/>
          <pc:sldMk cId="2577936335" sldId="281"/>
        </pc:sldMkLst>
        <pc:spChg chg="mod">
          <ac:chgData name="Ros Sawtell" userId="7b49c2e9-9460-4f6b-ae72-c68ca4c8147b" providerId="ADAL" clId="{D6E2EB28-9AB7-4762-8034-BC1DFBA9528C}" dt="2026-10-10T11:08:41.945" v="3124" actId="255"/>
          <ac:spMkLst>
            <pc:docMk/>
            <pc:sldMk cId="2577936335" sldId="281"/>
            <ac:spMk id="2" creationId="{34096D4E-8B4F-62B8-F551-56379B923E78}"/>
          </ac:spMkLst>
        </pc:spChg>
        <pc:picChg chg="add mod">
          <ac:chgData name="Ros Sawtell" userId="7b49c2e9-9460-4f6b-ae72-c68ca4c8147b" providerId="ADAL" clId="{D6E2EB28-9AB7-4762-8034-BC1DFBA9528C}" dt="2026-10-10T11:08:08.918" v="3083"/>
          <ac:picMkLst>
            <pc:docMk/>
            <pc:sldMk cId="2577936335" sldId="281"/>
            <ac:picMk id="4" creationId="{8422B417-2C8A-78A0-3C3B-6A866D8E9106}"/>
          </ac:picMkLst>
        </pc:picChg>
      </pc:sldChg>
      <pc:sldChg chg="modNotes">
        <pc:chgData name="Ros Sawtell" userId="7b49c2e9-9460-4f6b-ae72-c68ca4c8147b" providerId="ADAL" clId="{D6E2EB28-9AB7-4762-8034-BC1DFBA9528C}" dt="2026-10-17T11:52:14.102" v="3259" actId="368"/>
        <pc:sldMkLst>
          <pc:docMk/>
          <pc:sldMk cId="2364790737" sldId="288"/>
        </pc:sldMkLst>
      </pc:sldChg>
      <pc:sldChg chg="modNotes">
        <pc:chgData name="Ros Sawtell" userId="7b49c2e9-9460-4f6b-ae72-c68ca4c8147b" providerId="ADAL" clId="{D6E2EB28-9AB7-4762-8034-BC1DFBA9528C}" dt="2026-10-17T11:52:14.087" v="3255" actId="368"/>
        <pc:sldMkLst>
          <pc:docMk/>
          <pc:sldMk cId="1412474503" sldId="436"/>
        </pc:sldMkLst>
      </pc:sldChg>
      <pc:sldChg chg="modNotes">
        <pc:chgData name="Ros Sawtell" userId="7b49c2e9-9460-4f6b-ae72-c68ca4c8147b" providerId="ADAL" clId="{D6E2EB28-9AB7-4762-8034-BC1DFBA9528C}" dt="2026-10-17T11:52:14.087" v="3253" actId="368"/>
        <pc:sldMkLst>
          <pc:docMk/>
          <pc:sldMk cId="2398240688" sldId="449"/>
        </pc:sldMkLst>
      </pc:sldChg>
      <pc:sldChg chg="modNotes">
        <pc:chgData name="Ros Sawtell" userId="7b49c2e9-9460-4f6b-ae72-c68ca4c8147b" providerId="ADAL" clId="{D6E2EB28-9AB7-4762-8034-BC1DFBA9528C}" dt="2026-10-17T11:52:14.102" v="3261" actId="368"/>
        <pc:sldMkLst>
          <pc:docMk/>
          <pc:sldMk cId="3704096936" sldId="455"/>
        </pc:sldMkLst>
      </pc:sldChg>
      <pc:sldChg chg="modNotes">
        <pc:chgData name="Ros Sawtell" userId="7b49c2e9-9460-4f6b-ae72-c68ca4c8147b" providerId="ADAL" clId="{D6E2EB28-9AB7-4762-8034-BC1DFBA9528C}" dt="2026-10-17T11:52:14.120" v="3263" actId="368"/>
        <pc:sldMkLst>
          <pc:docMk/>
          <pc:sldMk cId="847989404" sldId="458"/>
        </pc:sldMkLst>
      </pc:sldChg>
      <pc:sldChg chg="modNotes">
        <pc:chgData name="Ros Sawtell" userId="7b49c2e9-9460-4f6b-ae72-c68ca4c8147b" providerId="ADAL" clId="{D6E2EB28-9AB7-4762-8034-BC1DFBA9528C}" dt="2026-10-17T11:52:14.071" v="3251" actId="368"/>
        <pc:sldMkLst>
          <pc:docMk/>
          <pc:sldMk cId="2170143680" sldId="461"/>
        </pc:sldMkLst>
      </pc:sldChg>
      <pc:sldChg chg="modNotes">
        <pc:chgData name="Ros Sawtell" userId="7b49c2e9-9460-4f6b-ae72-c68ca4c8147b" providerId="ADAL" clId="{D6E2EB28-9AB7-4762-8034-BC1DFBA9528C}" dt="2026-10-17T11:52:14.039" v="3237" actId="368"/>
        <pc:sldMkLst>
          <pc:docMk/>
          <pc:sldMk cId="1574100269" sldId="462"/>
        </pc:sldMkLst>
      </pc:sldChg>
      <pc:sldChg chg="modNotes">
        <pc:chgData name="Ros Sawtell" userId="7b49c2e9-9460-4f6b-ae72-c68ca4c8147b" providerId="ADAL" clId="{D6E2EB28-9AB7-4762-8034-BC1DFBA9528C}" dt="2026-10-17T11:52:14.102" v="3257" actId="368"/>
        <pc:sldMkLst>
          <pc:docMk/>
          <pc:sldMk cId="2682308729" sldId="463"/>
        </pc:sldMkLst>
      </pc:sldChg>
      <pc:sldChg chg="addSp modSp modNotesTx">
        <pc:chgData name="Ros Sawtell" userId="7b49c2e9-9460-4f6b-ae72-c68ca4c8147b" providerId="ADAL" clId="{D6E2EB28-9AB7-4762-8034-BC1DFBA9528C}" dt="2026-10-10T11:36:07.244" v="3227" actId="6549"/>
        <pc:sldMkLst>
          <pc:docMk/>
          <pc:sldMk cId="2438146553" sldId="465"/>
        </pc:sldMkLst>
        <pc:spChg chg="add mod">
          <ac:chgData name="Ros Sawtell" userId="7b49c2e9-9460-4f6b-ae72-c68ca4c8147b" providerId="ADAL" clId="{D6E2EB28-9AB7-4762-8034-BC1DFBA9528C}" dt="2026-10-05T04:32:08.018" v="1"/>
          <ac:spMkLst>
            <pc:docMk/>
            <pc:sldMk cId="2438146553" sldId="465"/>
            <ac:spMk id="4" creationId="{C4149FDA-6259-3C0A-1CF3-4211F2D0DB95}"/>
          </ac:spMkLst>
        </pc:spChg>
        <pc:picChg chg="add mod">
          <ac:chgData name="Ros Sawtell" userId="7b49c2e9-9460-4f6b-ae72-c68ca4c8147b" providerId="ADAL" clId="{D6E2EB28-9AB7-4762-8034-BC1DFBA9528C}" dt="2026-10-05T04:31:42.448" v="0"/>
          <ac:picMkLst>
            <pc:docMk/>
            <pc:sldMk cId="2438146553" sldId="465"/>
            <ac:picMk id="3" creationId="{A48E93C2-3718-F2AA-FF0C-75318B0BC7E8}"/>
          </ac:picMkLst>
        </pc:picChg>
      </pc:sldChg>
      <pc:sldChg chg="modSp mod">
        <pc:chgData name="Ros Sawtell" userId="7b49c2e9-9460-4f6b-ae72-c68ca4c8147b" providerId="ADAL" clId="{D6E2EB28-9AB7-4762-8034-BC1DFBA9528C}" dt="2026-10-10T05:44:10.198" v="3009" actId="1076"/>
        <pc:sldMkLst>
          <pc:docMk/>
          <pc:sldMk cId="3251174226" sldId="466"/>
        </pc:sldMkLst>
        <pc:spChg chg="mod">
          <ac:chgData name="Ros Sawtell" userId="7b49c2e9-9460-4f6b-ae72-c68ca4c8147b" providerId="ADAL" clId="{D6E2EB28-9AB7-4762-8034-BC1DFBA9528C}" dt="2026-10-10T05:41:31.207" v="3008" actId="6549"/>
          <ac:spMkLst>
            <pc:docMk/>
            <pc:sldMk cId="3251174226" sldId="466"/>
            <ac:spMk id="4" creationId="{A7587004-BFCF-2A4F-85AC-EF74C9D620CD}"/>
          </ac:spMkLst>
        </pc:spChg>
        <pc:spChg chg="mod">
          <ac:chgData name="Ros Sawtell" userId="7b49c2e9-9460-4f6b-ae72-c68ca4c8147b" providerId="ADAL" clId="{D6E2EB28-9AB7-4762-8034-BC1DFBA9528C}" dt="2026-10-10T05:44:10.198" v="3009" actId="1076"/>
          <ac:spMkLst>
            <pc:docMk/>
            <pc:sldMk cId="3251174226" sldId="466"/>
            <ac:spMk id="5" creationId="{1BFF78F0-1321-59DC-E246-14A26CA75BE3}"/>
          </ac:spMkLst>
        </pc:spChg>
      </pc:sldChg>
      <pc:sldChg chg="modNotes modNotesTx">
        <pc:chgData name="Ros Sawtell" userId="7b49c2e9-9460-4f6b-ae72-c68ca4c8147b" providerId="ADAL" clId="{D6E2EB28-9AB7-4762-8034-BC1DFBA9528C}" dt="2026-10-17T11:52:14.181" v="3285" actId="368"/>
        <pc:sldMkLst>
          <pc:docMk/>
          <pc:sldMk cId="2156922120" sldId="473"/>
        </pc:sldMkLst>
      </pc:sldChg>
      <pc:sldChg chg="modSp mod ord modNotes modNotesTx">
        <pc:chgData name="Ros Sawtell" userId="7b49c2e9-9460-4f6b-ae72-c68ca4c8147b" providerId="ADAL" clId="{D6E2EB28-9AB7-4762-8034-BC1DFBA9528C}" dt="2026-10-17T11:52:14.166" v="3279" actId="368"/>
        <pc:sldMkLst>
          <pc:docMk/>
          <pc:sldMk cId="3240048402" sldId="474"/>
        </pc:sldMkLst>
        <pc:spChg chg="mod">
          <ac:chgData name="Ros Sawtell" userId="7b49c2e9-9460-4f6b-ae72-c68ca4c8147b" providerId="ADAL" clId="{D6E2EB28-9AB7-4762-8034-BC1DFBA9528C}" dt="2026-10-09T23:54:50.453" v="1029" actId="20577"/>
          <ac:spMkLst>
            <pc:docMk/>
            <pc:sldMk cId="3240048402" sldId="474"/>
            <ac:spMk id="2" creationId="{8C7573B0-2CC4-E0A9-ECD0-1F52370A6D63}"/>
          </ac:spMkLst>
        </pc:spChg>
      </pc:sldChg>
      <pc:sldChg chg="modNotes">
        <pc:chgData name="Ros Sawtell" userId="7b49c2e9-9460-4f6b-ae72-c68ca4c8147b" providerId="ADAL" clId="{D6E2EB28-9AB7-4762-8034-BC1DFBA9528C}" dt="2026-10-17T11:52:14.039" v="3239" actId="368"/>
        <pc:sldMkLst>
          <pc:docMk/>
          <pc:sldMk cId="2316946630" sldId="582"/>
        </pc:sldMkLst>
      </pc:sldChg>
      <pc:sldChg chg="modNotes">
        <pc:chgData name="Ros Sawtell" userId="7b49c2e9-9460-4f6b-ae72-c68ca4c8147b" providerId="ADAL" clId="{D6E2EB28-9AB7-4762-8034-BC1DFBA9528C}" dt="2026-10-17T11:52:14.039" v="3241" actId="368"/>
        <pc:sldMkLst>
          <pc:docMk/>
          <pc:sldMk cId="1197195391" sldId="585"/>
        </pc:sldMkLst>
      </pc:sldChg>
      <pc:sldChg chg="modNotes">
        <pc:chgData name="Ros Sawtell" userId="7b49c2e9-9460-4f6b-ae72-c68ca4c8147b" providerId="ADAL" clId="{D6E2EB28-9AB7-4762-8034-BC1DFBA9528C}" dt="2026-10-17T11:52:14.071" v="3249" actId="368"/>
        <pc:sldMkLst>
          <pc:docMk/>
          <pc:sldMk cId="683496619" sldId="587"/>
        </pc:sldMkLst>
      </pc:sldChg>
      <pc:sldChg chg="addSp delSp modSp mod ord">
        <pc:chgData name="Ros Sawtell" userId="7b49c2e9-9460-4f6b-ae72-c68ca4c8147b" providerId="ADAL" clId="{D6E2EB28-9AB7-4762-8034-BC1DFBA9528C}" dt="2026-10-17T11:12:40.612" v="3231" actId="1076"/>
        <pc:sldMkLst>
          <pc:docMk/>
          <pc:sldMk cId="2189703686" sldId="590"/>
        </pc:sldMkLst>
        <pc:picChg chg="add mod">
          <ac:chgData name="Ros Sawtell" userId="7b49c2e9-9460-4f6b-ae72-c68ca4c8147b" providerId="ADAL" clId="{D6E2EB28-9AB7-4762-8034-BC1DFBA9528C}" dt="2026-10-17T11:12:40.612" v="3231" actId="1076"/>
          <ac:picMkLst>
            <pc:docMk/>
            <pc:sldMk cId="2189703686" sldId="590"/>
            <ac:picMk id="3" creationId="{309FC526-8291-E321-A2CB-7F0FA534B40B}"/>
          </ac:picMkLst>
        </pc:picChg>
      </pc:sldChg>
      <pc:sldChg chg="addSp modSp mod modNotes">
        <pc:chgData name="Ros Sawtell" userId="7b49c2e9-9460-4f6b-ae72-c68ca4c8147b" providerId="ADAL" clId="{D6E2EB28-9AB7-4762-8034-BC1DFBA9528C}" dt="2026-10-17T11:52:14.121" v="3265" actId="368"/>
        <pc:sldMkLst>
          <pc:docMk/>
          <pc:sldMk cId="1606685327" sldId="592"/>
        </pc:sldMkLst>
        <pc:spChg chg="mod">
          <ac:chgData name="Ros Sawtell" userId="7b49c2e9-9460-4f6b-ae72-c68ca4c8147b" providerId="ADAL" clId="{D6E2EB28-9AB7-4762-8034-BC1DFBA9528C}" dt="2026-10-05T05:02:43.815" v="4" actId="14100"/>
          <ac:spMkLst>
            <pc:docMk/>
            <pc:sldMk cId="1606685327" sldId="592"/>
            <ac:spMk id="3" creationId="{CF77D1A5-FE59-0368-39DA-E7D69BF2EF53}"/>
          </ac:spMkLst>
        </pc:spChg>
        <pc:spChg chg="add mod">
          <ac:chgData name="Ros Sawtell" userId="7b49c2e9-9460-4f6b-ae72-c68ca4c8147b" providerId="ADAL" clId="{D6E2EB28-9AB7-4762-8034-BC1DFBA9528C}" dt="2026-10-05T05:03:00.772" v="8" actId="1076"/>
          <ac:spMkLst>
            <pc:docMk/>
            <pc:sldMk cId="1606685327" sldId="592"/>
            <ac:spMk id="4" creationId="{050FAC2A-BE6E-E811-EF74-128F3A1EFE17}"/>
          </ac:spMkLst>
        </pc:spChg>
      </pc:sldChg>
      <pc:sldChg chg="modNotes">
        <pc:chgData name="Ros Sawtell" userId="7b49c2e9-9460-4f6b-ae72-c68ca4c8147b" providerId="ADAL" clId="{D6E2EB28-9AB7-4762-8034-BC1DFBA9528C}" dt="2026-10-17T11:52:14.024" v="3233" actId="368"/>
        <pc:sldMkLst>
          <pc:docMk/>
          <pc:sldMk cId="3390003630" sldId="593"/>
        </pc:sldMkLst>
      </pc:sldChg>
      <pc:sldChg chg="addSp delSp modSp add mod modNotes modNotesTx">
        <pc:chgData name="Ros Sawtell" userId="7b49c2e9-9460-4f6b-ae72-c68ca4c8147b" providerId="ADAL" clId="{D6E2EB28-9AB7-4762-8034-BC1DFBA9528C}" dt="2026-10-17T11:52:14.055" v="3247" actId="368"/>
        <pc:sldMkLst>
          <pc:docMk/>
          <pc:sldMk cId="1891504685" sldId="594"/>
        </pc:sldMkLst>
        <pc:spChg chg="mod">
          <ac:chgData name="Ros Sawtell" userId="7b49c2e9-9460-4f6b-ae72-c68ca4c8147b" providerId="ADAL" clId="{D6E2EB28-9AB7-4762-8034-BC1DFBA9528C}" dt="2026-10-05T09:45:53.333" v="36" actId="255"/>
          <ac:spMkLst>
            <pc:docMk/>
            <pc:sldMk cId="1891504685" sldId="594"/>
            <ac:spMk id="9" creationId="{87372810-83FC-6ACC-E8D5-302566F35A70}"/>
          </ac:spMkLst>
        </pc:spChg>
        <pc:picChg chg="add mod">
          <ac:chgData name="Ros Sawtell" userId="7b49c2e9-9460-4f6b-ae72-c68ca4c8147b" providerId="ADAL" clId="{D6E2EB28-9AB7-4762-8034-BC1DFBA9528C}" dt="2026-10-05T09:45:29.305" v="32" actId="1076"/>
          <ac:picMkLst>
            <pc:docMk/>
            <pc:sldMk cId="1891504685" sldId="594"/>
            <ac:picMk id="5" creationId="{902BC27D-28DC-8E6D-1DAB-5FB36C091832}"/>
          </ac:picMkLst>
        </pc:picChg>
      </pc:sldChg>
      <pc:sldChg chg="add ord setBg modNotes modNotesTx">
        <pc:chgData name="Ros Sawtell" userId="7b49c2e9-9460-4f6b-ae72-c68ca4c8147b" providerId="ADAL" clId="{D6E2EB28-9AB7-4762-8034-BC1DFBA9528C}" dt="2026-10-17T11:52:14.055" v="3245" actId="368"/>
        <pc:sldMkLst>
          <pc:docMk/>
          <pc:sldMk cId="812273489" sldId="595"/>
        </pc:sldMkLst>
      </pc:sldChg>
      <pc:sldChg chg="delSp modSp add mod ord modNotes modNotesTx">
        <pc:chgData name="Ros Sawtell" userId="7b49c2e9-9460-4f6b-ae72-c68ca4c8147b" providerId="ADAL" clId="{D6E2EB28-9AB7-4762-8034-BC1DFBA9528C}" dt="2026-10-17T11:52:14.134" v="3271" actId="368"/>
        <pc:sldMkLst>
          <pc:docMk/>
          <pc:sldMk cId="42843665" sldId="596"/>
        </pc:sldMkLst>
        <pc:spChg chg="mod">
          <ac:chgData name="Ros Sawtell" userId="7b49c2e9-9460-4f6b-ae72-c68ca4c8147b" providerId="ADAL" clId="{D6E2EB28-9AB7-4762-8034-BC1DFBA9528C}" dt="2026-10-10T05:40:18.063" v="2991" actId="2711"/>
          <ac:spMkLst>
            <pc:docMk/>
            <pc:sldMk cId="42843665" sldId="596"/>
            <ac:spMk id="5" creationId="{106AF047-A351-198A-7714-1C0CB2D8F6DD}"/>
          </ac:spMkLst>
        </pc:spChg>
        <pc:spChg chg="mod">
          <ac:chgData name="Ros Sawtell" userId="7b49c2e9-9460-4f6b-ae72-c68ca4c8147b" providerId="ADAL" clId="{D6E2EB28-9AB7-4762-8034-BC1DFBA9528C}" dt="2026-10-10T05:39:56.846" v="2990" actId="1076"/>
          <ac:spMkLst>
            <pc:docMk/>
            <pc:sldMk cId="42843665" sldId="596"/>
            <ac:spMk id="6" creationId="{985B00F7-29DE-9860-2604-BDF9AF2E896E}"/>
          </ac:spMkLst>
        </pc:spChg>
      </pc:sldChg>
      <pc:sldChg chg="addSp delSp modSp add mod">
        <pc:chgData name="Ros Sawtell" userId="7b49c2e9-9460-4f6b-ae72-c68ca4c8147b" providerId="ADAL" clId="{D6E2EB28-9AB7-4762-8034-BC1DFBA9528C}" dt="2026-10-17T13:31:10.234" v="3298" actId="1076"/>
        <pc:sldMkLst>
          <pc:docMk/>
          <pc:sldMk cId="1927004709" sldId="597"/>
        </pc:sldMkLst>
        <pc:spChg chg="add mod">
          <ac:chgData name="Ros Sawtell" userId="7b49c2e9-9460-4f6b-ae72-c68ca4c8147b" providerId="ADAL" clId="{D6E2EB28-9AB7-4762-8034-BC1DFBA9528C}" dt="2026-10-17T13:30:56.853" v="3296" actId="478"/>
          <ac:spMkLst>
            <pc:docMk/>
            <pc:sldMk cId="1927004709" sldId="597"/>
            <ac:spMk id="3" creationId="{4787B19F-3DB0-3B3C-B3CB-13CD52186E61}"/>
          </ac:spMkLst>
        </pc:spChg>
        <pc:spChg chg="add mod">
          <ac:chgData name="Ros Sawtell" userId="7b49c2e9-9460-4f6b-ae72-c68ca4c8147b" providerId="ADAL" clId="{D6E2EB28-9AB7-4762-8034-BC1DFBA9528C}" dt="2026-10-17T13:31:10.234" v="3298" actId="1076"/>
          <ac:spMkLst>
            <pc:docMk/>
            <pc:sldMk cId="1927004709" sldId="597"/>
            <ac:spMk id="4" creationId="{4DAC9682-B102-5EED-31B5-6F1ED4549A0C}"/>
          </ac:spMkLst>
        </pc:spChg>
        <pc:spChg chg="add mod">
          <ac:chgData name="Ros Sawtell" userId="7b49c2e9-9460-4f6b-ae72-c68ca4c8147b" providerId="ADAL" clId="{D6E2EB28-9AB7-4762-8034-BC1DFBA9528C}" dt="2026-10-10T05:46:21.404" v="3010" actId="14100"/>
          <ac:spMkLst>
            <pc:docMk/>
            <pc:sldMk cId="1927004709" sldId="597"/>
            <ac:spMk id="9" creationId="{FFEDFED3-758A-2080-BE71-5480CF85F171}"/>
          </ac:spMkLst>
        </pc:spChg>
      </pc:sldChg>
      <pc:sldChg chg="addSp delSp modSp add del mod">
        <pc:chgData name="Ros Sawtell" userId="7b49c2e9-9460-4f6b-ae72-c68ca4c8147b" providerId="ADAL" clId="{D6E2EB28-9AB7-4762-8034-BC1DFBA9528C}" dt="2026-10-17T13:31:28.406" v="3300"/>
        <pc:sldMkLst>
          <pc:docMk/>
          <pc:sldMk cId="4208095326" sldId="598"/>
        </pc:sldMkLst>
        <pc:spChg chg="add mod">
          <ac:chgData name="Ros Sawtell" userId="7b49c2e9-9460-4f6b-ae72-c68ca4c8147b" providerId="ADAL" clId="{D6E2EB28-9AB7-4762-8034-BC1DFBA9528C}" dt="2026-10-17T13:31:25.757" v="3299" actId="478"/>
          <ac:spMkLst>
            <pc:docMk/>
            <pc:sldMk cId="4208095326" sldId="598"/>
            <ac:spMk id="3" creationId="{D9EDEC36-9DFE-C8E5-9026-1A2A93B8B8F2}"/>
          </ac:spMkLst>
        </pc:spChg>
        <pc:spChg chg="add mod">
          <ac:chgData name="Ros Sawtell" userId="7b49c2e9-9460-4f6b-ae72-c68ca4c8147b" providerId="ADAL" clId="{D6E2EB28-9AB7-4762-8034-BC1DFBA9528C}" dt="2026-10-17T13:31:28.406" v="3300"/>
          <ac:spMkLst>
            <pc:docMk/>
            <pc:sldMk cId="4208095326" sldId="598"/>
            <ac:spMk id="4" creationId="{B9ADBF2E-FE70-51C6-7FD7-535C4E205DDC}"/>
          </ac:spMkLst>
        </pc:spChg>
        <pc:spChg chg="add mod">
          <ac:chgData name="Ros Sawtell" userId="7b49c2e9-9460-4f6b-ae72-c68ca4c8147b" providerId="ADAL" clId="{D6E2EB28-9AB7-4762-8034-BC1DFBA9528C}" dt="2026-10-10T05:40:58.214" v="2998" actId="14100"/>
          <ac:spMkLst>
            <pc:docMk/>
            <pc:sldMk cId="4208095326" sldId="598"/>
            <ac:spMk id="6" creationId="{6DAC8523-CE44-14F1-75E7-441A3079A457}"/>
          </ac:spMkLst>
        </pc:spChg>
      </pc:sldChg>
      <pc:sldChg chg="addSp delSp modSp add mod modNotes modNotesTx">
        <pc:chgData name="Ros Sawtell" userId="7b49c2e9-9460-4f6b-ae72-c68ca4c8147b" providerId="ADAL" clId="{D6E2EB28-9AB7-4762-8034-BC1DFBA9528C}" dt="2026-10-17T11:52:14.150" v="3273" actId="368"/>
        <pc:sldMkLst>
          <pc:docMk/>
          <pc:sldMk cId="924756444" sldId="599"/>
        </pc:sldMkLst>
        <pc:spChg chg="add mod">
          <ac:chgData name="Ros Sawtell" userId="7b49c2e9-9460-4f6b-ae72-c68ca4c8147b" providerId="ADAL" clId="{D6E2EB28-9AB7-4762-8034-BC1DFBA9528C}" dt="2026-10-10T00:13:20.948" v="1485" actId="14100"/>
          <ac:spMkLst>
            <pc:docMk/>
            <pc:sldMk cId="924756444" sldId="599"/>
            <ac:spMk id="2" creationId="{DAC2C1DA-800E-68E0-B143-5020CC407047}"/>
          </ac:spMkLst>
        </pc:spChg>
        <pc:spChg chg="mod">
          <ac:chgData name="Ros Sawtell" userId="7b49c2e9-9460-4f6b-ae72-c68ca4c8147b" providerId="ADAL" clId="{D6E2EB28-9AB7-4762-8034-BC1DFBA9528C}" dt="2026-10-10T05:37:05.286" v="2953" actId="14100"/>
          <ac:spMkLst>
            <pc:docMk/>
            <pc:sldMk cId="924756444" sldId="599"/>
            <ac:spMk id="5" creationId="{FFB0397F-1769-F918-922E-30C9E5C57A7C}"/>
          </ac:spMkLst>
        </pc:spChg>
      </pc:sldChg>
      <pc:sldChg chg="addSp delSp modSp add mod ord">
        <pc:chgData name="Ros Sawtell" userId="7b49c2e9-9460-4f6b-ae72-c68ca4c8147b" providerId="ADAL" clId="{D6E2EB28-9AB7-4762-8034-BC1DFBA9528C}" dt="2026-10-10T05:29:22.083" v="2878" actId="20577"/>
        <pc:sldMkLst>
          <pc:docMk/>
          <pc:sldMk cId="2126382854" sldId="600"/>
        </pc:sldMkLst>
        <pc:spChg chg="add mod">
          <ac:chgData name="Ros Sawtell" userId="7b49c2e9-9460-4f6b-ae72-c68ca4c8147b" providerId="ADAL" clId="{D6E2EB28-9AB7-4762-8034-BC1DFBA9528C}" dt="2026-10-10T05:29:22.083" v="2878" actId="20577"/>
          <ac:spMkLst>
            <pc:docMk/>
            <pc:sldMk cId="2126382854" sldId="600"/>
            <ac:spMk id="6" creationId="{6A73ABE5-2BAB-F4B0-1988-3C5C58A2254E}"/>
          </ac:spMkLst>
        </pc:spChg>
        <pc:spChg chg="add mod">
          <ac:chgData name="Ros Sawtell" userId="7b49c2e9-9460-4f6b-ae72-c68ca4c8147b" providerId="ADAL" clId="{D6E2EB28-9AB7-4762-8034-BC1DFBA9528C}" dt="2026-10-10T00:00:46.731" v="1087" actId="1076"/>
          <ac:spMkLst>
            <pc:docMk/>
            <pc:sldMk cId="2126382854" sldId="600"/>
            <ac:spMk id="7" creationId="{E096BB1B-E4B1-4269-149D-C0A17CA045D9}"/>
          </ac:spMkLst>
        </pc:spChg>
      </pc:sldChg>
      <pc:sldChg chg="addSp modSp add mod modNotes modNotesTx">
        <pc:chgData name="Ros Sawtell" userId="7b49c2e9-9460-4f6b-ae72-c68ca4c8147b" providerId="ADAL" clId="{D6E2EB28-9AB7-4762-8034-BC1DFBA9528C}" dt="2026-10-17T11:52:14.150" v="3275" actId="368"/>
        <pc:sldMkLst>
          <pc:docMk/>
          <pc:sldMk cId="1053367527" sldId="601"/>
        </pc:sldMkLst>
        <pc:spChg chg="add mod">
          <ac:chgData name="Ros Sawtell" userId="7b49c2e9-9460-4f6b-ae72-c68ca4c8147b" providerId="ADAL" clId="{D6E2EB28-9AB7-4762-8034-BC1DFBA9528C}" dt="2026-10-10T05:34:19.039" v="2933" actId="1076"/>
          <ac:spMkLst>
            <pc:docMk/>
            <pc:sldMk cId="1053367527" sldId="601"/>
            <ac:spMk id="2" creationId="{D42CC5A0-4644-CE2C-DF3A-D4076ADA8163}"/>
          </ac:spMkLst>
        </pc:spChg>
        <pc:spChg chg="mod">
          <ac:chgData name="Ros Sawtell" userId="7b49c2e9-9460-4f6b-ae72-c68ca4c8147b" providerId="ADAL" clId="{D6E2EB28-9AB7-4762-8034-BC1DFBA9528C}" dt="2026-10-10T05:37:22.285" v="2954" actId="14100"/>
          <ac:spMkLst>
            <pc:docMk/>
            <pc:sldMk cId="1053367527" sldId="601"/>
            <ac:spMk id="5" creationId="{532F286B-8E07-228B-5312-AFFC565A7A69}"/>
          </ac:spMkLst>
        </pc:spChg>
      </pc:sldChg>
      <pc:sldChg chg="addSp delSp modSp add mod modClrScheme chgLayout modNotes modNotesTx">
        <pc:chgData name="Ros Sawtell" userId="7b49c2e9-9460-4f6b-ae72-c68ca4c8147b" providerId="ADAL" clId="{D6E2EB28-9AB7-4762-8034-BC1DFBA9528C}" dt="2026-10-17T11:52:14.181" v="3287" actId="368"/>
        <pc:sldMkLst>
          <pc:docMk/>
          <pc:sldMk cId="2249596242" sldId="602"/>
        </pc:sldMkLst>
        <pc:spChg chg="mod">
          <ac:chgData name="Ros Sawtell" userId="7b49c2e9-9460-4f6b-ae72-c68ca4c8147b" providerId="ADAL" clId="{D6E2EB28-9AB7-4762-8034-BC1DFBA9528C}" dt="2026-10-10T00:48:50.961" v="2471" actId="26606"/>
          <ac:spMkLst>
            <pc:docMk/>
            <pc:sldMk cId="2249596242" sldId="602"/>
            <ac:spMk id="15" creationId="{3360513E-424A-888F-15CC-0CDBDA2BF7FA}"/>
          </ac:spMkLst>
        </pc:spChg>
        <pc:spChg chg="add mod">
          <ac:chgData name="Ros Sawtell" userId="7b49c2e9-9460-4f6b-ae72-c68ca4c8147b" providerId="ADAL" clId="{D6E2EB28-9AB7-4762-8034-BC1DFBA9528C}" dt="2026-10-10T00:49:16.214" v="2503" actId="20577"/>
          <ac:spMkLst>
            <pc:docMk/>
            <pc:sldMk cId="2249596242" sldId="602"/>
            <ac:spMk id="24" creationId="{FCC7B867-2193-6D2B-CB60-BDE6AA665267}"/>
          </ac:spMkLst>
        </pc:spChg>
        <pc:picChg chg="add mod">
          <ac:chgData name="Ros Sawtell" userId="7b49c2e9-9460-4f6b-ae72-c68ca4c8147b" providerId="ADAL" clId="{D6E2EB28-9AB7-4762-8034-BC1DFBA9528C}" dt="2026-10-10T00:48:50.961" v="2471" actId="26606"/>
          <ac:picMkLst>
            <pc:docMk/>
            <pc:sldMk cId="2249596242" sldId="602"/>
            <ac:picMk id="3" creationId="{924C1C70-22F3-C548-45D2-AB0343328142}"/>
          </ac:picMkLst>
        </pc:picChg>
      </pc:sldChg>
      <pc:sldChg chg="addSp delSp modSp add mod ord modNotes modNotesTx">
        <pc:chgData name="Ros Sawtell" userId="7b49c2e9-9460-4f6b-ae72-c68ca4c8147b" providerId="ADAL" clId="{D6E2EB28-9AB7-4762-8034-BC1DFBA9528C}" dt="2026-10-17T11:52:14.166" v="3283" actId="368"/>
        <pc:sldMkLst>
          <pc:docMk/>
          <pc:sldMk cId="865537997" sldId="603"/>
        </pc:sldMkLst>
        <pc:spChg chg="mod">
          <ac:chgData name="Ros Sawtell" userId="7b49c2e9-9460-4f6b-ae72-c68ca4c8147b" providerId="ADAL" clId="{D6E2EB28-9AB7-4762-8034-BC1DFBA9528C}" dt="2026-10-10T00:32:06.169" v="2011" actId="6549"/>
          <ac:spMkLst>
            <pc:docMk/>
            <pc:sldMk cId="865537997" sldId="603"/>
            <ac:spMk id="5" creationId="{CCCBBE4A-F948-0CF9-30F5-4389BD1F5CD3}"/>
          </ac:spMkLst>
        </pc:spChg>
        <pc:picChg chg="add">
          <ac:chgData name="Ros Sawtell" userId="7b49c2e9-9460-4f6b-ae72-c68ca4c8147b" providerId="ADAL" clId="{D6E2EB28-9AB7-4762-8034-BC1DFBA9528C}" dt="2026-10-10T00:33:16.961" v="2013" actId="22"/>
          <ac:picMkLst>
            <pc:docMk/>
            <pc:sldMk cId="865537997" sldId="603"/>
            <ac:picMk id="6" creationId="{7A877B71-A1F0-4BFA-8584-3EA44D116925}"/>
          </ac:picMkLst>
        </pc:picChg>
        <pc:picChg chg="add">
          <ac:chgData name="Ros Sawtell" userId="7b49c2e9-9460-4f6b-ae72-c68ca4c8147b" providerId="ADAL" clId="{D6E2EB28-9AB7-4762-8034-BC1DFBA9528C}" dt="2026-10-10T06:29:42.470" v="3011" actId="22"/>
          <ac:picMkLst>
            <pc:docMk/>
            <pc:sldMk cId="865537997" sldId="603"/>
            <ac:picMk id="8" creationId="{6F7EF96F-772B-FE4D-B5E3-55B1137E2FAB}"/>
          </ac:picMkLst>
        </pc:picChg>
      </pc:sldChg>
      <pc:sldChg chg="addSp delSp modSp add mod modNotes modNotesTx">
        <pc:chgData name="Ros Sawtell" userId="7b49c2e9-9460-4f6b-ae72-c68ca4c8147b" providerId="ADAL" clId="{D6E2EB28-9AB7-4762-8034-BC1DFBA9528C}" dt="2026-10-17T11:52:14.166" v="3281" actId="368"/>
        <pc:sldMkLst>
          <pc:docMk/>
          <pc:sldMk cId="100998289" sldId="604"/>
        </pc:sldMkLst>
        <pc:spChg chg="add mod">
          <ac:chgData name="Ros Sawtell" userId="7b49c2e9-9460-4f6b-ae72-c68ca4c8147b" providerId="ADAL" clId="{D6E2EB28-9AB7-4762-8034-BC1DFBA9528C}" dt="2026-10-10T00:34:33.243" v="2058" actId="255"/>
          <ac:spMkLst>
            <pc:docMk/>
            <pc:sldMk cId="100998289" sldId="604"/>
            <ac:spMk id="2" creationId="{5D361C26-0FB7-BE0C-3167-41CD7090FCE3}"/>
          </ac:spMkLst>
        </pc:spChg>
        <pc:spChg chg="add mod">
          <ac:chgData name="Ros Sawtell" userId="7b49c2e9-9460-4f6b-ae72-c68ca4c8147b" providerId="ADAL" clId="{D6E2EB28-9AB7-4762-8034-BC1DFBA9528C}" dt="2026-10-10T00:38:02.380" v="2163" actId="1076"/>
          <ac:spMkLst>
            <pc:docMk/>
            <pc:sldMk cId="100998289" sldId="604"/>
            <ac:spMk id="4" creationId="{9B5BA716-4A66-EB21-825A-3464727475A7}"/>
          </ac:spMkLst>
        </pc:spChg>
        <pc:spChg chg="mod">
          <ac:chgData name="Ros Sawtell" userId="7b49c2e9-9460-4f6b-ae72-c68ca4c8147b" providerId="ADAL" clId="{D6E2EB28-9AB7-4762-8034-BC1DFBA9528C}" dt="2026-10-10T00:39:16.656" v="2183" actId="20577"/>
          <ac:spMkLst>
            <pc:docMk/>
            <pc:sldMk cId="100998289" sldId="604"/>
            <ac:spMk id="5" creationId="{957C531F-CD1A-845F-867A-17F98F465DB6}"/>
          </ac:spMkLst>
        </pc:spChg>
        <pc:picChg chg="add mod">
          <ac:chgData name="Ros Sawtell" userId="7b49c2e9-9460-4f6b-ae72-c68ca4c8147b" providerId="ADAL" clId="{D6E2EB28-9AB7-4762-8034-BC1DFBA9528C}" dt="2026-10-10T00:38:42.152" v="2168" actId="1076"/>
          <ac:picMkLst>
            <pc:docMk/>
            <pc:sldMk cId="100998289" sldId="604"/>
            <ac:picMk id="1025" creationId="{4A6FC57B-841A-C163-7259-1E3F77ED55C6}"/>
          </ac:picMkLst>
        </pc:picChg>
      </pc:sldChg>
      <pc:sldChg chg="addSp delSp modSp add mod modNotes">
        <pc:chgData name="Ros Sawtell" userId="7b49c2e9-9460-4f6b-ae72-c68ca4c8147b" providerId="ADAL" clId="{D6E2EB28-9AB7-4762-8034-BC1DFBA9528C}" dt="2026-10-17T11:52:14.150" v="3277" actId="368"/>
        <pc:sldMkLst>
          <pc:docMk/>
          <pc:sldMk cId="2322896508" sldId="605"/>
        </pc:sldMkLst>
        <pc:spChg chg="add mod">
          <ac:chgData name="Ros Sawtell" userId="7b49c2e9-9460-4f6b-ae72-c68ca4c8147b" providerId="ADAL" clId="{D6E2EB28-9AB7-4762-8034-BC1DFBA9528C}" dt="2026-10-10T05:32:41.302" v="2910" actId="1076"/>
          <ac:spMkLst>
            <pc:docMk/>
            <pc:sldMk cId="2322896508" sldId="605"/>
            <ac:spMk id="4" creationId="{5F3253B3-29DA-094D-34E8-015B850EEB07}"/>
          </ac:spMkLst>
        </pc:spChg>
        <pc:spChg chg="add mod">
          <ac:chgData name="Ros Sawtell" userId="7b49c2e9-9460-4f6b-ae72-c68ca4c8147b" providerId="ADAL" clId="{D6E2EB28-9AB7-4762-8034-BC1DFBA9528C}" dt="2026-10-10T05:32:46.191" v="2911" actId="1076"/>
          <ac:spMkLst>
            <pc:docMk/>
            <pc:sldMk cId="2322896508" sldId="605"/>
            <ac:spMk id="7" creationId="{165E1C2E-8826-B30D-35BD-7241FFDD827B}"/>
          </ac:spMkLst>
        </pc:spChg>
      </pc:sldChg>
      <pc:sldChg chg="addSp delSp modSp add mod modClrScheme chgLayout modNotes modNotesTx">
        <pc:chgData name="Ros Sawtell" userId="7b49c2e9-9460-4f6b-ae72-c68ca4c8147b" providerId="ADAL" clId="{D6E2EB28-9AB7-4762-8034-BC1DFBA9528C}" dt="2026-10-17T11:52:14.181" v="3289" actId="368"/>
        <pc:sldMkLst>
          <pc:docMk/>
          <pc:sldMk cId="4076253862" sldId="606"/>
        </pc:sldMkLst>
        <pc:spChg chg="mod">
          <ac:chgData name="Ros Sawtell" userId="7b49c2e9-9460-4f6b-ae72-c68ca4c8147b" providerId="ADAL" clId="{D6E2EB28-9AB7-4762-8034-BC1DFBA9528C}" dt="2026-10-10T00:49:45.286" v="2507" actId="26606"/>
          <ac:spMkLst>
            <pc:docMk/>
            <pc:sldMk cId="4076253862" sldId="606"/>
            <ac:spMk id="15" creationId="{4D144EE5-E6B5-AA30-A960-949071B4884E}"/>
          </ac:spMkLst>
        </pc:spChg>
        <pc:spChg chg="add mod">
          <ac:chgData name="Ros Sawtell" userId="7b49c2e9-9460-4f6b-ae72-c68ca4c8147b" providerId="ADAL" clId="{D6E2EB28-9AB7-4762-8034-BC1DFBA9528C}" dt="2026-10-10T00:49:58.599" v="2510" actId="20577"/>
          <ac:spMkLst>
            <pc:docMk/>
            <pc:sldMk cId="4076253862" sldId="606"/>
            <ac:spMk id="24" creationId="{ECC38304-C5D9-FF97-488C-5F1DE849898D}"/>
          </ac:spMkLst>
        </pc:spChg>
        <pc:picChg chg="add mod">
          <ac:chgData name="Ros Sawtell" userId="7b49c2e9-9460-4f6b-ae72-c68ca4c8147b" providerId="ADAL" clId="{D6E2EB28-9AB7-4762-8034-BC1DFBA9528C}" dt="2026-10-10T00:51:39.036" v="2531" actId="1076"/>
          <ac:picMkLst>
            <pc:docMk/>
            <pc:sldMk cId="4076253862" sldId="606"/>
            <ac:picMk id="3" creationId="{00CF5A23-B78C-3026-E949-D7AE6435A7C0}"/>
          </ac:picMkLst>
        </pc:picChg>
      </pc:sldChg>
      <pc:sldChg chg="addSp delSp modSp add mod modClrScheme chgLayout modNotes modNotesTx">
        <pc:chgData name="Ros Sawtell" userId="7b49c2e9-9460-4f6b-ae72-c68ca4c8147b" providerId="ADAL" clId="{D6E2EB28-9AB7-4762-8034-BC1DFBA9528C}" dt="2026-10-17T11:52:14.197" v="3295" actId="368"/>
        <pc:sldMkLst>
          <pc:docMk/>
          <pc:sldMk cId="3400354863" sldId="609"/>
        </pc:sldMkLst>
        <pc:spChg chg="mod ord">
          <ac:chgData name="Ros Sawtell" userId="7b49c2e9-9460-4f6b-ae72-c68ca4c8147b" providerId="ADAL" clId="{D6E2EB28-9AB7-4762-8034-BC1DFBA9528C}" dt="2026-10-10T00:51:58.301" v="2534" actId="20577"/>
          <ac:spMkLst>
            <pc:docMk/>
            <pc:sldMk cId="3400354863" sldId="609"/>
            <ac:spMk id="5" creationId="{EB6CC32D-2FAE-DD6B-FE32-FDA2927CCCB4}"/>
          </ac:spMkLst>
        </pc:spChg>
        <pc:spChg chg="mod">
          <ac:chgData name="Ros Sawtell" userId="7b49c2e9-9460-4f6b-ae72-c68ca4c8147b" providerId="ADAL" clId="{D6E2EB28-9AB7-4762-8034-BC1DFBA9528C}" dt="2026-10-10T00:48:21.394" v="2468" actId="26606"/>
          <ac:spMkLst>
            <pc:docMk/>
            <pc:sldMk cId="3400354863" sldId="609"/>
            <ac:spMk id="15" creationId="{33510587-65D2-6B86-FC92-4A3B6C48D5DD}"/>
          </ac:spMkLst>
        </pc:spChg>
        <pc:picChg chg="add mod">
          <ac:chgData name="Ros Sawtell" userId="7b49c2e9-9460-4f6b-ae72-c68ca4c8147b" providerId="ADAL" clId="{D6E2EB28-9AB7-4762-8034-BC1DFBA9528C}" dt="2026-10-10T00:48:21.394" v="2468" actId="26606"/>
          <ac:picMkLst>
            <pc:docMk/>
            <pc:sldMk cId="3400354863" sldId="609"/>
            <ac:picMk id="3" creationId="{DB0C2F26-E854-20C2-FAF2-EC12B35967B4}"/>
          </ac:picMkLst>
        </pc:picChg>
      </pc:sldChg>
      <pc:sldChg chg="addSp delSp modSp add mod modNotes modNotesTx">
        <pc:chgData name="Ros Sawtell" userId="7b49c2e9-9460-4f6b-ae72-c68ca4c8147b" providerId="ADAL" clId="{D6E2EB28-9AB7-4762-8034-BC1DFBA9528C}" dt="2026-10-17T11:52:14.197" v="3291" actId="368"/>
        <pc:sldMkLst>
          <pc:docMk/>
          <pc:sldMk cId="4022068832" sldId="610"/>
        </pc:sldMkLst>
        <pc:spChg chg="mod">
          <ac:chgData name="Ros Sawtell" userId="7b49c2e9-9460-4f6b-ae72-c68ca4c8147b" providerId="ADAL" clId="{D6E2EB28-9AB7-4762-8034-BC1DFBA9528C}" dt="2026-10-10T00:50:54.631" v="2520" actId="20577"/>
          <ac:spMkLst>
            <pc:docMk/>
            <pc:sldMk cId="4022068832" sldId="610"/>
            <ac:spMk id="24" creationId="{1D9EB516-226F-9DB9-7069-395C5CDAC6C8}"/>
          </ac:spMkLst>
        </pc:spChg>
        <pc:picChg chg="add mod">
          <ac:chgData name="Ros Sawtell" userId="7b49c2e9-9460-4f6b-ae72-c68ca4c8147b" providerId="ADAL" clId="{D6E2EB28-9AB7-4762-8034-BC1DFBA9528C}" dt="2026-10-10T00:51:27.134" v="2528" actId="1076"/>
          <ac:picMkLst>
            <pc:docMk/>
            <pc:sldMk cId="4022068832" sldId="610"/>
            <ac:picMk id="4" creationId="{1E0886BE-45B3-2E15-B554-7BBEC8239989}"/>
          </ac:picMkLst>
        </pc:picChg>
      </pc:sldChg>
      <pc:sldChg chg="addSp delSp modSp add mod modNotes modNotesTx">
        <pc:chgData name="Ros Sawtell" userId="7b49c2e9-9460-4f6b-ae72-c68ca4c8147b" providerId="ADAL" clId="{D6E2EB28-9AB7-4762-8034-BC1DFBA9528C}" dt="2026-10-17T11:52:14.197" v="3293" actId="368"/>
        <pc:sldMkLst>
          <pc:docMk/>
          <pc:sldMk cId="409948449" sldId="611"/>
        </pc:sldMkLst>
        <pc:spChg chg="mod">
          <ac:chgData name="Ros Sawtell" userId="7b49c2e9-9460-4f6b-ae72-c68ca4c8147b" providerId="ADAL" clId="{D6E2EB28-9AB7-4762-8034-BC1DFBA9528C}" dt="2026-10-10T00:51:02.909" v="2522" actId="20577"/>
          <ac:spMkLst>
            <pc:docMk/>
            <pc:sldMk cId="409948449" sldId="611"/>
            <ac:spMk id="24" creationId="{085EB3AD-47B5-4021-811B-7ABE27708B3E}"/>
          </ac:spMkLst>
        </pc:spChg>
        <pc:picChg chg="add mod">
          <ac:chgData name="Ros Sawtell" userId="7b49c2e9-9460-4f6b-ae72-c68ca4c8147b" providerId="ADAL" clId="{D6E2EB28-9AB7-4762-8034-BC1DFBA9528C}" dt="2026-10-10T00:51:19.495" v="2526" actId="14100"/>
          <ac:picMkLst>
            <pc:docMk/>
            <pc:sldMk cId="409948449" sldId="611"/>
            <ac:picMk id="4" creationId="{95513956-DFB2-8DB9-51EB-19B4DA0DAF34}"/>
          </ac:picMkLst>
        </pc:picChg>
      </pc:sldChg>
      <pc:sldChg chg="add modNotes">
        <pc:chgData name="Ros Sawtell" userId="7b49c2e9-9460-4f6b-ae72-c68ca4c8147b" providerId="ADAL" clId="{D6E2EB28-9AB7-4762-8034-BC1DFBA9528C}" dt="2026-10-17T11:52:14.134" v="3269" actId="368"/>
        <pc:sldMkLst>
          <pc:docMk/>
          <pc:sldMk cId="4093041976" sldId="612"/>
        </pc:sldMkLst>
      </pc:sldChg>
    </pc:docChg>
  </pc:docChgLst>
  <pc:docChgLst>
    <pc:chgData name="Ros Sawtell" userId="7b49c2e9-9460-4f6b-ae72-c68ca4c8147b" providerId="ADAL" clId="{2F764A8F-DCF9-4699-A27E-8C8DEF301858}"/>
    <pc:docChg chg="modSld">
      <pc:chgData name="Ros Sawtell" userId="7b49c2e9-9460-4f6b-ae72-c68ca4c8147b" providerId="ADAL" clId="{2F764A8F-DCF9-4699-A27E-8C8DEF301858}" dt="2026-10-19T04:36:02.474" v="0" actId="6549"/>
      <pc:docMkLst>
        <pc:docMk/>
      </pc:docMkLst>
      <pc:sldChg chg="modSp mod">
        <pc:chgData name="Ros Sawtell" userId="7b49c2e9-9460-4f6b-ae72-c68ca4c8147b" providerId="ADAL" clId="{2F764A8F-DCF9-4699-A27E-8C8DEF301858}" dt="2026-10-19T04:36:02.474" v="0" actId="6549"/>
        <pc:sldMkLst>
          <pc:docMk/>
          <pc:sldMk cId="1927004709" sldId="597"/>
        </pc:sldMkLst>
        <pc:spChg chg="mod">
          <ac:chgData name="Ros Sawtell" userId="7b49c2e9-9460-4f6b-ae72-c68ca4c8147b" providerId="ADAL" clId="{2F764A8F-DCF9-4699-A27E-8C8DEF301858}" dt="2026-10-19T04:36:02.474" v="0" actId="6549"/>
          <ac:spMkLst>
            <pc:docMk/>
            <pc:sldMk cId="1927004709" sldId="597"/>
            <ac:spMk id="4" creationId="{4DAC9682-B102-5EED-31B5-6F1ED4549A0C}"/>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2-08-29T12:28:06.249" idx="1">
    <p:pos x="10" y="10"/>
    <p:text/>
    <p:extLst>
      <p:ext uri="{C676402C-5697-4E1C-873F-D02D1690AC5C}">
        <p15:threadingInfo xmlns:p15="http://schemas.microsoft.com/office/powerpoint/2012/main" timeZoneBias="-6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FD913024-4032-4B4F-8680-09D5E08EDB6E}" type="datetimeFigureOut">
              <a:rPr lang="en-US" smtClean="0"/>
              <a:t>10/19/2026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10/19/2026</a:t>
            </a:fld>
            <a:endParaRPr lang="en-US" noProof="0"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2695066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6F98B-ECA2-63C6-17B2-984349B9F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88415-D4B7-66A6-0C06-32F71B39E72C}"/>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F29673BD-4222-5955-47D1-B08384D95E8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6D83193-E1D7-E50E-240F-FF27180894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67342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EC4DB-DF49-B0E2-6F41-3BB2E909F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77908-DE83-4039-5DD3-11EA1FBF27B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2A8E243-7EE7-020A-030F-1C8CF39DED4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6A47E65-6F67-A8E7-BD5C-595C787974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1400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BD82B-9AB0-3580-96B2-84F8F5F22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DA5FB-9E2F-8907-EC56-607A6530ED7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0DEE38D-F384-26C9-4537-C447DBC1569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AFD143A-BC52-407B-C4CF-2A554267A5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6543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170722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511865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2049586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C0FAB-CD45-059B-7293-777509E46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B2378-7EE4-53B2-8A0C-AC69AB4C2E7E}"/>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6DC265B2-202B-AE4E-0D22-1B179C6E9A4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3D3E34A-6669-4567-EBB8-F7091D6819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81215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F4F53-4A79-510E-3E82-C158D523C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17351-FB26-A442-E95A-01FE9698ECCC}"/>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C2FC622B-84E7-E9E9-2397-9E8C5A4DE3F5}"/>
              </a:ext>
            </a:extLst>
          </p:cNvPr>
          <p:cNvSpPr>
            <a:spLocks noGrp="1"/>
          </p:cNvSpPr>
          <p:nvPr>
            <p:ph type="body" idx="1"/>
          </p:nvPr>
        </p:nvSpPr>
        <p:spPr>
          <a:xfrm>
            <a:off x="907415" y="3533987"/>
            <a:ext cx="4915165" cy="3349351"/>
          </a:xfrm>
        </p:spPr>
        <p:txBody>
          <a:bodyPr/>
          <a:lstStyle/>
          <a:p>
            <a:endParaRPr lang="en-AU" dirty="0"/>
          </a:p>
        </p:txBody>
      </p:sp>
      <p:sp>
        <p:nvSpPr>
          <p:cNvPr id="4" name="Slide Number Placeholder 3">
            <a:extLst>
              <a:ext uri="{FF2B5EF4-FFF2-40B4-BE49-F238E27FC236}">
                <a16:creationId xmlns:a16="http://schemas.microsoft.com/office/drawing/2014/main" id="{7E67D6D7-DE04-440B-E431-7B4C93D689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84465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57400" y="557213"/>
            <a:ext cx="4959350" cy="2790825"/>
          </a:xfrm>
        </p:spPr>
        <p:txBody>
          <a:bodyPr/>
          <a:lstStyle/>
          <a:p>
            <a:endParaRPr lang="en-AU"/>
          </a:p>
        </p:txBody>
      </p:sp>
      <p:sp>
        <p:nvSpPr>
          <p:cNvPr id="3" name="Notes Placeholder 2"/>
          <p:cNvSpPr>
            <a:spLocks noGrp="1"/>
          </p:cNvSpPr>
          <p:nvPr>
            <p:ph type="body" idx="1"/>
          </p:nvPr>
        </p:nvSpPr>
        <p:spPr>
          <a:xfrm>
            <a:off x="907415" y="3533987"/>
            <a:ext cx="4915165" cy="3349351"/>
          </a:xfrm>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50489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A976D-1929-32FB-D36A-14E0F46DD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D0D62-BF0B-204D-4123-AE176EE3F5FF}"/>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6DEBBF46-BA64-5D37-27A7-38D89142B21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DE9F786-6D9A-D799-2FDA-9655385AC5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8751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EB622-AAAA-5046-1DB4-D149F1B89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DF82C-BCBB-18E1-9F51-798F1384FD89}"/>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932E5176-18FA-3029-21AC-0372749097E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1D29C25-8A70-B521-73C6-D43FAABF62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90146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57400" y="557213"/>
            <a:ext cx="4959350" cy="2790825"/>
          </a:xfrm>
        </p:spPr>
        <p:txBody>
          <a:bodyPr/>
          <a:lstStyle/>
          <a:p>
            <a:endParaRPr lang="en-AU"/>
          </a:p>
        </p:txBody>
      </p:sp>
      <p:sp>
        <p:nvSpPr>
          <p:cNvPr id="3" name="Notes Placeholder 2"/>
          <p:cNvSpPr>
            <a:spLocks noGrp="1"/>
          </p:cNvSpPr>
          <p:nvPr>
            <p:ph type="body" idx="1"/>
          </p:nvPr>
        </p:nvSpPr>
        <p:spPr>
          <a:xfrm>
            <a:off x="907415" y="3533987"/>
            <a:ext cx="4915165" cy="3349351"/>
          </a:xfrm>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0676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C376-A664-76A4-B448-BA031423D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DC38A-870B-9323-D786-705DC809316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DFA4D79-F5AB-05B7-63CD-DBCC925D477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8867089-6E14-ABA4-44F2-6F34783EA1E4}"/>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930061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135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24869081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566355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2175530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AE2EAB-D24E-4D59-9292-7A4F70487E5D}" type="slidenum">
              <a:rPr lang="en-AU" smtClean="0"/>
              <a:t>19</a:t>
            </a:fld>
            <a:endParaRPr lang="en-AU"/>
          </a:p>
        </p:txBody>
      </p:sp>
    </p:spTree>
    <p:extLst>
      <p:ext uri="{BB962C8B-B14F-4D97-AF65-F5344CB8AC3E}">
        <p14:creationId xmlns:p14="http://schemas.microsoft.com/office/powerpoint/2010/main" val="38845992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1972479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21</a:t>
            </a:fld>
            <a:endParaRPr lang="en-US" dirty="0"/>
          </a:p>
        </p:txBody>
      </p:sp>
    </p:spTree>
    <p:extLst>
      <p:ext uri="{BB962C8B-B14F-4D97-AF65-F5344CB8AC3E}">
        <p14:creationId xmlns:p14="http://schemas.microsoft.com/office/powerpoint/2010/main" val="3150707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5AE2EAB-D24E-4D59-9292-7A4F70487E5D}" type="slidenum">
              <a:rPr lang="en-AU" smtClean="0"/>
              <a:t>22</a:t>
            </a:fld>
            <a:endParaRPr lang="en-AU"/>
          </a:p>
        </p:txBody>
      </p:sp>
    </p:spTree>
    <p:extLst>
      <p:ext uri="{BB962C8B-B14F-4D97-AF65-F5344CB8AC3E}">
        <p14:creationId xmlns:p14="http://schemas.microsoft.com/office/powerpoint/2010/main" val="876791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23</a:t>
            </a:fld>
            <a:endParaRPr lang="en-US" noProof="0" dirty="0"/>
          </a:p>
        </p:txBody>
      </p:sp>
    </p:spTree>
    <p:extLst>
      <p:ext uri="{BB962C8B-B14F-4D97-AF65-F5344CB8AC3E}">
        <p14:creationId xmlns:p14="http://schemas.microsoft.com/office/powerpoint/2010/main" val="16437898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24</a:t>
            </a:fld>
            <a:endParaRPr lang="en-US" noProof="0" dirty="0"/>
          </a:p>
        </p:txBody>
      </p:sp>
    </p:spTree>
    <p:extLst>
      <p:ext uri="{BB962C8B-B14F-4D97-AF65-F5344CB8AC3E}">
        <p14:creationId xmlns:p14="http://schemas.microsoft.com/office/powerpoint/2010/main" val="24502686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25</a:t>
            </a:fld>
            <a:endParaRPr lang="en-US" noProof="0" dirty="0"/>
          </a:p>
        </p:txBody>
      </p:sp>
    </p:spTree>
    <p:extLst>
      <p:ext uri="{BB962C8B-B14F-4D97-AF65-F5344CB8AC3E}">
        <p14:creationId xmlns:p14="http://schemas.microsoft.com/office/powerpoint/2010/main" val="37518331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a:xfrm>
            <a:off x="422274" y="4777194"/>
            <a:ext cx="5953125" cy="3908614"/>
          </a:xfrm>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26</a:t>
            </a:fld>
            <a:endParaRPr lang="en-US" noProof="0" dirty="0"/>
          </a:p>
        </p:txBody>
      </p:sp>
    </p:spTree>
    <p:extLst>
      <p:ext uri="{BB962C8B-B14F-4D97-AF65-F5344CB8AC3E}">
        <p14:creationId xmlns:p14="http://schemas.microsoft.com/office/powerpoint/2010/main" val="30252097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a:xfrm>
            <a:off x="422275" y="4777194"/>
            <a:ext cx="5953125" cy="4493806"/>
          </a:xfrm>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27</a:t>
            </a:fld>
            <a:endParaRPr lang="en-US" noProof="0" dirty="0"/>
          </a:p>
        </p:txBody>
      </p:sp>
    </p:spTree>
    <p:extLst>
      <p:ext uri="{BB962C8B-B14F-4D97-AF65-F5344CB8AC3E}">
        <p14:creationId xmlns:p14="http://schemas.microsoft.com/office/powerpoint/2010/main" val="3348240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A5D58-00E8-E7B8-F168-16A7DC46A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19208-ED87-F7D2-7571-4F16A84B450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ED19610-0E42-F224-6CFC-8D08568458BB}"/>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DE0C7020-91F1-18F4-2D14-24151A1CDA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89262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29</a:t>
            </a:fld>
            <a:endParaRPr lang="en-US" noProof="0" dirty="0"/>
          </a:p>
        </p:txBody>
      </p:sp>
    </p:spTree>
    <p:extLst>
      <p:ext uri="{BB962C8B-B14F-4D97-AF65-F5344CB8AC3E}">
        <p14:creationId xmlns:p14="http://schemas.microsoft.com/office/powerpoint/2010/main" val="4176170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10FE2-DF16-8304-B602-BCEBF9362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12E74-59D3-EDC3-53E0-BDE50949046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1BCB103-10B8-EF08-B2E1-EB45953DE35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0E088D0-58D6-9982-3FDF-4281EC6785AE}"/>
              </a:ext>
            </a:extLst>
          </p:cNvPr>
          <p:cNvSpPr>
            <a:spLocks noGrp="1"/>
          </p:cNvSpPr>
          <p:nvPr>
            <p:ph type="sldNum" sz="quarter" idx="5"/>
          </p:nvPr>
        </p:nvSpPr>
        <p:spPr/>
        <p:txBody>
          <a:bodyPr/>
          <a:lstStyle/>
          <a:p>
            <a:fld id="{7C366290-4595-5745-A50F-D5EC13BAC604}" type="slidenum">
              <a:rPr lang="en-US" noProof="0" smtClean="0"/>
              <a:t>30</a:t>
            </a:fld>
            <a:endParaRPr lang="en-US" noProof="0" dirty="0"/>
          </a:p>
        </p:txBody>
      </p:sp>
    </p:spTree>
    <p:extLst>
      <p:ext uri="{BB962C8B-B14F-4D97-AF65-F5344CB8AC3E}">
        <p14:creationId xmlns:p14="http://schemas.microsoft.com/office/powerpoint/2010/main" val="37692381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E33D4-A732-ABED-DF2D-FB3A9FA94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D11AE-0870-B399-45DB-DEA691E888F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E7226CA-DA99-BDD0-F944-2AA9615AB40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EC1F3E7-08EA-9795-93A8-11D5B70C3EC3}"/>
              </a:ext>
            </a:extLst>
          </p:cNvPr>
          <p:cNvSpPr>
            <a:spLocks noGrp="1"/>
          </p:cNvSpPr>
          <p:nvPr>
            <p:ph type="sldNum" sz="quarter" idx="5"/>
          </p:nvPr>
        </p:nvSpPr>
        <p:spPr/>
        <p:txBody>
          <a:bodyPr/>
          <a:lstStyle/>
          <a:p>
            <a:fld id="{7C366290-4595-5745-A50F-D5EC13BAC604}" type="slidenum">
              <a:rPr lang="en-US" noProof="0" smtClean="0"/>
              <a:t>31</a:t>
            </a:fld>
            <a:endParaRPr lang="en-US" noProof="0" dirty="0"/>
          </a:p>
        </p:txBody>
      </p:sp>
    </p:spTree>
    <p:extLst>
      <p:ext uri="{BB962C8B-B14F-4D97-AF65-F5344CB8AC3E}">
        <p14:creationId xmlns:p14="http://schemas.microsoft.com/office/powerpoint/2010/main" val="40871051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EFF48-C4E3-E051-A61E-8A78427D2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7A82B-0724-68E9-2F7E-9AF83025642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8F6A8AA-225C-0BD2-CDEE-E11B12BB5E7E}"/>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A0C18311-7BDF-C3E5-419E-99B5E89BD2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99409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69CA1-F785-77FA-B120-A34049FC5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A77CD-8FAC-D9BF-FE52-831762224B7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50D2366-3AA7-7D79-A9D4-3070D6D27985}"/>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1F242EEB-289F-3653-B07C-C6B5B0255F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1043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94DB2-AA2D-8ED8-B3C6-9D78DA302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74D5D-7691-5F59-E1F4-34E336238F2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C14A5B3-EEE7-32C2-3D32-DE01F8F74D1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EB975AE-473C-020E-8533-636806827E48}"/>
              </a:ext>
            </a:extLst>
          </p:cNvPr>
          <p:cNvSpPr>
            <a:spLocks noGrp="1"/>
          </p:cNvSpPr>
          <p:nvPr>
            <p:ph type="sldNum" sz="quarter" idx="5"/>
          </p:nvPr>
        </p:nvSpPr>
        <p:spPr/>
        <p:txBody>
          <a:bodyPr/>
          <a:lstStyle/>
          <a:p>
            <a:fld id="{7C366290-4595-5745-A50F-D5EC13BAC604}" type="slidenum">
              <a:rPr lang="en-US" noProof="0" smtClean="0"/>
              <a:t>34</a:t>
            </a:fld>
            <a:endParaRPr lang="en-US" noProof="0" dirty="0"/>
          </a:p>
        </p:txBody>
      </p:sp>
    </p:spTree>
    <p:extLst>
      <p:ext uri="{BB962C8B-B14F-4D97-AF65-F5344CB8AC3E}">
        <p14:creationId xmlns:p14="http://schemas.microsoft.com/office/powerpoint/2010/main" val="36820264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627A6-4460-46DA-AB20-E85AA0001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29B82-69C7-EF6E-B8AB-7255766002F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A519DD7-7E36-5214-C214-9F7A989E9627}"/>
              </a:ext>
            </a:extLst>
          </p:cNvPr>
          <p:cNvSpPr>
            <a:spLocks noGrp="1"/>
          </p:cNvSpPr>
          <p:nvPr>
            <p:ph type="body" idx="1"/>
          </p:nvPr>
        </p:nvSpPr>
        <p:spPr>
          <a:xfrm>
            <a:off x="422275" y="4777194"/>
            <a:ext cx="5953125" cy="4493806"/>
          </a:xfrm>
        </p:spPr>
        <p:txBody>
          <a:bodyPr/>
          <a:lstStyle/>
          <a:p>
            <a:pPr marL="76200">
              <a:spcBef>
                <a:spcPts val="1395"/>
              </a:spcBef>
            </a:pPr>
            <a:endParaRPr lang="en-AU" dirty="0"/>
          </a:p>
        </p:txBody>
      </p:sp>
      <p:sp>
        <p:nvSpPr>
          <p:cNvPr id="4" name="Slide Number Placeholder 3">
            <a:extLst>
              <a:ext uri="{FF2B5EF4-FFF2-40B4-BE49-F238E27FC236}">
                <a16:creationId xmlns:a16="http://schemas.microsoft.com/office/drawing/2014/main" id="{601006CD-4936-1AED-0BB7-392F5FE8F2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32028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AD588-0934-DDD4-AB9B-E15272B6A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10BA6-1C58-3441-CA72-638320F553C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5F84DCC-05E0-7306-9739-4A9F51087ABE}"/>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C1932033-1880-1D19-72E5-DF7C83C568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33853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6A06D-BFF7-AB5D-EDB6-BC7A8B2ED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2F064-8198-E463-62C5-398C31A2D51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9E0C5E9-52B4-4A7C-EAC6-8CBD16790381}"/>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B3481488-D461-BEC8-4AE2-F50BDD9949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64595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724DD-4A7E-8304-4B43-AA3BFBE65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22855-6F8D-C79B-3629-065E41E369C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5E88FA8-5A0E-74FE-9918-53091260E8DE}"/>
              </a:ext>
            </a:extLst>
          </p:cNvPr>
          <p:cNvSpPr>
            <a:spLocks noGrp="1"/>
          </p:cNvSpPr>
          <p:nvPr>
            <p:ph type="body" idx="1"/>
          </p:nvPr>
        </p:nvSpPr>
        <p:spPr>
          <a:xfrm>
            <a:off x="422275" y="4777194"/>
            <a:ext cx="5953125" cy="4493806"/>
          </a:xfrm>
        </p:spPr>
        <p:txBody>
          <a:bodyPr/>
          <a:lstStyle/>
          <a:p>
            <a:pPr marL="342900" lvl="0" indent="-342900">
              <a:lnSpc>
                <a:spcPct val="100000"/>
              </a:lnSpc>
              <a:spcAft>
                <a:spcPts val="800"/>
              </a:spcAft>
              <a:buSzPts val="1000"/>
              <a:buFont typeface="Symbol" panose="05050102010706020507" pitchFamily="18" charset="2"/>
              <a:buChar char=""/>
              <a:tabLst>
                <a:tab pos="457200" algn="l"/>
              </a:tabLst>
            </a:pPr>
            <a:endParaRPr lang="en-AU" dirty="0"/>
          </a:p>
        </p:txBody>
      </p:sp>
      <p:sp>
        <p:nvSpPr>
          <p:cNvPr id="4" name="Slide Number Placeholder 3">
            <a:extLst>
              <a:ext uri="{FF2B5EF4-FFF2-40B4-BE49-F238E27FC236}">
                <a16:creationId xmlns:a16="http://schemas.microsoft.com/office/drawing/2014/main" id="{C3309203-31C8-E025-3833-5F22447472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99517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1D1C-6060-8D41-B579-3771D0682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96D4B-2698-6D81-C1C3-B808BA4F07C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BDF9FDD-CC48-D3CA-7922-C013D8013F2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03A0430-D566-B676-9C9D-62655A0C9382}"/>
              </a:ext>
            </a:extLst>
          </p:cNvPr>
          <p:cNvSpPr>
            <a:spLocks noGrp="1"/>
          </p:cNvSpPr>
          <p:nvPr>
            <p:ph type="sldNum" sz="quarter" idx="5"/>
          </p:nvPr>
        </p:nvSpPr>
        <p:spPr/>
        <p:txBody>
          <a:bodyPr/>
          <a:lstStyle/>
          <a:p>
            <a:fld id="{7C366290-4595-5745-A50F-D5EC13BAC604}" type="slidenum">
              <a:rPr lang="en-US" noProof="0" smtClean="0"/>
              <a:t>39</a:t>
            </a:fld>
            <a:endParaRPr lang="en-US" noProof="0" dirty="0"/>
          </a:p>
        </p:txBody>
      </p:sp>
    </p:spTree>
    <p:extLst>
      <p:ext uri="{BB962C8B-B14F-4D97-AF65-F5344CB8AC3E}">
        <p14:creationId xmlns:p14="http://schemas.microsoft.com/office/powerpoint/2010/main" val="18999182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41126-9C72-9983-94E7-1B559E57A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D2F0F-3ADA-E4D8-8708-A00B31E3ED1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2B272D9-26DE-63BF-8ADA-E1A2444C4ACC}"/>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D52F9A4D-37A4-9F81-76C2-1B1554E21C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13483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7D7EF-E8A7-97DF-AAAD-88203BAA1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B31F0-F9CE-64A2-990E-9C2FFACC653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56F6A87-F3B1-3E38-4DA9-A624249F974E}"/>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0D61FB5-28BA-CE07-84B7-29BBAA6A587E}"/>
              </a:ext>
            </a:extLst>
          </p:cNvPr>
          <p:cNvSpPr>
            <a:spLocks noGrp="1"/>
          </p:cNvSpPr>
          <p:nvPr>
            <p:ph type="sldNum" sz="quarter" idx="5"/>
          </p:nvPr>
        </p:nvSpPr>
        <p:spPr/>
        <p:txBody>
          <a:bodyPr/>
          <a:lstStyle/>
          <a:p>
            <a:fld id="{7C366290-4595-5745-A50F-D5EC13BAC604}" type="slidenum">
              <a:rPr lang="en-US" noProof="0" smtClean="0"/>
              <a:t>41</a:t>
            </a:fld>
            <a:endParaRPr lang="en-US" noProof="0" dirty="0"/>
          </a:p>
        </p:txBody>
      </p:sp>
    </p:spTree>
    <p:extLst>
      <p:ext uri="{BB962C8B-B14F-4D97-AF65-F5344CB8AC3E}">
        <p14:creationId xmlns:p14="http://schemas.microsoft.com/office/powerpoint/2010/main" val="9929201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DA32-F596-D99A-4FD5-BB55FB0CD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A7108-7279-3B54-5137-EDF886FC757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59BDCE2-1C53-6E85-E59A-BE1A6DC754A1}"/>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4C418211-7C0B-FC7C-FA33-34E6FA552E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16405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D812-4D6C-A007-0C40-AD3016C20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02BE7-E8EC-5C4B-457B-7DD3F8D602A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3528F8C-4168-F7E9-CAA0-B0143B20BEE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EC999D-DC14-21BC-34AB-727F5CEAD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68944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ED870-B8FE-D06B-9354-5D942E95D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584BD-60E4-042D-8C71-74E26548EC2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7428C72-881C-46D8-2ADE-9921A8330EB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1CF841A-AE13-A0EB-2B83-43473DB2DF89}"/>
              </a:ext>
            </a:extLst>
          </p:cNvPr>
          <p:cNvSpPr>
            <a:spLocks noGrp="1"/>
          </p:cNvSpPr>
          <p:nvPr>
            <p:ph type="sldNum" sz="quarter" idx="5"/>
          </p:nvPr>
        </p:nvSpPr>
        <p:spPr/>
        <p:txBody>
          <a:bodyPr/>
          <a:lstStyle/>
          <a:p>
            <a:fld id="{7C366290-4595-5745-A50F-D5EC13BAC604}" type="slidenum">
              <a:rPr lang="en-US" noProof="0" smtClean="0"/>
              <a:t>44</a:t>
            </a:fld>
            <a:endParaRPr lang="en-US" noProof="0" dirty="0"/>
          </a:p>
        </p:txBody>
      </p:sp>
    </p:spTree>
    <p:extLst>
      <p:ext uri="{BB962C8B-B14F-4D97-AF65-F5344CB8AC3E}">
        <p14:creationId xmlns:p14="http://schemas.microsoft.com/office/powerpoint/2010/main" val="41182312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2BE4F-39E6-C8C6-71C3-055E43C0E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E50DC-28C7-BA49-AEE1-10F177E1E2A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811944B-C814-0EDA-78D7-0AEB65C717A6}"/>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D31EFDC0-A7C7-8470-0EDD-FCBC60E8A8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34699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E2DCB-FCB7-F27A-2A7C-336EC48C6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0D020-43A6-4580-D2CE-3BC5CD108C6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D213962-CCF0-C02D-E504-54AFB86E6704}"/>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C1B97F82-2CF3-F5B5-0213-9B358ADCEC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58700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8FEA-935A-B1F8-9451-3C75319DA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F07C3-FE4F-4C12-D4EC-8CF87B388EE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2E5EB15-F931-F17D-6862-4188CC524401}"/>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E14E87D9-7449-ECD9-1E02-ABEEE5CDF4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90212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10216-4E86-8338-CF84-C324DFEBE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3C419-5CE3-0493-1A14-86BDF1CAC01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510719F-1D07-98D2-2752-8F1201A526B0}"/>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061D7217-9C35-DA25-C570-F9D4EF664D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32219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D58FE-146C-D6EA-CBDA-95913F52D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0CAA0-59C4-B9D4-E23F-CC26E446B82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2C9074D-5D93-6029-BEEB-5081CB5E8EE4}"/>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C77121C3-E992-D849-F509-6D13D1401C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29016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6DE7D-570F-099B-69D2-C47590406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26C56-2B9F-65F1-209B-0B9FA1D30BD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1F82BB2-EB31-1385-A690-ED039F69E464}"/>
              </a:ext>
            </a:extLst>
          </p:cNvPr>
          <p:cNvSpPr>
            <a:spLocks noGrp="1"/>
          </p:cNvSpPr>
          <p:nvPr>
            <p:ph type="body" idx="1"/>
          </p:nvPr>
        </p:nvSpPr>
        <p:spPr>
          <a:xfrm>
            <a:off x="422275" y="4777194"/>
            <a:ext cx="5953125" cy="4493806"/>
          </a:xfrm>
        </p:spPr>
        <p:txBody>
          <a:bodyPr/>
          <a:lstStyle/>
          <a:p>
            <a:endParaRPr lang="en-AU" dirty="0"/>
          </a:p>
        </p:txBody>
      </p:sp>
      <p:sp>
        <p:nvSpPr>
          <p:cNvPr id="4" name="Slide Number Placeholder 3">
            <a:extLst>
              <a:ext uri="{FF2B5EF4-FFF2-40B4-BE49-F238E27FC236}">
                <a16:creationId xmlns:a16="http://schemas.microsoft.com/office/drawing/2014/main" id="{D12B5D2D-196B-4B9A-D7BB-402210330A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81074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2590-58B9-D27F-8197-4C5E5C914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966C2-67A2-996D-4465-1DB6C45CE77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454F7EC-CFDE-383D-9AD9-F27C5A6D00E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7B14FB9-0801-CD1C-5F37-0E9EC9F27E2F}"/>
              </a:ext>
            </a:extLst>
          </p:cNvPr>
          <p:cNvSpPr>
            <a:spLocks noGrp="1"/>
          </p:cNvSpPr>
          <p:nvPr>
            <p:ph type="sldNum" sz="quarter" idx="5"/>
          </p:nvPr>
        </p:nvSpPr>
        <p:spPr/>
        <p:txBody>
          <a:bodyPr/>
          <a:lstStyle/>
          <a:p>
            <a:fld id="{7C366290-4595-5745-A50F-D5EC13BAC604}" type="slidenum">
              <a:rPr lang="en-US" noProof="0" smtClean="0"/>
              <a:t>51</a:t>
            </a:fld>
            <a:endParaRPr lang="en-US" noProof="0" dirty="0"/>
          </a:p>
        </p:txBody>
      </p:sp>
    </p:spTree>
    <p:extLst>
      <p:ext uri="{BB962C8B-B14F-4D97-AF65-F5344CB8AC3E}">
        <p14:creationId xmlns:p14="http://schemas.microsoft.com/office/powerpoint/2010/main" val="10791635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C366290-4595-5745-A50F-D5EC13BAC604}" type="slidenum">
              <a:rPr lang="en-US" noProof="0" smtClean="0"/>
              <a:t>52</a:t>
            </a:fld>
            <a:endParaRPr lang="en-US" noProof="0" dirty="0"/>
          </a:p>
        </p:txBody>
      </p:sp>
    </p:spTree>
    <p:extLst>
      <p:ext uri="{BB962C8B-B14F-4D97-AF65-F5344CB8AC3E}">
        <p14:creationId xmlns:p14="http://schemas.microsoft.com/office/powerpoint/2010/main" val="2453694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a:alphaModFix/>
            <a:extLst>
              <a:ext uri="{96DAC541-7B7A-43D3-8B79-37D633B846F1}">
                <asvg:svgBlip xmlns:asvg="http://schemas.microsoft.com/office/drawing/2016/SVG/main" r:embed="rId2"/>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95225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54478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28352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647270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63656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151625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43616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9633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43579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24123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048694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6273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0346507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svg"/><Relationship Id="rId7" Type="http://schemas.openxmlformats.org/officeDocument/2006/relationships/hyperlink" Target="https://www.youtube.com/watch?v=DAGBVE3V4s0" TargetMode="External"/><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25.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image" Target="../media/image17.jpg"/><Relationship Id="rId5" Type="http://schemas.openxmlformats.org/officeDocument/2006/relationships/image" Target="../media/image16.pn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8" Type="http://schemas.openxmlformats.org/officeDocument/2006/relationships/hyperlink" Target="https://unsplash.com/photos/a-bird-standing-on-a-railing-Raj8QduQtgc" TargetMode="External"/><Relationship Id="rId3" Type="http://schemas.openxmlformats.org/officeDocument/2006/relationships/slideLayout" Target="../slideLayouts/slideLayout25.xml"/><Relationship Id="rId7" Type="http://schemas.openxmlformats.org/officeDocument/2006/relationships/image" Target="../media/image16.png"/><Relationship Id="rId12" Type="http://schemas.openxmlformats.org/officeDocument/2006/relationships/image" Target="../media/image20.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5.svg"/><Relationship Id="rId11" Type="http://schemas.openxmlformats.org/officeDocument/2006/relationships/image" Target="../media/image19.jpeg"/><Relationship Id="rId5" Type="http://schemas.openxmlformats.org/officeDocument/2006/relationships/image" Target="../media/image4.svg"/><Relationship Id="rId10" Type="http://schemas.openxmlformats.org/officeDocument/2006/relationships/image" Target="../media/image18.png"/><Relationship Id="rId4" Type="http://schemas.openxmlformats.org/officeDocument/2006/relationships/notesSlide" Target="../notesSlides/notesSlide10.xml"/><Relationship Id="rId9" Type="http://schemas.openxmlformats.org/officeDocument/2006/relationships/hyperlink" Target="https://www.bioexplorer.net/animals/birds/torresian-crow/"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comments" Target="../comments/comment1.xml"/><Relationship Id="rId4" Type="http://schemas.openxmlformats.org/officeDocument/2006/relationships/hyperlink" Target="https://www.youtube.com/watch?v=rqLezahgmqA"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video" Target="https://www.youtube.com/embed/cDYGjkcjUdg?feature=oembed" TargetMode="External"/><Relationship Id="rId5" Type="http://schemas.openxmlformats.org/officeDocument/2006/relationships/image" Target="../media/image27.jpeg"/><Relationship Id="rId4" Type="http://schemas.openxmlformats.org/officeDocument/2006/relationships/hyperlink" Target="https://www.youtube.com/watch?v=cDYGjkcjUd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9.jpg"/></Relationships>
</file>

<file path=ppt/slides/_rels/slide23.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8.jpg"/><Relationship Id="rId4" Type="http://schemas.openxmlformats.org/officeDocument/2006/relationships/image" Target="../media/image35.jp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video" Target="https://www.youtube.com/embed/w0sWIVR1hXw?start=1&amp;feature=oembed" TargetMode="External"/><Relationship Id="rId6" Type="http://schemas.openxmlformats.org/officeDocument/2006/relationships/hyperlink" Target="https://healthwisenenw.com.au/blog/social-emotional-wellbeing/" TargetMode="External"/><Relationship Id="rId5" Type="http://schemas.openxmlformats.org/officeDocument/2006/relationships/image" Target="../media/image40.png"/><Relationship Id="rId4" Type="http://schemas.openxmlformats.org/officeDocument/2006/relationships/image" Target="../media/image39.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4.xml"/><Relationship Id="rId1" Type="http://schemas.openxmlformats.org/officeDocument/2006/relationships/video" Target="https://www.youtube.com/embed/tow2tR_ezL8?start=2&amp;feature=oembed" TargetMode="External"/><Relationship Id="rId4" Type="http://schemas.openxmlformats.org/officeDocument/2006/relationships/image" Target="../media/image41.jpeg"/></Relationships>
</file>

<file path=ppt/slides/_rels/slide2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a:xfrm>
            <a:off x="1524000" y="2157835"/>
            <a:ext cx="9144000" cy="2019314"/>
          </a:xfrm>
        </p:spPr>
        <p:txBody>
          <a:bodyPr/>
          <a:lstStyle/>
          <a:p>
            <a:r>
              <a:rPr lang="en-US" sz="4000" dirty="0">
                <a:solidFill>
                  <a:schemeClr val="accent6">
                    <a:lumMod val="10000"/>
                  </a:schemeClr>
                </a:solidFill>
                <a:latin typeface="+mn-lt"/>
              </a:rPr>
              <a:t>INDG6002</a:t>
            </a:r>
            <a:br>
              <a:rPr lang="en-US" sz="4800" dirty="0">
                <a:solidFill>
                  <a:schemeClr val="accent6">
                    <a:lumMod val="10000"/>
                  </a:schemeClr>
                </a:solidFill>
                <a:latin typeface="+mn-lt"/>
              </a:rPr>
            </a:br>
            <a:br>
              <a:rPr lang="en-US" sz="4800" dirty="0">
                <a:solidFill>
                  <a:schemeClr val="accent6">
                    <a:lumMod val="10000"/>
                  </a:schemeClr>
                </a:solidFill>
                <a:latin typeface="+mn-lt"/>
              </a:rPr>
            </a:br>
            <a:r>
              <a:rPr lang="en-US" sz="4800" dirty="0">
                <a:solidFill>
                  <a:schemeClr val="accent6">
                    <a:lumMod val="10000"/>
                  </a:schemeClr>
                </a:solidFill>
                <a:latin typeface="+mn-lt"/>
              </a:rPr>
              <a:t>Week 1 - Tutorial</a:t>
            </a: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a:xfrm>
            <a:off x="1524000" y="4700165"/>
            <a:ext cx="9144000" cy="1493242"/>
          </a:xfrm>
        </p:spPr>
        <p:txBody>
          <a:bodyPr/>
          <a:lstStyle/>
          <a:p>
            <a:r>
              <a:rPr lang="en-US" sz="4000" b="0" i="0" dirty="0">
                <a:solidFill>
                  <a:srgbClr val="000000"/>
                </a:solidFill>
                <a:effectLst/>
                <a:latin typeface="Open Sans" panose="020B0606030504020204" pitchFamily="34" charset="0"/>
              </a:rPr>
              <a:t>Contrasting Indigenous and western health perspectives</a:t>
            </a:r>
            <a:endParaRPr lang="en-US" dirty="0">
              <a:solidFill>
                <a:schemeClr val="accent6">
                  <a:lumMod val="10000"/>
                </a:schemeClr>
              </a:solidFill>
            </a:endParaRPr>
          </a:p>
        </p:txBody>
      </p:sp>
      <p:pic>
        <p:nvPicPr>
          <p:cNvPr id="1026" name="Picture 2">
            <a:extLst>
              <a:ext uri="{FF2B5EF4-FFF2-40B4-BE49-F238E27FC236}">
                <a16:creationId xmlns:a16="http://schemas.microsoft.com/office/drawing/2014/main" id="{EA6687CE-3ED1-8F75-D94A-CFA9B8FF30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00" y="0"/>
            <a:ext cx="1143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CE66D08-03F1-5BFC-7152-3DFCA7FCA1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3362E98-2418-EDFB-96C6-71AFC12CE33E}"/>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AU" sz="1200">
              <a:solidFill>
                <a:prstClr val="black"/>
              </a:solidFill>
              <a:latin typeface="Calibri"/>
            </a:endParaRPr>
          </a:p>
        </p:txBody>
      </p:sp>
      <p:sp>
        <p:nvSpPr>
          <p:cNvPr id="3" name="Freeform 3">
            <a:extLst>
              <a:ext uri="{FF2B5EF4-FFF2-40B4-BE49-F238E27FC236}">
                <a16:creationId xmlns:a16="http://schemas.microsoft.com/office/drawing/2014/main" id="{0C19520A-7C9E-F148-12F8-ADD6228A2420}"/>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AU" sz="1200">
              <a:solidFill>
                <a:prstClr val="black"/>
              </a:solidFill>
              <a:latin typeface="Calibri"/>
            </a:endParaRPr>
          </a:p>
        </p:txBody>
      </p:sp>
      <p:sp>
        <p:nvSpPr>
          <p:cNvPr id="4" name="Freeform 4">
            <a:extLst>
              <a:ext uri="{FF2B5EF4-FFF2-40B4-BE49-F238E27FC236}">
                <a16:creationId xmlns:a16="http://schemas.microsoft.com/office/drawing/2014/main" id="{630D252D-F9C5-53E4-2865-0190F90EA1A0}"/>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defTabSz="609630"/>
            <a:endParaRPr lang="en-AU" sz="1200">
              <a:solidFill>
                <a:prstClr val="black"/>
              </a:solidFill>
              <a:latin typeface="Calibri"/>
            </a:endParaRPr>
          </a:p>
        </p:txBody>
      </p:sp>
      <p:sp>
        <p:nvSpPr>
          <p:cNvPr id="6" name="Freeform 6">
            <a:extLst>
              <a:ext uri="{FF2B5EF4-FFF2-40B4-BE49-F238E27FC236}">
                <a16:creationId xmlns:a16="http://schemas.microsoft.com/office/drawing/2014/main" id="{50950428-BE28-8488-A5B4-61CF4A4332E9}"/>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defTabSz="609630"/>
            <a:endParaRPr lang="en-AU" sz="1200">
              <a:solidFill>
                <a:prstClr val="black"/>
              </a:solidFill>
              <a:latin typeface="Calibri"/>
            </a:endParaRPr>
          </a:p>
        </p:txBody>
      </p:sp>
      <p:sp>
        <p:nvSpPr>
          <p:cNvPr id="7" name="Freeform 7">
            <a:extLst>
              <a:ext uri="{FF2B5EF4-FFF2-40B4-BE49-F238E27FC236}">
                <a16:creationId xmlns:a16="http://schemas.microsoft.com/office/drawing/2014/main" id="{8197465C-D058-691B-0E21-BCDEB612A572}"/>
              </a:ext>
            </a:extLst>
          </p:cNvPr>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defTabSz="609630"/>
            <a:endParaRPr lang="en-AU" sz="1200">
              <a:solidFill>
                <a:prstClr val="black"/>
              </a:solidFill>
              <a:latin typeface="Calibri"/>
            </a:endParaRPr>
          </a:p>
        </p:txBody>
      </p:sp>
      <p:sp>
        <p:nvSpPr>
          <p:cNvPr id="8" name="Freeform 8">
            <a:extLst>
              <a:ext uri="{FF2B5EF4-FFF2-40B4-BE49-F238E27FC236}">
                <a16:creationId xmlns:a16="http://schemas.microsoft.com/office/drawing/2014/main" id="{99BC10CB-BEB4-B75D-9237-11A2D3ED3B49}"/>
              </a:ext>
            </a:extLst>
          </p:cNvPr>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pPr defTabSz="609630"/>
            <a:endParaRPr lang="en-AU" sz="1200">
              <a:solidFill>
                <a:prstClr val="black"/>
              </a:solidFill>
              <a:latin typeface="Calibri"/>
            </a:endParaRPr>
          </a:p>
        </p:txBody>
      </p:sp>
      <p:sp>
        <p:nvSpPr>
          <p:cNvPr id="9" name="TextBox 9">
            <a:extLst>
              <a:ext uri="{FF2B5EF4-FFF2-40B4-BE49-F238E27FC236}">
                <a16:creationId xmlns:a16="http://schemas.microsoft.com/office/drawing/2014/main" id="{B2E49844-FE1A-FBD8-C461-76C8579A4376}"/>
              </a:ext>
            </a:extLst>
          </p:cNvPr>
          <p:cNvSpPr txBox="1"/>
          <p:nvPr/>
        </p:nvSpPr>
        <p:spPr>
          <a:xfrm>
            <a:off x="2013365" y="554307"/>
            <a:ext cx="7485059" cy="1260730"/>
          </a:xfrm>
          <a:prstGeom prst="rect">
            <a:avLst/>
          </a:prstGeom>
        </p:spPr>
        <p:txBody>
          <a:bodyPr lIns="0" tIns="0" rIns="0" bIns="0" rtlCol="0" anchor="t">
            <a:spAutoFit/>
          </a:bodyPr>
          <a:lstStyle/>
          <a:p>
            <a:pPr algn="ctr" defTabSz="609630">
              <a:lnSpc>
                <a:spcPts val="7181"/>
              </a:lnSpc>
            </a:pPr>
            <a:r>
              <a:rPr lang="en-US" sz="5984" spc="179" dirty="0">
                <a:solidFill>
                  <a:srgbClr val="000000"/>
                </a:solidFill>
                <a:latin typeface="Dynapuff Condensed"/>
                <a:ea typeface="Dynapuff Condensed"/>
                <a:cs typeface="Dynapuff Condensed"/>
                <a:sym typeface="Dynapuff Condensed"/>
              </a:rPr>
              <a:t>Welcome to Country</a:t>
            </a:r>
          </a:p>
          <a:p>
            <a:pPr algn="ctr" defTabSz="609630">
              <a:lnSpc>
                <a:spcPts val="2799"/>
              </a:lnSpc>
              <a:spcBef>
                <a:spcPct val="0"/>
              </a:spcBef>
            </a:pPr>
            <a:endParaRPr lang="en-US" sz="2333" spc="69" dirty="0">
              <a:solidFill>
                <a:srgbClr val="000000"/>
              </a:solidFill>
              <a:latin typeface="Dynapuff Condensed"/>
              <a:ea typeface="Dynapuff Condensed"/>
              <a:cs typeface="Dynapuff Condensed"/>
              <a:sym typeface="Dynapuff Condensed"/>
            </a:endParaRPr>
          </a:p>
        </p:txBody>
      </p:sp>
      <p:pic>
        <p:nvPicPr>
          <p:cNvPr id="11" name="Picture 10">
            <a:hlinkClick r:id="rId7"/>
            <a:extLst>
              <a:ext uri="{FF2B5EF4-FFF2-40B4-BE49-F238E27FC236}">
                <a16:creationId xmlns:a16="http://schemas.microsoft.com/office/drawing/2014/main" id="{FCFB793A-6305-32AD-7166-1268DF9D6BD4}"/>
              </a:ext>
            </a:extLst>
          </p:cNvPr>
          <p:cNvPicPr>
            <a:picLocks noChangeAspect="1"/>
          </p:cNvPicPr>
          <p:nvPr/>
        </p:nvPicPr>
        <p:blipFill>
          <a:blip r:embed="rId8"/>
          <a:stretch>
            <a:fillRect/>
          </a:stretch>
        </p:blipFill>
        <p:spPr>
          <a:xfrm>
            <a:off x="3352800" y="2863454"/>
            <a:ext cx="5729926" cy="2507913"/>
          </a:xfrm>
          <a:prstGeom prst="rect">
            <a:avLst/>
          </a:prstGeom>
        </p:spPr>
      </p:pic>
      <p:sp>
        <p:nvSpPr>
          <p:cNvPr id="5" name="TextBox 4">
            <a:extLst>
              <a:ext uri="{FF2B5EF4-FFF2-40B4-BE49-F238E27FC236}">
                <a16:creationId xmlns:a16="http://schemas.microsoft.com/office/drawing/2014/main" id="{B4208190-162D-7645-DFB1-FD3776B7AEAA}"/>
              </a:ext>
            </a:extLst>
          </p:cNvPr>
          <p:cNvSpPr txBox="1"/>
          <p:nvPr/>
        </p:nvSpPr>
        <p:spPr>
          <a:xfrm>
            <a:off x="4163231" y="6294451"/>
            <a:ext cx="3556000" cy="276999"/>
          </a:xfrm>
          <a:prstGeom prst="rect">
            <a:avLst/>
          </a:prstGeom>
          <a:noFill/>
        </p:spPr>
        <p:txBody>
          <a:bodyPr wrap="square" rtlCol="0">
            <a:spAutoFit/>
          </a:bodyPr>
          <a:lstStyle/>
          <a:p>
            <a:pPr defTabSz="609630">
              <a:defRPr/>
            </a:pPr>
            <a:r>
              <a:rPr lang="en-AU" sz="1200" kern="0" dirty="0">
                <a:solidFill>
                  <a:prstClr val="black"/>
                </a:solidFill>
                <a:latin typeface="Calibri"/>
                <a:hlinkClick r:id="rId7"/>
              </a:rPr>
              <a:t>https://www.youtube.com/watch?v=DAGBVE3V4s0</a:t>
            </a:r>
            <a:endParaRPr lang="en-AU" sz="1200" kern="0" dirty="0">
              <a:solidFill>
                <a:prstClr val="black"/>
              </a:solidFill>
              <a:latin typeface="Calibri"/>
            </a:endParaRPr>
          </a:p>
        </p:txBody>
      </p:sp>
    </p:spTree>
    <p:extLst>
      <p:ext uri="{BB962C8B-B14F-4D97-AF65-F5344CB8AC3E}">
        <p14:creationId xmlns:p14="http://schemas.microsoft.com/office/powerpoint/2010/main" val="1039189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1ACD-B05D-09A8-0EB2-EC12AED69F39}"/>
            </a:ext>
          </a:extLst>
        </p:cNvPr>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6310AB05-9E42-68D7-4309-8D70B0219EAD}"/>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2" name="Title 1">
            <a:extLst>
              <a:ext uri="{FF2B5EF4-FFF2-40B4-BE49-F238E27FC236}">
                <a16:creationId xmlns:a16="http://schemas.microsoft.com/office/drawing/2014/main" id="{2559B149-D818-2A98-4D14-39926CE895C0}"/>
              </a:ext>
            </a:extLst>
          </p:cNvPr>
          <p:cNvSpPr>
            <a:spLocks noGrp="1"/>
          </p:cNvSpPr>
          <p:nvPr>
            <p:ph type="title"/>
          </p:nvPr>
        </p:nvSpPr>
        <p:spPr>
          <a:xfrm>
            <a:off x="576072" y="704087"/>
            <a:ext cx="4735630" cy="798141"/>
          </a:xfrm>
        </p:spPr>
        <p:txBody>
          <a:bodyPr anchor="ctr">
            <a:normAutofit fontScale="90000"/>
          </a:bodyPr>
          <a:lstStyle/>
          <a:p>
            <a:r>
              <a:rPr lang="en-AU" sz="4100" dirty="0"/>
              <a:t>Acknowledgment of Country</a:t>
            </a:r>
          </a:p>
        </p:txBody>
      </p:sp>
      <p:pic>
        <p:nvPicPr>
          <p:cNvPr id="3" name="Picture 2" descr="A baby sitting in a stroller next to two black geese&#10;&#10;AI-generated content may be incorrect.">
            <a:extLst>
              <a:ext uri="{FF2B5EF4-FFF2-40B4-BE49-F238E27FC236}">
                <a16:creationId xmlns:a16="http://schemas.microsoft.com/office/drawing/2014/main" id="{A48E93C2-3718-F2AA-FF0C-75318B0BC7E8}"/>
              </a:ext>
            </a:extLst>
          </p:cNvPr>
          <p:cNvPicPr>
            <a:picLocks noChangeAspect="1"/>
          </p:cNvPicPr>
          <p:nvPr/>
        </p:nvPicPr>
        <p:blipFill>
          <a:blip r:embed="rId3">
            <a:extLst>
              <a:ext uri="{28A0092B-C50C-407E-A947-70E740481C1C}">
                <a14:useLocalDpi xmlns:a14="http://schemas.microsoft.com/office/drawing/2010/main" val="0"/>
              </a:ext>
            </a:extLst>
          </a:blip>
          <a:srcRect t="10500" b="14477"/>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ubtitle 2">
            <a:extLst>
              <a:ext uri="{FF2B5EF4-FFF2-40B4-BE49-F238E27FC236}">
                <a16:creationId xmlns:a16="http://schemas.microsoft.com/office/drawing/2014/main" id="{C4149FDA-6259-3C0A-1CF3-4211F2D0DB95}"/>
              </a:ext>
            </a:extLst>
          </p:cNvPr>
          <p:cNvSpPr txBox="1">
            <a:spLocks/>
          </p:cNvSpPr>
          <p:nvPr/>
        </p:nvSpPr>
        <p:spPr>
          <a:xfrm>
            <a:off x="640080" y="2872899"/>
            <a:ext cx="4243589" cy="33206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defRPr/>
            </a:pPr>
            <a:r>
              <a:rPr lang="en-US" sz="2000" dirty="0">
                <a:solidFill>
                  <a:prstClr val="black"/>
                </a:solidFill>
                <a:latin typeface="Aptos" panose="02110004020202020204"/>
              </a:rPr>
              <a:t>An Acknowledgement of Country is a demonstration of respect for the Traditional Caretakers of the land on where </a:t>
            </a:r>
            <a:r>
              <a:rPr lang="en-US" sz="2000">
                <a:solidFill>
                  <a:prstClr val="black"/>
                </a:solidFill>
                <a:latin typeface="Aptos" panose="02110004020202020204"/>
              </a:rPr>
              <a:t>we Yarn </a:t>
            </a:r>
            <a:r>
              <a:rPr lang="en-US" sz="2000" dirty="0">
                <a:solidFill>
                  <a:prstClr val="black"/>
                </a:solidFill>
                <a:latin typeface="Aptos" panose="02110004020202020204"/>
              </a:rPr>
              <a:t>today. </a:t>
            </a:r>
          </a:p>
          <a:p>
            <a:pPr marL="0">
              <a:defRPr/>
            </a:pPr>
            <a:r>
              <a:rPr lang="en-US" sz="2000" dirty="0">
                <a:solidFill>
                  <a:prstClr val="black"/>
                </a:solidFill>
                <a:latin typeface="Aptos" panose="02110004020202020204"/>
              </a:rPr>
              <a:t>It is a recognition of the continuing relationship between Aboriginal and Torres Strait Islander peoples and their Country; acknowledging their continuing connections to land, sea and community. </a:t>
            </a:r>
          </a:p>
          <a:p>
            <a:pPr>
              <a:defRPr/>
            </a:pPr>
            <a:endParaRPr lang="en-US" sz="2000" dirty="0">
              <a:solidFill>
                <a:prstClr val="black"/>
              </a:solidFill>
              <a:latin typeface="Aptos" panose="02110004020202020204"/>
            </a:endParaRPr>
          </a:p>
        </p:txBody>
      </p:sp>
    </p:spTree>
    <p:extLst>
      <p:ext uri="{BB962C8B-B14F-4D97-AF65-F5344CB8AC3E}">
        <p14:creationId xmlns:p14="http://schemas.microsoft.com/office/powerpoint/2010/main" val="2438146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96B28-263D-ACBF-C7B6-FF4453D87115}"/>
            </a:ext>
          </a:extLst>
        </p:cNvPr>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9AE2AEB0-5D71-A6BE-87E9-587CB788BE1B}"/>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2" name="Title 1">
            <a:extLst>
              <a:ext uri="{FF2B5EF4-FFF2-40B4-BE49-F238E27FC236}">
                <a16:creationId xmlns:a16="http://schemas.microsoft.com/office/drawing/2014/main" id="{502B21B6-1A1D-B83C-3E98-590BD5E5D18B}"/>
              </a:ext>
            </a:extLst>
          </p:cNvPr>
          <p:cNvSpPr>
            <a:spLocks noGrp="1"/>
          </p:cNvSpPr>
          <p:nvPr>
            <p:ph type="title"/>
          </p:nvPr>
        </p:nvSpPr>
        <p:spPr>
          <a:xfrm>
            <a:off x="576072" y="704088"/>
            <a:ext cx="10515600" cy="676656"/>
          </a:xfrm>
        </p:spPr>
        <p:txBody>
          <a:bodyPr anchor="ctr">
            <a:normAutofit/>
          </a:bodyPr>
          <a:lstStyle/>
          <a:p>
            <a:r>
              <a:rPr lang="en-AU" sz="4100" dirty="0"/>
              <a:t>Acknowledgment of Country</a:t>
            </a:r>
          </a:p>
        </p:txBody>
      </p:sp>
      <p:pic>
        <p:nvPicPr>
          <p:cNvPr id="6" name="Picture 5" descr="Cars driving on a road&#10;&#10;AI-generated content may be incorrect.">
            <a:extLst>
              <a:ext uri="{FF2B5EF4-FFF2-40B4-BE49-F238E27FC236}">
                <a16:creationId xmlns:a16="http://schemas.microsoft.com/office/drawing/2014/main" id="{BAF7F2ED-5288-C2A3-283B-646B5ACB1FD4}"/>
              </a:ext>
            </a:extLst>
          </p:cNvPr>
          <p:cNvPicPr>
            <a:picLocks noChangeAspect="1"/>
          </p:cNvPicPr>
          <p:nvPr/>
        </p:nvPicPr>
        <p:blipFill>
          <a:blip r:embed="rId3"/>
          <a:srcRect t="51004"/>
          <a:stretch>
            <a:fillRect/>
          </a:stretch>
        </p:blipFill>
        <p:spPr>
          <a:xfrm>
            <a:off x="576072" y="1901952"/>
            <a:ext cx="10515600" cy="3877056"/>
          </a:xfrm>
          <a:prstGeom prst="rect">
            <a:avLst/>
          </a:prstGeom>
          <a:noFill/>
        </p:spPr>
      </p:pic>
    </p:spTree>
    <p:extLst>
      <p:ext uri="{BB962C8B-B14F-4D97-AF65-F5344CB8AC3E}">
        <p14:creationId xmlns:p14="http://schemas.microsoft.com/office/powerpoint/2010/main" val="3390003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5AA30-AECA-4EAB-95A8-02104BEB09CD}"/>
              </a:ext>
            </a:extLst>
          </p:cNvPr>
          <p:cNvSpPr>
            <a:spLocks noGrp="1"/>
          </p:cNvSpPr>
          <p:nvPr>
            <p:ph type="title"/>
          </p:nvPr>
        </p:nvSpPr>
        <p:spPr>
          <a:xfrm>
            <a:off x="704383" y="570451"/>
            <a:ext cx="10905979" cy="5234731"/>
          </a:xfrm>
        </p:spPr>
        <p:txBody>
          <a:bodyPr/>
          <a:lstStyle/>
          <a:p>
            <a:br>
              <a:rPr lang="en-AU" sz="2400" dirty="0"/>
            </a:br>
            <a:r>
              <a:rPr lang="en-AU" sz="3200" dirty="0">
                <a:solidFill>
                  <a:schemeClr val="accent6">
                    <a:lumMod val="10000"/>
                  </a:schemeClr>
                </a:solidFill>
              </a:rPr>
              <a:t>Warning</a:t>
            </a:r>
            <a:br>
              <a:rPr lang="en-AU" sz="3200" dirty="0"/>
            </a:br>
            <a:br>
              <a:rPr lang="en-AU" sz="3200" dirty="0"/>
            </a:br>
            <a:r>
              <a:rPr lang="en-AU" sz="3200" b="0" dirty="0">
                <a:solidFill>
                  <a:srgbClr val="000000"/>
                </a:solidFill>
                <a:effectLst/>
              </a:rPr>
              <a:t>Aboriginal and Torres Strait Islander students are advised that the following content may contain the images and stories of Aboriginal Elders and community members now resting in the Dreaming</a:t>
            </a:r>
            <a:br>
              <a:rPr lang="en-AU" sz="3200" b="0" dirty="0">
                <a:solidFill>
                  <a:srgbClr val="000000"/>
                </a:solidFill>
                <a:effectLst/>
              </a:rPr>
            </a:br>
            <a:br>
              <a:rPr lang="en-AU" sz="3200" b="0" dirty="0">
                <a:solidFill>
                  <a:srgbClr val="000000"/>
                </a:solidFill>
                <a:effectLst/>
              </a:rPr>
            </a:br>
            <a:br>
              <a:rPr lang="en-AU" sz="3200" b="0" dirty="0">
                <a:solidFill>
                  <a:srgbClr val="000000"/>
                </a:solidFill>
                <a:effectLst/>
              </a:rPr>
            </a:br>
            <a:endParaRPr lang="en-AU" sz="3200" dirty="0"/>
          </a:p>
        </p:txBody>
      </p:sp>
    </p:spTree>
    <p:extLst>
      <p:ext uri="{BB962C8B-B14F-4D97-AF65-F5344CB8AC3E}">
        <p14:creationId xmlns:p14="http://schemas.microsoft.com/office/powerpoint/2010/main" val="2339368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70BA96D9-2E56-3DBD-6315-048A1B2800FB}"/>
              </a:ext>
            </a:extLst>
          </p:cNvPr>
          <p:cNvSpPr>
            <a:spLocks noGrp="1"/>
          </p:cNvSpPr>
          <p:nvPr>
            <p:ph type="title"/>
          </p:nvPr>
        </p:nvSpPr>
        <p:spPr>
          <a:xfrm>
            <a:off x="359573" y="180520"/>
            <a:ext cx="6502620" cy="676656"/>
          </a:xfrm>
        </p:spPr>
        <p:txBody>
          <a:bodyPr/>
          <a:lstStyle/>
          <a:p>
            <a:r>
              <a:rPr lang="en-US" dirty="0">
                <a:solidFill>
                  <a:schemeClr val="accent6">
                    <a:lumMod val="10000"/>
                  </a:schemeClr>
                </a:solidFill>
              </a:rPr>
              <a:t>Welcome - overview</a:t>
            </a:r>
          </a:p>
        </p:txBody>
      </p:sp>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94309" y="1096860"/>
            <a:ext cx="6652469" cy="4664280"/>
          </a:xfrm>
        </p:spPr>
        <p:txBody>
          <a:bodyPr>
            <a:normAutofit/>
          </a:bodyPr>
          <a:lstStyle/>
          <a:p>
            <a:pPr marL="342900" indent="-342900">
              <a:buFont typeface="Arial" panose="020B0604020202020204" pitchFamily="34" charset="0"/>
              <a:buChar char="•"/>
            </a:pPr>
            <a:r>
              <a:rPr lang="en-AU" sz="2000" dirty="0">
                <a:solidFill>
                  <a:schemeClr val="accent6">
                    <a:lumMod val="10000"/>
                  </a:schemeClr>
                </a:solidFill>
              </a:rPr>
              <a:t>In this first module we will explore the divergent concepts of health and provide a deeper understanding of the wholistic and multi-factorial view of health and wellbeing through an Aboriginal and Torres Strait Islander lens</a:t>
            </a:r>
          </a:p>
          <a:p>
            <a:endParaRPr lang="en-AU" sz="2000" dirty="0">
              <a:solidFill>
                <a:schemeClr val="accent6">
                  <a:lumMod val="10000"/>
                </a:schemeClr>
              </a:solidFill>
            </a:endParaRPr>
          </a:p>
          <a:p>
            <a:pPr marL="342900" indent="-342900">
              <a:buFont typeface="Arial" panose="020B0604020202020204" pitchFamily="34" charset="0"/>
              <a:buChar char="•"/>
            </a:pPr>
            <a:r>
              <a:rPr lang="en-AU" sz="2000" dirty="0">
                <a:solidFill>
                  <a:schemeClr val="accent6">
                    <a:lumMod val="10000"/>
                  </a:schemeClr>
                </a:solidFill>
              </a:rPr>
              <a:t>The Social and Emotional Wellbeing framework is introduced</a:t>
            </a:r>
          </a:p>
          <a:p>
            <a:pPr marL="342900" indent="-342900">
              <a:buFont typeface="Arial" panose="020B0604020202020204" pitchFamily="34" charset="0"/>
              <a:buChar char="•"/>
            </a:pPr>
            <a:endParaRPr lang="en-AU" sz="2000" dirty="0">
              <a:solidFill>
                <a:schemeClr val="accent6">
                  <a:lumMod val="10000"/>
                </a:schemeClr>
              </a:solidFill>
            </a:endParaRPr>
          </a:p>
          <a:p>
            <a:pPr marL="342900" indent="-342900">
              <a:buFont typeface="Arial" panose="020B0604020202020204" pitchFamily="34" charset="0"/>
              <a:buChar char="•"/>
            </a:pPr>
            <a:r>
              <a:rPr lang="en-AU" sz="2000" dirty="0">
                <a:solidFill>
                  <a:schemeClr val="accent6">
                    <a:lumMod val="10000"/>
                  </a:schemeClr>
                </a:solidFill>
              </a:rPr>
              <a:t>Dadirri (deep non-judgemental listening) and Yarning are introduced</a:t>
            </a:r>
          </a:p>
          <a:p>
            <a:pPr marL="342900" indent="-342900">
              <a:buFont typeface="Arial" panose="020B0604020202020204" pitchFamily="34" charset="0"/>
              <a:buChar char="•"/>
            </a:pPr>
            <a:endParaRPr lang="en-AU" sz="2000" dirty="0">
              <a:solidFill>
                <a:schemeClr val="accent6">
                  <a:lumMod val="10000"/>
                </a:schemeClr>
              </a:solidFill>
            </a:endParaRPr>
          </a:p>
          <a:p>
            <a:pPr marL="342900" indent="-342900">
              <a:buFont typeface="Arial" panose="020B0604020202020204" pitchFamily="34" charset="0"/>
              <a:buChar char="•"/>
            </a:pPr>
            <a:r>
              <a:rPr lang="en-AU" sz="2000" dirty="0">
                <a:solidFill>
                  <a:schemeClr val="accent6">
                    <a:lumMod val="10000"/>
                  </a:schemeClr>
                </a:solidFill>
              </a:rPr>
              <a:t> Change of focus and narratives towards strengths-based approaches </a:t>
            </a:r>
          </a:p>
          <a:p>
            <a:pPr marL="342900" indent="-342900">
              <a:buFont typeface="Arial" panose="020B0604020202020204" pitchFamily="34" charset="0"/>
              <a:buChar char="•"/>
            </a:pPr>
            <a:endParaRPr lang="en-AU" sz="2000" dirty="0">
              <a:solidFill>
                <a:schemeClr val="accent6">
                  <a:lumMod val="10000"/>
                </a:schemeClr>
              </a:solidFill>
            </a:endParaRPr>
          </a:p>
          <a:p>
            <a:endParaRPr lang="en-AU" sz="2000" dirty="0">
              <a:solidFill>
                <a:schemeClr val="accent6">
                  <a:lumMod val="10000"/>
                </a:schemeClr>
              </a:solidFill>
            </a:endParaRPr>
          </a:p>
          <a:p>
            <a:endParaRPr lang="en-US" sz="2000" dirty="0">
              <a:solidFill>
                <a:schemeClr val="accent6">
                  <a:lumMod val="10000"/>
                </a:schemeClr>
              </a:solidFill>
            </a:endParaRPr>
          </a:p>
        </p:txBody>
      </p:sp>
      <p:pic>
        <p:nvPicPr>
          <p:cNvPr id="22" name="Picture Placeholder 21" descr="Person in black skirt and white shirt holding some dandelions">
            <a:extLst>
              <a:ext uri="{FF2B5EF4-FFF2-40B4-BE49-F238E27FC236}">
                <a16:creationId xmlns:a16="http://schemas.microsoft.com/office/drawing/2014/main" id="{07415596-3C86-E792-A622-F817DB08D587}"/>
              </a:ext>
            </a:extLst>
          </p:cNvPr>
          <p:cNvPicPr>
            <a:picLocks noGrp="1" noChangeAspect="1"/>
          </p:cNvPicPr>
          <p:nvPr>
            <p:ph type="pic" idx="1"/>
          </p:nvPr>
        </p:nvPicPr>
        <p:blipFill rotWithShape="1">
          <a:blip r:embed="rId3" cstate="screen">
            <a:extLst>
              <a:ext uri="{28A0092B-C50C-407E-A947-70E740481C1C}">
                <a14:useLocalDpi xmlns:a14="http://schemas.microsoft.com/office/drawing/2010/main"/>
              </a:ext>
            </a:extLst>
          </a:blip>
          <a:srcRect t="24" b="24"/>
          <a:stretch/>
        </p:blipFill>
        <p:spPr/>
      </p:pic>
      <p:pic>
        <p:nvPicPr>
          <p:cNvPr id="10" name="Picture 4">
            <a:extLst>
              <a:ext uri="{FF2B5EF4-FFF2-40B4-BE49-F238E27FC236}">
                <a16:creationId xmlns:a16="http://schemas.microsoft.com/office/drawing/2014/main" id="{5DC4D19B-62A0-4ABD-81EA-0C723FE2D9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8567" r="38567"/>
          <a:stretch>
            <a:fillRect/>
          </a:stretch>
        </p:blipFill>
        <p:spPr bwMode="auto">
          <a:xfrm>
            <a:off x="6862194" y="-1"/>
            <a:ext cx="5329805" cy="6342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077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7375A-BEF9-1915-2476-BAD0403DF128}"/>
              </a:ext>
            </a:extLst>
          </p:cNvPr>
          <p:cNvSpPr>
            <a:spLocks noGrp="1"/>
          </p:cNvSpPr>
          <p:nvPr>
            <p:ph type="title"/>
          </p:nvPr>
        </p:nvSpPr>
        <p:spPr/>
        <p:txBody>
          <a:bodyPr/>
          <a:lstStyle/>
          <a:p>
            <a:r>
              <a:rPr lang="en-AU" dirty="0"/>
              <a:t>TIP …</a:t>
            </a:r>
          </a:p>
        </p:txBody>
      </p:sp>
      <p:sp>
        <p:nvSpPr>
          <p:cNvPr id="4" name="Date Placeholder 3">
            <a:extLst>
              <a:ext uri="{FF2B5EF4-FFF2-40B4-BE49-F238E27FC236}">
                <a16:creationId xmlns:a16="http://schemas.microsoft.com/office/drawing/2014/main" id="{EFB8F528-858B-8A49-C549-5CB2A717B187}"/>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CF10550E-0531-D6C0-7AEB-3DF0B367AA5A}"/>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DA98627D-3489-3486-D551-23B141DA872F}"/>
              </a:ext>
            </a:extLst>
          </p:cNvPr>
          <p:cNvSpPr>
            <a:spLocks noGrp="1"/>
          </p:cNvSpPr>
          <p:nvPr>
            <p:ph type="sldNum" sz="quarter" idx="12"/>
          </p:nvPr>
        </p:nvSpPr>
        <p:spPr/>
        <p:txBody>
          <a:bodyPr/>
          <a:lstStyle/>
          <a:p>
            <a:fld id="{58FB4751-880F-D840-AAA9-3A15815CC996}" type="slidenum">
              <a:rPr lang="en-US" smtClean="0"/>
              <a:t>7</a:t>
            </a:fld>
            <a:endParaRPr lang="en-US" dirty="0"/>
          </a:p>
        </p:txBody>
      </p:sp>
      <p:pic>
        <p:nvPicPr>
          <p:cNvPr id="7" name="Content Placeholder 10">
            <a:extLst>
              <a:ext uri="{FF2B5EF4-FFF2-40B4-BE49-F238E27FC236}">
                <a16:creationId xmlns:a16="http://schemas.microsoft.com/office/drawing/2014/main" id="{4D0DF5AF-981E-50A1-622A-7291E7B32C4F}"/>
              </a:ext>
            </a:extLst>
          </p:cNvPr>
          <p:cNvPicPr>
            <a:picLocks noGrp="1" noChangeAspect="1"/>
          </p:cNvPicPr>
          <p:nvPr>
            <p:ph idx="1"/>
          </p:nvPr>
        </p:nvPicPr>
        <p:blipFill>
          <a:blip r:embed="rId3"/>
          <a:stretch>
            <a:fillRect/>
          </a:stretch>
        </p:blipFill>
        <p:spPr>
          <a:xfrm>
            <a:off x="576263" y="2215394"/>
            <a:ext cx="9363075" cy="3249537"/>
          </a:xfrm>
          <a:prstGeom prst="rect">
            <a:avLst/>
          </a:prstGeom>
        </p:spPr>
      </p:pic>
    </p:spTree>
    <p:extLst>
      <p:ext uri="{BB962C8B-B14F-4D97-AF65-F5344CB8AC3E}">
        <p14:creationId xmlns:p14="http://schemas.microsoft.com/office/powerpoint/2010/main" val="1574100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5FEF437B-48ED-483E-3717-DA73F0A5C8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A6633D-59B3-3664-BADA-89E22AD761C4}"/>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AU" sz="1200">
              <a:solidFill>
                <a:prstClr val="black"/>
              </a:solidFill>
              <a:latin typeface="Calibri"/>
            </a:endParaRPr>
          </a:p>
        </p:txBody>
      </p:sp>
      <p:sp>
        <p:nvSpPr>
          <p:cNvPr id="3" name="Freeform 3">
            <a:extLst>
              <a:ext uri="{FF2B5EF4-FFF2-40B4-BE49-F238E27FC236}">
                <a16:creationId xmlns:a16="http://schemas.microsoft.com/office/drawing/2014/main" id="{1AC40783-7C87-324D-630C-8B8DE266143E}"/>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AU" sz="1200">
              <a:solidFill>
                <a:prstClr val="black"/>
              </a:solidFill>
              <a:latin typeface="Calibri"/>
            </a:endParaRPr>
          </a:p>
        </p:txBody>
      </p:sp>
      <p:sp>
        <p:nvSpPr>
          <p:cNvPr id="9" name="TextBox 9">
            <a:extLst>
              <a:ext uri="{FF2B5EF4-FFF2-40B4-BE49-F238E27FC236}">
                <a16:creationId xmlns:a16="http://schemas.microsoft.com/office/drawing/2014/main" id="{0E399978-5045-FA4F-5119-91D140F5F06A}"/>
              </a:ext>
            </a:extLst>
          </p:cNvPr>
          <p:cNvSpPr txBox="1"/>
          <p:nvPr/>
        </p:nvSpPr>
        <p:spPr>
          <a:xfrm>
            <a:off x="0" y="522733"/>
            <a:ext cx="12192000" cy="1260730"/>
          </a:xfrm>
          <a:prstGeom prst="rect">
            <a:avLst/>
          </a:prstGeom>
        </p:spPr>
        <p:txBody>
          <a:bodyPr wrap="square" lIns="0" tIns="0" rIns="0" bIns="0" rtlCol="0" anchor="t">
            <a:spAutoFit/>
          </a:bodyPr>
          <a:lstStyle/>
          <a:p>
            <a:pPr algn="ctr" defTabSz="609630">
              <a:lnSpc>
                <a:spcPts val="7181"/>
              </a:lnSpc>
            </a:pPr>
            <a:r>
              <a:rPr lang="en-US" sz="3600" spc="179" dirty="0">
                <a:solidFill>
                  <a:srgbClr val="000000"/>
                </a:solidFill>
                <a:latin typeface="Dynapuff Condensed"/>
                <a:ea typeface="Dynapuff Condensed"/>
                <a:cs typeface="Dynapuff Condensed"/>
                <a:sym typeface="Dynapuff Condensed"/>
              </a:rPr>
              <a:t>A symbol of Interconnectedness and Timelessness</a:t>
            </a:r>
          </a:p>
          <a:p>
            <a:pPr algn="ctr" defTabSz="609630">
              <a:lnSpc>
                <a:spcPts val="2799"/>
              </a:lnSpc>
              <a:spcBef>
                <a:spcPct val="0"/>
              </a:spcBef>
            </a:pPr>
            <a:endParaRPr lang="en-US" sz="2333" spc="69" dirty="0">
              <a:solidFill>
                <a:srgbClr val="000000"/>
              </a:solidFill>
              <a:latin typeface="Dynapuff Condensed"/>
              <a:ea typeface="Dynapuff Condensed"/>
              <a:cs typeface="Dynapuff Condensed"/>
              <a:sym typeface="Dynapuff Condensed"/>
            </a:endParaRPr>
          </a:p>
        </p:txBody>
      </p:sp>
      <p:pic>
        <p:nvPicPr>
          <p:cNvPr id="11" name="Picture 10" descr="A ball of yarn on a black surface&#10;&#10;AI-generated content may be incorrect.">
            <a:extLst>
              <a:ext uri="{FF2B5EF4-FFF2-40B4-BE49-F238E27FC236}">
                <a16:creationId xmlns:a16="http://schemas.microsoft.com/office/drawing/2014/main" id="{C7734184-F5D8-507D-C7EA-A0A7C5E5C7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447673" y="1355728"/>
            <a:ext cx="4470400" cy="4857747"/>
          </a:xfrm>
          <a:prstGeom prst="rect">
            <a:avLst/>
          </a:prstGeom>
        </p:spPr>
      </p:pic>
      <p:sp>
        <p:nvSpPr>
          <p:cNvPr id="12" name="TextBox 11">
            <a:extLst>
              <a:ext uri="{FF2B5EF4-FFF2-40B4-BE49-F238E27FC236}">
                <a16:creationId xmlns:a16="http://schemas.microsoft.com/office/drawing/2014/main" id="{A929DB1B-6995-EB03-5E83-21D6E1E1A9CE}"/>
              </a:ext>
            </a:extLst>
          </p:cNvPr>
          <p:cNvSpPr txBox="1"/>
          <p:nvPr/>
        </p:nvSpPr>
        <p:spPr>
          <a:xfrm>
            <a:off x="5486400" y="1785687"/>
            <a:ext cx="6045200" cy="3477234"/>
          </a:xfrm>
          <a:prstGeom prst="rect">
            <a:avLst/>
          </a:prstGeom>
          <a:noFill/>
        </p:spPr>
        <p:txBody>
          <a:bodyPr wrap="square" rtlCol="0">
            <a:spAutoFit/>
          </a:bodyPr>
          <a:lstStyle/>
          <a:p>
            <a:pPr marL="228611" indent="-228611" defTabSz="609630">
              <a:lnSpc>
                <a:spcPct val="150000"/>
              </a:lnSpc>
              <a:spcAft>
                <a:spcPts val="800"/>
              </a:spcAft>
              <a:buFont typeface="Courier New" panose="02070309020205020404" pitchFamily="49" charset="0"/>
              <a:buChar char="o"/>
            </a:pPr>
            <a:r>
              <a:rPr lang="en-AU" sz="1333" dirty="0">
                <a:solidFill>
                  <a:prstClr val="black"/>
                </a:solidFill>
                <a:latin typeface="Calibri"/>
              </a:rPr>
              <a:t>A symbol of </a:t>
            </a:r>
            <a:r>
              <a:rPr lang="en-AU" sz="1333" b="1" dirty="0">
                <a:solidFill>
                  <a:prstClr val="black"/>
                </a:solidFill>
                <a:latin typeface="Calibri"/>
              </a:rPr>
              <a:t>interconnectedness</a:t>
            </a:r>
            <a:r>
              <a:rPr lang="en-AU" sz="1333" dirty="0">
                <a:solidFill>
                  <a:prstClr val="black"/>
                </a:solidFill>
                <a:latin typeface="Calibri"/>
              </a:rPr>
              <a:t>—each flows into the next, representing the interwoven nature of Country, people, animals, plants, Ancestors, and spirit. We are reminded that </a:t>
            </a:r>
            <a:r>
              <a:rPr lang="en-AU" sz="1333" b="1" dirty="0">
                <a:solidFill>
                  <a:prstClr val="black"/>
                </a:solidFill>
                <a:latin typeface="Calibri"/>
              </a:rPr>
              <a:t>everything is connected through Country</a:t>
            </a:r>
            <a:r>
              <a:rPr lang="en-AU" sz="1333" dirty="0">
                <a:solidFill>
                  <a:prstClr val="black"/>
                </a:solidFill>
                <a:latin typeface="Calibri"/>
              </a:rPr>
              <a:t>.</a:t>
            </a:r>
          </a:p>
          <a:p>
            <a:pPr marL="228611" indent="-228611" defTabSz="609630">
              <a:lnSpc>
                <a:spcPct val="150000"/>
              </a:lnSpc>
              <a:spcAft>
                <a:spcPts val="800"/>
              </a:spcAft>
              <a:buFont typeface="Courier New" panose="02070309020205020404" pitchFamily="49" charset="0"/>
              <a:buChar char="o"/>
            </a:pPr>
            <a:r>
              <a:rPr lang="en-AU" sz="1333" dirty="0">
                <a:solidFill>
                  <a:prstClr val="black"/>
                </a:solidFill>
                <a:latin typeface="Calibri"/>
              </a:rPr>
              <a:t>Its round shape reflects </a:t>
            </a:r>
            <a:r>
              <a:rPr lang="en-AU" sz="1333" b="1" dirty="0">
                <a:solidFill>
                  <a:prstClr val="black"/>
                </a:solidFill>
                <a:latin typeface="Calibri"/>
              </a:rPr>
              <a:t>non-linear time</a:t>
            </a:r>
            <a:r>
              <a:rPr lang="en-AU" sz="1333" dirty="0">
                <a:solidFill>
                  <a:prstClr val="black"/>
                </a:solidFill>
                <a:latin typeface="Calibri"/>
              </a:rPr>
              <a:t>: past, present, and future exist together, guided by the Dreaming.</a:t>
            </a:r>
          </a:p>
          <a:p>
            <a:pPr marL="228611" indent="-228611" defTabSz="609630">
              <a:lnSpc>
                <a:spcPct val="150000"/>
              </a:lnSpc>
              <a:spcAft>
                <a:spcPts val="800"/>
              </a:spcAft>
              <a:buFont typeface="Courier New" panose="02070309020205020404" pitchFamily="49" charset="0"/>
              <a:buChar char="o"/>
            </a:pPr>
            <a:r>
              <a:rPr lang="en-AU" sz="1333" dirty="0">
                <a:solidFill>
                  <a:prstClr val="black"/>
                </a:solidFill>
                <a:latin typeface="Calibri"/>
              </a:rPr>
              <a:t>It reminds us that </a:t>
            </a:r>
            <a:r>
              <a:rPr lang="en-AU" sz="1333" b="1" dirty="0">
                <a:solidFill>
                  <a:prstClr val="black"/>
                </a:solidFill>
                <a:latin typeface="Calibri"/>
              </a:rPr>
              <a:t>everything is connected</a:t>
            </a:r>
            <a:r>
              <a:rPr lang="en-AU" sz="1333" dirty="0">
                <a:solidFill>
                  <a:prstClr val="black"/>
                </a:solidFill>
                <a:latin typeface="Calibri"/>
              </a:rPr>
              <a:t>, and our stories are always alive.</a:t>
            </a:r>
          </a:p>
          <a:p>
            <a:pPr marL="228611" indent="-228611" defTabSz="609630">
              <a:lnSpc>
                <a:spcPct val="150000"/>
              </a:lnSpc>
              <a:spcAft>
                <a:spcPts val="800"/>
              </a:spcAft>
              <a:buFont typeface="Courier New" panose="02070309020205020404" pitchFamily="49" charset="0"/>
              <a:buChar char="o"/>
            </a:pPr>
            <a:r>
              <a:rPr lang="en-AU" sz="1333" dirty="0">
                <a:solidFill>
                  <a:prstClr val="black"/>
                </a:solidFill>
                <a:latin typeface="Calibri"/>
              </a:rPr>
              <a:t>The colours shift and shimmer like the land itself—Holding this ball is like holding a piece of the Dreaming. It invites us to listen, to learn, and to walk gently with respect for all beings—</a:t>
            </a:r>
            <a:r>
              <a:rPr lang="en-AU" sz="1333" b="1" dirty="0">
                <a:solidFill>
                  <a:prstClr val="black"/>
                </a:solidFill>
                <a:latin typeface="Calibri"/>
              </a:rPr>
              <a:t>seen and unseen, past and present</a:t>
            </a:r>
            <a:r>
              <a:rPr lang="en-AU" sz="1333" dirty="0">
                <a:solidFill>
                  <a:prstClr val="black"/>
                </a:solidFill>
                <a:latin typeface="Calibri"/>
              </a:rPr>
              <a:t>.</a:t>
            </a:r>
          </a:p>
          <a:p>
            <a:pPr defTabSz="609630"/>
            <a:endParaRPr lang="en-AU" sz="1333" dirty="0">
              <a:solidFill>
                <a:prstClr val="black"/>
              </a:solidFill>
              <a:latin typeface="Calibri"/>
            </a:endParaRPr>
          </a:p>
        </p:txBody>
      </p:sp>
    </p:spTree>
    <p:extLst>
      <p:ext uri="{BB962C8B-B14F-4D97-AF65-F5344CB8AC3E}">
        <p14:creationId xmlns:p14="http://schemas.microsoft.com/office/powerpoint/2010/main" val="2316946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0F448DE-03E4-7867-AD01-F2066E14A0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141B67B-C470-3A15-773A-371071E97FA4}"/>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AU" sz="1200">
              <a:solidFill>
                <a:prstClr val="black"/>
              </a:solidFill>
              <a:latin typeface="Calibri"/>
            </a:endParaRPr>
          </a:p>
        </p:txBody>
      </p:sp>
      <p:sp>
        <p:nvSpPr>
          <p:cNvPr id="3" name="Freeform 3">
            <a:extLst>
              <a:ext uri="{FF2B5EF4-FFF2-40B4-BE49-F238E27FC236}">
                <a16:creationId xmlns:a16="http://schemas.microsoft.com/office/drawing/2014/main" id="{0247C1E0-50F6-0C26-36E7-7FDFA8F19517}"/>
              </a:ext>
            </a:extLst>
          </p:cNvPr>
          <p:cNvSpPr/>
          <p:nvPr/>
        </p:nvSpPr>
        <p:spPr>
          <a:xfrm>
            <a:off x="-722523" y="-444084"/>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defTabSz="609630"/>
            <a:endParaRPr lang="en-AU" sz="1200" dirty="0">
              <a:solidFill>
                <a:prstClr val="black"/>
              </a:solidFill>
              <a:latin typeface="Calibri"/>
            </a:endParaRPr>
          </a:p>
        </p:txBody>
      </p:sp>
      <p:sp>
        <p:nvSpPr>
          <p:cNvPr id="4" name="Freeform 4">
            <a:extLst>
              <a:ext uri="{FF2B5EF4-FFF2-40B4-BE49-F238E27FC236}">
                <a16:creationId xmlns:a16="http://schemas.microsoft.com/office/drawing/2014/main" id="{4FC810DA-0ED3-1D76-DD01-A0161D582EA2}"/>
              </a:ext>
            </a:extLst>
          </p:cNvPr>
          <p:cNvSpPr/>
          <p:nvPr/>
        </p:nvSpPr>
        <p:spPr>
          <a:xfrm rot="2044456">
            <a:off x="-671005" y="-1465528"/>
            <a:ext cx="2713611" cy="3564678"/>
          </a:xfrm>
          <a:custGeom>
            <a:avLst/>
            <a:gdLst/>
            <a:ahLst/>
            <a:cxnLst/>
            <a:rect l="l" t="t" r="r" b="b"/>
            <a:pathLst>
              <a:path w="4070417" h="5347017">
                <a:moveTo>
                  <a:pt x="0" y="0"/>
                </a:moveTo>
                <a:lnTo>
                  <a:pt x="4070416" y="0"/>
                </a:lnTo>
                <a:lnTo>
                  <a:pt x="4070416" y="5347017"/>
                </a:lnTo>
                <a:lnTo>
                  <a:pt x="0" y="5347017"/>
                </a:lnTo>
                <a:lnTo>
                  <a:pt x="0" y="0"/>
                </a:lnTo>
                <a:close/>
              </a:path>
            </a:pathLst>
          </a:custGeom>
          <a:blipFill>
            <a:blip r:embed="rId5"/>
            <a:stretch>
              <a:fillRect/>
            </a:stretch>
          </a:blipFill>
        </p:spPr>
        <p:txBody>
          <a:bodyPr/>
          <a:lstStyle/>
          <a:p>
            <a:pPr defTabSz="609630"/>
            <a:endParaRPr lang="en-AU" sz="1200">
              <a:solidFill>
                <a:prstClr val="black"/>
              </a:solidFill>
              <a:latin typeface="Calibri"/>
            </a:endParaRPr>
          </a:p>
        </p:txBody>
      </p:sp>
      <p:sp>
        <p:nvSpPr>
          <p:cNvPr id="6" name="TextBox 6">
            <a:extLst>
              <a:ext uri="{FF2B5EF4-FFF2-40B4-BE49-F238E27FC236}">
                <a16:creationId xmlns:a16="http://schemas.microsoft.com/office/drawing/2014/main" id="{EAA3D7E0-3442-3521-0C5C-03C97FD5D65F}"/>
              </a:ext>
            </a:extLst>
          </p:cNvPr>
          <p:cNvSpPr txBox="1"/>
          <p:nvPr/>
        </p:nvSpPr>
        <p:spPr>
          <a:xfrm>
            <a:off x="6092826" y="3324226"/>
            <a:ext cx="6350" cy="166712"/>
          </a:xfrm>
          <a:prstGeom prst="rect">
            <a:avLst/>
          </a:prstGeom>
        </p:spPr>
        <p:txBody>
          <a:bodyPr lIns="0" tIns="0" rIns="0" bIns="0" rtlCol="0" anchor="t">
            <a:spAutoFit/>
          </a:bodyPr>
          <a:lstStyle/>
          <a:p>
            <a:pPr algn="ctr" defTabSz="609630">
              <a:lnSpc>
                <a:spcPts val="1280"/>
              </a:lnSpc>
              <a:spcBef>
                <a:spcPct val="0"/>
              </a:spcBef>
            </a:pPr>
            <a:endParaRPr sz="1200">
              <a:solidFill>
                <a:prstClr val="black"/>
              </a:solidFill>
              <a:latin typeface="Calibri"/>
            </a:endParaRPr>
          </a:p>
        </p:txBody>
      </p:sp>
      <p:sp>
        <p:nvSpPr>
          <p:cNvPr id="7" name="TextBox 6">
            <a:extLst>
              <a:ext uri="{FF2B5EF4-FFF2-40B4-BE49-F238E27FC236}">
                <a16:creationId xmlns:a16="http://schemas.microsoft.com/office/drawing/2014/main" id="{0DB9DFAE-3C9E-6640-E251-72345231A4CA}"/>
              </a:ext>
            </a:extLst>
          </p:cNvPr>
          <p:cNvSpPr txBox="1"/>
          <p:nvPr/>
        </p:nvSpPr>
        <p:spPr>
          <a:xfrm>
            <a:off x="2808245" y="533400"/>
            <a:ext cx="8310605" cy="707886"/>
          </a:xfrm>
          <a:prstGeom prst="rect">
            <a:avLst/>
          </a:prstGeom>
          <a:noFill/>
        </p:spPr>
        <p:txBody>
          <a:bodyPr wrap="square" rtlCol="0">
            <a:spAutoFit/>
          </a:bodyPr>
          <a:lstStyle/>
          <a:p>
            <a:pPr defTabSz="609630"/>
            <a:r>
              <a:rPr lang="en-US" sz="4000" dirty="0">
                <a:solidFill>
                  <a:prstClr val="black"/>
                </a:solidFill>
                <a:latin typeface="Calibri"/>
              </a:rPr>
              <a:t>4 R’s Differences but Commonalities</a:t>
            </a:r>
            <a:endParaRPr lang="en-AU" sz="4000" dirty="0">
              <a:solidFill>
                <a:prstClr val="black"/>
              </a:solidFill>
              <a:latin typeface="Calibri"/>
            </a:endParaRPr>
          </a:p>
        </p:txBody>
      </p:sp>
      <p:pic>
        <p:nvPicPr>
          <p:cNvPr id="8" name="Picture 7" descr="A close-up of words&#10;&#10;AI-generated content may be incorrect.">
            <a:extLst>
              <a:ext uri="{FF2B5EF4-FFF2-40B4-BE49-F238E27FC236}">
                <a16:creationId xmlns:a16="http://schemas.microsoft.com/office/drawing/2014/main" id="{EC93520B-20A3-94DC-BD08-B5D0FE4040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4001" y="1669457"/>
            <a:ext cx="8813047" cy="4415879"/>
          </a:xfrm>
          <a:prstGeom prst="rect">
            <a:avLst/>
          </a:prstGeom>
        </p:spPr>
      </p:pic>
    </p:spTree>
    <p:extLst>
      <p:ext uri="{BB962C8B-B14F-4D97-AF65-F5344CB8AC3E}">
        <p14:creationId xmlns:p14="http://schemas.microsoft.com/office/powerpoint/2010/main" val="1197195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Freeform 2"/>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defTabSz="609630"/>
            <a:endParaRPr lang="en-AU" sz="1200">
              <a:solidFill>
                <a:prstClr val="black"/>
              </a:solidFill>
              <a:latin typeface="Calibri"/>
            </a:endParaRPr>
          </a:p>
        </p:txBody>
      </p:sp>
      <p:sp>
        <p:nvSpPr>
          <p:cNvPr id="3" name="Freeform 3"/>
          <p:cNvSpPr/>
          <p:nvPr/>
        </p:nvSpPr>
        <p:spPr>
          <a:xfrm>
            <a:off x="-812800" y="-737270"/>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defTabSz="609630"/>
            <a:endParaRPr lang="en-AU" sz="1200" dirty="0">
              <a:solidFill>
                <a:prstClr val="black"/>
              </a:solidFill>
              <a:latin typeface="Calibri"/>
            </a:endParaRPr>
          </a:p>
        </p:txBody>
      </p:sp>
      <p:sp>
        <p:nvSpPr>
          <p:cNvPr id="4" name="Freeform 4"/>
          <p:cNvSpPr/>
          <p:nvPr/>
        </p:nvSpPr>
        <p:spPr>
          <a:xfrm rot="2044456">
            <a:off x="-671005" y="-1465528"/>
            <a:ext cx="2713611" cy="3564678"/>
          </a:xfrm>
          <a:custGeom>
            <a:avLst/>
            <a:gdLst/>
            <a:ahLst/>
            <a:cxnLst/>
            <a:rect l="l" t="t" r="r" b="b"/>
            <a:pathLst>
              <a:path w="4070417" h="5347017">
                <a:moveTo>
                  <a:pt x="0" y="0"/>
                </a:moveTo>
                <a:lnTo>
                  <a:pt x="4070416" y="0"/>
                </a:lnTo>
                <a:lnTo>
                  <a:pt x="4070416" y="5347017"/>
                </a:lnTo>
                <a:lnTo>
                  <a:pt x="0" y="5347017"/>
                </a:lnTo>
                <a:lnTo>
                  <a:pt x="0" y="0"/>
                </a:lnTo>
                <a:close/>
              </a:path>
            </a:pathLst>
          </a:custGeom>
          <a:blipFill>
            <a:blip r:embed="rId7"/>
            <a:stretch>
              <a:fillRect/>
            </a:stretch>
          </a:blipFill>
        </p:spPr>
        <p:txBody>
          <a:bodyPr/>
          <a:lstStyle/>
          <a:p>
            <a:pPr defTabSz="609630"/>
            <a:endParaRPr lang="en-AU" sz="1200">
              <a:solidFill>
                <a:prstClr val="black"/>
              </a:solidFill>
              <a:latin typeface="Calibri"/>
            </a:endParaRPr>
          </a:p>
        </p:txBody>
      </p:sp>
      <p:sp>
        <p:nvSpPr>
          <p:cNvPr id="6" name="TextBox 6"/>
          <p:cNvSpPr txBox="1"/>
          <p:nvPr/>
        </p:nvSpPr>
        <p:spPr>
          <a:xfrm>
            <a:off x="6092826" y="3324226"/>
            <a:ext cx="6350" cy="166712"/>
          </a:xfrm>
          <a:prstGeom prst="rect">
            <a:avLst/>
          </a:prstGeom>
        </p:spPr>
        <p:txBody>
          <a:bodyPr lIns="0" tIns="0" rIns="0" bIns="0" rtlCol="0" anchor="t">
            <a:spAutoFit/>
          </a:bodyPr>
          <a:lstStyle/>
          <a:p>
            <a:pPr algn="ctr" defTabSz="609630">
              <a:lnSpc>
                <a:spcPts val="1280"/>
              </a:lnSpc>
              <a:spcBef>
                <a:spcPct val="0"/>
              </a:spcBef>
            </a:pPr>
            <a:endParaRPr sz="1200">
              <a:solidFill>
                <a:prstClr val="black"/>
              </a:solidFill>
              <a:latin typeface="Calibri"/>
            </a:endParaRPr>
          </a:p>
        </p:txBody>
      </p:sp>
      <p:sp>
        <p:nvSpPr>
          <p:cNvPr id="7" name="TextBox 6">
            <a:extLst>
              <a:ext uri="{FF2B5EF4-FFF2-40B4-BE49-F238E27FC236}">
                <a16:creationId xmlns:a16="http://schemas.microsoft.com/office/drawing/2014/main" id="{E604F3BD-3BA3-03B8-99F5-D26460A7E829}"/>
              </a:ext>
            </a:extLst>
          </p:cNvPr>
          <p:cNvSpPr txBox="1"/>
          <p:nvPr/>
        </p:nvSpPr>
        <p:spPr>
          <a:xfrm>
            <a:off x="2796370" y="46679"/>
            <a:ext cx="8310605" cy="707886"/>
          </a:xfrm>
          <a:prstGeom prst="rect">
            <a:avLst/>
          </a:prstGeom>
          <a:noFill/>
        </p:spPr>
        <p:txBody>
          <a:bodyPr wrap="square" rtlCol="0">
            <a:spAutoFit/>
          </a:bodyPr>
          <a:lstStyle/>
          <a:p>
            <a:pPr defTabSz="609630"/>
            <a:r>
              <a:rPr lang="en-US" sz="4000" dirty="0">
                <a:solidFill>
                  <a:prstClr val="black"/>
                </a:solidFill>
                <a:latin typeface="Calibri"/>
              </a:rPr>
              <a:t>Magpie Story – Differing worldviews</a:t>
            </a:r>
            <a:endParaRPr lang="en-AU" sz="4000" dirty="0">
              <a:solidFill>
                <a:prstClr val="black"/>
              </a:solidFill>
              <a:latin typeface="Calibri"/>
            </a:endParaRPr>
          </a:p>
        </p:txBody>
      </p:sp>
      <p:sp>
        <p:nvSpPr>
          <p:cNvPr id="10" name="TextBox 9">
            <a:extLst>
              <a:ext uri="{FF2B5EF4-FFF2-40B4-BE49-F238E27FC236}">
                <a16:creationId xmlns:a16="http://schemas.microsoft.com/office/drawing/2014/main" id="{A93BA0BC-6AA9-ED88-DF29-8B49E834219E}"/>
              </a:ext>
            </a:extLst>
          </p:cNvPr>
          <p:cNvSpPr txBox="1"/>
          <p:nvPr/>
        </p:nvSpPr>
        <p:spPr>
          <a:xfrm>
            <a:off x="0" y="5870226"/>
            <a:ext cx="5130800" cy="1015663"/>
          </a:xfrm>
          <a:prstGeom prst="rect">
            <a:avLst/>
          </a:prstGeom>
          <a:noFill/>
        </p:spPr>
        <p:txBody>
          <a:bodyPr wrap="square" rtlCol="0">
            <a:spAutoFit/>
          </a:bodyPr>
          <a:lstStyle/>
          <a:p>
            <a:pPr defTabSz="609630"/>
            <a:r>
              <a:rPr lang="en-AU" sz="1200" dirty="0">
                <a:solidFill>
                  <a:prstClr val="black"/>
                </a:solidFill>
                <a:latin typeface="Aptos" panose="02110004020202020204"/>
              </a:rPr>
              <a:t>Magpie Image: </a:t>
            </a:r>
            <a:r>
              <a:rPr lang="en-AU" sz="1200" dirty="0">
                <a:solidFill>
                  <a:prstClr val="black"/>
                </a:solidFill>
                <a:latin typeface="Calibri"/>
                <a:hlinkClick r:id="rId8"/>
              </a:rPr>
              <a:t>A bird standing on a railing photo – Free Bird Image on </a:t>
            </a:r>
            <a:r>
              <a:rPr lang="en-AU" sz="1200" dirty="0" err="1">
                <a:solidFill>
                  <a:prstClr val="black"/>
                </a:solidFill>
                <a:latin typeface="Calibri"/>
                <a:hlinkClick r:id="rId8"/>
              </a:rPr>
              <a:t>Unsplash</a:t>
            </a:r>
            <a:endParaRPr lang="en-AU" sz="1200" dirty="0">
              <a:solidFill>
                <a:prstClr val="black"/>
              </a:solidFill>
              <a:latin typeface="Calibri"/>
            </a:endParaRPr>
          </a:p>
          <a:p>
            <a:pPr defTabSz="609630"/>
            <a:endParaRPr lang="en-AU" sz="1200" dirty="0">
              <a:solidFill>
                <a:prstClr val="black"/>
              </a:solidFill>
              <a:latin typeface="Aptos" panose="02110004020202020204"/>
            </a:endParaRPr>
          </a:p>
          <a:p>
            <a:pPr defTabSz="609630"/>
            <a:r>
              <a:rPr lang="en-AU" sz="1200" dirty="0">
                <a:solidFill>
                  <a:prstClr val="black"/>
                </a:solidFill>
                <a:latin typeface="Aptos" panose="02110004020202020204"/>
              </a:rPr>
              <a:t>Story shared by Nicole Tujague &amp; Kelleigh Ryan, 2023, p. 47</a:t>
            </a:r>
          </a:p>
          <a:p>
            <a:pPr defTabSz="609630"/>
            <a:endParaRPr lang="en-AU" sz="1200" dirty="0">
              <a:solidFill>
                <a:prstClr val="black"/>
              </a:solidFill>
              <a:latin typeface="Calibri"/>
            </a:endParaRPr>
          </a:p>
        </p:txBody>
      </p:sp>
      <p:sp>
        <p:nvSpPr>
          <p:cNvPr id="11" name="TextBox 10">
            <a:extLst>
              <a:ext uri="{FF2B5EF4-FFF2-40B4-BE49-F238E27FC236}">
                <a16:creationId xmlns:a16="http://schemas.microsoft.com/office/drawing/2014/main" id="{4AC4BBA0-1936-798D-4DA6-0566145687A0}"/>
              </a:ext>
            </a:extLst>
          </p:cNvPr>
          <p:cNvSpPr txBox="1"/>
          <p:nvPr/>
        </p:nvSpPr>
        <p:spPr>
          <a:xfrm>
            <a:off x="7432126" y="5870227"/>
            <a:ext cx="5437809" cy="646331"/>
          </a:xfrm>
          <a:prstGeom prst="rect">
            <a:avLst/>
          </a:prstGeom>
          <a:noFill/>
        </p:spPr>
        <p:txBody>
          <a:bodyPr wrap="square" rtlCol="0">
            <a:spAutoFit/>
          </a:bodyPr>
          <a:lstStyle/>
          <a:p>
            <a:pPr defTabSz="609630"/>
            <a:r>
              <a:rPr lang="en-AU" sz="1200" dirty="0">
                <a:solidFill>
                  <a:prstClr val="black"/>
                </a:solidFill>
                <a:latin typeface="Aptos" panose="02110004020202020204"/>
              </a:rPr>
              <a:t>Crow Image: </a:t>
            </a:r>
            <a:r>
              <a:rPr lang="en-AU" sz="1200" dirty="0">
                <a:solidFill>
                  <a:prstClr val="black"/>
                </a:solidFill>
                <a:latin typeface="Calibri"/>
                <a:hlinkClick r:id="rId9"/>
              </a:rPr>
              <a:t>Torresian Crow | Corvus </a:t>
            </a:r>
            <a:r>
              <a:rPr lang="en-AU" sz="1200" dirty="0" err="1">
                <a:solidFill>
                  <a:prstClr val="black"/>
                </a:solidFill>
                <a:latin typeface="Calibri"/>
                <a:hlinkClick r:id="rId9"/>
              </a:rPr>
              <a:t>orru</a:t>
            </a:r>
            <a:r>
              <a:rPr lang="en-AU" sz="1200" dirty="0">
                <a:solidFill>
                  <a:prstClr val="black"/>
                </a:solidFill>
                <a:latin typeface="Calibri"/>
                <a:hlinkClick r:id="rId9"/>
              </a:rPr>
              <a:t> | Black Bird | </a:t>
            </a:r>
            <a:r>
              <a:rPr lang="en-AU" sz="1200" dirty="0" err="1">
                <a:solidFill>
                  <a:prstClr val="black"/>
                </a:solidFill>
                <a:latin typeface="Calibri"/>
                <a:hlinkClick r:id="rId9"/>
              </a:rPr>
              <a:t>BioExplorer</a:t>
            </a:r>
            <a:endParaRPr lang="en-AU" sz="1200" dirty="0">
              <a:solidFill>
                <a:prstClr val="black"/>
              </a:solidFill>
              <a:latin typeface="Calibri"/>
            </a:endParaRPr>
          </a:p>
          <a:p>
            <a:pPr defTabSz="609630"/>
            <a:endParaRPr lang="en-AU" sz="1200" dirty="0">
              <a:solidFill>
                <a:prstClr val="black"/>
              </a:solidFill>
              <a:latin typeface="Aptos" panose="02110004020202020204"/>
            </a:endParaRPr>
          </a:p>
          <a:p>
            <a:pPr defTabSz="609630"/>
            <a:endParaRPr lang="en-AU" sz="1200" dirty="0">
              <a:solidFill>
                <a:prstClr val="black"/>
              </a:solidFill>
              <a:latin typeface="Calibri"/>
            </a:endParaRPr>
          </a:p>
        </p:txBody>
      </p:sp>
      <p:pic>
        <p:nvPicPr>
          <p:cNvPr id="13" name="Picture 12" descr="A black bird standing on dirt&#10;&#10;AI-generated content may be incorrect.">
            <a:extLst>
              <a:ext uri="{FF2B5EF4-FFF2-40B4-BE49-F238E27FC236}">
                <a16:creationId xmlns:a16="http://schemas.microsoft.com/office/drawing/2014/main" id="{A7E8DC22-929E-46BD-D8C3-14F4AA682EE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flipH="1">
            <a:off x="7432126" y="795687"/>
            <a:ext cx="3674848" cy="4882184"/>
          </a:xfrm>
          <a:prstGeom prst="rect">
            <a:avLst/>
          </a:prstGeom>
        </p:spPr>
      </p:pic>
      <p:pic>
        <p:nvPicPr>
          <p:cNvPr id="15" name="Picture 14" descr="A black and white bird standing on a rail&#10;&#10;AI-generated content may be incorrect.">
            <a:extLst>
              <a:ext uri="{FF2B5EF4-FFF2-40B4-BE49-F238E27FC236}">
                <a16:creationId xmlns:a16="http://schemas.microsoft.com/office/drawing/2014/main" id="{98DCF7B4-B170-5BCA-A06D-D7D2D56EE8A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flipH="1">
            <a:off x="1172419" y="960661"/>
            <a:ext cx="3674848" cy="4721221"/>
          </a:xfrm>
          <a:prstGeom prst="rect">
            <a:avLst/>
          </a:prstGeom>
        </p:spPr>
      </p:pic>
      <p:pic>
        <p:nvPicPr>
          <p:cNvPr id="5" name="Magpie &amp; Crow talk">
            <a:hlinkClick r:id="" action="ppaction://media"/>
            <a:extLst>
              <a:ext uri="{FF2B5EF4-FFF2-40B4-BE49-F238E27FC236}">
                <a16:creationId xmlns:a16="http://schemas.microsoft.com/office/drawing/2014/main" id="{D1DDCC06-0AFB-ADA9-1683-D2CDF2ADE961}"/>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5840663" y="5925193"/>
            <a:ext cx="406400" cy="40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674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24242">
                <p:cTn id="7" fill="hold" display="0">
                  <p:stCondLst>
                    <p:cond delay="indefinite"/>
                  </p:stCondLst>
                  <p:endCondLst>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380C4-E09C-BD8D-41FC-CB9D92BEC6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22417D-5AC8-1B23-5D87-1D6E04D7C7F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AU" sz="1200">
              <a:solidFill>
                <a:prstClr val="black"/>
              </a:solidFill>
              <a:latin typeface="Calibri"/>
            </a:endParaRPr>
          </a:p>
        </p:txBody>
      </p:sp>
      <p:sp>
        <p:nvSpPr>
          <p:cNvPr id="3" name="Freeform 3">
            <a:extLst>
              <a:ext uri="{FF2B5EF4-FFF2-40B4-BE49-F238E27FC236}">
                <a16:creationId xmlns:a16="http://schemas.microsoft.com/office/drawing/2014/main" id="{23A57970-A33A-9735-A301-8054D7B3D235}"/>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AU" sz="1200">
              <a:solidFill>
                <a:prstClr val="black"/>
              </a:solidFill>
              <a:latin typeface="Calibri"/>
            </a:endParaRPr>
          </a:p>
        </p:txBody>
      </p:sp>
      <p:sp>
        <p:nvSpPr>
          <p:cNvPr id="9" name="TextBox 9">
            <a:extLst>
              <a:ext uri="{FF2B5EF4-FFF2-40B4-BE49-F238E27FC236}">
                <a16:creationId xmlns:a16="http://schemas.microsoft.com/office/drawing/2014/main" id="{01FA30A4-6EE5-2BF2-456E-CA3E17296387}"/>
              </a:ext>
            </a:extLst>
          </p:cNvPr>
          <p:cNvSpPr txBox="1"/>
          <p:nvPr/>
        </p:nvSpPr>
        <p:spPr>
          <a:xfrm>
            <a:off x="0" y="522733"/>
            <a:ext cx="12192000" cy="1260730"/>
          </a:xfrm>
          <a:prstGeom prst="rect">
            <a:avLst/>
          </a:prstGeom>
        </p:spPr>
        <p:txBody>
          <a:bodyPr wrap="square" lIns="0" tIns="0" rIns="0" bIns="0" rtlCol="0" anchor="t">
            <a:spAutoFit/>
          </a:bodyPr>
          <a:lstStyle/>
          <a:p>
            <a:pPr algn="ctr" defTabSz="609630">
              <a:lnSpc>
                <a:spcPts val="7181"/>
              </a:lnSpc>
            </a:pPr>
            <a:r>
              <a:rPr lang="en-US" sz="3600" spc="179" dirty="0">
                <a:solidFill>
                  <a:srgbClr val="000000"/>
                </a:solidFill>
                <a:latin typeface="Dynapuff Condensed"/>
                <a:ea typeface="Dynapuff Condensed"/>
                <a:cs typeface="Dynapuff Condensed"/>
                <a:sym typeface="Dynapuff Condensed"/>
              </a:rPr>
              <a:t>A symbol of Interconnectedness and Timelessness</a:t>
            </a:r>
          </a:p>
          <a:p>
            <a:pPr algn="ctr" defTabSz="609630">
              <a:lnSpc>
                <a:spcPts val="2799"/>
              </a:lnSpc>
              <a:spcBef>
                <a:spcPct val="0"/>
              </a:spcBef>
            </a:pPr>
            <a:endParaRPr lang="en-US" sz="2333" spc="69" dirty="0">
              <a:solidFill>
                <a:srgbClr val="000000"/>
              </a:solidFill>
              <a:latin typeface="Dynapuff Condensed"/>
              <a:ea typeface="Dynapuff Condensed"/>
              <a:cs typeface="Dynapuff Condensed"/>
              <a:sym typeface="Dynapuff Condensed"/>
            </a:endParaRPr>
          </a:p>
        </p:txBody>
      </p:sp>
      <p:pic>
        <p:nvPicPr>
          <p:cNvPr id="11" name="Picture 10" descr="A ball of yarn on a black surface&#10;&#10;AI-generated content may be incorrect.">
            <a:extLst>
              <a:ext uri="{FF2B5EF4-FFF2-40B4-BE49-F238E27FC236}">
                <a16:creationId xmlns:a16="http://schemas.microsoft.com/office/drawing/2014/main" id="{F90A109D-6FEB-60C3-FDAB-51B795ACA1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447673" y="1355728"/>
            <a:ext cx="4470400" cy="4857747"/>
          </a:xfrm>
          <a:prstGeom prst="rect">
            <a:avLst/>
          </a:prstGeom>
        </p:spPr>
      </p:pic>
      <p:sp>
        <p:nvSpPr>
          <p:cNvPr id="12" name="TextBox 11">
            <a:extLst>
              <a:ext uri="{FF2B5EF4-FFF2-40B4-BE49-F238E27FC236}">
                <a16:creationId xmlns:a16="http://schemas.microsoft.com/office/drawing/2014/main" id="{F7B4BB1F-1A20-F921-877E-48C8C9247EB8}"/>
              </a:ext>
            </a:extLst>
          </p:cNvPr>
          <p:cNvSpPr txBox="1"/>
          <p:nvPr/>
        </p:nvSpPr>
        <p:spPr>
          <a:xfrm>
            <a:off x="5486400" y="1785687"/>
            <a:ext cx="6045200" cy="3477234"/>
          </a:xfrm>
          <a:prstGeom prst="rect">
            <a:avLst/>
          </a:prstGeom>
          <a:noFill/>
        </p:spPr>
        <p:txBody>
          <a:bodyPr wrap="square" rtlCol="0">
            <a:spAutoFit/>
          </a:bodyPr>
          <a:lstStyle/>
          <a:p>
            <a:pPr marL="228611" indent="-228611" defTabSz="609630">
              <a:lnSpc>
                <a:spcPct val="150000"/>
              </a:lnSpc>
              <a:spcAft>
                <a:spcPts val="800"/>
              </a:spcAft>
              <a:buFont typeface="Courier New" panose="02070309020205020404" pitchFamily="49" charset="0"/>
              <a:buChar char="o"/>
            </a:pPr>
            <a:r>
              <a:rPr lang="en-AU" sz="1333" dirty="0">
                <a:solidFill>
                  <a:prstClr val="black"/>
                </a:solidFill>
                <a:latin typeface="Calibri"/>
              </a:rPr>
              <a:t>A symbol of </a:t>
            </a:r>
            <a:r>
              <a:rPr lang="en-AU" sz="1333" b="1" dirty="0">
                <a:solidFill>
                  <a:prstClr val="black"/>
                </a:solidFill>
                <a:latin typeface="Calibri"/>
              </a:rPr>
              <a:t>interconnectedness</a:t>
            </a:r>
            <a:r>
              <a:rPr lang="en-AU" sz="1333" dirty="0">
                <a:solidFill>
                  <a:prstClr val="black"/>
                </a:solidFill>
                <a:latin typeface="Calibri"/>
              </a:rPr>
              <a:t>—each flows into the next, representing the interwoven nature of Country, people, animals, plants, Ancestors, and spirit. We are reminded that </a:t>
            </a:r>
            <a:r>
              <a:rPr lang="en-AU" sz="1333" b="1" dirty="0">
                <a:solidFill>
                  <a:prstClr val="black"/>
                </a:solidFill>
                <a:latin typeface="Calibri"/>
              </a:rPr>
              <a:t>everything is connected through Country</a:t>
            </a:r>
            <a:r>
              <a:rPr lang="en-AU" sz="1333" dirty="0">
                <a:solidFill>
                  <a:prstClr val="black"/>
                </a:solidFill>
                <a:latin typeface="Calibri"/>
              </a:rPr>
              <a:t>.</a:t>
            </a:r>
          </a:p>
          <a:p>
            <a:pPr marL="228611" indent="-228611" defTabSz="609630">
              <a:lnSpc>
                <a:spcPct val="150000"/>
              </a:lnSpc>
              <a:spcAft>
                <a:spcPts val="800"/>
              </a:spcAft>
              <a:buFont typeface="Courier New" panose="02070309020205020404" pitchFamily="49" charset="0"/>
              <a:buChar char="o"/>
            </a:pPr>
            <a:r>
              <a:rPr lang="en-AU" sz="1333" dirty="0">
                <a:solidFill>
                  <a:prstClr val="black"/>
                </a:solidFill>
                <a:latin typeface="Calibri"/>
              </a:rPr>
              <a:t>Its round shape reflects </a:t>
            </a:r>
            <a:r>
              <a:rPr lang="en-AU" sz="1333" b="1" dirty="0">
                <a:solidFill>
                  <a:prstClr val="black"/>
                </a:solidFill>
                <a:latin typeface="Calibri"/>
              </a:rPr>
              <a:t>non-linear time</a:t>
            </a:r>
            <a:r>
              <a:rPr lang="en-AU" sz="1333" dirty="0">
                <a:solidFill>
                  <a:prstClr val="black"/>
                </a:solidFill>
                <a:latin typeface="Calibri"/>
              </a:rPr>
              <a:t>: past, present, and future exist together, guided by the Dreaming.</a:t>
            </a:r>
          </a:p>
          <a:p>
            <a:pPr marL="228611" indent="-228611" defTabSz="609630">
              <a:lnSpc>
                <a:spcPct val="150000"/>
              </a:lnSpc>
              <a:spcAft>
                <a:spcPts val="800"/>
              </a:spcAft>
              <a:buFont typeface="Courier New" panose="02070309020205020404" pitchFamily="49" charset="0"/>
              <a:buChar char="o"/>
            </a:pPr>
            <a:r>
              <a:rPr lang="en-AU" sz="1333" dirty="0">
                <a:solidFill>
                  <a:prstClr val="black"/>
                </a:solidFill>
                <a:latin typeface="Calibri"/>
              </a:rPr>
              <a:t>It reminds us that </a:t>
            </a:r>
            <a:r>
              <a:rPr lang="en-AU" sz="1333" b="1" dirty="0">
                <a:solidFill>
                  <a:prstClr val="black"/>
                </a:solidFill>
                <a:latin typeface="Calibri"/>
              </a:rPr>
              <a:t>everything is connected</a:t>
            </a:r>
            <a:r>
              <a:rPr lang="en-AU" sz="1333" dirty="0">
                <a:solidFill>
                  <a:prstClr val="black"/>
                </a:solidFill>
                <a:latin typeface="Calibri"/>
              </a:rPr>
              <a:t>, and our stories are always alive.</a:t>
            </a:r>
          </a:p>
          <a:p>
            <a:pPr marL="228611" indent="-228611" defTabSz="609630">
              <a:lnSpc>
                <a:spcPct val="150000"/>
              </a:lnSpc>
              <a:spcAft>
                <a:spcPts val="800"/>
              </a:spcAft>
              <a:buFont typeface="Courier New" panose="02070309020205020404" pitchFamily="49" charset="0"/>
              <a:buChar char="o"/>
            </a:pPr>
            <a:r>
              <a:rPr lang="en-AU" sz="1333" dirty="0">
                <a:solidFill>
                  <a:prstClr val="black"/>
                </a:solidFill>
                <a:latin typeface="Calibri"/>
              </a:rPr>
              <a:t>The colours shift and shimmer like the land itself—Holding this ball is like holding a piece of the Dreaming. It invites us to listen, to learn, and to walk gently with respect for all beings—</a:t>
            </a:r>
            <a:r>
              <a:rPr lang="en-AU" sz="1333" b="1" dirty="0">
                <a:solidFill>
                  <a:prstClr val="black"/>
                </a:solidFill>
                <a:latin typeface="Calibri"/>
              </a:rPr>
              <a:t>seen and unseen, past and present</a:t>
            </a:r>
            <a:r>
              <a:rPr lang="en-AU" sz="1333" dirty="0">
                <a:solidFill>
                  <a:prstClr val="black"/>
                </a:solidFill>
                <a:latin typeface="Calibri"/>
              </a:rPr>
              <a:t>.</a:t>
            </a:r>
          </a:p>
          <a:p>
            <a:pPr defTabSz="609630"/>
            <a:endParaRPr lang="en-AU" sz="1333" dirty="0">
              <a:solidFill>
                <a:prstClr val="black"/>
              </a:solidFill>
              <a:latin typeface="Calibri"/>
            </a:endParaRPr>
          </a:p>
        </p:txBody>
      </p:sp>
    </p:spTree>
    <p:extLst>
      <p:ext uri="{BB962C8B-B14F-4D97-AF65-F5344CB8AC3E}">
        <p14:creationId xmlns:p14="http://schemas.microsoft.com/office/powerpoint/2010/main" val="812273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476FC62-9836-3019-53C9-2341A1C630B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7D2EE6-8B93-5283-0F18-BF59DACB21B8}"/>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0BE7CD52-4042-87E6-DCCB-596AD3C0C1B8}"/>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87372810-83FC-6ACC-E8D5-302566F35A70}"/>
              </a:ext>
            </a:extLst>
          </p:cNvPr>
          <p:cNvSpPr txBox="1"/>
          <p:nvPr/>
        </p:nvSpPr>
        <p:spPr>
          <a:xfrm>
            <a:off x="0" y="522733"/>
            <a:ext cx="12192000" cy="923330"/>
          </a:xfrm>
          <a:prstGeom prst="rect">
            <a:avLst/>
          </a:prstGeom>
        </p:spPr>
        <p:txBody>
          <a:bodyPr wrap="square" lIns="0" tIns="0" rIns="0" bIns="0" rtlCol="0" anchor="t">
            <a:spAutoFit/>
          </a:bodyPr>
          <a:lstStyle/>
          <a:p>
            <a:pPr algn="ctr" defTabSz="609630"/>
            <a:r>
              <a:rPr lang="en-AU" sz="2000" b="1" dirty="0">
                <a:solidFill>
                  <a:srgbClr val="4C5131"/>
                </a:solidFill>
              </a:rPr>
              <a:t>Mapping Module to grass-roots, community-led Indigenous frameworks and approaches</a:t>
            </a:r>
          </a:p>
          <a:p>
            <a:pPr lvl="0" algn="ctr" defTabSz="609630"/>
            <a:r>
              <a:rPr lang="en-AU" sz="2000" i="1" dirty="0"/>
              <a:t>Australian Institute of Health and Welfare (AIHW) 2023 – </a:t>
            </a:r>
            <a:r>
              <a:rPr lang="en-AU" sz="2000" dirty="0"/>
              <a:t>Cultural Safety in Health Care for Indigenous Australians: Monitoring Framework</a:t>
            </a:r>
            <a:endParaRPr kumimoji="0" lang="en-US" sz="2000" b="0" i="0" u="none" strike="noStrike" kern="1200" cap="none" spc="69" normalizeH="0" baseline="0" noProof="0" dirty="0">
              <a:ln>
                <a:noFill/>
              </a:ln>
              <a:solidFill>
                <a:srgbClr val="000000"/>
              </a:solidFill>
              <a:effectLst/>
              <a:uLnTx/>
              <a:uFillTx/>
              <a:latin typeface="Dynapuff Condensed"/>
              <a:ea typeface="Dynapuff Condensed"/>
              <a:cs typeface="Dynapuff Condensed"/>
              <a:sym typeface="Dynapuff Condensed"/>
            </a:endParaRPr>
          </a:p>
        </p:txBody>
      </p:sp>
      <p:pic>
        <p:nvPicPr>
          <p:cNvPr id="5" name="Picture 4">
            <a:extLst>
              <a:ext uri="{FF2B5EF4-FFF2-40B4-BE49-F238E27FC236}">
                <a16:creationId xmlns:a16="http://schemas.microsoft.com/office/drawing/2014/main" id="{902BC27D-28DC-8E6D-1DAB-5FB36C091832}"/>
              </a:ext>
            </a:extLst>
          </p:cNvPr>
          <p:cNvPicPr>
            <a:picLocks noChangeAspect="1"/>
          </p:cNvPicPr>
          <p:nvPr/>
        </p:nvPicPr>
        <p:blipFill>
          <a:blip r:embed="rId4"/>
          <a:stretch>
            <a:fillRect/>
          </a:stretch>
        </p:blipFill>
        <p:spPr>
          <a:xfrm>
            <a:off x="2196737" y="1658983"/>
            <a:ext cx="7798526" cy="5199017"/>
          </a:xfrm>
          <a:prstGeom prst="rect">
            <a:avLst/>
          </a:prstGeom>
        </p:spPr>
      </p:pic>
    </p:spTree>
    <p:extLst>
      <p:ext uri="{BB962C8B-B14F-4D97-AF65-F5344CB8AC3E}">
        <p14:creationId xmlns:p14="http://schemas.microsoft.com/office/powerpoint/2010/main" val="1891504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mosaic of a pattern&#10;&#10;AI-generated content may be incorrect.">
            <a:extLst>
              <a:ext uri="{FF2B5EF4-FFF2-40B4-BE49-F238E27FC236}">
                <a16:creationId xmlns:a16="http://schemas.microsoft.com/office/drawing/2014/main" id="{5C878E10-20A7-95AB-17DC-56B39827C9E9}"/>
              </a:ext>
            </a:extLst>
          </p:cNvPr>
          <p:cNvPicPr>
            <a:picLocks noChangeAspect="1"/>
          </p:cNvPicPr>
          <p:nvPr/>
        </p:nvPicPr>
        <p:blipFill>
          <a:blip r:embed="rId3"/>
          <a:srcRect r="5882" b="-1"/>
          <a:stretch>
            <a:fillRect/>
          </a:stretch>
        </p:blipFill>
        <p:spPr>
          <a:xfrm>
            <a:off x="0" y="-21413"/>
            <a:ext cx="9669642" cy="6857990"/>
          </a:xfrm>
          <a:prstGeom prst="rect">
            <a:avLst/>
          </a:prstGeom>
        </p:spPr>
      </p:pic>
      <p:sp>
        <p:nvSpPr>
          <p:cNvPr id="19" name="Rectangle 18">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19620D27-DB4C-8650-030E-7C70EB567C17}"/>
              </a:ext>
            </a:extLst>
          </p:cNvPr>
          <p:cNvSpPr txBox="1"/>
          <p:nvPr/>
        </p:nvSpPr>
        <p:spPr>
          <a:xfrm>
            <a:off x="7395914" y="355856"/>
            <a:ext cx="3822189" cy="3742762"/>
          </a:xfrm>
          <a:prstGeom prst="rect">
            <a:avLst/>
          </a:prstGeom>
        </p:spPr>
        <p:txBody>
          <a:bodyPr vert="horz" lIns="91440" tIns="45720" rIns="91440" bIns="45720" rtlCol="0">
            <a:normAutofit/>
          </a:bodyPr>
          <a:lstStyle/>
          <a:p>
            <a:pPr marL="342900" indent="-342900">
              <a:lnSpc>
                <a:spcPct val="90000"/>
              </a:lnSpc>
              <a:spcAft>
                <a:spcPts val="600"/>
              </a:spcAft>
              <a:buFont typeface="Arial" panose="020B0604020202020204" pitchFamily="34" charset="0"/>
              <a:buChar char="•"/>
            </a:pPr>
            <a:r>
              <a:rPr lang="en-US" sz="2000" dirty="0"/>
              <a:t>Yarning is Australian First Nations People’s storytelling based on reciprocal relationships where respect is assumed.</a:t>
            </a:r>
          </a:p>
          <a:p>
            <a:pPr indent="-228600">
              <a:lnSpc>
                <a:spcPct val="90000"/>
              </a:lnSpc>
              <a:spcAft>
                <a:spcPts val="600"/>
              </a:spcAft>
              <a:buFont typeface="Arial" panose="020B0604020202020204" pitchFamily="34" charset="0"/>
              <a:buChar char="•"/>
            </a:pPr>
            <a:endParaRPr lang="en-US" sz="2000" dirty="0"/>
          </a:p>
        </p:txBody>
      </p:sp>
      <p:sp>
        <p:nvSpPr>
          <p:cNvPr id="6" name="TextBox 6"/>
          <p:cNvSpPr txBox="1"/>
          <p:nvPr/>
        </p:nvSpPr>
        <p:spPr>
          <a:xfrm>
            <a:off x="6092826" y="3324226"/>
            <a:ext cx="6350" cy="166712"/>
          </a:xfrm>
          <a:prstGeom prst="rect">
            <a:avLst/>
          </a:prstGeom>
        </p:spPr>
        <p:txBody>
          <a:bodyPr lIns="0" tIns="0" rIns="0" bIns="0" rtlCol="0" anchor="t">
            <a:spAutoFit/>
          </a:bodyPr>
          <a:lstStyle/>
          <a:p>
            <a:pPr algn="ctr" defTabSz="609630">
              <a:lnSpc>
                <a:spcPts val="1280"/>
              </a:lnSpc>
              <a:spcBef>
                <a:spcPct val="0"/>
              </a:spcBef>
            </a:pPr>
            <a:endParaRPr sz="1200">
              <a:solidFill>
                <a:prstClr val="black"/>
              </a:solidFill>
              <a:latin typeface="Calibri"/>
            </a:endParaRPr>
          </a:p>
        </p:txBody>
      </p:sp>
      <p:sp>
        <p:nvSpPr>
          <p:cNvPr id="16" name="TextBox 15">
            <a:extLst>
              <a:ext uri="{FF2B5EF4-FFF2-40B4-BE49-F238E27FC236}">
                <a16:creationId xmlns:a16="http://schemas.microsoft.com/office/drawing/2014/main" id="{9DDC0523-8AB1-9BE1-E9F3-269C9822B52A}"/>
              </a:ext>
            </a:extLst>
          </p:cNvPr>
          <p:cNvSpPr txBox="1"/>
          <p:nvPr/>
        </p:nvSpPr>
        <p:spPr>
          <a:xfrm>
            <a:off x="7395914" y="1868109"/>
            <a:ext cx="3889267" cy="4524315"/>
          </a:xfrm>
          <a:prstGeom prst="rect">
            <a:avLst/>
          </a:prstGeom>
          <a:noFill/>
        </p:spPr>
        <p:txBody>
          <a:bodyPr wrap="square">
            <a:spAutoFit/>
          </a:bodyPr>
          <a:lstStyle/>
          <a:p>
            <a:pPr marL="285750" indent="-285750">
              <a:buFont typeface="Arial" panose="020B0604020202020204" pitchFamily="34" charset="0"/>
              <a:buChar char="•"/>
            </a:pPr>
            <a:r>
              <a:rPr lang="en-AU" dirty="0"/>
              <a:t>Acknowledgement of the powerfulness of mother earth and her connections to the people who have reciprocal responsibilities with her</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One day return to Country. The feelings of sadness were profound.</a:t>
            </a:r>
          </a:p>
          <a:p>
            <a:endParaRPr lang="en-AU" dirty="0"/>
          </a:p>
          <a:p>
            <a:pPr marL="285750" indent="-285750">
              <a:buFont typeface="Arial" panose="020B0604020202020204" pitchFamily="34" charset="0"/>
              <a:buChar char="•"/>
            </a:pPr>
            <a:r>
              <a:rPr lang="en-AU" dirty="0"/>
              <a:t>His ancestors were part of him and were communicating with him. This experience confirmed all he knew about his tribal ways, his epistemology, axiology and ontology. It was now time to return to Country</a:t>
            </a:r>
          </a:p>
        </p:txBody>
      </p:sp>
    </p:spTree>
    <p:extLst>
      <p:ext uri="{BB962C8B-B14F-4D97-AF65-F5344CB8AC3E}">
        <p14:creationId xmlns:p14="http://schemas.microsoft.com/office/powerpoint/2010/main" val="683496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5CCC2-39B9-7EB7-4901-48D8D1BB400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FC11B054-D523-CEA6-94CB-C7564430D332}"/>
              </a:ext>
            </a:extLst>
          </p:cNvPr>
          <p:cNvSpPr>
            <a:spLocks noGrp="1"/>
          </p:cNvSpPr>
          <p:nvPr>
            <p:ph type="body" sz="quarter" idx="13"/>
          </p:nvPr>
        </p:nvSpPr>
        <p:spPr>
          <a:xfrm>
            <a:off x="3078759" y="1392571"/>
            <a:ext cx="8556771" cy="4731391"/>
          </a:xfrm>
        </p:spPr>
        <p:txBody>
          <a:bodyPr>
            <a:normAutofit fontScale="92500"/>
          </a:bodyPr>
          <a:lstStyle/>
          <a:p>
            <a:pPr algn="l"/>
            <a:r>
              <a:rPr lang="en-AU" sz="3200" b="1" dirty="0">
                <a:solidFill>
                  <a:schemeClr val="accent6">
                    <a:lumMod val="10000"/>
                  </a:schemeClr>
                </a:solidFill>
              </a:rPr>
              <a:t>World Health Organisation </a:t>
            </a:r>
            <a:r>
              <a:rPr lang="en-AU" sz="3200" dirty="0">
                <a:solidFill>
                  <a:schemeClr val="accent6">
                    <a:lumMod val="10000"/>
                  </a:schemeClr>
                </a:solidFill>
              </a:rPr>
              <a:t>(1948) definition:</a:t>
            </a:r>
          </a:p>
          <a:p>
            <a:pPr algn="l"/>
            <a:r>
              <a:rPr lang="en-AU" sz="3200" i="1" dirty="0">
                <a:solidFill>
                  <a:schemeClr val="accent6">
                    <a:lumMod val="10000"/>
                  </a:schemeClr>
                </a:solidFill>
              </a:rPr>
              <a:t>Health is a state of complete physical, mental and social well being and not merely the absence of disease or infirmity</a:t>
            </a:r>
            <a:r>
              <a:rPr lang="en-AU" sz="3200" dirty="0">
                <a:solidFill>
                  <a:schemeClr val="accent6">
                    <a:lumMod val="10000"/>
                  </a:schemeClr>
                </a:solidFill>
              </a:rPr>
              <a:t>.</a:t>
            </a:r>
          </a:p>
          <a:p>
            <a:pPr algn="l"/>
            <a:endParaRPr lang="en-AU" sz="3200" dirty="0">
              <a:solidFill>
                <a:schemeClr val="accent6">
                  <a:lumMod val="10000"/>
                </a:schemeClr>
              </a:solidFill>
            </a:endParaRPr>
          </a:p>
          <a:p>
            <a:pPr algn="l"/>
            <a:r>
              <a:rPr lang="en-AU" sz="3200" b="1" dirty="0">
                <a:solidFill>
                  <a:schemeClr val="accent6">
                    <a:lumMod val="10000"/>
                  </a:schemeClr>
                </a:solidFill>
              </a:rPr>
              <a:t>National Aboriginal Health Strategy </a:t>
            </a:r>
            <a:r>
              <a:rPr lang="en-AU" sz="3200" dirty="0">
                <a:solidFill>
                  <a:schemeClr val="accent6">
                    <a:lumMod val="10000"/>
                  </a:schemeClr>
                </a:solidFill>
              </a:rPr>
              <a:t>(1989) definition:</a:t>
            </a:r>
          </a:p>
          <a:p>
            <a:pPr algn="l"/>
            <a:r>
              <a:rPr lang="en-AU" sz="3200" i="1" dirty="0">
                <a:solidFill>
                  <a:schemeClr val="accent6">
                    <a:lumMod val="10000"/>
                  </a:schemeClr>
                </a:solidFill>
              </a:rPr>
              <a:t>Health is not just the physical wellbeing of the individual, but the social, emotional and cultural wellbeing of the whole community. This is a whole-of-life view and it also includes the cycle of life-death-life</a:t>
            </a:r>
          </a:p>
          <a:p>
            <a:endParaRPr lang="en-AU" dirty="0"/>
          </a:p>
        </p:txBody>
      </p:sp>
      <p:sp>
        <p:nvSpPr>
          <p:cNvPr id="6" name="Title 5">
            <a:extLst>
              <a:ext uri="{FF2B5EF4-FFF2-40B4-BE49-F238E27FC236}">
                <a16:creationId xmlns:a16="http://schemas.microsoft.com/office/drawing/2014/main" id="{1DE5900A-BEDF-CCE4-7CFC-7F6F79C75DD9}"/>
              </a:ext>
            </a:extLst>
          </p:cNvPr>
          <p:cNvSpPr>
            <a:spLocks noGrp="1"/>
          </p:cNvSpPr>
          <p:nvPr>
            <p:ph type="title"/>
          </p:nvPr>
        </p:nvSpPr>
        <p:spPr>
          <a:xfrm>
            <a:off x="838200" y="192947"/>
            <a:ext cx="10515600" cy="1677797"/>
          </a:xfrm>
        </p:spPr>
        <p:txBody>
          <a:bodyPr/>
          <a:lstStyle/>
          <a:p>
            <a:r>
              <a:rPr lang="en-AU" dirty="0">
                <a:solidFill>
                  <a:schemeClr val="accent6">
                    <a:lumMod val="10000"/>
                  </a:schemeClr>
                </a:solidFill>
                <a:latin typeface="+mj-lt"/>
              </a:rPr>
              <a:t>Models  of health</a:t>
            </a:r>
            <a:br>
              <a:rPr lang="en-AU" dirty="0"/>
            </a:br>
            <a:endParaRPr lang="en-AU" dirty="0"/>
          </a:p>
        </p:txBody>
      </p:sp>
    </p:spTree>
    <p:extLst>
      <p:ext uri="{BB962C8B-B14F-4D97-AF65-F5344CB8AC3E}">
        <p14:creationId xmlns:p14="http://schemas.microsoft.com/office/powerpoint/2010/main" val="565228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9EAC-75B0-01BB-A167-80C58823904C}"/>
              </a:ext>
            </a:extLst>
          </p:cNvPr>
          <p:cNvSpPr>
            <a:spLocks noGrp="1"/>
          </p:cNvSpPr>
          <p:nvPr>
            <p:ph type="title"/>
          </p:nvPr>
        </p:nvSpPr>
        <p:spPr/>
        <p:txBody>
          <a:bodyPr/>
          <a:lstStyle/>
          <a:p>
            <a:r>
              <a:rPr lang="en-AU"/>
              <a:t>Current Health Plan vision …</a:t>
            </a:r>
            <a:endParaRPr lang="en-AU" dirty="0"/>
          </a:p>
        </p:txBody>
      </p:sp>
      <p:sp>
        <p:nvSpPr>
          <p:cNvPr id="6" name="Slide Number Placeholder 5">
            <a:extLst>
              <a:ext uri="{FF2B5EF4-FFF2-40B4-BE49-F238E27FC236}">
                <a16:creationId xmlns:a16="http://schemas.microsoft.com/office/drawing/2014/main" id="{2587A7C8-5633-4925-2F32-7C4D22A05D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4" name="Content Placeholder 3">
            <a:extLst>
              <a:ext uri="{FF2B5EF4-FFF2-40B4-BE49-F238E27FC236}">
                <a16:creationId xmlns:a16="http://schemas.microsoft.com/office/drawing/2014/main" id="{5C3A3C2B-300B-1F44-F877-7F5FED9594D2}"/>
              </a:ext>
            </a:extLst>
          </p:cNvPr>
          <p:cNvSpPr>
            <a:spLocks noGrp="1"/>
          </p:cNvSpPr>
          <p:nvPr>
            <p:ph idx="1"/>
          </p:nvPr>
        </p:nvSpPr>
        <p:spPr/>
        <p:txBody>
          <a:bodyPr>
            <a:normAutofit/>
          </a:bodyPr>
          <a:lstStyle/>
          <a:p>
            <a:pPr marL="0" indent="0">
              <a:buNone/>
            </a:pPr>
            <a:br>
              <a:rPr lang="en-US" dirty="0"/>
            </a:br>
            <a:endParaRPr lang="en-AU" dirty="0"/>
          </a:p>
        </p:txBody>
      </p:sp>
      <p:pic>
        <p:nvPicPr>
          <p:cNvPr id="9" name="Picture 8">
            <a:extLst>
              <a:ext uri="{FF2B5EF4-FFF2-40B4-BE49-F238E27FC236}">
                <a16:creationId xmlns:a16="http://schemas.microsoft.com/office/drawing/2014/main" id="{A4D5A94F-89E7-3D6F-3CF6-0972E25F4B61}"/>
              </a:ext>
            </a:extLst>
          </p:cNvPr>
          <p:cNvPicPr>
            <a:picLocks noChangeAspect="1"/>
          </p:cNvPicPr>
          <p:nvPr/>
        </p:nvPicPr>
        <p:blipFill>
          <a:blip r:embed="rId3"/>
          <a:stretch>
            <a:fillRect/>
          </a:stretch>
        </p:blipFill>
        <p:spPr>
          <a:xfrm>
            <a:off x="3668890" y="1566334"/>
            <a:ext cx="5043411" cy="504341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170143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3535D65-878B-4A0A-86AB-AD6226CF55AA}"/>
              </a:ext>
            </a:extLst>
          </p:cNvPr>
          <p:cNvSpPr>
            <a:spLocks noGrp="1"/>
          </p:cNvSpPr>
          <p:nvPr>
            <p:ph type="body" sz="quarter" idx="13"/>
          </p:nvPr>
        </p:nvSpPr>
        <p:spPr>
          <a:xfrm>
            <a:off x="3166006" y="880845"/>
            <a:ext cx="8355434" cy="5394120"/>
          </a:xfrm>
        </p:spPr>
        <p:txBody>
          <a:bodyPr>
            <a:normAutofit fontScale="92500"/>
          </a:bodyPr>
          <a:lstStyle/>
          <a:p>
            <a:pPr algn="l"/>
            <a:endParaRPr lang="en-AU" sz="2800" dirty="0">
              <a:solidFill>
                <a:schemeClr val="accent6">
                  <a:lumMod val="10000"/>
                </a:schemeClr>
              </a:solidFill>
            </a:endParaRPr>
          </a:p>
          <a:p>
            <a:pPr algn="l"/>
            <a:r>
              <a:rPr lang="en-AU" sz="3200" b="1" dirty="0">
                <a:solidFill>
                  <a:schemeClr val="accent6">
                    <a:lumMod val="10000"/>
                  </a:schemeClr>
                </a:solidFill>
              </a:rPr>
              <a:t>Land is central to wellbeing:</a:t>
            </a:r>
            <a:r>
              <a:rPr lang="en-AU" sz="3200" dirty="0">
                <a:solidFill>
                  <a:schemeClr val="accent6">
                    <a:lumMod val="10000"/>
                  </a:schemeClr>
                </a:solidFill>
              </a:rPr>
              <a:t>  </a:t>
            </a:r>
          </a:p>
          <a:p>
            <a:pPr algn="l"/>
            <a:r>
              <a:rPr lang="en-AU" sz="3200" dirty="0">
                <a:solidFill>
                  <a:schemeClr val="accent6">
                    <a:lumMod val="10000"/>
                  </a:schemeClr>
                </a:solidFill>
              </a:rPr>
              <a:t>This holistic concept does not merely refer to the ‘whole body’ but, in fact, is steeped in the harmonised</a:t>
            </a:r>
            <a:r>
              <a:rPr lang="en-AU" sz="3200" b="1" dirty="0">
                <a:solidFill>
                  <a:schemeClr val="accent6">
                    <a:lumMod val="10000"/>
                  </a:schemeClr>
                </a:solidFill>
              </a:rPr>
              <a:t> inter-relations </a:t>
            </a:r>
            <a:r>
              <a:rPr lang="en-AU" sz="3200" dirty="0">
                <a:solidFill>
                  <a:schemeClr val="accent6">
                    <a:lumMod val="10000"/>
                  </a:schemeClr>
                </a:solidFill>
              </a:rPr>
              <a:t>which constitute wellbeing. These inter-relating factors can be categorised largely as </a:t>
            </a:r>
            <a:r>
              <a:rPr lang="en-AU" sz="3200" b="1" dirty="0">
                <a:solidFill>
                  <a:schemeClr val="accent6">
                    <a:lumMod val="10000"/>
                  </a:schemeClr>
                </a:solidFill>
              </a:rPr>
              <a:t>spiritual, environmental, ideological, political, social, economic, mental, and physical</a:t>
            </a:r>
            <a:r>
              <a:rPr lang="en-AU" sz="3200" dirty="0">
                <a:solidFill>
                  <a:schemeClr val="accent6">
                    <a:lumMod val="10000"/>
                  </a:schemeClr>
                </a:solidFill>
              </a:rPr>
              <a:t>. Crucially it must be understood that when the </a:t>
            </a:r>
            <a:r>
              <a:rPr lang="en-AU" sz="3200" b="1" dirty="0">
                <a:solidFill>
                  <a:schemeClr val="accent6">
                    <a:lumMod val="10000"/>
                  </a:schemeClr>
                </a:solidFill>
              </a:rPr>
              <a:t>harmony</a:t>
            </a:r>
            <a:r>
              <a:rPr lang="en-AU" sz="3200" dirty="0">
                <a:solidFill>
                  <a:schemeClr val="accent6">
                    <a:lumMod val="10000"/>
                  </a:schemeClr>
                </a:solidFill>
              </a:rPr>
              <a:t> of these inter-relations is </a:t>
            </a:r>
            <a:r>
              <a:rPr lang="en-AU" sz="3200" b="1" dirty="0">
                <a:solidFill>
                  <a:schemeClr val="accent6">
                    <a:lumMod val="10000"/>
                  </a:schemeClr>
                </a:solidFill>
              </a:rPr>
              <a:t>disrupted</a:t>
            </a:r>
            <a:r>
              <a:rPr lang="en-AU" sz="3200" dirty="0">
                <a:solidFill>
                  <a:schemeClr val="accent6">
                    <a:lumMod val="10000"/>
                  </a:schemeClr>
                </a:solidFill>
              </a:rPr>
              <a:t>, Aboriginal </a:t>
            </a:r>
            <a:r>
              <a:rPr lang="en-AU" sz="3200" b="1" dirty="0">
                <a:solidFill>
                  <a:schemeClr val="accent6">
                    <a:lumMod val="10000"/>
                  </a:schemeClr>
                </a:solidFill>
              </a:rPr>
              <a:t>ill health </a:t>
            </a:r>
            <a:r>
              <a:rPr lang="en-AU" sz="3200" dirty="0">
                <a:solidFill>
                  <a:schemeClr val="accent6">
                    <a:lumMod val="10000"/>
                  </a:schemeClr>
                </a:solidFill>
              </a:rPr>
              <a:t>will persist.</a:t>
            </a:r>
          </a:p>
          <a:p>
            <a:pPr algn="l"/>
            <a:endParaRPr lang="en-AU" dirty="0">
              <a:solidFill>
                <a:schemeClr val="accent6">
                  <a:lumMod val="10000"/>
                </a:schemeClr>
              </a:solidFill>
            </a:endParaRPr>
          </a:p>
          <a:p>
            <a:pPr algn="l"/>
            <a:r>
              <a:rPr lang="en-AU" dirty="0">
                <a:solidFill>
                  <a:schemeClr val="accent6">
                    <a:lumMod val="10000"/>
                  </a:schemeClr>
                </a:solidFill>
              </a:rPr>
              <a:t> </a:t>
            </a:r>
            <a:r>
              <a:rPr lang="en-AU" sz="2000" dirty="0">
                <a:solidFill>
                  <a:schemeClr val="accent6">
                    <a:lumMod val="10000"/>
                  </a:schemeClr>
                </a:solidFill>
              </a:rPr>
              <a:t>(Swan &amp; Raphael 1995, pt1, p.13 cited in Taylor &amp; Guerin 2014, p</a:t>
            </a:r>
            <a:r>
              <a:rPr lang="en-AU" sz="2000" dirty="0"/>
              <a:t>. 106)</a:t>
            </a:r>
          </a:p>
          <a:p>
            <a:endParaRPr lang="en-AU" dirty="0"/>
          </a:p>
        </p:txBody>
      </p:sp>
      <p:sp>
        <p:nvSpPr>
          <p:cNvPr id="6" name="Title 5">
            <a:extLst>
              <a:ext uri="{FF2B5EF4-FFF2-40B4-BE49-F238E27FC236}">
                <a16:creationId xmlns:a16="http://schemas.microsoft.com/office/drawing/2014/main" id="{1CC240DB-10BF-4850-A4EB-4F63C6B3CDA7}"/>
              </a:ext>
            </a:extLst>
          </p:cNvPr>
          <p:cNvSpPr>
            <a:spLocks noGrp="1"/>
          </p:cNvSpPr>
          <p:nvPr>
            <p:ph type="title"/>
          </p:nvPr>
        </p:nvSpPr>
        <p:spPr>
          <a:xfrm>
            <a:off x="3211307" y="318782"/>
            <a:ext cx="6192752" cy="721455"/>
          </a:xfrm>
        </p:spPr>
        <p:txBody>
          <a:bodyPr/>
          <a:lstStyle/>
          <a:p>
            <a:pPr algn="l"/>
            <a:r>
              <a:rPr lang="en-AU" dirty="0">
                <a:solidFill>
                  <a:schemeClr val="accent6">
                    <a:lumMod val="10000"/>
                  </a:schemeClr>
                </a:solidFill>
                <a:latin typeface="+mj-lt"/>
              </a:rPr>
              <a:t>Another definition of health</a:t>
            </a:r>
            <a:br>
              <a:rPr lang="en-AU" dirty="0"/>
            </a:br>
            <a:endParaRPr lang="en-AU" dirty="0"/>
          </a:p>
        </p:txBody>
      </p:sp>
    </p:spTree>
    <p:extLst>
      <p:ext uri="{BB962C8B-B14F-4D97-AF65-F5344CB8AC3E}">
        <p14:creationId xmlns:p14="http://schemas.microsoft.com/office/powerpoint/2010/main" val="1284858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092904-CB67-4BCC-8B41-9A99C9555050}"/>
              </a:ext>
            </a:extLst>
          </p:cNvPr>
          <p:cNvSpPr>
            <a:spLocks noGrp="1"/>
          </p:cNvSpPr>
          <p:nvPr>
            <p:ph type="sldNum" sz="quarter" idx="12"/>
          </p:nvPr>
        </p:nvSpPr>
        <p:spPr/>
        <p:txBody>
          <a:bodyPr/>
          <a:lstStyle/>
          <a:p>
            <a:fld id="{58FB4751-880F-D840-AAA9-3A15815CC996}" type="slidenum">
              <a:rPr lang="en-US" smtClean="0"/>
              <a:t>17</a:t>
            </a:fld>
            <a:endParaRPr lang="en-US" dirty="0"/>
          </a:p>
        </p:txBody>
      </p:sp>
      <p:sp>
        <p:nvSpPr>
          <p:cNvPr id="7" name="Text Placeholder 6">
            <a:extLst>
              <a:ext uri="{FF2B5EF4-FFF2-40B4-BE49-F238E27FC236}">
                <a16:creationId xmlns:a16="http://schemas.microsoft.com/office/drawing/2014/main" id="{2BCCA86A-C9DF-4A52-869E-E471D678644F}"/>
              </a:ext>
            </a:extLst>
          </p:cNvPr>
          <p:cNvSpPr txBox="1">
            <a:spLocks noGrp="1"/>
          </p:cNvSpPr>
          <p:nvPr>
            <p:ph type="body" sz="quarter" idx="13"/>
          </p:nvPr>
        </p:nvSpPr>
        <p:spPr>
          <a:xfrm>
            <a:off x="2575419" y="2740025"/>
            <a:ext cx="8925887" cy="2739211"/>
          </a:xfrm>
          <a:prstGeom prst="rect">
            <a:avLst/>
          </a:prstGeom>
          <a:noFill/>
          <a:ln>
            <a:noFill/>
          </a:ln>
        </p:spPr>
        <p:txBody>
          <a:bodyPr wrap="square">
            <a:spAutoFit/>
          </a:bodyPr>
          <a:lstStyle/>
          <a:p>
            <a:r>
              <a:rPr lang="en-US" sz="2800" dirty="0">
                <a:solidFill>
                  <a:schemeClr val="accent6">
                    <a:lumMod val="10000"/>
                  </a:schemeClr>
                </a:solidFill>
                <a:latin typeface="Source Sans Pro" panose="020B0503030403020204" pitchFamily="34" charset="0"/>
              </a:rPr>
              <a:t>“</a:t>
            </a:r>
            <a:r>
              <a:rPr lang="en-US" sz="2800" b="0" i="0" dirty="0">
                <a:solidFill>
                  <a:schemeClr val="accent6">
                    <a:lumMod val="10000"/>
                  </a:schemeClr>
                </a:solidFill>
              </a:rPr>
              <a:t>Health is so much more than simply not being sick. It’s about getting a balance between physical, mental, emotional, cultural and spiritual health. Health and healing are interwoven, which means that one can’t be separated from the other .”</a:t>
            </a:r>
            <a:r>
              <a:rPr lang="en-US" sz="2800" dirty="0">
                <a:solidFill>
                  <a:schemeClr val="accent6">
                    <a:lumMod val="10000"/>
                  </a:schemeClr>
                </a:solidFill>
              </a:rPr>
              <a:t> </a:t>
            </a:r>
          </a:p>
          <a:p>
            <a:endParaRPr lang="en-US" sz="2000" dirty="0">
              <a:solidFill>
                <a:schemeClr val="accent6">
                  <a:lumMod val="10000"/>
                </a:schemeClr>
              </a:solidFill>
            </a:endParaRPr>
          </a:p>
          <a:p>
            <a:r>
              <a:rPr lang="en-US" sz="2000" dirty="0">
                <a:solidFill>
                  <a:schemeClr val="accent6">
                    <a:lumMod val="10000"/>
                  </a:schemeClr>
                </a:solidFill>
              </a:rPr>
              <a:t>Dr Tamara Maclean, Australian First Female Aboriginal Doctor</a:t>
            </a:r>
            <a:endParaRPr lang="en-US" sz="2000" b="0" i="0" dirty="0">
              <a:solidFill>
                <a:schemeClr val="accent6">
                  <a:lumMod val="10000"/>
                </a:schemeClr>
              </a:solidFill>
            </a:endParaRPr>
          </a:p>
          <a:p>
            <a:pPr algn="ctr"/>
            <a:r>
              <a:rPr lang="en-US" sz="2000" b="0" i="0" dirty="0">
                <a:latin typeface="Source Sans Pro" panose="020B0503030403020204" pitchFamily="34" charset="0"/>
              </a:rPr>
              <a:t> </a:t>
            </a:r>
            <a:endParaRPr lang="en-AU" sz="1800" dirty="0">
              <a:latin typeface="Source Sans Pro" panose="020B0503030403020204" pitchFamily="34" charset="0"/>
            </a:endParaRPr>
          </a:p>
        </p:txBody>
      </p:sp>
    </p:spTree>
    <p:extLst>
      <p:ext uri="{BB962C8B-B14F-4D97-AF65-F5344CB8AC3E}">
        <p14:creationId xmlns:p14="http://schemas.microsoft.com/office/powerpoint/2010/main" val="4172444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CE3D076-2AAC-43EA-BA85-53D547B6A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445" y="607196"/>
            <a:ext cx="4781550" cy="49053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E0C202E-F3FE-4FE6-A781-1CCB85A4621F}"/>
              </a:ext>
            </a:extLst>
          </p:cNvPr>
          <p:cNvSpPr txBox="1"/>
          <p:nvPr/>
        </p:nvSpPr>
        <p:spPr>
          <a:xfrm>
            <a:off x="380302" y="6347005"/>
            <a:ext cx="11811698" cy="461665"/>
          </a:xfrm>
          <a:prstGeom prst="rect">
            <a:avLst/>
          </a:prstGeom>
          <a:noFill/>
        </p:spPr>
        <p:txBody>
          <a:bodyPr wrap="square">
            <a:spAutoFit/>
          </a:bodyPr>
          <a:lstStyle/>
          <a:p>
            <a:r>
              <a:rPr lang="en-AU" sz="1200" dirty="0">
                <a:solidFill>
                  <a:schemeClr val="accent6">
                    <a:lumMod val="10000"/>
                  </a:schemeClr>
                </a:solidFill>
              </a:rPr>
              <a:t>This model was developed during the </a:t>
            </a:r>
            <a:r>
              <a:rPr lang="en-AU" sz="1200" i="1" dirty="0">
                <a:solidFill>
                  <a:schemeClr val="accent6">
                    <a:lumMod val="10000"/>
                  </a:schemeClr>
                </a:solidFill>
              </a:rPr>
              <a:t>Ways Forward </a:t>
            </a:r>
            <a:r>
              <a:rPr lang="en-AU" sz="1200" dirty="0">
                <a:solidFill>
                  <a:schemeClr val="accent6">
                    <a:lumMod val="10000"/>
                  </a:schemeClr>
                </a:solidFill>
              </a:rPr>
              <a:t>National Consultancy (Swan, P &amp; Raphael B., 1995)</a:t>
            </a:r>
            <a:br>
              <a:rPr lang="en-AU" sz="1200" dirty="0">
                <a:solidFill>
                  <a:schemeClr val="accent6">
                    <a:lumMod val="10000"/>
                  </a:schemeClr>
                </a:solidFill>
              </a:rPr>
            </a:br>
            <a:r>
              <a:rPr lang="en-AU" sz="1200" dirty="0">
                <a:solidFill>
                  <a:schemeClr val="accent6">
                    <a:lumMod val="10000"/>
                  </a:schemeClr>
                </a:solidFill>
              </a:rPr>
              <a:t>Image sourced from the National Strategic Framework for Aboriginal and Torres Strait Islander's Peoples’ Mental Health and Social Emotional Wellbeing</a:t>
            </a:r>
          </a:p>
        </p:txBody>
      </p:sp>
      <p:sp>
        <p:nvSpPr>
          <p:cNvPr id="13" name="TextBox 12">
            <a:extLst>
              <a:ext uri="{FF2B5EF4-FFF2-40B4-BE49-F238E27FC236}">
                <a16:creationId xmlns:a16="http://schemas.microsoft.com/office/drawing/2014/main" id="{86DF805C-623B-4202-8AEC-CE63A18AD24D}"/>
              </a:ext>
            </a:extLst>
          </p:cNvPr>
          <p:cNvSpPr txBox="1"/>
          <p:nvPr/>
        </p:nvSpPr>
        <p:spPr>
          <a:xfrm>
            <a:off x="2614569" y="5745122"/>
            <a:ext cx="6962861" cy="369332"/>
          </a:xfrm>
          <a:prstGeom prst="rect">
            <a:avLst/>
          </a:prstGeom>
          <a:noFill/>
        </p:spPr>
        <p:txBody>
          <a:bodyPr wrap="square">
            <a:spAutoFit/>
          </a:bodyPr>
          <a:lstStyle/>
          <a:p>
            <a:r>
              <a:rPr lang="en-AU">
                <a:solidFill>
                  <a:schemeClr val="accent6">
                    <a:lumMod val="10000"/>
                  </a:schemeClr>
                </a:solidFill>
                <a:hlinkClick r:id="rId4">
                  <a:extLst>
                    <a:ext uri="{A12FA001-AC4F-418D-AE19-62706E023703}">
                      <ahyp:hlinkClr xmlns:ahyp="http://schemas.microsoft.com/office/drawing/2018/hyperlinkcolor" val="tx"/>
                    </a:ext>
                  </a:extLst>
                </a:hlinkClick>
              </a:rPr>
              <a:t>(361) Social </a:t>
            </a:r>
            <a:r>
              <a:rPr lang="en-AU" dirty="0">
                <a:solidFill>
                  <a:schemeClr val="accent6">
                    <a:lumMod val="10000"/>
                  </a:schemeClr>
                </a:solidFill>
                <a:hlinkClick r:id="rId4">
                  <a:extLst>
                    <a:ext uri="{A12FA001-AC4F-418D-AE19-62706E023703}">
                      <ahyp:hlinkClr xmlns:ahyp="http://schemas.microsoft.com/office/drawing/2018/hyperlinkcolor" val="tx"/>
                    </a:ext>
                  </a:extLst>
                </a:hlinkClick>
              </a:rPr>
              <a:t>and Emotional Wellbeing - Indigenous point of view - YouTube</a:t>
            </a:r>
            <a:endParaRPr lang="en-AU" dirty="0">
              <a:solidFill>
                <a:schemeClr val="accent6">
                  <a:lumMod val="10000"/>
                </a:schemeClr>
              </a:solidFill>
            </a:endParaRPr>
          </a:p>
        </p:txBody>
      </p:sp>
    </p:spTree>
    <p:extLst>
      <p:ext uri="{BB962C8B-B14F-4D97-AF65-F5344CB8AC3E}">
        <p14:creationId xmlns:p14="http://schemas.microsoft.com/office/powerpoint/2010/main" val="2398240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42FDC-4E58-4F3B-BD13-6EFF9B70094E}"/>
              </a:ext>
            </a:extLst>
          </p:cNvPr>
          <p:cNvSpPr>
            <a:spLocks noGrp="1"/>
          </p:cNvSpPr>
          <p:nvPr>
            <p:ph type="title"/>
          </p:nvPr>
        </p:nvSpPr>
        <p:spPr>
          <a:xfrm>
            <a:off x="492370" y="605896"/>
            <a:ext cx="3084844" cy="5646208"/>
          </a:xfrm>
        </p:spPr>
        <p:txBody>
          <a:bodyPr anchor="ctr">
            <a:normAutofit/>
          </a:bodyPr>
          <a:lstStyle/>
          <a:p>
            <a:pPr algn="ctr"/>
            <a:r>
              <a:rPr lang="en-AU" sz="3600" b="1" dirty="0">
                <a:solidFill>
                  <a:schemeClr val="accent6">
                    <a:lumMod val="10000"/>
                  </a:schemeClr>
                </a:solidFill>
                <a:latin typeface="+mn-lt"/>
              </a:rPr>
              <a:t>Nine guiding principles that underpin the SEWB Framework</a:t>
            </a:r>
            <a:br>
              <a:rPr lang="en-AU" sz="3600" dirty="0">
                <a:latin typeface="+mn-lt"/>
              </a:rPr>
            </a:br>
            <a:br>
              <a:rPr lang="en-AU" sz="3600" b="1" dirty="0">
                <a:solidFill>
                  <a:schemeClr val="bg1"/>
                </a:solidFill>
                <a:latin typeface="+mn-lt"/>
              </a:rPr>
            </a:br>
            <a:br>
              <a:rPr lang="en-AU" sz="1600" b="1" dirty="0">
                <a:solidFill>
                  <a:schemeClr val="bg1"/>
                </a:solidFill>
                <a:latin typeface="+mn-lt"/>
              </a:rPr>
            </a:br>
            <a:r>
              <a:rPr lang="en-AU" sz="1600" dirty="0">
                <a:solidFill>
                  <a:schemeClr val="accent6">
                    <a:lumMod val="10000"/>
                  </a:schemeClr>
                </a:solidFill>
                <a:latin typeface="+mn-lt"/>
              </a:rPr>
              <a:t>These principles emphasise the holistic and whole-of-life definition of health held by Aboriginal and Torres Strait Islander Peoples. </a:t>
            </a:r>
            <a:br>
              <a:rPr lang="en-AU" sz="1200" dirty="0">
                <a:solidFill>
                  <a:schemeClr val="accent6">
                    <a:lumMod val="10000"/>
                  </a:schemeClr>
                </a:solidFill>
                <a:latin typeface="+mn-lt"/>
              </a:rPr>
            </a:br>
            <a:endParaRPr lang="en-AU" sz="3600" dirty="0">
              <a:solidFill>
                <a:schemeClr val="accent6">
                  <a:lumMod val="10000"/>
                </a:schemeClr>
              </a:solidFill>
              <a:latin typeface="+mn-lt"/>
            </a:endParaRPr>
          </a:p>
        </p:txBody>
      </p:sp>
      <p:pic>
        <p:nvPicPr>
          <p:cNvPr id="5" name="Picture 4">
            <a:extLst>
              <a:ext uri="{FF2B5EF4-FFF2-40B4-BE49-F238E27FC236}">
                <a16:creationId xmlns:a16="http://schemas.microsoft.com/office/drawing/2014/main" id="{D2CDB213-3307-4C14-A269-460CAD8ADB99}"/>
              </a:ext>
            </a:extLst>
          </p:cNvPr>
          <p:cNvPicPr>
            <a:picLocks noChangeAspect="1"/>
          </p:cNvPicPr>
          <p:nvPr/>
        </p:nvPicPr>
        <p:blipFill>
          <a:blip r:embed="rId3">
            <a:alphaModFix amt="20000"/>
          </a:blip>
          <a:stretch>
            <a:fillRect/>
          </a:stretch>
        </p:blipFill>
        <p:spPr>
          <a:xfrm>
            <a:off x="4069568" y="0"/>
            <a:ext cx="8157995" cy="6858000"/>
          </a:xfrm>
          <a:prstGeom prst="rect">
            <a:avLst/>
          </a:prstGeom>
        </p:spPr>
      </p:pic>
      <p:sp>
        <p:nvSpPr>
          <p:cNvPr id="3" name="Content Placeholder 2">
            <a:extLst>
              <a:ext uri="{FF2B5EF4-FFF2-40B4-BE49-F238E27FC236}">
                <a16:creationId xmlns:a16="http://schemas.microsoft.com/office/drawing/2014/main" id="{7564E7BA-AA4E-49A4-B52D-0B1E61DA174D}"/>
              </a:ext>
            </a:extLst>
          </p:cNvPr>
          <p:cNvSpPr>
            <a:spLocks noGrp="1"/>
          </p:cNvSpPr>
          <p:nvPr>
            <p:ph idx="1"/>
          </p:nvPr>
        </p:nvSpPr>
        <p:spPr>
          <a:xfrm>
            <a:off x="5556210" y="605896"/>
            <a:ext cx="6413663" cy="5094177"/>
          </a:xfrm>
        </p:spPr>
        <p:txBody>
          <a:bodyPr anchor="ctr">
            <a:normAutofit/>
          </a:bodyPr>
          <a:lstStyle/>
          <a:p>
            <a:pPr marL="514350" indent="-514350">
              <a:buAutoNum type="arabicPeriod"/>
            </a:pPr>
            <a:r>
              <a:rPr lang="en-AU" b="1" dirty="0">
                <a:solidFill>
                  <a:schemeClr val="accent6">
                    <a:lumMod val="10000"/>
                  </a:schemeClr>
                </a:solidFill>
              </a:rPr>
              <a:t>Health is holistic</a:t>
            </a:r>
          </a:p>
          <a:p>
            <a:pPr marL="514350" indent="-514350">
              <a:buAutoNum type="arabicPeriod"/>
            </a:pPr>
            <a:r>
              <a:rPr lang="en-AU" b="1" dirty="0">
                <a:solidFill>
                  <a:schemeClr val="accent6">
                    <a:lumMod val="10000"/>
                  </a:schemeClr>
                </a:solidFill>
              </a:rPr>
              <a:t>The right to self determination</a:t>
            </a:r>
          </a:p>
          <a:p>
            <a:pPr marL="514350" indent="-514350">
              <a:buAutoNum type="arabicPeriod"/>
            </a:pPr>
            <a:r>
              <a:rPr lang="en-AU" b="1" dirty="0">
                <a:solidFill>
                  <a:schemeClr val="accent6">
                    <a:lumMod val="10000"/>
                  </a:schemeClr>
                </a:solidFill>
              </a:rPr>
              <a:t>The need for cultural understanding</a:t>
            </a:r>
          </a:p>
          <a:p>
            <a:pPr marL="514350" indent="-514350">
              <a:buAutoNum type="arabicPeriod"/>
            </a:pPr>
            <a:r>
              <a:rPr lang="en-AU" b="1" dirty="0">
                <a:solidFill>
                  <a:schemeClr val="accent6">
                    <a:lumMod val="10000"/>
                  </a:schemeClr>
                </a:solidFill>
              </a:rPr>
              <a:t>The impact of history in trauma and loss</a:t>
            </a:r>
          </a:p>
          <a:p>
            <a:pPr marL="514350" indent="-514350">
              <a:buAutoNum type="arabicPeriod"/>
            </a:pPr>
            <a:r>
              <a:rPr lang="en-AU" b="1" dirty="0">
                <a:solidFill>
                  <a:schemeClr val="accent6">
                    <a:lumMod val="10000"/>
                  </a:schemeClr>
                </a:solidFill>
              </a:rPr>
              <a:t>Recognition of human rights</a:t>
            </a:r>
          </a:p>
          <a:p>
            <a:pPr marL="514350" indent="-514350">
              <a:buAutoNum type="arabicPeriod"/>
            </a:pPr>
            <a:r>
              <a:rPr lang="en-AU" b="1" dirty="0">
                <a:solidFill>
                  <a:schemeClr val="accent6">
                    <a:lumMod val="10000"/>
                  </a:schemeClr>
                </a:solidFill>
              </a:rPr>
              <a:t>The impact of racism and stigma</a:t>
            </a:r>
          </a:p>
          <a:p>
            <a:pPr marL="514350" indent="-514350">
              <a:buAutoNum type="arabicPeriod"/>
            </a:pPr>
            <a:r>
              <a:rPr lang="en-AU" b="1" dirty="0">
                <a:solidFill>
                  <a:schemeClr val="accent6">
                    <a:lumMod val="10000"/>
                  </a:schemeClr>
                </a:solidFill>
              </a:rPr>
              <a:t>Recognition of centrality of kinship</a:t>
            </a:r>
          </a:p>
          <a:p>
            <a:pPr marL="514350" indent="-514350">
              <a:buAutoNum type="arabicPeriod"/>
            </a:pPr>
            <a:r>
              <a:rPr lang="en-AU" b="1" dirty="0">
                <a:solidFill>
                  <a:schemeClr val="accent6">
                    <a:lumMod val="10000"/>
                  </a:schemeClr>
                </a:solidFill>
              </a:rPr>
              <a:t>Recognition of cultural diversity</a:t>
            </a:r>
          </a:p>
          <a:p>
            <a:pPr marL="514350" indent="-514350">
              <a:buAutoNum type="arabicPeriod"/>
            </a:pPr>
            <a:r>
              <a:rPr lang="en-AU" b="1" dirty="0">
                <a:solidFill>
                  <a:schemeClr val="accent6">
                    <a:lumMod val="10000"/>
                  </a:schemeClr>
                </a:solidFill>
              </a:rPr>
              <a:t>Recognition of cultural strengths</a:t>
            </a:r>
          </a:p>
        </p:txBody>
      </p:sp>
      <p:sp>
        <p:nvSpPr>
          <p:cNvPr id="10" name="TextBox 9">
            <a:extLst>
              <a:ext uri="{FF2B5EF4-FFF2-40B4-BE49-F238E27FC236}">
                <a16:creationId xmlns:a16="http://schemas.microsoft.com/office/drawing/2014/main" id="{F4A8F1A9-1296-45F1-A455-C75348D564A7}"/>
              </a:ext>
            </a:extLst>
          </p:cNvPr>
          <p:cNvSpPr txBox="1"/>
          <p:nvPr/>
        </p:nvSpPr>
        <p:spPr>
          <a:xfrm>
            <a:off x="4131300" y="6392131"/>
            <a:ext cx="8034529" cy="400110"/>
          </a:xfrm>
          <a:prstGeom prst="rect">
            <a:avLst/>
          </a:prstGeom>
          <a:noFill/>
        </p:spPr>
        <p:txBody>
          <a:bodyPr wrap="square">
            <a:spAutoFit/>
          </a:bodyPr>
          <a:lstStyle/>
          <a:p>
            <a:pPr algn="ctr"/>
            <a:r>
              <a:rPr lang="en-AU" sz="1000" dirty="0">
                <a:solidFill>
                  <a:schemeClr val="accent6">
                    <a:lumMod val="10000"/>
                  </a:schemeClr>
                </a:solidFill>
              </a:rPr>
              <a:t>These principles were developed during the </a:t>
            </a:r>
            <a:r>
              <a:rPr lang="en-AU" sz="1000" i="1" dirty="0">
                <a:solidFill>
                  <a:schemeClr val="accent6">
                    <a:lumMod val="10000"/>
                  </a:schemeClr>
                </a:solidFill>
              </a:rPr>
              <a:t>Ways Forward </a:t>
            </a:r>
            <a:r>
              <a:rPr lang="en-AU" sz="1000" dirty="0">
                <a:solidFill>
                  <a:schemeClr val="accent6">
                    <a:lumMod val="10000"/>
                  </a:schemeClr>
                </a:solidFill>
              </a:rPr>
              <a:t>National Consultancy (Swan, P &amp; Raphael B., 1995)</a:t>
            </a:r>
            <a:br>
              <a:rPr lang="en-AU" sz="1000" dirty="0">
                <a:solidFill>
                  <a:schemeClr val="accent6">
                    <a:lumMod val="10000"/>
                  </a:schemeClr>
                </a:solidFill>
              </a:rPr>
            </a:br>
            <a:r>
              <a:rPr lang="en-AU" sz="1000" dirty="0">
                <a:solidFill>
                  <a:schemeClr val="accent6">
                    <a:lumMod val="10000"/>
                  </a:schemeClr>
                </a:solidFill>
              </a:rPr>
              <a:t>Image sourced from the National Strategic Framework for Aboriginal and Torres Strait Islander's Peoples’ Mental Health and Social Emotional Wellbeing</a:t>
            </a:r>
            <a:r>
              <a:rPr lang="en-AU" sz="1000" dirty="0"/>
              <a:t>. </a:t>
            </a:r>
            <a:endParaRPr lang="en-GB" sz="1000" dirty="0"/>
          </a:p>
        </p:txBody>
      </p:sp>
    </p:spTree>
    <p:extLst>
      <p:ext uri="{BB962C8B-B14F-4D97-AF65-F5344CB8AC3E}">
        <p14:creationId xmlns:p14="http://schemas.microsoft.com/office/powerpoint/2010/main" val="3005103487"/>
      </p:ext>
    </p:extLst>
  </p:cSld>
  <p:clrMapOvr>
    <a:masterClrMapping/>
  </p:clrMapOvr>
  <mc:AlternateContent xmlns:mc="http://schemas.openxmlformats.org/markup-compatibility/2006" xmlns:p14="http://schemas.microsoft.com/office/powerpoint/2010/main">
    <mc:Choice Requires="p14">
      <p:transition spd="slow" p14:dur="2000" advTm="50154"/>
    </mc:Choice>
    <mc:Fallback xmlns="">
      <p:transition spd="slow" advTm="5015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5438E-97EE-45CF-B317-ECA0087E21F0}"/>
              </a:ext>
            </a:extLst>
          </p:cNvPr>
          <p:cNvSpPr>
            <a:spLocks noGrp="1"/>
          </p:cNvSpPr>
          <p:nvPr>
            <p:ph idx="1"/>
          </p:nvPr>
        </p:nvSpPr>
        <p:spPr>
          <a:xfrm>
            <a:off x="5856790" y="869816"/>
            <a:ext cx="6218479" cy="5468566"/>
          </a:xfrm>
        </p:spPr>
        <p:txBody>
          <a:bodyPr>
            <a:normAutofit/>
          </a:bodyPr>
          <a:lstStyle/>
          <a:p>
            <a:pPr lvl="0"/>
            <a:r>
              <a:rPr lang="en-AU" sz="2400" dirty="0">
                <a:solidFill>
                  <a:schemeClr val="accent6">
                    <a:lumMod val="10000"/>
                  </a:schemeClr>
                </a:solidFill>
              </a:rPr>
              <a:t>What is important to you? Break the circle up to represent what is important to you and your wellbeing</a:t>
            </a:r>
            <a:endParaRPr lang="en-US" sz="2400" dirty="0">
              <a:solidFill>
                <a:schemeClr val="accent6">
                  <a:lumMod val="10000"/>
                </a:schemeClr>
              </a:solidFill>
            </a:endParaRPr>
          </a:p>
          <a:p>
            <a:pPr lvl="0"/>
            <a:r>
              <a:rPr lang="en-AU" sz="2400" dirty="0">
                <a:solidFill>
                  <a:schemeClr val="accent6">
                    <a:lumMod val="10000"/>
                  </a:schemeClr>
                </a:solidFill>
              </a:rPr>
              <a:t>How satisfied are you in these areas? Shade each area to represent how satisfied you feel in these areas</a:t>
            </a:r>
            <a:endParaRPr lang="en-US" sz="2400" dirty="0">
              <a:solidFill>
                <a:schemeClr val="accent6">
                  <a:lumMod val="10000"/>
                </a:schemeClr>
              </a:solidFill>
            </a:endParaRPr>
          </a:p>
          <a:p>
            <a:pPr lvl="0"/>
            <a:r>
              <a:rPr lang="en-AU" sz="2400" dirty="0">
                <a:solidFill>
                  <a:schemeClr val="accent6">
                    <a:lumMod val="10000"/>
                  </a:schemeClr>
                </a:solidFill>
              </a:rPr>
              <a:t>What do you feel has allowed you to feel the levels of satisfaction that you have indicated in each area?</a:t>
            </a:r>
            <a:endParaRPr lang="en-US" sz="2400" dirty="0">
              <a:solidFill>
                <a:schemeClr val="accent6">
                  <a:lumMod val="10000"/>
                </a:schemeClr>
              </a:solidFill>
            </a:endParaRPr>
          </a:p>
          <a:p>
            <a:pPr lvl="0"/>
            <a:r>
              <a:rPr lang="en-AU" sz="2400" dirty="0">
                <a:solidFill>
                  <a:schemeClr val="accent6">
                    <a:lumMod val="10000"/>
                  </a:schemeClr>
                </a:solidFill>
              </a:rPr>
              <a:t>What do you feel is currently stopping you from feeling more satisfied in each of these areas?</a:t>
            </a:r>
            <a:endParaRPr lang="en-US" sz="2400" dirty="0">
              <a:solidFill>
                <a:schemeClr val="accent6">
                  <a:lumMod val="10000"/>
                </a:schemeClr>
              </a:solidFill>
            </a:endParaRPr>
          </a:p>
          <a:p>
            <a:pPr lvl="0"/>
            <a:r>
              <a:rPr lang="en-AU" sz="2400" dirty="0">
                <a:solidFill>
                  <a:schemeClr val="accent6">
                    <a:lumMod val="10000"/>
                  </a:schemeClr>
                </a:solidFill>
              </a:rPr>
              <a:t>What would you like to see change? </a:t>
            </a:r>
            <a:endParaRPr lang="en-US" sz="2400" dirty="0">
              <a:solidFill>
                <a:schemeClr val="accent6">
                  <a:lumMod val="10000"/>
                </a:schemeClr>
              </a:solidFill>
            </a:endParaRPr>
          </a:p>
          <a:p>
            <a:pPr lvl="0"/>
            <a:r>
              <a:rPr lang="en-AU" sz="2400" dirty="0">
                <a:solidFill>
                  <a:schemeClr val="accent6">
                    <a:lumMod val="10000"/>
                  </a:schemeClr>
                </a:solidFill>
              </a:rPr>
              <a:t>How would you like to see these changes occur?</a:t>
            </a:r>
            <a:endParaRPr lang="en-US" sz="2400" dirty="0">
              <a:solidFill>
                <a:schemeClr val="accent6">
                  <a:lumMod val="10000"/>
                </a:schemeClr>
              </a:solidFill>
            </a:endParaRPr>
          </a:p>
          <a:p>
            <a:endParaRPr lang="en-AU" dirty="0"/>
          </a:p>
        </p:txBody>
      </p:sp>
      <p:pic>
        <p:nvPicPr>
          <p:cNvPr id="5" name="Picture 4" descr="A circular diagram of the five elements&#10;&#10;AI-generated content may be incorrect.">
            <a:extLst>
              <a:ext uri="{FF2B5EF4-FFF2-40B4-BE49-F238E27FC236}">
                <a16:creationId xmlns:a16="http://schemas.microsoft.com/office/drawing/2014/main" id="{8B8603C4-923F-48A8-F3F5-ECD3845B72DC}"/>
              </a:ext>
            </a:extLst>
          </p:cNvPr>
          <p:cNvPicPr>
            <a:picLocks noChangeAspect="1"/>
          </p:cNvPicPr>
          <p:nvPr/>
        </p:nvPicPr>
        <p:blipFill>
          <a:blip r:embed="rId3"/>
          <a:stretch>
            <a:fillRect/>
          </a:stretch>
        </p:blipFill>
        <p:spPr>
          <a:xfrm>
            <a:off x="116731" y="782266"/>
            <a:ext cx="5468566" cy="5468566"/>
          </a:xfrm>
          <a:prstGeom prst="rect">
            <a:avLst/>
          </a:prstGeom>
        </p:spPr>
      </p:pic>
      <p:sp>
        <p:nvSpPr>
          <p:cNvPr id="6" name="TextBox 5">
            <a:extLst>
              <a:ext uri="{FF2B5EF4-FFF2-40B4-BE49-F238E27FC236}">
                <a16:creationId xmlns:a16="http://schemas.microsoft.com/office/drawing/2014/main" id="{0253BD97-EDEB-9B8B-83F4-4569475D82F3}"/>
              </a:ext>
            </a:extLst>
          </p:cNvPr>
          <p:cNvSpPr txBox="1"/>
          <p:nvPr/>
        </p:nvSpPr>
        <p:spPr>
          <a:xfrm>
            <a:off x="2636196" y="114343"/>
            <a:ext cx="7451387" cy="523220"/>
          </a:xfrm>
          <a:prstGeom prst="rect">
            <a:avLst/>
          </a:prstGeom>
          <a:noFill/>
        </p:spPr>
        <p:txBody>
          <a:bodyPr wrap="square" rtlCol="0">
            <a:spAutoFit/>
          </a:bodyPr>
          <a:lstStyle/>
          <a:p>
            <a:r>
              <a:rPr lang="en-AU" sz="2800" b="1" dirty="0"/>
              <a:t>Activity: Using the Wellbeing circle for a check-in</a:t>
            </a:r>
          </a:p>
        </p:txBody>
      </p:sp>
    </p:spTree>
    <p:extLst>
      <p:ext uri="{BB962C8B-B14F-4D97-AF65-F5344CB8AC3E}">
        <p14:creationId xmlns:p14="http://schemas.microsoft.com/office/powerpoint/2010/main" val="3900341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DC31-1488-8091-935A-1B03A14A5CD8}"/>
              </a:ext>
            </a:extLst>
          </p:cNvPr>
          <p:cNvSpPr>
            <a:spLocks noGrp="1"/>
          </p:cNvSpPr>
          <p:nvPr>
            <p:ph type="title"/>
          </p:nvPr>
        </p:nvSpPr>
        <p:spPr>
          <a:xfrm>
            <a:off x="838200" y="724535"/>
            <a:ext cx="10515600" cy="676656"/>
          </a:xfrm>
        </p:spPr>
        <p:txBody>
          <a:bodyPr/>
          <a:lstStyle/>
          <a:p>
            <a:pPr algn="ctr"/>
            <a:r>
              <a:rPr lang="en-AU" sz="2800" dirty="0">
                <a:solidFill>
                  <a:schemeClr val="accent6">
                    <a:lumMod val="10000"/>
                  </a:schemeClr>
                </a:solidFill>
              </a:rPr>
              <a:t>Journey of Health and Wellbeing </a:t>
            </a:r>
          </a:p>
        </p:txBody>
      </p:sp>
      <p:sp>
        <p:nvSpPr>
          <p:cNvPr id="3" name="Text Placeholder 2">
            <a:extLst>
              <a:ext uri="{FF2B5EF4-FFF2-40B4-BE49-F238E27FC236}">
                <a16:creationId xmlns:a16="http://schemas.microsoft.com/office/drawing/2014/main" id="{62F50689-D84C-7977-0A2B-2F0FFFB2014E}"/>
              </a:ext>
            </a:extLst>
          </p:cNvPr>
          <p:cNvSpPr>
            <a:spLocks noGrp="1"/>
          </p:cNvSpPr>
          <p:nvPr>
            <p:ph type="body" idx="1"/>
          </p:nvPr>
        </p:nvSpPr>
        <p:spPr>
          <a:xfrm>
            <a:off x="2799155" y="5491226"/>
            <a:ext cx="6464808" cy="402336"/>
          </a:xfrm>
        </p:spPr>
        <p:txBody>
          <a:bodyPr>
            <a:normAutofit fontScale="92500"/>
          </a:bodyPr>
          <a:lstStyle/>
          <a:p>
            <a:pPr algn="ctr"/>
            <a:r>
              <a:rPr lang="en-AU" dirty="0">
                <a:solidFill>
                  <a:schemeClr val="accent6">
                    <a:lumMod val="10000"/>
                  </a:schemeClr>
                </a:solidFill>
                <a:hlinkClick r:id="rId4">
                  <a:extLst>
                    <a:ext uri="{A12FA001-AC4F-418D-AE19-62706E023703}">
                      <ahyp:hlinkClr xmlns:ahyp="http://schemas.microsoft.com/office/drawing/2018/hyperlinkcolor" val="tx"/>
                    </a:ext>
                  </a:extLst>
                </a:hlinkClick>
              </a:rPr>
              <a:t>(361) Journey of health and wellbeing - YouTube</a:t>
            </a:r>
            <a:endParaRPr lang="en-US" dirty="0">
              <a:solidFill>
                <a:schemeClr val="accent6">
                  <a:lumMod val="10000"/>
                </a:schemeClr>
              </a:solidFill>
            </a:endParaRPr>
          </a:p>
        </p:txBody>
      </p:sp>
      <p:sp>
        <p:nvSpPr>
          <p:cNvPr id="4" name="Content Placeholder 3">
            <a:extLst>
              <a:ext uri="{FF2B5EF4-FFF2-40B4-BE49-F238E27FC236}">
                <a16:creationId xmlns:a16="http://schemas.microsoft.com/office/drawing/2014/main" id="{45A9ECAA-48CB-8CE7-4844-AA2C77D9E359}"/>
              </a:ext>
            </a:extLst>
          </p:cNvPr>
          <p:cNvSpPr>
            <a:spLocks noGrp="1"/>
          </p:cNvSpPr>
          <p:nvPr>
            <p:ph sz="half" idx="2"/>
          </p:nvPr>
        </p:nvSpPr>
        <p:spPr/>
        <p:txBody>
          <a:bodyPr/>
          <a:lstStyle/>
          <a:p>
            <a:endParaRPr lang="en-US" dirty="0"/>
          </a:p>
          <a:p>
            <a:endParaRPr lang="en-US" dirty="0"/>
          </a:p>
          <a:p>
            <a:endParaRPr lang="en-US" dirty="0"/>
          </a:p>
        </p:txBody>
      </p:sp>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a:lstStyle/>
          <a:p>
            <a:fld id="{58FB4751-880F-D840-AAA9-3A15815CC996}" type="slidenum">
              <a:rPr lang="en-US" smtClean="0"/>
              <a:pPr/>
              <a:t>21</a:t>
            </a:fld>
            <a:endParaRPr lang="en-US" dirty="0"/>
          </a:p>
        </p:txBody>
      </p:sp>
      <p:pic>
        <p:nvPicPr>
          <p:cNvPr id="12" name="Online Media 11" title="Journey of health and wellbeing">
            <a:hlinkClick r:id="" action="ppaction://media"/>
            <a:extLst>
              <a:ext uri="{FF2B5EF4-FFF2-40B4-BE49-F238E27FC236}">
                <a16:creationId xmlns:a16="http://schemas.microsoft.com/office/drawing/2014/main" id="{C5B522B5-C533-4034-9D57-022A43972904}"/>
              </a:ext>
            </a:extLst>
          </p:cNvPr>
          <p:cNvPicPr>
            <a:picLocks noRot="1" noChangeAspect="1"/>
          </p:cNvPicPr>
          <p:nvPr>
            <a:videoFile r:link="rId1"/>
          </p:nvPr>
        </p:nvPicPr>
        <p:blipFill>
          <a:blip r:embed="rId5"/>
          <a:stretch>
            <a:fillRect/>
          </a:stretch>
        </p:blipFill>
        <p:spPr>
          <a:xfrm>
            <a:off x="3392442" y="2423160"/>
            <a:ext cx="4882859" cy="2619502"/>
          </a:xfrm>
          <a:prstGeom prst="rect">
            <a:avLst/>
          </a:prstGeom>
        </p:spPr>
      </p:pic>
    </p:spTree>
    <p:extLst>
      <p:ext uri="{BB962C8B-B14F-4D97-AF65-F5344CB8AC3E}">
        <p14:creationId xmlns:p14="http://schemas.microsoft.com/office/powerpoint/2010/main" val="2759600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Sunset / Sunrise">
            <a:extLst>
              <a:ext uri="{FF2B5EF4-FFF2-40B4-BE49-F238E27FC236}">
                <a16:creationId xmlns:a16="http://schemas.microsoft.com/office/drawing/2014/main" id="{61959A22-99F2-46DC-B6CC-1CE5CCA712E3}"/>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0" y="0"/>
            <a:ext cx="12216632" cy="687124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32DD847-8B24-41D3-8998-BBCA1F664802}"/>
              </a:ext>
            </a:extLst>
          </p:cNvPr>
          <p:cNvSpPr>
            <a:spLocks noGrp="1"/>
          </p:cNvSpPr>
          <p:nvPr>
            <p:ph type="title"/>
          </p:nvPr>
        </p:nvSpPr>
        <p:spPr>
          <a:xfrm>
            <a:off x="324635" y="-21711"/>
            <a:ext cx="11567362" cy="1027576"/>
          </a:xfrm>
        </p:spPr>
        <p:txBody>
          <a:bodyPr>
            <a:normAutofit/>
          </a:bodyPr>
          <a:lstStyle/>
          <a:p>
            <a:pPr algn="ctr"/>
            <a:r>
              <a:rPr lang="en-AU" sz="2800" dirty="0">
                <a:solidFill>
                  <a:schemeClr val="accent6">
                    <a:lumMod val="10000"/>
                  </a:schemeClr>
                </a:solidFill>
              </a:rPr>
              <a:t>Examples of risks to Aboriginal SEWB</a:t>
            </a:r>
            <a:endParaRPr lang="en-GB" sz="2800" dirty="0">
              <a:solidFill>
                <a:schemeClr val="accent6">
                  <a:lumMod val="10000"/>
                </a:schemeClr>
              </a:solidFill>
            </a:endParaRPr>
          </a:p>
        </p:txBody>
      </p:sp>
      <p:sp>
        <p:nvSpPr>
          <p:cNvPr id="5" name="TextBox 4">
            <a:extLst>
              <a:ext uri="{FF2B5EF4-FFF2-40B4-BE49-F238E27FC236}">
                <a16:creationId xmlns:a16="http://schemas.microsoft.com/office/drawing/2014/main" id="{6C4CBFE1-BF26-406F-982A-4C3EE64D6D48}"/>
              </a:ext>
            </a:extLst>
          </p:cNvPr>
          <p:cNvSpPr txBox="1"/>
          <p:nvPr/>
        </p:nvSpPr>
        <p:spPr>
          <a:xfrm>
            <a:off x="254524" y="6404778"/>
            <a:ext cx="2382473" cy="338554"/>
          </a:xfrm>
          <a:prstGeom prst="rect">
            <a:avLst/>
          </a:prstGeom>
          <a:noFill/>
        </p:spPr>
        <p:txBody>
          <a:bodyPr wrap="square">
            <a:spAutoFit/>
          </a:bodyPr>
          <a:lstStyle/>
          <a:p>
            <a:r>
              <a:rPr lang="en-AU" sz="1600" dirty="0">
                <a:solidFill>
                  <a:schemeClr val="accent6">
                    <a:lumMod val="10000"/>
                  </a:schemeClr>
                </a:solidFill>
              </a:rPr>
              <a:t>(Zubrick et al., 2014)</a:t>
            </a:r>
            <a:endParaRPr lang="en-GB" sz="1600" dirty="0">
              <a:solidFill>
                <a:schemeClr val="accent6">
                  <a:lumMod val="10000"/>
                </a:schemeClr>
              </a:solidFill>
            </a:endParaRPr>
          </a:p>
        </p:txBody>
      </p:sp>
      <p:sp>
        <p:nvSpPr>
          <p:cNvPr id="6" name="Content Placeholder 5">
            <a:extLst>
              <a:ext uri="{FF2B5EF4-FFF2-40B4-BE49-F238E27FC236}">
                <a16:creationId xmlns:a16="http://schemas.microsoft.com/office/drawing/2014/main" id="{DBA51748-4203-4711-938D-39CD47C19588}"/>
              </a:ext>
            </a:extLst>
          </p:cNvPr>
          <p:cNvSpPr>
            <a:spLocks noGrp="1"/>
          </p:cNvSpPr>
          <p:nvPr>
            <p:ph idx="1"/>
          </p:nvPr>
        </p:nvSpPr>
        <p:spPr>
          <a:xfrm>
            <a:off x="254524" y="1005864"/>
            <a:ext cx="11567362" cy="5462047"/>
          </a:xfrm>
        </p:spPr>
        <p:txBody>
          <a:bodyPr>
            <a:normAutofit fontScale="92500" lnSpcReduction="10000"/>
          </a:bodyPr>
          <a:lstStyle/>
          <a:p>
            <a:pPr>
              <a:buFont typeface="Arial" panose="020B0604020202020204" pitchFamily="34" charset="0"/>
              <a:buChar char="•"/>
            </a:pPr>
            <a:r>
              <a:rPr lang="en-AU" b="1" dirty="0">
                <a:solidFill>
                  <a:schemeClr val="accent6">
                    <a:lumMod val="10000"/>
                  </a:schemeClr>
                </a:solidFill>
              </a:rPr>
              <a:t> Discrimination and Race</a:t>
            </a:r>
          </a:p>
          <a:p>
            <a:pPr>
              <a:buFont typeface="Arial" panose="020B0604020202020204" pitchFamily="34" charset="0"/>
              <a:buChar char="•"/>
            </a:pPr>
            <a:r>
              <a:rPr lang="en-AU" b="1" dirty="0">
                <a:solidFill>
                  <a:schemeClr val="accent6">
                    <a:lumMod val="10000"/>
                  </a:schemeClr>
                </a:solidFill>
              </a:rPr>
              <a:t> Widespread grief and loss </a:t>
            </a:r>
          </a:p>
          <a:p>
            <a:pPr>
              <a:buFont typeface="Arial" panose="020B0604020202020204" pitchFamily="34" charset="0"/>
              <a:buChar char="•"/>
            </a:pPr>
            <a:r>
              <a:rPr lang="en-AU" b="1" dirty="0">
                <a:solidFill>
                  <a:schemeClr val="accent6">
                    <a:lumMod val="10000"/>
                  </a:schemeClr>
                </a:solidFill>
              </a:rPr>
              <a:t> Unresolved trauma </a:t>
            </a:r>
          </a:p>
          <a:p>
            <a:pPr>
              <a:buFont typeface="Arial" panose="020B0604020202020204" pitchFamily="34" charset="0"/>
              <a:buChar char="•"/>
            </a:pPr>
            <a:r>
              <a:rPr lang="en-AU" b="1" dirty="0">
                <a:solidFill>
                  <a:schemeClr val="accent6">
                    <a:lumMod val="10000"/>
                  </a:schemeClr>
                </a:solidFill>
              </a:rPr>
              <a:t> Life stress</a:t>
            </a:r>
          </a:p>
          <a:p>
            <a:pPr>
              <a:buFont typeface="Arial" panose="020B0604020202020204" pitchFamily="34" charset="0"/>
              <a:buChar char="•"/>
            </a:pPr>
            <a:r>
              <a:rPr lang="en-AU" b="1" dirty="0">
                <a:solidFill>
                  <a:schemeClr val="accent6">
                    <a:lumMod val="10000"/>
                  </a:schemeClr>
                </a:solidFill>
              </a:rPr>
              <a:t> Social exclusion </a:t>
            </a:r>
          </a:p>
          <a:p>
            <a:pPr>
              <a:buFont typeface="Arial" panose="020B0604020202020204" pitchFamily="34" charset="0"/>
              <a:buChar char="•"/>
            </a:pPr>
            <a:r>
              <a:rPr lang="en-AU" b="1" dirty="0">
                <a:solidFill>
                  <a:schemeClr val="accent6">
                    <a:lumMod val="10000"/>
                  </a:schemeClr>
                </a:solidFill>
              </a:rPr>
              <a:t> Economic and social disadvantage</a:t>
            </a:r>
          </a:p>
          <a:p>
            <a:pPr>
              <a:buFont typeface="Arial" panose="020B0604020202020204" pitchFamily="34" charset="0"/>
              <a:buChar char="•"/>
            </a:pPr>
            <a:r>
              <a:rPr lang="en-AU" b="1" dirty="0">
                <a:solidFill>
                  <a:schemeClr val="accent6">
                    <a:lumMod val="10000"/>
                  </a:schemeClr>
                </a:solidFill>
              </a:rPr>
              <a:t> Incarceration and juvenile justice supervision </a:t>
            </a:r>
          </a:p>
          <a:p>
            <a:pPr>
              <a:buFont typeface="Arial" panose="020B0604020202020204" pitchFamily="34" charset="0"/>
              <a:buChar char="•"/>
            </a:pPr>
            <a:r>
              <a:rPr lang="en-AU" b="1" dirty="0">
                <a:solidFill>
                  <a:schemeClr val="accent6">
                    <a:lumMod val="10000"/>
                  </a:schemeClr>
                </a:solidFill>
              </a:rPr>
              <a:t> Child removal by Care and Protection Orders</a:t>
            </a:r>
          </a:p>
          <a:p>
            <a:pPr>
              <a:buFont typeface="Arial" panose="020B0604020202020204" pitchFamily="34" charset="0"/>
              <a:buChar char="•"/>
            </a:pPr>
            <a:r>
              <a:rPr lang="en-AU" b="1" dirty="0">
                <a:solidFill>
                  <a:schemeClr val="accent6">
                    <a:lumMod val="10000"/>
                  </a:schemeClr>
                </a:solidFill>
              </a:rPr>
              <a:t> Violence</a:t>
            </a:r>
          </a:p>
          <a:p>
            <a:pPr>
              <a:buFont typeface="Arial" panose="020B0604020202020204" pitchFamily="34" charset="0"/>
              <a:buChar char="•"/>
            </a:pPr>
            <a:r>
              <a:rPr lang="en-AU" b="1" dirty="0">
                <a:solidFill>
                  <a:schemeClr val="accent6">
                    <a:lumMod val="10000"/>
                  </a:schemeClr>
                </a:solidFill>
              </a:rPr>
              <a:t> Family violence</a:t>
            </a:r>
          </a:p>
          <a:p>
            <a:pPr>
              <a:buFont typeface="Arial" panose="020B0604020202020204" pitchFamily="34" charset="0"/>
              <a:buChar char="•"/>
            </a:pPr>
            <a:r>
              <a:rPr lang="en-AU" b="1" dirty="0">
                <a:solidFill>
                  <a:schemeClr val="accent6">
                    <a:lumMod val="10000"/>
                  </a:schemeClr>
                </a:solidFill>
              </a:rPr>
              <a:t> Substance use</a:t>
            </a:r>
          </a:p>
          <a:p>
            <a:pPr>
              <a:buFont typeface="Arial" panose="020B0604020202020204" pitchFamily="34" charset="0"/>
              <a:buChar char="•"/>
            </a:pPr>
            <a:r>
              <a:rPr lang="en-AU" b="1" dirty="0">
                <a:solidFill>
                  <a:schemeClr val="accent6">
                    <a:lumMod val="10000"/>
                  </a:schemeClr>
                </a:solidFill>
              </a:rPr>
              <a:t> Physical health problems</a:t>
            </a:r>
          </a:p>
          <a:p>
            <a:pPr>
              <a:buFont typeface="Arial" panose="020B0604020202020204" pitchFamily="34" charset="0"/>
              <a:buChar char="•"/>
            </a:pPr>
            <a:endParaRPr lang="en-AU" dirty="0"/>
          </a:p>
        </p:txBody>
      </p:sp>
      <p:pic>
        <p:nvPicPr>
          <p:cNvPr id="4" name="Picture 3" descr="A cover of a book&#10;&#10;Description automatically generated">
            <a:extLst>
              <a:ext uri="{FF2B5EF4-FFF2-40B4-BE49-F238E27FC236}">
                <a16:creationId xmlns:a16="http://schemas.microsoft.com/office/drawing/2014/main" id="{B8A69241-EDE8-4C48-4FE9-9AF48BCACB62}"/>
              </a:ext>
            </a:extLst>
          </p:cNvPr>
          <p:cNvPicPr>
            <a:picLocks noChangeAspect="1"/>
          </p:cNvPicPr>
          <p:nvPr/>
        </p:nvPicPr>
        <p:blipFill>
          <a:blip r:embed="rId4"/>
          <a:stretch>
            <a:fillRect/>
          </a:stretch>
        </p:blipFill>
        <p:spPr>
          <a:xfrm>
            <a:off x="8415305" y="1126992"/>
            <a:ext cx="3265994" cy="4617260"/>
          </a:xfrm>
          <a:prstGeom prst="rect">
            <a:avLst/>
          </a:prstGeom>
          <a:ln>
            <a:noFill/>
          </a:ln>
          <a:effectLst>
            <a:softEdge rad="112500"/>
          </a:effectLst>
        </p:spPr>
      </p:pic>
    </p:spTree>
    <p:extLst>
      <p:ext uri="{BB962C8B-B14F-4D97-AF65-F5344CB8AC3E}">
        <p14:creationId xmlns:p14="http://schemas.microsoft.com/office/powerpoint/2010/main" val="1412474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A4A3D1-CCCA-A4C2-8B2F-18FF41FC08E5}"/>
              </a:ext>
            </a:extLst>
          </p:cNvPr>
          <p:cNvPicPr>
            <a:picLocks noChangeAspect="1"/>
          </p:cNvPicPr>
          <p:nvPr/>
        </p:nvPicPr>
        <p:blipFill>
          <a:blip r:embed="rId3"/>
          <a:srcRect l="18844" r="11053" b="-1"/>
          <a:stretch/>
        </p:blipFill>
        <p:spPr>
          <a:xfrm>
            <a:off x="576072" y="2505075"/>
            <a:ext cx="2944368" cy="3684588"/>
          </a:xfrm>
          <a:prstGeom prst="rect">
            <a:avLst/>
          </a:prstGeom>
          <a:noFill/>
        </p:spPr>
      </p:pic>
      <p:pic>
        <p:nvPicPr>
          <p:cNvPr id="9" name="Picture 8" descr="A collage of people wearing traditional clothing&#10;&#10;Description automatically generated">
            <a:extLst>
              <a:ext uri="{FF2B5EF4-FFF2-40B4-BE49-F238E27FC236}">
                <a16:creationId xmlns:a16="http://schemas.microsoft.com/office/drawing/2014/main" id="{142A928A-7D37-CCBB-548C-99905D623B5D}"/>
              </a:ext>
            </a:extLst>
          </p:cNvPr>
          <p:cNvPicPr>
            <a:picLocks noChangeAspect="1"/>
          </p:cNvPicPr>
          <p:nvPr/>
        </p:nvPicPr>
        <p:blipFill>
          <a:blip r:embed="rId4"/>
          <a:srcRect l="22012" r="7371" b="2"/>
          <a:stretch/>
        </p:blipFill>
        <p:spPr>
          <a:xfrm>
            <a:off x="4782312" y="2505075"/>
            <a:ext cx="2944368" cy="3684588"/>
          </a:xfrm>
          <a:prstGeom prst="rect">
            <a:avLst/>
          </a:prstGeom>
          <a:noFill/>
        </p:spPr>
      </p:pic>
      <p:sp>
        <p:nvSpPr>
          <p:cNvPr id="18" name="Date Placeholder 5">
            <a:extLst>
              <a:ext uri="{FF2B5EF4-FFF2-40B4-BE49-F238E27FC236}">
                <a16:creationId xmlns:a16="http://schemas.microsoft.com/office/drawing/2014/main" id="{4001A927-8BC1-D394-7E17-3ADFD89A8A46}"/>
              </a:ext>
            </a:extLst>
          </p:cNvPr>
          <p:cNvSpPr>
            <a:spLocks noGrp="1"/>
          </p:cNvSpPr>
          <p:nvPr>
            <p:ph type="dt" sz="half" idx="10"/>
          </p:nvPr>
        </p:nvSpPr>
        <p:spPr>
          <a:xfrm>
            <a:off x="365760" y="6464808"/>
            <a:ext cx="4262420" cy="310896"/>
          </a:xfrm>
        </p:spPr>
        <p:txBody>
          <a:bodyPr/>
          <a:lstStyle/>
          <a:p>
            <a:pPr>
              <a:spcAft>
                <a:spcPts val="600"/>
              </a:spcAft>
            </a:pPr>
            <a:r>
              <a:rPr lang="en-AU" sz="1400">
                <a:effectLst/>
                <a:latin typeface="Aptos" panose="020B0004020202020204" pitchFamily="34" charset="0"/>
                <a:ea typeface="Aptos" panose="020B0004020202020204" pitchFamily="34" charset="0"/>
                <a:cs typeface="Times New Roman" panose="02020603050405020304" pitchFamily="18" charset="0"/>
              </a:rPr>
              <a:t>https://www.snaicc.org.au</a:t>
            </a:r>
            <a:endParaRPr lang="en-US"/>
          </a:p>
        </p:txBody>
      </p:sp>
      <p:sp>
        <p:nvSpPr>
          <p:cNvPr id="22" name="Slide Number Placeholder 7">
            <a:extLst>
              <a:ext uri="{FF2B5EF4-FFF2-40B4-BE49-F238E27FC236}">
                <a16:creationId xmlns:a16="http://schemas.microsoft.com/office/drawing/2014/main" id="{588D8EA2-07AE-0DCD-7B87-89F0DD2D58ED}"/>
              </a:ext>
            </a:extLst>
          </p:cNvPr>
          <p:cNvSpPr>
            <a:spLocks noGrp="1"/>
          </p:cNvSpPr>
          <p:nvPr>
            <p:ph type="sldNum" sz="quarter" idx="12"/>
          </p:nvPr>
        </p:nvSpPr>
        <p:spPr>
          <a:xfrm>
            <a:off x="11027664" y="6464808"/>
            <a:ext cx="987552" cy="310896"/>
          </a:xfrm>
        </p:spPr>
        <p:txBody>
          <a:bodyPr/>
          <a:lstStyle/>
          <a:p>
            <a:pPr>
              <a:spcAft>
                <a:spcPts val="600"/>
              </a:spcAft>
            </a:pPr>
            <a:fld id="{58FB4751-880F-D840-AAA9-3A15815CC996}" type="slidenum">
              <a:rPr lang="en-US" smtClean="0"/>
              <a:pPr>
                <a:spcAft>
                  <a:spcPts val="600"/>
                </a:spcAft>
              </a:pPr>
              <a:t>23</a:t>
            </a:fld>
            <a:endParaRPr lang="en-US"/>
          </a:p>
        </p:txBody>
      </p:sp>
      <p:sp>
        <p:nvSpPr>
          <p:cNvPr id="2" name="Title 1">
            <a:extLst>
              <a:ext uri="{FF2B5EF4-FFF2-40B4-BE49-F238E27FC236}">
                <a16:creationId xmlns:a16="http://schemas.microsoft.com/office/drawing/2014/main" id="{03BFF939-0369-D509-B15E-E764524A59CB}"/>
              </a:ext>
            </a:extLst>
          </p:cNvPr>
          <p:cNvSpPr>
            <a:spLocks noGrp="1"/>
          </p:cNvSpPr>
          <p:nvPr>
            <p:ph type="title"/>
          </p:nvPr>
        </p:nvSpPr>
        <p:spPr>
          <a:xfrm>
            <a:off x="2609152" y="229038"/>
            <a:ext cx="7400610" cy="676656"/>
          </a:xfrm>
        </p:spPr>
        <p:txBody>
          <a:bodyPr anchor="ctr">
            <a:normAutofit/>
          </a:bodyPr>
          <a:lstStyle/>
          <a:p>
            <a:r>
              <a:rPr lang="en-AU" sz="4100" dirty="0">
                <a:solidFill>
                  <a:schemeClr val="bg2">
                    <a:lumMod val="25000"/>
                  </a:schemeClr>
                </a:solidFill>
              </a:rPr>
              <a:t>Strengths-based approach</a:t>
            </a:r>
          </a:p>
        </p:txBody>
      </p:sp>
      <p:pic>
        <p:nvPicPr>
          <p:cNvPr id="10" name="Picture 9" descr="A person carrying a child on his shoulders&#10;&#10;Description automatically generated">
            <a:extLst>
              <a:ext uri="{FF2B5EF4-FFF2-40B4-BE49-F238E27FC236}">
                <a16:creationId xmlns:a16="http://schemas.microsoft.com/office/drawing/2014/main" id="{0B328757-D44D-9395-67D8-78E5F0597EBB}"/>
              </a:ext>
            </a:extLst>
          </p:cNvPr>
          <p:cNvPicPr>
            <a:picLocks noChangeAspect="1"/>
          </p:cNvPicPr>
          <p:nvPr/>
        </p:nvPicPr>
        <p:blipFill>
          <a:blip r:embed="rId5"/>
          <a:stretch>
            <a:fillRect/>
          </a:stretch>
        </p:blipFill>
        <p:spPr>
          <a:xfrm>
            <a:off x="3072193" y="1207389"/>
            <a:ext cx="2066925" cy="1809750"/>
          </a:xfrm>
          <a:prstGeom prst="rect">
            <a:avLst/>
          </a:prstGeom>
        </p:spPr>
      </p:pic>
      <p:pic>
        <p:nvPicPr>
          <p:cNvPr id="11" name="Content Placeholder 10">
            <a:extLst>
              <a:ext uri="{FF2B5EF4-FFF2-40B4-BE49-F238E27FC236}">
                <a16:creationId xmlns:a16="http://schemas.microsoft.com/office/drawing/2014/main" id="{F609D0CD-BE51-F9D5-8E5B-323E4107F385}"/>
              </a:ext>
            </a:extLst>
          </p:cNvPr>
          <p:cNvPicPr>
            <a:picLocks noGrp="1" noChangeAspect="1"/>
          </p:cNvPicPr>
          <p:nvPr>
            <p:ph sz="quarter" idx="14"/>
          </p:nvPr>
        </p:nvPicPr>
        <p:blipFill>
          <a:blip r:embed="rId6"/>
          <a:stretch>
            <a:fillRect/>
          </a:stretch>
        </p:blipFill>
        <p:spPr>
          <a:xfrm>
            <a:off x="8158962" y="2478525"/>
            <a:ext cx="3456966" cy="3684588"/>
          </a:xfrm>
          <a:prstGeom prst="rect">
            <a:avLst/>
          </a:prstGeom>
        </p:spPr>
      </p:pic>
      <p:pic>
        <p:nvPicPr>
          <p:cNvPr id="12" name="Picture 11" descr="A collage of people and a book&#10;&#10;Description automatically generated">
            <a:extLst>
              <a:ext uri="{FF2B5EF4-FFF2-40B4-BE49-F238E27FC236}">
                <a16:creationId xmlns:a16="http://schemas.microsoft.com/office/drawing/2014/main" id="{567D0F60-A495-1EA1-16F2-8DA9E3713797}"/>
              </a:ext>
            </a:extLst>
          </p:cNvPr>
          <p:cNvPicPr>
            <a:picLocks noChangeAspect="1"/>
          </p:cNvPicPr>
          <p:nvPr/>
        </p:nvPicPr>
        <p:blipFill>
          <a:blip r:embed="rId7"/>
          <a:stretch>
            <a:fillRect/>
          </a:stretch>
        </p:blipFill>
        <p:spPr>
          <a:xfrm>
            <a:off x="2940993" y="5057775"/>
            <a:ext cx="2114550" cy="1800225"/>
          </a:xfrm>
          <a:prstGeom prst="rect">
            <a:avLst/>
          </a:prstGeom>
        </p:spPr>
      </p:pic>
      <p:pic>
        <p:nvPicPr>
          <p:cNvPr id="13" name="Picture 12" descr="A collage of several people&#10;&#10;Description automatically generated">
            <a:extLst>
              <a:ext uri="{FF2B5EF4-FFF2-40B4-BE49-F238E27FC236}">
                <a16:creationId xmlns:a16="http://schemas.microsoft.com/office/drawing/2014/main" id="{D3AE2943-86E4-777A-35CA-A9DD51381275}"/>
              </a:ext>
            </a:extLst>
          </p:cNvPr>
          <p:cNvPicPr>
            <a:picLocks noChangeAspect="1"/>
          </p:cNvPicPr>
          <p:nvPr/>
        </p:nvPicPr>
        <p:blipFill>
          <a:blip r:embed="rId8"/>
          <a:stretch>
            <a:fillRect/>
          </a:stretch>
        </p:blipFill>
        <p:spPr>
          <a:xfrm>
            <a:off x="7429294" y="1133307"/>
            <a:ext cx="2458151" cy="2131269"/>
          </a:xfrm>
          <a:prstGeom prst="rect">
            <a:avLst/>
          </a:prstGeom>
        </p:spPr>
      </p:pic>
      <p:pic>
        <p:nvPicPr>
          <p:cNvPr id="17" name="Picture 16">
            <a:extLst>
              <a:ext uri="{FF2B5EF4-FFF2-40B4-BE49-F238E27FC236}">
                <a16:creationId xmlns:a16="http://schemas.microsoft.com/office/drawing/2014/main" id="{F6CF8D55-58FA-F5BA-B849-40702FA5C435}"/>
              </a:ext>
            </a:extLst>
          </p:cNvPr>
          <p:cNvPicPr>
            <a:picLocks noChangeAspect="1"/>
          </p:cNvPicPr>
          <p:nvPr/>
        </p:nvPicPr>
        <p:blipFill>
          <a:blip r:embed="rId9"/>
          <a:stretch>
            <a:fillRect/>
          </a:stretch>
        </p:blipFill>
        <p:spPr>
          <a:xfrm>
            <a:off x="7263487" y="5305208"/>
            <a:ext cx="1790950" cy="1552792"/>
          </a:xfrm>
          <a:prstGeom prst="rect">
            <a:avLst/>
          </a:prstGeom>
        </p:spPr>
      </p:pic>
    </p:spTree>
    <p:extLst>
      <p:ext uri="{BB962C8B-B14F-4D97-AF65-F5344CB8AC3E}">
        <p14:creationId xmlns:p14="http://schemas.microsoft.com/office/powerpoint/2010/main" val="2682308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3535D65-878B-4A0A-86AB-AD6226CF55AA}"/>
              </a:ext>
            </a:extLst>
          </p:cNvPr>
          <p:cNvSpPr>
            <a:spLocks noGrp="1"/>
          </p:cNvSpPr>
          <p:nvPr>
            <p:ph type="body" sz="quarter" idx="13"/>
          </p:nvPr>
        </p:nvSpPr>
        <p:spPr>
          <a:xfrm>
            <a:off x="3078759" y="1392571"/>
            <a:ext cx="8556771" cy="4731391"/>
          </a:xfrm>
        </p:spPr>
        <p:txBody>
          <a:bodyPr>
            <a:normAutofit/>
          </a:bodyPr>
          <a:lstStyle/>
          <a:p>
            <a:pPr algn="l"/>
            <a:endParaRPr lang="en-AU" sz="3200" dirty="0">
              <a:solidFill>
                <a:schemeClr val="accent6">
                  <a:lumMod val="10000"/>
                </a:schemeClr>
              </a:solidFill>
            </a:endParaRPr>
          </a:p>
          <a:p>
            <a:endParaRPr lang="en-AU" dirty="0"/>
          </a:p>
        </p:txBody>
      </p:sp>
      <p:sp>
        <p:nvSpPr>
          <p:cNvPr id="6" name="Title 5">
            <a:extLst>
              <a:ext uri="{FF2B5EF4-FFF2-40B4-BE49-F238E27FC236}">
                <a16:creationId xmlns:a16="http://schemas.microsoft.com/office/drawing/2014/main" id="{1CC240DB-10BF-4850-A4EB-4F63C6B3CDA7}"/>
              </a:ext>
            </a:extLst>
          </p:cNvPr>
          <p:cNvSpPr>
            <a:spLocks noGrp="1"/>
          </p:cNvSpPr>
          <p:nvPr>
            <p:ph type="title"/>
          </p:nvPr>
        </p:nvSpPr>
        <p:spPr>
          <a:xfrm>
            <a:off x="838200" y="192947"/>
            <a:ext cx="10515600" cy="1677797"/>
          </a:xfrm>
        </p:spPr>
        <p:txBody>
          <a:bodyPr/>
          <a:lstStyle/>
          <a:p>
            <a:r>
              <a:rPr lang="en-AU" dirty="0">
                <a:solidFill>
                  <a:schemeClr val="accent6">
                    <a:lumMod val="10000"/>
                  </a:schemeClr>
                </a:solidFill>
                <a:latin typeface="+mj-lt"/>
              </a:rPr>
              <a:t>Strengths Based Activity</a:t>
            </a:r>
            <a:br>
              <a:rPr lang="en-AU" dirty="0"/>
            </a:br>
            <a:endParaRPr lang="en-AU" dirty="0"/>
          </a:p>
        </p:txBody>
      </p:sp>
      <p:sp>
        <p:nvSpPr>
          <p:cNvPr id="2" name="TextBox 1">
            <a:extLst>
              <a:ext uri="{FF2B5EF4-FFF2-40B4-BE49-F238E27FC236}">
                <a16:creationId xmlns:a16="http://schemas.microsoft.com/office/drawing/2014/main" id="{15CAB5D6-7F61-C84E-092D-5C68382C9B2F}"/>
              </a:ext>
            </a:extLst>
          </p:cNvPr>
          <p:cNvSpPr txBox="1"/>
          <p:nvPr/>
        </p:nvSpPr>
        <p:spPr>
          <a:xfrm>
            <a:off x="244987" y="2117398"/>
            <a:ext cx="5234039" cy="4547655"/>
          </a:xfrm>
          <a:prstGeom prst="rect">
            <a:avLst/>
          </a:prstGeom>
          <a:noFill/>
        </p:spPr>
        <p:txBody>
          <a:bodyPr wrap="square" rtlCol="0">
            <a:spAutoFit/>
          </a:bodyPr>
          <a:lstStyle/>
          <a:p>
            <a:pPr defTabSz="609630"/>
            <a:r>
              <a:rPr lang="en-AU" sz="1600" b="1" dirty="0">
                <a:solidFill>
                  <a:prstClr val="black"/>
                </a:solidFill>
                <a:latin typeface="Calibri"/>
              </a:rPr>
              <a:t>Talking Up Our Strengths Cards</a:t>
            </a:r>
          </a:p>
          <a:p>
            <a:pPr defTabSz="609630"/>
            <a:r>
              <a:rPr lang="en-AU" sz="1600" b="1" dirty="0">
                <a:solidFill>
                  <a:prstClr val="black"/>
                </a:solidFill>
                <a:latin typeface="Calibri"/>
              </a:rPr>
              <a:t>Instructions:</a:t>
            </a:r>
            <a:endParaRPr lang="en-AU" sz="1600" dirty="0">
              <a:solidFill>
                <a:prstClr val="black"/>
              </a:solidFill>
              <a:latin typeface="Calibri"/>
            </a:endParaRPr>
          </a:p>
          <a:p>
            <a:pPr defTabSz="609630">
              <a:lnSpc>
                <a:spcPct val="150000"/>
              </a:lnSpc>
              <a:spcAft>
                <a:spcPts val="800"/>
              </a:spcAft>
            </a:pPr>
            <a:r>
              <a:rPr lang="en-AU" sz="1600" dirty="0">
                <a:solidFill>
                  <a:prstClr val="black"/>
                </a:solidFill>
                <a:latin typeface="Calibri"/>
              </a:rPr>
              <a:t>🎴 </a:t>
            </a:r>
            <a:r>
              <a:rPr lang="en-AU" sz="1600" i="1" dirty="0">
                <a:solidFill>
                  <a:prstClr val="black"/>
                </a:solidFill>
                <a:latin typeface="Calibri"/>
              </a:rPr>
              <a:t>Select a card.</a:t>
            </a:r>
            <a:r>
              <a:rPr lang="en-AU" sz="1600" dirty="0">
                <a:solidFill>
                  <a:prstClr val="black"/>
                </a:solidFill>
                <a:latin typeface="Calibri"/>
              </a:rPr>
              <a:t> Choose one ‘Talking Up Our Strengths’ card that resonates with you.</a:t>
            </a:r>
          </a:p>
          <a:p>
            <a:pPr defTabSz="609630">
              <a:lnSpc>
                <a:spcPct val="150000"/>
              </a:lnSpc>
              <a:spcAft>
                <a:spcPts val="800"/>
              </a:spcAft>
            </a:pPr>
            <a:r>
              <a:rPr lang="en-AU" sz="1600" dirty="0">
                <a:solidFill>
                  <a:prstClr val="black"/>
                </a:solidFill>
                <a:latin typeface="Calibri"/>
              </a:rPr>
              <a:t>🧑‍🤝‍🧑 </a:t>
            </a:r>
            <a:r>
              <a:rPr lang="en-AU" sz="1600" i="1" dirty="0">
                <a:solidFill>
                  <a:prstClr val="black"/>
                </a:solidFill>
                <a:latin typeface="Calibri"/>
              </a:rPr>
              <a:t>Discuss in your group.</a:t>
            </a:r>
            <a:r>
              <a:rPr lang="en-AU" sz="1600" dirty="0">
                <a:solidFill>
                  <a:prstClr val="black"/>
                </a:solidFill>
                <a:latin typeface="Calibri"/>
              </a:rPr>
              <a:t> Share how the strength you chose shapes your view or actions within your own culture.</a:t>
            </a:r>
          </a:p>
          <a:p>
            <a:pPr defTabSz="609630">
              <a:lnSpc>
                <a:spcPct val="150000"/>
              </a:lnSpc>
              <a:spcAft>
                <a:spcPts val="800"/>
              </a:spcAft>
            </a:pPr>
            <a:r>
              <a:rPr lang="en-AU" sz="1600" dirty="0">
                <a:solidFill>
                  <a:prstClr val="black"/>
                </a:solidFill>
                <a:latin typeface="Calibri"/>
              </a:rPr>
              <a:t>🌏 </a:t>
            </a:r>
            <a:r>
              <a:rPr lang="en-AU" sz="1600" i="1" dirty="0">
                <a:solidFill>
                  <a:prstClr val="black"/>
                </a:solidFill>
                <a:latin typeface="Calibri"/>
              </a:rPr>
              <a:t>Reflect on cultural insights.</a:t>
            </a:r>
            <a:r>
              <a:rPr lang="en-AU" sz="1600" dirty="0">
                <a:solidFill>
                  <a:prstClr val="black"/>
                </a:solidFill>
                <a:latin typeface="Calibri"/>
              </a:rPr>
              <a:t> Explore: Did your card or group discussion show </a:t>
            </a:r>
            <a:r>
              <a:rPr lang="en-AU" sz="1600" i="1" dirty="0">
                <a:solidFill>
                  <a:prstClr val="black"/>
                </a:solidFill>
                <a:latin typeface="Calibri"/>
              </a:rPr>
              <a:t>similarities or differences</a:t>
            </a:r>
            <a:r>
              <a:rPr lang="en-AU" sz="1600" dirty="0">
                <a:solidFill>
                  <a:prstClr val="black"/>
                </a:solidFill>
                <a:latin typeface="Calibri"/>
              </a:rPr>
              <a:t> between your cultural group and </a:t>
            </a:r>
            <a:r>
              <a:rPr lang="en-AU" sz="1600" i="1" dirty="0">
                <a:solidFill>
                  <a:prstClr val="black"/>
                </a:solidFill>
                <a:latin typeface="Calibri"/>
              </a:rPr>
              <a:t>Aboriginal and Torres Strait Islander peoples and their cultures</a:t>
            </a:r>
            <a:r>
              <a:rPr lang="en-AU" sz="1600" dirty="0">
                <a:solidFill>
                  <a:prstClr val="black"/>
                </a:solidFill>
                <a:latin typeface="Calibri"/>
              </a:rPr>
              <a:t>?</a:t>
            </a:r>
          </a:p>
          <a:p>
            <a:pPr defTabSz="609630">
              <a:lnSpc>
                <a:spcPct val="150000"/>
              </a:lnSpc>
              <a:spcAft>
                <a:spcPts val="800"/>
              </a:spcAft>
            </a:pPr>
            <a:r>
              <a:rPr lang="en-AU" sz="1600" dirty="0">
                <a:solidFill>
                  <a:prstClr val="black"/>
                </a:solidFill>
                <a:latin typeface="Calibri"/>
              </a:rPr>
              <a:t>📢 </a:t>
            </a:r>
            <a:r>
              <a:rPr lang="en-AU" sz="1600" i="1" dirty="0">
                <a:solidFill>
                  <a:prstClr val="black"/>
                </a:solidFill>
                <a:latin typeface="Calibri"/>
              </a:rPr>
              <a:t>Share with the whole class.</a:t>
            </a:r>
            <a:r>
              <a:rPr lang="en-AU" sz="1600" dirty="0">
                <a:solidFill>
                  <a:prstClr val="black"/>
                </a:solidFill>
                <a:latin typeface="Calibri"/>
              </a:rPr>
              <a:t> Highlight insights from your group—what surprised you, moved you, or made you think?</a:t>
            </a:r>
          </a:p>
        </p:txBody>
      </p:sp>
      <p:pic>
        <p:nvPicPr>
          <p:cNvPr id="3" name="Picture 2" descr="A book cover with text&#10;&#10;AI-generated content may be incorrect.">
            <a:extLst>
              <a:ext uri="{FF2B5EF4-FFF2-40B4-BE49-F238E27FC236}">
                <a16:creationId xmlns:a16="http://schemas.microsoft.com/office/drawing/2014/main" id="{3D521DA5-BBB9-B5CA-A281-F98F6354C5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1050" y="3536950"/>
            <a:ext cx="3790950" cy="3321050"/>
          </a:xfrm>
          <a:prstGeom prst="rect">
            <a:avLst/>
          </a:prstGeom>
        </p:spPr>
      </p:pic>
      <p:pic>
        <p:nvPicPr>
          <p:cNvPr id="4" name="Picture 3" descr="A collage of several people&#10;&#10;AI-generated content may be incorrect.">
            <a:extLst>
              <a:ext uri="{FF2B5EF4-FFF2-40B4-BE49-F238E27FC236}">
                <a16:creationId xmlns:a16="http://schemas.microsoft.com/office/drawing/2014/main" id="{2832ACB2-3327-41E4-EDE4-E46A4F0BD1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1819" y="1205167"/>
            <a:ext cx="2350181" cy="2037657"/>
          </a:xfrm>
          <a:prstGeom prst="rect">
            <a:avLst/>
          </a:prstGeom>
        </p:spPr>
      </p:pic>
      <p:pic>
        <p:nvPicPr>
          <p:cNvPr id="7" name="Picture 6" descr="A collage of people in different poses&#10;&#10;AI-generated content may be incorrect.">
            <a:extLst>
              <a:ext uri="{FF2B5EF4-FFF2-40B4-BE49-F238E27FC236}">
                <a16:creationId xmlns:a16="http://schemas.microsoft.com/office/drawing/2014/main" id="{232CEC0E-ADBE-20D6-4A53-ECDDCD76C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81850" y="1109964"/>
            <a:ext cx="2438400" cy="2114145"/>
          </a:xfrm>
          <a:prstGeom prst="rect">
            <a:avLst/>
          </a:prstGeom>
        </p:spPr>
      </p:pic>
    </p:spTree>
    <p:extLst>
      <p:ext uri="{BB962C8B-B14F-4D97-AF65-F5344CB8AC3E}">
        <p14:creationId xmlns:p14="http://schemas.microsoft.com/office/powerpoint/2010/main" val="64943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59FB5C1-EB6A-4300-81D3-4D321F91511B}"/>
              </a:ext>
            </a:extLst>
          </p:cNvPr>
          <p:cNvSpPr>
            <a:spLocks noGrp="1"/>
          </p:cNvSpPr>
          <p:nvPr>
            <p:ph type="body" sz="quarter" idx="13"/>
          </p:nvPr>
        </p:nvSpPr>
        <p:spPr>
          <a:xfrm>
            <a:off x="3296874" y="973123"/>
            <a:ext cx="8514825" cy="5285064"/>
          </a:xfrm>
        </p:spPr>
        <p:txBody>
          <a:bodyPr/>
          <a:lstStyle/>
          <a:p>
            <a:pPr marL="342900" indent="-342900" algn="l">
              <a:buFont typeface="Arial" panose="020B0604020202020204" pitchFamily="34" charset="0"/>
              <a:buChar char="•"/>
            </a:pPr>
            <a:r>
              <a:rPr lang="en-AU" sz="2800" dirty="0">
                <a:solidFill>
                  <a:schemeClr val="accent6">
                    <a:lumMod val="10000"/>
                  </a:schemeClr>
                </a:solidFill>
              </a:rPr>
              <a:t>Connection to Land, culture, spirituality and ancestry</a:t>
            </a:r>
          </a:p>
          <a:p>
            <a:pPr marL="342900" indent="-342900" algn="l">
              <a:buFont typeface="Arial" panose="020B0604020202020204" pitchFamily="34" charset="0"/>
              <a:buChar char="•"/>
            </a:pPr>
            <a:r>
              <a:rPr lang="en-AU" sz="2800" dirty="0">
                <a:solidFill>
                  <a:schemeClr val="accent6">
                    <a:lumMod val="10000"/>
                  </a:schemeClr>
                </a:solidFill>
              </a:rPr>
              <a:t>Kinship</a:t>
            </a:r>
          </a:p>
          <a:p>
            <a:pPr marL="342900" indent="-342900" algn="l">
              <a:buFont typeface="Arial" panose="020B0604020202020204" pitchFamily="34" charset="0"/>
              <a:buChar char="•"/>
            </a:pPr>
            <a:r>
              <a:rPr lang="en-AU" sz="2800" dirty="0">
                <a:solidFill>
                  <a:schemeClr val="accent6">
                    <a:lumMod val="10000"/>
                  </a:schemeClr>
                </a:solidFill>
              </a:rPr>
              <a:t>Self-determination, Community Governance, and Cultural Continuity</a:t>
            </a:r>
          </a:p>
          <a:p>
            <a:pPr marL="342900" indent="-342900" algn="l">
              <a:buFont typeface="Arial" panose="020B0604020202020204" pitchFamily="34" charset="0"/>
              <a:buChar char="•"/>
            </a:pPr>
            <a:r>
              <a:rPr lang="en-AU" sz="2800" dirty="0">
                <a:solidFill>
                  <a:schemeClr val="accent6">
                    <a:lumMod val="10000"/>
                  </a:schemeClr>
                </a:solidFill>
              </a:rPr>
              <a:t>The land owns us…</a:t>
            </a:r>
          </a:p>
          <a:p>
            <a:pPr marL="342900" indent="-342900" algn="l">
              <a:buFont typeface="Arial" panose="020B0604020202020204" pitchFamily="34" charset="0"/>
              <a:buChar char="•"/>
            </a:pPr>
            <a:endParaRPr lang="en-AU" sz="2800" dirty="0">
              <a:solidFill>
                <a:schemeClr val="accent6">
                  <a:lumMod val="10000"/>
                </a:schemeClr>
              </a:solidFill>
            </a:endParaRPr>
          </a:p>
          <a:p>
            <a:pPr algn="l"/>
            <a:endParaRPr lang="en-AU" sz="2800" dirty="0">
              <a:solidFill>
                <a:schemeClr val="accent6">
                  <a:lumMod val="10000"/>
                </a:schemeClr>
              </a:solidFill>
            </a:endParaRPr>
          </a:p>
          <a:p>
            <a:endParaRPr lang="en-AU" dirty="0"/>
          </a:p>
        </p:txBody>
      </p:sp>
      <p:sp>
        <p:nvSpPr>
          <p:cNvPr id="6" name="Title 5">
            <a:extLst>
              <a:ext uri="{FF2B5EF4-FFF2-40B4-BE49-F238E27FC236}">
                <a16:creationId xmlns:a16="http://schemas.microsoft.com/office/drawing/2014/main" id="{F1A50A2D-9148-462F-B81A-1936977B3CF9}"/>
              </a:ext>
            </a:extLst>
          </p:cNvPr>
          <p:cNvSpPr>
            <a:spLocks noGrp="1"/>
          </p:cNvSpPr>
          <p:nvPr>
            <p:ph type="title"/>
          </p:nvPr>
        </p:nvSpPr>
        <p:spPr>
          <a:xfrm>
            <a:off x="1750979" y="82296"/>
            <a:ext cx="9904823" cy="890827"/>
          </a:xfrm>
        </p:spPr>
        <p:txBody>
          <a:bodyPr/>
          <a:lstStyle/>
          <a:p>
            <a:pPr algn="l"/>
            <a:r>
              <a:rPr lang="en-AU" sz="3200" dirty="0">
                <a:solidFill>
                  <a:schemeClr val="accent6">
                    <a:lumMod val="10000"/>
                  </a:schemeClr>
                </a:solidFill>
                <a:latin typeface="+mj-lt"/>
              </a:rPr>
              <a:t>Factors that protect Aboriginal SEWB</a:t>
            </a:r>
          </a:p>
        </p:txBody>
      </p:sp>
      <p:pic>
        <p:nvPicPr>
          <p:cNvPr id="7" name="Online Media 6" title="The Land Owns Us">
            <a:hlinkClick r:id="" action="ppaction://media"/>
            <a:extLst>
              <a:ext uri="{FF2B5EF4-FFF2-40B4-BE49-F238E27FC236}">
                <a16:creationId xmlns:a16="http://schemas.microsoft.com/office/drawing/2014/main" id="{055E8F7C-144D-4A23-B299-ADA25188B5CB}"/>
              </a:ext>
            </a:extLst>
          </p:cNvPr>
          <p:cNvPicPr>
            <a:picLocks noRot="1" noChangeAspect="1"/>
          </p:cNvPicPr>
          <p:nvPr>
            <a:videoFile r:link="rId1"/>
          </p:nvPr>
        </p:nvPicPr>
        <p:blipFill>
          <a:blip r:embed="rId4"/>
          <a:stretch>
            <a:fillRect/>
          </a:stretch>
        </p:blipFill>
        <p:spPr>
          <a:xfrm>
            <a:off x="543946" y="3314511"/>
            <a:ext cx="3758268" cy="2315362"/>
          </a:xfrm>
          <a:prstGeom prst="rect">
            <a:avLst/>
          </a:prstGeom>
        </p:spPr>
      </p:pic>
      <p:pic>
        <p:nvPicPr>
          <p:cNvPr id="8" name="Picture 7" descr="Diagram, text&#10;&#10;Description automatically generated">
            <a:extLst>
              <a:ext uri="{FF2B5EF4-FFF2-40B4-BE49-F238E27FC236}">
                <a16:creationId xmlns:a16="http://schemas.microsoft.com/office/drawing/2014/main" id="{460A6830-F3BD-4FBE-89B9-A389B3181401}"/>
              </a:ext>
            </a:extLst>
          </p:cNvPr>
          <p:cNvPicPr>
            <a:picLocks noChangeAspect="1"/>
          </p:cNvPicPr>
          <p:nvPr/>
        </p:nvPicPr>
        <p:blipFill>
          <a:blip r:embed="rId5"/>
          <a:stretch>
            <a:fillRect/>
          </a:stretch>
        </p:blipFill>
        <p:spPr>
          <a:xfrm>
            <a:off x="8531157" y="3314511"/>
            <a:ext cx="3124645" cy="2315362"/>
          </a:xfrm>
          <a:prstGeom prst="rect">
            <a:avLst/>
          </a:prstGeom>
        </p:spPr>
      </p:pic>
      <p:sp>
        <p:nvSpPr>
          <p:cNvPr id="9" name="TextBox 8">
            <a:extLst>
              <a:ext uri="{FF2B5EF4-FFF2-40B4-BE49-F238E27FC236}">
                <a16:creationId xmlns:a16="http://schemas.microsoft.com/office/drawing/2014/main" id="{64EA2411-0987-4E6F-B3FB-861B7C5C7B8A}"/>
              </a:ext>
            </a:extLst>
          </p:cNvPr>
          <p:cNvSpPr txBox="1"/>
          <p:nvPr/>
        </p:nvSpPr>
        <p:spPr>
          <a:xfrm>
            <a:off x="7704307" y="5761433"/>
            <a:ext cx="5347385" cy="338554"/>
          </a:xfrm>
          <a:prstGeom prst="rect">
            <a:avLst/>
          </a:prstGeom>
          <a:noFill/>
        </p:spPr>
        <p:txBody>
          <a:bodyPr wrap="square">
            <a:spAutoFit/>
          </a:bodyPr>
          <a:lstStyle/>
          <a:p>
            <a:r>
              <a:rPr lang="en-AU" sz="800" dirty="0">
                <a:solidFill>
                  <a:schemeClr val="accent6">
                    <a:lumMod val="10000"/>
                  </a:schemeClr>
                </a:solidFill>
              </a:rPr>
              <a:t>(Zubrick et al.,2014)</a:t>
            </a:r>
          </a:p>
          <a:p>
            <a:r>
              <a:rPr lang="en-AU" sz="800" dirty="0">
                <a:solidFill>
                  <a:schemeClr val="accent6">
                    <a:lumMod val="10000"/>
                  </a:schemeClr>
                </a:solidFill>
              </a:rPr>
              <a:t>Uncle Neville quote retrieved from </a:t>
            </a:r>
            <a:r>
              <a:rPr lang="en-US" sz="800" dirty="0">
                <a:solidFill>
                  <a:srgbClr val="AC5B4C"/>
                </a:solidFill>
                <a:hlinkClick r:id="rId6">
                  <a:extLst>
                    <a:ext uri="{A12FA001-AC4F-418D-AE19-62706E023703}">
                      <ahyp:hlinkClr xmlns:ahyp="http://schemas.microsoft.com/office/drawing/2018/hyperlinkcolor" val="tx"/>
                    </a:ext>
                  </a:extLst>
                </a:hlinkClick>
              </a:rPr>
              <a:t>Social &amp; Emotional Wellbeing - </a:t>
            </a:r>
            <a:r>
              <a:rPr lang="en-US" sz="800" dirty="0" err="1">
                <a:solidFill>
                  <a:srgbClr val="AC5B4C"/>
                </a:solidFill>
                <a:hlinkClick r:id="rId6">
                  <a:extLst>
                    <a:ext uri="{A12FA001-AC4F-418D-AE19-62706E023703}">
                      <ahyp:hlinkClr xmlns:ahyp="http://schemas.microsoft.com/office/drawing/2018/hyperlinkcolor" val="tx"/>
                    </a:ext>
                  </a:extLst>
                </a:hlinkClick>
              </a:rPr>
              <a:t>HealthWISE</a:t>
            </a:r>
            <a:r>
              <a:rPr lang="en-US" sz="800" dirty="0">
                <a:solidFill>
                  <a:schemeClr val="accent6">
                    <a:lumMod val="10000"/>
                  </a:schemeClr>
                </a:solidFill>
                <a:hlinkClick r:id="rId6">
                  <a:extLst>
                    <a:ext uri="{A12FA001-AC4F-418D-AE19-62706E023703}">
                      <ahyp:hlinkClr xmlns:ahyp="http://schemas.microsoft.com/office/drawing/2018/hyperlinkcolor" val="tx"/>
                    </a:ext>
                  </a:extLst>
                </a:hlinkClick>
              </a:rPr>
              <a:t> (healthwisenenw.com.au)</a:t>
            </a:r>
            <a:endParaRPr lang="en-GB" sz="800" dirty="0">
              <a:solidFill>
                <a:schemeClr val="accent6">
                  <a:lumMod val="10000"/>
                </a:schemeClr>
              </a:solidFill>
            </a:endParaRPr>
          </a:p>
        </p:txBody>
      </p:sp>
      <p:sp>
        <p:nvSpPr>
          <p:cNvPr id="2" name="TextBox 1">
            <a:extLst>
              <a:ext uri="{FF2B5EF4-FFF2-40B4-BE49-F238E27FC236}">
                <a16:creationId xmlns:a16="http://schemas.microsoft.com/office/drawing/2014/main" id="{F43EDB25-58D0-9D09-356D-93DA44899A73}"/>
              </a:ext>
            </a:extLst>
          </p:cNvPr>
          <p:cNvSpPr txBox="1"/>
          <p:nvPr/>
        </p:nvSpPr>
        <p:spPr>
          <a:xfrm>
            <a:off x="375270" y="5761433"/>
            <a:ext cx="7853888" cy="369332"/>
          </a:xfrm>
          <a:prstGeom prst="rect">
            <a:avLst/>
          </a:prstGeom>
          <a:noFill/>
        </p:spPr>
        <p:txBody>
          <a:bodyPr wrap="square" rtlCol="0">
            <a:spAutoFit/>
          </a:bodyPr>
          <a:lstStyle/>
          <a:p>
            <a:r>
              <a:rPr lang="en-AU" dirty="0"/>
              <a:t>‘</a:t>
            </a:r>
            <a:r>
              <a:rPr lang="en-AU" dirty="0" err="1"/>
              <a:t>Tjilpi</a:t>
            </a:r>
            <a:r>
              <a:rPr lang="en-AU" dirty="0"/>
              <a:t>’ Uncle Bob Randall from Kanyini Unconditional Love and Responsibility</a:t>
            </a:r>
          </a:p>
        </p:txBody>
      </p:sp>
    </p:spTree>
    <p:extLst>
      <p:ext uri="{BB962C8B-B14F-4D97-AF65-F5344CB8AC3E}">
        <p14:creationId xmlns:p14="http://schemas.microsoft.com/office/powerpoint/2010/main" val="236479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98496F-A9D1-431D-94E6-DA7F23B60844}"/>
              </a:ext>
            </a:extLst>
          </p:cNvPr>
          <p:cNvSpPr>
            <a:spLocks noGrp="1"/>
          </p:cNvSpPr>
          <p:nvPr>
            <p:ph type="body" sz="half" idx="2"/>
          </p:nvPr>
        </p:nvSpPr>
        <p:spPr/>
        <p:txBody>
          <a:bodyPr/>
          <a:lstStyle/>
          <a:p>
            <a:endParaRPr lang="en-AU"/>
          </a:p>
        </p:txBody>
      </p:sp>
      <p:sp>
        <p:nvSpPr>
          <p:cNvPr id="5" name="Slide Number Placeholder 4">
            <a:extLst>
              <a:ext uri="{FF2B5EF4-FFF2-40B4-BE49-F238E27FC236}">
                <a16:creationId xmlns:a16="http://schemas.microsoft.com/office/drawing/2014/main" id="{18BBD6E1-509D-4076-9074-4578AEB8E28F}"/>
              </a:ext>
            </a:extLst>
          </p:cNvPr>
          <p:cNvSpPr>
            <a:spLocks noGrp="1"/>
          </p:cNvSpPr>
          <p:nvPr>
            <p:ph type="sldNum" sz="quarter" idx="12"/>
          </p:nvPr>
        </p:nvSpPr>
        <p:spPr/>
        <p:txBody>
          <a:bodyPr/>
          <a:lstStyle/>
          <a:p>
            <a:fld id="{58FB4751-880F-D840-AAA9-3A15815CC996}" type="slidenum">
              <a:rPr lang="en-US" smtClean="0"/>
              <a:t>26</a:t>
            </a:fld>
            <a:endParaRPr lang="en-US" dirty="0"/>
          </a:p>
        </p:txBody>
      </p:sp>
      <p:sp>
        <p:nvSpPr>
          <p:cNvPr id="6" name="Title 5">
            <a:extLst>
              <a:ext uri="{FF2B5EF4-FFF2-40B4-BE49-F238E27FC236}">
                <a16:creationId xmlns:a16="http://schemas.microsoft.com/office/drawing/2014/main" id="{E15FEECC-B6C0-4CA5-9F9F-4351BC17DDEB}"/>
              </a:ext>
            </a:extLst>
          </p:cNvPr>
          <p:cNvSpPr>
            <a:spLocks noGrp="1"/>
          </p:cNvSpPr>
          <p:nvPr>
            <p:ph type="title"/>
          </p:nvPr>
        </p:nvSpPr>
        <p:spPr>
          <a:xfrm>
            <a:off x="234892" y="723543"/>
            <a:ext cx="9144000" cy="676656"/>
          </a:xfrm>
        </p:spPr>
        <p:txBody>
          <a:bodyPr/>
          <a:lstStyle/>
          <a:p>
            <a:r>
              <a:rPr lang="en-AU" dirty="0"/>
              <a:t>Strength-based Method</a:t>
            </a:r>
            <a:br>
              <a:rPr lang="en-AU" dirty="0"/>
            </a:br>
            <a:r>
              <a:rPr lang="en-AU" dirty="0"/>
              <a:t>		 Dadirri</a:t>
            </a:r>
          </a:p>
        </p:txBody>
      </p:sp>
      <p:pic>
        <p:nvPicPr>
          <p:cNvPr id="8" name="Online Media 7" title="DADIRRI (Official Miriam-Rose Ungunmerr Video) :: 3 minute promo">
            <a:hlinkClick r:id="" action="ppaction://media"/>
            <a:extLst>
              <a:ext uri="{FF2B5EF4-FFF2-40B4-BE49-F238E27FC236}">
                <a16:creationId xmlns:a16="http://schemas.microsoft.com/office/drawing/2014/main" id="{97B2E3A4-DBA2-4DF4-85B4-1ADE6CD7DA31}"/>
              </a:ext>
            </a:extLst>
          </p:cNvPr>
          <p:cNvPicPr>
            <a:picLocks noRot="1" noChangeAspect="1"/>
          </p:cNvPicPr>
          <p:nvPr>
            <a:videoFile r:link="rId1"/>
          </p:nvPr>
        </p:nvPicPr>
        <p:blipFill>
          <a:blip r:embed="rId4"/>
          <a:stretch>
            <a:fillRect/>
          </a:stretch>
        </p:blipFill>
        <p:spPr>
          <a:xfrm>
            <a:off x="234892" y="1492415"/>
            <a:ext cx="6545287" cy="4525985"/>
          </a:xfrm>
          <a:prstGeom prst="rect">
            <a:avLst/>
          </a:prstGeom>
        </p:spPr>
      </p:pic>
    </p:spTree>
    <p:extLst>
      <p:ext uri="{BB962C8B-B14F-4D97-AF65-F5344CB8AC3E}">
        <p14:creationId xmlns:p14="http://schemas.microsoft.com/office/powerpoint/2010/main" val="3704096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5DA141-2675-4BE6-BEC7-DA3D61A75E72}"/>
              </a:ext>
            </a:extLst>
          </p:cNvPr>
          <p:cNvSpPr>
            <a:spLocks noGrp="1"/>
          </p:cNvSpPr>
          <p:nvPr>
            <p:ph type="title"/>
          </p:nvPr>
        </p:nvSpPr>
        <p:spPr>
          <a:xfrm>
            <a:off x="499871" y="77405"/>
            <a:ext cx="6502620" cy="676656"/>
          </a:xfrm>
        </p:spPr>
        <p:txBody>
          <a:bodyPr anchor="b">
            <a:normAutofit/>
          </a:bodyPr>
          <a:lstStyle/>
          <a:p>
            <a:r>
              <a:rPr lang="en-AU" sz="4100" dirty="0"/>
              <a:t>Yarning</a:t>
            </a:r>
          </a:p>
        </p:txBody>
      </p:sp>
      <p:sp>
        <p:nvSpPr>
          <p:cNvPr id="5" name="Text Placeholder 4">
            <a:extLst>
              <a:ext uri="{FF2B5EF4-FFF2-40B4-BE49-F238E27FC236}">
                <a16:creationId xmlns:a16="http://schemas.microsoft.com/office/drawing/2014/main" id="{520721AD-E8A6-4D82-AC75-A9E1319758BA}"/>
              </a:ext>
            </a:extLst>
          </p:cNvPr>
          <p:cNvSpPr>
            <a:spLocks noGrp="1"/>
          </p:cNvSpPr>
          <p:nvPr>
            <p:ph type="body" sz="half" idx="2"/>
          </p:nvPr>
        </p:nvSpPr>
        <p:spPr>
          <a:xfrm>
            <a:off x="499871" y="1117023"/>
            <a:ext cx="6219824" cy="2723838"/>
          </a:xfrm>
        </p:spPr>
        <p:txBody>
          <a:bodyPr>
            <a:noAutofit/>
          </a:bodyPr>
          <a:lstStyle/>
          <a:p>
            <a:pPr>
              <a:lnSpc>
                <a:spcPct val="90000"/>
              </a:lnSpc>
              <a:spcAft>
                <a:spcPts val="600"/>
              </a:spcAft>
            </a:pPr>
            <a:r>
              <a:rPr lang="en-AU" sz="2400" dirty="0"/>
              <a:t>Yarning is a word used by many Aboriginal and Torres Strait Islander people, meaning ‘Let’s have a chat’ (Bessarab, 2010). </a:t>
            </a:r>
          </a:p>
          <a:p>
            <a:pPr>
              <a:lnSpc>
                <a:spcPct val="90000"/>
              </a:lnSpc>
              <a:spcAft>
                <a:spcPts val="600"/>
              </a:spcAft>
            </a:pPr>
            <a:endParaRPr lang="en-AU" sz="1000" dirty="0"/>
          </a:p>
          <a:p>
            <a:pPr>
              <a:lnSpc>
                <a:spcPct val="90000"/>
              </a:lnSpc>
              <a:spcAft>
                <a:spcPts val="600"/>
              </a:spcAft>
            </a:pPr>
            <a:r>
              <a:rPr lang="en-AU" sz="2400" dirty="0"/>
              <a:t>Use of minimal questions and prompts, with acute listening skills are fundamental to allowing comfortable and informal stories and discussions to unfold. </a:t>
            </a:r>
          </a:p>
          <a:p>
            <a:pPr>
              <a:lnSpc>
                <a:spcPct val="90000"/>
              </a:lnSpc>
              <a:spcAft>
                <a:spcPts val="600"/>
              </a:spcAft>
            </a:pPr>
            <a:endParaRPr lang="en-AU" sz="1000" dirty="0"/>
          </a:p>
          <a:p>
            <a:pPr>
              <a:lnSpc>
                <a:spcPct val="90000"/>
              </a:lnSpc>
              <a:spcAft>
                <a:spcPts val="600"/>
              </a:spcAft>
            </a:pPr>
            <a:r>
              <a:rPr lang="en-AU" sz="2400" dirty="0"/>
              <a:t>Do not interrupt, this shows lack of respect for what is being shared</a:t>
            </a:r>
          </a:p>
          <a:p>
            <a:pPr>
              <a:lnSpc>
                <a:spcPct val="90000"/>
              </a:lnSpc>
              <a:spcAft>
                <a:spcPts val="600"/>
              </a:spcAft>
            </a:pPr>
            <a:endParaRPr lang="en-AU" sz="1000" dirty="0"/>
          </a:p>
          <a:p>
            <a:pPr>
              <a:lnSpc>
                <a:spcPct val="90000"/>
              </a:lnSpc>
              <a:spcAft>
                <a:spcPts val="600"/>
              </a:spcAft>
            </a:pPr>
            <a:r>
              <a:rPr lang="en-US" sz="2400" b="0" i="0" dirty="0">
                <a:effectLst/>
              </a:rPr>
              <a:t>Take on the role of listener, learner, and student</a:t>
            </a:r>
            <a:br>
              <a:rPr lang="en-US" sz="2400" dirty="0"/>
            </a:br>
            <a:endParaRPr lang="en-AU" sz="2400" dirty="0"/>
          </a:p>
        </p:txBody>
      </p:sp>
      <p:pic>
        <p:nvPicPr>
          <p:cNvPr id="4" name="Picture 3" descr="A white flower with a yellow center&#10;&#10;Description automatically generated">
            <a:extLst>
              <a:ext uri="{FF2B5EF4-FFF2-40B4-BE49-F238E27FC236}">
                <a16:creationId xmlns:a16="http://schemas.microsoft.com/office/drawing/2014/main" id="{4DD62AC7-BB6C-263D-0649-68F19E1507C0}"/>
              </a:ext>
            </a:extLst>
          </p:cNvPr>
          <p:cNvPicPr>
            <a:picLocks noChangeAspect="1"/>
          </p:cNvPicPr>
          <p:nvPr/>
        </p:nvPicPr>
        <p:blipFill>
          <a:blip r:embed="rId3"/>
          <a:srcRect l="30848" r="14612" b="-2"/>
          <a:stretch/>
        </p:blipFill>
        <p:spPr>
          <a:xfrm>
            <a:off x="8832650" y="10"/>
            <a:ext cx="3359350" cy="4619615"/>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noFill/>
        </p:spPr>
      </p:pic>
      <p:sp>
        <p:nvSpPr>
          <p:cNvPr id="15" name="Slide Number Placeholder 6">
            <a:extLst>
              <a:ext uri="{FF2B5EF4-FFF2-40B4-BE49-F238E27FC236}">
                <a16:creationId xmlns:a16="http://schemas.microsoft.com/office/drawing/2014/main" id="{30C4DF41-EEBA-96A8-1A0D-67EC0BBFA3FF}"/>
              </a:ext>
            </a:extLst>
          </p:cNvPr>
          <p:cNvSpPr>
            <a:spLocks noGrp="1"/>
          </p:cNvSpPr>
          <p:nvPr>
            <p:ph type="sldNum" sz="quarter" idx="12"/>
          </p:nvPr>
        </p:nvSpPr>
        <p:spPr>
          <a:xfrm>
            <a:off x="11027664" y="6464808"/>
            <a:ext cx="987552" cy="310896"/>
          </a:xfrm>
        </p:spPr>
        <p:txBody>
          <a:bodyPr anchor="ctr">
            <a:normAutofit/>
          </a:bodyPr>
          <a:lstStyle/>
          <a:p>
            <a:pPr>
              <a:spcAft>
                <a:spcPts val="600"/>
              </a:spcAft>
            </a:pPr>
            <a:fld id="{58FB4751-880F-D840-AAA9-3A15815CC996}" type="slidenum">
              <a:rPr lang="en-US" smtClean="0"/>
              <a:pPr>
                <a:spcAft>
                  <a:spcPts val="600"/>
                </a:spcAft>
              </a:pPr>
              <a:t>27</a:t>
            </a:fld>
            <a:endParaRPr lang="en-US"/>
          </a:p>
        </p:txBody>
      </p:sp>
    </p:spTree>
    <p:extLst>
      <p:ext uri="{BB962C8B-B14F-4D97-AF65-F5344CB8AC3E}">
        <p14:creationId xmlns:p14="http://schemas.microsoft.com/office/powerpoint/2010/main" val="847989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982C7-3643-B777-A716-E405005E367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7BBAF11-522F-1D30-3BF2-7D805F5C1470}"/>
              </a:ext>
            </a:extLst>
          </p:cNvPr>
          <p:cNvSpPr>
            <a:spLocks noGrp="1"/>
          </p:cNvSpPr>
          <p:nvPr>
            <p:ph type="title"/>
          </p:nvPr>
        </p:nvSpPr>
        <p:spPr>
          <a:xfrm>
            <a:off x="5836130" y="446335"/>
            <a:ext cx="6502620" cy="676656"/>
          </a:xfrm>
        </p:spPr>
        <p:txBody>
          <a:bodyPr anchor="b">
            <a:normAutofit fontScale="90000"/>
          </a:bodyPr>
          <a:lstStyle/>
          <a:p>
            <a:r>
              <a:rPr lang="en-AU" sz="4100" dirty="0"/>
              <a:t>Waijungbah </a:t>
            </a:r>
            <a:r>
              <a:rPr lang="en-AU" sz="4100" dirty="0" err="1"/>
              <a:t>Jarjums</a:t>
            </a:r>
            <a:br>
              <a:rPr lang="en-AU" sz="4100" dirty="0"/>
            </a:br>
            <a:r>
              <a:rPr lang="en-AU" sz="4100" dirty="0"/>
              <a:t>Birthing on Country</a:t>
            </a:r>
          </a:p>
        </p:txBody>
      </p:sp>
      <p:sp>
        <p:nvSpPr>
          <p:cNvPr id="15" name="Slide Number Placeholder 6">
            <a:extLst>
              <a:ext uri="{FF2B5EF4-FFF2-40B4-BE49-F238E27FC236}">
                <a16:creationId xmlns:a16="http://schemas.microsoft.com/office/drawing/2014/main" id="{CDEAABAA-FB65-09DC-477E-65ADFD70BB13}"/>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28</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Text Placeholder 2">
            <a:extLst>
              <a:ext uri="{FF2B5EF4-FFF2-40B4-BE49-F238E27FC236}">
                <a16:creationId xmlns:a16="http://schemas.microsoft.com/office/drawing/2014/main" id="{CF77D1A5-FE59-0368-39DA-E7D69BF2EF53}"/>
              </a:ext>
            </a:extLst>
          </p:cNvPr>
          <p:cNvSpPr>
            <a:spLocks noGrp="1"/>
          </p:cNvSpPr>
          <p:nvPr>
            <p:ph type="body" sz="half" idx="2"/>
          </p:nvPr>
        </p:nvSpPr>
        <p:spPr>
          <a:xfrm>
            <a:off x="64442" y="2704975"/>
            <a:ext cx="6031558" cy="3476907"/>
          </a:xfrm>
        </p:spPr>
        <p:txBody>
          <a:bodyPr/>
          <a:lstStyle/>
          <a:p>
            <a:pPr lvl="0">
              <a:lnSpc>
                <a:spcPct val="107000"/>
              </a:lnSpc>
              <a:spcAft>
                <a:spcPts val="800"/>
              </a:spcAft>
              <a:buSzPts val="1000"/>
              <a:tabLst>
                <a:tab pos="457200" algn="l"/>
              </a:tabLst>
            </a:pPr>
            <a:r>
              <a:rPr lang="en-AU" sz="1800" b="1" dirty="0">
                <a:effectLst/>
                <a:latin typeface="Aptos" panose="020B0004020202020204" pitchFamily="34" charset="0"/>
                <a:ea typeface="Aptos" panose="020B0004020202020204" pitchFamily="34" charset="0"/>
                <a:cs typeface="Times New Roman" panose="02020603050405020304" pitchFamily="18" charset="0"/>
              </a:rPr>
              <a:t>What happened:</a:t>
            </a:r>
          </a:p>
          <a:p>
            <a:pPr marL="342900" lvl="0" indent="-342900">
              <a:lnSpc>
                <a:spcPct val="107000"/>
              </a:lnSpc>
              <a:spcAft>
                <a:spcPts val="800"/>
              </a:spcAft>
              <a:buSzPts val="1000"/>
              <a:buFont typeface="Symbol" panose="05050102010706020507" pitchFamily="18" charset="2"/>
              <a:buChar char=""/>
              <a:tabLst>
                <a:tab pos="457200" algn="l"/>
              </a:tabLst>
            </a:pPr>
            <a:r>
              <a:rPr lang="en-AU" sz="1800" dirty="0">
                <a:effectLst/>
                <a:latin typeface="Aptos" panose="020B0004020202020204" pitchFamily="34" charset="0"/>
                <a:ea typeface="Aptos" panose="020B0004020202020204" pitchFamily="34" charset="0"/>
                <a:cs typeface="Times New Roman" panose="02020603050405020304" pitchFamily="18" charset="0"/>
              </a:rPr>
              <a:t>Yugambeh community created a Birthing on Country program.</a:t>
            </a:r>
          </a:p>
          <a:p>
            <a:pPr marL="342900" lvl="0" indent="-342900">
              <a:lnSpc>
                <a:spcPct val="107000"/>
              </a:lnSpc>
              <a:spcAft>
                <a:spcPts val="800"/>
              </a:spcAft>
              <a:buSzPts val="1000"/>
              <a:buFont typeface="Symbol" panose="05050102010706020507" pitchFamily="18" charset="2"/>
              <a:buChar char=""/>
              <a:tabLst>
                <a:tab pos="457200" algn="l"/>
              </a:tabLst>
            </a:pPr>
            <a:r>
              <a:rPr lang="en-AU" sz="1800" dirty="0">
                <a:effectLst/>
                <a:latin typeface="Aptos" panose="020B0004020202020204" pitchFamily="34" charset="0"/>
                <a:ea typeface="Aptos" panose="020B0004020202020204" pitchFamily="34" charset="0"/>
                <a:cs typeface="Times New Roman" panose="02020603050405020304" pitchFamily="18" charset="0"/>
              </a:rPr>
              <a:t>Indigenous midwives, Elders, and health workers lead the model.</a:t>
            </a:r>
          </a:p>
          <a:p>
            <a:pPr marL="342900" lvl="0" indent="-342900">
              <a:lnSpc>
                <a:spcPct val="107000"/>
              </a:lnSpc>
              <a:spcAft>
                <a:spcPts val="800"/>
              </a:spcAft>
              <a:buSzPts val="1000"/>
              <a:buFont typeface="Symbol" panose="05050102010706020507" pitchFamily="18" charset="2"/>
              <a:buChar char=""/>
              <a:tabLst>
                <a:tab pos="457200" algn="l"/>
              </a:tabLst>
            </a:pPr>
            <a:r>
              <a:rPr lang="en-AU" sz="1800" dirty="0">
                <a:effectLst/>
                <a:latin typeface="Aptos" panose="020B0004020202020204" pitchFamily="34" charset="0"/>
                <a:ea typeface="Aptos" panose="020B0004020202020204" pitchFamily="34" charset="0"/>
                <a:cs typeface="Times New Roman" panose="02020603050405020304" pitchFamily="18" charset="0"/>
              </a:rPr>
              <a:t>Care includes Yarning, cultural mentoring, and family involvement.</a:t>
            </a:r>
          </a:p>
          <a:p>
            <a:pPr marL="342900" lvl="0" indent="-342900">
              <a:lnSpc>
                <a:spcPct val="107000"/>
              </a:lnSpc>
              <a:spcAft>
                <a:spcPts val="800"/>
              </a:spcAft>
              <a:buSzPts val="1000"/>
              <a:buFont typeface="Symbol" panose="05050102010706020507" pitchFamily="18" charset="2"/>
              <a:buChar char=""/>
              <a:tabLst>
                <a:tab pos="457200" algn="l"/>
              </a:tabLst>
            </a:pPr>
            <a:r>
              <a:rPr lang="en-AU" sz="1800" dirty="0">
                <a:effectLst/>
                <a:latin typeface="Aptos" panose="020B0004020202020204" pitchFamily="34" charset="0"/>
                <a:ea typeface="Aptos" panose="020B0004020202020204" pitchFamily="34" charset="0"/>
                <a:cs typeface="Times New Roman" panose="02020603050405020304" pitchFamily="18" charset="0"/>
              </a:rPr>
              <a:t>Babies are welcomed to Country through ceremony.</a:t>
            </a:r>
          </a:p>
          <a:p>
            <a:pPr marL="342900" lvl="0" indent="-342900">
              <a:lnSpc>
                <a:spcPct val="107000"/>
              </a:lnSpc>
              <a:spcAft>
                <a:spcPts val="800"/>
              </a:spcAft>
              <a:buSzPts val="1000"/>
              <a:buFont typeface="Symbol" panose="05050102010706020507" pitchFamily="18" charset="2"/>
              <a:buChar char=""/>
              <a:tabLst>
                <a:tab pos="457200" algn="l"/>
              </a:tabLst>
            </a:pPr>
            <a:r>
              <a:rPr lang="en-AU" sz="1800" dirty="0">
                <a:effectLst/>
                <a:latin typeface="Aptos" panose="020B0004020202020204" pitchFamily="34" charset="0"/>
                <a:ea typeface="Aptos" panose="020B0004020202020204" pitchFamily="34" charset="0"/>
                <a:cs typeface="Times New Roman" panose="02020603050405020304" pitchFamily="18" charset="0"/>
              </a:rPr>
              <a:t>Women receive continuity of care and cultural support.</a:t>
            </a:r>
          </a:p>
        </p:txBody>
      </p:sp>
      <p:pic>
        <p:nvPicPr>
          <p:cNvPr id="7" name="Picture 6" descr="Waijungbah Jarjums means place of mother and child.">
            <a:extLst>
              <a:ext uri="{FF2B5EF4-FFF2-40B4-BE49-F238E27FC236}">
                <a16:creationId xmlns:a16="http://schemas.microsoft.com/office/drawing/2014/main" id="{A9B49A8C-0640-B98C-59B1-53ED4A8989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2657"/>
            <a:ext cx="4921639" cy="2103120"/>
          </a:xfrm>
          <a:prstGeom prst="rect">
            <a:avLst/>
          </a:prstGeom>
          <a:noFill/>
          <a:ln>
            <a:noFill/>
          </a:ln>
        </p:spPr>
      </p:pic>
      <p:sp>
        <p:nvSpPr>
          <p:cNvPr id="9" name="TextBox 8">
            <a:extLst>
              <a:ext uri="{FF2B5EF4-FFF2-40B4-BE49-F238E27FC236}">
                <a16:creationId xmlns:a16="http://schemas.microsoft.com/office/drawing/2014/main" id="{31E32B25-248A-CB96-8FD6-FBCD8FF8120D}"/>
              </a:ext>
            </a:extLst>
          </p:cNvPr>
          <p:cNvSpPr txBox="1"/>
          <p:nvPr/>
        </p:nvSpPr>
        <p:spPr>
          <a:xfrm>
            <a:off x="6360024" y="1631406"/>
            <a:ext cx="5454831" cy="4550476"/>
          </a:xfrm>
          <a:prstGeom prst="rect">
            <a:avLst/>
          </a:prstGeom>
          <a:noFill/>
        </p:spPr>
        <p:txBody>
          <a:bodyPr wrap="square">
            <a:spAutoFit/>
          </a:bodyPr>
          <a:lstStyle/>
          <a:p>
            <a:pPr lvl="0">
              <a:lnSpc>
                <a:spcPct val="107000"/>
              </a:lnSpc>
              <a:spcAft>
                <a:spcPts val="800"/>
              </a:spcAft>
              <a:buSzPts val="1000"/>
              <a:tabLst>
                <a:tab pos="457200" algn="l"/>
              </a:tabLst>
            </a:pPr>
            <a:r>
              <a:rPr lang="en-AU" b="1" dirty="0">
                <a:effectLst/>
                <a:latin typeface="Aptos" panose="020B0004020202020204" pitchFamily="34" charset="0"/>
                <a:ea typeface="Aptos" panose="020B0004020202020204" pitchFamily="34" charset="0"/>
                <a:cs typeface="Times New Roman" panose="02020603050405020304" pitchFamily="18" charset="0"/>
              </a:rPr>
              <a:t>Why it matters:</a:t>
            </a:r>
          </a:p>
          <a:p>
            <a:pPr marL="342900" lvl="0" indent="-342900">
              <a:lnSpc>
                <a:spcPct val="107000"/>
              </a:lnSpc>
              <a:spcAft>
                <a:spcPts val="800"/>
              </a:spcAft>
              <a:buSzPts val="1000"/>
              <a:buFont typeface="Symbol" panose="05050102010706020507" pitchFamily="18" charset="2"/>
              <a:buChar char=""/>
              <a:tabLst>
                <a:tab pos="457200" algn="l"/>
              </a:tabLst>
            </a:pPr>
            <a:r>
              <a:rPr lang="en-AU" b="1" dirty="0">
                <a:effectLst/>
                <a:latin typeface="Aptos" panose="020B0004020202020204" pitchFamily="34" charset="0"/>
                <a:ea typeface="Aptos" panose="020B0004020202020204" pitchFamily="34" charset="0"/>
                <a:cs typeface="Times New Roman" panose="02020603050405020304" pitchFamily="18" charset="0"/>
              </a:rPr>
              <a:t>Holistic SEWB:</a:t>
            </a:r>
            <a:r>
              <a:rPr lang="en-AU" dirty="0">
                <a:effectLst/>
                <a:latin typeface="Aptos" panose="020B0004020202020204" pitchFamily="34" charset="0"/>
                <a:ea typeface="Aptos" panose="020B0004020202020204" pitchFamily="34" charset="0"/>
                <a:cs typeface="Times New Roman" panose="02020603050405020304" pitchFamily="18" charset="0"/>
              </a:rPr>
              <a:t> Health includes emotional, cultural, spiritual, and community wellbeing.</a:t>
            </a:r>
          </a:p>
          <a:p>
            <a:pPr marL="342900" lvl="0" indent="-342900">
              <a:lnSpc>
                <a:spcPct val="107000"/>
              </a:lnSpc>
              <a:spcAft>
                <a:spcPts val="800"/>
              </a:spcAft>
              <a:buSzPts val="1000"/>
              <a:buFont typeface="Symbol" panose="05050102010706020507" pitchFamily="18" charset="2"/>
              <a:buChar char=""/>
              <a:tabLst>
                <a:tab pos="457200" algn="l"/>
              </a:tabLst>
            </a:pPr>
            <a:r>
              <a:rPr lang="en-AU" b="1" dirty="0">
                <a:effectLst/>
                <a:latin typeface="Aptos" panose="020B0004020202020204" pitchFamily="34" charset="0"/>
                <a:ea typeface="Aptos" panose="020B0004020202020204" pitchFamily="34" charset="0"/>
                <a:cs typeface="Times New Roman" panose="02020603050405020304" pitchFamily="18" charset="0"/>
              </a:rPr>
              <a:t>Country as wellbeing:</a:t>
            </a:r>
            <a:r>
              <a:rPr lang="en-AU" dirty="0">
                <a:effectLst/>
                <a:latin typeface="Aptos" panose="020B0004020202020204" pitchFamily="34" charset="0"/>
                <a:ea typeface="Aptos" panose="020B0004020202020204" pitchFamily="34" charset="0"/>
                <a:cs typeface="Times New Roman" panose="02020603050405020304" pitchFamily="18" charset="0"/>
              </a:rPr>
              <a:t> Identity, belonging, and healing come from Country.</a:t>
            </a:r>
          </a:p>
          <a:p>
            <a:pPr marL="342900" lvl="0" indent="-342900">
              <a:lnSpc>
                <a:spcPct val="107000"/>
              </a:lnSpc>
              <a:spcAft>
                <a:spcPts val="800"/>
              </a:spcAft>
              <a:buSzPts val="1000"/>
              <a:buFont typeface="Symbol" panose="05050102010706020507" pitchFamily="18" charset="2"/>
              <a:buChar char=""/>
              <a:tabLst>
                <a:tab pos="457200" algn="l"/>
              </a:tabLst>
            </a:pPr>
            <a:r>
              <a:rPr lang="en-AU" b="1" dirty="0">
                <a:effectLst/>
                <a:latin typeface="Aptos" panose="020B0004020202020204" pitchFamily="34" charset="0"/>
                <a:ea typeface="Aptos" panose="020B0004020202020204" pitchFamily="34" charset="0"/>
                <a:cs typeface="Times New Roman" panose="02020603050405020304" pitchFamily="18" charset="0"/>
              </a:rPr>
              <a:t>Yarning &amp; Dadirri:</a:t>
            </a:r>
            <a:r>
              <a:rPr lang="en-AU" dirty="0">
                <a:effectLst/>
                <a:latin typeface="Aptos" panose="020B0004020202020204" pitchFamily="34" charset="0"/>
                <a:ea typeface="Aptos" panose="020B0004020202020204" pitchFamily="34" charset="0"/>
                <a:cs typeface="Times New Roman" panose="02020603050405020304" pitchFamily="18" charset="0"/>
              </a:rPr>
              <a:t> Culturally safe communication builds trust.</a:t>
            </a:r>
          </a:p>
          <a:p>
            <a:pPr marL="342900" lvl="0" indent="-342900">
              <a:lnSpc>
                <a:spcPct val="107000"/>
              </a:lnSpc>
              <a:spcAft>
                <a:spcPts val="800"/>
              </a:spcAft>
              <a:buSzPts val="1000"/>
              <a:buFont typeface="Symbol" panose="05050102010706020507" pitchFamily="18" charset="2"/>
              <a:buChar char=""/>
              <a:tabLst>
                <a:tab pos="457200" algn="l"/>
              </a:tabLst>
            </a:pPr>
            <a:r>
              <a:rPr lang="en-AU" b="1" dirty="0">
                <a:effectLst/>
                <a:latin typeface="Aptos" panose="020B0004020202020204" pitchFamily="34" charset="0"/>
                <a:ea typeface="Aptos" panose="020B0004020202020204" pitchFamily="34" charset="0"/>
                <a:cs typeface="Times New Roman" panose="02020603050405020304" pitchFamily="18" charset="0"/>
              </a:rPr>
              <a:t>Indigenous worldviews:</a:t>
            </a:r>
            <a:r>
              <a:rPr lang="en-AU" dirty="0">
                <a:effectLst/>
                <a:latin typeface="Aptos" panose="020B0004020202020204" pitchFamily="34" charset="0"/>
                <a:ea typeface="Aptos" panose="020B0004020202020204" pitchFamily="34" charset="0"/>
                <a:cs typeface="Times New Roman" panose="02020603050405020304" pitchFamily="18" charset="0"/>
              </a:rPr>
              <a:t> Health is relational and community‑centred.</a:t>
            </a:r>
          </a:p>
          <a:p>
            <a:pPr marL="342900" lvl="0" indent="-342900">
              <a:lnSpc>
                <a:spcPct val="107000"/>
              </a:lnSpc>
              <a:spcAft>
                <a:spcPts val="800"/>
              </a:spcAft>
              <a:buSzPts val="1000"/>
              <a:buFont typeface="Symbol" panose="05050102010706020507" pitchFamily="18" charset="2"/>
              <a:buChar char=""/>
              <a:tabLst>
                <a:tab pos="457200" algn="l"/>
              </a:tabLst>
            </a:pPr>
            <a:r>
              <a:rPr lang="en-AU" b="1" dirty="0">
                <a:effectLst/>
                <a:latin typeface="Aptos" panose="020B0004020202020204" pitchFamily="34" charset="0"/>
                <a:ea typeface="Aptos" panose="020B0004020202020204" pitchFamily="34" charset="0"/>
                <a:cs typeface="Times New Roman" panose="02020603050405020304" pitchFamily="18" charset="0"/>
              </a:rPr>
              <a:t>Strengths‑based practice:</a:t>
            </a:r>
            <a:r>
              <a:rPr lang="en-AU" dirty="0">
                <a:effectLst/>
                <a:latin typeface="Aptos" panose="020B0004020202020204" pitchFamily="34" charset="0"/>
                <a:ea typeface="Aptos" panose="020B0004020202020204" pitchFamily="34" charset="0"/>
                <a:cs typeface="Times New Roman" panose="02020603050405020304" pitchFamily="18" charset="0"/>
              </a:rPr>
              <a:t> Focus on culture, resilience, identity, and community strength.</a:t>
            </a:r>
          </a:p>
          <a:p>
            <a:pPr marL="342900" lvl="0" indent="-342900">
              <a:lnSpc>
                <a:spcPct val="107000"/>
              </a:lnSpc>
              <a:spcAft>
                <a:spcPts val="800"/>
              </a:spcAft>
              <a:buSzPts val="1000"/>
              <a:buFont typeface="Symbol" panose="05050102010706020507" pitchFamily="18" charset="2"/>
              <a:buChar char=""/>
              <a:tabLst>
                <a:tab pos="457200" algn="l"/>
              </a:tabLst>
            </a:pPr>
            <a:r>
              <a:rPr lang="en-AU" b="1" dirty="0">
                <a:effectLst/>
                <a:latin typeface="Aptos" panose="020B0004020202020204" pitchFamily="34" charset="0"/>
                <a:ea typeface="Aptos" panose="020B0004020202020204" pitchFamily="34" charset="0"/>
                <a:cs typeface="Times New Roman" panose="02020603050405020304" pitchFamily="18" charset="0"/>
              </a:rPr>
              <a:t>Contrast with Western models:</a:t>
            </a:r>
            <a:r>
              <a:rPr lang="en-AU" dirty="0">
                <a:effectLst/>
                <a:latin typeface="Aptos" panose="020B0004020202020204" pitchFamily="34" charset="0"/>
                <a:ea typeface="Aptos" panose="020B0004020202020204" pitchFamily="34" charset="0"/>
                <a:cs typeface="Times New Roman" panose="02020603050405020304" pitchFamily="18" charset="0"/>
              </a:rPr>
              <a:t> Moves beyond physical health to whole‑of‑life wellbeing.</a:t>
            </a:r>
          </a:p>
        </p:txBody>
      </p:sp>
      <p:sp>
        <p:nvSpPr>
          <p:cNvPr id="4" name="TextBox 3">
            <a:extLst>
              <a:ext uri="{FF2B5EF4-FFF2-40B4-BE49-F238E27FC236}">
                <a16:creationId xmlns:a16="http://schemas.microsoft.com/office/drawing/2014/main" id="{050FAC2A-BE6E-E811-EF74-128F3A1EFE17}"/>
              </a:ext>
            </a:extLst>
          </p:cNvPr>
          <p:cNvSpPr txBox="1"/>
          <p:nvPr/>
        </p:nvSpPr>
        <p:spPr>
          <a:xfrm>
            <a:off x="64442" y="6389160"/>
            <a:ext cx="11188373" cy="369332"/>
          </a:xfrm>
          <a:prstGeom prst="rect">
            <a:avLst/>
          </a:prstGeom>
          <a:noFill/>
        </p:spPr>
        <p:txBody>
          <a:bodyPr wrap="square">
            <a:spAutoFit/>
          </a:bodyPr>
          <a:lstStyle/>
          <a:p>
            <a:r>
              <a:rPr lang="en-AU" dirty="0"/>
              <a:t>https://www.goldcoast.health.qld.gov.au/our-services/aboriginal-and-torres-strait-islander-service/services/waijungbah-jarjums</a:t>
            </a:r>
          </a:p>
        </p:txBody>
      </p:sp>
    </p:spTree>
    <p:extLst>
      <p:ext uri="{BB962C8B-B14F-4D97-AF65-F5344CB8AC3E}">
        <p14:creationId xmlns:p14="http://schemas.microsoft.com/office/powerpoint/2010/main" val="1606685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a:xfrm>
            <a:off x="260004" y="477520"/>
            <a:ext cx="11387512" cy="1184841"/>
          </a:xfrm>
        </p:spPr>
        <p:txBody>
          <a:bodyPr/>
          <a:lstStyle/>
          <a:p>
            <a:r>
              <a:rPr lang="en-US" sz="4800" dirty="0"/>
              <a:t>Special Considerations Support extension</a:t>
            </a:r>
          </a:p>
        </p:txBody>
      </p:sp>
      <p:pic>
        <p:nvPicPr>
          <p:cNvPr id="4" name="Picture 3">
            <a:extLst>
              <a:ext uri="{FF2B5EF4-FFF2-40B4-BE49-F238E27FC236}">
                <a16:creationId xmlns:a16="http://schemas.microsoft.com/office/drawing/2014/main" id="{8422B417-2C8A-78A0-3C3B-6A866D8E9106}"/>
              </a:ext>
            </a:extLst>
          </p:cNvPr>
          <p:cNvPicPr>
            <a:picLocks noChangeAspect="1"/>
          </p:cNvPicPr>
          <p:nvPr/>
        </p:nvPicPr>
        <p:blipFill>
          <a:blip r:embed="rId3"/>
          <a:stretch>
            <a:fillRect/>
          </a:stretch>
        </p:blipFill>
        <p:spPr>
          <a:xfrm>
            <a:off x="907721" y="1692033"/>
            <a:ext cx="10679741" cy="4673455"/>
          </a:xfrm>
          <a:prstGeom prst="rect">
            <a:avLst/>
          </a:prstGeom>
        </p:spPr>
      </p:pic>
    </p:spTree>
    <p:extLst>
      <p:ext uri="{BB962C8B-B14F-4D97-AF65-F5344CB8AC3E}">
        <p14:creationId xmlns:p14="http://schemas.microsoft.com/office/powerpoint/2010/main" val="2577936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64D88-39E0-E3F8-C755-F24747E57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8E0AF-B15F-7D8F-5701-7AFDA1C3375E}"/>
              </a:ext>
            </a:extLst>
          </p:cNvPr>
          <p:cNvSpPr>
            <a:spLocks noGrp="1"/>
          </p:cNvSpPr>
          <p:nvPr>
            <p:ph type="ctrTitle"/>
          </p:nvPr>
        </p:nvSpPr>
        <p:spPr>
          <a:xfrm>
            <a:off x="260004" y="477520"/>
            <a:ext cx="11387512" cy="1184841"/>
          </a:xfrm>
        </p:spPr>
        <p:txBody>
          <a:bodyPr/>
          <a:lstStyle/>
          <a:p>
            <a:r>
              <a:rPr lang="en-US" dirty="0"/>
              <a:t>Assessment 1 – Short Response</a:t>
            </a:r>
          </a:p>
        </p:txBody>
      </p:sp>
      <p:graphicFrame>
        <p:nvGraphicFramePr>
          <p:cNvPr id="3" name="Table 2">
            <a:extLst>
              <a:ext uri="{FF2B5EF4-FFF2-40B4-BE49-F238E27FC236}">
                <a16:creationId xmlns:a16="http://schemas.microsoft.com/office/drawing/2014/main" id="{76C11A8B-7DB6-3FA4-65F5-F13D4870B7F2}"/>
              </a:ext>
            </a:extLst>
          </p:cNvPr>
          <p:cNvGraphicFramePr>
            <a:graphicFrameLocks noGrp="1"/>
          </p:cNvGraphicFramePr>
          <p:nvPr/>
        </p:nvGraphicFramePr>
        <p:xfrm>
          <a:off x="1341120" y="2050869"/>
          <a:ext cx="9509760" cy="4103742"/>
        </p:xfrm>
        <a:graphic>
          <a:graphicData uri="http://schemas.openxmlformats.org/drawingml/2006/table">
            <a:tbl>
              <a:tblPr firstRow="1" firstCol="1" lastRow="1" lastCol="1" bandRow="1" bandCol="1"/>
              <a:tblGrid>
                <a:gridCol w="2237715">
                  <a:extLst>
                    <a:ext uri="{9D8B030D-6E8A-4147-A177-3AD203B41FA5}">
                      <a16:colId xmlns:a16="http://schemas.microsoft.com/office/drawing/2014/main" val="3741493981"/>
                    </a:ext>
                  </a:extLst>
                </a:gridCol>
                <a:gridCol w="7272045">
                  <a:extLst>
                    <a:ext uri="{9D8B030D-6E8A-4147-A177-3AD203B41FA5}">
                      <a16:colId xmlns:a16="http://schemas.microsoft.com/office/drawing/2014/main" val="1434727651"/>
                    </a:ext>
                  </a:extLst>
                </a:gridCol>
              </a:tblGrid>
              <a:tr h="270127">
                <a:tc>
                  <a:txBody>
                    <a:body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spc="-1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1</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703720888"/>
                  </a:ext>
                </a:extLst>
              </a:tr>
              <a:tr h="270127">
                <a:tc>
                  <a:txBody>
                    <a:bodyPr/>
                    <a:lstStyle/>
                    <a:p>
                      <a:pPr marL="71120">
                        <a:lnSpc>
                          <a:spcPct val="93939"/>
                        </a:lnSpc>
                        <a:buNone/>
                      </a:pPr>
                      <a:r>
                        <a:rPr lang="en-US" sz="2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a:effectLst/>
                          <a:latin typeface="Calibri" panose="020F0502020204030204" pitchFamily="34" charset="0"/>
                          <a:ea typeface="Calibri" panose="020F0502020204030204" pitchFamily="34" charset="0"/>
                          <a:cs typeface="Times New Roman" panose="02020603050405020304" pitchFamily="18" charset="0"/>
                        </a:rPr>
                        <a:t>Short</a:t>
                      </a:r>
                      <a:r>
                        <a:rPr lang="en-US" sz="2000" spc="-20">
                          <a:effectLst/>
                          <a:latin typeface="Calibri" panose="020F0502020204030204" pitchFamily="34" charset="0"/>
                          <a:ea typeface="Calibri" panose="020F0502020204030204" pitchFamily="34" charset="0"/>
                          <a:cs typeface="Times New Roman" panose="02020603050405020304" pitchFamily="18" charset="0"/>
                        </a:rPr>
                        <a:t> </a:t>
                      </a:r>
                      <a:r>
                        <a:rPr lang="en-US" sz="2000" spc="-10">
                          <a:effectLst/>
                          <a:latin typeface="Calibri" panose="020F0502020204030204" pitchFamily="34" charset="0"/>
                          <a:ea typeface="Calibri" panose="020F0502020204030204" pitchFamily="34" charset="0"/>
                          <a:cs typeface="Times New Roman" panose="02020603050405020304" pitchFamily="18" charset="0"/>
                        </a:rPr>
                        <a:t>response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2002684535"/>
                  </a:ext>
                </a:extLst>
              </a:tr>
              <a:tr h="270127">
                <a:tc>
                  <a:txBody>
                    <a:body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1,000</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1560343199"/>
                  </a:ext>
                </a:extLst>
              </a:tr>
              <a:tr h="270127">
                <a:tc>
                  <a:txBody>
                    <a:body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spc="-25">
                          <a:effectLst/>
                          <a:latin typeface="Calibri" panose="020F0502020204030204" pitchFamily="34" charset="0"/>
                          <a:ea typeface="Calibri" panose="020F0502020204030204" pitchFamily="34" charset="0"/>
                          <a:cs typeface="Times New Roman" panose="02020603050405020304" pitchFamily="18" charset="0"/>
                        </a:rPr>
                        <a:t>40%</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3259183628"/>
                  </a:ext>
                </a:extLst>
              </a:tr>
              <a:tr h="618873">
                <a:tc>
                  <a:txBody>
                    <a:bodyPr/>
                    <a:lstStyle/>
                    <a:p>
                      <a:pPr marL="71120">
                        <a:lnSpc>
                          <a:spcPct val="101515"/>
                        </a:lnSpc>
                        <a:buNone/>
                      </a:pPr>
                      <a:r>
                        <a:rPr lang="en-US" sz="2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2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Level</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2.</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GenAI</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Use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1755">
                        <a:lnSpc>
                          <a:spcPct val="93939"/>
                        </a:lnSpc>
                        <a:buNone/>
                      </a:pP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20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20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2000" spc="-2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20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1522273824"/>
                  </a:ext>
                </a:extLst>
              </a:tr>
              <a:tr h="541263">
                <a:tc>
                  <a:txBody>
                    <a:bodyPr/>
                    <a:lstStyle/>
                    <a:p>
                      <a:pPr marL="71120">
                        <a:lnSpc>
                          <a:spcPct val="93939"/>
                        </a:lnSpc>
                        <a:spcBef>
                          <a:spcPts val="30"/>
                        </a:spcBef>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93939"/>
                        </a:lnSpc>
                        <a:spcBef>
                          <a:spcPts val="30"/>
                        </a:spcBef>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Word</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document</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submitted</a:t>
                      </a:r>
                      <a:r>
                        <a:rPr lang="en-US" sz="20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to</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3104242583"/>
                  </a:ext>
                </a:extLst>
              </a:tr>
              <a:tr h="1351644">
                <a:tc>
                  <a:txBody>
                    <a:bodyPr/>
                    <a:lstStyle/>
                    <a:p>
                      <a:pPr marL="71120">
                        <a:lnSpc>
                          <a:spcPct val="93939"/>
                        </a:lnSpc>
                        <a:buNone/>
                      </a:pPr>
                      <a:r>
                        <a:rPr lang="en-US" sz="20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2000" b="1" spc="-7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Outcomes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F0F0F0"/>
                    </a:solidFill>
                  </a:tcPr>
                </a:tc>
                <a:tc>
                  <a:txBody>
                    <a:bodyPr/>
                    <a:lstStyle/>
                    <a:p>
                      <a:pPr marL="72390">
                        <a:lnSpc>
                          <a:spcPct val="101515"/>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This</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task</a:t>
                      </a:r>
                      <a:r>
                        <a:rPr lang="en-US" sz="20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maps</a:t>
                      </a:r>
                      <a:r>
                        <a:rPr lang="en-US" sz="20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to</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the</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93939"/>
                        </a:lnSpc>
                        <a:buNone/>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ULO1</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Discuss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concepts</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health</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wellbeing</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as</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determined</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by </a:t>
                      </a:r>
                      <a:r>
                        <a:rPr lang="en-US" sz="2000" dirty="0">
                          <a:effectLst/>
                          <a:latin typeface="Calibri" panose="020F0502020204030204" pitchFamily="34" charset="0"/>
                          <a:ea typeface="Calibri" panose="020F0502020204030204" pitchFamily="34" charset="0"/>
                          <a:cs typeface="Times New Roman" panose="02020603050405020304" pitchFamily="18" charset="0"/>
                        </a:rPr>
                        <a:t>Aboriginal People.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100758"/>
                        </a:lnSpc>
                        <a:buNone/>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ULO2</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Identify</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stages</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the</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colonisation</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process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its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relationship</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to </a:t>
                      </a:r>
                      <a:r>
                        <a:rPr lang="en-US" sz="2000" dirty="0">
                          <a:effectLst/>
                          <a:latin typeface="Calibri" panose="020F0502020204030204" pitchFamily="34" charset="0"/>
                          <a:ea typeface="Calibri" panose="020F0502020204030204" pitchFamily="34" charset="0"/>
                          <a:cs typeface="Times New Roman" panose="02020603050405020304" pitchFamily="18" charset="0"/>
                        </a:rPr>
                        <a:t>the contemporary health status of Australian Indigenous People.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noFill/>
                  </a:tcPr>
                </a:tc>
                <a:extLst>
                  <a:ext uri="{0D108BD9-81ED-4DB2-BD59-A6C34878D82A}">
                    <a16:rowId xmlns:a16="http://schemas.microsoft.com/office/drawing/2014/main" val="3968711129"/>
                  </a:ext>
                </a:extLst>
              </a:tr>
            </a:tbl>
          </a:graphicData>
        </a:graphic>
      </p:graphicFrame>
    </p:spTree>
    <p:extLst>
      <p:ext uri="{BB962C8B-B14F-4D97-AF65-F5344CB8AC3E}">
        <p14:creationId xmlns:p14="http://schemas.microsoft.com/office/powerpoint/2010/main" val="4093041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8634D-4A33-EBBB-0735-709487D2BA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587004-BFCF-2A4F-85AC-EF74C9D620CD}"/>
              </a:ext>
            </a:extLst>
          </p:cNvPr>
          <p:cNvSpPr>
            <a:spLocks noGrp="1"/>
          </p:cNvSpPr>
          <p:nvPr>
            <p:ph type="ctrTitle"/>
          </p:nvPr>
        </p:nvSpPr>
        <p:spPr>
          <a:xfrm>
            <a:off x="508000" y="1437930"/>
            <a:ext cx="3998686" cy="3982139"/>
          </a:xfrm>
        </p:spPr>
        <p:txBody>
          <a:bodyPr/>
          <a:lstStyle/>
          <a:p>
            <a:r>
              <a:rPr lang="en-AU" dirty="0"/>
              <a:t>Overview to Writing a Short Response</a:t>
            </a:r>
          </a:p>
        </p:txBody>
      </p:sp>
      <p:sp>
        <p:nvSpPr>
          <p:cNvPr id="5" name="TextBox 4">
            <a:extLst>
              <a:ext uri="{FF2B5EF4-FFF2-40B4-BE49-F238E27FC236}">
                <a16:creationId xmlns:a16="http://schemas.microsoft.com/office/drawing/2014/main" id="{1BFF78F0-1321-59DC-E246-14A26CA75BE3}"/>
              </a:ext>
            </a:extLst>
          </p:cNvPr>
          <p:cNvSpPr txBox="1"/>
          <p:nvPr/>
        </p:nvSpPr>
        <p:spPr>
          <a:xfrm>
            <a:off x="5621108" y="86802"/>
            <a:ext cx="6253566" cy="6684394"/>
          </a:xfrm>
          <a:prstGeom prst="rect">
            <a:avLst/>
          </a:prstGeom>
          <a:noFill/>
        </p:spPr>
        <p:txBody>
          <a:bodyPr wrap="square">
            <a:spAutoFit/>
          </a:bodyPr>
          <a:lstStyle/>
          <a:p>
            <a:pPr marL="14605" marR="494030">
              <a:lnSpc>
                <a:spcPct val="113000"/>
              </a:lnSpc>
              <a:spcBef>
                <a:spcPts val="615"/>
              </a:spcBef>
            </a:pP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Always</a:t>
            </a:r>
            <a:r>
              <a:rPr lang="en-US" b="1"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use</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b="1"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approaches</a:t>
            </a:r>
            <a:r>
              <a:rPr lang="en-US" b="1"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(concepts,</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models,</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processes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or</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guidelines)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short</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responses.</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Often,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means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defining</a:t>
            </a:r>
            <a:r>
              <a:rPr lang="en-US" b="1"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b="1"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applying</a:t>
            </a:r>
            <a:r>
              <a:rPr lang="en-US" b="1"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concepts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or</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t>
            </a:r>
            <a:r>
              <a:rPr lang="en-US" b="1" spc="-6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br>
              <a:rPr lang="en-AU"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br>
            <a:endParaRPr lang="en-AU"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pPr marL="14605" marR="575945" indent="-635">
              <a:lnSpc>
                <a:spcPct val="113000"/>
              </a:lnSpc>
              <a:spcBef>
                <a:spcPts val="775"/>
              </a:spcBef>
            </a:pPr>
            <a:r>
              <a:rPr lang="en-US" b="1"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Before</a:t>
            </a:r>
            <a:r>
              <a:rPr lang="en-US" b="1"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start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working</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on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assessment,</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find</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definitions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the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materials.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step</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will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help</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gain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more</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detailed</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grasp</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of</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ideas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so</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that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can</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show</a:t>
            </a:r>
            <a:r>
              <a:rPr lang="en-US" b="1"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 understanding</a:t>
            </a:r>
            <a:r>
              <a:rPr lang="en-US" b="1" spc="-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marker.</a:t>
            </a:r>
            <a:endParaRPr lang="en-AU"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p>
          <a:p>
            <a:pPr marL="14605" marR="494030">
              <a:lnSpc>
                <a:spcPct val="112000"/>
              </a:lnSpc>
            </a:pP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Don't</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try</a:t>
            </a:r>
            <a:r>
              <a:rPr lang="en-US" b="1"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COVER</a:t>
            </a:r>
            <a:r>
              <a:rPr lang="en-US" b="1"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EVERYTHING</a:t>
            </a:r>
            <a:r>
              <a:rPr lang="en-US" b="1"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know</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about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topic.</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While</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it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can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be</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tempting,</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not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a:t>
            </a:r>
            <a:r>
              <a:rPr lang="en-US" b="1"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task</a:t>
            </a:r>
            <a:r>
              <a:rPr lang="en-US" b="1" spc="-1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short</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response,</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don't</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have</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enough</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words.</a:t>
            </a:r>
            <a:r>
              <a:rPr lang="en-US" spc="-1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Offer your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informed</a:t>
            </a:r>
            <a:r>
              <a:rPr lang="en-US" b="1"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answer</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question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within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7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limited</a:t>
            </a:r>
            <a:r>
              <a:rPr lang="en-US"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word count.</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p>
          <a:p>
            <a:pPr marL="14605" marR="494030">
              <a:lnSpc>
                <a:spcPct val="112000"/>
              </a:lnSpc>
            </a:pPr>
            <a:endPar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pPr marL="14605" marR="494030">
              <a:lnSpc>
                <a:spcPct val="112000"/>
              </a:lnSpc>
            </a:pP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As</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brainstorm,</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plan,</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draft</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keep</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trying</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a:t>
            </a:r>
            <a:r>
              <a:rPr lang="en-US" b="1"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focus.</a:t>
            </a:r>
          </a:p>
          <a:p>
            <a:pPr marL="14605" marR="494030">
              <a:lnSpc>
                <a:spcPct val="112000"/>
              </a:lnSpc>
            </a:pPr>
            <a:endParaRPr lang="en-US" b="1" spc="-30" dirty="0">
              <a:solidFill>
                <a:srgbClr val="000000"/>
              </a:solidFill>
              <a:latin typeface="Aptos" panose="020B0004020202020204" pitchFamily="34" charset="0"/>
            </a:endParaRPr>
          </a:p>
          <a:p>
            <a:pPr marL="14605" marR="494030">
              <a:lnSpc>
                <a:spcPct val="112000"/>
              </a:lnSpc>
            </a:pPr>
            <a:r>
              <a:rPr lang="en-US" spc="-30" dirty="0">
                <a:solidFill>
                  <a:srgbClr val="000000"/>
                </a:solidFill>
                <a:latin typeface="Aptos" panose="020B0004020202020204" pitchFamily="34" charset="0"/>
              </a:rPr>
              <a:t>You can use </a:t>
            </a:r>
            <a:r>
              <a:rPr lang="en-US" b="1" spc="-30" dirty="0">
                <a:solidFill>
                  <a:srgbClr val="000000"/>
                </a:solidFill>
                <a:latin typeface="Aptos" panose="020B0004020202020204" pitchFamily="34" charset="0"/>
              </a:rPr>
              <a:t>headings </a:t>
            </a:r>
            <a:r>
              <a:rPr lang="en-US" spc="-30" dirty="0">
                <a:solidFill>
                  <a:srgbClr val="000000"/>
                </a:solidFill>
                <a:latin typeface="Aptos" panose="020B0004020202020204" pitchFamily="34" charset="0"/>
              </a:rPr>
              <a:t>in a short response, </a:t>
            </a:r>
            <a:r>
              <a:rPr lang="en-US" b="1" spc="-30" dirty="0">
                <a:solidFill>
                  <a:srgbClr val="000000"/>
                </a:solidFill>
                <a:latin typeface="Aptos" panose="020B0004020202020204" pitchFamily="34" charset="0"/>
              </a:rPr>
              <a:t>it is part of the word count.</a:t>
            </a:r>
            <a:endParaRPr lang="en-AU" dirty="0">
              <a:solidFill>
                <a:srgbClr val="000000"/>
              </a:solidFill>
              <a:latin typeface="Grandview Display"/>
            </a:endParaRPr>
          </a:p>
        </p:txBody>
      </p:sp>
    </p:spTree>
    <p:extLst>
      <p:ext uri="{BB962C8B-B14F-4D97-AF65-F5344CB8AC3E}">
        <p14:creationId xmlns:p14="http://schemas.microsoft.com/office/powerpoint/2010/main" val="3251174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3A8F-2188-3C87-0BC2-86EFE29DB301}"/>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3507E5E5-907C-7918-6331-3CCF468AAA9C}"/>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32</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9" name="TextBox 8">
            <a:extLst>
              <a:ext uri="{FF2B5EF4-FFF2-40B4-BE49-F238E27FC236}">
                <a16:creationId xmlns:a16="http://schemas.microsoft.com/office/drawing/2014/main" id="{FFEDFED3-758A-2080-BE71-5480CF85F171}"/>
              </a:ext>
            </a:extLst>
          </p:cNvPr>
          <p:cNvSpPr txBox="1"/>
          <p:nvPr/>
        </p:nvSpPr>
        <p:spPr>
          <a:xfrm>
            <a:off x="1765661" y="470263"/>
            <a:ext cx="9203438" cy="707886"/>
          </a:xfrm>
          <a:prstGeom prst="rect">
            <a:avLst/>
          </a:prstGeom>
          <a:noFill/>
        </p:spPr>
        <p:txBody>
          <a:bodyPr wrap="square" rtlCol="0">
            <a:spAutoFit/>
          </a:bodyPr>
          <a:lstStyle/>
          <a:p>
            <a:r>
              <a:rPr lang="en-AU" sz="4000" b="1" i="1" dirty="0"/>
              <a:t>10 Key Steps for Strong Short Response Writing</a:t>
            </a:r>
          </a:p>
        </p:txBody>
      </p:sp>
      <p:sp>
        <p:nvSpPr>
          <p:cNvPr id="3" name="Text Placeholder 2">
            <a:extLst>
              <a:ext uri="{FF2B5EF4-FFF2-40B4-BE49-F238E27FC236}">
                <a16:creationId xmlns:a16="http://schemas.microsoft.com/office/drawing/2014/main" id="{4787B19F-3DB0-3B3C-B3CB-13CD52186E61}"/>
              </a:ext>
            </a:extLst>
          </p:cNvPr>
          <p:cNvSpPr>
            <a:spLocks noGrp="1"/>
          </p:cNvSpPr>
          <p:nvPr>
            <p:ph type="body" sz="half" idx="2"/>
          </p:nvPr>
        </p:nvSpPr>
        <p:spPr/>
        <p:txBody>
          <a:bodyPr/>
          <a:lstStyle/>
          <a:p>
            <a:endParaRPr lang="en-AU"/>
          </a:p>
        </p:txBody>
      </p:sp>
      <p:sp>
        <p:nvSpPr>
          <p:cNvPr id="4" name="Text Placeholder 4">
            <a:extLst>
              <a:ext uri="{FF2B5EF4-FFF2-40B4-BE49-F238E27FC236}">
                <a16:creationId xmlns:a16="http://schemas.microsoft.com/office/drawing/2014/main" id="{4DAC9682-B102-5EED-31B5-6F1ED4549A0C}"/>
              </a:ext>
            </a:extLst>
          </p:cNvPr>
          <p:cNvSpPr txBox="1">
            <a:spLocks/>
          </p:cNvSpPr>
          <p:nvPr/>
        </p:nvSpPr>
        <p:spPr>
          <a:xfrm>
            <a:off x="1281465" y="1453243"/>
            <a:ext cx="9746199" cy="432380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304800" indent="-228600">
              <a:spcBef>
                <a:spcPts val="1395"/>
              </a:spcBef>
              <a:buFont typeface="+mj-lt"/>
              <a:buAutoNum type="arabicPeriod"/>
            </a:pPr>
            <a:r>
              <a:rPr lang="en-AU" sz="2000" b="1" dirty="0"/>
              <a:t>Start with a clear main point: </a:t>
            </a:r>
            <a:r>
              <a:rPr lang="en-AU" sz="2000" dirty="0"/>
              <a:t>Emphasise that short responses must begin with the answer, not background. Example sentence starters such as: </a:t>
            </a:r>
            <a:r>
              <a:rPr lang="en-AU" sz="2000" i="1" dirty="0"/>
              <a:t>“This concept refers to…”</a:t>
            </a:r>
            <a:r>
              <a:rPr lang="en-AU" sz="2000" dirty="0"/>
              <a:t> or </a:t>
            </a:r>
            <a:r>
              <a:rPr lang="en-AU" sz="2000" i="1" dirty="0"/>
              <a:t>“In the scenario, this is evident when…”</a:t>
            </a:r>
            <a:r>
              <a:rPr lang="en-AU" sz="2000" dirty="0"/>
              <a:t>.</a:t>
            </a:r>
            <a:endParaRPr lang="en-AU" sz="2000" b="1" dirty="0"/>
          </a:p>
          <a:p>
            <a:pPr marL="76200">
              <a:spcBef>
                <a:spcPts val="1395"/>
              </a:spcBef>
            </a:pPr>
            <a:r>
              <a:rPr lang="en-AU" sz="2000" b="1" dirty="0"/>
              <a:t>2. Explain the key concept briefly:  D</a:t>
            </a:r>
            <a:r>
              <a:rPr lang="en-AU" sz="2000" dirty="0"/>
              <a:t>efine or clarify the concept in their own words before applying it. This prevents vague or incorrect use of terms </a:t>
            </a:r>
            <a:endParaRPr lang="en-AU" sz="2000" b="1" dirty="0"/>
          </a:p>
          <a:p>
            <a:r>
              <a:rPr lang="en-AU" sz="2000" b="1" dirty="0"/>
              <a:t>3. Link the concept to UNDRIP Article 3</a:t>
            </a:r>
            <a:r>
              <a:rPr lang="en-AU" sz="2000" dirty="0"/>
              <a:t> </a:t>
            </a:r>
          </a:p>
          <a:p>
            <a:r>
              <a:rPr lang="en-AU" sz="2000"/>
              <a:t>Show clearly how the concept relates to the rights described in Article 3 and to Australian Indigenous Peoples understandings of health and wellbeing. </a:t>
            </a:r>
            <a:r>
              <a:rPr lang="en-AU" sz="2000" dirty="0"/>
              <a:t>Interpret the connection—do not retell general background information.</a:t>
            </a:r>
          </a:p>
          <a:p>
            <a:pPr marL="76200">
              <a:spcBef>
                <a:spcPts val="1395"/>
              </a:spcBef>
            </a:pPr>
            <a:r>
              <a:rPr lang="en-AU" sz="2000" b="1" dirty="0"/>
              <a:t>4. Use scholarly or unit evidence: </a:t>
            </a:r>
            <a:r>
              <a:rPr lang="en-AU" sz="2000" dirty="0"/>
              <a:t>Short responses still require academic grounding. Evidence can be a unit concept, framework, or scholarly idea. Keep it brief. </a:t>
            </a:r>
            <a:endParaRPr lang="en-AU" sz="2000" b="1" dirty="0"/>
          </a:p>
          <a:p>
            <a:pPr marL="76200">
              <a:spcBef>
                <a:spcPts val="1395"/>
              </a:spcBef>
            </a:pPr>
            <a:r>
              <a:rPr lang="en-AU" sz="2000" b="1" dirty="0"/>
              <a:t>5. Write concisely and coherently: </a:t>
            </a:r>
            <a:r>
              <a:rPr lang="en-AU" sz="2000" dirty="0"/>
              <a:t>Use short, direct sentences - improves clarity and reduces grammatical errors - avoid long introductions, unnecessary detail, or narrative writing.</a:t>
            </a:r>
            <a:endParaRPr lang="en-AU" sz="2000" b="1" dirty="0"/>
          </a:p>
        </p:txBody>
      </p:sp>
    </p:spTree>
    <p:extLst>
      <p:ext uri="{BB962C8B-B14F-4D97-AF65-F5344CB8AC3E}">
        <p14:creationId xmlns:p14="http://schemas.microsoft.com/office/powerpoint/2010/main" val="1927004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3468C-285A-A5C4-3983-DF37859E0058}"/>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3A512698-8110-1E8C-DB6B-E60D186B8608}"/>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33</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TextBox 5">
            <a:extLst>
              <a:ext uri="{FF2B5EF4-FFF2-40B4-BE49-F238E27FC236}">
                <a16:creationId xmlns:a16="http://schemas.microsoft.com/office/drawing/2014/main" id="{6DAC8523-CE44-14F1-75E7-441A3079A457}"/>
              </a:ext>
            </a:extLst>
          </p:cNvPr>
          <p:cNvSpPr txBox="1"/>
          <p:nvPr/>
        </p:nvSpPr>
        <p:spPr>
          <a:xfrm>
            <a:off x="391886" y="470263"/>
            <a:ext cx="11800114" cy="707886"/>
          </a:xfrm>
          <a:prstGeom prst="rect">
            <a:avLst/>
          </a:prstGeom>
          <a:noFill/>
        </p:spPr>
        <p:txBody>
          <a:bodyPr wrap="square" rtlCol="0">
            <a:spAutoFit/>
          </a:bodyPr>
          <a:lstStyle/>
          <a:p>
            <a:r>
              <a:rPr lang="en-AU" sz="4000" b="1" i="1" dirty="0"/>
              <a:t>10 Key Steps for Strong Short Response Writing continued …</a:t>
            </a:r>
          </a:p>
        </p:txBody>
      </p:sp>
      <p:sp>
        <p:nvSpPr>
          <p:cNvPr id="3" name="Text Placeholder 2">
            <a:extLst>
              <a:ext uri="{FF2B5EF4-FFF2-40B4-BE49-F238E27FC236}">
                <a16:creationId xmlns:a16="http://schemas.microsoft.com/office/drawing/2014/main" id="{D9EDEC36-9DFE-C8E5-9026-1A2A93B8B8F2}"/>
              </a:ext>
            </a:extLst>
          </p:cNvPr>
          <p:cNvSpPr>
            <a:spLocks noGrp="1"/>
          </p:cNvSpPr>
          <p:nvPr>
            <p:ph type="body" sz="half" idx="2"/>
          </p:nvPr>
        </p:nvSpPr>
        <p:spPr/>
        <p:txBody>
          <a:bodyPr/>
          <a:lstStyle/>
          <a:p>
            <a:endParaRPr lang="en-AU"/>
          </a:p>
        </p:txBody>
      </p:sp>
      <p:sp>
        <p:nvSpPr>
          <p:cNvPr id="4" name="Text Placeholder 4">
            <a:extLst>
              <a:ext uri="{FF2B5EF4-FFF2-40B4-BE49-F238E27FC236}">
                <a16:creationId xmlns:a16="http://schemas.microsoft.com/office/drawing/2014/main" id="{B9ADBF2E-FE70-51C6-7FD7-535C4E205DDC}"/>
              </a:ext>
            </a:extLst>
          </p:cNvPr>
          <p:cNvSpPr txBox="1">
            <a:spLocks/>
          </p:cNvSpPr>
          <p:nvPr/>
        </p:nvSpPr>
        <p:spPr>
          <a:xfrm>
            <a:off x="913093" y="1623861"/>
            <a:ext cx="9498004" cy="4032356"/>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76200">
              <a:spcBef>
                <a:spcPts val="1395"/>
              </a:spcBef>
            </a:pPr>
            <a:r>
              <a:rPr lang="en-AU" sz="2000" b="1"/>
              <a:t>6. Maintain respectful terminology: </a:t>
            </a:r>
            <a:r>
              <a:rPr lang="en-AU" sz="2000"/>
              <a:t>Remember: Correct and consistent use of your chosen term</a:t>
            </a:r>
            <a:endParaRPr lang="en-AU" sz="2000" b="1"/>
          </a:p>
          <a:p>
            <a:pPr marL="76200">
              <a:spcBef>
                <a:spcPts val="1395"/>
              </a:spcBef>
            </a:pPr>
            <a:r>
              <a:rPr lang="en-AU" sz="2000" b="1"/>
              <a:t>7. Conclude by linking back to the question: 	</a:t>
            </a:r>
            <a:r>
              <a:rPr lang="en-AU" sz="2000"/>
              <a:t>A final sentence should reinforce the main point to close the paragraph logically and signals relevance to the marker.</a:t>
            </a:r>
            <a:endParaRPr lang="en-AU" sz="2000" b="1"/>
          </a:p>
          <a:p>
            <a:pPr marL="76200">
              <a:spcBef>
                <a:spcPts val="1395"/>
              </a:spcBef>
            </a:pPr>
            <a:r>
              <a:rPr lang="en-AU" sz="2000" b="1"/>
              <a:t>8. Avoid common pitfalls: </a:t>
            </a:r>
            <a:r>
              <a:rPr lang="en-AU" sz="2000"/>
              <a:t>Highlight typical issues: over‑description, missing the main point, unclear links to Article 3, lack of evidence, incorrect terminology, and overly long sentences. </a:t>
            </a:r>
            <a:endParaRPr lang="en-AU" sz="2000" b="1"/>
          </a:p>
          <a:p>
            <a:pPr marL="76200">
              <a:spcBef>
                <a:spcPts val="1395"/>
              </a:spcBef>
            </a:pPr>
            <a:r>
              <a:rPr lang="en-AU" sz="2000" b="1"/>
              <a:t>9. Use postgraduate verbs: </a:t>
            </a:r>
            <a:r>
              <a:rPr lang="en-AU" sz="2000"/>
              <a:t>Encourage verbs that show analysis and interpretation: </a:t>
            </a:r>
            <a:r>
              <a:rPr lang="en-AU" sz="2000" i="1"/>
              <a:t>analyse, interpret, examine, integrate, contextualise</a:t>
            </a:r>
            <a:r>
              <a:rPr lang="en-AU" sz="2000"/>
              <a:t>. Discourage vague verbs like </a:t>
            </a:r>
            <a:r>
              <a:rPr lang="en-AU" sz="2000" i="1"/>
              <a:t>talk about</a:t>
            </a:r>
            <a:r>
              <a:rPr lang="en-AU" sz="2000"/>
              <a:t> or </a:t>
            </a:r>
            <a:r>
              <a:rPr lang="en-AU" sz="2000" i="1"/>
              <a:t>discuss</a:t>
            </a:r>
            <a:r>
              <a:rPr lang="en-AU" sz="2000"/>
              <a:t>.</a:t>
            </a:r>
            <a:endParaRPr lang="en-AU" sz="2000" b="1"/>
          </a:p>
          <a:p>
            <a:pPr marL="76200">
              <a:spcBef>
                <a:spcPts val="1395"/>
              </a:spcBef>
            </a:pPr>
            <a:r>
              <a:rPr lang="en-AU" sz="2000" b="1"/>
              <a:t>10. Follow a simple structure (PEEL): Point → Explain → Evidence/Scenario → Link</a:t>
            </a:r>
            <a:r>
              <a:rPr lang="en-AU" sz="2000"/>
              <a:t>.</a:t>
            </a:r>
            <a:endParaRPr lang="en-AU" sz="2000" dirty="0">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208095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27751-8942-ADD6-B9E8-14D6CB20E7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200371-9B5C-4F66-253A-207FEE0B6D03}"/>
              </a:ext>
            </a:extLst>
          </p:cNvPr>
          <p:cNvSpPr>
            <a:spLocks noGrp="1"/>
          </p:cNvSpPr>
          <p:nvPr>
            <p:ph type="ctrTitle"/>
          </p:nvPr>
        </p:nvSpPr>
        <p:spPr>
          <a:xfrm>
            <a:off x="0" y="0"/>
            <a:ext cx="5471886" cy="4374025"/>
          </a:xfrm>
        </p:spPr>
        <p:txBody>
          <a:bodyPr/>
          <a:lstStyle/>
          <a:p>
            <a:r>
              <a:rPr lang="en-AU" dirty="0"/>
              <a:t>PEEL Writing Structure</a:t>
            </a:r>
          </a:p>
        </p:txBody>
      </p:sp>
      <p:pic>
        <p:nvPicPr>
          <p:cNvPr id="5" name="Picture 4">
            <a:extLst>
              <a:ext uri="{FF2B5EF4-FFF2-40B4-BE49-F238E27FC236}">
                <a16:creationId xmlns:a16="http://schemas.microsoft.com/office/drawing/2014/main" id="{768A1056-D731-4E77-1374-6AB1230710CC}"/>
              </a:ext>
            </a:extLst>
          </p:cNvPr>
          <p:cNvPicPr>
            <a:picLocks noChangeAspect="1"/>
          </p:cNvPicPr>
          <p:nvPr/>
        </p:nvPicPr>
        <p:blipFill>
          <a:blip r:embed="rId3"/>
          <a:stretch>
            <a:fillRect/>
          </a:stretch>
        </p:blipFill>
        <p:spPr>
          <a:xfrm>
            <a:off x="5708268" y="487217"/>
            <a:ext cx="6083235" cy="5883566"/>
          </a:xfrm>
          <a:prstGeom prst="rect">
            <a:avLst/>
          </a:prstGeom>
        </p:spPr>
      </p:pic>
    </p:spTree>
    <p:extLst>
      <p:ext uri="{BB962C8B-B14F-4D97-AF65-F5344CB8AC3E}">
        <p14:creationId xmlns:p14="http://schemas.microsoft.com/office/powerpoint/2010/main" val="4162982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76AFB-6A73-389E-8713-C963E3963AB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85B00F7-29DE-9860-2604-BDF9AF2E896E}"/>
              </a:ext>
            </a:extLst>
          </p:cNvPr>
          <p:cNvSpPr>
            <a:spLocks noGrp="1"/>
          </p:cNvSpPr>
          <p:nvPr>
            <p:ph type="title"/>
          </p:nvPr>
        </p:nvSpPr>
        <p:spPr>
          <a:xfrm>
            <a:off x="3411798" y="262563"/>
            <a:ext cx="5691487" cy="676656"/>
          </a:xfrm>
        </p:spPr>
        <p:txBody>
          <a:bodyPr anchor="b">
            <a:normAutofit fontScale="90000"/>
          </a:bodyPr>
          <a:lstStyle/>
          <a:p>
            <a:r>
              <a:rPr lang="en-AU" sz="4100" dirty="0"/>
              <a:t>Assessment 1 Overview</a:t>
            </a:r>
          </a:p>
        </p:txBody>
      </p:sp>
      <p:sp>
        <p:nvSpPr>
          <p:cNvPr id="5" name="Text Placeholder 4">
            <a:extLst>
              <a:ext uri="{FF2B5EF4-FFF2-40B4-BE49-F238E27FC236}">
                <a16:creationId xmlns:a16="http://schemas.microsoft.com/office/drawing/2014/main" id="{106AF047-A351-198A-7714-1C0CB2D8F6DD}"/>
              </a:ext>
            </a:extLst>
          </p:cNvPr>
          <p:cNvSpPr>
            <a:spLocks noGrp="1"/>
          </p:cNvSpPr>
          <p:nvPr>
            <p:ph type="body" sz="half" idx="2"/>
          </p:nvPr>
        </p:nvSpPr>
        <p:spPr>
          <a:xfrm>
            <a:off x="499870" y="1117022"/>
            <a:ext cx="11515345" cy="5140087"/>
          </a:xfrm>
        </p:spPr>
        <p:txBody>
          <a:bodyPr>
            <a:noAutofit/>
          </a:bodyPr>
          <a:lstStyle/>
          <a:p>
            <a:r>
              <a:rPr lang="en-AU" sz="2000" b="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Purpose of the Assessment</a:t>
            </a:r>
          </a:p>
          <a:p>
            <a:pPr marL="342900" lvl="0" indent="-342900">
              <a:buFont typeface="Arial" panose="020B0604020202020204" pitchFamily="34" charset="0"/>
              <a:buChar char="•"/>
            </a:pPr>
            <a:r>
              <a:rPr lang="en-AU" sz="2000" dirty="0">
                <a:latin typeface="Calibri" panose="020F0502020204030204" pitchFamily="34" charset="0"/>
                <a:ea typeface="Calibri" panose="020F0502020204030204" pitchFamily="34" charset="0"/>
                <a:cs typeface="Calibri" panose="020F0502020204030204" pitchFamily="34" charset="0"/>
              </a:rPr>
              <a:t>Builds understanding of </a:t>
            </a:r>
            <a:r>
              <a:rPr lang="en-AU" sz="2000" b="1" dirty="0">
                <a:latin typeface="Calibri" panose="020F0502020204030204" pitchFamily="34" charset="0"/>
                <a:ea typeface="Calibri" panose="020F0502020204030204" pitchFamily="34" charset="0"/>
                <a:cs typeface="Calibri" panose="020F0502020204030204" pitchFamily="34" charset="0"/>
              </a:rPr>
              <a:t>Australian Indigenous perspectives of health and wellbeing</a:t>
            </a:r>
            <a:r>
              <a:rPr lang="en-AU" sz="2000" dirty="0">
                <a:latin typeface="Calibri" panose="020F0502020204030204" pitchFamily="34" charset="0"/>
                <a:ea typeface="Calibri" panose="020F0502020204030204" pitchFamily="34" charset="0"/>
                <a:cs typeface="Calibri" panose="020F0502020204030204" pitchFamily="34" charset="0"/>
              </a:rPr>
              <a:t>.</a:t>
            </a:r>
          </a:p>
          <a:p>
            <a:pPr marL="342900" lvl="0" indent="-342900">
              <a:buFont typeface="Arial" panose="020B0604020202020204" pitchFamily="34" charset="0"/>
              <a:buChar char="•"/>
            </a:pPr>
            <a:r>
              <a:rPr lang="en-AU" sz="2000" dirty="0">
                <a:latin typeface="Calibri" panose="020F0502020204030204" pitchFamily="34" charset="0"/>
                <a:ea typeface="Calibri" panose="020F0502020204030204" pitchFamily="34" charset="0"/>
                <a:cs typeface="Calibri" panose="020F0502020204030204" pitchFamily="34" charset="0"/>
              </a:rPr>
              <a:t>Introduces </a:t>
            </a:r>
            <a:r>
              <a:rPr lang="en-AU" sz="2000" b="1" dirty="0">
                <a:latin typeface="Calibri" panose="020F0502020204030204" pitchFamily="34" charset="0"/>
                <a:ea typeface="Calibri" panose="020F0502020204030204" pitchFamily="34" charset="0"/>
                <a:cs typeface="Calibri" panose="020F0502020204030204" pitchFamily="34" charset="0"/>
              </a:rPr>
              <a:t>self‑determination</a:t>
            </a:r>
            <a:r>
              <a:rPr lang="en-AU" sz="2000" dirty="0">
                <a:latin typeface="Calibri" panose="020F0502020204030204" pitchFamily="34" charset="0"/>
                <a:ea typeface="Calibri" panose="020F0502020204030204" pitchFamily="34" charset="0"/>
                <a:cs typeface="Calibri" panose="020F0502020204030204" pitchFamily="34" charset="0"/>
              </a:rPr>
              <a:t> as a core principle in </a:t>
            </a:r>
            <a:r>
              <a:rPr lang="en-AU" sz="2000" b="1" dirty="0">
                <a:latin typeface="Calibri" panose="020F0502020204030204" pitchFamily="34" charset="0"/>
                <a:ea typeface="Calibri" panose="020F0502020204030204" pitchFamily="34" charset="0"/>
                <a:cs typeface="Calibri" panose="020F0502020204030204" pitchFamily="34" charset="0"/>
              </a:rPr>
              <a:t>UNDRIP Article 3</a:t>
            </a:r>
            <a:r>
              <a:rPr lang="en-AU" sz="2000" dirty="0">
                <a:latin typeface="Calibri" panose="020F0502020204030204" pitchFamily="34" charset="0"/>
                <a:ea typeface="Calibri" panose="020F0502020204030204" pitchFamily="34" charset="0"/>
                <a:cs typeface="Calibri" panose="020F0502020204030204" pitchFamily="34" charset="0"/>
              </a:rPr>
              <a:t>.</a:t>
            </a:r>
          </a:p>
          <a:p>
            <a:pPr marL="342900" lvl="0" indent="-342900">
              <a:buFont typeface="Arial" panose="020B0604020202020204" pitchFamily="34" charset="0"/>
              <a:buChar char="•"/>
            </a:pPr>
            <a:r>
              <a:rPr lang="en-AU" sz="2000" dirty="0">
                <a:latin typeface="Calibri" panose="020F0502020204030204" pitchFamily="34" charset="0"/>
                <a:ea typeface="Calibri" panose="020F0502020204030204" pitchFamily="34" charset="0"/>
                <a:cs typeface="Calibri" panose="020F0502020204030204" pitchFamily="34" charset="0"/>
              </a:rPr>
              <a:t>Highlights differences between </a:t>
            </a:r>
            <a:r>
              <a:rPr lang="en-AU" sz="2000" b="1" dirty="0">
                <a:latin typeface="Calibri" panose="020F0502020204030204" pitchFamily="34" charset="0"/>
                <a:ea typeface="Calibri" panose="020F0502020204030204" pitchFamily="34" charset="0"/>
                <a:cs typeface="Calibri" panose="020F0502020204030204" pitchFamily="34" charset="0"/>
              </a:rPr>
              <a:t>Australian Indigenous wholistic health</a:t>
            </a:r>
            <a:r>
              <a:rPr lang="en-AU" sz="2000" dirty="0">
                <a:latin typeface="Calibri" panose="020F0502020204030204" pitchFamily="34" charset="0"/>
                <a:ea typeface="Calibri" panose="020F0502020204030204" pitchFamily="34" charset="0"/>
                <a:cs typeface="Calibri" panose="020F0502020204030204" pitchFamily="34" charset="0"/>
              </a:rPr>
              <a:t> and </a:t>
            </a:r>
            <a:r>
              <a:rPr lang="en-AU" sz="2000" b="1" dirty="0">
                <a:latin typeface="Calibri" panose="020F0502020204030204" pitchFamily="34" charset="0"/>
                <a:ea typeface="Calibri" panose="020F0502020204030204" pitchFamily="34" charset="0"/>
                <a:cs typeface="Calibri" panose="020F0502020204030204" pitchFamily="34" charset="0"/>
              </a:rPr>
              <a:t>Western biomedical models</a:t>
            </a:r>
            <a:r>
              <a:rPr lang="en-AU" sz="2000" dirty="0">
                <a:latin typeface="Calibri" panose="020F0502020204030204" pitchFamily="34" charset="0"/>
                <a:ea typeface="Calibri" panose="020F0502020204030204" pitchFamily="34" charset="0"/>
                <a:cs typeface="Calibri" panose="020F0502020204030204" pitchFamily="34" charset="0"/>
              </a:rPr>
              <a:t>.</a:t>
            </a:r>
          </a:p>
          <a:p>
            <a:pPr marL="342900" lvl="0" indent="-342900">
              <a:buFont typeface="Arial" panose="020B0604020202020204" pitchFamily="34" charset="0"/>
              <a:buChar char="•"/>
            </a:pPr>
            <a:r>
              <a:rPr lang="en-AU" sz="2000" dirty="0">
                <a:latin typeface="Calibri" panose="020F0502020204030204" pitchFamily="34" charset="0"/>
                <a:ea typeface="Calibri" panose="020F0502020204030204" pitchFamily="34" charset="0"/>
                <a:cs typeface="Calibri" panose="020F0502020204030204" pitchFamily="34" charset="0"/>
              </a:rPr>
              <a:t>Examines how </a:t>
            </a:r>
            <a:r>
              <a:rPr lang="en-AU" sz="2000" b="1" dirty="0">
                <a:latin typeface="Calibri" panose="020F0502020204030204" pitchFamily="34" charset="0"/>
                <a:ea typeface="Calibri" panose="020F0502020204030204" pitchFamily="34" charset="0"/>
                <a:cs typeface="Calibri" panose="020F0502020204030204" pitchFamily="34" charset="0"/>
              </a:rPr>
              <a:t>colonisation has limited the ability to exercise self‑determination</a:t>
            </a:r>
            <a:r>
              <a:rPr lang="en-AU" sz="2000" dirty="0">
                <a:latin typeface="Calibri" panose="020F0502020204030204" pitchFamily="34" charset="0"/>
                <a:ea typeface="Calibri" panose="020F0502020204030204" pitchFamily="34" charset="0"/>
                <a:cs typeface="Calibri" panose="020F0502020204030204" pitchFamily="34" charset="0"/>
              </a:rPr>
              <a:t>.</a:t>
            </a:r>
          </a:p>
          <a:p>
            <a:pPr marL="342900" lvl="0" indent="-342900">
              <a:buFont typeface="Arial" panose="020B0604020202020204" pitchFamily="34" charset="0"/>
              <a:buChar char="•"/>
            </a:pPr>
            <a:r>
              <a:rPr lang="en-AU" sz="2000" dirty="0">
                <a:latin typeface="Calibri" panose="020F0502020204030204" pitchFamily="34" charset="0"/>
                <a:ea typeface="Calibri" panose="020F0502020204030204" pitchFamily="34" charset="0"/>
                <a:cs typeface="Calibri" panose="020F0502020204030204" pitchFamily="34" charset="0"/>
              </a:rPr>
              <a:t>Develops foundational knowledge for </a:t>
            </a:r>
            <a:r>
              <a:rPr lang="en-AU" sz="2000" b="1" dirty="0">
                <a:latin typeface="Calibri" panose="020F0502020204030204" pitchFamily="34" charset="0"/>
                <a:ea typeface="Calibri" panose="020F0502020204030204" pitchFamily="34" charset="0"/>
                <a:cs typeface="Calibri" panose="020F0502020204030204" pitchFamily="34" charset="0"/>
              </a:rPr>
              <a:t>culturally safe practice</a:t>
            </a:r>
            <a:r>
              <a:rPr lang="en-AU" sz="2000" dirty="0">
                <a:latin typeface="Calibri" panose="020F0502020204030204" pitchFamily="34" charset="0"/>
                <a:ea typeface="Calibri" panose="020F0502020204030204" pitchFamily="34" charset="0"/>
                <a:cs typeface="Calibri" panose="020F0502020204030204" pitchFamily="34" charset="0"/>
              </a:rPr>
              <a:t> in health, social services, and community work.</a:t>
            </a:r>
          </a:p>
          <a:p>
            <a:pPr marL="342900" lvl="0" indent="-342900">
              <a:buFont typeface="Arial" panose="020B0604020202020204" pitchFamily="34" charset="0"/>
              <a:buChar char="•"/>
            </a:pPr>
            <a:r>
              <a:rPr lang="en-AU" sz="2000" dirty="0">
                <a:latin typeface="Calibri" panose="020F0502020204030204" pitchFamily="34" charset="0"/>
                <a:ea typeface="Calibri" panose="020F0502020204030204" pitchFamily="34" charset="0"/>
                <a:cs typeface="Calibri" panose="020F0502020204030204" pitchFamily="34" charset="0"/>
              </a:rPr>
              <a:t>Strengthens </a:t>
            </a:r>
            <a:r>
              <a:rPr lang="en-AU" sz="2000" b="1" dirty="0">
                <a:latin typeface="Calibri" panose="020F0502020204030204" pitchFamily="34" charset="0"/>
                <a:ea typeface="Calibri" panose="020F0502020204030204" pitchFamily="34" charset="0"/>
                <a:cs typeface="Calibri" panose="020F0502020204030204" pitchFamily="34" charset="0"/>
              </a:rPr>
              <a:t>critical thinking</a:t>
            </a:r>
            <a:r>
              <a:rPr lang="en-AU" sz="2000" dirty="0">
                <a:latin typeface="Calibri" panose="020F0502020204030204" pitchFamily="34" charset="0"/>
                <a:ea typeface="Calibri" panose="020F0502020204030204" pitchFamily="34" charset="0"/>
                <a:cs typeface="Calibri" panose="020F0502020204030204" pitchFamily="34" charset="0"/>
              </a:rPr>
              <a:t> and culturally grounded analysis for professional contexts.</a:t>
            </a:r>
          </a:p>
          <a:p>
            <a:pPr lvl="0"/>
            <a:endParaRPr lang="en-AU" sz="2000" dirty="0"/>
          </a:p>
          <a:p>
            <a:pPr marL="76200">
              <a:lnSpc>
                <a:spcPct val="100298"/>
              </a:lnSpc>
            </a:pPr>
            <a:r>
              <a:rPr lang="en-US" sz="2000" b="1" kern="0" dirty="0">
                <a:solidFill>
                  <a:schemeClr val="accent5">
                    <a:lumMod val="75000"/>
                  </a:schemeClr>
                </a:solidFill>
                <a:latin typeface="Calibri" panose="020F0502020204030204" pitchFamily="34" charset="0"/>
                <a:ea typeface="Calibri" panose="020F0502020204030204" pitchFamily="34" charset="0"/>
              </a:rPr>
              <a:t>Task</a:t>
            </a:r>
            <a:r>
              <a:rPr lang="en-US" sz="2000" b="1" kern="0" spc="-20" dirty="0">
                <a:solidFill>
                  <a:schemeClr val="accent5">
                    <a:lumMod val="75000"/>
                  </a:schemeClr>
                </a:solidFill>
                <a:latin typeface="Calibri" panose="020F0502020204030204" pitchFamily="34" charset="0"/>
                <a:ea typeface="Calibri" panose="020F0502020204030204" pitchFamily="34" charset="0"/>
              </a:rPr>
              <a:t> </a:t>
            </a:r>
            <a:r>
              <a:rPr lang="en-US" sz="2000" b="1" kern="0" spc="-10" dirty="0">
                <a:solidFill>
                  <a:schemeClr val="accent5">
                    <a:lumMod val="75000"/>
                  </a:schemeClr>
                </a:solidFill>
                <a:latin typeface="Calibri" panose="020F0502020204030204" pitchFamily="34" charset="0"/>
                <a:ea typeface="Calibri" panose="020F0502020204030204" pitchFamily="34" charset="0"/>
              </a:rPr>
              <a:t>Description</a:t>
            </a:r>
            <a:endParaRPr lang="en-AU" sz="2000" b="1" kern="0" dirty="0">
              <a:solidFill>
                <a:schemeClr val="accent5">
                  <a:lumMod val="75000"/>
                </a:schemeClr>
              </a:solidFill>
              <a:latin typeface="Calibri" panose="020F0502020204030204" pitchFamily="34" charset="0"/>
              <a:ea typeface="Calibri" panose="020F0502020204030204" pitchFamily="34" charset="0"/>
            </a:endParaRPr>
          </a:p>
          <a:p>
            <a:pPr marL="342900" indent="-342900">
              <a:spcBef>
                <a:spcPts val="5"/>
              </a:spcBef>
              <a:buSzPts val="1000"/>
              <a:buFont typeface="Symbol" panose="05050102010706020507" pitchFamily="18" charset="2"/>
              <a:buChar char=""/>
            </a:pPr>
            <a:r>
              <a:rPr lang="en-US" sz="2000" dirty="0">
                <a:latin typeface="Calibri" panose="020F0502020204030204" pitchFamily="34" charset="0"/>
                <a:ea typeface="Symbol" panose="05050102010706020507" pitchFamily="18" charset="2"/>
                <a:cs typeface="Symbol" panose="05050102010706020507" pitchFamily="18" charset="2"/>
              </a:rPr>
              <a:t>Read </a:t>
            </a:r>
            <a:r>
              <a:rPr lang="en-US" sz="2000" b="1" dirty="0">
                <a:latin typeface="Calibri" panose="020F0502020204030204" pitchFamily="34" charset="0"/>
                <a:ea typeface="Symbol" panose="05050102010706020507" pitchFamily="18" charset="2"/>
                <a:cs typeface="Symbol" panose="05050102010706020507" pitchFamily="18" charset="2"/>
              </a:rPr>
              <a:t>Article 3 of the United Nations Declaration on the Rights of Indigenous Peoples (UNDRIP)</a:t>
            </a:r>
            <a:r>
              <a:rPr lang="en-US" sz="2000" dirty="0">
                <a:latin typeface="Calibri" panose="020F0502020204030204" pitchFamily="34" charset="0"/>
                <a:ea typeface="Symbol" panose="05050102010706020507" pitchFamily="18" charset="2"/>
                <a:cs typeface="Symbol" panose="05050102010706020507" pitchFamily="18" charset="2"/>
              </a:rPr>
              <a:t>:</a:t>
            </a:r>
            <a:endParaRPr lang="en-AU" sz="2000" dirty="0">
              <a:latin typeface="Calibri" panose="020F0502020204030204" pitchFamily="34" charset="0"/>
              <a:ea typeface="Symbol" panose="05050102010706020507" pitchFamily="18" charset="2"/>
              <a:cs typeface="Symbol" panose="05050102010706020507" pitchFamily="18" charset="2"/>
            </a:endParaRPr>
          </a:p>
          <a:p>
            <a:pPr marL="342900" indent="-342900">
              <a:spcBef>
                <a:spcPts val="5"/>
              </a:spcBef>
              <a:buSzPts val="1000"/>
              <a:buFont typeface="Symbol" panose="05050102010706020507" pitchFamily="18" charset="2"/>
              <a:buChar char=""/>
            </a:pPr>
            <a:r>
              <a:rPr lang="en-US" sz="2000" b="1" i="1" dirty="0">
                <a:latin typeface="Calibri" panose="020F0502020204030204" pitchFamily="34" charset="0"/>
                <a:ea typeface="Symbol" panose="05050102010706020507" pitchFamily="18" charset="2"/>
                <a:cs typeface="Symbol" panose="05050102010706020507" pitchFamily="18" charset="2"/>
              </a:rPr>
              <a:t>"Indigenous peoples have the right to self-determination. By virtue of that right, they freely determine their political status and freely pursue their economic, social and cultural development."</a:t>
            </a:r>
            <a:endParaRPr lang="en-AU" sz="2000" dirty="0">
              <a:latin typeface="Calibri" panose="020F0502020204030204" pitchFamily="34" charset="0"/>
              <a:ea typeface="Symbol" panose="05050102010706020507" pitchFamily="18" charset="2"/>
              <a:cs typeface="Symbol" panose="05050102010706020507" pitchFamily="18" charset="2"/>
            </a:endParaRPr>
          </a:p>
          <a:p>
            <a:pPr marL="342900" indent="-342900">
              <a:spcBef>
                <a:spcPts val="5"/>
              </a:spcBef>
              <a:buSzPts val="1000"/>
              <a:buFont typeface="Symbol" panose="05050102010706020507" pitchFamily="18" charset="2"/>
              <a:buChar char=""/>
            </a:pPr>
            <a:r>
              <a:rPr lang="en-US" sz="2000" dirty="0">
                <a:latin typeface="Calibri" panose="020F0502020204030204" pitchFamily="34" charset="0"/>
                <a:ea typeface="Symbol" panose="05050102010706020507" pitchFamily="18" charset="2"/>
                <a:cs typeface="Symbol" panose="05050102010706020507" pitchFamily="18" charset="2"/>
              </a:rPr>
              <a:t>Write a </a:t>
            </a:r>
            <a:r>
              <a:rPr lang="en-US" sz="2000" b="1" dirty="0">
                <a:latin typeface="Calibri" panose="020F0502020204030204" pitchFamily="34" charset="0"/>
                <a:ea typeface="Symbol" panose="05050102010706020507" pitchFamily="18" charset="2"/>
                <a:cs typeface="Symbol" panose="05050102010706020507" pitchFamily="18" charset="2"/>
              </a:rPr>
              <a:t>1,000-word short response</a:t>
            </a:r>
            <a:r>
              <a:rPr lang="en-US" sz="2000" dirty="0">
                <a:latin typeface="Calibri" panose="020F0502020204030204" pitchFamily="34" charset="0"/>
                <a:ea typeface="Symbol" panose="05050102010706020507" pitchFamily="18" charset="2"/>
                <a:cs typeface="Symbol" panose="05050102010706020507" pitchFamily="18" charset="2"/>
              </a:rPr>
              <a:t> explaining how this article relates to Australian Indigenous Peoples understandings of health and wellbeing.</a:t>
            </a:r>
            <a:endParaRPr lang="en-AU" sz="2000" dirty="0">
              <a:latin typeface="Calibri" panose="020F0502020204030204" pitchFamily="34" charset="0"/>
              <a:ea typeface="Symbol" panose="05050102010706020507" pitchFamily="18" charset="2"/>
              <a:cs typeface="Symbol" panose="05050102010706020507" pitchFamily="18" charset="2"/>
            </a:endParaRPr>
          </a:p>
          <a:p>
            <a:pPr>
              <a:lnSpc>
                <a:spcPct val="107000"/>
              </a:lnSpc>
            </a:pPr>
            <a:r>
              <a:rPr lang="en-US" sz="2000" dirty="0">
                <a:latin typeface="Calibri" panose="020F0502020204030204" pitchFamily="34" charset="0"/>
                <a:ea typeface="Calibri" panose="020F0502020204030204" pitchFamily="34" charset="0"/>
              </a:rPr>
              <a:t> </a:t>
            </a:r>
            <a:endParaRPr lang="en-AU" sz="2000" dirty="0"/>
          </a:p>
          <a:p>
            <a:pPr lvl="0"/>
            <a:endParaRPr lang="en-AU" sz="2000" dirty="0"/>
          </a:p>
          <a:p>
            <a:pPr marL="76200">
              <a:spcBef>
                <a:spcPts val="1395"/>
              </a:spcBef>
            </a:pPr>
            <a:endParaRPr lang="en-AU" sz="2000" dirty="0">
              <a:latin typeface="Calibri" panose="020F0502020204030204" pitchFamily="34" charset="0"/>
              <a:ea typeface="Calibri" panose="020F0502020204030204" pitchFamily="34" charset="0"/>
            </a:endParaRPr>
          </a:p>
        </p:txBody>
      </p:sp>
      <p:sp>
        <p:nvSpPr>
          <p:cNvPr id="15" name="Slide Number Placeholder 6">
            <a:extLst>
              <a:ext uri="{FF2B5EF4-FFF2-40B4-BE49-F238E27FC236}">
                <a16:creationId xmlns:a16="http://schemas.microsoft.com/office/drawing/2014/main" id="{812EE939-8F51-5C3F-C4C9-B4A4557D5C8C}"/>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35</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Tree>
    <p:extLst>
      <p:ext uri="{BB962C8B-B14F-4D97-AF65-F5344CB8AC3E}">
        <p14:creationId xmlns:p14="http://schemas.microsoft.com/office/powerpoint/2010/main" val="42843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2A74C-1DC1-ACE4-2B11-C2114D7B6EFD}"/>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FFB0397F-1769-F918-922E-30C9E5C57A7C}"/>
              </a:ext>
            </a:extLst>
          </p:cNvPr>
          <p:cNvSpPr>
            <a:spLocks noGrp="1"/>
          </p:cNvSpPr>
          <p:nvPr>
            <p:ph type="body" sz="half" idx="2"/>
          </p:nvPr>
        </p:nvSpPr>
        <p:spPr>
          <a:xfrm>
            <a:off x="249717" y="1051280"/>
            <a:ext cx="11431307" cy="5413528"/>
          </a:xfrm>
        </p:spPr>
        <p:txBody>
          <a:bodyPr>
            <a:noAutofit/>
          </a:bodyPr>
          <a:lstStyle/>
          <a:p>
            <a:r>
              <a:rPr lang="en-US" b="1" dirty="0"/>
              <a:t>Step 1: Read UNDRIP Article 3</a:t>
            </a:r>
            <a:endParaRPr lang="en-AU" dirty="0"/>
          </a:p>
          <a:p>
            <a:r>
              <a:rPr lang="en-US" dirty="0"/>
              <a:t>Consider what the term </a:t>
            </a:r>
            <a:r>
              <a:rPr lang="en-US" b="1" dirty="0"/>
              <a:t>self-determination</a:t>
            </a:r>
            <a:r>
              <a:rPr lang="en-US" dirty="0"/>
              <a:t> means and why it is important for Australian Indigenous Peoples.</a:t>
            </a:r>
          </a:p>
          <a:p>
            <a:endParaRPr lang="en-AU" dirty="0"/>
          </a:p>
          <a:p>
            <a:r>
              <a:rPr lang="en-US" b="1" dirty="0"/>
              <a:t>Step 2: Review Unit Content</a:t>
            </a:r>
            <a:endParaRPr lang="en-AU" dirty="0"/>
          </a:p>
          <a:p>
            <a:r>
              <a:rPr lang="en-US" dirty="0"/>
              <a:t>Use learning materials from:</a:t>
            </a:r>
            <a:endParaRPr lang="en-AU" dirty="0"/>
          </a:p>
          <a:p>
            <a:pPr lvl="1"/>
            <a:r>
              <a:rPr lang="en-US" dirty="0"/>
              <a:t>Module 1: Australian Indigenous concepts of health and wellbeing.</a:t>
            </a:r>
            <a:endParaRPr lang="en-AU" dirty="0"/>
          </a:p>
          <a:p>
            <a:pPr lvl="1"/>
            <a:r>
              <a:rPr lang="en-US" dirty="0"/>
              <a:t>Module 2: Colonisation and its impacts on Australian Indigenous health and wellbeing.</a:t>
            </a:r>
          </a:p>
          <a:p>
            <a:pPr lvl="0"/>
            <a:endParaRPr lang="en-AU" dirty="0"/>
          </a:p>
          <a:p>
            <a:r>
              <a:rPr lang="en-US" b="1" dirty="0"/>
              <a:t>Step 3: Research</a:t>
            </a:r>
            <a:endParaRPr lang="en-AU" dirty="0"/>
          </a:p>
          <a:p>
            <a:r>
              <a:rPr lang="en-US" dirty="0"/>
              <a:t>Locate additional scholarly literature that supports your discussion.</a:t>
            </a:r>
            <a:endParaRPr lang="en-AU" dirty="0"/>
          </a:p>
          <a:p>
            <a:pPr lvl="1"/>
            <a:r>
              <a:rPr lang="en-US" b="1" dirty="0"/>
              <a:t>Definition of Scholarly and Peer-Reviewed sources</a:t>
            </a:r>
            <a:endParaRPr lang="en-AU" dirty="0"/>
          </a:p>
          <a:p>
            <a:pPr lvl="1"/>
            <a:r>
              <a:rPr lang="en-AU" dirty="0"/>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lvl="1"/>
            <a:endParaRPr lang="en-AU" dirty="0"/>
          </a:p>
          <a:p>
            <a:r>
              <a:rPr lang="en-US" b="1" dirty="0"/>
              <a:t> Step 4: Write Your Response</a:t>
            </a:r>
            <a:endParaRPr lang="en-AU" dirty="0"/>
          </a:p>
          <a:p>
            <a:r>
              <a:rPr lang="en-AU" dirty="0"/>
              <a:t>Your response should explain how Australian Indigenous concepts of health and wellbeing, self-determination, and community-accepted communication styles are interconnected, and how these relate to the ongoing impacts of colonisation on Australian Indigenous health and wellbeing.</a:t>
            </a:r>
          </a:p>
          <a:p>
            <a:pPr marL="76200">
              <a:spcBef>
                <a:spcPts val="1395"/>
              </a:spcBef>
            </a:pPr>
            <a:endParaRPr lang="en-AU" sz="2000" dirty="0">
              <a:latin typeface="Calibri" panose="020F0502020204030204" pitchFamily="34" charset="0"/>
              <a:ea typeface="Calibri" panose="020F0502020204030204" pitchFamily="34" charset="0"/>
            </a:endParaRPr>
          </a:p>
        </p:txBody>
      </p:sp>
      <p:sp>
        <p:nvSpPr>
          <p:cNvPr id="15" name="Slide Number Placeholder 6">
            <a:extLst>
              <a:ext uri="{FF2B5EF4-FFF2-40B4-BE49-F238E27FC236}">
                <a16:creationId xmlns:a16="http://schemas.microsoft.com/office/drawing/2014/main" id="{23DA04AA-5842-76B3-FA73-AD82CDE63C79}"/>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36</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2" name="TextBox 1">
            <a:extLst>
              <a:ext uri="{FF2B5EF4-FFF2-40B4-BE49-F238E27FC236}">
                <a16:creationId xmlns:a16="http://schemas.microsoft.com/office/drawing/2014/main" id="{DAC2C1DA-800E-68E0-B143-5020CC407047}"/>
              </a:ext>
            </a:extLst>
          </p:cNvPr>
          <p:cNvSpPr txBox="1"/>
          <p:nvPr/>
        </p:nvSpPr>
        <p:spPr>
          <a:xfrm>
            <a:off x="3148148" y="404949"/>
            <a:ext cx="6805749" cy="646331"/>
          </a:xfrm>
          <a:prstGeom prst="rect">
            <a:avLst/>
          </a:prstGeom>
          <a:noFill/>
        </p:spPr>
        <p:txBody>
          <a:bodyPr wrap="square" rtlCol="0">
            <a:spAutoFit/>
          </a:bodyPr>
          <a:lstStyle/>
          <a:p>
            <a:r>
              <a:rPr lang="en-AU" sz="3600" dirty="0"/>
              <a:t>Assessment 1 Task Instructions</a:t>
            </a:r>
          </a:p>
        </p:txBody>
      </p:sp>
    </p:spTree>
    <p:extLst>
      <p:ext uri="{BB962C8B-B14F-4D97-AF65-F5344CB8AC3E}">
        <p14:creationId xmlns:p14="http://schemas.microsoft.com/office/powerpoint/2010/main" val="9247564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18FF-EF83-AF43-BBDD-075A49440F6A}"/>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32F286B-8E07-228B-5312-AFFC565A7A69}"/>
              </a:ext>
            </a:extLst>
          </p:cNvPr>
          <p:cNvSpPr>
            <a:spLocks noGrp="1"/>
          </p:cNvSpPr>
          <p:nvPr>
            <p:ph type="body" sz="half" idx="2"/>
          </p:nvPr>
        </p:nvSpPr>
        <p:spPr>
          <a:xfrm>
            <a:off x="378824" y="855337"/>
            <a:ext cx="11813176" cy="5609471"/>
          </a:xfrm>
        </p:spPr>
        <p:txBody>
          <a:bodyPr>
            <a:noAutofit/>
          </a:bodyPr>
          <a:lstStyle/>
          <a:p>
            <a:pPr>
              <a:spcAft>
                <a:spcPts val="600"/>
              </a:spcAft>
            </a:pPr>
            <a:r>
              <a:rPr lang="en-US" b="1" dirty="0"/>
              <a:t>Introduction (Approx. 100 words)</a:t>
            </a:r>
            <a:endParaRPr lang="en-AU" dirty="0"/>
          </a:p>
          <a:p>
            <a:pPr lvl="0">
              <a:spcAft>
                <a:spcPts val="600"/>
              </a:spcAft>
            </a:pPr>
            <a:r>
              <a:rPr lang="en-US" dirty="0"/>
              <a:t>Introduce UNDRIP Article 3.</a:t>
            </a:r>
            <a:endParaRPr lang="en-AU" dirty="0"/>
          </a:p>
          <a:p>
            <a:pPr lvl="0">
              <a:spcAft>
                <a:spcPts val="600"/>
              </a:spcAft>
            </a:pPr>
            <a:r>
              <a:rPr lang="en-US" dirty="0"/>
              <a:t>Outline the main points of your response.</a:t>
            </a:r>
          </a:p>
          <a:p>
            <a:pPr lvl="0">
              <a:spcAft>
                <a:spcPts val="600"/>
              </a:spcAft>
            </a:pPr>
            <a:endParaRPr lang="en-AU" sz="800" dirty="0"/>
          </a:p>
          <a:p>
            <a:pPr>
              <a:spcAft>
                <a:spcPts val="600"/>
              </a:spcAft>
            </a:pPr>
            <a:r>
              <a:rPr lang="en-US" b="1" dirty="0"/>
              <a:t>Health and Wellbeing (Approx. 300 words)</a:t>
            </a:r>
            <a:endParaRPr lang="en-AU" dirty="0"/>
          </a:p>
          <a:p>
            <a:pPr lvl="0">
              <a:spcAft>
                <a:spcPts val="600"/>
              </a:spcAft>
            </a:pPr>
            <a:r>
              <a:rPr lang="en-US" dirty="0"/>
              <a:t>Examine the key concepts of health and wellbeing from Australian Indigenous perspectives.</a:t>
            </a:r>
            <a:endParaRPr lang="en-AU" dirty="0"/>
          </a:p>
          <a:p>
            <a:pPr lvl="0">
              <a:spcAft>
                <a:spcPts val="600"/>
              </a:spcAft>
            </a:pPr>
            <a:r>
              <a:rPr lang="en-US" dirty="0"/>
              <a:t>Reflect on why self-determination is important for Australian Indigenous health and wellbeing.</a:t>
            </a:r>
            <a:endParaRPr lang="en-AU" dirty="0"/>
          </a:p>
          <a:p>
            <a:pPr lvl="0">
              <a:spcAft>
                <a:spcPts val="600"/>
              </a:spcAft>
            </a:pPr>
            <a:r>
              <a:rPr lang="en-US" dirty="0"/>
              <a:t>Critically evaluate one cultural determinant which shapes Australian Indigenous health and wellbeing.</a:t>
            </a:r>
          </a:p>
          <a:p>
            <a:pPr lvl="0">
              <a:spcAft>
                <a:spcPts val="600"/>
              </a:spcAft>
            </a:pPr>
            <a:endParaRPr lang="en-AU" sz="800" dirty="0"/>
          </a:p>
          <a:p>
            <a:pPr>
              <a:spcAft>
                <a:spcPts val="600"/>
              </a:spcAft>
            </a:pPr>
            <a:r>
              <a:rPr lang="en-US" b="1" dirty="0"/>
              <a:t>Community-accepted communication styles (Approx. 300 words)</a:t>
            </a:r>
            <a:endParaRPr lang="en-AU" dirty="0"/>
          </a:p>
          <a:p>
            <a:pPr>
              <a:spcAft>
                <a:spcPts val="600"/>
              </a:spcAft>
            </a:pPr>
            <a:r>
              <a:rPr lang="en-US" dirty="0"/>
              <a:t>Critically </a:t>
            </a:r>
            <a:r>
              <a:rPr lang="en-US" dirty="0" err="1"/>
              <a:t>analyse</a:t>
            </a:r>
            <a:r>
              <a:rPr lang="en-US" dirty="0"/>
              <a:t> the role of community-accepted communication styles in supporting</a:t>
            </a:r>
            <a:r>
              <a:rPr lang="en-US" b="1" dirty="0"/>
              <a:t> </a:t>
            </a:r>
            <a:r>
              <a:rPr lang="en-US" dirty="0"/>
              <a:t>Australian Indigenous health and wellbeing.</a:t>
            </a:r>
            <a:r>
              <a:rPr lang="en-US" b="1" dirty="0"/>
              <a:t> </a:t>
            </a:r>
            <a:endParaRPr lang="en-AU" dirty="0"/>
          </a:p>
          <a:p>
            <a:pPr>
              <a:spcAft>
                <a:spcPts val="600"/>
              </a:spcAft>
            </a:pPr>
            <a:endParaRPr lang="en-US" sz="800" b="1" dirty="0"/>
          </a:p>
          <a:p>
            <a:pPr>
              <a:spcAft>
                <a:spcPts val="600"/>
              </a:spcAft>
            </a:pPr>
            <a:r>
              <a:rPr lang="en-US" b="1" dirty="0"/>
              <a:t>Colonisation and Health (Approx. 200 words)</a:t>
            </a:r>
            <a:endParaRPr lang="en-AU" dirty="0"/>
          </a:p>
          <a:p>
            <a:pPr lvl="0">
              <a:spcAft>
                <a:spcPts val="600"/>
              </a:spcAft>
            </a:pPr>
            <a:r>
              <a:rPr lang="en-US" dirty="0"/>
              <a:t>Critically reflect on the enduring effects of colonisation on Australian Indigenous health and wellbeing.</a:t>
            </a:r>
          </a:p>
          <a:p>
            <a:pPr lvl="0">
              <a:spcAft>
                <a:spcPts val="600"/>
              </a:spcAft>
            </a:pPr>
            <a:endParaRPr lang="en-AU" sz="800" dirty="0"/>
          </a:p>
          <a:p>
            <a:pPr>
              <a:spcAft>
                <a:spcPts val="600"/>
              </a:spcAft>
            </a:pPr>
            <a:r>
              <a:rPr lang="en-US" b="1" dirty="0"/>
              <a:t>Conclusion (Approx. 100 words)</a:t>
            </a:r>
            <a:endParaRPr lang="en-AU" dirty="0"/>
          </a:p>
          <a:p>
            <a:pPr lvl="0">
              <a:spcAft>
                <a:spcPts val="600"/>
              </a:spcAft>
            </a:pPr>
            <a:r>
              <a:rPr lang="en-US" dirty="0" err="1"/>
              <a:t>Summarise</a:t>
            </a:r>
            <a:r>
              <a:rPr lang="en-US" dirty="0"/>
              <a:t> your key points. </a:t>
            </a:r>
            <a:r>
              <a:rPr lang="en-US" b="1" dirty="0"/>
              <a:t>NO</a:t>
            </a:r>
            <a:r>
              <a:rPr lang="en-US" dirty="0"/>
              <a:t> new information</a:t>
            </a:r>
            <a:endParaRPr lang="en-AU" dirty="0"/>
          </a:p>
          <a:p>
            <a:br>
              <a:rPr lang="en-US" b="1" dirty="0"/>
            </a:br>
            <a:endParaRPr lang="en-AU" sz="2000" dirty="0"/>
          </a:p>
          <a:p>
            <a:r>
              <a:rPr lang="en-US" b="1" dirty="0"/>
              <a:t> </a:t>
            </a:r>
            <a:endParaRPr lang="en-AU" dirty="0"/>
          </a:p>
          <a:p>
            <a:pPr marL="76200">
              <a:spcBef>
                <a:spcPts val="1395"/>
              </a:spcBef>
            </a:pPr>
            <a:endParaRPr lang="en-AU" sz="2000" dirty="0">
              <a:latin typeface="Calibri" panose="020F0502020204030204" pitchFamily="34" charset="0"/>
              <a:ea typeface="Calibri" panose="020F0502020204030204" pitchFamily="34" charset="0"/>
            </a:endParaRPr>
          </a:p>
        </p:txBody>
      </p:sp>
      <p:sp>
        <p:nvSpPr>
          <p:cNvPr id="15" name="Slide Number Placeholder 6">
            <a:extLst>
              <a:ext uri="{FF2B5EF4-FFF2-40B4-BE49-F238E27FC236}">
                <a16:creationId xmlns:a16="http://schemas.microsoft.com/office/drawing/2014/main" id="{40A1F3AC-63CA-2F23-0AC9-D3ABE125B974}"/>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37</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2" name="TextBox 1">
            <a:extLst>
              <a:ext uri="{FF2B5EF4-FFF2-40B4-BE49-F238E27FC236}">
                <a16:creationId xmlns:a16="http://schemas.microsoft.com/office/drawing/2014/main" id="{D42CC5A0-4644-CE2C-DF3A-D4076ADA8163}"/>
              </a:ext>
            </a:extLst>
          </p:cNvPr>
          <p:cNvSpPr txBox="1"/>
          <p:nvPr/>
        </p:nvSpPr>
        <p:spPr>
          <a:xfrm>
            <a:off x="2836817" y="209006"/>
            <a:ext cx="6518366" cy="646331"/>
          </a:xfrm>
          <a:prstGeom prst="rect">
            <a:avLst/>
          </a:prstGeom>
          <a:noFill/>
        </p:spPr>
        <p:txBody>
          <a:bodyPr wrap="square" rtlCol="0">
            <a:spAutoFit/>
          </a:bodyPr>
          <a:lstStyle/>
          <a:p>
            <a:r>
              <a:rPr lang="en-US" sz="3600" b="1" dirty="0"/>
              <a:t>Example Short Response Structure</a:t>
            </a:r>
            <a:endParaRPr lang="en-AU" sz="3600" dirty="0"/>
          </a:p>
        </p:txBody>
      </p:sp>
    </p:spTree>
    <p:extLst>
      <p:ext uri="{BB962C8B-B14F-4D97-AF65-F5344CB8AC3E}">
        <p14:creationId xmlns:p14="http://schemas.microsoft.com/office/powerpoint/2010/main" val="10533675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B2836-EEAC-72A4-2BED-92AA8FDA051A}"/>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5C5B26C3-BD40-5F18-35B6-ED92C38FE7E9}"/>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38</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TextBox 3">
            <a:extLst>
              <a:ext uri="{FF2B5EF4-FFF2-40B4-BE49-F238E27FC236}">
                <a16:creationId xmlns:a16="http://schemas.microsoft.com/office/drawing/2014/main" id="{5F3253B3-29DA-094D-34E8-015B850EEB07}"/>
              </a:ext>
            </a:extLst>
          </p:cNvPr>
          <p:cNvSpPr txBox="1"/>
          <p:nvPr/>
        </p:nvSpPr>
        <p:spPr>
          <a:xfrm>
            <a:off x="3542211" y="458957"/>
            <a:ext cx="5107578" cy="707886"/>
          </a:xfrm>
          <a:prstGeom prst="rect">
            <a:avLst/>
          </a:prstGeom>
          <a:noFill/>
        </p:spPr>
        <p:txBody>
          <a:bodyPr wrap="square" rtlCol="0">
            <a:spAutoFit/>
          </a:bodyPr>
          <a:lstStyle/>
          <a:p>
            <a:pPr>
              <a:buNone/>
            </a:pPr>
            <a:r>
              <a:rPr lang="en-US" sz="4000" dirty="0">
                <a:ea typeface="Calibri" panose="020F0502020204030204" pitchFamily="34" charset="0"/>
              </a:rPr>
              <a:t>Your response must …</a:t>
            </a:r>
            <a:endParaRPr lang="en-AU" sz="4000" dirty="0">
              <a:ea typeface="Calibri" panose="020F0502020204030204" pitchFamily="34" charset="0"/>
            </a:endParaRPr>
          </a:p>
        </p:txBody>
      </p:sp>
      <p:sp>
        <p:nvSpPr>
          <p:cNvPr id="7" name="TextBox 6">
            <a:extLst>
              <a:ext uri="{FF2B5EF4-FFF2-40B4-BE49-F238E27FC236}">
                <a16:creationId xmlns:a16="http://schemas.microsoft.com/office/drawing/2014/main" id="{165E1C2E-8826-B30D-35BD-7241FFDD827B}"/>
              </a:ext>
            </a:extLst>
          </p:cNvPr>
          <p:cNvSpPr txBox="1"/>
          <p:nvPr/>
        </p:nvSpPr>
        <p:spPr>
          <a:xfrm>
            <a:off x="2168978" y="1336660"/>
            <a:ext cx="7854043" cy="4785926"/>
          </a:xfrm>
          <a:prstGeom prst="rect">
            <a:avLst/>
          </a:prstGeom>
          <a:noFill/>
        </p:spPr>
        <p:txBody>
          <a:bodyPr wrap="square">
            <a:spAutoFit/>
          </a:bodyPr>
          <a:lstStyle/>
          <a:p>
            <a:pPr>
              <a:spcAft>
                <a:spcPts val="600"/>
              </a:spcAft>
              <a:buNone/>
            </a:pPr>
            <a:r>
              <a:rPr lang="en-AU" sz="2000" b="1" u="sng" dirty="0"/>
              <a:t>Assessment Requirements</a:t>
            </a:r>
          </a:p>
          <a:p>
            <a:pPr marL="342900" lvl="0" indent="-342900">
              <a:spcAft>
                <a:spcPts val="600"/>
              </a:spcAft>
              <a:buFont typeface="Arial" panose="020B0604020202020204" pitchFamily="34" charset="0"/>
              <a:buChar char="•"/>
            </a:pPr>
            <a:r>
              <a:rPr lang="en-AU" sz="2000" dirty="0">
                <a:effectLst/>
              </a:rPr>
              <a:t>Follow the </a:t>
            </a:r>
            <a:r>
              <a:rPr lang="en-AU" sz="2000" b="1" dirty="0">
                <a:effectLst/>
              </a:rPr>
              <a:t>Short Response Quick Guide</a:t>
            </a:r>
            <a:r>
              <a:rPr lang="en-AU" sz="2000" dirty="0">
                <a:effectLst/>
              </a:rPr>
              <a:t> (Assessment 1 resources).</a:t>
            </a:r>
            <a:endParaRPr lang="en-AU" sz="2000" dirty="0"/>
          </a:p>
          <a:p>
            <a:pPr marL="342900" lvl="0" indent="-342900">
              <a:spcAft>
                <a:spcPts val="600"/>
              </a:spcAft>
              <a:buFont typeface="Arial" panose="020B0604020202020204" pitchFamily="34" charset="0"/>
              <a:buChar char="•"/>
            </a:pPr>
            <a:r>
              <a:rPr lang="en-AU" sz="2000" dirty="0">
                <a:effectLst/>
              </a:rPr>
              <a:t>Address </a:t>
            </a:r>
            <a:r>
              <a:rPr lang="en-AU" sz="2000" b="1" dirty="0">
                <a:effectLst/>
              </a:rPr>
              <a:t>UNDRIP Article 3</a:t>
            </a:r>
            <a:r>
              <a:rPr lang="en-AU" sz="2000" dirty="0">
                <a:effectLst/>
              </a:rPr>
              <a:t> throughout your discussion.</a:t>
            </a:r>
            <a:endParaRPr lang="en-AU" sz="2000" dirty="0"/>
          </a:p>
          <a:p>
            <a:pPr marL="342900" lvl="0" indent="-342900">
              <a:spcAft>
                <a:spcPts val="600"/>
              </a:spcAft>
              <a:buFont typeface="Arial" panose="020B0604020202020204" pitchFamily="34" charset="0"/>
              <a:buChar char="•"/>
            </a:pPr>
            <a:r>
              <a:rPr lang="en-AU" sz="2000" dirty="0">
                <a:effectLst/>
              </a:rPr>
              <a:t>Analyse </a:t>
            </a:r>
            <a:r>
              <a:rPr lang="en-AU" sz="2000" b="1" dirty="0">
                <a:effectLst/>
              </a:rPr>
              <a:t>Australian Indigenous concepts of health and wellbeing</a:t>
            </a:r>
            <a:r>
              <a:rPr lang="en-AU" sz="2000" dirty="0">
                <a:effectLst/>
              </a:rPr>
              <a:t>, including </a:t>
            </a:r>
            <a:r>
              <a:rPr lang="en-AU" sz="2000" b="1" dirty="0">
                <a:effectLst/>
              </a:rPr>
              <a:t>self‑determination</a:t>
            </a:r>
            <a:r>
              <a:rPr lang="en-AU" sz="2000" dirty="0">
                <a:effectLst/>
              </a:rPr>
              <a:t> and </a:t>
            </a:r>
            <a:r>
              <a:rPr lang="en-AU" sz="2000" b="1" dirty="0">
                <a:effectLst/>
              </a:rPr>
              <a:t>one cultural determinant</a:t>
            </a:r>
            <a:r>
              <a:rPr lang="en-AU" sz="2000" dirty="0">
                <a:effectLst/>
              </a:rPr>
              <a:t>.</a:t>
            </a:r>
            <a:endParaRPr lang="en-AU" sz="2000" dirty="0"/>
          </a:p>
          <a:p>
            <a:pPr marL="342900" lvl="0" indent="-342900">
              <a:spcAft>
                <a:spcPts val="600"/>
              </a:spcAft>
              <a:buFont typeface="Arial" panose="020B0604020202020204" pitchFamily="34" charset="0"/>
              <a:buChar char="•"/>
            </a:pPr>
            <a:r>
              <a:rPr lang="en-AU" sz="2000" dirty="0">
                <a:effectLst/>
              </a:rPr>
              <a:t>Explain the </a:t>
            </a:r>
            <a:r>
              <a:rPr lang="en-AU" sz="2000" b="1" dirty="0">
                <a:effectLst/>
              </a:rPr>
              <a:t>relationship between colonisation and contemporary Australian Indigenous health outcomes</a:t>
            </a:r>
            <a:r>
              <a:rPr lang="en-AU" sz="2000" dirty="0">
                <a:effectLst/>
              </a:rPr>
              <a:t>.</a:t>
            </a:r>
            <a:endParaRPr lang="en-AU" sz="2000" dirty="0"/>
          </a:p>
          <a:p>
            <a:pPr marL="342900" lvl="0" indent="-342900">
              <a:spcAft>
                <a:spcPts val="600"/>
              </a:spcAft>
              <a:buFont typeface="Arial" panose="020B0604020202020204" pitchFamily="34" charset="0"/>
              <a:buChar char="•"/>
            </a:pPr>
            <a:r>
              <a:rPr lang="en-AU" sz="2000" dirty="0">
                <a:effectLst/>
              </a:rPr>
              <a:t>Support your discussion with </a:t>
            </a:r>
            <a:r>
              <a:rPr lang="en-AU" sz="2000" b="1" dirty="0">
                <a:effectLst/>
              </a:rPr>
              <a:t>scholarly evidence</a:t>
            </a:r>
            <a:r>
              <a:rPr lang="en-AU" sz="2000" dirty="0">
                <a:effectLst/>
              </a:rPr>
              <a:t>.</a:t>
            </a:r>
            <a:endParaRPr lang="en-AU" sz="2000" dirty="0"/>
          </a:p>
          <a:p>
            <a:pPr>
              <a:spcAft>
                <a:spcPts val="600"/>
              </a:spcAft>
              <a:buNone/>
            </a:pPr>
            <a:r>
              <a:rPr lang="en-AU" sz="2000" b="1" u="sng" dirty="0"/>
              <a:t>Sources &amp; Referencing</a:t>
            </a:r>
          </a:p>
          <a:p>
            <a:pPr marL="342900" lvl="0" indent="-342900">
              <a:spcAft>
                <a:spcPts val="600"/>
              </a:spcAft>
              <a:buFont typeface="Arial" panose="020B0604020202020204" pitchFamily="34" charset="0"/>
              <a:buChar char="•"/>
            </a:pPr>
            <a:r>
              <a:rPr lang="en-AU" sz="2000" dirty="0">
                <a:effectLst/>
              </a:rPr>
              <a:t>Use a </a:t>
            </a:r>
            <a:r>
              <a:rPr lang="en-AU" sz="2000" b="1" dirty="0">
                <a:effectLst/>
              </a:rPr>
              <a:t>minimum of five (5) scholarly sources</a:t>
            </a:r>
            <a:r>
              <a:rPr lang="en-AU" sz="2000" dirty="0">
                <a:effectLst/>
              </a:rPr>
              <a:t>.</a:t>
            </a:r>
            <a:endParaRPr lang="en-AU" sz="2000" dirty="0"/>
          </a:p>
          <a:p>
            <a:pPr marL="342900" lvl="0" indent="-342900">
              <a:spcAft>
                <a:spcPts val="600"/>
              </a:spcAft>
              <a:buFont typeface="Arial" panose="020B0604020202020204" pitchFamily="34" charset="0"/>
              <a:buChar char="•"/>
            </a:pPr>
            <a:r>
              <a:rPr lang="en-AU" sz="2000" b="1" dirty="0">
                <a:effectLst/>
              </a:rPr>
              <a:t>UNDRIP must be cited and referenced</a:t>
            </a:r>
            <a:r>
              <a:rPr lang="en-AU" sz="2000" dirty="0">
                <a:effectLst/>
              </a:rPr>
              <a:t>, but </a:t>
            </a:r>
            <a:r>
              <a:rPr lang="en-AU" sz="2000" b="1" dirty="0">
                <a:effectLst/>
              </a:rPr>
              <a:t>does not count</a:t>
            </a:r>
            <a:r>
              <a:rPr lang="en-AU" sz="2000" dirty="0">
                <a:effectLst/>
              </a:rPr>
              <a:t> toward the five scholarly sources.</a:t>
            </a:r>
            <a:endParaRPr lang="en-AU" sz="2000" dirty="0"/>
          </a:p>
          <a:p>
            <a:pPr marL="342900" lvl="0" indent="-342900">
              <a:spcAft>
                <a:spcPts val="600"/>
              </a:spcAft>
              <a:buFont typeface="Arial" panose="020B0604020202020204" pitchFamily="34" charset="0"/>
              <a:buChar char="•"/>
            </a:pPr>
            <a:r>
              <a:rPr lang="en-AU" sz="2000" dirty="0">
                <a:effectLst/>
              </a:rPr>
              <a:t>Your reference list must contain </a:t>
            </a:r>
            <a:r>
              <a:rPr lang="en-AU" sz="2000" b="1" dirty="0">
                <a:effectLst/>
              </a:rPr>
              <a:t>at least six (6) references</a:t>
            </a:r>
            <a:r>
              <a:rPr lang="en-AU" sz="2000" dirty="0">
                <a:effectLst/>
              </a:rPr>
              <a:t> in total.</a:t>
            </a:r>
            <a:endParaRPr lang="en-AU" sz="2000" dirty="0"/>
          </a:p>
        </p:txBody>
      </p:sp>
    </p:spTree>
    <p:extLst>
      <p:ext uri="{BB962C8B-B14F-4D97-AF65-F5344CB8AC3E}">
        <p14:creationId xmlns:p14="http://schemas.microsoft.com/office/powerpoint/2010/main" val="2322896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7BD66-3825-4654-A117-50123FF828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FEE308-3F34-A7A9-2228-DFEB1043198F}"/>
              </a:ext>
            </a:extLst>
          </p:cNvPr>
          <p:cNvSpPr>
            <a:spLocks noGrp="1"/>
          </p:cNvSpPr>
          <p:nvPr>
            <p:ph type="ctrTitle"/>
          </p:nvPr>
        </p:nvSpPr>
        <p:spPr>
          <a:xfrm>
            <a:off x="1262743" y="1741715"/>
            <a:ext cx="3381829" cy="1451428"/>
          </a:xfrm>
        </p:spPr>
        <p:txBody>
          <a:bodyPr/>
          <a:lstStyle/>
          <a:p>
            <a:r>
              <a:rPr lang="en-AU" sz="3600" dirty="0"/>
              <a:t>Referencing Requirements</a:t>
            </a:r>
          </a:p>
        </p:txBody>
      </p:sp>
      <p:sp>
        <p:nvSpPr>
          <p:cNvPr id="2" name="TextBox 1">
            <a:extLst>
              <a:ext uri="{FF2B5EF4-FFF2-40B4-BE49-F238E27FC236}">
                <a16:creationId xmlns:a16="http://schemas.microsoft.com/office/drawing/2014/main" id="{8C7573B0-2CC4-E0A9-ECD0-1F52370A6D63}"/>
              </a:ext>
            </a:extLst>
          </p:cNvPr>
          <p:cNvSpPr txBox="1"/>
          <p:nvPr/>
        </p:nvSpPr>
        <p:spPr>
          <a:xfrm>
            <a:off x="5596649" y="306643"/>
            <a:ext cx="6097904" cy="6279027"/>
          </a:xfrm>
          <a:prstGeom prst="rect">
            <a:avLst/>
          </a:prstGeom>
          <a:noFill/>
        </p:spPr>
        <p:txBody>
          <a:bodyPr wrap="square">
            <a:spAutoFit/>
          </a:bodyPr>
          <a:lstStyle/>
          <a:p>
            <a:pPr algn="just">
              <a:spcBef>
                <a:spcPts val="1145"/>
              </a:spcBef>
              <a:tabLst>
                <a:tab pos="596265" algn="l"/>
              </a:tabLst>
            </a:pPr>
            <a:r>
              <a:rPr lang="en-US" sz="2000" dirty="0">
                <a:solidFill>
                  <a:prstClr val="black"/>
                </a:solidFill>
                <a:latin typeface="Aptos" panose="02110004020202020204"/>
                <a:ea typeface="Symbol" panose="05050102010706020507" pitchFamily="18" charset="2"/>
                <a:cs typeface="Symbol" panose="05050102010706020507" pitchFamily="18" charset="2"/>
              </a:rPr>
              <a:t>Ensure you meet the following Criteria:</a:t>
            </a:r>
          </a:p>
          <a:p>
            <a:pPr algn="just">
              <a:spcBef>
                <a:spcPts val="1145"/>
              </a:spcBef>
              <a:tabLst>
                <a:tab pos="596265" algn="l"/>
              </a:tabLst>
            </a:pPr>
            <a:endParaRPr lang="en-US" sz="2000" dirty="0">
              <a:solidFill>
                <a:prstClr val="black"/>
              </a:solidFill>
              <a:latin typeface="Aptos" panose="02110004020202020204"/>
              <a:ea typeface="Symbol" panose="05050102010706020507" pitchFamily="18" charset="2"/>
              <a:cs typeface="Symbol" panose="05050102010706020507" pitchFamily="18" charset="2"/>
            </a:endParaRPr>
          </a:p>
          <a:p>
            <a:pPr marL="342900" indent="-342900" algn="just">
              <a:spcBef>
                <a:spcPts val="1145"/>
              </a:spcBef>
              <a:spcAft>
                <a:spcPts val="1800"/>
              </a:spcAft>
              <a:buFont typeface="Symbol" panose="05050102010706020507" pitchFamily="18" charset="2"/>
              <a:buChar char=""/>
              <a:tabLst>
                <a:tab pos="596265" algn="l"/>
              </a:tabLst>
            </a:pPr>
            <a:r>
              <a:rPr lang="en-US" sz="2000" dirty="0">
                <a:solidFill>
                  <a:prstClr val="black"/>
                </a:solidFill>
                <a:latin typeface="Aptos" panose="02110004020202020204"/>
                <a:ea typeface="Symbol" panose="05050102010706020507" pitchFamily="18" charset="2"/>
                <a:cs typeface="Symbol" panose="05050102010706020507" pitchFamily="18" charset="2"/>
              </a:rPr>
              <a:t>Referencing</a:t>
            </a:r>
            <a:r>
              <a:rPr lang="en-US" sz="2000" spc="-70" dirty="0">
                <a:solidFill>
                  <a:prstClr val="black"/>
                </a:solidFill>
                <a:latin typeface="Aptos" panose="02110004020202020204"/>
                <a:ea typeface="Symbol" panose="05050102010706020507" pitchFamily="18" charset="2"/>
                <a:cs typeface="Symbol" panose="05050102010706020507" pitchFamily="18" charset="2"/>
              </a:rPr>
              <a:t> </a:t>
            </a:r>
            <a:r>
              <a:rPr lang="en-US" sz="2000" dirty="0">
                <a:solidFill>
                  <a:prstClr val="black"/>
                </a:solidFill>
                <a:latin typeface="Aptos" panose="02110004020202020204"/>
                <a:ea typeface="Symbol" panose="05050102010706020507" pitchFamily="18" charset="2"/>
                <a:cs typeface="Symbol" panose="05050102010706020507" pitchFamily="18" charset="2"/>
              </a:rPr>
              <a:t>style</a:t>
            </a:r>
            <a:r>
              <a:rPr lang="en-US" sz="2000" spc="-55" dirty="0">
                <a:solidFill>
                  <a:prstClr val="black"/>
                </a:solidFill>
                <a:latin typeface="Aptos" panose="02110004020202020204"/>
                <a:ea typeface="Symbol" panose="05050102010706020507" pitchFamily="18" charset="2"/>
                <a:cs typeface="Symbol" panose="05050102010706020507" pitchFamily="18" charset="2"/>
              </a:rPr>
              <a:t> </a:t>
            </a:r>
            <a:r>
              <a:rPr lang="en-US" sz="2000" dirty="0">
                <a:solidFill>
                  <a:prstClr val="black"/>
                </a:solidFill>
                <a:latin typeface="Aptos" panose="02110004020202020204"/>
                <a:ea typeface="Symbol" panose="05050102010706020507" pitchFamily="18" charset="2"/>
                <a:cs typeface="Symbol" panose="05050102010706020507" pitchFamily="18" charset="2"/>
              </a:rPr>
              <a:t>of</a:t>
            </a:r>
            <a:r>
              <a:rPr lang="en-US" sz="2000" spc="-35" dirty="0">
                <a:solidFill>
                  <a:prstClr val="black"/>
                </a:solidFill>
                <a:latin typeface="Aptos" panose="02110004020202020204"/>
                <a:ea typeface="Symbol" panose="05050102010706020507" pitchFamily="18" charset="2"/>
                <a:cs typeface="Symbol" panose="05050102010706020507" pitchFamily="18" charset="2"/>
              </a:rPr>
              <a:t> </a:t>
            </a:r>
            <a:r>
              <a:rPr lang="en-US" sz="2000" b="1" spc="-20" dirty="0">
                <a:solidFill>
                  <a:prstClr val="black"/>
                </a:solidFill>
                <a:latin typeface="Aptos" panose="02110004020202020204"/>
                <a:ea typeface="Symbol" panose="05050102010706020507" pitchFamily="18" charset="2"/>
                <a:cs typeface="Symbol" panose="05050102010706020507" pitchFamily="18" charset="2"/>
              </a:rPr>
              <a:t>APA7</a:t>
            </a:r>
            <a:r>
              <a:rPr lang="en-US" sz="2000" spc="-20" dirty="0">
                <a:solidFill>
                  <a:prstClr val="black"/>
                </a:solidFill>
                <a:latin typeface="Aptos" panose="02110004020202020204"/>
                <a:ea typeface="Symbol" panose="05050102010706020507" pitchFamily="18" charset="2"/>
                <a:cs typeface="Symbol" panose="05050102010706020507" pitchFamily="18" charset="2"/>
              </a:rPr>
              <a:t>.</a:t>
            </a:r>
            <a:endParaRPr lang="en-AU" sz="2000" dirty="0">
              <a:solidFill>
                <a:prstClr val="black"/>
              </a:solidFill>
              <a:latin typeface="Aptos" panose="02110004020202020204"/>
              <a:ea typeface="Symbol" panose="05050102010706020507" pitchFamily="18" charset="2"/>
              <a:cs typeface="Symbol" panose="05050102010706020507" pitchFamily="18" charset="2"/>
            </a:endParaRPr>
          </a:p>
          <a:p>
            <a:pPr marL="342900" marR="179070" indent="-342900" algn="just">
              <a:lnSpc>
                <a:spcPct val="107000"/>
              </a:lnSpc>
              <a:spcBef>
                <a:spcPts val="110"/>
              </a:spcBef>
              <a:spcAft>
                <a:spcPts val="1800"/>
              </a:spcAft>
              <a:buFont typeface="Symbol" panose="05050102010706020507" pitchFamily="18" charset="2"/>
              <a:buChar char=""/>
              <a:tabLst>
                <a:tab pos="594360" algn="l"/>
                <a:tab pos="596900" algn="l"/>
              </a:tabLst>
            </a:pPr>
            <a:r>
              <a:rPr lang="en-US" sz="2000" dirty="0">
                <a:solidFill>
                  <a:prstClr val="black"/>
                </a:solidFill>
                <a:latin typeface="Aptos" panose="02110004020202020204"/>
                <a:ea typeface="Symbol" panose="05050102010706020507" pitchFamily="18" charset="2"/>
                <a:cs typeface="Symbol" panose="05050102010706020507" pitchFamily="18" charset="2"/>
              </a:rPr>
              <a:t>Consistent use of </a:t>
            </a:r>
            <a:r>
              <a:rPr lang="en-US" sz="2000" b="1" dirty="0">
                <a:solidFill>
                  <a:prstClr val="black"/>
                </a:solidFill>
                <a:latin typeface="Aptos" panose="02110004020202020204"/>
                <a:ea typeface="Symbol" panose="05050102010706020507" pitchFamily="18" charset="2"/>
                <a:cs typeface="Symbol" panose="05050102010706020507" pitchFamily="18" charset="2"/>
              </a:rPr>
              <a:t>correct </a:t>
            </a:r>
            <a:r>
              <a:rPr lang="en-US" sz="2000" dirty="0">
                <a:solidFill>
                  <a:prstClr val="black"/>
                </a:solidFill>
                <a:latin typeface="Aptos" panose="02110004020202020204"/>
                <a:ea typeface="Symbol" panose="05050102010706020507" pitchFamily="18" charset="2"/>
                <a:cs typeface="Symbol" panose="05050102010706020507" pitchFamily="18" charset="2"/>
              </a:rPr>
              <a:t>and </a:t>
            </a:r>
            <a:r>
              <a:rPr lang="en-US" sz="2000" b="1" dirty="0">
                <a:solidFill>
                  <a:prstClr val="black"/>
                </a:solidFill>
                <a:latin typeface="Aptos" panose="02110004020202020204"/>
                <a:ea typeface="Symbol" panose="05050102010706020507" pitchFamily="18" charset="2"/>
                <a:cs typeface="Symbol" panose="05050102010706020507" pitchFamily="18" charset="2"/>
              </a:rPr>
              <a:t>appropriate </a:t>
            </a:r>
            <a:r>
              <a:rPr lang="en-US" sz="2000" dirty="0">
                <a:solidFill>
                  <a:prstClr val="black"/>
                </a:solidFill>
                <a:latin typeface="Aptos" panose="02110004020202020204"/>
                <a:ea typeface="Symbol" panose="05050102010706020507" pitchFamily="18" charset="2"/>
                <a:cs typeface="Symbol" panose="05050102010706020507" pitchFamily="18" charset="2"/>
              </a:rPr>
              <a:t>terminology and tone in reference to Australian Indigenous Peoples health and wellbeing. </a:t>
            </a:r>
          </a:p>
          <a:p>
            <a:pPr marL="342900" marR="179070" indent="-342900" algn="just">
              <a:lnSpc>
                <a:spcPct val="107000"/>
              </a:lnSpc>
              <a:spcBef>
                <a:spcPts val="110"/>
              </a:spcBef>
              <a:spcAft>
                <a:spcPts val="1800"/>
              </a:spcAft>
              <a:buFont typeface="Symbol" panose="05050102010706020507" pitchFamily="18" charset="2"/>
              <a:buChar char=""/>
              <a:tabLst>
                <a:tab pos="594360" algn="l"/>
                <a:tab pos="596900" algn="l"/>
              </a:tabLst>
            </a:pPr>
            <a:r>
              <a:rPr lang="en-US" sz="2000" dirty="0">
                <a:solidFill>
                  <a:srgbClr val="000000"/>
                </a:solidFill>
                <a:latin typeface="Aptos" panose="02110004020202020204"/>
              </a:rPr>
              <a:t>U</a:t>
            </a:r>
            <a:r>
              <a:rPr lang="en-US" sz="2000" dirty="0">
                <a:solidFill>
                  <a:srgbClr val="000000"/>
                </a:solidFill>
                <a:latin typeface="Aptos" panose="020B0004020202020204" pitchFamily="34" charset="0"/>
              </a:rPr>
              <a:t>se </a:t>
            </a:r>
            <a:r>
              <a:rPr lang="en-US" sz="2000" b="1" u="sng" dirty="0">
                <a:solidFill>
                  <a:srgbClr val="000000"/>
                </a:solidFill>
                <a:latin typeface="Aptos" panose="020B0004020202020204" pitchFamily="34" charset="0"/>
              </a:rPr>
              <a:t>a minimum of 5 scholarly sources </a:t>
            </a:r>
          </a:p>
          <a:p>
            <a:pPr marL="342900" marR="179070" indent="-342900" algn="just">
              <a:lnSpc>
                <a:spcPct val="107000"/>
              </a:lnSpc>
              <a:spcBef>
                <a:spcPts val="110"/>
              </a:spcBef>
              <a:spcAft>
                <a:spcPts val="1800"/>
              </a:spcAft>
              <a:buFont typeface="Symbol" panose="05050102010706020507" pitchFamily="18" charset="2"/>
              <a:buChar char=""/>
              <a:tabLst>
                <a:tab pos="594360" algn="l"/>
                <a:tab pos="596900" algn="l"/>
              </a:tabLst>
            </a:pPr>
            <a:r>
              <a:rPr lang="en-AU" dirty="0">
                <a:solidFill>
                  <a:srgbClr val="000000"/>
                </a:solidFill>
                <a:latin typeface="Aptos" panose="020B0004020202020204" pitchFamily="34" charset="0"/>
              </a:rPr>
              <a:t>You must also cite and reference UNDRIP (2007). As UNDRIP is not a scholarly source, it does not count towards the minimum of five scholarly sources. </a:t>
            </a:r>
          </a:p>
          <a:p>
            <a:pPr marL="800100" marR="179070" lvl="1" indent="-342900" algn="just">
              <a:lnSpc>
                <a:spcPct val="107000"/>
              </a:lnSpc>
              <a:spcBef>
                <a:spcPts val="110"/>
              </a:spcBef>
              <a:spcAft>
                <a:spcPts val="1800"/>
              </a:spcAft>
              <a:buFont typeface="Symbol" panose="05050102010706020507" pitchFamily="18" charset="2"/>
              <a:buChar char=""/>
              <a:tabLst>
                <a:tab pos="594360" algn="l"/>
                <a:tab pos="596900" algn="l"/>
              </a:tabLst>
            </a:pPr>
            <a:r>
              <a:rPr lang="en-AU" dirty="0">
                <a:solidFill>
                  <a:srgbClr val="000000"/>
                </a:solidFill>
                <a:latin typeface="Aptos" panose="020B0004020202020204" pitchFamily="34" charset="0"/>
              </a:rPr>
              <a:t>Therefore, your reference list must contain </a:t>
            </a:r>
            <a:r>
              <a:rPr lang="en-AU" b="1" dirty="0">
                <a:solidFill>
                  <a:srgbClr val="000000"/>
                </a:solidFill>
                <a:latin typeface="Aptos" panose="020B0004020202020204" pitchFamily="34" charset="0"/>
              </a:rPr>
              <a:t>at least six (6) references.</a:t>
            </a:r>
          </a:p>
          <a:p>
            <a:pPr marL="342900" marR="179070" indent="-342900" algn="just">
              <a:lnSpc>
                <a:spcPct val="107000"/>
              </a:lnSpc>
              <a:spcBef>
                <a:spcPts val="15"/>
              </a:spcBef>
              <a:spcAft>
                <a:spcPts val="1800"/>
              </a:spcAft>
              <a:buFont typeface="Symbol" panose="05050102010706020507" pitchFamily="18" charset="2"/>
              <a:buChar char=""/>
              <a:tabLst>
                <a:tab pos="596900" algn="l"/>
              </a:tabLst>
            </a:pPr>
            <a:r>
              <a:rPr lang="en-US" sz="2000" i="1" dirty="0">
                <a:solidFill>
                  <a:prstClr val="black"/>
                </a:solidFill>
                <a:latin typeface="Aptos" panose="02110004020202020204"/>
                <a:ea typeface="Symbol" panose="05050102010706020507" pitchFamily="18" charset="2"/>
                <a:cs typeface="Symbol" panose="05050102010706020507" pitchFamily="18" charset="2"/>
              </a:rPr>
              <a:t>Wikipedia, Creative</a:t>
            </a:r>
            <a:r>
              <a:rPr lang="en-US" sz="2000" i="1" spc="-5" dirty="0">
                <a:solidFill>
                  <a:prstClr val="black"/>
                </a:solidFill>
                <a:latin typeface="Aptos" panose="02110004020202020204"/>
                <a:ea typeface="Symbol" panose="05050102010706020507" pitchFamily="18" charset="2"/>
                <a:cs typeface="Symbol" panose="05050102010706020507" pitchFamily="18" charset="2"/>
              </a:rPr>
              <a:t> </a:t>
            </a:r>
            <a:r>
              <a:rPr lang="en-US" sz="2000" i="1" dirty="0">
                <a:solidFill>
                  <a:prstClr val="black"/>
                </a:solidFill>
                <a:latin typeface="Aptos" panose="02110004020202020204"/>
                <a:ea typeface="Symbol" panose="05050102010706020507" pitchFamily="18" charset="2"/>
                <a:cs typeface="Symbol" panose="05050102010706020507" pitchFamily="18" charset="2"/>
              </a:rPr>
              <a:t>Spirits </a:t>
            </a:r>
            <a:r>
              <a:rPr lang="en-US" sz="2000" dirty="0">
                <a:solidFill>
                  <a:prstClr val="black"/>
                </a:solidFill>
                <a:latin typeface="Aptos" panose="02110004020202020204"/>
                <a:ea typeface="Symbol" panose="05050102010706020507" pitchFamily="18" charset="2"/>
                <a:cs typeface="Symbol" panose="05050102010706020507" pitchFamily="18" charset="2"/>
              </a:rPr>
              <a:t>and or other such websites are </a:t>
            </a:r>
            <a:r>
              <a:rPr lang="en-US" sz="2000" b="1" u="sng" dirty="0">
                <a:solidFill>
                  <a:prstClr val="black"/>
                </a:solidFill>
                <a:latin typeface="Aptos" panose="02110004020202020204"/>
                <a:ea typeface="Symbol" panose="05050102010706020507" pitchFamily="18" charset="2"/>
                <a:cs typeface="Symbol" panose="05050102010706020507" pitchFamily="18" charset="2"/>
              </a:rPr>
              <a:t>not</a:t>
            </a:r>
            <a:r>
              <a:rPr lang="en-US" sz="2000" b="1" dirty="0">
                <a:solidFill>
                  <a:prstClr val="black"/>
                </a:solidFill>
                <a:latin typeface="Aptos" panose="02110004020202020204"/>
                <a:ea typeface="Symbol" panose="05050102010706020507" pitchFamily="18" charset="2"/>
                <a:cs typeface="Symbol" panose="05050102010706020507" pitchFamily="18" charset="2"/>
              </a:rPr>
              <a:t> </a:t>
            </a:r>
            <a:r>
              <a:rPr lang="en-US" sz="2000" dirty="0">
                <a:solidFill>
                  <a:prstClr val="black"/>
                </a:solidFill>
                <a:latin typeface="Aptos" panose="02110004020202020204"/>
                <a:ea typeface="Symbol" panose="05050102010706020507" pitchFamily="18" charset="2"/>
                <a:cs typeface="Symbol" panose="05050102010706020507" pitchFamily="18" charset="2"/>
              </a:rPr>
              <a:t>acceptable scholarly reference material.</a:t>
            </a:r>
            <a:endParaRPr lang="en-AU" sz="2000" dirty="0">
              <a:solidFill>
                <a:prstClr val="black"/>
              </a:solidFill>
              <a:latin typeface="Aptos" panose="02110004020202020204"/>
              <a:ea typeface="Symbol" panose="05050102010706020507" pitchFamily="18" charset="2"/>
              <a:cs typeface="Symbol" panose="05050102010706020507" pitchFamily="18" charset="2"/>
            </a:endParaRPr>
          </a:p>
        </p:txBody>
      </p:sp>
    </p:spTree>
    <p:extLst>
      <p:ext uri="{BB962C8B-B14F-4D97-AF65-F5344CB8AC3E}">
        <p14:creationId xmlns:p14="http://schemas.microsoft.com/office/powerpoint/2010/main" val="32400484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00716-D896-2D56-41D4-40A92B1A1409}"/>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57C531F-CD1A-845F-867A-17F98F465DB6}"/>
              </a:ext>
            </a:extLst>
          </p:cNvPr>
          <p:cNvSpPr>
            <a:spLocks noGrp="1"/>
          </p:cNvSpPr>
          <p:nvPr>
            <p:ph type="body" sz="half" idx="2"/>
          </p:nvPr>
        </p:nvSpPr>
        <p:spPr>
          <a:xfrm>
            <a:off x="913093" y="1623861"/>
            <a:ext cx="9498004" cy="4032356"/>
          </a:xfrm>
        </p:spPr>
        <p:txBody>
          <a:bodyPr>
            <a:noAutofit/>
          </a:bodyPr>
          <a:lstStyle/>
          <a:p>
            <a:pPr marL="76200">
              <a:spcBef>
                <a:spcPts val="1395"/>
              </a:spcBef>
            </a:pPr>
            <a:r>
              <a:rPr lang="en-US" dirty="0"/>
              <a:t>Ensure you have attached your </a:t>
            </a:r>
            <a:r>
              <a:rPr lang="en-US" u="sng" dirty="0"/>
              <a:t>signed and correctly completed</a:t>
            </a:r>
            <a:r>
              <a:rPr lang="en-US" dirty="0"/>
              <a:t> </a:t>
            </a:r>
            <a:r>
              <a:rPr lang="en-US" b="1" dirty="0"/>
              <a:t>Coversheet</a:t>
            </a:r>
            <a:r>
              <a:rPr lang="en-US" dirty="0"/>
              <a:t> to the front of your assessment document prior to uploading your final submission.</a:t>
            </a:r>
            <a:endParaRPr lang="en-AU" dirty="0"/>
          </a:p>
          <a:p>
            <a:pPr marL="76200">
              <a:spcBef>
                <a:spcPts val="1395"/>
              </a:spcBef>
            </a:pPr>
            <a:r>
              <a:rPr lang="en-US" dirty="0"/>
              <a:t>Label your submission with your surname and initials, and the assessment task's name e.g. SmithJ_ShortResponse.docx</a:t>
            </a:r>
          </a:p>
          <a:p>
            <a:pPr marL="76200">
              <a:spcBef>
                <a:spcPts val="1395"/>
              </a:spcBef>
            </a:pPr>
            <a:r>
              <a:rPr lang="en-US" dirty="0"/>
              <a:t>You are required to use APA 7</a:t>
            </a:r>
            <a:r>
              <a:rPr lang="en-US" baseline="30000" dirty="0"/>
              <a:t>th</a:t>
            </a:r>
            <a:r>
              <a:rPr lang="en-US" dirty="0"/>
              <a:t> referencing style in this Unit formatting your document, citations, and references</a:t>
            </a:r>
          </a:p>
          <a:p>
            <a:r>
              <a:rPr lang="en-AU" sz="2000" dirty="0">
                <a:latin typeface="Calibri" panose="020F0502020204030204" pitchFamily="34" charset="0"/>
                <a:ea typeface="Calibri" panose="020F0502020204030204" pitchFamily="34" charset="0"/>
              </a:rPr>
              <a:t>Instead of a Header you MUST </a:t>
            </a:r>
            <a:r>
              <a:rPr lang="en-US" dirty="0"/>
              <a:t>add a footer to your submission.</a:t>
            </a:r>
            <a:endParaRPr lang="en-AU" dirty="0"/>
          </a:p>
          <a:p>
            <a:r>
              <a:rPr lang="en-US" dirty="0"/>
              <a:t> </a:t>
            </a:r>
            <a:endParaRPr lang="en-AU" dirty="0"/>
          </a:p>
          <a:p>
            <a:r>
              <a:rPr lang="en-US" dirty="0"/>
              <a:t>Add your name and task type – i.e. </a:t>
            </a:r>
            <a:r>
              <a:rPr lang="en-US" dirty="0" err="1"/>
              <a:t>SmithJ_ShortResponse</a:t>
            </a:r>
            <a:r>
              <a:rPr lang="en-US" dirty="0"/>
              <a:t> on left margin, your student ID, and have page number on the right margin e.g.</a:t>
            </a:r>
            <a:endParaRPr lang="en-AU" sz="2000" dirty="0">
              <a:latin typeface="Calibri" panose="020F0502020204030204" pitchFamily="34" charset="0"/>
              <a:ea typeface="Calibri" panose="020F0502020204030204" pitchFamily="34" charset="0"/>
            </a:endParaRPr>
          </a:p>
        </p:txBody>
      </p:sp>
      <p:sp>
        <p:nvSpPr>
          <p:cNvPr id="15" name="Slide Number Placeholder 6">
            <a:extLst>
              <a:ext uri="{FF2B5EF4-FFF2-40B4-BE49-F238E27FC236}">
                <a16:creationId xmlns:a16="http://schemas.microsoft.com/office/drawing/2014/main" id="{E921575A-C1B6-1FA7-4B5B-6BBACD5B6876}"/>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40</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2" name="TextBox 1">
            <a:extLst>
              <a:ext uri="{FF2B5EF4-FFF2-40B4-BE49-F238E27FC236}">
                <a16:creationId xmlns:a16="http://schemas.microsoft.com/office/drawing/2014/main" id="{5D361C26-0FB7-BE0C-3167-41CD7090FCE3}"/>
              </a:ext>
            </a:extLst>
          </p:cNvPr>
          <p:cNvSpPr txBox="1"/>
          <p:nvPr/>
        </p:nvSpPr>
        <p:spPr>
          <a:xfrm>
            <a:off x="4232366" y="418011"/>
            <a:ext cx="5068388" cy="646331"/>
          </a:xfrm>
          <a:prstGeom prst="rect">
            <a:avLst/>
          </a:prstGeom>
          <a:noFill/>
        </p:spPr>
        <p:txBody>
          <a:bodyPr wrap="square" rtlCol="0">
            <a:spAutoFit/>
          </a:bodyPr>
          <a:lstStyle/>
          <a:p>
            <a:r>
              <a:rPr lang="en-AU" sz="3600" dirty="0"/>
              <a:t>Other Requirements …</a:t>
            </a:r>
          </a:p>
        </p:txBody>
      </p:sp>
      <p:pic>
        <p:nvPicPr>
          <p:cNvPr id="1025" name="Picture 1">
            <a:extLst>
              <a:ext uri="{FF2B5EF4-FFF2-40B4-BE49-F238E27FC236}">
                <a16:creationId xmlns:a16="http://schemas.microsoft.com/office/drawing/2014/main" id="{4A6FC57B-841A-C163-7259-1E3F77ED5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4954379"/>
            <a:ext cx="5951538" cy="4492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B5BA716-4A66-EB21-825A-3464727475A7}"/>
              </a:ext>
            </a:extLst>
          </p:cNvPr>
          <p:cNvSpPr>
            <a:spLocks noChangeArrowheads="1"/>
          </p:cNvSpPr>
          <p:nvPr/>
        </p:nvSpPr>
        <p:spPr bwMode="auto">
          <a:xfrm>
            <a:off x="886370" y="54587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Tree>
    <p:extLst>
      <p:ext uri="{BB962C8B-B14F-4D97-AF65-F5344CB8AC3E}">
        <p14:creationId xmlns:p14="http://schemas.microsoft.com/office/powerpoint/2010/main" val="1009982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400EE-7E2B-88AB-47AC-7FA5F93A7C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986C4C-88A2-6BF7-5585-B3F53065387E}"/>
              </a:ext>
            </a:extLst>
          </p:cNvPr>
          <p:cNvSpPr>
            <a:spLocks noGrp="1"/>
          </p:cNvSpPr>
          <p:nvPr>
            <p:ph type="ctrTitle"/>
          </p:nvPr>
        </p:nvSpPr>
        <p:spPr>
          <a:xfrm>
            <a:off x="8432799" y="2895600"/>
            <a:ext cx="3759201" cy="1330959"/>
          </a:xfrm>
        </p:spPr>
        <p:txBody>
          <a:bodyPr/>
          <a:lstStyle/>
          <a:p>
            <a:r>
              <a:rPr lang="en-AU" sz="2800" dirty="0"/>
              <a:t>Assessment 1 – Resources &amp; Other Requirements</a:t>
            </a:r>
          </a:p>
        </p:txBody>
      </p:sp>
      <p:pic>
        <p:nvPicPr>
          <p:cNvPr id="3" name="Picture 2">
            <a:extLst>
              <a:ext uri="{FF2B5EF4-FFF2-40B4-BE49-F238E27FC236}">
                <a16:creationId xmlns:a16="http://schemas.microsoft.com/office/drawing/2014/main" id="{309FC526-8291-E321-A2CB-7F0FA534B40B}"/>
              </a:ext>
            </a:extLst>
          </p:cNvPr>
          <p:cNvPicPr>
            <a:picLocks noChangeAspect="1"/>
          </p:cNvPicPr>
          <p:nvPr/>
        </p:nvPicPr>
        <p:blipFill>
          <a:blip r:embed="rId3"/>
          <a:stretch>
            <a:fillRect/>
          </a:stretch>
        </p:blipFill>
        <p:spPr>
          <a:xfrm>
            <a:off x="1493208" y="0"/>
            <a:ext cx="6001605" cy="6902836"/>
          </a:xfrm>
          <a:prstGeom prst="rect">
            <a:avLst/>
          </a:prstGeom>
        </p:spPr>
      </p:pic>
    </p:spTree>
    <p:extLst>
      <p:ext uri="{BB962C8B-B14F-4D97-AF65-F5344CB8AC3E}">
        <p14:creationId xmlns:p14="http://schemas.microsoft.com/office/powerpoint/2010/main" val="2189703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9077-773D-3BAE-D79E-3B475F6A3A82}"/>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CCCBBE4A-F948-0CF9-30F5-4389BD1F5CD3}"/>
              </a:ext>
            </a:extLst>
          </p:cNvPr>
          <p:cNvSpPr>
            <a:spLocks noGrp="1"/>
          </p:cNvSpPr>
          <p:nvPr>
            <p:ph type="body" sz="half" idx="2"/>
          </p:nvPr>
        </p:nvSpPr>
        <p:spPr>
          <a:xfrm>
            <a:off x="4191870" y="301752"/>
            <a:ext cx="4416553" cy="583762"/>
          </a:xfrm>
        </p:spPr>
        <p:txBody>
          <a:bodyPr>
            <a:noAutofit/>
          </a:bodyPr>
          <a:lstStyle/>
          <a:p>
            <a:pPr marL="76200">
              <a:spcBef>
                <a:spcPts val="1395"/>
              </a:spcBef>
            </a:pPr>
            <a:r>
              <a:rPr lang="en-AU" sz="2000" dirty="0">
                <a:latin typeface="Calibri" panose="020F0502020204030204" pitchFamily="34" charset="0"/>
                <a:ea typeface="Calibri" panose="020F0502020204030204" pitchFamily="34" charset="0"/>
              </a:rPr>
              <a:t>Assessment Coversheet &amp; Declaration</a:t>
            </a:r>
          </a:p>
        </p:txBody>
      </p:sp>
      <p:sp>
        <p:nvSpPr>
          <p:cNvPr id="15" name="Slide Number Placeholder 6">
            <a:extLst>
              <a:ext uri="{FF2B5EF4-FFF2-40B4-BE49-F238E27FC236}">
                <a16:creationId xmlns:a16="http://schemas.microsoft.com/office/drawing/2014/main" id="{86300E60-7E89-AF53-F582-860DD0F5E89F}"/>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42</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pic>
        <p:nvPicPr>
          <p:cNvPr id="6" name="Picture 5">
            <a:extLst>
              <a:ext uri="{FF2B5EF4-FFF2-40B4-BE49-F238E27FC236}">
                <a16:creationId xmlns:a16="http://schemas.microsoft.com/office/drawing/2014/main" id="{7A877B71-A1F0-4BFA-8584-3EA44D116925}"/>
              </a:ext>
            </a:extLst>
          </p:cNvPr>
          <p:cNvPicPr>
            <a:picLocks noChangeAspect="1"/>
          </p:cNvPicPr>
          <p:nvPr/>
        </p:nvPicPr>
        <p:blipFill>
          <a:blip r:embed="rId3"/>
          <a:stretch>
            <a:fillRect/>
          </a:stretch>
        </p:blipFill>
        <p:spPr>
          <a:xfrm>
            <a:off x="2106584" y="830355"/>
            <a:ext cx="7978831" cy="5197290"/>
          </a:xfrm>
          <a:prstGeom prst="rect">
            <a:avLst/>
          </a:prstGeom>
        </p:spPr>
      </p:pic>
      <p:pic>
        <p:nvPicPr>
          <p:cNvPr id="8" name="Picture 7">
            <a:extLst>
              <a:ext uri="{FF2B5EF4-FFF2-40B4-BE49-F238E27FC236}">
                <a16:creationId xmlns:a16="http://schemas.microsoft.com/office/drawing/2014/main" id="{6F7EF96F-772B-FE4D-B5E3-55B1137E2FAB}"/>
              </a:ext>
            </a:extLst>
          </p:cNvPr>
          <p:cNvPicPr>
            <a:picLocks noChangeAspect="1"/>
          </p:cNvPicPr>
          <p:nvPr/>
        </p:nvPicPr>
        <p:blipFill>
          <a:blip r:embed="rId3"/>
          <a:stretch>
            <a:fillRect/>
          </a:stretch>
        </p:blipFill>
        <p:spPr>
          <a:xfrm>
            <a:off x="2258984" y="982755"/>
            <a:ext cx="7978831" cy="5197290"/>
          </a:xfrm>
          <a:prstGeom prst="rect">
            <a:avLst/>
          </a:prstGeom>
        </p:spPr>
      </p:pic>
    </p:spTree>
    <p:extLst>
      <p:ext uri="{BB962C8B-B14F-4D97-AF65-F5344CB8AC3E}">
        <p14:creationId xmlns:p14="http://schemas.microsoft.com/office/powerpoint/2010/main" val="8655379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FB70-3E22-5583-7B93-2C34651D5F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1C33ED-D2E5-A1EB-88E0-7E1E1945A519}"/>
              </a:ext>
            </a:extLst>
          </p:cNvPr>
          <p:cNvSpPr>
            <a:spLocks noGrp="1"/>
          </p:cNvSpPr>
          <p:nvPr>
            <p:ph type="ctrTitle"/>
          </p:nvPr>
        </p:nvSpPr>
        <p:spPr>
          <a:xfrm>
            <a:off x="1770743" y="1640114"/>
            <a:ext cx="3004457" cy="2467428"/>
          </a:xfrm>
        </p:spPr>
        <p:txBody>
          <a:bodyPr/>
          <a:lstStyle/>
          <a:p>
            <a:r>
              <a:rPr lang="en-AU" sz="3600" dirty="0"/>
              <a:t>APA 7</a:t>
            </a:r>
            <a:r>
              <a:rPr lang="en-AU" sz="3600" baseline="30000" dirty="0"/>
              <a:t>th</a:t>
            </a:r>
            <a:r>
              <a:rPr lang="en-AU" sz="3600" dirty="0"/>
              <a:t> Formatting your Document</a:t>
            </a:r>
          </a:p>
        </p:txBody>
      </p:sp>
      <p:pic>
        <p:nvPicPr>
          <p:cNvPr id="2" name="Picture 1">
            <a:extLst>
              <a:ext uri="{FF2B5EF4-FFF2-40B4-BE49-F238E27FC236}">
                <a16:creationId xmlns:a16="http://schemas.microsoft.com/office/drawing/2014/main" id="{359421E5-4215-2EE9-363F-6CC76B04F656}"/>
              </a:ext>
            </a:extLst>
          </p:cNvPr>
          <p:cNvPicPr>
            <a:picLocks noChangeAspect="1"/>
          </p:cNvPicPr>
          <p:nvPr/>
        </p:nvPicPr>
        <p:blipFill>
          <a:blip r:embed="rId3"/>
          <a:stretch>
            <a:fillRect/>
          </a:stretch>
        </p:blipFill>
        <p:spPr>
          <a:xfrm>
            <a:off x="6632812" y="5284"/>
            <a:ext cx="5550509" cy="6852716"/>
          </a:xfrm>
          <a:prstGeom prst="rect">
            <a:avLst/>
          </a:prstGeom>
        </p:spPr>
      </p:pic>
    </p:spTree>
    <p:extLst>
      <p:ext uri="{BB962C8B-B14F-4D97-AF65-F5344CB8AC3E}">
        <p14:creationId xmlns:p14="http://schemas.microsoft.com/office/powerpoint/2010/main" val="8293411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E8A72-1946-C9F2-A8CF-FA87694503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190FF2-E425-CA8C-C2FE-383525F071D4}"/>
              </a:ext>
            </a:extLst>
          </p:cNvPr>
          <p:cNvSpPr>
            <a:spLocks noGrp="1"/>
          </p:cNvSpPr>
          <p:nvPr>
            <p:ph type="ctrTitle"/>
          </p:nvPr>
        </p:nvSpPr>
        <p:spPr>
          <a:xfrm>
            <a:off x="2852057" y="264978"/>
            <a:ext cx="6487886" cy="963419"/>
          </a:xfrm>
        </p:spPr>
        <p:txBody>
          <a:bodyPr/>
          <a:lstStyle/>
          <a:p>
            <a:r>
              <a:rPr lang="en-AU" sz="3600" dirty="0"/>
              <a:t>INDG6002 - GenAI Use</a:t>
            </a:r>
          </a:p>
        </p:txBody>
      </p:sp>
      <p:sp>
        <p:nvSpPr>
          <p:cNvPr id="3" name="TextBox 2">
            <a:extLst>
              <a:ext uri="{FF2B5EF4-FFF2-40B4-BE49-F238E27FC236}">
                <a16:creationId xmlns:a16="http://schemas.microsoft.com/office/drawing/2014/main" id="{C5A56FDB-C8E5-D038-3DA9-49E452B873AA}"/>
              </a:ext>
            </a:extLst>
          </p:cNvPr>
          <p:cNvSpPr txBox="1"/>
          <p:nvPr/>
        </p:nvSpPr>
        <p:spPr>
          <a:xfrm>
            <a:off x="1995713" y="1710107"/>
            <a:ext cx="9035143"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prstClr val="black"/>
                </a:solidFill>
                <a:effectLst/>
                <a:uLnTx/>
                <a:uFillTx/>
                <a:latin typeface="Aptos" panose="02110004020202020204"/>
                <a:ea typeface="+mn-ea"/>
                <a:cs typeface="+mn-cs"/>
              </a:rPr>
              <a:t>In Gnibi College units, the use of GenAI in assessments is generally restricted to protect the integrity and authenticity of the learning process. Indigenous Knowledges are grounded in lived experience, cultural practices, and relational ways of knowing. Engaging meaningfully with these knowledges requires personal reflection, respectful interpretation, and a commitment to culturally responsive learning—something that cannot be authentically achieved through AI-generated content.</a:t>
            </a:r>
            <a:endParaRPr kumimoji="0" lang="en-AU"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56922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0139F-CB24-7E1E-5917-D18866737839}"/>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211CBDE0-F039-CBB4-2154-2FEF1EE24841}"/>
              </a:ext>
            </a:extLst>
          </p:cNvPr>
          <p:cNvSpPr>
            <a:spLocks noGrp="1"/>
          </p:cNvSpPr>
          <p:nvPr>
            <p:ph type="sldNum" sz="quarter" idx="12"/>
          </p:nvPr>
        </p:nvSpPr>
        <p:spPr>
          <a:xfrm>
            <a:off x="11027664" y="6464808"/>
            <a:ext cx="987552" cy="310896"/>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8FB4751-880F-D840-AAA9-3A15815CC996}" type="slidenum">
              <a:rPr kumimoji="0" lang="en-US" sz="1400" b="0" i="0" u="none" strike="noStrike" kern="1200" cap="none" spc="0" normalizeH="0" baseline="0" noProof="0" smtClean="0">
                <a:ln>
                  <a:noFill/>
                </a:ln>
                <a:solidFill>
                  <a:srgbClr val="543E34"/>
                </a:solidFill>
                <a:effectLst/>
                <a:uLnTx/>
                <a:uFillTx/>
                <a:latin typeface="Gill Sans Nova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45</a:t>
            </a:fld>
            <a:endParaRPr kumimoji="0" lang="en-US" sz="14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Text Placeholder 5">
            <a:extLst>
              <a:ext uri="{FF2B5EF4-FFF2-40B4-BE49-F238E27FC236}">
                <a16:creationId xmlns:a16="http://schemas.microsoft.com/office/drawing/2014/main" id="{6A73ABE5-2BAB-F4B0-1988-3C5C58A2254E}"/>
              </a:ext>
            </a:extLst>
          </p:cNvPr>
          <p:cNvSpPr txBox="1">
            <a:spLocks noGrp="1"/>
          </p:cNvSpPr>
          <p:nvPr>
            <p:ph type="body" sz="half" idx="2"/>
          </p:nvPr>
        </p:nvSpPr>
        <p:spPr>
          <a:xfrm>
            <a:off x="667589" y="1310504"/>
            <a:ext cx="10856821" cy="5262979"/>
          </a:xfrm>
          <a:prstGeom prst="rect">
            <a:avLst/>
          </a:prstGeom>
          <a:noFill/>
        </p:spPr>
        <p:txBody>
          <a:bodyPr wrap="square">
            <a:spAutoFit/>
          </a:bodyPr>
          <a:lstStyle/>
          <a:p>
            <a:pPr marL="0" marR="0">
              <a:buNone/>
            </a:pPr>
            <a:r>
              <a:rPr lang="en-AU" b="0" dirty="0">
                <a:solidFill>
                  <a:schemeClr val="tx1"/>
                </a:solidFill>
                <a:effectLst/>
                <a:latin typeface="+mn-lt"/>
              </a:rPr>
              <a:t>This assessment is classified as: </a:t>
            </a:r>
            <a:endParaRPr lang="en-AU" b="0" dirty="0">
              <a:effectLst/>
              <a:latin typeface="+mn-lt"/>
            </a:endParaRPr>
          </a:p>
          <a:p>
            <a:pPr marL="342900" marR="0" lvl="0" indent="-342900">
              <a:buFont typeface="Arial" panose="020B0604020202020204" pitchFamily="34" charset="0"/>
              <a:buChar char="•"/>
            </a:pPr>
            <a:r>
              <a:rPr lang="en-AU" b="1" dirty="0">
                <a:effectLst/>
                <a:latin typeface="+mn-lt"/>
              </a:rPr>
              <a:t>Level 2: AI use permitted for specific purposes. </a:t>
            </a:r>
            <a:r>
              <a:rPr lang="en-AU" dirty="0">
                <a:effectLst/>
                <a:latin typeface="+mn-lt"/>
              </a:rPr>
              <a:t>You can use AI for specific tasks as identified by the Unit Assessor.</a:t>
            </a:r>
          </a:p>
          <a:p>
            <a:pPr marR="0" lvl="0"/>
            <a:endParaRPr lang="en-AU" dirty="0">
              <a:effectLst/>
              <a:latin typeface="+mn-lt"/>
            </a:endParaRPr>
          </a:p>
          <a:p>
            <a:pPr marL="0" marR="0" algn="just">
              <a:buNone/>
            </a:pPr>
            <a:r>
              <a:rPr lang="en-AU" b="1" dirty="0">
                <a:effectLst/>
                <a:latin typeface="+mn-lt"/>
              </a:rPr>
              <a:t>✅ You may use GenAI to: </a:t>
            </a:r>
            <a:endParaRPr lang="en-AU" b="0" dirty="0">
              <a:effectLst/>
              <a:latin typeface="+mn-lt"/>
            </a:endParaRPr>
          </a:p>
          <a:p>
            <a:pPr marL="342900" marR="0" lvl="0" indent="-342900">
              <a:spcAft>
                <a:spcPts val="600"/>
              </a:spcAft>
              <a:buFont typeface="Arial" panose="020B0604020202020204" pitchFamily="34" charset="0"/>
              <a:buChar char="•"/>
            </a:pPr>
            <a:r>
              <a:rPr lang="en-AU" dirty="0">
                <a:effectLst/>
                <a:latin typeface="+mn-lt"/>
              </a:rPr>
              <a:t>Formatting, spelling and grammar - Grammarly Premium AI is permitted for formatting, spelling and grammar. Grammarly is permitted for language improvements – </a:t>
            </a:r>
            <a:r>
              <a:rPr lang="en-AU" sz="2000" b="1" dirty="0">
                <a:effectLst/>
                <a:latin typeface="+mn-lt"/>
              </a:rPr>
              <a:t>no content or knowledge creation is permitted.</a:t>
            </a:r>
          </a:p>
          <a:p>
            <a:pPr marL="342900" marR="0" lvl="0" indent="-342900">
              <a:spcAft>
                <a:spcPts val="600"/>
              </a:spcAft>
              <a:buFont typeface="Arial" panose="020B0604020202020204" pitchFamily="34" charset="0"/>
              <a:buChar char="•"/>
            </a:pPr>
            <a:r>
              <a:rPr lang="en-AU" dirty="0">
                <a:effectLst/>
                <a:latin typeface="+mn-lt"/>
              </a:rPr>
              <a:t>Paraphrasing permitted - Use of </a:t>
            </a:r>
            <a:r>
              <a:rPr lang="en-AU" b="1" dirty="0">
                <a:effectLst/>
                <a:latin typeface="+mn-lt"/>
              </a:rPr>
              <a:t>Grammarly Premium AI </a:t>
            </a:r>
            <a:r>
              <a:rPr lang="en-AU" dirty="0">
                <a:effectLst/>
                <a:latin typeface="+mn-lt"/>
              </a:rPr>
              <a:t>is permitted for paraphrasing. Pay careful attention to any language adjustments that may affect the clarity of your work. Paraphrasing using </a:t>
            </a:r>
            <a:r>
              <a:rPr lang="en-AU" b="1" dirty="0">
                <a:effectLst/>
                <a:latin typeface="+mn-lt"/>
              </a:rPr>
              <a:t>Grammarly Premium AI </a:t>
            </a:r>
            <a:r>
              <a:rPr lang="en-AU" dirty="0">
                <a:effectLst/>
                <a:latin typeface="+mn-lt"/>
              </a:rPr>
              <a:t>must be referenced.</a:t>
            </a:r>
          </a:p>
          <a:p>
            <a:pPr marR="0" lvl="0"/>
            <a:endParaRPr lang="en-AU" dirty="0">
              <a:effectLst/>
              <a:latin typeface="+mn-lt"/>
            </a:endParaRPr>
          </a:p>
          <a:p>
            <a:pPr marL="0" marR="0" algn="just">
              <a:buNone/>
            </a:pPr>
            <a:r>
              <a:rPr lang="en-AU" b="1" dirty="0">
                <a:effectLst/>
                <a:latin typeface="+mn-lt"/>
              </a:rPr>
              <a:t>❌ You may not use GenAI to: </a:t>
            </a:r>
            <a:endParaRPr lang="en-AU" b="0" dirty="0">
              <a:effectLst/>
              <a:latin typeface="+mn-lt"/>
            </a:endParaRPr>
          </a:p>
          <a:p>
            <a:pPr marL="342900" marR="0" lvl="0" indent="-342900" algn="just">
              <a:spcAft>
                <a:spcPts val="600"/>
              </a:spcAft>
              <a:buFont typeface="Arial" panose="020B0604020202020204" pitchFamily="34" charset="0"/>
              <a:buChar char="•"/>
            </a:pPr>
            <a:r>
              <a:rPr lang="en-AU" b="1" dirty="0">
                <a:effectLst/>
                <a:latin typeface="+mn-lt"/>
              </a:rPr>
              <a:t>Use of any other GenAI for content or knowledge creation is not within the permitted uses for this task.</a:t>
            </a:r>
            <a:endParaRPr lang="en-AU" dirty="0">
              <a:effectLst/>
              <a:latin typeface="+mn-lt"/>
            </a:endParaRPr>
          </a:p>
          <a:p>
            <a:pPr marL="342900" marR="0" lvl="0" indent="-342900" algn="just">
              <a:spcAft>
                <a:spcPts val="600"/>
              </a:spcAft>
              <a:buFont typeface="Arial" panose="020B0604020202020204" pitchFamily="34" charset="0"/>
              <a:buChar char="•"/>
            </a:pPr>
            <a:r>
              <a:rPr lang="en-AU" dirty="0">
                <a:effectLst/>
                <a:latin typeface="+mn-lt"/>
              </a:rPr>
              <a:t>Present GenAI-generated material as your own original ideas</a:t>
            </a:r>
          </a:p>
          <a:p>
            <a:pPr marL="342900" marR="0" lvl="0" indent="-342900">
              <a:spcAft>
                <a:spcPts val="600"/>
              </a:spcAft>
              <a:buFont typeface="Arial" panose="020B0604020202020204" pitchFamily="34" charset="0"/>
              <a:buChar char="•"/>
            </a:pPr>
            <a:r>
              <a:rPr lang="en-AU" dirty="0">
                <a:effectLst/>
                <a:latin typeface="+mn-lt"/>
              </a:rPr>
              <a:t>Ask GenAI to </a:t>
            </a:r>
            <a:r>
              <a:rPr lang="en-AU" b="1" dirty="0">
                <a:effectLst/>
                <a:latin typeface="+mn-lt"/>
              </a:rPr>
              <a:t>write any part of the analysis</a:t>
            </a:r>
            <a:r>
              <a:rPr lang="en-AU" dirty="0">
                <a:effectLst/>
                <a:latin typeface="+mn-lt"/>
              </a:rPr>
              <a:t>, commentary, or conclusions about your chosen study. </a:t>
            </a:r>
          </a:p>
          <a:p>
            <a:pPr marL="342900" marR="0" lvl="0" indent="-342900" algn="just">
              <a:spcAft>
                <a:spcPts val="600"/>
              </a:spcAft>
              <a:buFont typeface="Arial" panose="020B0604020202020204" pitchFamily="34" charset="0"/>
              <a:buChar char="•"/>
            </a:pPr>
            <a:r>
              <a:rPr lang="en-AU" dirty="0">
                <a:effectLst/>
                <a:latin typeface="+mn-lt"/>
              </a:rPr>
              <a:t>Upload or provide text from the research article or for GenAI to rewrite, summarise, or interpret the article.</a:t>
            </a:r>
          </a:p>
          <a:p>
            <a:pPr>
              <a:spcAft>
                <a:spcPts val="600"/>
              </a:spcAft>
              <a:buNone/>
            </a:pPr>
            <a:br>
              <a:rPr lang="en-AU" b="0" dirty="0">
                <a:effectLst/>
                <a:latin typeface="+mn-lt"/>
              </a:rPr>
            </a:br>
            <a:endParaRPr lang="en-AU" dirty="0"/>
          </a:p>
        </p:txBody>
      </p:sp>
      <p:sp>
        <p:nvSpPr>
          <p:cNvPr id="7" name="Title 3">
            <a:extLst>
              <a:ext uri="{FF2B5EF4-FFF2-40B4-BE49-F238E27FC236}">
                <a16:creationId xmlns:a16="http://schemas.microsoft.com/office/drawing/2014/main" id="{E096BB1B-E4B1-4269-149D-C0A17CA045D9}"/>
              </a:ext>
            </a:extLst>
          </p:cNvPr>
          <p:cNvSpPr txBox="1">
            <a:spLocks/>
          </p:cNvSpPr>
          <p:nvPr/>
        </p:nvSpPr>
        <p:spPr>
          <a:xfrm>
            <a:off x="1898468" y="0"/>
            <a:ext cx="8773886" cy="96341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AU" sz="3600" dirty="0"/>
              <a:t>INDG6002 - GenAI Use continued …</a:t>
            </a:r>
          </a:p>
        </p:txBody>
      </p:sp>
    </p:spTree>
    <p:extLst>
      <p:ext uri="{BB962C8B-B14F-4D97-AF65-F5344CB8AC3E}">
        <p14:creationId xmlns:p14="http://schemas.microsoft.com/office/powerpoint/2010/main" val="21263828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B81A6-4DC8-A543-A3D6-3F6896A2A38E}"/>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3360513E-424A-888F-15CC-0CDBDA2BF7FA}"/>
              </a:ext>
            </a:extLst>
          </p:cNvPr>
          <p:cNvSpPr>
            <a:spLocks noGrp="1"/>
          </p:cNvSpPr>
          <p:nvPr>
            <p:ph type="sldNum" sz="quarter" idx="12"/>
          </p:nvPr>
        </p:nvSpPr>
        <p:spPr>
          <a:xfrm>
            <a:off x="11027664" y="6464808"/>
            <a:ext cx="987552" cy="310896"/>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58FB4751-880F-D840-AAA9-3A15815CC996}"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46</a:t>
            </a:fld>
            <a:endParaRPr kumimoji="0" lang="en-US" b="0" i="0" u="none" strike="noStrike" kern="1200" cap="none" spc="0" normalizeH="0" baseline="0" noProof="0">
              <a:ln>
                <a:noFill/>
              </a:ln>
              <a:effectLst/>
              <a:uLnTx/>
              <a:uFillTx/>
            </a:endParaRPr>
          </a:p>
        </p:txBody>
      </p:sp>
      <p:sp>
        <p:nvSpPr>
          <p:cNvPr id="24" name="Title 4">
            <a:extLst>
              <a:ext uri="{FF2B5EF4-FFF2-40B4-BE49-F238E27FC236}">
                <a16:creationId xmlns:a16="http://schemas.microsoft.com/office/drawing/2014/main" id="{FCC7B867-2193-6D2B-CB60-BDE6AA665267}"/>
              </a:ext>
            </a:extLst>
          </p:cNvPr>
          <p:cNvSpPr>
            <a:spLocks noGrp="1"/>
          </p:cNvSpPr>
          <p:nvPr>
            <p:ph type="title"/>
          </p:nvPr>
        </p:nvSpPr>
        <p:spPr>
          <a:xfrm>
            <a:off x="576072" y="704088"/>
            <a:ext cx="10515600" cy="676656"/>
          </a:xfrm>
        </p:spPr>
        <p:txBody>
          <a:bodyPr/>
          <a:lstStyle/>
          <a:p>
            <a:r>
              <a:rPr lang="en-US" dirty="0"/>
              <a:t>Rubric Assessment 1: Criterion 1</a:t>
            </a:r>
          </a:p>
        </p:txBody>
      </p:sp>
      <p:pic>
        <p:nvPicPr>
          <p:cNvPr id="3" name="Picture 2">
            <a:extLst>
              <a:ext uri="{FF2B5EF4-FFF2-40B4-BE49-F238E27FC236}">
                <a16:creationId xmlns:a16="http://schemas.microsoft.com/office/drawing/2014/main" id="{924C1C70-22F3-C548-45D2-AB0343328142}"/>
              </a:ext>
            </a:extLst>
          </p:cNvPr>
          <p:cNvPicPr>
            <a:picLocks noChangeAspect="1"/>
          </p:cNvPicPr>
          <p:nvPr/>
        </p:nvPicPr>
        <p:blipFill>
          <a:blip r:embed="rId3"/>
          <a:stretch>
            <a:fillRect/>
          </a:stretch>
        </p:blipFill>
        <p:spPr>
          <a:xfrm>
            <a:off x="1162722" y="1901952"/>
            <a:ext cx="9342300" cy="3877056"/>
          </a:xfrm>
          <a:prstGeom prst="rect">
            <a:avLst/>
          </a:prstGeom>
          <a:noFill/>
        </p:spPr>
      </p:pic>
    </p:spTree>
    <p:extLst>
      <p:ext uri="{BB962C8B-B14F-4D97-AF65-F5344CB8AC3E}">
        <p14:creationId xmlns:p14="http://schemas.microsoft.com/office/powerpoint/2010/main" val="22495962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AC805-7E1B-8A88-ED08-26911F242054}"/>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4D144EE5-E6B5-AA30-A960-949071B4884E}"/>
              </a:ext>
            </a:extLst>
          </p:cNvPr>
          <p:cNvSpPr>
            <a:spLocks noGrp="1"/>
          </p:cNvSpPr>
          <p:nvPr>
            <p:ph type="sldNum" sz="quarter" idx="12"/>
          </p:nvPr>
        </p:nvSpPr>
        <p:spPr>
          <a:xfrm>
            <a:off x="11027664" y="6464808"/>
            <a:ext cx="987552" cy="310896"/>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58FB4751-880F-D840-AAA9-3A15815CC996}"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47</a:t>
            </a:fld>
            <a:endParaRPr kumimoji="0" lang="en-US" b="0" i="0" u="none" strike="noStrike" kern="1200" cap="none" spc="0" normalizeH="0" baseline="0" noProof="0">
              <a:ln>
                <a:noFill/>
              </a:ln>
              <a:effectLst/>
              <a:uLnTx/>
              <a:uFillTx/>
            </a:endParaRPr>
          </a:p>
        </p:txBody>
      </p:sp>
      <p:sp>
        <p:nvSpPr>
          <p:cNvPr id="24" name="Title 4">
            <a:extLst>
              <a:ext uri="{FF2B5EF4-FFF2-40B4-BE49-F238E27FC236}">
                <a16:creationId xmlns:a16="http://schemas.microsoft.com/office/drawing/2014/main" id="{ECC38304-C5D9-FF97-488C-5F1DE849898D}"/>
              </a:ext>
            </a:extLst>
          </p:cNvPr>
          <p:cNvSpPr>
            <a:spLocks noGrp="1"/>
          </p:cNvSpPr>
          <p:nvPr>
            <p:ph type="title"/>
          </p:nvPr>
        </p:nvSpPr>
        <p:spPr>
          <a:xfrm>
            <a:off x="576072" y="704088"/>
            <a:ext cx="10515600" cy="676656"/>
          </a:xfrm>
        </p:spPr>
        <p:txBody>
          <a:bodyPr/>
          <a:lstStyle/>
          <a:p>
            <a:r>
              <a:rPr lang="en-US" dirty="0"/>
              <a:t>Rubric Assessment 1: Criterion 2</a:t>
            </a:r>
          </a:p>
        </p:txBody>
      </p:sp>
      <p:pic>
        <p:nvPicPr>
          <p:cNvPr id="3" name="Picture 2">
            <a:extLst>
              <a:ext uri="{FF2B5EF4-FFF2-40B4-BE49-F238E27FC236}">
                <a16:creationId xmlns:a16="http://schemas.microsoft.com/office/drawing/2014/main" id="{00CF5A23-B78C-3026-E949-D7AE6435A7C0}"/>
              </a:ext>
            </a:extLst>
          </p:cNvPr>
          <p:cNvPicPr>
            <a:picLocks noChangeAspect="1"/>
          </p:cNvPicPr>
          <p:nvPr/>
        </p:nvPicPr>
        <p:blipFill>
          <a:blip r:embed="rId3"/>
          <a:stretch>
            <a:fillRect/>
          </a:stretch>
        </p:blipFill>
        <p:spPr>
          <a:xfrm>
            <a:off x="275626" y="1859333"/>
            <a:ext cx="11123762" cy="2947797"/>
          </a:xfrm>
          <a:prstGeom prst="rect">
            <a:avLst/>
          </a:prstGeom>
          <a:noFill/>
        </p:spPr>
      </p:pic>
    </p:spTree>
    <p:extLst>
      <p:ext uri="{BB962C8B-B14F-4D97-AF65-F5344CB8AC3E}">
        <p14:creationId xmlns:p14="http://schemas.microsoft.com/office/powerpoint/2010/main" val="40762538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95AA0-380C-4A93-613F-45DD0D0573A6}"/>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8297CD17-2BBC-5D49-928B-3D183BA7CDD8}"/>
              </a:ext>
            </a:extLst>
          </p:cNvPr>
          <p:cNvSpPr>
            <a:spLocks noGrp="1"/>
          </p:cNvSpPr>
          <p:nvPr>
            <p:ph type="sldNum" sz="quarter" idx="12"/>
          </p:nvPr>
        </p:nvSpPr>
        <p:spPr>
          <a:xfrm>
            <a:off x="11027664" y="6464808"/>
            <a:ext cx="987552" cy="310896"/>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58FB4751-880F-D840-AAA9-3A15815CC996}"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48</a:t>
            </a:fld>
            <a:endParaRPr kumimoji="0" lang="en-US" b="0" i="0" u="none" strike="noStrike" kern="1200" cap="none" spc="0" normalizeH="0" baseline="0" noProof="0">
              <a:ln>
                <a:noFill/>
              </a:ln>
              <a:effectLst/>
              <a:uLnTx/>
              <a:uFillTx/>
            </a:endParaRPr>
          </a:p>
        </p:txBody>
      </p:sp>
      <p:sp>
        <p:nvSpPr>
          <p:cNvPr id="24" name="Title 4">
            <a:extLst>
              <a:ext uri="{FF2B5EF4-FFF2-40B4-BE49-F238E27FC236}">
                <a16:creationId xmlns:a16="http://schemas.microsoft.com/office/drawing/2014/main" id="{1D9EB516-226F-9DB9-7069-395C5CDAC6C8}"/>
              </a:ext>
            </a:extLst>
          </p:cNvPr>
          <p:cNvSpPr>
            <a:spLocks noGrp="1"/>
          </p:cNvSpPr>
          <p:nvPr>
            <p:ph type="title"/>
          </p:nvPr>
        </p:nvSpPr>
        <p:spPr>
          <a:xfrm>
            <a:off x="576072" y="704088"/>
            <a:ext cx="10515600" cy="676656"/>
          </a:xfrm>
        </p:spPr>
        <p:txBody>
          <a:bodyPr/>
          <a:lstStyle/>
          <a:p>
            <a:r>
              <a:rPr lang="en-US" dirty="0"/>
              <a:t>Rubric Assessment 1: Criterion 3</a:t>
            </a:r>
          </a:p>
        </p:txBody>
      </p:sp>
      <p:pic>
        <p:nvPicPr>
          <p:cNvPr id="4" name="Picture 3">
            <a:extLst>
              <a:ext uri="{FF2B5EF4-FFF2-40B4-BE49-F238E27FC236}">
                <a16:creationId xmlns:a16="http://schemas.microsoft.com/office/drawing/2014/main" id="{1E0886BE-45B3-2E15-B554-7BBEC8239989}"/>
              </a:ext>
            </a:extLst>
          </p:cNvPr>
          <p:cNvPicPr>
            <a:picLocks noChangeAspect="1"/>
          </p:cNvPicPr>
          <p:nvPr/>
        </p:nvPicPr>
        <p:blipFill>
          <a:blip r:embed="rId3"/>
          <a:stretch>
            <a:fillRect/>
          </a:stretch>
        </p:blipFill>
        <p:spPr>
          <a:xfrm>
            <a:off x="691243" y="1925905"/>
            <a:ext cx="10809513" cy="3547431"/>
          </a:xfrm>
          <a:prstGeom prst="rect">
            <a:avLst/>
          </a:prstGeom>
        </p:spPr>
      </p:pic>
    </p:spTree>
    <p:extLst>
      <p:ext uri="{BB962C8B-B14F-4D97-AF65-F5344CB8AC3E}">
        <p14:creationId xmlns:p14="http://schemas.microsoft.com/office/powerpoint/2010/main" val="40220688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F46DF-DCD4-C8B5-2988-DB9111BFA1E7}"/>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9A9D1BFC-E778-06E4-136A-6612DF6DD3C8}"/>
              </a:ext>
            </a:extLst>
          </p:cNvPr>
          <p:cNvSpPr>
            <a:spLocks noGrp="1"/>
          </p:cNvSpPr>
          <p:nvPr>
            <p:ph type="sldNum" sz="quarter" idx="12"/>
          </p:nvPr>
        </p:nvSpPr>
        <p:spPr>
          <a:xfrm>
            <a:off x="11027664" y="6464808"/>
            <a:ext cx="987552" cy="310896"/>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58FB4751-880F-D840-AAA9-3A15815CC996}"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49</a:t>
            </a:fld>
            <a:endParaRPr kumimoji="0" lang="en-US" b="0" i="0" u="none" strike="noStrike" kern="1200" cap="none" spc="0" normalizeH="0" baseline="0" noProof="0">
              <a:ln>
                <a:noFill/>
              </a:ln>
              <a:effectLst/>
              <a:uLnTx/>
              <a:uFillTx/>
            </a:endParaRPr>
          </a:p>
        </p:txBody>
      </p:sp>
      <p:sp>
        <p:nvSpPr>
          <p:cNvPr id="24" name="Title 4">
            <a:extLst>
              <a:ext uri="{FF2B5EF4-FFF2-40B4-BE49-F238E27FC236}">
                <a16:creationId xmlns:a16="http://schemas.microsoft.com/office/drawing/2014/main" id="{085EB3AD-47B5-4021-811B-7ABE27708B3E}"/>
              </a:ext>
            </a:extLst>
          </p:cNvPr>
          <p:cNvSpPr>
            <a:spLocks noGrp="1"/>
          </p:cNvSpPr>
          <p:nvPr>
            <p:ph type="title"/>
          </p:nvPr>
        </p:nvSpPr>
        <p:spPr>
          <a:xfrm>
            <a:off x="576072" y="704088"/>
            <a:ext cx="10515600" cy="676656"/>
          </a:xfrm>
        </p:spPr>
        <p:txBody>
          <a:bodyPr/>
          <a:lstStyle/>
          <a:p>
            <a:r>
              <a:rPr lang="en-US" dirty="0"/>
              <a:t>Rubric Assessment 1: Criterion 4</a:t>
            </a:r>
          </a:p>
        </p:txBody>
      </p:sp>
      <p:pic>
        <p:nvPicPr>
          <p:cNvPr id="4" name="Picture 3">
            <a:extLst>
              <a:ext uri="{FF2B5EF4-FFF2-40B4-BE49-F238E27FC236}">
                <a16:creationId xmlns:a16="http://schemas.microsoft.com/office/drawing/2014/main" id="{95513956-DFB2-8DB9-51EB-19B4DA0DAF34}"/>
              </a:ext>
            </a:extLst>
          </p:cNvPr>
          <p:cNvPicPr>
            <a:picLocks noChangeAspect="1"/>
          </p:cNvPicPr>
          <p:nvPr/>
        </p:nvPicPr>
        <p:blipFill>
          <a:blip r:embed="rId3"/>
          <a:stretch>
            <a:fillRect/>
          </a:stretch>
        </p:blipFill>
        <p:spPr>
          <a:xfrm>
            <a:off x="1579760" y="1602782"/>
            <a:ext cx="8940810" cy="4131812"/>
          </a:xfrm>
          <a:prstGeom prst="rect">
            <a:avLst/>
          </a:prstGeom>
        </p:spPr>
      </p:pic>
    </p:spTree>
    <p:extLst>
      <p:ext uri="{BB962C8B-B14F-4D97-AF65-F5344CB8AC3E}">
        <p14:creationId xmlns:p14="http://schemas.microsoft.com/office/powerpoint/2010/main" val="4099484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036E0-1686-D8D2-AA09-746B0B90A3CF}"/>
            </a:ext>
          </a:extLst>
        </p:cNvPr>
        <p:cNvGrpSpPr/>
        <p:nvPr/>
      </p:nvGrpSpPr>
      <p:grpSpPr>
        <a:xfrm>
          <a:off x="0" y="0"/>
          <a:ext cx="0" cy="0"/>
          <a:chOff x="0" y="0"/>
          <a:chExt cx="0" cy="0"/>
        </a:xfrm>
      </p:grpSpPr>
      <p:sp>
        <p:nvSpPr>
          <p:cNvPr id="15" name="Slide Number Placeholder 6">
            <a:extLst>
              <a:ext uri="{FF2B5EF4-FFF2-40B4-BE49-F238E27FC236}">
                <a16:creationId xmlns:a16="http://schemas.microsoft.com/office/drawing/2014/main" id="{33510587-65D2-6B86-FC92-4A3B6C48D5DD}"/>
              </a:ext>
            </a:extLst>
          </p:cNvPr>
          <p:cNvSpPr>
            <a:spLocks noGrp="1"/>
          </p:cNvSpPr>
          <p:nvPr>
            <p:ph type="sldNum" sz="quarter" idx="12"/>
          </p:nvPr>
        </p:nvSpPr>
        <p:spPr>
          <a:xfrm>
            <a:off x="11027664" y="6464808"/>
            <a:ext cx="987552" cy="310896"/>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58FB4751-880F-D840-AAA9-3A15815CC996}"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50</a:t>
            </a:fld>
            <a:endParaRPr kumimoji="0" lang="en-US" b="0" i="0" u="none" strike="noStrike" kern="1200" cap="none" spc="0" normalizeH="0" baseline="0" noProof="0">
              <a:ln>
                <a:noFill/>
              </a:ln>
              <a:effectLst/>
              <a:uLnTx/>
              <a:uFillTx/>
            </a:endParaRPr>
          </a:p>
        </p:txBody>
      </p:sp>
      <p:sp>
        <p:nvSpPr>
          <p:cNvPr id="5" name="Text Placeholder 4">
            <a:extLst>
              <a:ext uri="{FF2B5EF4-FFF2-40B4-BE49-F238E27FC236}">
                <a16:creationId xmlns:a16="http://schemas.microsoft.com/office/drawing/2014/main" id="{EB6CC32D-2FAE-DD6B-FE32-FDA2927CCCB4}"/>
              </a:ext>
            </a:extLst>
          </p:cNvPr>
          <p:cNvSpPr>
            <a:spLocks noGrp="1"/>
          </p:cNvSpPr>
          <p:nvPr>
            <p:ph type="title"/>
          </p:nvPr>
        </p:nvSpPr>
        <p:spPr>
          <a:xfrm>
            <a:off x="576072" y="704088"/>
            <a:ext cx="10515600" cy="676656"/>
          </a:xfrm>
        </p:spPr>
        <p:txBody>
          <a:bodyPr anchor="ctr">
            <a:normAutofit/>
          </a:bodyPr>
          <a:lstStyle/>
          <a:p>
            <a:pPr marL="76200">
              <a:spcBef>
                <a:spcPts val="1395"/>
              </a:spcBef>
            </a:pPr>
            <a:r>
              <a:rPr lang="en-AU" sz="4100" dirty="0"/>
              <a:t>Rubric Assessment 1: Criterion 5</a:t>
            </a:r>
          </a:p>
        </p:txBody>
      </p:sp>
      <p:pic>
        <p:nvPicPr>
          <p:cNvPr id="3" name="Picture 2">
            <a:extLst>
              <a:ext uri="{FF2B5EF4-FFF2-40B4-BE49-F238E27FC236}">
                <a16:creationId xmlns:a16="http://schemas.microsoft.com/office/drawing/2014/main" id="{DB0C2F26-E854-20C2-FAF2-EC12B35967B4}"/>
              </a:ext>
            </a:extLst>
          </p:cNvPr>
          <p:cNvPicPr>
            <a:picLocks noChangeAspect="1"/>
          </p:cNvPicPr>
          <p:nvPr/>
        </p:nvPicPr>
        <p:blipFill>
          <a:blip r:embed="rId3"/>
          <a:stretch>
            <a:fillRect/>
          </a:stretch>
        </p:blipFill>
        <p:spPr>
          <a:xfrm>
            <a:off x="1526033" y="1901952"/>
            <a:ext cx="8615678" cy="3877056"/>
          </a:xfrm>
          <a:prstGeom prst="rect">
            <a:avLst/>
          </a:prstGeom>
          <a:noFill/>
        </p:spPr>
      </p:pic>
    </p:spTree>
    <p:extLst>
      <p:ext uri="{BB962C8B-B14F-4D97-AF65-F5344CB8AC3E}">
        <p14:creationId xmlns:p14="http://schemas.microsoft.com/office/powerpoint/2010/main" val="34003548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A5FC3-C3F4-A396-DFEF-8BD067090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6D839-E827-2D65-49EC-6E1BCDB917D5}"/>
              </a:ext>
            </a:extLst>
          </p:cNvPr>
          <p:cNvSpPr>
            <a:spLocks noGrp="1"/>
          </p:cNvSpPr>
          <p:nvPr>
            <p:ph type="ctrTitle"/>
          </p:nvPr>
        </p:nvSpPr>
        <p:spPr/>
        <p:txBody>
          <a:bodyPr/>
          <a:lstStyle/>
          <a:p>
            <a:r>
              <a:rPr lang="en-US" dirty="0"/>
              <a:t>Questions?</a:t>
            </a:r>
          </a:p>
        </p:txBody>
      </p:sp>
    </p:spTree>
    <p:extLst>
      <p:ext uri="{BB962C8B-B14F-4D97-AF65-F5344CB8AC3E}">
        <p14:creationId xmlns:p14="http://schemas.microsoft.com/office/powerpoint/2010/main" val="1072744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A9E178C-F963-4F5A-8B11-A77A6A64E07E}"/>
              </a:ext>
            </a:extLst>
          </p:cNvPr>
          <p:cNvSpPr>
            <a:spLocks noGrp="1"/>
          </p:cNvSpPr>
          <p:nvPr>
            <p:ph type="body" sz="half" idx="2"/>
          </p:nvPr>
        </p:nvSpPr>
        <p:spPr>
          <a:xfrm>
            <a:off x="576071" y="3210415"/>
            <a:ext cx="4572000" cy="4070729"/>
          </a:xfrm>
        </p:spPr>
        <p:txBody>
          <a:bodyPr>
            <a:normAutofit/>
          </a:bodyPr>
          <a:lstStyle/>
          <a:p>
            <a:r>
              <a:rPr lang="en-AU" sz="4800" dirty="0"/>
              <a:t>Colonisation and health</a:t>
            </a:r>
          </a:p>
        </p:txBody>
      </p:sp>
      <p:sp>
        <p:nvSpPr>
          <p:cNvPr id="6" name="Title 5">
            <a:extLst>
              <a:ext uri="{FF2B5EF4-FFF2-40B4-BE49-F238E27FC236}">
                <a16:creationId xmlns:a16="http://schemas.microsoft.com/office/drawing/2014/main" id="{3338EE39-7BAE-48CE-A9B8-C4A35A31DBF2}"/>
              </a:ext>
            </a:extLst>
          </p:cNvPr>
          <p:cNvSpPr>
            <a:spLocks noGrp="1"/>
          </p:cNvSpPr>
          <p:nvPr>
            <p:ph type="title"/>
          </p:nvPr>
        </p:nvSpPr>
        <p:spPr/>
        <p:txBody>
          <a:bodyPr/>
          <a:lstStyle/>
          <a:p>
            <a:r>
              <a:rPr lang="en-AU" dirty="0"/>
              <a:t>Next Week: </a:t>
            </a:r>
          </a:p>
        </p:txBody>
      </p:sp>
      <p:pic>
        <p:nvPicPr>
          <p:cNvPr id="3" name="Picture 2" descr="A blue sky with clouds&#10;&#10;Description automatically generated">
            <a:extLst>
              <a:ext uri="{FF2B5EF4-FFF2-40B4-BE49-F238E27FC236}">
                <a16:creationId xmlns:a16="http://schemas.microsoft.com/office/drawing/2014/main" id="{52289ABB-DE77-9093-17AE-9AEE9C1989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603" y="1491470"/>
            <a:ext cx="5731510" cy="1433195"/>
          </a:xfrm>
          <a:prstGeom prst="rect">
            <a:avLst/>
          </a:prstGeom>
          <a:noFill/>
          <a:ln>
            <a:noFill/>
          </a:ln>
        </p:spPr>
      </p:pic>
      <p:sp>
        <p:nvSpPr>
          <p:cNvPr id="5" name="Picture Placeholder 4">
            <a:extLst>
              <a:ext uri="{FF2B5EF4-FFF2-40B4-BE49-F238E27FC236}">
                <a16:creationId xmlns:a16="http://schemas.microsoft.com/office/drawing/2014/main" id="{012FAF55-2F84-86F0-7E0E-D8C443F376AC}"/>
              </a:ext>
            </a:extLst>
          </p:cNvPr>
          <p:cNvSpPr>
            <a:spLocks noGrp="1"/>
          </p:cNvSpPr>
          <p:nvPr>
            <p:ph type="pic" idx="1"/>
          </p:nvPr>
        </p:nvSpPr>
        <p:spPr/>
        <p:txBody>
          <a:bodyPr/>
          <a:lstStyle/>
          <a:p>
            <a:endParaRPr lang="en-AU"/>
          </a:p>
        </p:txBody>
      </p:sp>
    </p:spTree>
    <p:extLst>
      <p:ext uri="{BB962C8B-B14F-4D97-AF65-F5344CB8AC3E}">
        <p14:creationId xmlns:p14="http://schemas.microsoft.com/office/powerpoint/2010/main" val="848497958"/>
      </p:ext>
    </p:extLst>
  </p:cSld>
  <p:clrMapOvr>
    <a:masterClrMapping/>
  </p:clrMapOvr>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6F7A4518-677F-49D0-AD76-8F0F7DEFB1E5}" vid="{F577DF72-62B0-42B0-B34E-786789A7979D}"/>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{2B263D44-D908-4DF1-923B-4FC610E92833}tf11964407_win32</Template>
  <TotalTime>2370</TotalTime>
  <Words>3493</Words>
  <Application>Microsoft Office PowerPoint</Application>
  <PresentationFormat>Widescreen</PresentationFormat>
  <Paragraphs>364</Paragraphs>
  <Slides>52</Slides>
  <Notes>52</Notes>
  <HiddenSlides>0</HiddenSlides>
  <MMClips>4</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52</vt:i4>
      </vt:variant>
    </vt:vector>
  </HeadingPairs>
  <TitlesOfParts>
    <vt:vector size="66" baseType="lpstr">
      <vt:lpstr>Aptos</vt:lpstr>
      <vt:lpstr>Arial</vt:lpstr>
      <vt:lpstr>Calibri</vt:lpstr>
      <vt:lpstr>Courier New</vt:lpstr>
      <vt:lpstr>Dynapuff Condensed</vt:lpstr>
      <vt:lpstr>Gill Sans Nova</vt:lpstr>
      <vt:lpstr>Gill Sans Nova Light</vt:lpstr>
      <vt:lpstr>Grandview Display</vt:lpstr>
      <vt:lpstr>Open Sans</vt:lpstr>
      <vt:lpstr>Sagona Book</vt:lpstr>
      <vt:lpstr>Source Sans Pro</vt:lpstr>
      <vt:lpstr>Symbol</vt:lpstr>
      <vt:lpstr>Office Theme</vt:lpstr>
      <vt:lpstr>1_Office Theme</vt:lpstr>
      <vt:lpstr>INDG6002  Week 1 - Tutorial</vt:lpstr>
      <vt:lpstr>PowerPoint Presentation</vt:lpstr>
      <vt:lpstr>Acknowledgment of Country</vt:lpstr>
      <vt:lpstr>Acknowledgment of Country</vt:lpstr>
      <vt:lpstr> Warning  Aboriginal and Torres Strait Islander students are advised that the following content may contain the images and stories of Aboriginal Elders and community members now resting in the Dreaming   </vt:lpstr>
      <vt:lpstr>Welcome - overview</vt:lpstr>
      <vt:lpstr>TIP …</vt:lpstr>
      <vt:lpstr>PowerPoint Presentation</vt:lpstr>
      <vt:lpstr>PowerPoint Presentation</vt:lpstr>
      <vt:lpstr>PowerPoint Presentation</vt:lpstr>
      <vt:lpstr>PowerPoint Presentation</vt:lpstr>
      <vt:lpstr>PowerPoint Presentation</vt:lpstr>
      <vt:lpstr>PowerPoint Presentation</vt:lpstr>
      <vt:lpstr>Models  of health </vt:lpstr>
      <vt:lpstr>Current Health Plan vision …</vt:lpstr>
      <vt:lpstr>Another definition of health </vt:lpstr>
      <vt:lpstr>PowerPoint Presentation</vt:lpstr>
      <vt:lpstr>PowerPoint Presentation</vt:lpstr>
      <vt:lpstr>Nine guiding principles that underpin the SEWB Framework   These principles emphasise the holistic and whole-of-life definition of health held by Aboriginal and Torres Strait Islander Peoples.  </vt:lpstr>
      <vt:lpstr>PowerPoint Presentation</vt:lpstr>
      <vt:lpstr>Journey of Health and Wellbeing </vt:lpstr>
      <vt:lpstr>Examples of risks to Aboriginal SEWB</vt:lpstr>
      <vt:lpstr>Strengths-based approach</vt:lpstr>
      <vt:lpstr>Strengths Based Activity </vt:lpstr>
      <vt:lpstr>Factors that protect Aboriginal SEWB</vt:lpstr>
      <vt:lpstr>Strength-based Method    Dadirri</vt:lpstr>
      <vt:lpstr>Yarning</vt:lpstr>
      <vt:lpstr>Waijungbah Jarjums Birthing on Country</vt:lpstr>
      <vt:lpstr>Special Considerations Support extension</vt:lpstr>
      <vt:lpstr>Assessment 1 – Short Response</vt:lpstr>
      <vt:lpstr>Overview to Writing a Short Response</vt:lpstr>
      <vt:lpstr>PowerPoint Presentation</vt:lpstr>
      <vt:lpstr>PowerPoint Presentation</vt:lpstr>
      <vt:lpstr>PEEL Writing Structure</vt:lpstr>
      <vt:lpstr>Assessment 1 Overview</vt:lpstr>
      <vt:lpstr>PowerPoint Presentation</vt:lpstr>
      <vt:lpstr>PowerPoint Presentation</vt:lpstr>
      <vt:lpstr>PowerPoint Presentation</vt:lpstr>
      <vt:lpstr>Referencing Requirements</vt:lpstr>
      <vt:lpstr>PowerPoint Presentation</vt:lpstr>
      <vt:lpstr>Assessment 1 – Resources &amp; Other Requirements</vt:lpstr>
      <vt:lpstr>PowerPoint Presentation</vt:lpstr>
      <vt:lpstr>APA 7th Formatting your Document</vt:lpstr>
      <vt:lpstr>INDG6002 - GenAI Use</vt:lpstr>
      <vt:lpstr>PowerPoint Presentation</vt:lpstr>
      <vt:lpstr>Rubric Assessment 1: Criterion 1</vt:lpstr>
      <vt:lpstr>Rubric Assessment 1: Criterion 2</vt:lpstr>
      <vt:lpstr>Rubric Assessment 1: Criterion 3</vt:lpstr>
      <vt:lpstr>Rubric Assessment 1: Criterion 4</vt:lpstr>
      <vt:lpstr>Rubric Assessment 1: Criterion 5</vt:lpstr>
      <vt:lpstr>Questions?</vt:lpstr>
      <vt:lpstr>Next Week: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dc:title>
  <dc:creator>Kelly Menzel</dc:creator>
  <cp:lastModifiedBy>Ros Sawtell</cp:lastModifiedBy>
  <cp:revision>68</cp:revision>
  <cp:lastPrinted>2024-10-25T08:43:15Z</cp:lastPrinted>
  <dcterms:created xsi:type="dcterms:W3CDTF">2022-08-29T01:37:34Z</dcterms:created>
  <dcterms:modified xsi:type="dcterms:W3CDTF">2026-10-19T04:36:05Z</dcterms:modified>
</cp:coreProperties>
</file>