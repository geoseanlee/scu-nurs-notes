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4"/>
    <p:sldMasterId id="2147483781" r:id="rId5"/>
    <p:sldMasterId id="2147483785" r:id="rId6"/>
  </p:sldMasterIdLst>
  <p:notesMasterIdLst>
    <p:notesMasterId r:id="rId33"/>
  </p:notesMasterIdLst>
  <p:sldIdLst>
    <p:sldId id="464" r:id="rId7"/>
    <p:sldId id="490" r:id="rId8"/>
    <p:sldId id="321" r:id="rId9"/>
    <p:sldId id="494" r:id="rId10"/>
    <p:sldId id="332" r:id="rId11"/>
    <p:sldId id="493" r:id="rId12"/>
    <p:sldId id="335" r:id="rId13"/>
    <p:sldId id="331" r:id="rId14"/>
    <p:sldId id="330" r:id="rId15"/>
    <p:sldId id="495" r:id="rId16"/>
    <p:sldId id="496" r:id="rId17"/>
    <p:sldId id="339" r:id="rId18"/>
    <p:sldId id="485" r:id="rId19"/>
    <p:sldId id="497" r:id="rId20"/>
    <p:sldId id="498" r:id="rId21"/>
    <p:sldId id="489" r:id="rId22"/>
    <p:sldId id="491" r:id="rId23"/>
    <p:sldId id="484" r:id="rId24"/>
    <p:sldId id="487" r:id="rId25"/>
    <p:sldId id="337" r:id="rId26"/>
    <p:sldId id="499" r:id="rId27"/>
    <p:sldId id="336" r:id="rId28"/>
    <p:sldId id="338" r:id="rId29"/>
    <p:sldId id="500" r:id="rId30"/>
    <p:sldId id="457" r:id="rId31"/>
    <p:sldId id="458" r:id="rId3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79903" autoAdjust="0"/>
  </p:normalViewPr>
  <p:slideViewPr>
    <p:cSldViewPr snapToGrid="0">
      <p:cViewPr varScale="1">
        <p:scale>
          <a:sx n="50" d="100"/>
          <a:sy n="50" d="100"/>
        </p:scale>
        <p:origin x="1268" y="56"/>
      </p:cViewPr>
      <p:guideLst/>
    </p:cSldViewPr>
  </p:slideViewPr>
  <p:notesTextViewPr>
    <p:cViewPr>
      <p:scale>
        <a:sx n="1" d="1"/>
        <a:sy n="1" d="1"/>
      </p:scale>
      <p:origin x="0" y="0"/>
    </p:cViewPr>
  </p:notesTextViewPr>
  <p:notesViewPr>
    <p:cSldViewPr snapToGrid="0">
      <p:cViewPr varScale="1">
        <p:scale>
          <a:sx n="78" d="100"/>
          <a:sy n="78" d="100"/>
        </p:scale>
        <p:origin x="406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E59A93FF-AC81-4994-A3B8-A80F89F813BB}" type="datetimeFigureOut">
              <a:rPr lang="en-AU" smtClean="0"/>
              <a:t>19/10/2026</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1D3E74B-8D6F-4E4A-B30C-0A604C214E9A}" type="slidenum">
              <a:rPr lang="en-AU" smtClean="0"/>
              <a:t>‹#›</a:t>
            </a:fld>
            <a:endParaRPr lang="en-AU"/>
          </a:p>
        </p:txBody>
      </p:sp>
    </p:spTree>
    <p:extLst>
      <p:ext uri="{BB962C8B-B14F-4D97-AF65-F5344CB8AC3E}">
        <p14:creationId xmlns:p14="http://schemas.microsoft.com/office/powerpoint/2010/main" val="3505567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376D9-E17E-098F-D080-8912C6057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09BB6-E05C-8210-D960-8554C8708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1D5F3-E0AB-61DA-E4CC-8FA21B9F313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C550598-6D5F-D4ED-90BC-58D86C722A8E}"/>
              </a:ext>
            </a:extLst>
          </p:cNvPr>
          <p:cNvSpPr>
            <a:spLocks noGrp="1"/>
          </p:cNvSpPr>
          <p:nvPr>
            <p:ph type="sldNum" sz="quarter" idx="5"/>
          </p:nvPr>
        </p:nvSpPr>
        <p:spPr/>
        <p:txBody>
          <a:bodyPr/>
          <a:lstStyle/>
          <a:p>
            <a:fld id="{31D3E74B-8D6F-4E4A-B30C-0A604C214E9A}" type="slidenum">
              <a:rPr lang="en-AU" smtClean="0"/>
              <a:t>1</a:t>
            </a:fld>
            <a:endParaRPr lang="en-AU"/>
          </a:p>
        </p:txBody>
      </p:sp>
    </p:spTree>
    <p:extLst>
      <p:ext uri="{BB962C8B-B14F-4D97-AF65-F5344CB8AC3E}">
        <p14:creationId xmlns:p14="http://schemas.microsoft.com/office/powerpoint/2010/main" val="3217488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565E-7132-46F9-B446-4514CEB0A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F2224-0E04-6644-7907-FC2545A93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3E0E2-AF79-FE35-0D51-379980D8AD9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BE97447-1614-D8FB-09AD-561210716FAD}"/>
              </a:ext>
            </a:extLst>
          </p:cNvPr>
          <p:cNvSpPr>
            <a:spLocks noGrp="1"/>
          </p:cNvSpPr>
          <p:nvPr>
            <p:ph type="sldNum" sz="quarter" idx="5"/>
          </p:nvPr>
        </p:nvSpPr>
        <p:spPr/>
        <p:txBody>
          <a:bodyPr/>
          <a:lstStyle/>
          <a:p>
            <a:fld id="{31D3E74B-8D6F-4E4A-B30C-0A604C214E9A}" type="slidenum">
              <a:rPr lang="en-AU" smtClean="0"/>
              <a:t>2</a:t>
            </a:fld>
            <a:endParaRPr lang="en-AU"/>
          </a:p>
        </p:txBody>
      </p:sp>
    </p:spTree>
    <p:extLst>
      <p:ext uri="{BB962C8B-B14F-4D97-AF65-F5344CB8AC3E}">
        <p14:creationId xmlns:p14="http://schemas.microsoft.com/office/powerpoint/2010/main" val="2218595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044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757C-9A1E-7045-8670-50163F1DE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F353B-1CAC-4AAB-E720-61C39002608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C5FEDEE-5755-4B4A-3242-F72B685DDFC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3CC2791-71A9-060A-3ADA-B9AADCBB4E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0023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CDD8-8B18-52D2-5B14-893414FA7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B703E-EEF3-27D5-4855-680D7A5B09B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153EFA3-A488-48C0-050D-3787F0A504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F742945-D412-ADFA-A0B2-110F8457E5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054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B0326-2CDE-4712-03E2-DB432D667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12007-61E6-E8DA-8E12-B75939FAC87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4CB5404-A23B-4090-E52E-7A70EE2B4B2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8087CE-1CF3-7061-3344-A049463688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2363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C01A-6AEB-0BD5-39EA-D8C2383D4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B7C10-CD52-ED98-74DC-BBE3D724D2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0E92C52-A196-7F7A-EBD0-4E317EAD632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0FB856B-38E4-1991-2D61-58374B604F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2454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B5C2C-E5C6-92E5-86C0-F9588F8BF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61509-6C8C-649A-B4BC-0D4C06AF0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23A8B21-1BC3-5478-DFFE-75D5ACD49B3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825DD3D-AFE2-AC67-2D23-462BA7FC6B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63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E8D0-8412-9330-E491-9CE6C57D8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A0D4E-FA68-669D-1D58-38CB0652062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04FA40D-5F57-DE66-BEEC-30C18411480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CE63CF8-D955-BA49-7809-11428FDA55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2591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C341-1138-66F1-A511-6889E9EBB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23A4F-CCE8-E2D7-5665-D80146F1B93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37CE40D-221B-5C74-C560-7C2A24B14B9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DFBF5E8-2654-0262-4765-12799EF5EB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1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8454-D9D2-E64B-82A5-431743447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9C794-94CA-19E0-653C-72843001DA4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B50640-9498-90F5-28FB-1AF9CFD2D3F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657B6FB-3ABE-DE92-6344-0940C579A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915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C7101-67B9-3111-79B5-9572A83AE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938A-F15F-2A92-4E3B-CB301E95FBD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D65671E-6739-6B6C-982B-8E591F4F0F5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50332C7-AB95-9235-5D68-5D8F17B96D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244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7A011-CC97-16D3-4E17-80DA7143F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9A02E-8B79-311B-F223-EF51BB8DC88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54ED38-BB0F-3637-8118-AE67324ABE6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C958496-94F2-A9AC-220A-7153FD5E44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7728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46F8-46EF-6436-E8BF-961C55D6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F2687-B2E7-EA91-32F5-8848B96F590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2EF802B-6BA8-71BC-5BA6-8977F8EF3DF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C7689E6-91A6-D18B-A542-674513CBED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8685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B048-BD7C-F977-AC05-BF103EA41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F76A8-0195-BD96-23BB-FB574C60F61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949E117-65DF-7571-5C4C-0A20F58AC11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D18C512-58D7-6C8B-5179-8079D28F51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4233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DE567-D59F-9E37-9E6F-F37B86F83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99C47-9084-8677-7AFA-4302CC79915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3E0D16F-0772-3843-5588-D416DCBB886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E54D1A7-585C-D497-B8EF-2858C6662A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4765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E479B-0290-AAAA-06A8-F3E91755B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D08F0-FBC0-43C3-8EE1-CC079DB11A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0E04855-3ED1-7801-C9D4-55D83A441C2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F8007F0-B551-A7C0-62C2-5E04C583D2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0627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AC99-72DD-2680-F0CC-12BA3249D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35BE6-48BA-B31D-DADC-885E6D56AA3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2AEEA4B-176B-CFF3-FE13-F213EAFFA32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871C546-E431-46FE-0D1E-A00D97F2F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1223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69997-783F-132E-C43A-34028D1C5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04F8F-73B2-D75E-AC4E-01141166365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120D49E-505A-829D-72D8-59537DB387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149BABF-8104-165F-EED9-175E39869A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1996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D418-6105-F9C6-D647-4E862C55D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A1964-687A-D74B-4E4A-868C504F2A4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4BFC977-C462-D9B7-5196-983E6CA8C6D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A870274-F2B4-B441-124C-5A5330DDA8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4160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C7AFD-40C3-7884-557E-066170815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BADFF-6312-ED12-B779-AEB3540C8AC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BEC9E19-129A-3B00-41E8-782D89F2199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16576F5-F94A-0559-D32E-B963802E26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699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B32E-C23C-9C0B-28D0-91CB23FDC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53FDA-DB23-9E8A-6502-6B21C1AA2B2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2E8DF21-5F62-0C26-9EE3-0FEFEA1E633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AD514A9-1BBA-525C-EA8C-E6B92D3897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2535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58E4-35C9-8A5A-1B63-37911321B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072CF-E630-4B9A-C1A9-93321FE5461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DCE80B5-D8FC-8054-AC66-2C61AC1F2C9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77ACF12-711C-A4BF-7820-AE3699BE56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0764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0BA7-BFB4-B373-BB33-830477245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F6F14-B091-B309-B660-90938F75CF6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12429E2-49AF-0278-2C26-EE97C5E5D52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075872D-7B40-51D2-46B3-6229CE123D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761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1D3E74B-8D6F-4E4A-B30C-0A604C214E9A}"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548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1D3E74B-8D6F-4E4A-B30C-0A604C214E9A}"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0371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10/19/2026</a:t>
            </a:fld>
            <a:endParaRPr lang="en-US"/>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62947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10/19/2026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9222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10/19/2026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13351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10/19/2026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15582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10/19/2026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65932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10/19/2026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239464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10/19/2026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599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10/19/2026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3773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10/19/2026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05180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10/19/2026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8406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10/19/2026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993913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2661850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98452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8560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12916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10/19/2026</a:t>
            </a:fld>
            <a:endParaRPr lang="en-US" sz="100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552098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58192441"/>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1874853760"/>
      </p:ext>
    </p:extLst>
  </p:cSld>
  <p:clrMap bg1="lt1" tx1="dk1" bg2="lt2" tx2="dk2" accent1="accent1" accent2="accent2" accent3="accent3" accent4="accent4" accent5="accent5" accent6="accent6" hlink="hlink" folHlink="folHlink"/>
  <p:sldLayoutIdLst>
    <p:sldLayoutId id="2147483786" r:id="rId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59B375-09CF-B73F-A521-94BDBF9AED9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B4ECDFC-8958-4B83-B01F-58AEFB86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D68778-F94A-4C5B-9118-3B992BB9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2" name="Title 1">
            <a:extLst>
              <a:ext uri="{FF2B5EF4-FFF2-40B4-BE49-F238E27FC236}">
                <a16:creationId xmlns:a16="http://schemas.microsoft.com/office/drawing/2014/main" id="{0DD4DD31-0480-00BF-7207-67E437DA8DFC}"/>
              </a:ext>
            </a:extLst>
          </p:cNvPr>
          <p:cNvSpPr>
            <a:spLocks noGrp="1"/>
          </p:cNvSpPr>
          <p:nvPr>
            <p:ph type="title"/>
          </p:nvPr>
        </p:nvSpPr>
        <p:spPr>
          <a:xfrm>
            <a:off x="777240" y="777240"/>
            <a:ext cx="4606280" cy="2493876"/>
          </a:xfrm>
        </p:spPr>
        <p:txBody>
          <a:bodyPr anchor="b">
            <a:normAutofit/>
          </a:bodyPr>
          <a:lstStyle/>
          <a:p>
            <a:r>
              <a:rPr lang="en-AU" sz="4400" dirty="0"/>
              <a:t>Week 3 Workshop:</a:t>
            </a:r>
          </a:p>
        </p:txBody>
      </p:sp>
      <p:sp>
        <p:nvSpPr>
          <p:cNvPr id="3" name="Content Placeholder 2">
            <a:extLst>
              <a:ext uri="{FF2B5EF4-FFF2-40B4-BE49-F238E27FC236}">
                <a16:creationId xmlns:a16="http://schemas.microsoft.com/office/drawing/2014/main" id="{E0FD77F9-D43D-5BC0-42A7-6C291899921B}"/>
              </a:ext>
            </a:extLst>
          </p:cNvPr>
          <p:cNvSpPr>
            <a:spLocks noGrp="1"/>
          </p:cNvSpPr>
          <p:nvPr>
            <p:ph idx="1"/>
          </p:nvPr>
        </p:nvSpPr>
        <p:spPr>
          <a:xfrm>
            <a:off x="777240" y="3428999"/>
            <a:ext cx="4606280" cy="2747963"/>
          </a:xfrm>
        </p:spPr>
        <p:txBody>
          <a:bodyPr anchor="t">
            <a:normAutofit/>
          </a:bodyPr>
          <a:lstStyle/>
          <a:p>
            <a:pPr marL="0" indent="0">
              <a:buNone/>
            </a:pPr>
            <a:br>
              <a:rPr lang="en-AU" sz="1800"/>
            </a:br>
            <a:br>
              <a:rPr lang="en-AU" sz="1800"/>
            </a:br>
            <a:r>
              <a:rPr lang="en-AU" sz="1800"/>
              <a:t>Social and cultural determinants of health</a:t>
            </a:r>
            <a:br>
              <a:rPr lang="en-AU" sz="1800"/>
            </a:br>
            <a:endParaRPr lang="en-AU" sz="1800"/>
          </a:p>
        </p:txBody>
      </p:sp>
      <p:grpSp>
        <p:nvGrpSpPr>
          <p:cNvPr id="14" name="decorative circles">
            <a:extLst>
              <a:ext uri="{FF2B5EF4-FFF2-40B4-BE49-F238E27FC236}">
                <a16:creationId xmlns:a16="http://schemas.microsoft.com/office/drawing/2014/main" id="{B29252B9-8F48-4CC0-A640-09C8A8C24E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461374" cy="5966848"/>
            <a:chOff x="6008627" y="289695"/>
            <a:chExt cx="5461374" cy="5966848"/>
          </a:xfrm>
        </p:grpSpPr>
        <p:sp>
          <p:nvSpPr>
            <p:cNvPr id="15" name="Oval 14">
              <a:extLst>
                <a:ext uri="{FF2B5EF4-FFF2-40B4-BE49-F238E27FC236}">
                  <a16:creationId xmlns:a16="http://schemas.microsoft.com/office/drawing/2014/main" id="{28548D73-0AE2-434D-B75C-77D24F5ED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C26AF4-B368-411A-BF70-74F07FA77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BE4EEE7-FD25-4B68-819D-487E4D78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E52A4F8-9F27-4959-B733-FDA9FCA2E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654708"/>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13DA742-C9EF-49AA-ADEB-553344930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close up of a plant&#10;&#10;Description automatically generated">
            <a:extLst>
              <a:ext uri="{FF2B5EF4-FFF2-40B4-BE49-F238E27FC236}">
                <a16:creationId xmlns:a16="http://schemas.microsoft.com/office/drawing/2014/main" id="{83BC8B94-9610-003B-D553-847EDEEB24A0}"/>
              </a:ext>
            </a:extLst>
          </p:cNvPr>
          <p:cNvPicPr>
            <a:picLocks noChangeAspect="1"/>
          </p:cNvPicPr>
          <p:nvPr/>
        </p:nvPicPr>
        <p:blipFill>
          <a:blip r:embed="rId3">
            <a:extLst>
              <a:ext uri="{28A0092B-C50C-407E-A947-70E740481C1C}">
                <a14:useLocalDpi xmlns:a14="http://schemas.microsoft.com/office/drawing/2010/main" val="0"/>
              </a:ext>
            </a:extLst>
          </a:blip>
          <a:srcRect r="-3" b="-3"/>
          <a:stretch/>
        </p:blipFill>
        <p:spPr>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p:spPr>
      </p:pic>
      <p:pic>
        <p:nvPicPr>
          <p:cNvPr id="4" name="Picture 3" descr="A purple and white painting&#10;&#10;Description automatically generated">
            <a:extLst>
              <a:ext uri="{FF2B5EF4-FFF2-40B4-BE49-F238E27FC236}">
                <a16:creationId xmlns:a16="http://schemas.microsoft.com/office/drawing/2014/main" id="{990267D2-6AD8-5B5B-6032-59E723C13F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49980" y="0"/>
            <a:ext cx="4341100" cy="1872382"/>
          </a:xfrm>
          <a:prstGeom prst="rect">
            <a:avLst/>
          </a:prstGeom>
          <a:noFill/>
          <a:ln>
            <a:noFill/>
          </a:ln>
        </p:spPr>
      </p:pic>
    </p:spTree>
    <p:extLst>
      <p:ext uri="{BB962C8B-B14F-4D97-AF65-F5344CB8AC3E}">
        <p14:creationId xmlns:p14="http://schemas.microsoft.com/office/powerpoint/2010/main" val="155617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6872C-2A8B-858D-D297-B2C2DF51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ED1B0-7CE7-027C-C492-73E8B216D2F6}"/>
              </a:ext>
            </a:extLst>
          </p:cNvPr>
          <p:cNvSpPr>
            <a:spLocks noGrp="1"/>
          </p:cNvSpPr>
          <p:nvPr>
            <p:ph type="title"/>
          </p:nvPr>
        </p:nvSpPr>
        <p:spPr>
          <a:xfrm>
            <a:off x="1571562" y="453394"/>
            <a:ext cx="9909238" cy="1325563"/>
          </a:xfrm>
        </p:spPr>
        <p:txBody>
          <a:bodyPr>
            <a:normAutofit fontScale="90000"/>
          </a:bodyPr>
          <a:lstStyle/>
          <a:p>
            <a:pPr algn="ctr"/>
            <a:r>
              <a:rPr lang="en-AU" b="1" dirty="0"/>
              <a:t>Gnibi Elders Principle that aligns with: Social &amp; cultural determinants of health</a:t>
            </a:r>
            <a:endParaRPr lang="en-AU" dirty="0"/>
          </a:p>
        </p:txBody>
      </p:sp>
      <p:sp>
        <p:nvSpPr>
          <p:cNvPr id="3" name="Content Placeholder 2">
            <a:extLst>
              <a:ext uri="{FF2B5EF4-FFF2-40B4-BE49-F238E27FC236}">
                <a16:creationId xmlns:a16="http://schemas.microsoft.com/office/drawing/2014/main" id="{6AD50E62-4AFE-1EF9-068C-9A49C204D38C}"/>
              </a:ext>
            </a:extLst>
          </p:cNvPr>
          <p:cNvSpPr>
            <a:spLocks noGrp="1"/>
          </p:cNvSpPr>
          <p:nvPr>
            <p:ph idx="1"/>
          </p:nvPr>
        </p:nvSpPr>
        <p:spPr>
          <a:xfrm>
            <a:off x="2590801" y="2537423"/>
            <a:ext cx="9474200" cy="4320577"/>
          </a:xfrm>
        </p:spPr>
        <p:txBody>
          <a:bodyPr/>
          <a:lstStyle/>
          <a:p>
            <a:pPr marL="0" lvl="0" indent="0">
              <a:buNone/>
            </a:pPr>
            <a:r>
              <a:rPr lang="en-AU" sz="2800" dirty="0"/>
              <a:t>Principle 5 “Our knowledge is relational. Our principles are the basis for SCU to establish and sustain an active informed and respectful relationship with Indigenous Elders who will give considered collective input. The continuance of this relationship through the Elders group is essential.”</a:t>
            </a:r>
          </a:p>
          <a:p>
            <a:pPr marL="0" indent="0">
              <a:buNone/>
            </a:pPr>
            <a:endParaRPr lang="en-AU" dirty="0"/>
          </a:p>
        </p:txBody>
      </p:sp>
      <p:sp>
        <p:nvSpPr>
          <p:cNvPr id="5" name="TextBox 4">
            <a:extLst>
              <a:ext uri="{FF2B5EF4-FFF2-40B4-BE49-F238E27FC236}">
                <a16:creationId xmlns:a16="http://schemas.microsoft.com/office/drawing/2014/main" id="{66465FB0-DAE8-C9D1-2F76-89DD245AA005}"/>
              </a:ext>
            </a:extLst>
          </p:cNvPr>
          <p:cNvSpPr txBox="1"/>
          <p:nvPr/>
        </p:nvSpPr>
        <p:spPr>
          <a:xfrm>
            <a:off x="5558561" y="6123543"/>
            <a:ext cx="7254056" cy="369332"/>
          </a:xfrm>
          <a:prstGeom prst="rect">
            <a:avLst/>
          </a:prstGeom>
          <a:noFill/>
        </p:spPr>
        <p:txBody>
          <a:bodyPr wrap="square">
            <a:spAutoFit/>
          </a:bodyPr>
          <a:lstStyle/>
          <a:p>
            <a:r>
              <a:rPr lang="en-AU" dirty="0"/>
              <a:t>https://www.scu.edu.au/about/first-peoples/gnibi-elders-council/</a:t>
            </a:r>
          </a:p>
        </p:txBody>
      </p:sp>
      <p:pic>
        <p:nvPicPr>
          <p:cNvPr id="6" name="Picture 5">
            <a:extLst>
              <a:ext uri="{FF2B5EF4-FFF2-40B4-BE49-F238E27FC236}">
                <a16:creationId xmlns:a16="http://schemas.microsoft.com/office/drawing/2014/main" id="{DC9F96F4-352E-2C65-1241-E2D61B5CCFE3}"/>
              </a:ext>
            </a:extLst>
          </p:cNvPr>
          <p:cNvPicPr>
            <a:picLocks noChangeAspect="1"/>
          </p:cNvPicPr>
          <p:nvPr/>
        </p:nvPicPr>
        <p:blipFill>
          <a:blip r:embed="rId3">
            <a:extLst>
              <a:ext uri="{28A0092B-C50C-407E-A947-70E740481C1C}">
                <a14:useLocalDpi xmlns:a14="http://schemas.microsoft.com/office/drawing/2010/main" val="0"/>
              </a:ext>
            </a:extLst>
          </a:blip>
          <a:srcRect l="46142"/>
          <a:stretch>
            <a:fillRect/>
          </a:stretch>
        </p:blipFill>
        <p:spPr>
          <a:xfrm>
            <a:off x="0" y="927644"/>
            <a:ext cx="2286000" cy="5565231"/>
          </a:xfrm>
          <a:prstGeom prst="rect">
            <a:avLst/>
          </a:prstGeom>
        </p:spPr>
      </p:pic>
    </p:spTree>
    <p:extLst>
      <p:ext uri="{BB962C8B-B14F-4D97-AF65-F5344CB8AC3E}">
        <p14:creationId xmlns:p14="http://schemas.microsoft.com/office/powerpoint/2010/main" val="3575310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C1313A3B-868B-559E-BB9B-CB2F5343F45C}"/>
              </a:ext>
            </a:extLst>
          </p:cNvPr>
          <p:cNvPicPr>
            <a:picLocks noChangeAspect="1"/>
          </p:cNvPicPr>
          <p:nvPr/>
        </p:nvPicPr>
        <p:blipFill>
          <a:blip r:embed="rId3"/>
          <a:srcRect b="15730"/>
          <a:stretch/>
        </p:blipFill>
        <p:spPr>
          <a:xfrm>
            <a:off x="0" y="10"/>
            <a:ext cx="12192000" cy="6857990"/>
          </a:xfrm>
          <a:prstGeom prst="rect">
            <a:avLst/>
          </a:prstGeom>
        </p:spPr>
      </p:pic>
      <p:sp>
        <p:nvSpPr>
          <p:cNvPr id="26" name="Text Placeholder 25">
            <a:extLst>
              <a:ext uri="{FF2B5EF4-FFF2-40B4-BE49-F238E27FC236}">
                <a16:creationId xmlns:a16="http://schemas.microsoft.com/office/drawing/2014/main" id="{FAA80863-7DDD-E33E-7C2A-C806622CEF7D}"/>
              </a:ext>
            </a:extLst>
          </p:cNvPr>
          <p:cNvSpPr>
            <a:spLocks noGrp="1"/>
          </p:cNvSpPr>
          <p:nvPr>
            <p:ph type="body" sz="quarter" idx="13"/>
          </p:nvPr>
        </p:nvSpPr>
        <p:spPr>
          <a:xfrm>
            <a:off x="907721" y="117446"/>
            <a:ext cx="10233286" cy="1121145"/>
          </a:xfrm>
        </p:spPr>
        <p:txBody>
          <a:bodyPr>
            <a:normAutofit fontScale="40000" lnSpcReduction="20000"/>
          </a:bodyPr>
          <a:lstStyle/>
          <a:p>
            <a:r>
              <a:rPr lang="en-US" sz="10000" dirty="0">
                <a:solidFill>
                  <a:schemeClr val="tx1"/>
                </a:solidFill>
              </a:rPr>
              <a:t>Special Considerations Support extension</a:t>
            </a:r>
          </a:p>
        </p:txBody>
      </p:sp>
      <p:pic>
        <p:nvPicPr>
          <p:cNvPr id="2" name="Picture 1">
            <a:extLst>
              <a:ext uri="{FF2B5EF4-FFF2-40B4-BE49-F238E27FC236}">
                <a16:creationId xmlns:a16="http://schemas.microsoft.com/office/drawing/2014/main" id="{0FB9FABD-67FB-D591-2888-57E3A9F0B4FB}"/>
              </a:ext>
            </a:extLst>
          </p:cNvPr>
          <p:cNvPicPr>
            <a:picLocks noChangeAspect="1"/>
          </p:cNvPicPr>
          <p:nvPr/>
        </p:nvPicPr>
        <p:blipFill>
          <a:blip r:embed="rId4"/>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274907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3F1C-8E5F-43D2-FAB7-21CDDED8248C}"/>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EA98EC0-1EF3-C847-4248-F90B78882C5D}"/>
              </a:ext>
            </a:extLst>
          </p:cNvPr>
          <p:cNvPicPr>
            <a:picLocks noChangeAspect="1"/>
          </p:cNvPicPr>
          <p:nvPr/>
        </p:nvPicPr>
        <p:blipFill>
          <a:blip r:embed="rId3"/>
          <a:srcRect b="15730"/>
          <a:stretch/>
        </p:blipFill>
        <p:spPr>
          <a:xfrm>
            <a:off x="-4" y="10"/>
            <a:ext cx="12192000" cy="6857990"/>
          </a:xfrm>
          <a:prstGeom prst="rect">
            <a:avLst/>
          </a:prstGeom>
        </p:spPr>
      </p:pic>
      <p:sp>
        <p:nvSpPr>
          <p:cNvPr id="26" name="Text Placeholder 25">
            <a:extLst>
              <a:ext uri="{FF2B5EF4-FFF2-40B4-BE49-F238E27FC236}">
                <a16:creationId xmlns:a16="http://schemas.microsoft.com/office/drawing/2014/main" id="{E4C93F3A-C70E-E9D0-1B99-AD56FCC0E754}"/>
              </a:ext>
            </a:extLst>
          </p:cNvPr>
          <p:cNvSpPr>
            <a:spLocks noGrp="1"/>
          </p:cNvSpPr>
          <p:nvPr>
            <p:ph type="body" sz="quarter" idx="13"/>
          </p:nvPr>
        </p:nvSpPr>
        <p:spPr>
          <a:xfrm>
            <a:off x="2512613" y="-534199"/>
            <a:ext cx="7166766" cy="3119277"/>
          </a:xfrm>
        </p:spPr>
        <p:txBody>
          <a:bodyPr>
            <a:normAutofit/>
          </a:bodyPr>
          <a:lstStyle/>
          <a:p>
            <a:r>
              <a:rPr lang="en-US" sz="4000" dirty="0">
                <a:solidFill>
                  <a:schemeClr val="tx1"/>
                </a:solidFill>
              </a:rPr>
              <a:t>Assessment 1 – Short Response</a:t>
            </a:r>
          </a:p>
        </p:txBody>
      </p:sp>
      <p:sp>
        <p:nvSpPr>
          <p:cNvPr id="4" name="Content Placeholder 3">
            <a:extLst>
              <a:ext uri="{FF2B5EF4-FFF2-40B4-BE49-F238E27FC236}">
                <a16:creationId xmlns:a16="http://schemas.microsoft.com/office/drawing/2014/main" id="{97C0A659-B411-DABC-B6D9-59B035D4CF44}"/>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graphicFrame>
        <p:nvGraphicFramePr>
          <p:cNvPr id="2" name="Table 1">
            <a:extLst>
              <a:ext uri="{FF2B5EF4-FFF2-40B4-BE49-F238E27FC236}">
                <a16:creationId xmlns:a16="http://schemas.microsoft.com/office/drawing/2014/main" id="{FED57F2D-D4F7-A3B6-EC52-C47040F2D78B}"/>
              </a:ext>
            </a:extLst>
          </p:cNvPr>
          <p:cNvGraphicFramePr>
            <a:graphicFrameLocks noGrp="1"/>
          </p:cNvGraphicFramePr>
          <p:nvPr/>
        </p:nvGraphicFramePr>
        <p:xfrm>
          <a:off x="1341120" y="2050869"/>
          <a:ext cx="9509760" cy="4103742"/>
        </p:xfrm>
        <a:graphic>
          <a:graphicData uri="http://schemas.openxmlformats.org/drawingml/2006/table">
            <a:tbl>
              <a:tblPr firstRow="1" firstCol="1" lastRow="1" lastCol="1" bandRow="1" bandCol="1"/>
              <a:tblGrid>
                <a:gridCol w="2237715">
                  <a:extLst>
                    <a:ext uri="{9D8B030D-6E8A-4147-A177-3AD203B41FA5}">
                      <a16:colId xmlns:a16="http://schemas.microsoft.com/office/drawing/2014/main" val="3741493981"/>
                    </a:ext>
                  </a:extLst>
                </a:gridCol>
                <a:gridCol w="7272045">
                  <a:extLst>
                    <a:ext uri="{9D8B030D-6E8A-4147-A177-3AD203B41FA5}">
                      <a16:colId xmlns:a16="http://schemas.microsoft.com/office/drawing/2014/main" val="1434727651"/>
                    </a:ext>
                  </a:extLst>
                </a:gridCol>
              </a:tblGrid>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1</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3720888"/>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a:effectLst/>
                          <a:latin typeface="Calibri" panose="020F0502020204030204" pitchFamily="34" charset="0"/>
                          <a:ea typeface="Calibri" panose="020F0502020204030204" pitchFamily="34" charset="0"/>
                          <a:cs typeface="Times New Roman" panose="02020603050405020304" pitchFamily="18" charset="0"/>
                        </a:rPr>
                        <a:t>Short</a:t>
                      </a:r>
                      <a:r>
                        <a:rPr lang="en-US" sz="2000" spc="-20">
                          <a:effectLst/>
                          <a:latin typeface="Calibri" panose="020F0502020204030204" pitchFamily="34" charset="0"/>
                          <a:ea typeface="Calibri" panose="020F0502020204030204" pitchFamily="34" charset="0"/>
                          <a:cs typeface="Times New Roman" panose="02020603050405020304" pitchFamily="18" charset="0"/>
                        </a:rPr>
                        <a:t> </a:t>
                      </a:r>
                      <a:r>
                        <a:rPr lang="en-US" sz="2000" spc="-10">
                          <a:effectLst/>
                          <a:latin typeface="Calibri" panose="020F0502020204030204" pitchFamily="34" charset="0"/>
                          <a:ea typeface="Calibri" panose="020F0502020204030204" pitchFamily="34" charset="0"/>
                          <a:cs typeface="Times New Roman" panose="02020603050405020304" pitchFamily="18" charset="0"/>
                        </a:rPr>
                        <a:t>response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684535"/>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1,000</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343199"/>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spc="-25">
                          <a:effectLst/>
                          <a:latin typeface="Calibri" panose="020F0502020204030204" pitchFamily="34" charset="0"/>
                          <a:ea typeface="Calibri" panose="020F0502020204030204" pitchFamily="34" charset="0"/>
                          <a:cs typeface="Times New Roman" panose="02020603050405020304" pitchFamily="18" charset="0"/>
                        </a:rPr>
                        <a:t>40%</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9183628"/>
                  </a:ext>
                </a:extLst>
              </a:tr>
              <a:tr h="6188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101515"/>
                        </a:lnSpc>
                        <a:buNone/>
                      </a:pPr>
                      <a:r>
                        <a:rPr lang="en-US" sz="2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2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Level</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2.</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Use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1755">
                        <a:lnSpc>
                          <a:spcPct val="93939"/>
                        </a:lnSpc>
                        <a:buNone/>
                      </a:pP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20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2000" spc="-2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20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273824"/>
                  </a:ext>
                </a:extLst>
              </a:tr>
              <a:tr h="54126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spcBef>
                          <a:spcPts val="30"/>
                        </a:spcBef>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spcBef>
                          <a:spcPts val="30"/>
                        </a:spcBef>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Word</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document</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submitted</a:t>
                      </a:r>
                      <a:r>
                        <a:rPr lang="en-US" sz="20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4242583"/>
                  </a:ext>
                </a:extLst>
              </a:tr>
              <a:tr h="135164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2000" b="1" spc="-7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Outcomes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101515"/>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This</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task</a:t>
                      </a:r>
                      <a:r>
                        <a:rPr lang="en-US" sz="20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maps</a:t>
                      </a:r>
                      <a:r>
                        <a:rPr lang="en-US" sz="20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93939"/>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ULO1</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Discuss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concepts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health</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wellbeing</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determined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by </a:t>
                      </a:r>
                      <a:r>
                        <a:rPr lang="en-US" sz="2000" dirty="0">
                          <a:effectLst/>
                          <a:latin typeface="Calibri" panose="020F0502020204030204" pitchFamily="34" charset="0"/>
                          <a:ea typeface="Calibri" panose="020F0502020204030204" pitchFamily="34" charset="0"/>
                          <a:cs typeface="Times New Roman" panose="02020603050405020304" pitchFamily="18" charset="0"/>
                        </a:rPr>
                        <a:t>Aboriginal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100758"/>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ULO2</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Identify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stages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colonisation</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its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relationship</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to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 contemporary health status of Australian Indigenous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8711129"/>
                  </a:ext>
                </a:extLst>
              </a:tr>
            </a:tbl>
          </a:graphicData>
        </a:graphic>
      </p:graphicFrame>
    </p:spTree>
    <p:extLst>
      <p:ext uri="{BB962C8B-B14F-4D97-AF65-F5344CB8AC3E}">
        <p14:creationId xmlns:p14="http://schemas.microsoft.com/office/powerpoint/2010/main" val="2550531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BEA-0E37-CE7E-3352-6AAF9A40A375}"/>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4EEFD3E4-56C1-6282-AA75-E6BB0B32C0AC}"/>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02D73943-63ED-3B8F-0F8F-14003EFD42B5}"/>
              </a:ext>
            </a:extLst>
          </p:cNvPr>
          <p:cNvSpPr>
            <a:spLocks noGrp="1"/>
          </p:cNvSpPr>
          <p:nvPr>
            <p:ph type="title"/>
          </p:nvPr>
        </p:nvSpPr>
        <p:spPr>
          <a:xfrm>
            <a:off x="362919" y="1716088"/>
            <a:ext cx="4158343" cy="3131608"/>
          </a:xfrm>
        </p:spPr>
        <p:txBody>
          <a:bodyPr anchor="ctr">
            <a:normAutofit/>
          </a:bodyPr>
          <a:lstStyle/>
          <a:p>
            <a:r>
              <a:rPr lang="en-AU" dirty="0"/>
              <a:t>Overview to Writing a Short Response</a:t>
            </a:r>
          </a:p>
        </p:txBody>
      </p:sp>
      <p:sp>
        <p:nvSpPr>
          <p:cNvPr id="13" name="Slide Number Placeholder 4">
            <a:extLst>
              <a:ext uri="{FF2B5EF4-FFF2-40B4-BE49-F238E27FC236}">
                <a16:creationId xmlns:a16="http://schemas.microsoft.com/office/drawing/2014/main" id="{2E83033F-11A0-4B93-7327-E5569C55E925}"/>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8" name="TextBox 7">
            <a:extLst>
              <a:ext uri="{FF2B5EF4-FFF2-40B4-BE49-F238E27FC236}">
                <a16:creationId xmlns:a16="http://schemas.microsoft.com/office/drawing/2014/main" id="{A8F424E9-1633-280E-E90D-BF6490B0FB7D}"/>
              </a:ext>
            </a:extLst>
          </p:cNvPr>
          <p:cNvSpPr txBox="1"/>
          <p:nvPr/>
        </p:nvSpPr>
        <p:spPr>
          <a:xfrm>
            <a:off x="4996543" y="576745"/>
            <a:ext cx="6832538" cy="6358600"/>
          </a:xfrm>
          <a:prstGeom prst="rect">
            <a:avLst/>
          </a:prstGeom>
          <a:noFill/>
        </p:spPr>
        <p:txBody>
          <a:bodyPr wrap="square">
            <a:spAutoFit/>
          </a:bodyPr>
          <a:lstStyle/>
          <a:p>
            <a:pPr marL="14605" marR="494030" lvl="0" indent="0" algn="l" defTabSz="457200" rtl="0" eaLnBrk="1" fontAlgn="auto" latinLnBrk="0" hangingPunct="1">
              <a:lnSpc>
                <a:spcPct val="113000"/>
              </a:lnSpc>
              <a:spcBef>
                <a:spcPts val="615"/>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Always</a:t>
            </a:r>
            <a:r>
              <a:rPr kumimoji="0" lang="en-US" sz="1800" b="1"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use</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1"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approaches</a:t>
            </a:r>
            <a:r>
              <a:rPr kumimoji="0" lang="en-US" sz="1800" b="1"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(concepts,</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models,</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processes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or</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guidelines)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short</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responses.</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Often,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means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defining</a:t>
            </a:r>
            <a:r>
              <a:rPr kumimoji="0" lang="en-US" sz="1800" b="1"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1"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applying</a:t>
            </a:r>
            <a:r>
              <a:rPr kumimoji="0" lang="en-US" sz="1800" b="1"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concepts</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or</a:t>
            </a:r>
            <a:r>
              <a:rPr kumimoji="0" lang="en-US" sz="1800" b="0" i="0" u="none" strike="noStrike" kern="1200" cap="none" spc="-8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t>
            </a:r>
            <a:r>
              <a:rPr kumimoji="0" lang="en-US" sz="1800" b="1" i="0" u="none" strike="noStrike" kern="1200" cap="none" spc="-6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br>
              <a:rPr kumimoji="0" lang="en-AU"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br>
            <a:endParaRPr kumimoji="0" lang="en-AU"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14605" marR="575945" lvl="0" indent="-635" algn="l" defTabSz="457200" rtl="0" eaLnBrk="1" fontAlgn="auto" latinLnBrk="0" hangingPunct="1">
              <a:lnSpc>
                <a:spcPct val="113000"/>
              </a:lnSpc>
              <a:spcBef>
                <a:spcPts val="775"/>
              </a:spcBef>
              <a:spcAft>
                <a:spcPts val="0"/>
              </a:spcAft>
              <a:buClrTx/>
              <a:buSzTx/>
              <a:buFontTx/>
              <a:buNone/>
              <a:tabLst/>
              <a:defRPr/>
            </a:pPr>
            <a:r>
              <a:rPr kumimoji="0" lang="en-US" sz="1800" b="1"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Before</a:t>
            </a:r>
            <a:r>
              <a:rPr kumimoji="0" lang="en-US" sz="1800" b="1"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start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working</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assessment,</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find</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definitions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the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materials.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step</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will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help</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gain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more</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detailed</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grasp</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unit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ideas</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theories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so</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that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can</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show</a:t>
            </a:r>
            <a:r>
              <a:rPr kumimoji="0" lang="en-US" sz="1800" b="1"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 understanding</a:t>
            </a:r>
            <a:r>
              <a:rPr kumimoji="0" lang="en-US" sz="1800" b="1" i="0" u="none" strike="noStrike" kern="1200" cap="none" spc="-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marker.</a:t>
            </a:r>
            <a:endParaRPr kumimoji="0" lang="en-AU"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p>
          <a:p>
            <a:pPr marL="14605" marR="494030" lvl="0" indent="0" algn="l" defTabSz="457200" rtl="0" eaLnBrk="1" fontAlgn="auto" latinLnBrk="0" hangingPunct="1">
              <a:lnSpc>
                <a:spcPct val="112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Don't</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try</a:t>
            </a:r>
            <a:r>
              <a:rPr kumimoji="0" lang="en-US" sz="1800" b="1"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COVER</a:t>
            </a:r>
            <a:r>
              <a:rPr kumimoji="0" lang="en-US" sz="1800" b="1"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EVERYTHING</a:t>
            </a:r>
            <a:r>
              <a:rPr kumimoji="0" lang="en-US" sz="1800" b="1"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know</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about</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topic.</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While</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it</a:t>
            </a:r>
            <a:r>
              <a:rPr kumimoji="0" lang="en-US" sz="1800" b="0"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can</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be</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tempting,</a:t>
            </a:r>
            <a:r>
              <a:rPr kumimoji="0" lang="en-US" sz="1800" b="0" i="0" u="none" strike="noStrike" kern="1200" cap="none" spc="-9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is</a:t>
            </a:r>
            <a:r>
              <a:rPr kumimoji="0" lang="en-US" sz="1800" b="0" i="0" u="none" strike="noStrike" kern="1200" cap="none" spc="-10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not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a:t>
            </a:r>
            <a:r>
              <a:rPr kumimoji="0" lang="en-US" sz="1800" b="1"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task</a:t>
            </a:r>
            <a:r>
              <a:rPr kumimoji="0" lang="en-US" sz="1800" b="1" i="0" u="none" strike="noStrike" kern="1200" cap="none" spc="-1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short</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response,</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don't</a:t>
            </a:r>
            <a:r>
              <a:rPr kumimoji="0" lang="en-US" sz="1800" b="0" i="0" u="none" strike="noStrike" kern="1200" cap="none" spc="-11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have</a:t>
            </a:r>
            <a:r>
              <a:rPr kumimoji="0" lang="en-US" sz="1800" b="0" i="0" u="none" strike="noStrike" kern="1200" cap="none" spc="-11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enough</a:t>
            </a:r>
            <a:r>
              <a:rPr kumimoji="0" lang="en-US" sz="1800" b="0" i="0" u="none" strike="noStrike" kern="1200" cap="none" spc="-10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words.</a:t>
            </a:r>
            <a:r>
              <a:rPr kumimoji="0" lang="en-US" sz="1800" b="0" i="0" u="none" strike="noStrike" kern="1200" cap="none" spc="-12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Offer your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informed</a:t>
            </a:r>
            <a:r>
              <a:rPr kumimoji="0" lang="en-US" sz="1800" b="1"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answer</a:t>
            </a:r>
            <a:r>
              <a:rPr kumimoji="0" lang="en-US" sz="1800" b="1" i="0" u="none" strike="noStrike" kern="1200" cap="none" spc="-9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the</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question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within</a:t>
            </a:r>
            <a:r>
              <a:rPr kumimoji="0" lang="en-US" sz="1800" b="0" i="0" u="none" strike="noStrike" kern="1200" cap="none" spc="-8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a:t>
            </a:r>
            <a:r>
              <a:rPr kumimoji="0" lang="en-US" sz="1800" b="0" i="0" u="none" strike="noStrike" kern="1200" cap="none" spc="-7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limited</a:t>
            </a:r>
            <a:r>
              <a:rPr kumimoji="0" lang="en-US" sz="1800" b="0" i="0" u="none" strike="noStrike" kern="1200" cap="none" spc="-6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word count.</a:t>
            </a:r>
            <a:r>
              <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p>
          <a:p>
            <a:pPr marL="14605" marR="494030" lvl="0" indent="0" algn="l" defTabSz="457200" rtl="0" eaLnBrk="1" fontAlgn="auto" latinLnBrk="0" hangingPunct="1">
              <a:lnSpc>
                <a:spcPct val="112000"/>
              </a:lnSpc>
              <a:spcBef>
                <a:spcPts val="0"/>
              </a:spcBef>
              <a:spcAft>
                <a:spcPts val="0"/>
              </a:spcAft>
              <a:buClrTx/>
              <a:buSzTx/>
              <a:buFontTx/>
              <a:buNone/>
              <a:tabLst/>
              <a:defRPr/>
            </a:pPr>
            <a:endParaRPr kumimoji="0" lang="en-US" sz="1800" b="0" i="0" u="none" strike="noStrike" kern="1200" cap="none" spc="-7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endParaRPr>
          </a:p>
          <a:p>
            <a:pPr marL="14605" marR="494030" lvl="0" indent="0" algn="l" defTabSz="457200" rtl="0" eaLnBrk="1" fontAlgn="auto" latinLnBrk="0" hangingPunct="1">
              <a:lnSpc>
                <a:spcPct val="112000"/>
              </a:lnSpc>
              <a:spcBef>
                <a:spcPts val="0"/>
              </a:spcBef>
              <a:spcAft>
                <a:spcPts val="0"/>
              </a:spcAft>
              <a:buClrTx/>
              <a:buSzTx/>
              <a:buFontTx/>
              <a:buNone/>
              <a:tabLst/>
              <a:defRPr/>
            </a:pP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As</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brainstorm,</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plan,</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and</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draft</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keep</a:t>
            </a:r>
            <a:r>
              <a:rPr kumimoji="0" lang="en-US" sz="1800" b="0"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trying</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to</a:t>
            </a:r>
            <a:r>
              <a:rPr kumimoji="0" lang="en-US" sz="1800" b="0"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narrow</a:t>
            </a:r>
            <a:r>
              <a:rPr kumimoji="0" lang="en-US" sz="1800" b="1" i="0" u="none" strike="noStrike" kern="1200" cap="none" spc="-5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your</a:t>
            </a:r>
            <a:r>
              <a:rPr kumimoji="0" lang="en-US" sz="1800" b="1" i="0" u="none" strike="noStrike" kern="1200" cap="none" spc="-55"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Trebuchet MS" panose="020B0603020202020204" pitchFamily="34" charset="0"/>
                <a:cs typeface="Trebuchet MS" panose="020B0603020202020204" pitchFamily="34" charset="0"/>
              </a:rPr>
              <a:t>focus.</a:t>
            </a:r>
          </a:p>
          <a:p>
            <a:pPr marL="14605" marR="494030" lvl="0" indent="0" algn="l" defTabSz="457200" rtl="0" eaLnBrk="1" fontAlgn="auto" latinLnBrk="0" hangingPunct="1">
              <a:lnSpc>
                <a:spcPct val="112000"/>
              </a:lnSpc>
              <a:spcBef>
                <a:spcPts val="0"/>
              </a:spcBef>
              <a:spcAft>
                <a:spcPts val="0"/>
              </a:spcAft>
              <a:buClrTx/>
              <a:buSzTx/>
              <a:buFontTx/>
              <a:buNone/>
              <a:tabLst/>
              <a:defRPr/>
            </a:pPr>
            <a:endPar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endParaRPr>
          </a:p>
          <a:p>
            <a:pPr marL="14605" marR="494030" lvl="0" indent="0" algn="l" defTabSz="457200" rtl="0" eaLnBrk="1" fontAlgn="auto" latinLnBrk="0" hangingPunct="1">
              <a:lnSpc>
                <a:spcPct val="112000"/>
              </a:lnSpc>
              <a:spcBef>
                <a:spcPts val="0"/>
              </a:spcBef>
              <a:spcAft>
                <a:spcPts val="0"/>
              </a:spcAft>
              <a:buClrTx/>
              <a:buSzTx/>
              <a:buFontTx/>
              <a:buNone/>
              <a:tabLst/>
              <a:defRPr/>
            </a:pP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You can use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headings </a:t>
            </a:r>
            <a:r>
              <a:rPr kumimoji="0" lang="en-US" sz="1800" b="0"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in a short response, </a:t>
            </a:r>
            <a:r>
              <a:rPr kumimoji="0" lang="en-US" sz="1800" b="1" i="0" u="none" strike="noStrike" kern="1200" cap="none" spc="-30" normalizeH="0" baseline="0" noProof="0" dirty="0">
                <a:ln>
                  <a:noFill/>
                </a:ln>
                <a:solidFill>
                  <a:srgbClr val="000000"/>
                </a:solidFill>
                <a:effectLst/>
                <a:uLnTx/>
                <a:uFillTx/>
                <a:latin typeface="Aptos" panose="020B0004020202020204" pitchFamily="34" charset="0"/>
                <a:ea typeface="+mn-ea"/>
                <a:cs typeface="+mn-cs"/>
              </a:rPr>
              <a:t>it is part of the word count.</a:t>
            </a:r>
            <a:endParaRPr kumimoji="0" lang="en-AU" sz="1800" b="0" i="0" u="none" strike="noStrike" kern="1200" cap="none" spc="0" normalizeH="0" baseline="0" noProof="0" dirty="0">
              <a:ln>
                <a:noFill/>
              </a:ln>
              <a:solidFill>
                <a:srgbClr val="000000"/>
              </a:solidFill>
              <a:effectLst/>
              <a:uLnTx/>
              <a:uFillTx/>
              <a:latin typeface="Grandview Display"/>
              <a:ea typeface="+mn-ea"/>
              <a:cs typeface="+mn-cs"/>
            </a:endParaRPr>
          </a:p>
          <a:p>
            <a:pPr marL="14605" marR="494030" lvl="0" indent="0" algn="l" defTabSz="457200" rtl="0" eaLnBrk="1" fontAlgn="auto" latinLnBrk="0" hangingPunct="1">
              <a:lnSpc>
                <a:spcPct val="112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000000"/>
              </a:solidFill>
              <a:effectLst/>
              <a:uLnTx/>
              <a:uFillTx/>
              <a:latin typeface="Grandview Display"/>
              <a:ea typeface="+mn-ea"/>
              <a:cs typeface="+mn-cs"/>
            </a:endParaRPr>
          </a:p>
        </p:txBody>
      </p:sp>
    </p:spTree>
    <p:extLst>
      <p:ext uri="{BB962C8B-B14F-4D97-AF65-F5344CB8AC3E}">
        <p14:creationId xmlns:p14="http://schemas.microsoft.com/office/powerpoint/2010/main" val="1389114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A4C5A-8DDF-FBE4-65F7-7FA688B86DA5}"/>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DF49F62E-F06D-FDB0-0207-745DAA1F7311}"/>
              </a:ext>
            </a:extLst>
          </p:cNvPr>
          <p:cNvPicPr>
            <a:picLocks noChangeAspect="1"/>
          </p:cNvPicPr>
          <p:nvPr/>
        </p:nvPicPr>
        <p:blipFill>
          <a:blip r:embed="rId3"/>
          <a:srcRect b="15730"/>
          <a:stretch/>
        </p:blipFill>
        <p:spPr>
          <a:xfrm>
            <a:off x="-5" y="-117436"/>
            <a:ext cx="12192000" cy="6857990"/>
          </a:xfrm>
          <a:prstGeom prst="rect">
            <a:avLst/>
          </a:prstGeom>
        </p:spPr>
      </p:pic>
      <p:sp>
        <p:nvSpPr>
          <p:cNvPr id="26" name="Text Placeholder 25">
            <a:extLst>
              <a:ext uri="{FF2B5EF4-FFF2-40B4-BE49-F238E27FC236}">
                <a16:creationId xmlns:a16="http://schemas.microsoft.com/office/drawing/2014/main" id="{DF5BFEC2-F9C1-2530-45A8-C0E7392F9084}"/>
              </a:ext>
            </a:extLst>
          </p:cNvPr>
          <p:cNvSpPr>
            <a:spLocks noGrp="1"/>
          </p:cNvSpPr>
          <p:nvPr>
            <p:ph type="body" sz="quarter" idx="13"/>
          </p:nvPr>
        </p:nvSpPr>
        <p:spPr>
          <a:xfrm>
            <a:off x="-308766" y="365018"/>
            <a:ext cx="12809523" cy="1633115"/>
          </a:xfrm>
        </p:spPr>
        <p:txBody>
          <a:bodyPr>
            <a:normAutofit/>
          </a:bodyPr>
          <a:lstStyle/>
          <a:p>
            <a:r>
              <a:rPr lang="en-AU" sz="4400" b="1" i="1" dirty="0">
                <a:solidFill>
                  <a:schemeClr val="tx1"/>
                </a:solidFill>
              </a:rPr>
              <a:t>10 Key Steps for Strong Short Response Writing</a:t>
            </a:r>
          </a:p>
        </p:txBody>
      </p:sp>
      <p:sp>
        <p:nvSpPr>
          <p:cNvPr id="4" name="Content Placeholder 3">
            <a:extLst>
              <a:ext uri="{FF2B5EF4-FFF2-40B4-BE49-F238E27FC236}">
                <a16:creationId xmlns:a16="http://schemas.microsoft.com/office/drawing/2014/main" id="{A6169203-4FCF-6A23-982A-B54EBA02EFB1}"/>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sp>
        <p:nvSpPr>
          <p:cNvPr id="2" name="Text Placeholder 4">
            <a:extLst>
              <a:ext uri="{FF2B5EF4-FFF2-40B4-BE49-F238E27FC236}">
                <a16:creationId xmlns:a16="http://schemas.microsoft.com/office/drawing/2014/main" id="{B88D9832-C637-CC05-6AFD-59C11069232B}"/>
              </a:ext>
            </a:extLst>
          </p:cNvPr>
          <p:cNvSpPr txBox="1">
            <a:spLocks/>
          </p:cNvSpPr>
          <p:nvPr/>
        </p:nvSpPr>
        <p:spPr>
          <a:xfrm>
            <a:off x="1222900" y="1894115"/>
            <a:ext cx="9746199" cy="432380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48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mj-lt"/>
              <a:buAutoNum type="arabicPeriod"/>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Start with a clear main point: </a:t>
            </a:r>
            <a:r>
              <a:rPr kumimoji="0" lang="en-AU" sz="2000" b="0" i="0" u="none" strike="noStrike" kern="1200" cap="none" spc="0" normalizeH="0" baseline="0" noProof="0" dirty="0">
                <a:ln>
                  <a:noFill/>
                </a:ln>
                <a:solidFill>
                  <a:srgbClr val="171735"/>
                </a:solidFill>
                <a:effectLst/>
                <a:uLnTx/>
                <a:uFillTx/>
                <a:latin typeface="Calibri"/>
                <a:ea typeface="+mn-ea"/>
                <a:cs typeface="+mn-cs"/>
              </a:rPr>
              <a:t>Emphasise that short responses must begin with the answer, not background. Example sentence starters such as: </a:t>
            </a:r>
            <a:r>
              <a:rPr kumimoji="0" lang="en-AU" sz="2000" b="0" i="1" u="none" strike="noStrike" kern="1200" cap="none" spc="0" normalizeH="0" baseline="0" noProof="0" dirty="0">
                <a:ln>
                  <a:noFill/>
                </a:ln>
                <a:solidFill>
                  <a:srgbClr val="171735"/>
                </a:solidFill>
                <a:effectLst/>
                <a:uLnTx/>
                <a:uFillTx/>
                <a:latin typeface="Calibri"/>
                <a:ea typeface="+mn-ea"/>
                <a:cs typeface="+mn-cs"/>
              </a:rPr>
              <a:t>“This concept refers to…”</a:t>
            </a:r>
            <a:r>
              <a:rPr kumimoji="0" lang="en-AU" sz="2000" b="0" i="0" u="none" strike="noStrike" kern="1200" cap="none" spc="0" normalizeH="0" baseline="0" noProof="0" dirty="0">
                <a:ln>
                  <a:noFill/>
                </a:ln>
                <a:solidFill>
                  <a:srgbClr val="171735"/>
                </a:solidFill>
                <a:effectLst/>
                <a:uLnTx/>
                <a:uFillTx/>
                <a:latin typeface="Calibri"/>
                <a:ea typeface="+mn-ea"/>
                <a:cs typeface="+mn-cs"/>
              </a:rPr>
              <a:t> or </a:t>
            </a:r>
            <a:r>
              <a:rPr kumimoji="0" lang="en-AU" sz="2000" b="0" i="1" u="none" strike="noStrike" kern="1200" cap="none" spc="0" normalizeH="0" baseline="0" noProof="0" dirty="0">
                <a:ln>
                  <a:noFill/>
                </a:ln>
                <a:solidFill>
                  <a:srgbClr val="171735"/>
                </a:solidFill>
                <a:effectLst/>
                <a:uLnTx/>
                <a:uFillTx/>
                <a:latin typeface="Calibri"/>
                <a:ea typeface="+mn-ea"/>
                <a:cs typeface="+mn-cs"/>
              </a:rPr>
              <a:t>“In the scenario, this is evident when…”</a:t>
            </a:r>
            <a:r>
              <a:rPr kumimoji="0" lang="en-AU" sz="2000" b="0" i="0" u="none" strike="noStrike" kern="1200" cap="none" spc="0" normalizeH="0" baseline="0" noProof="0" dirty="0">
                <a:ln>
                  <a:noFill/>
                </a:ln>
                <a:solidFill>
                  <a:srgbClr val="171735"/>
                </a:solidFill>
                <a:effectLst/>
                <a:uLnTx/>
                <a:uFillTx/>
                <a:latin typeface="Calibri"/>
                <a:ea typeface="+mn-ea"/>
                <a:cs typeface="+mn-cs"/>
              </a:rPr>
              <a:t>.</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2. Explain the key concept briefly:  D</a:t>
            </a:r>
            <a:r>
              <a:rPr kumimoji="0" lang="en-AU" sz="2000" b="0" i="0" u="none" strike="noStrike" kern="1200" cap="none" spc="0" normalizeH="0" baseline="0" noProof="0" dirty="0">
                <a:ln>
                  <a:noFill/>
                </a:ln>
                <a:solidFill>
                  <a:srgbClr val="171735"/>
                </a:solidFill>
                <a:effectLst/>
                <a:uLnTx/>
                <a:uFillTx/>
                <a:latin typeface="Calibri"/>
                <a:ea typeface="+mn-ea"/>
                <a:cs typeface="+mn-cs"/>
              </a:rPr>
              <a:t>efine or clarify the concept in their own words before applying it. This prevents vague or incorrect use of terms </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3. Link the concept to UNDRIP Article 3</a:t>
            </a:r>
            <a:r>
              <a:rPr kumimoji="0" lang="en-AU" sz="2000" b="0" i="0" u="none" strike="noStrike" kern="1200" cap="none" spc="0" normalizeH="0" baseline="0" noProof="0" dirty="0">
                <a:ln>
                  <a:noFill/>
                </a:ln>
                <a:solidFill>
                  <a:srgbClr val="171735"/>
                </a:solidFill>
                <a:effectLst/>
                <a:uLnTx/>
                <a:uFillTx/>
                <a:latin typeface="Calibri"/>
                <a:ea typeface="+mn-ea"/>
                <a:cs typeface="+mn-cs"/>
              </a:rPr>
              <a:t> </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a:ea typeface="+mn-ea"/>
                <a:cs typeface="+mn-cs"/>
              </a:rPr>
              <a:t>Show clearly how the concept relates to the rights described in Article 3 and to Australian </a:t>
            </a:r>
            <a:r>
              <a:rPr kumimoji="0" lang="en-AU" sz="2000" b="0" i="0" u="none" strike="noStrike" kern="1200" cap="none" spc="0" normalizeH="0" baseline="0" noProof="0">
                <a:ln>
                  <a:noFill/>
                </a:ln>
                <a:solidFill>
                  <a:srgbClr val="171735"/>
                </a:solidFill>
                <a:effectLst/>
                <a:uLnTx/>
                <a:uFillTx/>
                <a:latin typeface="Calibri"/>
                <a:ea typeface="+mn-ea"/>
                <a:cs typeface="+mn-cs"/>
              </a:rPr>
              <a:t>Indigenous Peoples </a:t>
            </a:r>
            <a:r>
              <a:rPr kumimoji="0" lang="en-AU" sz="2000" b="0" i="0" u="none" strike="noStrike" kern="1200" cap="none" spc="0" normalizeH="0" baseline="0" noProof="0" dirty="0">
                <a:ln>
                  <a:noFill/>
                </a:ln>
                <a:solidFill>
                  <a:srgbClr val="171735"/>
                </a:solidFill>
                <a:effectLst/>
                <a:uLnTx/>
                <a:uFillTx/>
                <a:latin typeface="Calibri"/>
                <a:ea typeface="+mn-ea"/>
                <a:cs typeface="+mn-cs"/>
              </a:rPr>
              <a:t>understandings of health and wellbeing. Interpret the connection—do not retell general background information.</a:t>
            </a: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4. Use scholarly or unit evidence: </a:t>
            </a:r>
            <a:r>
              <a:rPr kumimoji="0" lang="en-AU" sz="2000" b="0" i="0" u="none" strike="noStrike" kern="1200" cap="none" spc="0" normalizeH="0" baseline="0" noProof="0" dirty="0">
                <a:ln>
                  <a:noFill/>
                </a:ln>
                <a:solidFill>
                  <a:srgbClr val="171735"/>
                </a:solidFill>
                <a:effectLst/>
                <a:uLnTx/>
                <a:uFillTx/>
                <a:latin typeface="Calibri"/>
                <a:ea typeface="+mn-ea"/>
                <a:cs typeface="+mn-cs"/>
              </a:rPr>
              <a:t>Short responses still require academic grounding. Evidence can be a unit concept, framework, or scholarly idea. Keep it brief. </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5. Write concisely and coherently: </a:t>
            </a:r>
            <a:r>
              <a:rPr kumimoji="0" lang="en-AU" sz="2000" b="0" i="0" u="none" strike="noStrike" kern="1200" cap="none" spc="0" normalizeH="0" baseline="0" noProof="0" dirty="0">
                <a:ln>
                  <a:noFill/>
                </a:ln>
                <a:solidFill>
                  <a:srgbClr val="171735"/>
                </a:solidFill>
                <a:effectLst/>
                <a:uLnTx/>
                <a:uFillTx/>
                <a:latin typeface="Calibri"/>
                <a:ea typeface="+mn-ea"/>
                <a:cs typeface="+mn-cs"/>
              </a:rPr>
              <a:t>Use short, direct sentences - improves clarity and reduces grammatical errors - avoid long introductions, unnecessary detail, or narrative writing.</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p:txBody>
      </p:sp>
    </p:spTree>
    <p:extLst>
      <p:ext uri="{BB962C8B-B14F-4D97-AF65-F5344CB8AC3E}">
        <p14:creationId xmlns:p14="http://schemas.microsoft.com/office/powerpoint/2010/main" val="77634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CD3C-EE49-0A4B-16AA-0EB5A4798F18}"/>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2F4DB4C6-9572-738B-9012-301AC92E3E6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B205866E-B64A-7EAA-C47D-4073DCA2B5F3}"/>
              </a:ext>
            </a:extLst>
          </p:cNvPr>
          <p:cNvSpPr>
            <a:spLocks noGrp="1"/>
          </p:cNvSpPr>
          <p:nvPr>
            <p:ph type="title"/>
          </p:nvPr>
        </p:nvSpPr>
        <p:spPr>
          <a:xfrm>
            <a:off x="541867" y="294410"/>
            <a:ext cx="12510008" cy="1035051"/>
          </a:xfrm>
        </p:spPr>
        <p:txBody>
          <a:bodyPr anchor="ctr">
            <a:normAutofit fontScale="90000"/>
          </a:bodyPr>
          <a:lstStyle/>
          <a:p>
            <a:r>
              <a:rPr lang="en-AU" b="1" i="1" dirty="0"/>
              <a:t>10 Key Steps for Strong Short Response Writing </a:t>
            </a:r>
            <a:br>
              <a:rPr lang="en-AU" b="1" i="1" dirty="0"/>
            </a:br>
            <a:r>
              <a:rPr lang="en-AU" b="1" i="1" dirty="0"/>
              <a:t>continued …</a:t>
            </a:r>
          </a:p>
        </p:txBody>
      </p:sp>
      <p:sp>
        <p:nvSpPr>
          <p:cNvPr id="13" name="Slide Number Placeholder 4">
            <a:extLst>
              <a:ext uri="{FF2B5EF4-FFF2-40B4-BE49-F238E27FC236}">
                <a16:creationId xmlns:a16="http://schemas.microsoft.com/office/drawing/2014/main" id="{EB17678C-EA5A-A804-2C1C-0CB8B1414A06}"/>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7" name="Text Placeholder 4">
            <a:extLst>
              <a:ext uri="{FF2B5EF4-FFF2-40B4-BE49-F238E27FC236}">
                <a16:creationId xmlns:a16="http://schemas.microsoft.com/office/drawing/2014/main" id="{4130BBF2-5E42-A36E-F9FE-0CB901944915}"/>
              </a:ext>
            </a:extLst>
          </p:cNvPr>
          <p:cNvSpPr txBox="1">
            <a:spLocks/>
          </p:cNvSpPr>
          <p:nvPr/>
        </p:nvSpPr>
        <p:spPr>
          <a:xfrm>
            <a:off x="913093" y="1623861"/>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6. Maintain respectful terminology: </a:t>
            </a:r>
            <a:r>
              <a:rPr kumimoji="0" lang="en-AU" sz="2000" b="0" i="0" u="none" strike="noStrike" kern="1200" cap="none" spc="0" normalizeH="0" baseline="0" noProof="0" dirty="0">
                <a:ln>
                  <a:noFill/>
                </a:ln>
                <a:solidFill>
                  <a:srgbClr val="171735"/>
                </a:solidFill>
                <a:effectLst/>
                <a:uLnTx/>
                <a:uFillTx/>
                <a:latin typeface="Calibri"/>
                <a:ea typeface="+mn-ea"/>
                <a:cs typeface="+mn-cs"/>
              </a:rPr>
              <a:t>Remember: Correct and consistent use of your chosen term</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7. Conclude by linking back to the question: 	</a:t>
            </a:r>
            <a:r>
              <a:rPr kumimoji="0" lang="en-AU" sz="2000" b="0" i="0" u="none" strike="noStrike" kern="1200" cap="none" spc="0" normalizeH="0" baseline="0" noProof="0" dirty="0">
                <a:ln>
                  <a:noFill/>
                </a:ln>
                <a:solidFill>
                  <a:srgbClr val="171735"/>
                </a:solidFill>
                <a:effectLst/>
                <a:uLnTx/>
                <a:uFillTx/>
                <a:latin typeface="Calibri"/>
                <a:ea typeface="+mn-ea"/>
                <a:cs typeface="+mn-cs"/>
              </a:rPr>
              <a:t>A final sentence should reinforce the main point to close the paragraph logically and signals relevance to the marker.</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8. Avoid common pitfalls: </a:t>
            </a:r>
            <a:r>
              <a:rPr kumimoji="0" lang="en-AU" sz="2000" b="0" i="0" u="none" strike="noStrike" kern="1200" cap="none" spc="0" normalizeH="0" baseline="0" noProof="0" dirty="0">
                <a:ln>
                  <a:noFill/>
                </a:ln>
                <a:solidFill>
                  <a:srgbClr val="171735"/>
                </a:solidFill>
                <a:effectLst/>
                <a:uLnTx/>
                <a:uFillTx/>
                <a:latin typeface="Calibri"/>
                <a:ea typeface="+mn-ea"/>
                <a:cs typeface="+mn-cs"/>
              </a:rPr>
              <a:t>Highlight typical issues: over‑description, missing the main point, unclear links to Article 3, lack of evidence, incorrect terminology, and overly long sentences. </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9. Use postgraduate verbs: </a:t>
            </a:r>
            <a:r>
              <a:rPr kumimoji="0" lang="en-AU" sz="2000" b="0" i="0" u="none" strike="noStrike" kern="1200" cap="none" spc="0" normalizeH="0" baseline="0" noProof="0" dirty="0">
                <a:ln>
                  <a:noFill/>
                </a:ln>
                <a:solidFill>
                  <a:srgbClr val="171735"/>
                </a:solidFill>
                <a:effectLst/>
                <a:uLnTx/>
                <a:uFillTx/>
                <a:latin typeface="Calibri"/>
                <a:ea typeface="+mn-ea"/>
                <a:cs typeface="+mn-cs"/>
              </a:rPr>
              <a:t>Encourage verbs that show analysis and interpretation: </a:t>
            </a:r>
            <a:r>
              <a:rPr kumimoji="0" lang="en-AU" sz="2000" b="0" i="1" u="none" strike="noStrike" kern="1200" cap="none" spc="0" normalizeH="0" baseline="0" noProof="0" dirty="0">
                <a:ln>
                  <a:noFill/>
                </a:ln>
                <a:solidFill>
                  <a:srgbClr val="171735"/>
                </a:solidFill>
                <a:effectLst/>
                <a:uLnTx/>
                <a:uFillTx/>
                <a:latin typeface="Calibri"/>
                <a:ea typeface="+mn-ea"/>
                <a:cs typeface="+mn-cs"/>
              </a:rPr>
              <a:t>analyse, interpret, examine, integrate, contextualise</a:t>
            </a:r>
            <a:r>
              <a:rPr kumimoji="0" lang="en-AU" sz="2000" b="0" i="0" u="none" strike="noStrike" kern="1200" cap="none" spc="0" normalizeH="0" baseline="0" noProof="0" dirty="0">
                <a:ln>
                  <a:noFill/>
                </a:ln>
                <a:solidFill>
                  <a:srgbClr val="171735"/>
                </a:solidFill>
                <a:effectLst/>
                <a:uLnTx/>
                <a:uFillTx/>
                <a:latin typeface="Calibri"/>
                <a:ea typeface="+mn-ea"/>
                <a:cs typeface="+mn-cs"/>
              </a:rPr>
              <a:t>. Discourage vague verbs like </a:t>
            </a:r>
            <a:r>
              <a:rPr kumimoji="0" lang="en-AU" sz="2000" b="0" i="1" u="none" strike="noStrike" kern="1200" cap="none" spc="0" normalizeH="0" baseline="0" noProof="0" dirty="0">
                <a:ln>
                  <a:noFill/>
                </a:ln>
                <a:solidFill>
                  <a:srgbClr val="171735"/>
                </a:solidFill>
                <a:effectLst/>
                <a:uLnTx/>
                <a:uFillTx/>
                <a:latin typeface="Calibri"/>
                <a:ea typeface="+mn-ea"/>
                <a:cs typeface="+mn-cs"/>
              </a:rPr>
              <a:t>talk about</a:t>
            </a:r>
            <a:r>
              <a:rPr kumimoji="0" lang="en-AU" sz="2000" b="0" i="0" u="none" strike="noStrike" kern="1200" cap="none" spc="0" normalizeH="0" baseline="0" noProof="0" dirty="0">
                <a:ln>
                  <a:noFill/>
                </a:ln>
                <a:solidFill>
                  <a:srgbClr val="171735"/>
                </a:solidFill>
                <a:effectLst/>
                <a:uLnTx/>
                <a:uFillTx/>
                <a:latin typeface="Calibri"/>
                <a:ea typeface="+mn-ea"/>
                <a:cs typeface="+mn-cs"/>
              </a:rPr>
              <a:t> or </a:t>
            </a:r>
            <a:r>
              <a:rPr kumimoji="0" lang="en-AU" sz="2000" b="0" i="1" u="none" strike="noStrike" kern="1200" cap="none" spc="0" normalizeH="0" baseline="0" noProof="0" dirty="0">
                <a:ln>
                  <a:noFill/>
                </a:ln>
                <a:solidFill>
                  <a:srgbClr val="171735"/>
                </a:solidFill>
                <a:effectLst/>
                <a:uLnTx/>
                <a:uFillTx/>
                <a:latin typeface="Calibri"/>
                <a:ea typeface="+mn-ea"/>
                <a:cs typeface="+mn-cs"/>
              </a:rPr>
              <a:t>discuss</a:t>
            </a:r>
            <a:r>
              <a:rPr kumimoji="0" lang="en-AU" sz="2000" b="0" i="0" u="none" strike="noStrike" kern="1200" cap="none" spc="0" normalizeH="0" baseline="0" noProof="0" dirty="0">
                <a:ln>
                  <a:noFill/>
                </a:ln>
                <a:solidFill>
                  <a:srgbClr val="171735"/>
                </a:solidFill>
                <a:effectLst/>
                <a:uLnTx/>
                <a:uFillTx/>
                <a:latin typeface="Calibri"/>
                <a:ea typeface="+mn-ea"/>
                <a:cs typeface="+mn-cs"/>
              </a:rPr>
              <a:t>.</a:t>
            </a:r>
            <a:endParaRPr kumimoji="0" lang="en-AU" sz="2000" b="1"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171735"/>
                </a:solidFill>
                <a:effectLst/>
                <a:uLnTx/>
                <a:uFillTx/>
                <a:latin typeface="Calibri"/>
                <a:ea typeface="+mn-ea"/>
                <a:cs typeface="+mn-cs"/>
              </a:rPr>
              <a:t>10. Follow a simple structure (PEEL): Point → Explain → Evidence/Scenario → Link</a:t>
            </a:r>
            <a:r>
              <a:rPr kumimoji="0" lang="en-AU" sz="2000" b="0" i="0" u="none" strike="noStrike" kern="1200" cap="none" spc="0" normalizeH="0" baseline="0" noProof="0" dirty="0">
                <a:ln>
                  <a:noFill/>
                </a:ln>
                <a:solidFill>
                  <a:srgbClr val="171735"/>
                </a:solidFill>
                <a:effectLst/>
                <a:uLnTx/>
                <a:uFillTx/>
                <a:latin typeface="Calibri"/>
                <a:ea typeface="+mn-ea"/>
                <a:cs typeface="+mn-cs"/>
              </a:rPr>
              <a:t>.</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1860932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BD70-8CB5-9DD8-C9C6-36C0D54EEDA4}"/>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98CD8CF1-16EC-DFF4-C9EA-538F2A39D9F2}"/>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5DC36959-B023-C1C3-BF63-B2CA251C4563}"/>
              </a:ext>
            </a:extLst>
          </p:cNvPr>
          <p:cNvSpPr>
            <a:spLocks noGrp="1"/>
          </p:cNvSpPr>
          <p:nvPr>
            <p:ph type="title"/>
          </p:nvPr>
        </p:nvSpPr>
        <p:spPr/>
        <p:txBody>
          <a:bodyPr/>
          <a:lstStyle/>
          <a:p>
            <a:r>
              <a:rPr lang="en-AU" dirty="0">
                <a:solidFill>
                  <a:schemeClr val="tx1"/>
                </a:solidFill>
              </a:rPr>
              <a:t>PEEL Writing Structure</a:t>
            </a:r>
          </a:p>
        </p:txBody>
      </p:sp>
      <p:pic>
        <p:nvPicPr>
          <p:cNvPr id="4" name="Content Placeholder 3" descr="A screenshot of a cell phone&#10;&#10;AI-generated content may be incorrect.">
            <a:extLst>
              <a:ext uri="{FF2B5EF4-FFF2-40B4-BE49-F238E27FC236}">
                <a16:creationId xmlns:a16="http://schemas.microsoft.com/office/drawing/2014/main" id="{1EC5D584-A50A-419A-2736-12C29F39E405}"/>
              </a:ext>
            </a:extLst>
          </p:cNvPr>
          <p:cNvPicPr>
            <a:picLocks noGrp="1" noChangeAspect="1"/>
          </p:cNvPicPr>
          <p:nvPr>
            <p:ph sz="quarter" idx="12"/>
          </p:nvPr>
        </p:nvPicPr>
        <p:blipFill>
          <a:blip r:embed="rId4"/>
          <a:stretch>
            <a:fillRect/>
          </a:stretch>
        </p:blipFill>
        <p:spPr>
          <a:xfrm>
            <a:off x="4500992" y="2373350"/>
            <a:ext cx="3272973" cy="4317906"/>
          </a:xfrm>
        </p:spPr>
      </p:pic>
    </p:spTree>
    <p:extLst>
      <p:ext uri="{BB962C8B-B14F-4D97-AF65-F5344CB8AC3E}">
        <p14:creationId xmlns:p14="http://schemas.microsoft.com/office/powerpoint/2010/main" val="435682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A02B0-5615-B1D8-0B27-92E49FA92E29}"/>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18FDDF65-C91B-C9C9-1805-AD178FABB4A4}"/>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961EB7D8-C209-A820-7A1E-0FC08C9AFE16}"/>
              </a:ext>
            </a:extLst>
          </p:cNvPr>
          <p:cNvSpPr>
            <a:spLocks noGrp="1"/>
          </p:cNvSpPr>
          <p:nvPr>
            <p:ph type="title"/>
          </p:nvPr>
        </p:nvSpPr>
        <p:spPr>
          <a:xfrm>
            <a:off x="296418" y="306572"/>
            <a:ext cx="11430000" cy="1325563"/>
          </a:xfrm>
        </p:spPr>
        <p:txBody>
          <a:bodyPr/>
          <a:lstStyle/>
          <a:p>
            <a:r>
              <a:rPr lang="en-AU" dirty="0">
                <a:solidFill>
                  <a:schemeClr val="tx1"/>
                </a:solidFill>
              </a:rPr>
              <a:t>Assessment 1 Overview</a:t>
            </a:r>
          </a:p>
        </p:txBody>
      </p:sp>
      <p:sp>
        <p:nvSpPr>
          <p:cNvPr id="5" name="Content Placeholder 4">
            <a:extLst>
              <a:ext uri="{FF2B5EF4-FFF2-40B4-BE49-F238E27FC236}">
                <a16:creationId xmlns:a16="http://schemas.microsoft.com/office/drawing/2014/main" id="{7092AEC0-695B-CE2C-B701-4CF161C09265}"/>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4" name="Text Placeholder 4">
            <a:extLst>
              <a:ext uri="{FF2B5EF4-FFF2-40B4-BE49-F238E27FC236}">
                <a16:creationId xmlns:a16="http://schemas.microsoft.com/office/drawing/2014/main" id="{5263BC45-A869-69B9-19E3-667C5996709C}"/>
              </a:ext>
            </a:extLst>
          </p:cNvPr>
          <p:cNvSpPr txBox="1">
            <a:spLocks/>
          </p:cNvSpPr>
          <p:nvPr/>
        </p:nvSpPr>
        <p:spPr>
          <a:xfrm>
            <a:off x="499998" y="1411341"/>
            <a:ext cx="11515345" cy="5140087"/>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1" i="0" u="none" strike="noStrike" kern="120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Calibri" panose="020F0502020204030204" pitchFamily="34" charset="0"/>
              </a:rPr>
              <a:t>Purpose of the Assessment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Builds understanding of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Australian Indigenous perspectives of health and wellbeing</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Introduces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self‑determination</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as a core principle in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UNDRIP Article 3</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Highlights differences between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Australian Indigenous wholistic health</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and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Western biomedical models</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Examines how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colonisation has limited the ability to exercise self‑determination</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Develops foundational knowledge for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culturally safe practice</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in health, social services, and community work.</a:t>
            </a:r>
          </a:p>
          <a:p>
            <a:pPr marL="342900" marR="0" lvl="0" indent="-3429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Strengthens </a:t>
            </a:r>
            <a:r>
              <a:rPr kumimoji="0" lang="en-AU" sz="2000" b="1"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critical thinking</a:t>
            </a: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Calibri" panose="020F0502020204030204" pitchFamily="34" charset="0"/>
              </a:rPr>
              <a:t> and culturally grounded analysis for professional contexts.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100298"/>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1" i="0" u="none" strike="noStrike" kern="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Task</a:t>
            </a:r>
            <a:r>
              <a:rPr kumimoji="0" lang="en-US" sz="2000" b="1" i="0" u="none" strike="noStrike" kern="0" cap="none" spc="-2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 </a:t>
            </a:r>
            <a:r>
              <a:rPr kumimoji="0" lang="en-US" sz="2000" b="1" i="0" u="none" strike="noStrike" kern="0" cap="none" spc="-1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rPr>
              <a:t>Description</a:t>
            </a:r>
            <a:endParaRPr kumimoji="0" lang="en-AU" sz="2000" b="1" i="0" u="none" strike="noStrike" kern="0" cap="none" spc="0" normalizeH="0" baseline="0" noProof="0" dirty="0">
              <a:ln>
                <a:noFill/>
              </a:ln>
              <a:solidFill>
                <a:srgbClr val="9445CB">
                  <a:lumMod val="75000"/>
                </a:srgbClr>
              </a:solidFill>
              <a:effectLst/>
              <a:uLnTx/>
              <a:uFillTx/>
              <a:latin typeface="Calibri" panose="020F0502020204030204" pitchFamily="34" charset="0"/>
              <a:ea typeface="Calibri" panose="020F0502020204030204" pitchFamily="34" charset="0"/>
              <a:cs typeface="+mn-cs"/>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Read </a:t>
            </a:r>
            <a:r>
              <a:rPr kumimoji="0" lang="en-US" sz="2000" b="1"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Article 3 of the United Nations Declaration on the Rights of Indigenous Peoples (UNDRIP)</a:t>
            </a: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1" i="1"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"Indigenous peoples have the right to self-determination. By virtue of that right, they freely determine their political status and freely pursue their economic, social and cultural development."</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342900" marR="0" lvl="0" indent="-342900" algn="l" defTabSz="914400" rtl="0" eaLnBrk="1" fontAlgn="auto" latinLnBrk="0" hangingPunct="1">
              <a:lnSpc>
                <a:spcPct val="90000"/>
              </a:lnSpc>
              <a:spcBef>
                <a:spcPts val="5"/>
              </a:spcBef>
              <a:spcAft>
                <a:spcPts val="0"/>
              </a:spcAft>
              <a:buClr>
                <a:srgbClr val="171735">
                  <a:lumMod val="75000"/>
                  <a:lumOff val="25000"/>
                </a:srgbClr>
              </a:buClr>
              <a:buSzPts val="1000"/>
              <a:buFont typeface="Symbol" panose="05050102010706020507" pitchFamily="18" charset="2"/>
              <a:buChar char=""/>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Write a </a:t>
            </a:r>
            <a:r>
              <a:rPr kumimoji="0" lang="en-US" sz="2000" b="1"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1,000-word short response</a:t>
            </a: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rPr>
              <a:t> explaining how this article relates to Australian Indigenous Peoples understandings of health and wellbeing.</a:t>
            </a: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Symbol" panose="05050102010706020507" pitchFamily="18" charset="2"/>
              <a:cs typeface="Symbol" panose="05050102010706020507" pitchFamily="18" charset="2"/>
            </a:endParaRPr>
          </a:p>
          <a:p>
            <a:pPr marL="0" marR="0" lvl="0" indent="0" algn="l" defTabSz="914400" rtl="0" eaLnBrk="1" fontAlgn="auto" latinLnBrk="0" hangingPunct="1">
              <a:lnSpc>
                <a:spcPct val="107000"/>
              </a:lnSpc>
              <a:spcBef>
                <a:spcPts val="1000"/>
              </a:spcBef>
              <a:spcAft>
                <a:spcPts val="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58664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0CAB9-5E6E-2692-AC3C-83B398354A6D}"/>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81C324C0-0F1A-3113-3784-FF56468FF9D8}"/>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4D7B177A-4B6C-3257-DEE0-62A50FB7AD3A}"/>
              </a:ext>
            </a:extLst>
          </p:cNvPr>
          <p:cNvSpPr>
            <a:spLocks noGrp="1"/>
          </p:cNvSpPr>
          <p:nvPr>
            <p:ph type="title"/>
          </p:nvPr>
        </p:nvSpPr>
        <p:spPr>
          <a:xfrm>
            <a:off x="350409" y="-149183"/>
            <a:ext cx="11430000" cy="1325563"/>
          </a:xfrm>
        </p:spPr>
        <p:txBody>
          <a:bodyPr>
            <a:normAutofit/>
          </a:bodyPr>
          <a:lstStyle/>
          <a:p>
            <a:pPr lvl="0">
              <a:defRPr/>
            </a:pPr>
            <a:r>
              <a:rPr lang="en-AU" sz="3600" dirty="0">
                <a:solidFill>
                  <a:srgbClr val="543E34"/>
                </a:solidFill>
                <a:latin typeface="Sagona Book"/>
              </a:rPr>
              <a:t>Assessment 1 - Instructions</a:t>
            </a:r>
          </a:p>
        </p:txBody>
      </p:sp>
      <p:sp>
        <p:nvSpPr>
          <p:cNvPr id="5" name="Content Placeholder 4">
            <a:extLst>
              <a:ext uri="{FF2B5EF4-FFF2-40B4-BE49-F238E27FC236}">
                <a16:creationId xmlns:a16="http://schemas.microsoft.com/office/drawing/2014/main" id="{9C9E673C-9D5D-5A10-8179-2F3A12615210}"/>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7" name="Text Placeholder 4">
            <a:extLst>
              <a:ext uri="{FF2B5EF4-FFF2-40B4-BE49-F238E27FC236}">
                <a16:creationId xmlns:a16="http://schemas.microsoft.com/office/drawing/2014/main" id="{1C64B228-BA16-3B9D-4AC8-EEA46254CC88}"/>
              </a:ext>
            </a:extLst>
          </p:cNvPr>
          <p:cNvSpPr txBox="1">
            <a:spLocks/>
          </p:cNvSpPr>
          <p:nvPr/>
        </p:nvSpPr>
        <p:spPr>
          <a:xfrm>
            <a:off x="350409" y="1176380"/>
            <a:ext cx="11841591" cy="615773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Step 1: Read UNDRIP Article 3</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Consider what the term </a:t>
            </a: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self-determination</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means and why it is important for Australian Indigenous Peoples.</a:t>
            </a:r>
          </a:p>
          <a:p>
            <a:pPr marL="0" marR="0" lvl="0"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Step 2: Review Unit Content</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Use learning materials from:</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685800" marR="0" lvl="1"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Module 1: Australian Indigenous concepts of health and wellbeing.</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685800" marR="0" lvl="1"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Module 2: Colonisation and its impacts on Australian Indigenous health and wellbeing.</a:t>
            </a:r>
          </a:p>
          <a:p>
            <a:pPr marL="457200" marR="0" lvl="1"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Step 3: Research</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Locate additional scholarly literature that supports your discussion.</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Definition of Scholarly and Peer-Reviewed sources</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457200" marR="0" lvl="1"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457200" marR="0" lvl="1"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Step 4: Write Your Response</a:t>
            </a:r>
            <a:endPar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90000"/>
              </a:lnSpc>
              <a:spcBef>
                <a:spcPts val="0"/>
              </a:spcBef>
              <a:spcAft>
                <a:spcPts val="600"/>
              </a:spcAft>
              <a:buClr>
                <a:srgbClr val="CAD8D6">
                  <a:lumMod val="75000"/>
                  <a:lumOff val="25000"/>
                </a:srgbClr>
              </a:buClr>
              <a:buSzTx/>
              <a:buFont typeface="Arial" panose="020B0604020202020204" pitchFamily="34" charset="0"/>
              <a:buChar char="•"/>
              <a:tabLst/>
              <a:defRPr/>
            </a:pPr>
            <a:r>
              <a:rPr kumimoji="0" lang="en-AU"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Your response should explain how Australian Indigenous concepts of health and wellbeing, self-determination, and community-accepted communication styles are interconnected, and how these relate to the ongoing impacts of colonisation on Australian Indigenous health and wellbeing.</a:t>
            </a:r>
          </a:p>
          <a:p>
            <a:pPr marL="76200" marR="0" lvl="0" indent="-228600" algn="l" defTabSz="914400" rtl="0" eaLnBrk="1" fontAlgn="auto" latinLnBrk="0" hangingPunct="1">
              <a:lnSpc>
                <a:spcPct val="90000"/>
              </a:lnSpc>
              <a:spcBef>
                <a:spcPts val="1395"/>
              </a:spcBef>
              <a:spcAft>
                <a:spcPts val="0"/>
              </a:spcAft>
              <a:buClr>
                <a:srgbClr val="CAD8D6">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CAD8D6"/>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3674418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02F4-3F0D-9BA4-ACC8-ED4F5B7DD5D6}"/>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11E84865-5307-FD3C-0ACC-EAD2C6B800C8}"/>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FA29BBDB-4147-8CCE-7803-46E503CDCA8A}"/>
              </a:ext>
            </a:extLst>
          </p:cNvPr>
          <p:cNvSpPr>
            <a:spLocks noGrp="1"/>
          </p:cNvSpPr>
          <p:nvPr>
            <p:ph type="title"/>
          </p:nvPr>
        </p:nvSpPr>
        <p:spPr>
          <a:xfrm>
            <a:off x="350409" y="-149183"/>
            <a:ext cx="11430000" cy="1325563"/>
          </a:xfrm>
        </p:spPr>
        <p:txBody>
          <a:bodyPr>
            <a:normAutofit/>
          </a:bodyPr>
          <a:lstStyle/>
          <a:p>
            <a:r>
              <a:rPr lang="en-US" sz="3600" b="1" dirty="0"/>
              <a:t>Example Short Response Structure</a:t>
            </a:r>
            <a:endParaRPr lang="en-AU" sz="3600" dirty="0"/>
          </a:p>
        </p:txBody>
      </p:sp>
      <p:sp>
        <p:nvSpPr>
          <p:cNvPr id="5" name="Content Placeholder 4">
            <a:extLst>
              <a:ext uri="{FF2B5EF4-FFF2-40B4-BE49-F238E27FC236}">
                <a16:creationId xmlns:a16="http://schemas.microsoft.com/office/drawing/2014/main" id="{3070ED81-3D7E-972D-6B9C-656F33B57DAE}"/>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4" name="Text Placeholder 4">
            <a:extLst>
              <a:ext uri="{FF2B5EF4-FFF2-40B4-BE49-F238E27FC236}">
                <a16:creationId xmlns:a16="http://schemas.microsoft.com/office/drawing/2014/main" id="{35C96441-235C-E328-100E-9A3271FAB5D7}"/>
              </a:ext>
            </a:extLst>
          </p:cNvPr>
          <p:cNvSpPr txBox="1">
            <a:spLocks/>
          </p:cNvSpPr>
          <p:nvPr/>
        </p:nvSpPr>
        <p:spPr>
          <a:xfrm>
            <a:off x="378824" y="855337"/>
            <a:ext cx="11813176" cy="5609471"/>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Introduction (Approx. 100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Introduce UNDRIP Article 3.</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Outline the main points of your response.</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Health and Wellbeing (Approx. 300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Examine the key concepts of health and wellbeing from Australian Indigenous perspectives.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Reflect on why self-determination is important for Australian Indigenous health and wellbeing.</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evaluate one cultural determinant which shapes Australian Indigenous health and wellbeing.</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Community-accepted communication styles (Approx. 300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a:t>
            </a:r>
            <a:r>
              <a:rPr kumimoji="0" lang="en-US" sz="2000" b="0" i="0" u="none" strike="noStrike" kern="1200" cap="none" spc="0" normalizeH="0" baseline="0" noProof="0" dirty="0" err="1">
                <a:ln>
                  <a:noFill/>
                </a:ln>
                <a:solidFill>
                  <a:srgbClr val="171735"/>
                </a:solidFill>
                <a:effectLst/>
                <a:uLnTx/>
                <a:uFillTx/>
                <a:latin typeface="Calibri"/>
                <a:ea typeface="+mn-ea"/>
                <a:cs typeface="+mn-cs"/>
              </a:rPr>
              <a:t>analyse</a:t>
            </a:r>
            <a:r>
              <a:rPr kumimoji="0" lang="en-US" sz="2000" b="0" i="0" u="none" strike="noStrike" kern="1200" cap="none" spc="0" normalizeH="0" baseline="0" noProof="0" dirty="0">
                <a:ln>
                  <a:noFill/>
                </a:ln>
                <a:solidFill>
                  <a:srgbClr val="171735"/>
                </a:solidFill>
                <a:effectLst/>
                <a:uLnTx/>
                <a:uFillTx/>
                <a:latin typeface="Calibri"/>
                <a:ea typeface="+mn-ea"/>
                <a:cs typeface="+mn-cs"/>
              </a:rPr>
              <a:t> the role of community-accepted communication styles in supporting</a:t>
            </a:r>
            <a:r>
              <a:rPr kumimoji="0" lang="en-US" sz="2000" b="1" i="0" u="none" strike="noStrike" kern="1200" cap="none" spc="0" normalizeH="0" baseline="0" noProof="0" dirty="0">
                <a:ln>
                  <a:noFill/>
                </a:ln>
                <a:solidFill>
                  <a:srgbClr val="171735"/>
                </a:solidFill>
                <a:effectLst/>
                <a:uLnTx/>
                <a:uFillTx/>
                <a:latin typeface="Calibri"/>
                <a:ea typeface="+mn-ea"/>
                <a:cs typeface="+mn-cs"/>
              </a:rPr>
              <a:t> </a:t>
            </a:r>
            <a:r>
              <a:rPr kumimoji="0" lang="en-US" sz="2000" b="0" i="0" u="none" strike="noStrike" kern="1200" cap="none" spc="0" normalizeH="0" baseline="0" noProof="0" dirty="0">
                <a:ln>
                  <a:noFill/>
                </a:ln>
                <a:solidFill>
                  <a:srgbClr val="171735"/>
                </a:solidFill>
                <a:effectLst/>
                <a:uLnTx/>
                <a:uFillTx/>
                <a:latin typeface="Calibri"/>
                <a:ea typeface="+mn-ea"/>
                <a:cs typeface="+mn-cs"/>
              </a:rPr>
              <a:t>Australian Indigenous health and wellbeing.</a:t>
            </a:r>
            <a:r>
              <a:rPr kumimoji="0" lang="en-US" sz="2000" b="1"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US" sz="800" b="1"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Colonisation and Health (Approx. 200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Critically reflect on the enduring effects of colonisation on Australian Indigenous health and wellbeing.</a:t>
            </a: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endParaRPr kumimoji="0" lang="en-AU" sz="8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Conclusion (Approx. 100 words)</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0" i="0" u="none" strike="noStrike" kern="1200" cap="none" spc="0" normalizeH="0" baseline="0" noProof="0" dirty="0" err="1">
                <a:ln>
                  <a:noFill/>
                </a:ln>
                <a:solidFill>
                  <a:srgbClr val="171735"/>
                </a:solidFill>
                <a:effectLst/>
                <a:uLnTx/>
                <a:uFillTx/>
                <a:latin typeface="Calibri"/>
                <a:ea typeface="+mn-ea"/>
                <a:cs typeface="+mn-cs"/>
              </a:rPr>
              <a:t>Summarise</a:t>
            </a:r>
            <a:r>
              <a:rPr kumimoji="0" lang="en-US" sz="2000" b="0" i="0" u="none" strike="noStrike" kern="1200" cap="none" spc="0" normalizeH="0" baseline="0" noProof="0" dirty="0">
                <a:ln>
                  <a:noFill/>
                </a:ln>
                <a:solidFill>
                  <a:srgbClr val="171735"/>
                </a:solidFill>
                <a:effectLst/>
                <a:uLnTx/>
                <a:uFillTx/>
                <a:latin typeface="Calibri"/>
                <a:ea typeface="+mn-ea"/>
                <a:cs typeface="+mn-cs"/>
              </a:rPr>
              <a:t> your key points. </a:t>
            </a:r>
            <a:r>
              <a:rPr kumimoji="0" lang="en-US" sz="2000" b="1" i="0" u="none" strike="noStrike" kern="1200" cap="none" spc="0" normalizeH="0" baseline="0" noProof="0" dirty="0">
                <a:ln>
                  <a:noFill/>
                </a:ln>
                <a:solidFill>
                  <a:srgbClr val="171735"/>
                </a:solidFill>
                <a:effectLst/>
                <a:uLnTx/>
                <a:uFillTx/>
                <a:latin typeface="Calibri"/>
                <a:ea typeface="+mn-ea"/>
                <a:cs typeface="+mn-cs"/>
              </a:rPr>
              <a:t>NO</a:t>
            </a:r>
            <a:r>
              <a:rPr kumimoji="0" lang="en-US" sz="2000" b="0" i="0" u="none" strike="noStrike" kern="1200" cap="none" spc="0" normalizeH="0" baseline="0" noProof="0" dirty="0">
                <a:ln>
                  <a:noFill/>
                </a:ln>
                <a:solidFill>
                  <a:srgbClr val="171735"/>
                </a:solidFill>
                <a:effectLst/>
                <a:uLnTx/>
                <a:uFillTx/>
                <a:latin typeface="Calibri"/>
                <a:ea typeface="+mn-ea"/>
                <a:cs typeface="+mn-cs"/>
              </a:rPr>
              <a:t> new information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br>
              <a:rPr kumimoji="0" lang="en-US" sz="2000" b="1" i="0" u="none" strike="noStrike" kern="1200" cap="none" spc="0" normalizeH="0" baseline="0" noProof="0" dirty="0">
                <a:ln>
                  <a:noFill/>
                </a:ln>
                <a:solidFill>
                  <a:srgbClr val="171735"/>
                </a:solidFill>
                <a:effectLst/>
                <a:uLnTx/>
                <a:uFillTx/>
                <a:latin typeface="Calibri"/>
                <a:ea typeface="+mn-ea"/>
                <a:cs typeface="+mn-cs"/>
              </a:rPr>
            </a:b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0" marR="0" lvl="0" indent="0" algn="l" defTabSz="914400" rtl="0" eaLnBrk="1" fontAlgn="auto" latinLnBrk="0" hangingPunct="1">
              <a:lnSpc>
                <a:spcPct val="90000"/>
              </a:lnSpc>
              <a:spcBef>
                <a:spcPts val="0"/>
              </a:spcBef>
              <a:spcAft>
                <a:spcPts val="600"/>
              </a:spcAft>
              <a:buClr>
                <a:srgbClr val="171735">
                  <a:lumMod val="75000"/>
                  <a:lumOff val="25000"/>
                </a:srgbClr>
              </a:buClr>
              <a:buSzTx/>
              <a:buFont typeface="Arial" panose="020B0604020202020204" pitchFamily="34" charset="0"/>
              <a:buNone/>
              <a:tabLst/>
              <a:defRPr/>
            </a:pPr>
            <a:r>
              <a:rPr kumimoji="0" lang="en-US" sz="2000" b="1"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3398333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CB34F-3CB5-9DAE-E2D0-B0905D0CA0C3}"/>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ADBC007E-9919-52F1-A28E-32E4E21014FA}"/>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2212CA25-F76E-7B0A-990D-D7E940D02EDF}"/>
              </a:ext>
            </a:extLst>
          </p:cNvPr>
          <p:cNvSpPr>
            <a:spLocks noGrp="1"/>
          </p:cNvSpPr>
          <p:nvPr>
            <p:ph type="title"/>
          </p:nvPr>
        </p:nvSpPr>
        <p:spPr>
          <a:xfrm>
            <a:off x="838200" y="136525"/>
            <a:ext cx="10515600" cy="1035051"/>
          </a:xfrm>
        </p:spPr>
        <p:txBody>
          <a:bodyPr anchor="ctr">
            <a:normAutofit/>
          </a:bodyPr>
          <a:lstStyle/>
          <a:p>
            <a:r>
              <a:rPr lang="en-AU" dirty="0"/>
              <a:t>Your response must …</a:t>
            </a:r>
          </a:p>
        </p:txBody>
      </p:sp>
      <p:sp>
        <p:nvSpPr>
          <p:cNvPr id="13" name="Slide Number Placeholder 4">
            <a:extLst>
              <a:ext uri="{FF2B5EF4-FFF2-40B4-BE49-F238E27FC236}">
                <a16:creationId xmlns:a16="http://schemas.microsoft.com/office/drawing/2014/main" id="{C7D3B542-BD3D-1E40-37FC-C7792B883DE2}"/>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6" name="TextBox 5">
            <a:extLst>
              <a:ext uri="{FF2B5EF4-FFF2-40B4-BE49-F238E27FC236}">
                <a16:creationId xmlns:a16="http://schemas.microsoft.com/office/drawing/2014/main" id="{CFA9A62B-83C7-975D-2E8B-A00A134512BD}"/>
              </a:ext>
            </a:extLst>
          </p:cNvPr>
          <p:cNvSpPr txBox="1"/>
          <p:nvPr/>
        </p:nvSpPr>
        <p:spPr>
          <a:xfrm>
            <a:off x="1542445" y="1308091"/>
            <a:ext cx="9481155" cy="478592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AU" sz="2000" b="1" i="0" u="sng" strike="noStrike" kern="1200" cap="none" spc="0" normalizeH="0" baseline="0" noProof="0" dirty="0">
                <a:ln>
                  <a:noFill/>
                </a:ln>
                <a:solidFill>
                  <a:srgbClr val="000000"/>
                </a:solidFill>
                <a:effectLst/>
                <a:uLnTx/>
                <a:uFillTx/>
                <a:latin typeface="Gill Sans Nova Light"/>
                <a:ea typeface="+mn-ea"/>
                <a:cs typeface="+mn-cs"/>
              </a:rPr>
              <a:t>Assessment Requirements</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Follow the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Short Response Quick Guide</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(Assessment 1 resources).</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Address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UNDRIP Article 3</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throughout your discussion.</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Analyse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Australian Indigenous concepts of health and wellbeing</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including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self‑determination</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and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one cultural determinant</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Explain the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relationship between colonisation and contemporary Australian Indigenous health outcomes</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Support your discussion with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scholarly evidence</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AU" sz="2000" b="1" i="0" u="sng" strike="noStrike" kern="1200" cap="none" spc="0" normalizeH="0" baseline="0" noProof="0" dirty="0">
                <a:ln>
                  <a:noFill/>
                </a:ln>
                <a:solidFill>
                  <a:srgbClr val="000000"/>
                </a:solidFill>
                <a:effectLst/>
                <a:uLnTx/>
                <a:uFillTx/>
                <a:latin typeface="Gill Sans Nova Light"/>
                <a:ea typeface="+mn-ea"/>
                <a:cs typeface="+mn-cs"/>
              </a:rPr>
              <a:t>Sources &amp; Referencing</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Use a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minimum of five (5) scholarly sources</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UNDRIP must be cited and referenced</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but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does not count</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toward the five scholarly sources.</a:t>
            </a:r>
          </a:p>
          <a:p>
            <a:pPr marL="342900" marR="0" lvl="0" indent="-34290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Your reference list must contain </a:t>
            </a:r>
            <a:r>
              <a:rPr kumimoji="0" lang="en-AU" sz="2000" b="1" i="0" u="none" strike="noStrike" kern="1200" cap="none" spc="0" normalizeH="0" baseline="0" noProof="0" dirty="0">
                <a:ln>
                  <a:noFill/>
                </a:ln>
                <a:solidFill>
                  <a:srgbClr val="000000"/>
                </a:solidFill>
                <a:effectLst/>
                <a:uLnTx/>
                <a:uFillTx/>
                <a:latin typeface="Gill Sans Nova Light"/>
                <a:ea typeface="+mn-ea"/>
                <a:cs typeface="+mn-cs"/>
              </a:rPr>
              <a:t>at least six (6) references</a:t>
            </a:r>
            <a:r>
              <a:rPr kumimoji="0" lang="en-AU" sz="2000" b="0" i="0" u="none" strike="noStrike" kern="1200" cap="none" spc="0" normalizeH="0" baseline="0" noProof="0" dirty="0">
                <a:ln>
                  <a:noFill/>
                </a:ln>
                <a:solidFill>
                  <a:srgbClr val="000000"/>
                </a:solidFill>
                <a:effectLst/>
                <a:uLnTx/>
                <a:uFillTx/>
                <a:latin typeface="Gill Sans Nova Light"/>
                <a:ea typeface="+mn-ea"/>
                <a:cs typeface="+mn-cs"/>
              </a:rPr>
              <a:t> in total.</a:t>
            </a:r>
          </a:p>
        </p:txBody>
      </p:sp>
    </p:spTree>
    <p:extLst>
      <p:ext uri="{BB962C8B-B14F-4D97-AF65-F5344CB8AC3E}">
        <p14:creationId xmlns:p14="http://schemas.microsoft.com/office/powerpoint/2010/main" val="217816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41AB-E164-78B7-2B0E-A24CB9C80F0D}"/>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D6E5A0F-A90B-6089-E087-F7248C261C5E}"/>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2F3BD59-A094-40B2-4BA4-E58E948C6A3E}"/>
              </a:ext>
            </a:extLst>
          </p:cNvPr>
          <p:cNvSpPr>
            <a:spLocks noGrp="1"/>
          </p:cNvSpPr>
          <p:nvPr>
            <p:ph type="title"/>
          </p:nvPr>
        </p:nvSpPr>
        <p:spPr>
          <a:xfrm>
            <a:off x="838200" y="136525"/>
            <a:ext cx="10515600" cy="1035051"/>
          </a:xfrm>
        </p:spPr>
        <p:txBody>
          <a:bodyPr anchor="ctr">
            <a:normAutofit/>
          </a:bodyPr>
          <a:lstStyle/>
          <a:p>
            <a:r>
              <a:rPr lang="en-AU" dirty="0"/>
              <a:t>Referencing Requirements</a:t>
            </a:r>
          </a:p>
        </p:txBody>
      </p:sp>
      <p:sp>
        <p:nvSpPr>
          <p:cNvPr id="13" name="Slide Number Placeholder 4">
            <a:extLst>
              <a:ext uri="{FF2B5EF4-FFF2-40B4-BE49-F238E27FC236}">
                <a16:creationId xmlns:a16="http://schemas.microsoft.com/office/drawing/2014/main" id="{B1EB6D84-9B03-B927-0F6E-051C6D496D36}"/>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5" name="Content Placeholder 4">
            <a:extLst>
              <a:ext uri="{FF2B5EF4-FFF2-40B4-BE49-F238E27FC236}">
                <a16:creationId xmlns:a16="http://schemas.microsoft.com/office/drawing/2014/main" id="{A83360BE-11DC-DF28-3A67-290E7A6B56EE}"/>
              </a:ext>
            </a:extLst>
          </p:cNvPr>
          <p:cNvSpPr>
            <a:spLocks noGrp="1"/>
          </p:cNvSpPr>
          <p:nvPr>
            <p:ph idx="1"/>
          </p:nvPr>
        </p:nvSpPr>
        <p:spPr/>
        <p:txBody>
          <a:bodyPr>
            <a:normAutofit fontScale="92500" lnSpcReduction="20000"/>
          </a:bodyPr>
          <a:lstStyle/>
          <a:p>
            <a:pPr algn="just">
              <a:spcBef>
                <a:spcPts val="1145"/>
              </a:spcBef>
              <a:tabLst>
                <a:tab pos="596265"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Ensure you meet the following Criteria:</a:t>
            </a:r>
          </a:p>
          <a:p>
            <a:pPr algn="just">
              <a:spcBef>
                <a:spcPts val="1145"/>
              </a:spcBef>
              <a:tabLst>
                <a:tab pos="596265" algn="l"/>
              </a:tabLst>
              <a:defRPr/>
            </a:pPr>
            <a:endParaRPr lang="en-US" dirty="0">
              <a:solidFill>
                <a:prstClr val="black"/>
              </a:solidFill>
              <a:latin typeface="Aptos" panose="02110004020202020204"/>
              <a:ea typeface="Symbol" panose="05050102010706020507" pitchFamily="18" charset="2"/>
              <a:cs typeface="Symbol" panose="05050102010706020507" pitchFamily="18" charset="2"/>
            </a:endParaRPr>
          </a:p>
          <a:p>
            <a:pPr algn="just">
              <a:spcBef>
                <a:spcPts val="1145"/>
              </a:spcBef>
              <a:spcAft>
                <a:spcPts val="1800"/>
              </a:spcAft>
              <a:tabLst>
                <a:tab pos="596265"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Referencing</a:t>
            </a:r>
            <a:r>
              <a:rPr lang="en-US" spc="-70"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style</a:t>
            </a:r>
            <a:r>
              <a:rPr lang="en-US" spc="-55"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of</a:t>
            </a:r>
            <a:r>
              <a:rPr lang="en-US" spc="-35" dirty="0">
                <a:solidFill>
                  <a:prstClr val="black"/>
                </a:solidFill>
                <a:latin typeface="Aptos" panose="02110004020202020204"/>
                <a:ea typeface="Symbol" panose="05050102010706020507" pitchFamily="18" charset="2"/>
                <a:cs typeface="Symbol" panose="05050102010706020507" pitchFamily="18" charset="2"/>
              </a:rPr>
              <a:t> </a:t>
            </a:r>
            <a:r>
              <a:rPr lang="en-US" b="1" spc="-20" dirty="0">
                <a:solidFill>
                  <a:prstClr val="black"/>
                </a:solidFill>
                <a:latin typeface="Aptos" panose="02110004020202020204"/>
                <a:ea typeface="Symbol" panose="05050102010706020507" pitchFamily="18" charset="2"/>
                <a:cs typeface="Symbol" panose="05050102010706020507" pitchFamily="18" charset="2"/>
              </a:rPr>
              <a:t>APA7</a:t>
            </a:r>
            <a:r>
              <a:rPr lang="en-US" spc="-20" dirty="0">
                <a:solidFill>
                  <a:prstClr val="black"/>
                </a:solidFill>
                <a:latin typeface="Aptos" panose="02110004020202020204"/>
                <a:ea typeface="Symbol" panose="05050102010706020507" pitchFamily="18" charset="2"/>
                <a:cs typeface="Symbol" panose="05050102010706020507" pitchFamily="18" charset="2"/>
              </a:rPr>
              <a:t>.</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R="179070" algn="just">
              <a:lnSpc>
                <a:spcPct val="107000"/>
              </a:lnSpc>
              <a:spcBef>
                <a:spcPts val="110"/>
              </a:spcBef>
              <a:spcAft>
                <a:spcPts val="1800"/>
              </a:spcAft>
              <a:tabLst>
                <a:tab pos="594360" algn="l"/>
                <a:tab pos="596900"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Consistent use of </a:t>
            </a:r>
            <a:r>
              <a:rPr lang="en-US" b="1" dirty="0">
                <a:solidFill>
                  <a:prstClr val="black"/>
                </a:solidFill>
                <a:latin typeface="Aptos" panose="02110004020202020204"/>
                <a:ea typeface="Symbol" panose="05050102010706020507" pitchFamily="18" charset="2"/>
                <a:cs typeface="Symbol" panose="05050102010706020507" pitchFamily="18" charset="2"/>
              </a:rPr>
              <a:t>correct </a:t>
            </a:r>
            <a:r>
              <a:rPr lang="en-US" dirty="0">
                <a:solidFill>
                  <a:prstClr val="black"/>
                </a:solidFill>
                <a:latin typeface="Aptos" panose="02110004020202020204"/>
                <a:ea typeface="Symbol" panose="05050102010706020507" pitchFamily="18" charset="2"/>
                <a:cs typeface="Symbol" panose="05050102010706020507" pitchFamily="18" charset="2"/>
              </a:rPr>
              <a:t>and </a:t>
            </a:r>
            <a:r>
              <a:rPr lang="en-US" b="1" dirty="0">
                <a:solidFill>
                  <a:prstClr val="black"/>
                </a:solidFill>
                <a:latin typeface="Aptos" panose="02110004020202020204"/>
                <a:ea typeface="Symbol" panose="05050102010706020507" pitchFamily="18" charset="2"/>
                <a:cs typeface="Symbol" panose="05050102010706020507" pitchFamily="18" charset="2"/>
              </a:rPr>
              <a:t>appropriate </a:t>
            </a:r>
            <a:r>
              <a:rPr lang="en-US" dirty="0">
                <a:solidFill>
                  <a:prstClr val="black"/>
                </a:solidFill>
                <a:latin typeface="Aptos" panose="02110004020202020204"/>
                <a:ea typeface="Symbol" panose="05050102010706020507" pitchFamily="18" charset="2"/>
                <a:cs typeface="Symbol" panose="05050102010706020507" pitchFamily="18" charset="2"/>
              </a:rPr>
              <a:t>terminology and tone in reference to Indigenous Australian Peoples, communities, and issues. </a:t>
            </a:r>
          </a:p>
          <a:p>
            <a:pPr marR="179070" algn="just">
              <a:lnSpc>
                <a:spcPct val="107000"/>
              </a:lnSpc>
              <a:spcBef>
                <a:spcPts val="110"/>
              </a:spcBef>
              <a:spcAft>
                <a:spcPts val="1800"/>
              </a:spcAft>
              <a:tabLst>
                <a:tab pos="594360" algn="l"/>
                <a:tab pos="596900" algn="l"/>
              </a:tabLst>
              <a:defRPr/>
            </a:pPr>
            <a:r>
              <a:rPr lang="en-US" dirty="0">
                <a:solidFill>
                  <a:srgbClr val="000000"/>
                </a:solidFill>
                <a:latin typeface="Aptos" panose="02110004020202020204"/>
              </a:rPr>
              <a:t>U</a:t>
            </a:r>
            <a:r>
              <a:rPr lang="en-US" dirty="0">
                <a:solidFill>
                  <a:srgbClr val="000000"/>
                </a:solidFill>
                <a:latin typeface="Aptos" panose="020B0004020202020204" pitchFamily="34" charset="0"/>
              </a:rPr>
              <a:t>se </a:t>
            </a:r>
            <a:r>
              <a:rPr lang="en-US" b="1" u="sng" dirty="0">
                <a:solidFill>
                  <a:srgbClr val="000000"/>
                </a:solidFill>
                <a:latin typeface="Aptos" panose="020B0004020202020204" pitchFamily="34" charset="0"/>
              </a:rPr>
              <a:t>a minimum of 5 peer-reviewed scholarly sources</a:t>
            </a:r>
            <a:r>
              <a:rPr lang="en-US" dirty="0">
                <a:solidFill>
                  <a:srgbClr val="000000"/>
                </a:solidFill>
                <a:latin typeface="Aptos" panose="020B0004020202020204" pitchFamily="34" charset="0"/>
              </a:rPr>
              <a:t>, 1 </a:t>
            </a:r>
            <a:r>
              <a:rPr lang="en-US" b="1" dirty="0">
                <a:solidFill>
                  <a:srgbClr val="000000"/>
                </a:solidFill>
                <a:latin typeface="Aptos" panose="020B0004020202020204" pitchFamily="34" charset="0"/>
              </a:rPr>
              <a:t>MUST</a:t>
            </a:r>
            <a:r>
              <a:rPr lang="en-US" dirty="0">
                <a:solidFill>
                  <a:srgbClr val="000000"/>
                </a:solidFill>
                <a:latin typeface="Aptos" panose="020B0004020202020204" pitchFamily="34" charset="0"/>
              </a:rPr>
              <a:t> be the </a:t>
            </a:r>
            <a:r>
              <a:rPr lang="en-AU" dirty="0"/>
              <a:t>The </a:t>
            </a:r>
            <a:r>
              <a:rPr lang="en-AU" b="1" dirty="0"/>
              <a:t>United Nations Declaration on the Rights of Indigenous Peoples</a:t>
            </a:r>
            <a:r>
              <a:rPr lang="en-AU" dirty="0"/>
              <a:t> (</a:t>
            </a:r>
            <a:r>
              <a:rPr lang="en-AU" b="1" dirty="0"/>
              <a:t>UNDRIP</a:t>
            </a:r>
            <a:r>
              <a:rPr lang="en-AU" dirty="0"/>
              <a:t>) 2007.</a:t>
            </a:r>
            <a:endParaRPr lang="en-AU" dirty="0">
              <a:solidFill>
                <a:srgbClr val="000000"/>
              </a:solidFill>
              <a:latin typeface="Aptos" panose="020B0004020202020204" pitchFamily="34" charset="0"/>
            </a:endParaRPr>
          </a:p>
          <a:p>
            <a:pPr marR="179070" algn="just">
              <a:lnSpc>
                <a:spcPct val="107000"/>
              </a:lnSpc>
              <a:spcBef>
                <a:spcPts val="15"/>
              </a:spcBef>
              <a:spcAft>
                <a:spcPts val="1800"/>
              </a:spcAft>
              <a:tabLst>
                <a:tab pos="596900" algn="l"/>
              </a:tabLst>
              <a:defRPr/>
            </a:pPr>
            <a:r>
              <a:rPr lang="en-US" i="1" dirty="0">
                <a:solidFill>
                  <a:prstClr val="black"/>
                </a:solidFill>
                <a:latin typeface="Aptos" panose="02110004020202020204"/>
                <a:ea typeface="Symbol" panose="05050102010706020507" pitchFamily="18" charset="2"/>
                <a:cs typeface="Symbol" panose="05050102010706020507" pitchFamily="18" charset="2"/>
              </a:rPr>
              <a:t>Wikipedia, Creative</a:t>
            </a:r>
            <a:r>
              <a:rPr lang="en-US" i="1" spc="-5" dirty="0">
                <a:solidFill>
                  <a:prstClr val="black"/>
                </a:solidFill>
                <a:latin typeface="Aptos" panose="02110004020202020204"/>
                <a:ea typeface="Symbol" panose="05050102010706020507" pitchFamily="18" charset="2"/>
                <a:cs typeface="Symbol" panose="05050102010706020507" pitchFamily="18" charset="2"/>
              </a:rPr>
              <a:t> </a:t>
            </a:r>
            <a:r>
              <a:rPr lang="en-US" i="1" dirty="0">
                <a:solidFill>
                  <a:prstClr val="black"/>
                </a:solidFill>
                <a:latin typeface="Aptos" panose="02110004020202020204"/>
                <a:ea typeface="Symbol" panose="05050102010706020507" pitchFamily="18" charset="2"/>
                <a:cs typeface="Symbol" panose="05050102010706020507" pitchFamily="18" charset="2"/>
              </a:rPr>
              <a:t>Spirits </a:t>
            </a:r>
            <a:r>
              <a:rPr lang="en-US" dirty="0">
                <a:solidFill>
                  <a:prstClr val="black"/>
                </a:solidFill>
                <a:latin typeface="Aptos" panose="02110004020202020204"/>
                <a:ea typeface="Symbol" panose="05050102010706020507" pitchFamily="18" charset="2"/>
                <a:cs typeface="Symbol" panose="05050102010706020507" pitchFamily="18" charset="2"/>
              </a:rPr>
              <a:t>and or other such websites are </a:t>
            </a:r>
            <a:r>
              <a:rPr lang="en-US" b="1" u="sng" dirty="0">
                <a:solidFill>
                  <a:prstClr val="black"/>
                </a:solidFill>
                <a:latin typeface="Aptos" panose="02110004020202020204"/>
                <a:ea typeface="Symbol" panose="05050102010706020507" pitchFamily="18" charset="2"/>
                <a:cs typeface="Symbol" panose="05050102010706020507" pitchFamily="18" charset="2"/>
              </a:rPr>
              <a:t>not</a:t>
            </a:r>
            <a:r>
              <a:rPr lang="en-US" b="1"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acceptable scholarly reference material.</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L="0" indent="0">
              <a:buNone/>
            </a:pPr>
            <a:endParaRPr lang="en-AU" dirty="0"/>
          </a:p>
        </p:txBody>
      </p:sp>
    </p:spTree>
    <p:extLst>
      <p:ext uri="{BB962C8B-B14F-4D97-AF65-F5344CB8AC3E}">
        <p14:creationId xmlns:p14="http://schemas.microsoft.com/office/powerpoint/2010/main" val="3319991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06CAD-03AF-DE40-C030-5B6798C4E826}"/>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6E59E321-0308-E92C-A8D6-B7694859B9CC}"/>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EFA56C2F-0E1C-1F3E-F5B6-89DC3652E6AD}"/>
              </a:ext>
            </a:extLst>
          </p:cNvPr>
          <p:cNvSpPr>
            <a:spLocks noGrp="1"/>
          </p:cNvSpPr>
          <p:nvPr>
            <p:ph type="title"/>
          </p:nvPr>
        </p:nvSpPr>
        <p:spPr>
          <a:xfrm>
            <a:off x="838200" y="136525"/>
            <a:ext cx="10515600" cy="1035051"/>
          </a:xfrm>
        </p:spPr>
        <p:txBody>
          <a:bodyPr anchor="ctr">
            <a:normAutofit/>
          </a:bodyPr>
          <a:lstStyle/>
          <a:p>
            <a:r>
              <a:rPr lang="en-AU" dirty="0"/>
              <a:t>Other Requirements …</a:t>
            </a:r>
          </a:p>
        </p:txBody>
      </p:sp>
      <p:sp>
        <p:nvSpPr>
          <p:cNvPr id="13" name="Slide Number Placeholder 4">
            <a:extLst>
              <a:ext uri="{FF2B5EF4-FFF2-40B4-BE49-F238E27FC236}">
                <a16:creationId xmlns:a16="http://schemas.microsoft.com/office/drawing/2014/main" id="{99EB35DE-A837-BEDB-E460-80B8C57B99C9}"/>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7" name="Text Placeholder 4">
            <a:extLst>
              <a:ext uri="{FF2B5EF4-FFF2-40B4-BE49-F238E27FC236}">
                <a16:creationId xmlns:a16="http://schemas.microsoft.com/office/drawing/2014/main" id="{53BC2525-0C83-F8BA-DD21-FDB7E88259D4}"/>
              </a:ext>
            </a:extLst>
          </p:cNvPr>
          <p:cNvSpPr txBox="1">
            <a:spLocks/>
          </p:cNvSpPr>
          <p:nvPr/>
        </p:nvSpPr>
        <p:spPr>
          <a:xfrm>
            <a:off x="1081604" y="1683976"/>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Ensure you have attached your </a:t>
            </a:r>
            <a:r>
              <a:rPr kumimoji="0" lang="en-US" sz="2000" b="0" i="0" u="sng" strike="noStrike" kern="1200" cap="none" spc="0" normalizeH="0" baseline="0" noProof="0" dirty="0">
                <a:ln>
                  <a:noFill/>
                </a:ln>
                <a:solidFill>
                  <a:srgbClr val="171735"/>
                </a:solidFill>
                <a:effectLst/>
                <a:uLnTx/>
                <a:uFillTx/>
                <a:latin typeface="Calibri"/>
                <a:ea typeface="+mn-ea"/>
                <a:cs typeface="+mn-cs"/>
              </a:rPr>
              <a:t>signed and correctly completed</a:t>
            </a:r>
            <a:r>
              <a:rPr kumimoji="0" lang="en-US" sz="2000" b="0" i="0" u="none" strike="noStrike" kern="1200" cap="none" spc="0" normalizeH="0" baseline="0" noProof="0" dirty="0">
                <a:ln>
                  <a:noFill/>
                </a:ln>
                <a:solidFill>
                  <a:srgbClr val="171735"/>
                </a:solidFill>
                <a:effectLst/>
                <a:uLnTx/>
                <a:uFillTx/>
                <a:latin typeface="Calibri"/>
                <a:ea typeface="+mn-ea"/>
                <a:cs typeface="+mn-cs"/>
              </a:rPr>
              <a:t> </a:t>
            </a:r>
            <a:r>
              <a:rPr kumimoji="0" lang="en-US" sz="2000" b="1" i="0" u="none" strike="noStrike" kern="1200" cap="none" spc="0" normalizeH="0" baseline="0" noProof="0" dirty="0">
                <a:ln>
                  <a:noFill/>
                </a:ln>
                <a:solidFill>
                  <a:srgbClr val="171735"/>
                </a:solidFill>
                <a:effectLst/>
                <a:uLnTx/>
                <a:uFillTx/>
                <a:latin typeface="Calibri"/>
                <a:ea typeface="+mn-ea"/>
                <a:cs typeface="+mn-cs"/>
              </a:rPr>
              <a:t>Coversheet</a:t>
            </a:r>
            <a:r>
              <a:rPr kumimoji="0" lang="en-US" sz="2000" b="0" i="0" u="none" strike="noStrike" kern="1200" cap="none" spc="0" normalizeH="0" baseline="0" noProof="0" dirty="0">
                <a:ln>
                  <a:noFill/>
                </a:ln>
                <a:solidFill>
                  <a:srgbClr val="171735"/>
                </a:solidFill>
                <a:effectLst/>
                <a:uLnTx/>
                <a:uFillTx/>
                <a:latin typeface="Calibri"/>
                <a:ea typeface="+mn-ea"/>
                <a:cs typeface="+mn-cs"/>
              </a:rPr>
              <a:t> to the front of your assessment document prior to uploading your final submission.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Label your submission with your surname and initials, and the assessment task's name e.g. SmithJ_ShortResponse.docx</a:t>
            </a:r>
          </a:p>
          <a:p>
            <a:pPr marL="76200" marR="0" lvl="0" indent="-228600" algn="l" defTabSz="914400" rtl="0" eaLnBrk="1" fontAlgn="auto" latinLnBrk="0" hangingPunct="1">
              <a:lnSpc>
                <a:spcPct val="90000"/>
              </a:lnSpc>
              <a:spcBef>
                <a:spcPts val="1395"/>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You are required to use APA 7</a:t>
            </a:r>
            <a:r>
              <a:rPr kumimoji="0" lang="en-US" sz="2000" b="0" i="0" u="none" strike="noStrike" kern="1200" cap="none" spc="0" normalizeH="0" baseline="30000" noProof="0" dirty="0">
                <a:ln>
                  <a:noFill/>
                </a:ln>
                <a:solidFill>
                  <a:srgbClr val="171735"/>
                </a:solidFill>
                <a:effectLst/>
                <a:uLnTx/>
                <a:uFillTx/>
                <a:latin typeface="Calibri"/>
                <a:ea typeface="+mn-ea"/>
                <a:cs typeface="+mn-cs"/>
              </a:rPr>
              <a:t>th</a:t>
            </a:r>
            <a:r>
              <a:rPr kumimoji="0" lang="en-US" sz="2000" b="0" i="0" u="none" strike="noStrike" kern="1200" cap="none" spc="0" normalizeH="0" baseline="0" noProof="0" dirty="0">
                <a:ln>
                  <a:noFill/>
                </a:ln>
                <a:solidFill>
                  <a:srgbClr val="171735"/>
                </a:solidFill>
                <a:effectLst/>
                <a:uLnTx/>
                <a:uFillTx/>
                <a:latin typeface="Calibri"/>
                <a:ea typeface="+mn-ea"/>
                <a:cs typeface="+mn-cs"/>
              </a:rPr>
              <a:t> referencing style in this Unit formatting your document, citations, and references</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rPr>
              <a:t>Instead of a Header you MUST </a:t>
            </a:r>
            <a:r>
              <a:rPr kumimoji="0" lang="en-US" sz="2000" b="0" i="0" u="none" strike="noStrike" kern="1200" cap="none" spc="0" normalizeH="0" baseline="0" noProof="0" dirty="0">
                <a:ln>
                  <a:noFill/>
                </a:ln>
                <a:solidFill>
                  <a:srgbClr val="171735"/>
                </a:solidFill>
                <a:effectLst/>
                <a:uLnTx/>
                <a:uFillTx/>
                <a:latin typeface="Calibri"/>
                <a:ea typeface="+mn-ea"/>
                <a:cs typeface="+mn-cs"/>
              </a:rPr>
              <a:t>add a footer to your submission.</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 </a:t>
            </a:r>
            <a:endParaRPr kumimoji="0" lang="en-AU" sz="2000" b="0" i="0" u="none" strike="noStrike" kern="1200" cap="none" spc="0" normalizeH="0" baseline="0" noProof="0" dirty="0">
              <a:ln>
                <a:noFill/>
              </a:ln>
              <a:solidFill>
                <a:srgbClr val="171735"/>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171735"/>
                </a:solidFill>
                <a:effectLst/>
                <a:uLnTx/>
                <a:uFillTx/>
                <a:latin typeface="Calibri"/>
                <a:ea typeface="+mn-ea"/>
                <a:cs typeface="+mn-cs"/>
              </a:rPr>
              <a:t>Add your name and task type – i.e. </a:t>
            </a:r>
            <a:r>
              <a:rPr kumimoji="0" lang="en-US" sz="2000" b="0" i="0" u="none" strike="noStrike" kern="1200" cap="none" spc="0" normalizeH="0" baseline="0" noProof="0" dirty="0" err="1">
                <a:ln>
                  <a:noFill/>
                </a:ln>
                <a:solidFill>
                  <a:srgbClr val="171735"/>
                </a:solidFill>
                <a:effectLst/>
                <a:uLnTx/>
                <a:uFillTx/>
                <a:latin typeface="Calibri"/>
                <a:ea typeface="+mn-ea"/>
                <a:cs typeface="+mn-cs"/>
              </a:rPr>
              <a:t>SmithJ_ShortResponse</a:t>
            </a:r>
            <a:r>
              <a:rPr kumimoji="0" lang="en-US" sz="2000" b="0" i="0" u="none" strike="noStrike" kern="1200" cap="none" spc="0" normalizeH="0" baseline="0" noProof="0" dirty="0">
                <a:ln>
                  <a:noFill/>
                </a:ln>
                <a:solidFill>
                  <a:srgbClr val="171735"/>
                </a:solidFill>
                <a:effectLst/>
                <a:uLnTx/>
                <a:uFillTx/>
                <a:latin typeface="Calibri"/>
                <a:ea typeface="+mn-ea"/>
                <a:cs typeface="+mn-cs"/>
              </a:rPr>
              <a:t> on left margin, your student ID, and have page number on the right margin e.g.</a:t>
            </a:r>
          </a:p>
          <a:p>
            <a:pPr marL="228600" marR="0" lvl="0" indent="-228600" algn="l" defTabSz="914400" rtl="0" eaLnBrk="1" fontAlgn="auto" latinLnBrk="0" hangingPunct="1">
              <a:lnSpc>
                <a:spcPct val="90000"/>
              </a:lnSpc>
              <a:spcBef>
                <a:spcPts val="1000"/>
              </a:spcBef>
              <a:spcAft>
                <a:spcPts val="0"/>
              </a:spcAft>
              <a:buClr>
                <a:srgbClr val="171735">
                  <a:lumMod val="75000"/>
                  <a:lumOff val="25000"/>
                </a:srgbClr>
              </a:buClr>
              <a:buSzTx/>
              <a:buFont typeface="Arial" panose="020B0604020202020204" pitchFamily="34" charset="0"/>
              <a:buChar char="•"/>
              <a:tabLst/>
              <a:defRPr/>
            </a:pPr>
            <a:endParaRPr kumimoji="0" lang="en-AU" sz="2000" b="0" i="0" u="none" strike="noStrike" kern="1200" cap="none" spc="0" normalizeH="0" baseline="0" noProof="0" dirty="0">
              <a:ln>
                <a:noFill/>
              </a:ln>
              <a:solidFill>
                <a:srgbClr val="171735"/>
              </a:solidFill>
              <a:effectLst/>
              <a:uLnTx/>
              <a:uFillTx/>
              <a:latin typeface="Calibri" panose="020F0502020204030204" pitchFamily="34" charset="0"/>
              <a:ea typeface="Calibri" panose="020F0502020204030204" pitchFamily="34" charset="0"/>
              <a:cs typeface="+mn-cs"/>
            </a:endParaRPr>
          </a:p>
        </p:txBody>
      </p:sp>
      <p:pic>
        <p:nvPicPr>
          <p:cNvPr id="8" name="Picture 1">
            <a:extLst>
              <a:ext uri="{FF2B5EF4-FFF2-40B4-BE49-F238E27FC236}">
                <a16:creationId xmlns:a16="http://schemas.microsoft.com/office/drawing/2014/main" id="{F6B8689F-DA2A-DE27-6503-2F75787A8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326" y="5491701"/>
            <a:ext cx="5951538" cy="44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47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3A73-523B-E43A-1757-4C83858327AF}"/>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66E0C61F-CC8A-AF13-DB6B-4312A02224FA}"/>
              </a:ext>
            </a:extLst>
          </p:cNvPr>
          <p:cNvPicPr>
            <a:picLocks noChangeAspect="1"/>
          </p:cNvPicPr>
          <p:nvPr/>
        </p:nvPicPr>
        <p:blipFill>
          <a:blip r:embed="rId3"/>
          <a:srcRect b="15730"/>
          <a:stretch/>
        </p:blipFill>
        <p:spPr>
          <a:xfrm>
            <a:off x="-4" y="10"/>
            <a:ext cx="12192000" cy="6857990"/>
          </a:xfrm>
          <a:prstGeom prst="rect">
            <a:avLst/>
          </a:prstGeom>
        </p:spPr>
      </p:pic>
      <p:sp>
        <p:nvSpPr>
          <p:cNvPr id="5" name="Title 1">
            <a:extLst>
              <a:ext uri="{FF2B5EF4-FFF2-40B4-BE49-F238E27FC236}">
                <a16:creationId xmlns:a16="http://schemas.microsoft.com/office/drawing/2014/main" id="{335F71C2-FBE3-1DCC-7A4E-217E7681D62C}"/>
              </a:ext>
            </a:extLst>
          </p:cNvPr>
          <p:cNvSpPr txBox="1">
            <a:spLocks/>
          </p:cNvSpPr>
          <p:nvPr/>
        </p:nvSpPr>
        <p:spPr>
          <a:xfrm>
            <a:off x="499533" y="2252776"/>
            <a:ext cx="4597401" cy="186202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Baskerville" panose="02020502070401020303" pitchFamily="18" charset="0"/>
                <a:ea typeface="Baskerville" panose="02020502070401020303" pitchFamily="18"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200" b="0" i="0" u="none" strike="noStrike" kern="1200" cap="none" spc="0" normalizeH="0" baseline="0" noProof="0" dirty="0">
                <a:ln>
                  <a:noFill/>
                </a:ln>
                <a:solidFill>
                  <a:srgbClr val="4A3A1C"/>
                </a:solidFill>
                <a:effectLst/>
                <a:uLnTx/>
                <a:uFillTx/>
                <a:latin typeface="Baskerville" panose="02020502070401020303" pitchFamily="18" charset="0"/>
                <a:cs typeface="+mj-cs"/>
              </a:rPr>
              <a:t>Assessment 1 Resources &amp; Other Requirements</a:t>
            </a:r>
          </a:p>
        </p:txBody>
      </p:sp>
      <p:pic>
        <p:nvPicPr>
          <p:cNvPr id="2" name="Picture 1">
            <a:extLst>
              <a:ext uri="{FF2B5EF4-FFF2-40B4-BE49-F238E27FC236}">
                <a16:creationId xmlns:a16="http://schemas.microsoft.com/office/drawing/2014/main" id="{37EEF71D-0E29-B92F-CE98-AFC06D7EE55D}"/>
              </a:ext>
            </a:extLst>
          </p:cNvPr>
          <p:cNvPicPr>
            <a:picLocks noChangeAspect="1"/>
          </p:cNvPicPr>
          <p:nvPr/>
        </p:nvPicPr>
        <p:blipFill>
          <a:blip r:embed="rId4"/>
          <a:stretch>
            <a:fillRect/>
          </a:stretch>
        </p:blipFill>
        <p:spPr>
          <a:xfrm>
            <a:off x="5480168" y="0"/>
            <a:ext cx="5961363" cy="6857990"/>
          </a:xfrm>
          <a:prstGeom prst="rect">
            <a:avLst/>
          </a:prstGeom>
        </p:spPr>
      </p:pic>
    </p:spTree>
    <p:extLst>
      <p:ext uri="{BB962C8B-B14F-4D97-AF65-F5344CB8AC3E}">
        <p14:creationId xmlns:p14="http://schemas.microsoft.com/office/powerpoint/2010/main" val="1146579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0361C-5683-72D9-E389-F2CA32A6385C}"/>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F2C3703E-181F-6FF8-6887-0DF4D74A280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91DD821-F5BB-3687-E736-552577E8D8A5}"/>
              </a:ext>
            </a:extLst>
          </p:cNvPr>
          <p:cNvSpPr txBox="1">
            <a:spLocks/>
          </p:cNvSpPr>
          <p:nvPr/>
        </p:nvSpPr>
        <p:spPr>
          <a:xfrm>
            <a:off x="380996" y="-39867"/>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Assessment Coversheet &amp; Declaration</a:t>
            </a:r>
          </a:p>
        </p:txBody>
      </p:sp>
      <p:pic>
        <p:nvPicPr>
          <p:cNvPr id="5" name="Picture 4">
            <a:extLst>
              <a:ext uri="{FF2B5EF4-FFF2-40B4-BE49-F238E27FC236}">
                <a16:creationId xmlns:a16="http://schemas.microsoft.com/office/drawing/2014/main" id="{F3983F16-E0EF-F4DB-45D9-C37F7C78AE10}"/>
              </a:ext>
            </a:extLst>
          </p:cNvPr>
          <p:cNvPicPr>
            <a:picLocks noChangeAspect="1"/>
          </p:cNvPicPr>
          <p:nvPr/>
        </p:nvPicPr>
        <p:blipFill>
          <a:blip r:embed="rId4"/>
          <a:stretch>
            <a:fillRect/>
          </a:stretch>
        </p:blipFill>
        <p:spPr>
          <a:xfrm>
            <a:off x="2030896" y="1285696"/>
            <a:ext cx="7937513" cy="5266871"/>
          </a:xfrm>
          <a:prstGeom prst="rect">
            <a:avLst/>
          </a:prstGeom>
        </p:spPr>
      </p:pic>
    </p:spTree>
    <p:extLst>
      <p:ext uri="{BB962C8B-B14F-4D97-AF65-F5344CB8AC3E}">
        <p14:creationId xmlns:p14="http://schemas.microsoft.com/office/powerpoint/2010/main" val="32907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90DC0B-F8E8-5947-A0EB-4D2D9C6AC5B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B5B7232-85BB-4414-A179-E092BB02C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ndview Display"/>
              <a:ea typeface="+mn-ea"/>
              <a:cs typeface="+mn-cs"/>
            </a:endParaRPr>
          </a:p>
        </p:txBody>
      </p:sp>
      <p:pic>
        <p:nvPicPr>
          <p:cNvPr id="10" name="Picture 9" descr="Colorful wavy concept">
            <a:extLst>
              <a:ext uri="{FF2B5EF4-FFF2-40B4-BE49-F238E27FC236}">
                <a16:creationId xmlns:a16="http://schemas.microsoft.com/office/drawing/2014/main" id="{4BE347AE-4A7A-3A12-FBFC-1D7871EADF90}"/>
              </a:ext>
            </a:extLst>
          </p:cNvPr>
          <p:cNvPicPr>
            <a:picLocks noChangeAspect="1"/>
          </p:cNvPicPr>
          <p:nvPr/>
        </p:nvPicPr>
        <p:blipFill>
          <a:blip r:embed="rId3"/>
          <a:srcRect b="15730"/>
          <a:stretch/>
        </p:blipFill>
        <p:spPr>
          <a:xfrm>
            <a:off x="0" y="10"/>
            <a:ext cx="12192000" cy="6857990"/>
          </a:xfrm>
          <a:prstGeom prst="rect">
            <a:avLst/>
          </a:prstGeom>
        </p:spPr>
      </p:pic>
      <p:sp>
        <p:nvSpPr>
          <p:cNvPr id="3" name="Title 1">
            <a:extLst>
              <a:ext uri="{FF2B5EF4-FFF2-40B4-BE49-F238E27FC236}">
                <a16:creationId xmlns:a16="http://schemas.microsoft.com/office/drawing/2014/main" id="{58D3F8DD-DD55-A160-47C3-2F3EB168742F}"/>
              </a:ext>
            </a:extLst>
          </p:cNvPr>
          <p:cNvSpPr txBox="1">
            <a:spLocks/>
          </p:cNvSpPr>
          <p:nvPr/>
        </p:nvSpPr>
        <p:spPr>
          <a:xfrm>
            <a:off x="0" y="1976931"/>
            <a:ext cx="3452275" cy="31877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4400" kern="1200">
                <a:solidFill>
                  <a:schemeClr val="accent3"/>
                </a:solidFill>
                <a:latin typeface="Baskerville" panose="02020502070401020303" pitchFamily="18" charset="0"/>
                <a:ea typeface="Baskerville" panose="02020502070401020303" pitchFamily="18" charset="0"/>
                <a:cs typeface="+mj-cs"/>
              </a:defRPr>
            </a:lvl1pPr>
          </a:lstStyle>
          <a:p>
            <a:pPr marL="0" marR="0" lvl="0" indent="0" algn="r" defTabSz="914400" rtl="0" eaLnBrk="1" fontAlgn="auto" latinLnBrk="0" hangingPunct="1">
              <a:lnSpc>
                <a:spcPct val="110000"/>
              </a:lnSpc>
              <a:spcBef>
                <a:spcPct val="0"/>
              </a:spcBef>
              <a:spcAft>
                <a:spcPts val="600"/>
              </a:spcAft>
              <a:buClrTx/>
              <a:buSzTx/>
              <a:buFontTx/>
              <a:buNone/>
              <a:tabLst/>
              <a:defRPr/>
            </a:pPr>
            <a:r>
              <a:rPr kumimoji="0" lang="en-US" sz="2800" b="0" i="0" u="none" strike="noStrike" kern="1200" cap="all" spc="300" normalizeH="0" baseline="0" noProof="0" dirty="0">
                <a:ln>
                  <a:noFill/>
                </a:ln>
                <a:solidFill>
                  <a:srgbClr val="FFFFFF"/>
                </a:solidFill>
                <a:effectLst/>
                <a:highlight>
                  <a:srgbClr val="000000"/>
                </a:highlight>
                <a:uLnTx/>
                <a:uFillTx/>
                <a:latin typeface="Grandview"/>
                <a:ea typeface="+mj-ea"/>
                <a:cs typeface="+mj-cs"/>
              </a:rPr>
              <a:t>APA 7</a:t>
            </a:r>
            <a:r>
              <a:rPr kumimoji="0" lang="en-US" sz="2800" b="0" i="0" u="none" strike="noStrike" kern="1200" cap="all" spc="300" normalizeH="0" baseline="30000" noProof="0" dirty="0">
                <a:ln>
                  <a:noFill/>
                </a:ln>
                <a:solidFill>
                  <a:srgbClr val="FFFFFF"/>
                </a:solidFill>
                <a:effectLst/>
                <a:highlight>
                  <a:srgbClr val="000000"/>
                </a:highlight>
                <a:uLnTx/>
                <a:uFillTx/>
                <a:latin typeface="Grandview"/>
                <a:ea typeface="+mj-ea"/>
                <a:cs typeface="+mj-cs"/>
              </a:rPr>
              <a:t>th</a:t>
            </a:r>
            <a:r>
              <a:rPr kumimoji="0" lang="en-US" sz="2800" b="0" i="0" u="none" strike="noStrike" kern="1200" cap="all" spc="300" normalizeH="0" baseline="0" noProof="0" dirty="0">
                <a:ln>
                  <a:noFill/>
                </a:ln>
                <a:solidFill>
                  <a:srgbClr val="FFFFFF"/>
                </a:solidFill>
                <a:effectLst/>
                <a:highlight>
                  <a:srgbClr val="000000"/>
                </a:highlight>
                <a:uLnTx/>
                <a:uFillTx/>
                <a:latin typeface="Grandview"/>
                <a:ea typeface="+mj-ea"/>
                <a:cs typeface="+mj-cs"/>
              </a:rPr>
              <a:t> Formatting your Document</a:t>
            </a:r>
          </a:p>
        </p:txBody>
      </p:sp>
      <p:pic>
        <p:nvPicPr>
          <p:cNvPr id="11" name="Picture 10">
            <a:extLst>
              <a:ext uri="{FF2B5EF4-FFF2-40B4-BE49-F238E27FC236}">
                <a16:creationId xmlns:a16="http://schemas.microsoft.com/office/drawing/2014/main" id="{7CBC9286-6AE8-9A43-481F-5F9D4DEAA49E}"/>
              </a:ext>
            </a:extLst>
          </p:cNvPr>
          <p:cNvPicPr>
            <a:picLocks noChangeAspect="1"/>
          </p:cNvPicPr>
          <p:nvPr/>
        </p:nvPicPr>
        <p:blipFill>
          <a:blip r:embed="rId4"/>
          <a:stretch>
            <a:fillRect/>
          </a:stretch>
        </p:blipFill>
        <p:spPr>
          <a:xfrm>
            <a:off x="5537200" y="5284"/>
            <a:ext cx="6646121" cy="6852716"/>
          </a:xfrm>
          <a:prstGeom prst="rect">
            <a:avLst/>
          </a:prstGeom>
        </p:spPr>
      </p:pic>
    </p:spTree>
    <p:extLst>
      <p:ext uri="{BB962C8B-B14F-4D97-AF65-F5344CB8AC3E}">
        <p14:creationId xmlns:p14="http://schemas.microsoft.com/office/powerpoint/2010/main" val="104852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5419D-D55D-BF30-810D-8ADC8E2826C6}"/>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FF90FED1-6595-1CA0-BAB1-DC3C88D5B401}"/>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A6A5785-AA86-1B4E-EA5A-001B30A6B97C}"/>
              </a:ext>
            </a:extLst>
          </p:cNvPr>
          <p:cNvSpPr txBox="1">
            <a:spLocks/>
          </p:cNvSpPr>
          <p:nvPr/>
        </p:nvSpPr>
        <p:spPr>
          <a:xfrm>
            <a:off x="381000" y="381000"/>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GNIBI GenAI use</a:t>
            </a:r>
          </a:p>
        </p:txBody>
      </p:sp>
      <p:sp>
        <p:nvSpPr>
          <p:cNvPr id="8" name="Content Placeholder 4">
            <a:extLst>
              <a:ext uri="{FF2B5EF4-FFF2-40B4-BE49-F238E27FC236}">
                <a16:creationId xmlns:a16="http://schemas.microsoft.com/office/drawing/2014/main" id="{5EE6868A-2715-41C7-78B8-EC95FAFF1787}"/>
              </a:ext>
            </a:extLst>
          </p:cNvPr>
          <p:cNvSpPr txBox="1">
            <a:spLocks/>
          </p:cNvSpPr>
          <p:nvPr/>
        </p:nvSpPr>
        <p:spPr>
          <a:xfrm>
            <a:off x="184146" y="2178145"/>
            <a:ext cx="11823700" cy="42082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7000"/>
              </a:lnSpc>
              <a:spcBef>
                <a:spcPts val="1000"/>
              </a:spcBef>
              <a:spcAft>
                <a:spcPts val="800"/>
              </a:spcAft>
              <a:buClr>
                <a:srgbClr val="73292A"/>
              </a:buClr>
              <a:buSzTx/>
              <a:buFont typeface="Arial" panose="020B0604020202020204" pitchFamily="34" charset="0"/>
              <a:buChar char="•"/>
              <a:tabLst/>
              <a:defRPr/>
            </a:pPr>
            <a:r>
              <a:rPr kumimoji="0" lang="en-AU" sz="1100" b="0" i="0" u="none" strike="noStrike" kern="1200" cap="none" spc="0" normalizeH="0" baseline="0" noProof="0" dirty="0">
                <a:ln>
                  <a:noFill/>
                </a:ln>
                <a:solidFill>
                  <a:srgbClr val="4A3A1C"/>
                </a:solidFill>
                <a:effectLst/>
                <a:uLnTx/>
                <a:uFillTx/>
                <a:latin typeface="Aptos" panose="020B0004020202020204" pitchFamily="34" charset="0"/>
                <a:ea typeface="Aptos" panose="020B0004020202020204" pitchFamily="34" charset="0"/>
                <a:cs typeface="Times New Roman" panose="02020603050405020304" pitchFamily="18" charset="0"/>
              </a:rPr>
              <a:t> </a:t>
            </a: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In Gnibi College units, the use of GenAI in assessments is generally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restricted</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to protect the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integrity and authenticity of the learning process.</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Indigenous Knowledges are grounded in lived experience, cultural practices, and relational ways of knowing. Engaging meaningfully with these knowledges requires personal reflection, respectful interpretation, and a commitment to culturally responsive learning, something that cannot be authentically achieved through AI-generated content.</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Generative Artificial Intelligence (GenAI) tools, such as ChatGPT,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may not be used </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for this Assessment Task. </a:t>
            </a: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You must demonstrate that you have developed the required knowledge and skills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independently</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without the assistance of GenAI tools. </a:t>
            </a:r>
            <a:r>
              <a:rPr kumimoji="0" lang="en-US" sz="2000" b="1" i="0" u="none" strike="noStrike" kern="1200" cap="none" spc="0" normalizeH="0" baseline="0" noProof="0" dirty="0" err="1">
                <a:ln>
                  <a:noFill/>
                </a:ln>
                <a:solidFill>
                  <a:srgbClr val="4A3A1C"/>
                </a:solidFill>
                <a:effectLst/>
                <a:uLnTx/>
                <a:uFillTx/>
                <a:latin typeface="Gill Sans Nova Light"/>
                <a:ea typeface="+mn-ea"/>
                <a:cs typeface="+mn-cs"/>
              </a:rPr>
              <a:t>Unauthorised</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 use of GenAI</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may be considered a breach of academic integrity under the Student Academic and Non-Academic Misconduct Rules (Section 3).’</a:t>
            </a: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ctr"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800" b="0" i="0" u="none" strike="noStrike" kern="1200" cap="none" spc="0" normalizeH="0" baseline="0" noProof="0" dirty="0">
              <a:ln>
                <a:noFill/>
              </a:ln>
              <a:solidFill>
                <a:srgbClr val="000000"/>
              </a:solidFill>
              <a:effectLst/>
              <a:uLnTx/>
              <a:uFillTx/>
              <a:latin typeface="Gill Sans Nova Light"/>
              <a:ea typeface="+mn-ea"/>
              <a:cs typeface="+mn-cs"/>
            </a:endParaRPr>
          </a:p>
        </p:txBody>
      </p:sp>
      <p:pic>
        <p:nvPicPr>
          <p:cNvPr id="3" name="Picture 2">
            <a:extLst>
              <a:ext uri="{FF2B5EF4-FFF2-40B4-BE49-F238E27FC236}">
                <a16:creationId xmlns:a16="http://schemas.microsoft.com/office/drawing/2014/main" id="{5E607BD6-99B7-26C3-E56D-757C8C265E82}"/>
              </a:ext>
            </a:extLst>
          </p:cNvPr>
          <p:cNvPicPr>
            <a:picLocks noChangeAspect="1"/>
          </p:cNvPicPr>
          <p:nvPr/>
        </p:nvPicPr>
        <p:blipFill>
          <a:blip r:embed="rId4"/>
          <a:stretch>
            <a:fillRect/>
          </a:stretch>
        </p:blipFill>
        <p:spPr>
          <a:xfrm>
            <a:off x="2791608" y="3520215"/>
            <a:ext cx="7077041" cy="1524132"/>
          </a:xfrm>
          <a:prstGeom prst="rect">
            <a:avLst/>
          </a:prstGeom>
        </p:spPr>
      </p:pic>
    </p:spTree>
    <p:extLst>
      <p:ext uri="{BB962C8B-B14F-4D97-AF65-F5344CB8AC3E}">
        <p14:creationId xmlns:p14="http://schemas.microsoft.com/office/powerpoint/2010/main" val="73973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8C9F5-4DBD-FA38-8514-2ABFA8E0D4FD}"/>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65E6C347-33AE-0278-1F8C-8298BB2379C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951FDCFB-F7E4-A34C-10F8-4211CC67385E}"/>
              </a:ext>
            </a:extLst>
          </p:cNvPr>
          <p:cNvSpPr txBox="1">
            <a:spLocks/>
          </p:cNvSpPr>
          <p:nvPr/>
        </p:nvSpPr>
        <p:spPr>
          <a:xfrm>
            <a:off x="381000" y="381000"/>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INDG6002 GenAI use</a:t>
            </a:r>
          </a:p>
        </p:txBody>
      </p:sp>
      <p:pic>
        <p:nvPicPr>
          <p:cNvPr id="6" name="Picture 5">
            <a:extLst>
              <a:ext uri="{FF2B5EF4-FFF2-40B4-BE49-F238E27FC236}">
                <a16:creationId xmlns:a16="http://schemas.microsoft.com/office/drawing/2014/main" id="{D0BC9E7F-D965-D7DB-6BD7-603DC1DD8C75}"/>
              </a:ext>
            </a:extLst>
          </p:cNvPr>
          <p:cNvPicPr>
            <a:picLocks noChangeAspect="1"/>
          </p:cNvPicPr>
          <p:nvPr/>
        </p:nvPicPr>
        <p:blipFill>
          <a:blip r:embed="rId4"/>
          <a:stretch>
            <a:fillRect/>
          </a:stretch>
        </p:blipFill>
        <p:spPr>
          <a:xfrm>
            <a:off x="2090690" y="1482601"/>
            <a:ext cx="8010620" cy="5152115"/>
          </a:xfrm>
          <a:prstGeom prst="rect">
            <a:avLst/>
          </a:prstGeom>
        </p:spPr>
      </p:pic>
    </p:spTree>
    <p:extLst>
      <p:ext uri="{BB962C8B-B14F-4D97-AF65-F5344CB8AC3E}">
        <p14:creationId xmlns:p14="http://schemas.microsoft.com/office/powerpoint/2010/main" val="2701238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EFE1-14F3-AE5D-8E0C-D5114CA30E3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4987404-87FE-E99B-F595-AE74CBA598BB}"/>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6FBCFBA-C293-C50F-AB07-9E7407ADA9A7}"/>
              </a:ext>
            </a:extLst>
          </p:cNvPr>
          <p:cNvSpPr>
            <a:spLocks noGrp="1"/>
          </p:cNvSpPr>
          <p:nvPr>
            <p:ph type="title"/>
          </p:nvPr>
        </p:nvSpPr>
        <p:spPr>
          <a:xfrm>
            <a:off x="838200" y="136525"/>
            <a:ext cx="10515600" cy="1035051"/>
          </a:xfrm>
        </p:spPr>
        <p:txBody>
          <a:bodyPr anchor="ctr">
            <a:normAutofit/>
          </a:bodyPr>
          <a:lstStyle/>
          <a:p>
            <a:r>
              <a:rPr lang="en-AU" dirty="0"/>
              <a:t>Assessment 1 Rubric </a:t>
            </a:r>
            <a:r>
              <a:rPr lang="en-AU"/>
              <a:t>– Criterion 1 </a:t>
            </a:r>
            <a:endParaRPr lang="en-AU" dirty="0"/>
          </a:p>
        </p:txBody>
      </p:sp>
      <p:sp>
        <p:nvSpPr>
          <p:cNvPr id="13" name="Slide Number Placeholder 4">
            <a:extLst>
              <a:ext uri="{FF2B5EF4-FFF2-40B4-BE49-F238E27FC236}">
                <a16:creationId xmlns:a16="http://schemas.microsoft.com/office/drawing/2014/main" id="{C5ED2A3F-A8F7-A58A-8A06-B6C97F323208}"/>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5" name="Content Placeholder 4">
            <a:extLst>
              <a:ext uri="{FF2B5EF4-FFF2-40B4-BE49-F238E27FC236}">
                <a16:creationId xmlns:a16="http://schemas.microsoft.com/office/drawing/2014/main" id="{F041713E-2913-4800-44D7-5945D80F0C90}"/>
              </a:ext>
            </a:extLst>
          </p:cNvPr>
          <p:cNvSpPr>
            <a:spLocks noGrp="1"/>
          </p:cNvSpPr>
          <p:nvPr>
            <p:ph idx="1"/>
          </p:nvPr>
        </p:nvSpPr>
        <p:spPr/>
        <p:txBody>
          <a:bodyPr/>
          <a:lstStyle/>
          <a:p>
            <a:endParaRPr lang="en-AU"/>
          </a:p>
        </p:txBody>
      </p:sp>
      <p:pic>
        <p:nvPicPr>
          <p:cNvPr id="6" name="Picture 5">
            <a:extLst>
              <a:ext uri="{FF2B5EF4-FFF2-40B4-BE49-F238E27FC236}">
                <a16:creationId xmlns:a16="http://schemas.microsoft.com/office/drawing/2014/main" id="{F5EDD6E7-A811-D98D-1CB9-510FD7D6A392}"/>
              </a:ext>
            </a:extLst>
          </p:cNvPr>
          <p:cNvPicPr>
            <a:picLocks noChangeAspect="1"/>
          </p:cNvPicPr>
          <p:nvPr/>
        </p:nvPicPr>
        <p:blipFill>
          <a:blip r:embed="rId4"/>
          <a:stretch>
            <a:fillRect/>
          </a:stretch>
        </p:blipFill>
        <p:spPr>
          <a:xfrm>
            <a:off x="106633" y="1463675"/>
            <a:ext cx="11844575" cy="4915500"/>
          </a:xfrm>
          <a:prstGeom prst="rect">
            <a:avLst/>
          </a:prstGeom>
          <a:noFill/>
        </p:spPr>
      </p:pic>
    </p:spTree>
    <p:extLst>
      <p:ext uri="{BB962C8B-B14F-4D97-AF65-F5344CB8AC3E}">
        <p14:creationId xmlns:p14="http://schemas.microsoft.com/office/powerpoint/2010/main" val="4008190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4898-A8D8-D3BD-5CF8-01A31E6693A7}"/>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5E8AE044-8358-0210-C5CB-1810D5B86CC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D51A160F-70C8-D8FE-1E73-FB8A635FA002}"/>
              </a:ext>
            </a:extLst>
          </p:cNvPr>
          <p:cNvSpPr>
            <a:spLocks noGrp="1"/>
          </p:cNvSpPr>
          <p:nvPr>
            <p:ph type="title"/>
          </p:nvPr>
        </p:nvSpPr>
        <p:spPr>
          <a:xfrm>
            <a:off x="838200" y="136525"/>
            <a:ext cx="10515600" cy="1035051"/>
          </a:xfrm>
        </p:spPr>
        <p:txBody>
          <a:bodyPr anchor="ctr">
            <a:normAutofit/>
          </a:bodyPr>
          <a:lstStyle/>
          <a:p>
            <a:r>
              <a:rPr lang="en-AU" dirty="0"/>
              <a:t>Assessment 1 Rubric – Criterion 2 </a:t>
            </a:r>
          </a:p>
        </p:txBody>
      </p:sp>
      <p:sp>
        <p:nvSpPr>
          <p:cNvPr id="13" name="Slide Number Placeholder 4">
            <a:extLst>
              <a:ext uri="{FF2B5EF4-FFF2-40B4-BE49-F238E27FC236}">
                <a16:creationId xmlns:a16="http://schemas.microsoft.com/office/drawing/2014/main" id="{54CB44D3-5719-05E9-C591-269562FC41B9}"/>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4" name="Picture 3">
            <a:extLst>
              <a:ext uri="{FF2B5EF4-FFF2-40B4-BE49-F238E27FC236}">
                <a16:creationId xmlns:a16="http://schemas.microsoft.com/office/drawing/2014/main" id="{763CD4EA-0658-1962-7CCD-D22C76FF14D8}"/>
              </a:ext>
            </a:extLst>
          </p:cNvPr>
          <p:cNvPicPr>
            <a:picLocks noChangeAspect="1"/>
          </p:cNvPicPr>
          <p:nvPr/>
        </p:nvPicPr>
        <p:blipFill>
          <a:blip r:embed="rId4"/>
          <a:stretch>
            <a:fillRect/>
          </a:stretch>
        </p:blipFill>
        <p:spPr>
          <a:xfrm>
            <a:off x="275625" y="1859333"/>
            <a:ext cx="11374507" cy="3014244"/>
          </a:xfrm>
          <a:prstGeom prst="rect">
            <a:avLst/>
          </a:prstGeom>
          <a:noFill/>
        </p:spPr>
      </p:pic>
    </p:spTree>
    <p:extLst>
      <p:ext uri="{BB962C8B-B14F-4D97-AF65-F5344CB8AC3E}">
        <p14:creationId xmlns:p14="http://schemas.microsoft.com/office/powerpoint/2010/main" val="1497000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13BB6-ECF4-372A-CAE4-15D28B522A9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2EDD4CD-4C83-9647-AB40-C89ABE7D89E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69E112F8-281F-59A0-6282-E09CEAEAB740}"/>
              </a:ext>
            </a:extLst>
          </p:cNvPr>
          <p:cNvSpPr>
            <a:spLocks noGrp="1"/>
          </p:cNvSpPr>
          <p:nvPr>
            <p:ph type="title"/>
          </p:nvPr>
        </p:nvSpPr>
        <p:spPr>
          <a:xfrm>
            <a:off x="838200" y="136525"/>
            <a:ext cx="10515600" cy="1035051"/>
          </a:xfrm>
        </p:spPr>
        <p:txBody>
          <a:bodyPr anchor="ctr">
            <a:normAutofit/>
          </a:bodyPr>
          <a:lstStyle/>
          <a:p>
            <a:r>
              <a:rPr lang="en-AU" dirty="0"/>
              <a:t>Assessment 1 Rubric – Criterion 3</a:t>
            </a:r>
          </a:p>
        </p:txBody>
      </p:sp>
      <p:sp>
        <p:nvSpPr>
          <p:cNvPr id="13" name="Slide Number Placeholder 4">
            <a:extLst>
              <a:ext uri="{FF2B5EF4-FFF2-40B4-BE49-F238E27FC236}">
                <a16:creationId xmlns:a16="http://schemas.microsoft.com/office/drawing/2014/main" id="{8A28CAD5-66B9-6608-494E-E8E57088FD72}"/>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6" name="Picture 5">
            <a:extLst>
              <a:ext uri="{FF2B5EF4-FFF2-40B4-BE49-F238E27FC236}">
                <a16:creationId xmlns:a16="http://schemas.microsoft.com/office/drawing/2014/main" id="{46A9A4B8-20A8-EE26-C6AF-2FB4A72F2DDC}"/>
              </a:ext>
            </a:extLst>
          </p:cNvPr>
          <p:cNvPicPr>
            <a:picLocks noChangeAspect="1"/>
          </p:cNvPicPr>
          <p:nvPr/>
        </p:nvPicPr>
        <p:blipFill>
          <a:blip r:embed="rId4"/>
          <a:stretch>
            <a:fillRect/>
          </a:stretch>
        </p:blipFill>
        <p:spPr>
          <a:xfrm>
            <a:off x="440097" y="1572865"/>
            <a:ext cx="11311797" cy="3712269"/>
          </a:xfrm>
          <a:prstGeom prst="rect">
            <a:avLst/>
          </a:prstGeom>
        </p:spPr>
      </p:pic>
    </p:spTree>
    <p:extLst>
      <p:ext uri="{BB962C8B-B14F-4D97-AF65-F5344CB8AC3E}">
        <p14:creationId xmlns:p14="http://schemas.microsoft.com/office/powerpoint/2010/main" val="920607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847E-C546-847A-52D5-3E0140C6B62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20A253C2-2358-C70B-0D36-846202751767}"/>
              </a:ext>
            </a:extLst>
          </p:cNvPr>
          <p:cNvPicPr>
            <a:picLocks noChangeAspect="1"/>
          </p:cNvPicPr>
          <p:nvPr/>
        </p:nvPicPr>
        <p:blipFill>
          <a:blip r:embed="rId3"/>
          <a:srcRect b="15730"/>
          <a:stretch/>
        </p:blipFill>
        <p:spPr>
          <a:xfrm>
            <a:off x="-4" y="10"/>
            <a:ext cx="12192000" cy="6857990"/>
          </a:xfrm>
          <a:prstGeom prst="rect">
            <a:avLst/>
          </a:prstGeom>
        </p:spPr>
      </p:pic>
      <p:pic>
        <p:nvPicPr>
          <p:cNvPr id="4" name="Picture 3" descr="Colorful wavy concept">
            <a:extLst>
              <a:ext uri="{FF2B5EF4-FFF2-40B4-BE49-F238E27FC236}">
                <a16:creationId xmlns:a16="http://schemas.microsoft.com/office/drawing/2014/main" id="{5D1650AD-223B-6642-65E5-89B81B98EAF6}"/>
              </a:ext>
            </a:extLst>
          </p:cNvPr>
          <p:cNvPicPr>
            <a:picLocks noChangeAspect="1"/>
          </p:cNvPicPr>
          <p:nvPr/>
        </p:nvPicPr>
        <p:blipFill>
          <a:blip r:embed="rId3"/>
          <a:srcRect b="15730"/>
          <a:stretch/>
        </p:blipFill>
        <p:spPr>
          <a:xfrm>
            <a:off x="152396" y="152410"/>
            <a:ext cx="12192000" cy="6857990"/>
          </a:xfrm>
          <a:prstGeom prst="rect">
            <a:avLst/>
          </a:prstGeom>
        </p:spPr>
      </p:pic>
      <p:sp>
        <p:nvSpPr>
          <p:cNvPr id="2" name="Title 1">
            <a:extLst>
              <a:ext uri="{FF2B5EF4-FFF2-40B4-BE49-F238E27FC236}">
                <a16:creationId xmlns:a16="http://schemas.microsoft.com/office/drawing/2014/main" id="{9FEB957C-1EAA-8655-588F-ED6B3A98CF8A}"/>
              </a:ext>
            </a:extLst>
          </p:cNvPr>
          <p:cNvSpPr>
            <a:spLocks noGrp="1"/>
          </p:cNvSpPr>
          <p:nvPr>
            <p:ph type="title"/>
          </p:nvPr>
        </p:nvSpPr>
        <p:spPr>
          <a:xfrm>
            <a:off x="838200" y="136525"/>
            <a:ext cx="10515600" cy="1035051"/>
          </a:xfrm>
        </p:spPr>
        <p:txBody>
          <a:bodyPr anchor="ctr">
            <a:normAutofit/>
          </a:bodyPr>
          <a:lstStyle/>
          <a:p>
            <a:r>
              <a:rPr lang="en-AU" dirty="0"/>
              <a:t>Assessment 1 Rubric – Criterion 4</a:t>
            </a:r>
          </a:p>
        </p:txBody>
      </p:sp>
      <p:sp>
        <p:nvSpPr>
          <p:cNvPr id="13" name="Slide Number Placeholder 4">
            <a:extLst>
              <a:ext uri="{FF2B5EF4-FFF2-40B4-BE49-F238E27FC236}">
                <a16:creationId xmlns:a16="http://schemas.microsoft.com/office/drawing/2014/main" id="{F448293D-33F9-BB9E-896C-629200317C7C}"/>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7" name="Picture 6">
            <a:extLst>
              <a:ext uri="{FF2B5EF4-FFF2-40B4-BE49-F238E27FC236}">
                <a16:creationId xmlns:a16="http://schemas.microsoft.com/office/drawing/2014/main" id="{3A46B280-3404-E4A1-DC53-6A9944FB0287}"/>
              </a:ext>
            </a:extLst>
          </p:cNvPr>
          <p:cNvPicPr>
            <a:picLocks noChangeAspect="1"/>
          </p:cNvPicPr>
          <p:nvPr/>
        </p:nvPicPr>
        <p:blipFill>
          <a:blip r:embed="rId4"/>
          <a:stretch>
            <a:fillRect/>
          </a:stretch>
        </p:blipFill>
        <p:spPr>
          <a:xfrm>
            <a:off x="976453" y="1323976"/>
            <a:ext cx="10559754" cy="4879974"/>
          </a:xfrm>
          <a:prstGeom prst="rect">
            <a:avLst/>
          </a:prstGeom>
        </p:spPr>
      </p:pic>
    </p:spTree>
    <p:extLst>
      <p:ext uri="{BB962C8B-B14F-4D97-AF65-F5344CB8AC3E}">
        <p14:creationId xmlns:p14="http://schemas.microsoft.com/office/powerpoint/2010/main" val="191836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B98E-084A-2B49-8239-21471CAD0AF1}"/>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B981A25-30BE-5D60-CCCA-6E1156EA9E12}"/>
              </a:ext>
            </a:extLst>
          </p:cNvPr>
          <p:cNvPicPr>
            <a:picLocks noChangeAspect="1"/>
          </p:cNvPicPr>
          <p:nvPr/>
        </p:nvPicPr>
        <p:blipFill>
          <a:blip r:embed="rId3"/>
          <a:srcRect b="15730"/>
          <a:stretch/>
        </p:blipFill>
        <p:spPr>
          <a:xfrm>
            <a:off x="-4" y="10"/>
            <a:ext cx="12192000" cy="6857990"/>
          </a:xfrm>
          <a:prstGeom prst="rect">
            <a:avLst/>
          </a:prstGeom>
        </p:spPr>
      </p:pic>
      <p:pic>
        <p:nvPicPr>
          <p:cNvPr id="4" name="Picture 3" descr="Colorful wavy concept">
            <a:extLst>
              <a:ext uri="{FF2B5EF4-FFF2-40B4-BE49-F238E27FC236}">
                <a16:creationId xmlns:a16="http://schemas.microsoft.com/office/drawing/2014/main" id="{75151276-58D6-E609-738E-0B499EC847F1}"/>
              </a:ext>
            </a:extLst>
          </p:cNvPr>
          <p:cNvPicPr>
            <a:picLocks noChangeAspect="1"/>
          </p:cNvPicPr>
          <p:nvPr/>
        </p:nvPicPr>
        <p:blipFill>
          <a:blip r:embed="rId3"/>
          <a:srcRect b="15730"/>
          <a:stretch/>
        </p:blipFill>
        <p:spPr>
          <a:xfrm>
            <a:off x="152396" y="152410"/>
            <a:ext cx="12192000" cy="6857990"/>
          </a:xfrm>
          <a:prstGeom prst="rect">
            <a:avLst/>
          </a:prstGeom>
        </p:spPr>
      </p:pic>
      <p:sp>
        <p:nvSpPr>
          <p:cNvPr id="2" name="Title 1">
            <a:extLst>
              <a:ext uri="{FF2B5EF4-FFF2-40B4-BE49-F238E27FC236}">
                <a16:creationId xmlns:a16="http://schemas.microsoft.com/office/drawing/2014/main" id="{28C99DBB-DC85-441F-F163-552E2FB3F6E9}"/>
              </a:ext>
            </a:extLst>
          </p:cNvPr>
          <p:cNvSpPr>
            <a:spLocks noGrp="1"/>
          </p:cNvSpPr>
          <p:nvPr>
            <p:ph type="title"/>
          </p:nvPr>
        </p:nvSpPr>
        <p:spPr>
          <a:xfrm>
            <a:off x="838200" y="136525"/>
            <a:ext cx="10515600" cy="1035051"/>
          </a:xfrm>
        </p:spPr>
        <p:txBody>
          <a:bodyPr anchor="ctr">
            <a:normAutofit/>
          </a:bodyPr>
          <a:lstStyle/>
          <a:p>
            <a:r>
              <a:rPr lang="en-AU" dirty="0"/>
              <a:t>Assessment 1 Rubric – Criterion 5</a:t>
            </a:r>
          </a:p>
        </p:txBody>
      </p:sp>
      <p:sp>
        <p:nvSpPr>
          <p:cNvPr id="13" name="Slide Number Placeholder 4">
            <a:extLst>
              <a:ext uri="{FF2B5EF4-FFF2-40B4-BE49-F238E27FC236}">
                <a16:creationId xmlns:a16="http://schemas.microsoft.com/office/drawing/2014/main" id="{FD6132B0-17A8-E956-FB86-3FF8E0B55FB4}"/>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9" name="Picture 8">
            <a:extLst>
              <a:ext uri="{FF2B5EF4-FFF2-40B4-BE49-F238E27FC236}">
                <a16:creationId xmlns:a16="http://schemas.microsoft.com/office/drawing/2014/main" id="{5937C6AC-B0CE-5CE1-6FB7-0C01590412A9}"/>
              </a:ext>
            </a:extLst>
          </p:cNvPr>
          <p:cNvPicPr>
            <a:picLocks noChangeAspect="1"/>
          </p:cNvPicPr>
          <p:nvPr/>
        </p:nvPicPr>
        <p:blipFill>
          <a:blip r:embed="rId4"/>
          <a:stretch>
            <a:fillRect/>
          </a:stretch>
        </p:blipFill>
        <p:spPr>
          <a:xfrm>
            <a:off x="610880" y="1490133"/>
            <a:ext cx="10813813" cy="4866217"/>
          </a:xfrm>
          <a:prstGeom prst="rect">
            <a:avLst/>
          </a:prstGeom>
          <a:noFill/>
        </p:spPr>
      </p:pic>
    </p:spTree>
    <p:extLst>
      <p:ext uri="{BB962C8B-B14F-4D97-AF65-F5344CB8AC3E}">
        <p14:creationId xmlns:p14="http://schemas.microsoft.com/office/powerpoint/2010/main" val="714800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3AB2692-0F47-56AE-F519-EA421538785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C79DE206-717D-7282-0B91-054CD050F8DF}"/>
              </a:ext>
            </a:extLst>
          </p:cNvPr>
          <p:cNvSpPr>
            <a:spLocks noGrp="1"/>
          </p:cNvSpPr>
          <p:nvPr>
            <p:ph type="title"/>
          </p:nvPr>
        </p:nvSpPr>
        <p:spPr>
          <a:xfrm>
            <a:off x="777239" y="365125"/>
            <a:ext cx="11005185" cy="5997575"/>
          </a:xfrm>
        </p:spPr>
        <p:txBody>
          <a:bodyPr/>
          <a:lstStyle/>
          <a:p>
            <a:pPr algn="ctr"/>
            <a:r>
              <a:rPr lang="en-AU" dirty="0"/>
              <a:t>Questions ….</a:t>
            </a:r>
          </a:p>
        </p:txBody>
      </p:sp>
    </p:spTree>
    <p:extLst>
      <p:ext uri="{BB962C8B-B14F-4D97-AF65-F5344CB8AC3E}">
        <p14:creationId xmlns:p14="http://schemas.microsoft.com/office/powerpoint/2010/main" val="3242957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lorful wavy concept">
            <a:extLst>
              <a:ext uri="{FF2B5EF4-FFF2-40B4-BE49-F238E27FC236}">
                <a16:creationId xmlns:a16="http://schemas.microsoft.com/office/drawing/2014/main" id="{5222178C-811E-90D8-C9D5-716A27288FB5}"/>
              </a:ext>
            </a:extLst>
          </p:cNvPr>
          <p:cNvPicPr>
            <a:picLocks noChangeAspect="1"/>
          </p:cNvPicPr>
          <p:nvPr/>
        </p:nvPicPr>
        <p:blipFill>
          <a:blip r:embed="rId3"/>
          <a:srcRect b="15730"/>
          <a:stretch/>
        </p:blipFill>
        <p:spPr>
          <a:xfrm>
            <a:off x="-4" y="10"/>
            <a:ext cx="12192000" cy="6857990"/>
          </a:xfrm>
          <a:prstGeom prst="rect">
            <a:avLst/>
          </a:prstGeom>
        </p:spPr>
      </p:pic>
      <p:sp>
        <p:nvSpPr>
          <p:cNvPr id="3" name="Content Placeholder 2">
            <a:extLst>
              <a:ext uri="{FF2B5EF4-FFF2-40B4-BE49-F238E27FC236}">
                <a16:creationId xmlns:a16="http://schemas.microsoft.com/office/drawing/2014/main" id="{E0EC6C35-BD0D-7B57-68B8-F14D74C3E8AF}"/>
              </a:ext>
            </a:extLst>
          </p:cNvPr>
          <p:cNvSpPr>
            <a:spLocks noGrp="1"/>
          </p:cNvSpPr>
          <p:nvPr>
            <p:ph idx="1"/>
          </p:nvPr>
        </p:nvSpPr>
        <p:spPr>
          <a:xfrm>
            <a:off x="777240" y="1825625"/>
            <a:ext cx="4575810" cy="4351338"/>
          </a:xfrm>
        </p:spPr>
        <p:txBody>
          <a:bodyPr/>
          <a:lstStyle/>
          <a:p>
            <a:pPr marL="0" indent="0">
              <a:buNone/>
            </a:pPr>
            <a:endParaRPr lang="en-AU" sz="4400" dirty="0">
              <a:solidFill>
                <a:schemeClr val="tx1"/>
              </a:solidFill>
            </a:endParaRPr>
          </a:p>
          <a:p>
            <a:pPr marL="0" indent="0">
              <a:buNone/>
            </a:pPr>
            <a:endParaRPr lang="en-AU" sz="4400" dirty="0">
              <a:solidFill>
                <a:schemeClr val="tx1"/>
              </a:solidFill>
            </a:endParaRPr>
          </a:p>
          <a:p>
            <a:pPr marL="0" indent="0">
              <a:buNone/>
            </a:pPr>
            <a:r>
              <a:rPr lang="en-AU" sz="4400" dirty="0">
                <a:solidFill>
                  <a:schemeClr val="tx1"/>
                </a:solidFill>
              </a:rPr>
              <a:t>Until Next Time …</a:t>
            </a:r>
            <a:endParaRPr lang="en-AU" sz="4400" dirty="0">
              <a:solidFill>
                <a:schemeClr val="tx1"/>
              </a:solidFill>
              <a:cs typeface="Calibri"/>
            </a:endParaRPr>
          </a:p>
          <a:p>
            <a:endParaRPr lang="en-AU" dirty="0"/>
          </a:p>
        </p:txBody>
      </p:sp>
      <p:pic>
        <p:nvPicPr>
          <p:cNvPr id="4" name="Picture 3" descr="A tree next to a body of water&#10;&#10;Description automatically generated">
            <a:extLst>
              <a:ext uri="{FF2B5EF4-FFF2-40B4-BE49-F238E27FC236}">
                <a16:creationId xmlns:a16="http://schemas.microsoft.com/office/drawing/2014/main" id="{9229BB8F-7CE6-2827-D2AA-9C2533384C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2475" y="0"/>
            <a:ext cx="5426476" cy="6858000"/>
          </a:xfrm>
          <a:prstGeom prst="rect">
            <a:avLst/>
          </a:prstGeom>
          <a:effectLst>
            <a:glow rad="63500">
              <a:srgbClr val="B5D9B7">
                <a:alpha val="40000"/>
              </a:srgbClr>
            </a:glow>
            <a:softEdge rad="63500"/>
          </a:effectLst>
        </p:spPr>
      </p:pic>
    </p:spTree>
    <p:extLst>
      <p:ext uri="{BB962C8B-B14F-4D97-AF65-F5344CB8AC3E}">
        <p14:creationId xmlns:p14="http://schemas.microsoft.com/office/powerpoint/2010/main" val="3980728495"/>
      </p:ext>
    </p:extLst>
  </p:cSld>
  <p:clrMapOvr>
    <a:masterClrMapping/>
  </p:clrMapOvr>
</p:sld>
</file>

<file path=ppt/theme/theme1.xml><?xml version="1.0" encoding="utf-8"?>
<a:theme xmlns:a="http://schemas.openxmlformats.org/drawingml/2006/main" name="ConfettiVTI">
  <a:themeElements>
    <a:clrScheme name="AnalogousFromDarkSeedLeftStep">
      <a:dk1>
        <a:srgbClr val="000000"/>
      </a:dk1>
      <a:lt1>
        <a:srgbClr val="FFFFFF"/>
      </a:lt1>
      <a:dk2>
        <a:srgbClr val="171735"/>
      </a:dk2>
      <a:lt2>
        <a:srgbClr val="F0F2F3"/>
      </a:lt2>
      <a:accent1>
        <a:srgbClr val="CB6845"/>
      </a:accent1>
      <a:accent2>
        <a:srgbClr val="B93348"/>
      </a:accent2>
      <a:accent3>
        <a:srgbClr val="CB4592"/>
      </a:accent3>
      <a:accent4>
        <a:srgbClr val="B933B8"/>
      </a:accent4>
      <a:accent5>
        <a:srgbClr val="9445CB"/>
      </a:accent5>
      <a:accent6>
        <a:srgbClr val="4D36BA"/>
      </a:accent6>
      <a:hlink>
        <a:srgbClr val="A03F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3.xml><?xml version="1.0" encoding="utf-8"?>
<a:theme xmlns:a="http://schemas.openxmlformats.org/drawingml/2006/main" name="CitationVTI">
  <a:themeElements>
    <a:clrScheme name="AnalogousFromLightSeed_2SEEDS">
      <a:dk1>
        <a:srgbClr val="000000"/>
      </a:dk1>
      <a:lt1>
        <a:srgbClr val="FFFFFF"/>
      </a:lt1>
      <a:dk2>
        <a:srgbClr val="243841"/>
      </a:dk2>
      <a:lt2>
        <a:srgbClr val="E8E3E2"/>
      </a:lt2>
      <a:accent1>
        <a:srgbClr val="7AA9B7"/>
      </a:accent1>
      <a:accent2>
        <a:srgbClr val="80A9A1"/>
      </a:accent2>
      <a:accent3>
        <a:srgbClr val="8FA2C3"/>
      </a:accent3>
      <a:accent4>
        <a:srgbClr val="BA7F80"/>
      </a:accent4>
      <a:accent5>
        <a:srgbClr val="BC9B84"/>
      </a:accent5>
      <a:accent6>
        <a:srgbClr val="ABA175"/>
      </a:accent6>
      <a:hlink>
        <a:srgbClr val="AC7465"/>
      </a:hlink>
      <a:folHlink>
        <a:srgbClr val="7F7F7F"/>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775C10FC01289439163198F93FB4054" ma:contentTypeVersion="7" ma:contentTypeDescription="Create a new document." ma:contentTypeScope="" ma:versionID="adbc3829ceeb370842b74b29b2f1735d">
  <xsd:schema xmlns:xsd="http://www.w3.org/2001/XMLSchema" xmlns:xs="http://www.w3.org/2001/XMLSchema" xmlns:p="http://schemas.microsoft.com/office/2006/metadata/properties" xmlns:ns2="1a07419a-7fae-44ff-adca-644589c7e86d" targetNamespace="http://schemas.microsoft.com/office/2006/metadata/properties" ma:root="true" ma:fieldsID="19704cffaff5330354c360c1bb6ddc48" ns2:_="">
    <xsd:import namespace="1a07419a-7fae-44ff-adca-644589c7e86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07419a-7fae-44ff-adca-644589c7e8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D0FEF5-EE65-4EAB-A04A-295B237BB2CD}">
  <ds:schemaRefs>
    <ds:schemaRef ds:uri="http://purl.org/dc/elements/1.1/"/>
    <ds:schemaRef ds:uri="http://schemas.microsoft.com/office/2006/documentManagement/types"/>
    <ds:schemaRef ds:uri="http://purl.org/dc/dcmitype/"/>
    <ds:schemaRef ds:uri="http://purl.org/dc/terms/"/>
    <ds:schemaRef ds:uri="1a07419a-7fae-44ff-adca-644589c7e86d"/>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0F68574B-2607-47EC-A4AB-28FBCF3DC942}">
  <ds:schemaRefs>
    <ds:schemaRef ds:uri="http://schemas.microsoft.com/sharepoint/v3/contenttype/forms"/>
  </ds:schemaRefs>
</ds:datastoreItem>
</file>

<file path=customXml/itemProps3.xml><?xml version="1.0" encoding="utf-8"?>
<ds:datastoreItem xmlns:ds="http://schemas.openxmlformats.org/officeDocument/2006/customXml" ds:itemID="{B646721D-B3E5-461F-8F22-56BBDEFA25D6}">
  <ds:schemaRefs>
    <ds:schemaRef ds:uri="1a07419a-7fae-44ff-adca-644589c7e8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
  <TotalTime>3537</TotalTime>
  <Words>1730</Words>
  <Application>Microsoft Office PowerPoint</Application>
  <PresentationFormat>Widescreen</PresentationFormat>
  <Paragraphs>186</Paragraphs>
  <Slides>26</Slides>
  <Notes>26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26</vt:i4>
      </vt:variant>
    </vt:vector>
  </HeadingPairs>
  <TitlesOfParts>
    <vt:vector size="40" baseType="lpstr">
      <vt:lpstr>Aptos</vt:lpstr>
      <vt:lpstr>Arial</vt:lpstr>
      <vt:lpstr>Baskerville</vt:lpstr>
      <vt:lpstr>Baskerville Old Face</vt:lpstr>
      <vt:lpstr>Calibri</vt:lpstr>
      <vt:lpstr>Gill Sans Nova</vt:lpstr>
      <vt:lpstr>Gill Sans Nova Light</vt:lpstr>
      <vt:lpstr>Grandview</vt:lpstr>
      <vt:lpstr>Grandview Display</vt:lpstr>
      <vt:lpstr>Sagona Book</vt:lpstr>
      <vt:lpstr>Symbol</vt:lpstr>
      <vt:lpstr>ConfettiVTI</vt:lpstr>
      <vt:lpstr>Office Theme</vt:lpstr>
      <vt:lpstr>CitationVTI</vt:lpstr>
      <vt:lpstr>Week 3 Workshop:</vt:lpstr>
      <vt:lpstr>Gnibi Elders Principle that aligns with: Social &amp; cultural determinants of health</vt:lpstr>
      <vt:lpstr>PowerPoint Presentation</vt:lpstr>
      <vt:lpstr>PowerPoint Presentation</vt:lpstr>
      <vt:lpstr>Overview to Writing a Short Response</vt:lpstr>
      <vt:lpstr>PowerPoint Presentation</vt:lpstr>
      <vt:lpstr>10 Key Steps for Strong Short Response Writing  continued …</vt:lpstr>
      <vt:lpstr>PEEL Writing Structure</vt:lpstr>
      <vt:lpstr>Assessment 1 Overview</vt:lpstr>
      <vt:lpstr>Assessment 1 - Instructions</vt:lpstr>
      <vt:lpstr>Example Short Response Structure</vt:lpstr>
      <vt:lpstr>Your response must …</vt:lpstr>
      <vt:lpstr>Referencing Requirements</vt:lpstr>
      <vt:lpstr>Other Requirements …</vt:lpstr>
      <vt:lpstr>PowerPoint Presentation</vt:lpstr>
      <vt:lpstr>PowerPoint Presentation</vt:lpstr>
      <vt:lpstr>PowerPoint Presentation</vt:lpstr>
      <vt:lpstr>PowerPoint Presentation</vt:lpstr>
      <vt:lpstr>PowerPoint Presentation</vt:lpstr>
      <vt:lpstr>Assessment 1 Rubric – Criterion 1 </vt:lpstr>
      <vt:lpstr>Assessment 1 Rubric – Criterion 2 </vt:lpstr>
      <vt:lpstr>Assessment 1 Rubric – Criterion 3</vt:lpstr>
      <vt:lpstr>Assessment 1 Rubric – Criterion 4</vt:lpstr>
      <vt:lpstr>Assessment 1 Rubric – Criterion 5</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Kelly Menzel</dc:creator>
  <cp:lastModifiedBy>Ros Sawtell</cp:lastModifiedBy>
  <cp:revision>253</cp:revision>
  <cp:lastPrinted>2024-11-08T09:21:30Z</cp:lastPrinted>
  <dcterms:created xsi:type="dcterms:W3CDTF">2021-10-05T03:08:12Z</dcterms:created>
  <dcterms:modified xsi:type="dcterms:W3CDTF">2026-10-19T03:30:01Z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0x0101003775C10FC01289439163198F93FB4054</vt:lpwstr>
  </property>
</Properties>
</file>