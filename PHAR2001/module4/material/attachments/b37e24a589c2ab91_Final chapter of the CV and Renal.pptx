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  <p:sldMasterId id="2147483668" r:id="rId4"/>
  </p:sldMasterIdLst>
  <p:notesMasterIdLst>
    <p:notesMasterId r:id="rId45"/>
  </p:notesMasterIdLst>
  <p:sldIdLst>
    <p:sldId id="325" r:id="rId5"/>
    <p:sldId id="268" r:id="rId6"/>
    <p:sldId id="520" r:id="rId7"/>
    <p:sldId id="774" r:id="rId8"/>
    <p:sldId id="439" r:id="rId9"/>
    <p:sldId id="776" r:id="rId10"/>
    <p:sldId id="449" r:id="rId11"/>
    <p:sldId id="450" r:id="rId12"/>
    <p:sldId id="474" r:id="rId13"/>
    <p:sldId id="780" r:id="rId14"/>
    <p:sldId id="777" r:id="rId15"/>
    <p:sldId id="453" r:id="rId16"/>
    <p:sldId id="452" r:id="rId17"/>
    <p:sldId id="778" r:id="rId18"/>
    <p:sldId id="467" r:id="rId19"/>
    <p:sldId id="475" r:id="rId20"/>
    <p:sldId id="469" r:id="rId21"/>
    <p:sldId id="522" r:id="rId22"/>
    <p:sldId id="781" r:id="rId23"/>
    <p:sldId id="525" r:id="rId24"/>
    <p:sldId id="350" r:id="rId25"/>
    <p:sldId id="349" r:id="rId26"/>
    <p:sldId id="480" r:id="rId27"/>
    <p:sldId id="521" r:id="rId28"/>
    <p:sldId id="782" r:id="rId29"/>
    <p:sldId id="435" r:id="rId30"/>
    <p:sldId id="471" r:id="rId31"/>
    <p:sldId id="517" r:id="rId32"/>
    <p:sldId id="783" r:id="rId33"/>
    <p:sldId id="436" r:id="rId34"/>
    <p:sldId id="518" r:id="rId35"/>
    <p:sldId id="519" r:id="rId36"/>
    <p:sldId id="784" r:id="rId37"/>
    <p:sldId id="473" r:id="rId38"/>
    <p:sldId id="359" r:id="rId39"/>
    <p:sldId id="523" r:id="rId40"/>
    <p:sldId id="524" r:id="rId41"/>
    <p:sldId id="479" r:id="rId42"/>
    <p:sldId id="477" r:id="rId43"/>
    <p:sldId id="77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796"/>
    <a:srgbClr val="3A7386"/>
    <a:srgbClr val="FFEEBA"/>
    <a:srgbClr val="FFEDBB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544" autoAdjust="0"/>
    <p:restoredTop sz="82136" autoAdjust="0"/>
  </p:normalViewPr>
  <p:slideViewPr>
    <p:cSldViewPr snapToGrid="0">
      <p:cViewPr varScale="1">
        <p:scale>
          <a:sx n="73" d="100"/>
          <a:sy n="73" d="100"/>
        </p:scale>
        <p:origin x="30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 Wojcikowski" userId="3d9dd381-bb96-4ff2-a8e3-dc2a625deaa7" providerId="ADAL" clId="{880B91BD-F8C2-435B-BE0F-2E35B92DEF44}"/>
    <pc:docChg chg="delSld">
      <pc:chgData name="Ken Wojcikowski" userId="3d9dd381-bb96-4ff2-a8e3-dc2a625deaa7" providerId="ADAL" clId="{880B91BD-F8C2-435B-BE0F-2E35B92DEF44}" dt="2023-02-26T19:40:12.447" v="1" actId="2696"/>
      <pc:docMkLst>
        <pc:docMk/>
      </pc:docMkLst>
      <pc:sldChg chg="del">
        <pc:chgData name="Ken Wojcikowski" userId="3d9dd381-bb96-4ff2-a8e3-dc2a625deaa7" providerId="ADAL" clId="{880B91BD-F8C2-435B-BE0F-2E35B92DEF44}" dt="2023-02-26T19:40:09.830" v="0" actId="2696"/>
        <pc:sldMkLst>
          <pc:docMk/>
          <pc:sldMk cId="0" sldId="398"/>
        </pc:sldMkLst>
      </pc:sldChg>
      <pc:sldChg chg="del">
        <pc:chgData name="Ken Wojcikowski" userId="3d9dd381-bb96-4ff2-a8e3-dc2a625deaa7" providerId="ADAL" clId="{880B91BD-F8C2-435B-BE0F-2E35B92DEF44}" dt="2023-02-26T19:40:12.447" v="1" actId="2696"/>
        <pc:sldMkLst>
          <pc:docMk/>
          <pc:sldMk cId="1168772948" sldId="775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EA9DB-4D24-41D2-9B83-3621BC68401B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561FD-5DE1-4ED8-9EC0-79EBB7F68F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70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561FD-5DE1-4ED8-9EC0-79EBB7F68F4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906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561FD-5DE1-4ED8-9EC0-79EBB7F68F4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06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561FD-5DE1-4ED8-9EC0-79EBB7F68F4C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4410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579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E4CE-9BE1-4364-9FE8-16C926C20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E0A07-4BA5-4FCF-9642-03604BEF6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A4B73-6FD5-44E3-8080-D390E0D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D9F3-E412-4C88-9953-701F2A7B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09348-E0A0-4876-A168-0A431E8D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70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1424-6738-444B-8697-52835512E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8969C-5CF9-4330-89EB-112FC5C15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A6D7-537F-4D20-A2A7-117A094CE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A2DAB-164C-42DB-B3C3-EB537FB4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1B48A-92C0-484B-870D-3ED36BCF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07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6D30-753D-4081-B736-8FE9A425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96E25-2611-43B0-A242-470695D06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A1AA9-DFDB-4CB2-9689-9E811478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E040-6DBF-4800-BD28-05A8D112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85AD9-741B-4232-BE44-CB49AAD7A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449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8886-BEE6-418E-8799-697524C2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4410F-3679-46A9-AA43-D59BA4F78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44AEA-C972-4CDC-8DD8-0F12E04B7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8C3B4-B854-4CC9-BB3A-B334A866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46DDC-744E-44B6-B296-424E3338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F5D7A-CA37-4116-ADDB-02A69233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77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152B-B2FA-4F3E-849F-D250C9BE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D125B-CC94-4E7A-81E3-C9A3036C2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62CF7-2E1F-413F-9D05-269F41B85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D7F8B-010B-420E-8CEC-AA989DFF8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8E04D-B413-41D6-BDF3-288B85784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56572-2D97-4598-A69E-5913D82F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12243-1385-4AFB-B84E-821C9797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81C11-FAA9-4762-9962-8A9F9E82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083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DF50-05D2-47FA-A5F8-EE986F53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55791-1E2D-4CEA-9830-1F512CB1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C3256-A819-4E23-98BC-FB76CF4B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F09AB-DBAB-48FF-9911-70F739A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80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D75CB-A330-4970-8508-8D8FA42A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88BAB-1BBB-4640-A7DC-BA32A37F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4286B-C2E0-4CAD-B290-D54DC329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79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1404-4403-45C9-8817-3A555C02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8A51-5324-4738-B321-6C397EFA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90F52-A2B0-4342-A15D-4AF6FF612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1CAA9-1918-46FC-8B3F-3C8B4CB1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524A3-84FE-4429-A28D-5DE68227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AA12A-991B-4F0F-AD1B-3F3FECD8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19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CA31-E171-4514-AA77-7AFFA8A8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C180A-1E2E-42F9-B908-997A0CA2E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B1F8D-507C-422E-A124-F8305C54F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5C658-BA77-4D31-A409-07CA2B04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1FE25-C6C8-4CD9-84C6-BF579359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D2A70-45D1-48D0-A586-43B74514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59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6EE1-B5CD-46EA-A94A-B74E4844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32E62-F30A-4493-8B4A-27FC16D4A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D65BC-D647-402D-AF52-E0E53E33C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86AC-9BC3-4572-BB69-498D59AB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84FEC-6783-4ACA-BE8E-05120347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54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F417A-99AD-407D-97FA-819685E69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EA3B4-29EC-4E8D-8833-8A1736536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A2DC0-DDF1-4D8C-AFDB-B5359C69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07559-F114-4040-9E86-00C41A79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2560F-5B3B-4389-A105-0A962171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94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091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488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852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735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305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92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03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5172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446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18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89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50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03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18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6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BF780-B700-4034-83ED-DE42606B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AF6ED-E06F-45C1-8908-3D9DDB033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7AD4-FEA1-4F76-B5E0-ACCC677A3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96670-7418-4329-B912-81EA179B7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40104-1832-4699-AC27-B1412955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35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7" r:id="rId12"/>
    <p:sldLayoutId id="21474836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43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57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21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hyperlink" Target="zzz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hyperlink" Target="zzz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hyperlink" Target="zzz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hyperlink" Target="zzz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hyperlink" Target="loveAL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4043901"/>
            <a:ext cx="5504297" cy="495918"/>
          </a:xfrm>
        </p:spPr>
        <p:txBody>
          <a:bodyPr/>
          <a:lstStyle/>
          <a:p>
            <a:r>
              <a:rPr lang="en-AU" sz="32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</a:t>
            </a: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</a:t>
            </a:r>
            <a:r>
              <a:rPr lang="en-AU" sz="32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ics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sz="40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Pharmacology of the        Renal system</a:t>
            </a:r>
            <a:endParaRPr lang="en-AU" sz="40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4028" y="5811623"/>
            <a:ext cx="3024569" cy="315308"/>
          </a:xfrm>
        </p:spPr>
        <p:txBody>
          <a:bodyPr/>
          <a:lstStyle/>
          <a:p>
            <a:r>
              <a:rPr lang="en-AU" sz="1600" b="1" dirty="0">
                <a:solidFill>
                  <a:srgbClr val="00779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Dr Ken Wojcikowski</a:t>
            </a:r>
          </a:p>
        </p:txBody>
      </p:sp>
    </p:spTree>
    <p:extLst>
      <p:ext uri="{BB962C8B-B14F-4D97-AF65-F5344CB8AC3E}">
        <p14:creationId xmlns:p14="http://schemas.microsoft.com/office/powerpoint/2010/main" val="137727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4BBA8-B148-4136-B2F6-6936EA3938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00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2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5169B5-B00B-431E-B331-41B2153AF5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8687" y="874937"/>
            <a:ext cx="5821351" cy="573088"/>
          </a:xfrm>
        </p:spPr>
        <p:txBody>
          <a:bodyPr>
            <a:noAutofit/>
          </a:bodyPr>
          <a:lstStyle/>
          <a:p>
            <a:pPr algn="ctr"/>
            <a:r>
              <a:rPr lang="en-AU" sz="40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Objectives for the     renal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647D6-E2C3-4284-AAAE-F18D54C057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2645225"/>
            <a:ext cx="6050672" cy="3837214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Describe the structure and function of the portions of the renal system relevant to diuretics.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Identify and explain the actions interactions and side effects of diuretics.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3334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1980192"/>
            <a:ext cx="8611135" cy="2833921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Cardiovascular/Renal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1: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Understanding the foundational information about diuretics</a:t>
            </a:r>
          </a:p>
        </p:txBody>
      </p:sp>
    </p:spTree>
    <p:extLst>
      <p:ext uri="{BB962C8B-B14F-4D97-AF65-F5344CB8AC3E}">
        <p14:creationId xmlns:p14="http://schemas.microsoft.com/office/powerpoint/2010/main" val="228127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752" y="365792"/>
            <a:ext cx="8534400" cy="758952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Location of the kidneys, </a:t>
            </a:r>
            <a:br>
              <a:rPr lang="en-US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ureters and bladder</a:t>
            </a:r>
          </a:p>
        </p:txBody>
      </p:sp>
      <p:graphicFrame>
        <p:nvGraphicFramePr>
          <p:cNvPr id="7171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399517"/>
              </p:ext>
            </p:extLst>
          </p:nvPr>
        </p:nvGraphicFramePr>
        <p:xfrm>
          <a:off x="804974" y="1364777"/>
          <a:ext cx="10582052" cy="5356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hoto Editor Photo" r:id="rId4" imgW="7621064" imgH="3858164" progId="MSPhotoEd.3">
                  <p:embed/>
                </p:oleObj>
              </mc:Choice>
              <mc:Fallback>
                <p:oleObj name="Photo Editor Photo" r:id="rId4" imgW="7621064" imgH="3858164" progId="MSPhotoEd.3">
                  <p:embed/>
                  <p:pic>
                    <p:nvPicPr>
                      <p:cNvPr id="71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974" y="1364777"/>
                        <a:ext cx="10582052" cy="5356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FA6C3CA-A0A1-4DC6-9892-C7E229E752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592" y="6584958"/>
            <a:ext cx="7701023" cy="29619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E22B72-41CF-4EB6-9E92-FF8522C87629}"/>
              </a:ext>
            </a:extLst>
          </p:cNvPr>
          <p:cNvSpPr/>
          <p:nvPr/>
        </p:nvSpPr>
        <p:spPr>
          <a:xfrm>
            <a:off x="902825" y="6492208"/>
            <a:ext cx="4247909" cy="128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90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673E-AE92-41BD-8266-01AE97A5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76643A-7025-4A70-883F-73DA79CC2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</p:spPr>
      </p:pic>
    </p:spTree>
    <p:extLst>
      <p:ext uri="{BB962C8B-B14F-4D97-AF65-F5344CB8AC3E}">
        <p14:creationId xmlns:p14="http://schemas.microsoft.com/office/powerpoint/2010/main" val="277645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graphicFrame>
        <p:nvGraphicFramePr>
          <p:cNvPr id="17411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1798362"/>
              </p:ext>
            </p:extLst>
          </p:nvPr>
        </p:nvGraphicFramePr>
        <p:xfrm>
          <a:off x="838200" y="0"/>
          <a:ext cx="10153767" cy="6864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Photo Editor Photo" r:id="rId4" imgW="7621064" imgH="5152381" progId="MSPhotoEd.3">
                  <p:embed/>
                </p:oleObj>
              </mc:Choice>
              <mc:Fallback>
                <p:oleObj name="Photo Editor Photo" r:id="rId4" imgW="7621064" imgH="5152381" progId="MSPhotoEd.3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0"/>
                        <a:ext cx="10153767" cy="6864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0FC0B17-3710-4FAA-A5EC-A66C71B63B2A}"/>
              </a:ext>
            </a:extLst>
          </p:cNvPr>
          <p:cNvSpPr/>
          <p:nvPr/>
        </p:nvSpPr>
        <p:spPr>
          <a:xfrm>
            <a:off x="838200" y="6456807"/>
            <a:ext cx="4062714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42239B-86C3-4106-B71C-47D6216FC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9423" y="6567944"/>
            <a:ext cx="7153153" cy="27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4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524000" y="0"/>
          <a:ext cx="9144000" cy="676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Photo Editor Photo" r:id="rId3" imgW="7621064" imgH="5638095" progId="MSPhotoEd.3">
                  <p:embed/>
                </p:oleObj>
              </mc:Choice>
              <mc:Fallback>
                <p:oleObj name="Photo Editor Photo" r:id="rId3" imgW="7621064" imgH="5638095" progId="MSPhotoEd.3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676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C7AFA7-EB0C-4C52-80D0-2A8707BDD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959" y="6568487"/>
            <a:ext cx="7527403" cy="2895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BF1554-2794-4A10-97EC-A3890E6C50B1}"/>
              </a:ext>
            </a:extLst>
          </p:cNvPr>
          <p:cNvSpPr/>
          <p:nvPr/>
        </p:nvSpPr>
        <p:spPr>
          <a:xfrm>
            <a:off x="902825" y="6526933"/>
            <a:ext cx="4247909" cy="128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706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3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1026508" y="150118"/>
          <a:ext cx="9750013" cy="659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Photo Editor Photo" r:id="rId3" imgW="7621064" imgH="5152381" progId="MSPhotoEd.3">
                  <p:embed/>
                </p:oleObj>
              </mc:Choice>
              <mc:Fallback>
                <p:oleObj name="Photo Editor Photo" r:id="rId3" imgW="7621064" imgH="5152381" progId="MSPhotoEd.3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508" y="150118"/>
                        <a:ext cx="9750013" cy="659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E4984CC-C436-49AD-9486-09C6F93A479C}"/>
              </a:ext>
            </a:extLst>
          </p:cNvPr>
          <p:cNvSpPr/>
          <p:nvPr/>
        </p:nvSpPr>
        <p:spPr>
          <a:xfrm>
            <a:off x="902825" y="6492208"/>
            <a:ext cx="4247909" cy="249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A5D54-F03B-4ADB-BF13-9899A502C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594" y="6599206"/>
            <a:ext cx="7932516" cy="3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06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1980192"/>
            <a:ext cx="8611135" cy="2833921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Cardiovascular/Renal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2: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Understanding the foundational information about diuretics (continued)</a:t>
            </a:r>
          </a:p>
        </p:txBody>
      </p:sp>
    </p:spTree>
    <p:extLst>
      <p:ext uri="{BB962C8B-B14F-4D97-AF65-F5344CB8AC3E}">
        <p14:creationId xmlns:p14="http://schemas.microsoft.com/office/powerpoint/2010/main" val="2222637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E7FC-DA18-4B9A-96A6-79ADC896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4EA809-F317-4969-A44E-F6E135420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35219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824551" y="520344"/>
            <a:ext cx="4266064" cy="581731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Filtration, </a:t>
            </a:r>
            <a:br>
              <a:rPr lang="en-US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reabsorption </a:t>
            </a:r>
            <a:br>
              <a:rPr lang="en-US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and secretion</a:t>
            </a:r>
          </a:p>
        </p:txBody>
      </p:sp>
      <p:graphicFrame>
        <p:nvGraphicFramePr>
          <p:cNvPr id="21507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846547"/>
              </p:ext>
            </p:extLst>
          </p:nvPr>
        </p:nvGraphicFramePr>
        <p:xfrm>
          <a:off x="6096000" y="33546"/>
          <a:ext cx="5627650" cy="6790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Photo Editor Photo" r:id="rId3" imgW="4734586" imgH="5714286" progId="MSPhotoEd.3">
                  <p:embed/>
                </p:oleObj>
              </mc:Choice>
              <mc:Fallback>
                <p:oleObj name="Photo Editor Photo" r:id="rId3" imgW="4734586" imgH="5714286" progId="MSPhotoEd.3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546"/>
                        <a:ext cx="5627650" cy="6790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0E47B89-9D03-4F15-9E6A-CFE1D9A2ABB7}"/>
              </a:ext>
            </a:extLst>
          </p:cNvPr>
          <p:cNvSpPr/>
          <p:nvPr/>
        </p:nvSpPr>
        <p:spPr>
          <a:xfrm>
            <a:off x="5613721" y="6587628"/>
            <a:ext cx="4247909" cy="236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513258-5BB9-413C-B7EC-440971E77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8167" y="6579171"/>
            <a:ext cx="7550552" cy="29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6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GB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Reabsorption and Secretion</a:t>
            </a:r>
            <a:endParaRPr lang="en-AU" sz="40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ctr">
              <a:buNone/>
              <a:defRPr/>
            </a:pPr>
            <a:r>
              <a:rPr lang="en-GB" sz="3200" b="1" i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Reabsorption and secretion are confusing because we are talking about the tubule but the terms apply to the what is happening in relation to the </a:t>
            </a:r>
            <a:r>
              <a:rPr lang="en-GB" sz="3200" b="1" i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peritubular</a:t>
            </a:r>
            <a:r>
              <a:rPr lang="en-GB" sz="3200" b="1" i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 blood supply. </a:t>
            </a:r>
          </a:p>
          <a:p>
            <a:pPr lvl="1">
              <a:defRPr/>
            </a:pPr>
            <a:endParaRPr lang="en-US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Reabsorption of water and solutes by tubular cells into the </a:t>
            </a:r>
            <a:r>
              <a:rPr lang="en-US" sz="3200" b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peritubular</a:t>
            </a:r>
            <a:r>
              <a:rPr lang="en-US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 capillary blood</a:t>
            </a:r>
          </a:p>
          <a:p>
            <a:pPr lvl="1">
              <a:defRPr/>
            </a:pPr>
            <a:r>
              <a:rPr lang="en-US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Secretion from the blood into the tubular lumen</a:t>
            </a:r>
          </a:p>
          <a:p>
            <a:pPr marL="609600" indent="-609600" algn="ctr">
              <a:buNone/>
              <a:defRPr/>
            </a:pPr>
            <a:endParaRPr lang="en-US" i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7200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5950-8E02-40BE-B20B-432AA057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CB78CA-BE35-4E49-B6DB-7A5DBC4AE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50943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6" y="20149"/>
            <a:ext cx="9109075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7287F-10F0-4FD6-981B-4ECBBF1AF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65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02660" y="2539415"/>
            <a:ext cx="3748571" cy="177916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Flow of urine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D7612-5F25-4884-A2F3-4685A8803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580" y="6630386"/>
            <a:ext cx="7988968" cy="3072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76A41C-A5EA-4FE8-BB1A-B17C30740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1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Patients commencing diuretics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Care must be taken to avoid fluid rebound. </a:t>
            </a: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Some patients decrease water consumption when they commence diuretics to decrease trips to the bathroom</a:t>
            </a: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If water is decreased at the same time as diuretic is commenced, rebound oedema will result!</a:t>
            </a:r>
          </a:p>
        </p:txBody>
      </p:sp>
    </p:spTree>
    <p:extLst>
      <p:ext uri="{BB962C8B-B14F-4D97-AF65-F5344CB8AC3E}">
        <p14:creationId xmlns:p14="http://schemas.microsoft.com/office/powerpoint/2010/main" val="2952011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3577-687F-45A2-A2DA-0C223F6F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0A462-DEA3-4077-9CDA-50FCE2FF4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6" y="-983312"/>
            <a:ext cx="12442371" cy="8294272"/>
          </a:xfrm>
        </p:spPr>
      </p:pic>
    </p:spTree>
    <p:extLst>
      <p:ext uri="{BB962C8B-B14F-4D97-AF65-F5344CB8AC3E}">
        <p14:creationId xmlns:p14="http://schemas.microsoft.com/office/powerpoint/2010/main" val="1076825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1980192"/>
            <a:ext cx="8611135" cy="2833921"/>
          </a:xfrm>
        </p:spPr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Cardiovascular/Renal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3: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Thiazide and thiazide-like diuretics</a:t>
            </a:r>
          </a:p>
        </p:txBody>
      </p:sp>
    </p:spTree>
    <p:extLst>
      <p:ext uri="{BB962C8B-B14F-4D97-AF65-F5344CB8AC3E}">
        <p14:creationId xmlns:p14="http://schemas.microsoft.com/office/powerpoint/2010/main" val="4230027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744" y="234738"/>
            <a:ext cx="10772775" cy="1097618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Thiazide diuretics (hydrochlorothiazide)</a:t>
            </a:r>
            <a:b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Thiazide like diuretic (metolazone)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964" y="1446656"/>
            <a:ext cx="10308336" cy="5411344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Inhibit sodium reabsorption from the distal tubule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Wastes potassium as well 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Used for hypertension, congestive heart failure, nephrolithiasis (kidney stones) and diabetes insipidus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Thiazide diuretics compete with the secretion of uric acid so they are contraindicated in people with gout</a:t>
            </a:r>
          </a:p>
          <a:p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Several drugs use hydrochlorothiazide in combination – a little bit increases the action of other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AU" sz="28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Hydrochlorothiazide 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AU" sz="28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‘thiazide” drugs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3788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41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Thiazide toxicity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69" y="1613351"/>
            <a:ext cx="10515600" cy="501604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Allergic reaction (sulphonamides used in antimicrobial agents)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Photosensitivity (skin; light pinkish skin are most sensitive)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Hypo</a:t>
            </a:r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k</a:t>
            </a:r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alaemia (low potassium) </a:t>
            </a:r>
          </a:p>
          <a:p>
            <a:r>
              <a:rPr lang="en-AU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Hypo</a:t>
            </a:r>
            <a:r>
              <a:rPr lang="en-AU" b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na</a:t>
            </a:r>
            <a:r>
              <a:rPr lang="en-AU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traemia</a:t>
            </a:r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 (low salt Na+)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Hyper</a:t>
            </a:r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uric</a:t>
            </a:r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aemia (gout)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Hydrochlorothiazide </a:t>
            </a:r>
          </a:p>
          <a:p>
            <a:pPr lvl="1"/>
            <a:r>
              <a:rPr lang="en-AU" sz="28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(</a:t>
            </a:r>
            <a:r>
              <a:rPr lang="en-AU" sz="2800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Dithiazide</a:t>
            </a:r>
            <a:r>
              <a:rPr lang="en-AU" sz="28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)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May increase risk of type 2 diabetes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May increase lipid levels</a:t>
            </a:r>
          </a:p>
          <a:p>
            <a:r>
              <a:rPr lang="en-AU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Contraindicated in pregnancy </a:t>
            </a:r>
          </a:p>
          <a:p>
            <a:pPr marL="457200" lvl="1" indent="0">
              <a:buNone/>
            </a:pPr>
            <a:endParaRPr lang="en-AU" dirty="0"/>
          </a:p>
          <a:p>
            <a:pPr marL="0" lvl="1" indent="0">
              <a:buClr>
                <a:schemeClr val="accent1"/>
              </a:buClr>
              <a:buSzPct val="85000"/>
              <a:buNone/>
            </a:pPr>
            <a:endParaRPr lang="en-AU" dirty="0"/>
          </a:p>
          <a:p>
            <a:endParaRPr lang="en-AU" dirty="0"/>
          </a:p>
        </p:txBody>
      </p:sp>
      <p:pic>
        <p:nvPicPr>
          <p:cNvPr id="8194" name="Picture 2" descr="http://basic-clinical-pharmacology.net/chapter%2015_%20diuretic%20agents_files/image006.gif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88" y="3284985"/>
            <a:ext cx="3672408" cy="309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9239200" y="2924944"/>
            <a:ext cx="601216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7608168" y="2778296"/>
            <a:ext cx="1728192" cy="447256"/>
          </a:xfrm>
          <a:prstGeom prst="rect">
            <a:avLst/>
          </a:prstGeom>
        </p:spPr>
        <p:txBody>
          <a:bodyPr vert="horz" anchor="b">
            <a:normAutofit fontScale="400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rgbClr val="FF0000"/>
                </a:solidFill>
              </a:rPr>
              <a:t>Distal convoluted tubule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2AAD8A-69CA-4E96-8960-E4CF21BB3387}"/>
              </a:ext>
            </a:extLst>
          </p:cNvPr>
          <p:cNvSpPr/>
          <p:nvPr/>
        </p:nvSpPr>
        <p:spPr>
          <a:xfrm>
            <a:off x="6255141" y="6542126"/>
            <a:ext cx="5492209" cy="265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Katung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BG, Masters SB: Basic and Clinical Pharmacology 11</a:t>
            </a:r>
            <a:r>
              <a:rPr lang="en-AU" sz="11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ed. McGraw-Hill Companies, Inc</a:t>
            </a:r>
          </a:p>
        </p:txBody>
      </p:sp>
    </p:spTree>
    <p:extLst>
      <p:ext uri="{BB962C8B-B14F-4D97-AF65-F5344CB8AC3E}">
        <p14:creationId xmlns:p14="http://schemas.microsoft.com/office/powerpoint/2010/main" val="1795589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2" y="349038"/>
            <a:ext cx="10772775" cy="1479762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Thiazide diuretics </a:t>
            </a:r>
            <a:b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(hydrochlorothiazide)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5885" y="2050813"/>
            <a:ext cx="8360228" cy="5411344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May be indicated as an additional therapy for people with osteoporosis</a:t>
            </a:r>
          </a:p>
          <a:p>
            <a:pPr lvl="1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Increases osteoblastic cells</a:t>
            </a:r>
          </a:p>
          <a:p>
            <a:pPr lvl="1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Increases calcium levels.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6399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4140F-B008-42E5-9A34-4FD924AD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 symporter on the cell surface</a:t>
            </a:r>
          </a:p>
        </p:txBody>
      </p:sp>
      <p:pic>
        <p:nvPicPr>
          <p:cNvPr id="12290" name="Picture 2" descr="https://upload.wikimedia.org/wikipedia/commons/6/6c/Porters.PNG">
            <a:extLst>
              <a:ext uri="{FF2B5EF4-FFF2-40B4-BE49-F238E27FC236}">
                <a16:creationId xmlns:a16="http://schemas.microsoft.com/office/drawing/2014/main" id="{1EF824F4-3191-436F-913A-DCC49569AFB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091" y="1651000"/>
            <a:ext cx="9005818" cy="520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333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BFAA-ED6E-4BFD-A4A6-74F72D638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0E4BC-FD23-46D5-87D0-19B340692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170" name="Picture 2" descr="Image result for tubule basolateral">
            <a:extLst>
              <a:ext uri="{FF2B5EF4-FFF2-40B4-BE49-F238E27FC236}">
                <a16:creationId xmlns:a16="http://schemas.microsoft.com/office/drawing/2014/main" id="{0180FE29-FCA6-4D49-9E14-2F8D523B6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13"/>
            <a:ext cx="12192000" cy="678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14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1980192"/>
            <a:ext cx="8611135" cy="2833921"/>
          </a:xfrm>
        </p:spPr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Cardiovascular/Renal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4: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Loop diuretics</a:t>
            </a:r>
          </a:p>
        </p:txBody>
      </p:sp>
    </p:spTree>
    <p:extLst>
      <p:ext uri="{BB962C8B-B14F-4D97-AF65-F5344CB8AC3E}">
        <p14:creationId xmlns:p14="http://schemas.microsoft.com/office/powerpoint/2010/main" val="3600620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664" y="958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Loop diuretics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439" y="1490477"/>
            <a:ext cx="8503920" cy="1728192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GB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Furosemide (Lasix) and other loop diuretics work on the ascending loop of Henle </a:t>
            </a:r>
          </a:p>
          <a:p>
            <a:pPr>
              <a:buFontTx/>
              <a:buChar char="•"/>
            </a:pPr>
            <a:endParaRPr lang="en-GB" dirty="0"/>
          </a:p>
        </p:txBody>
      </p:sp>
      <p:pic>
        <p:nvPicPr>
          <p:cNvPr id="4" name="Picture 2" descr="http://basic-clinical-pharmacology.net/chapter%2015_%20diuretic%20agents_files/image006.gif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847" y="2492897"/>
            <a:ext cx="4613642" cy="388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8615456" y="4555976"/>
            <a:ext cx="577713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1278439" y="2570584"/>
            <a:ext cx="4176464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•"/>
            </a:pPr>
            <a:r>
              <a:rPr lang="en-GB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They indirectly block active transportation of sodium, potassium and chloride into the interstitial space where they would normally re-enter circulation</a:t>
            </a:r>
          </a:p>
          <a:p>
            <a:pPr>
              <a:buFontTx/>
              <a:buChar char="•"/>
            </a:pPr>
            <a:r>
              <a:rPr lang="en-GB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Sodium rich urine </a:t>
            </a:r>
            <a:endParaRPr lang="en-AU" sz="28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endParaRPr lang="en-AU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511488" y="4061864"/>
            <a:ext cx="1957608" cy="447256"/>
          </a:xfrm>
          <a:prstGeom prst="rect">
            <a:avLst/>
          </a:prstGeom>
        </p:spPr>
        <p:txBody>
          <a:bodyPr vert="horz" anchor="b">
            <a:normAutofit fontScale="400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rgbClr val="FF0000"/>
                </a:solidFill>
              </a:rPr>
              <a:t>Work in the ascending loop of </a:t>
            </a:r>
            <a:r>
              <a:rPr lang="en-AU" b="1" dirty="0" err="1">
                <a:solidFill>
                  <a:srgbClr val="FF0000"/>
                </a:solidFill>
              </a:rPr>
              <a:t>Henle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615456" y="3356992"/>
            <a:ext cx="577713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C1ECCA2-0DC5-438C-8B05-63B61808C0F3}"/>
              </a:ext>
            </a:extLst>
          </p:cNvPr>
          <p:cNvSpPr/>
          <p:nvPr/>
        </p:nvSpPr>
        <p:spPr>
          <a:xfrm>
            <a:off x="5649055" y="6496708"/>
            <a:ext cx="5492209" cy="265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Katung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BG, Masters SB: Basic and Clinical Pharmacology 11</a:t>
            </a:r>
            <a:r>
              <a:rPr lang="en-AU" sz="11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ed. McGraw-Hill Companies, Inc</a:t>
            </a:r>
          </a:p>
        </p:txBody>
      </p:sp>
    </p:spTree>
    <p:extLst>
      <p:ext uri="{BB962C8B-B14F-4D97-AF65-F5344CB8AC3E}">
        <p14:creationId xmlns:p14="http://schemas.microsoft.com/office/powerpoint/2010/main" val="2247074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Loop diuretics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9936"/>
            <a:ext cx="9630896" cy="1728192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GB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Produce a loss of fluid of up to 10 L/d</a:t>
            </a:r>
          </a:p>
          <a:p>
            <a:pPr>
              <a:buFontTx/>
              <a:buChar char="•"/>
            </a:pPr>
            <a:r>
              <a:rPr lang="en-GB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Drugs of choice when rapid diuresis is needed</a:t>
            </a:r>
          </a:p>
          <a:p>
            <a:pPr>
              <a:buFontTx/>
              <a:buChar char="•"/>
            </a:pPr>
            <a:endParaRPr lang="en-GB" dirty="0"/>
          </a:p>
        </p:txBody>
      </p:sp>
      <p:pic>
        <p:nvPicPr>
          <p:cNvPr id="4" name="Picture 2" descr="http://basic-clinical-pharmacology.net/chapter%2015_%20diuretic%20agents_files/image006.gif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847" y="2492897"/>
            <a:ext cx="4613642" cy="388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8615456" y="4555976"/>
            <a:ext cx="577713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2615655"/>
            <a:ext cx="4176464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Oral, IV or IM</a:t>
            </a:r>
          </a:p>
          <a:p>
            <a:pPr>
              <a:buFontTx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Alkalosis is possible</a:t>
            </a:r>
          </a:p>
          <a:p>
            <a:pPr>
              <a:buFontTx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Calcium is lost</a:t>
            </a:r>
          </a:p>
          <a:p>
            <a:pPr>
              <a:buFontTx/>
              <a:buChar char="•"/>
            </a:pPr>
            <a:endParaRPr lang="en-AU" dirty="0"/>
          </a:p>
          <a:p>
            <a:endParaRPr lang="en-AU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511488" y="4061864"/>
            <a:ext cx="1957608" cy="447256"/>
          </a:xfrm>
          <a:prstGeom prst="rect">
            <a:avLst/>
          </a:prstGeom>
        </p:spPr>
        <p:txBody>
          <a:bodyPr vert="horz" anchor="b">
            <a:normAutofit fontScale="400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rgbClr val="FF0000"/>
                </a:solidFill>
              </a:rPr>
              <a:t>Work in the ascending loop of </a:t>
            </a:r>
            <a:r>
              <a:rPr lang="en-AU" b="1" dirty="0" err="1">
                <a:solidFill>
                  <a:srgbClr val="FF0000"/>
                </a:solidFill>
              </a:rPr>
              <a:t>Henle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615456" y="3284984"/>
            <a:ext cx="577713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DAF9FB2-3BFB-4212-A10A-A33229F1766D}"/>
              </a:ext>
            </a:extLst>
          </p:cNvPr>
          <p:cNvSpPr/>
          <p:nvPr/>
        </p:nvSpPr>
        <p:spPr>
          <a:xfrm>
            <a:off x="5861591" y="6430340"/>
            <a:ext cx="5492209" cy="265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Katung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BG, Masters SB: Basic and Clinical Pharmacology 11</a:t>
            </a:r>
            <a:r>
              <a:rPr lang="en-AU" sz="11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ed. McGraw-Hill Companies, Inc</a:t>
            </a:r>
          </a:p>
        </p:txBody>
      </p:sp>
    </p:spTree>
    <p:extLst>
      <p:ext uri="{BB962C8B-B14F-4D97-AF65-F5344CB8AC3E}">
        <p14:creationId xmlns:p14="http://schemas.microsoft.com/office/powerpoint/2010/main" val="1173907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Loop diuretics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5752" y="1527047"/>
            <a:ext cx="8503920" cy="5200323"/>
          </a:xfrm>
        </p:spPr>
        <p:txBody>
          <a:bodyPr>
            <a:normAutofit fontScale="92500"/>
          </a:bodyPr>
          <a:lstStyle/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Furosemide is Lasix (lasts six hours)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Lasix prevents the reabsorption of: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Sodium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Potassium 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Calcium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Magnesium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Therefore, monitor for 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Hypovolaemia and </a:t>
            </a:r>
            <a:r>
              <a:rPr lang="en-AU" sz="2800" b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hyponaturemia</a:t>
            </a: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lvl="1"/>
            <a:r>
              <a:rPr lang="en-AU" sz="2800" b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Hypokalemia</a:t>
            </a:r>
            <a:endParaRPr lang="en-AU" sz="28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Hypocalcaemia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Hypomagnesemia   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Also, allergies to those allergic to sulphonamides </a:t>
            </a:r>
          </a:p>
          <a:p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9511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1980192"/>
            <a:ext cx="8611135" cy="2833921"/>
          </a:xfrm>
        </p:spPr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Cardiovascular/Renal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5: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Potassium sparing diuretics</a:t>
            </a:r>
          </a:p>
        </p:txBody>
      </p:sp>
    </p:spTree>
    <p:extLst>
      <p:ext uri="{BB962C8B-B14F-4D97-AF65-F5344CB8AC3E}">
        <p14:creationId xmlns:p14="http://schemas.microsoft.com/office/powerpoint/2010/main" val="2790676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Potassium sparing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719" y="1558504"/>
            <a:ext cx="3478160" cy="4572000"/>
          </a:xfrm>
        </p:spPr>
        <p:txBody>
          <a:bodyPr/>
          <a:lstStyle/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Blocks aldosterone at the distal tubule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Spironolactone </a:t>
            </a:r>
            <a:r>
              <a:rPr lang="en-AU" b="1" i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(know this drug)</a:t>
            </a:r>
          </a:p>
          <a:p>
            <a:r>
              <a:rPr lang="en-AU" b="1" i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OR </a:t>
            </a:r>
          </a:p>
          <a:p>
            <a:r>
              <a:rPr lang="en-AU" b="1" i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Indirectly blocks the NaCl pumps at the same spot</a:t>
            </a:r>
          </a:p>
          <a:p>
            <a:r>
              <a:rPr lang="en-AU" b="1" i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Amiloride </a:t>
            </a:r>
          </a:p>
          <a:p>
            <a:endParaRPr lang="en-AU" b="1" dirty="0">
              <a:solidFill>
                <a:srgbClr val="3A73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/>
          </a:p>
          <a:p>
            <a:endParaRPr lang="en-AU" dirty="0"/>
          </a:p>
        </p:txBody>
      </p:sp>
      <p:pic>
        <p:nvPicPr>
          <p:cNvPr id="8194" name="Picture 2" descr="http://basic-clinical-pharmacology.net/chapter%2015_%20diuretic%20agents_files/image006.gif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044" y="1628800"/>
            <a:ext cx="5640444" cy="474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9602688" y="1628800"/>
            <a:ext cx="525760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9821316" y="1027906"/>
            <a:ext cx="1957608" cy="447256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0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Blocks aldosterone at the distal tubule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1E6BE7-2126-4AED-AAC9-59F87CCCDFD4}"/>
              </a:ext>
            </a:extLst>
          </p:cNvPr>
          <p:cNvSpPr/>
          <p:nvPr/>
        </p:nvSpPr>
        <p:spPr>
          <a:xfrm>
            <a:off x="5178695" y="6492875"/>
            <a:ext cx="5492209" cy="265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Katung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BG, Masters SB: Basic and Clinical Pharmacology 11</a:t>
            </a:r>
            <a:r>
              <a:rPr lang="en-AU" sz="11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ed. McGraw-Hill Companies, Inc</a:t>
            </a:r>
          </a:p>
        </p:txBody>
      </p:sp>
    </p:spTree>
    <p:extLst>
      <p:ext uri="{BB962C8B-B14F-4D97-AF65-F5344CB8AC3E}">
        <p14:creationId xmlns:p14="http://schemas.microsoft.com/office/powerpoint/2010/main" val="3037075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Potassium-sparing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Spironolactone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Blocks aldosterone at the distal tubule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Used for any aldosterone excess states.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Toxicity includes hyperkalaemia (raised k+ potassium levels)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Blocks androgen as well (dysmenorrhoea in women, breast development in males)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0912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Potassium-sparing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Potassium-sparing diuretics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Spironolactone (Aldactone): Aldosterone antagonist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Amiloride: Blocks sodium channels</a:t>
            </a:r>
          </a:p>
          <a:p>
            <a:pPr lvl="1"/>
            <a:endParaRPr lang="en-AU" sz="28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Spironolactone  was at one time thought to be important for all patients with hypertension but it causes hyperkalaemia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Some say it should not be used with ACE inhibitors, but some people can tolerate it</a:t>
            </a:r>
          </a:p>
          <a:p>
            <a:pPr lvl="1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1853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1980192"/>
            <a:ext cx="8611135" cy="2833921"/>
          </a:xfrm>
        </p:spPr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Cardiovascular/Renal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6: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Other diuretics</a:t>
            </a:r>
          </a:p>
        </p:txBody>
      </p:sp>
    </p:spTree>
    <p:extLst>
      <p:ext uri="{BB962C8B-B14F-4D97-AF65-F5344CB8AC3E}">
        <p14:creationId xmlns:p14="http://schemas.microsoft.com/office/powerpoint/2010/main" val="1380829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34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ADH antagonists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87829" y="1609043"/>
            <a:ext cx="3886200" cy="4883831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“…vaptan” drugs 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Blocks ADH receptors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ETOH (alcohol)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Inhibits pituitary secretion of ADH</a:t>
            </a:r>
          </a:p>
          <a:p>
            <a:pPr lvl="1"/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Not used as a diuretic but this explains why one is dehydrated after intoxication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2" descr="http://basic-clinical-pharmacology.net/chapter%2015_%20diuretic%20agents_files/image006.gif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044" y="1628800"/>
            <a:ext cx="5640444" cy="474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9768408" y="2780928"/>
            <a:ext cx="525760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9797232" y="4023424"/>
            <a:ext cx="525760" cy="601216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10322992" y="3487913"/>
            <a:ext cx="1957608" cy="447256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000" b="1" dirty="0">
                <a:solidFill>
                  <a:srgbClr val="FF0000"/>
                </a:solidFill>
              </a:rPr>
              <a:t>Blocks ADH receptors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E91003-093A-4AC2-A170-11927DB7B754}"/>
              </a:ext>
            </a:extLst>
          </p:cNvPr>
          <p:cNvSpPr/>
          <p:nvPr/>
        </p:nvSpPr>
        <p:spPr>
          <a:xfrm>
            <a:off x="4922161" y="6450509"/>
            <a:ext cx="5492209" cy="265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Katung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BG, Masters SB: Basic and Clinical Pharmacology 11</a:t>
            </a:r>
            <a:r>
              <a:rPr lang="en-AU" sz="11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AU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ed. McGraw-Hill Companies, Inc</a:t>
            </a:r>
          </a:p>
        </p:txBody>
      </p:sp>
    </p:spTree>
    <p:extLst>
      <p:ext uri="{BB962C8B-B14F-4D97-AF65-F5344CB8AC3E}">
        <p14:creationId xmlns:p14="http://schemas.microsoft.com/office/powerpoint/2010/main" val="1817174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Osmotic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Non-</a:t>
            </a:r>
            <a:r>
              <a:rPr lang="en-AU" sz="3200" b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reabsorbable</a:t>
            </a: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solute pulls water in </a:t>
            </a: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Used to maintain urine volume and reduce intracranial and intraocular pressure</a:t>
            </a:r>
          </a:p>
          <a:p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Initially expands fluid volume (bad for CHF)</a:t>
            </a: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Then high sodium because sodium is not following</a:t>
            </a: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Produces hyperkalaemia </a:t>
            </a:r>
          </a:p>
        </p:txBody>
      </p:sp>
    </p:spTree>
    <p:extLst>
      <p:ext uri="{BB962C8B-B14F-4D97-AF65-F5344CB8AC3E}">
        <p14:creationId xmlns:p14="http://schemas.microsoft.com/office/powerpoint/2010/main" val="2054926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7F8EC-C94A-4245-82B7-60ED0B5A9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558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BBB7F-CC27-41A5-850B-9646EAEA8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916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ADH and aldosterone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ACE inhibitors act as diuretics by indirectly decreasing the ADH and aldosterone secretion</a:t>
            </a: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Despite this, ACE inhibitors are not considered diuretics (they are in a class of their own and have diuretic actions)</a:t>
            </a:r>
          </a:p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Some of the other diuretics act on </a:t>
            </a:r>
          </a:p>
          <a:p>
            <a:pPr lvl="1"/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ADH the water saver and </a:t>
            </a:r>
          </a:p>
          <a:p>
            <a:pPr lvl="1"/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aldosterone the salt saver</a:t>
            </a:r>
          </a:p>
        </p:txBody>
      </p:sp>
    </p:spTree>
    <p:extLst>
      <p:ext uri="{BB962C8B-B14F-4D97-AF65-F5344CB8AC3E}">
        <p14:creationId xmlns:p14="http://schemas.microsoft.com/office/powerpoint/2010/main" val="3498824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56" y="0"/>
            <a:ext cx="12283711" cy="684378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6369E5-C74A-4BE1-B7E3-7F3EC7CFD61E}"/>
              </a:ext>
            </a:extLst>
          </p:cNvPr>
          <p:cNvSpPr/>
          <p:nvPr/>
        </p:nvSpPr>
        <p:spPr>
          <a:xfrm>
            <a:off x="108030" y="59204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A. Rad (me), CC BY-SA 3.0 &lt;http://creativecommons.org/licenses/by-sa/3.0/&gt;,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2919994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76532"/>
            <a:ext cx="10290343" cy="5449303"/>
          </a:xfrm>
        </p:spPr>
        <p:txBody>
          <a:bodyPr>
            <a:normAutofit lnSpcReduction="10000"/>
          </a:bodyPr>
          <a:lstStyle/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McCance K, </a:t>
            </a:r>
            <a:r>
              <a:rPr lang="en-AU" sz="26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Huether</a:t>
            </a:r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S: Pathophysiology: The biological basis for disease in adults and children 8</a:t>
            </a:r>
            <a:r>
              <a:rPr lang="en-AU" sz="2600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Mosby St Louis 2018</a:t>
            </a:r>
          </a:p>
          <a:p>
            <a:r>
              <a:rPr lang="en-AU" sz="26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EN et al. Human Anatomy and Physiology. Pearson Education 2011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Thibodeau G: Anatomy and physiology 5th ed Mosby St. Louis 2003 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Wong DL: Whaley and Wong’s nursing care of infants and children 7th ed. Mosby, St Louis, 2003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A. Rad, CC BY-SA 3.0 &lt;http://creativecommons.org/licenses/by-sa/3.0/&gt;, via Wikimedia Commons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pPr lvl="1"/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707785" y="437477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References</a:t>
            </a:r>
            <a:endParaRPr lang="en-AU" sz="40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83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3.xml><?xml version="1.0" encoding="utf-8"?>
<a:theme xmlns:a="http://schemas.openxmlformats.org/drawingml/2006/main" name="Chapter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3EEEE9FF-5942-D645-A70B-E7E7029D5987}"/>
    </a:ext>
  </a:extLst>
</a:theme>
</file>

<file path=ppt/theme/theme4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8610</TotalTime>
  <Words>1031</Words>
  <Application>Microsoft Office PowerPoint</Application>
  <PresentationFormat>Widescreen</PresentationFormat>
  <Paragraphs>161</Paragraphs>
  <Slides>40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Arial</vt:lpstr>
      <vt:lpstr>Calibri</vt:lpstr>
      <vt:lpstr>Calibri Light</vt:lpstr>
      <vt:lpstr>Roboto</vt:lpstr>
      <vt:lpstr>Roboto Black</vt:lpstr>
      <vt:lpstr>Roboto Light</vt:lpstr>
      <vt:lpstr>Roboto Medium</vt:lpstr>
      <vt:lpstr>Times New Roman</vt:lpstr>
      <vt:lpstr>Wingdings 2</vt:lpstr>
      <vt:lpstr>Office Theme</vt:lpstr>
      <vt:lpstr>Opening Slide</vt:lpstr>
      <vt:lpstr>Chapter Slides</vt:lpstr>
      <vt:lpstr>Content Slides</vt:lpstr>
      <vt:lpstr>Photo Editor Photo</vt:lpstr>
      <vt:lpstr>PowerPoint Presentation</vt:lpstr>
      <vt:lpstr>PowerPoint Presentation</vt:lpstr>
      <vt:lpstr>PowerPoint Presentation</vt:lpstr>
      <vt:lpstr>PowerPoint Presentation</vt:lpstr>
      <vt:lpstr>Location of the kidneys,  ureters and bladder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Filtration,  reabsorption  and secretion</vt:lpstr>
      <vt:lpstr>Reabsorption and Secretion</vt:lpstr>
      <vt:lpstr>PowerPoint Presentation</vt:lpstr>
      <vt:lpstr>PowerPoint Presentation</vt:lpstr>
      <vt:lpstr>Flow of urine </vt:lpstr>
      <vt:lpstr>Patients commencing diuretics </vt:lpstr>
      <vt:lpstr>PowerPoint Presentation</vt:lpstr>
      <vt:lpstr>PowerPoint Presentation</vt:lpstr>
      <vt:lpstr>Thiazide diuretics (hydrochlorothiazide) Thiazide like diuretic (metolazone) </vt:lpstr>
      <vt:lpstr>Thiazide toxicity</vt:lpstr>
      <vt:lpstr>Thiazide diuretics  (hydrochlorothiazide) </vt:lpstr>
      <vt:lpstr>A symporter on the cell surface</vt:lpstr>
      <vt:lpstr>PowerPoint Presentation</vt:lpstr>
      <vt:lpstr>PowerPoint Presentation</vt:lpstr>
      <vt:lpstr>Loop diuretics </vt:lpstr>
      <vt:lpstr>Loop diuretics </vt:lpstr>
      <vt:lpstr>Loop diuretics </vt:lpstr>
      <vt:lpstr>PowerPoint Presentation</vt:lpstr>
      <vt:lpstr>Potassium sparing diuretics</vt:lpstr>
      <vt:lpstr>Potassium-sparing diuretics</vt:lpstr>
      <vt:lpstr>Potassium-sparing diuretics</vt:lpstr>
      <vt:lpstr>PowerPoint Presentation</vt:lpstr>
      <vt:lpstr>ADH antagonists</vt:lpstr>
      <vt:lpstr>Osmotic diuretics</vt:lpstr>
      <vt:lpstr>PowerPoint Presentation</vt:lpstr>
      <vt:lpstr>PowerPoint Presentation</vt:lpstr>
      <vt:lpstr>ADH and aldosterone</vt:lpstr>
      <vt:lpstr>PowerPoint Presentation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Wojcikowski</dc:creator>
  <cp:lastModifiedBy>Ken Wojcikowski</cp:lastModifiedBy>
  <cp:revision>126</cp:revision>
  <dcterms:created xsi:type="dcterms:W3CDTF">2019-10-09T20:36:29Z</dcterms:created>
  <dcterms:modified xsi:type="dcterms:W3CDTF">2023-02-26T19:43:09Z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