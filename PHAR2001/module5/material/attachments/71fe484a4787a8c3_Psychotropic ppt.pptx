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 id="2147483662" r:id="rId6"/>
    <p:sldMasterId id="2147483668" r:id="rId7"/>
  </p:sldMasterIdLst>
  <p:notesMasterIdLst>
    <p:notesMasterId r:id="rId100"/>
  </p:notesMasterIdLst>
  <p:sldIdLst>
    <p:sldId id="325" r:id="rId8"/>
    <p:sldId id="268" r:id="rId9"/>
    <p:sldId id="388" r:id="rId10"/>
    <p:sldId id="588" r:id="rId11"/>
    <p:sldId id="603" r:id="rId12"/>
    <p:sldId id="633" r:id="rId13"/>
    <p:sldId id="604" r:id="rId14"/>
    <p:sldId id="694" r:id="rId15"/>
    <p:sldId id="376" r:id="rId16"/>
    <p:sldId id="377" r:id="rId17"/>
    <p:sldId id="632" r:id="rId18"/>
    <p:sldId id="378" r:id="rId19"/>
    <p:sldId id="605" r:id="rId20"/>
    <p:sldId id="631" r:id="rId21"/>
    <p:sldId id="630" r:id="rId22"/>
    <p:sldId id="634" r:id="rId23"/>
    <p:sldId id="380" r:id="rId24"/>
    <p:sldId id="635" r:id="rId25"/>
    <p:sldId id="381" r:id="rId26"/>
    <p:sldId id="436" r:id="rId27"/>
    <p:sldId id="447" r:id="rId28"/>
    <p:sldId id="444" r:id="rId29"/>
    <p:sldId id="382" r:id="rId30"/>
    <p:sldId id="636" r:id="rId31"/>
    <p:sldId id="617" r:id="rId32"/>
    <p:sldId id="383" r:id="rId33"/>
    <p:sldId id="285" r:id="rId34"/>
    <p:sldId id="437" r:id="rId35"/>
    <p:sldId id="690" r:id="rId36"/>
    <p:sldId id="689" r:id="rId37"/>
    <p:sldId id="441" r:id="rId38"/>
    <p:sldId id="606" r:id="rId39"/>
    <p:sldId id="410" r:id="rId40"/>
    <p:sldId id="644" r:id="rId41"/>
    <p:sldId id="693" r:id="rId42"/>
    <p:sldId id="442" r:id="rId43"/>
    <p:sldId id="445" r:id="rId44"/>
    <p:sldId id="645" r:id="rId45"/>
    <p:sldId id="637" r:id="rId46"/>
    <p:sldId id="619" r:id="rId47"/>
    <p:sldId id="369" r:id="rId48"/>
    <p:sldId id="695" r:id="rId49"/>
    <p:sldId id="608" r:id="rId50"/>
    <p:sldId id="343" r:id="rId51"/>
    <p:sldId id="345" r:id="rId52"/>
    <p:sldId id="336" r:id="rId53"/>
    <p:sldId id="651" r:id="rId54"/>
    <p:sldId id="609" r:id="rId55"/>
    <p:sldId id="360" r:id="rId56"/>
    <p:sldId id="650" r:id="rId57"/>
    <p:sldId id="394" r:id="rId58"/>
    <p:sldId id="448" r:id="rId59"/>
    <p:sldId id="654" r:id="rId60"/>
    <p:sldId id="652" r:id="rId61"/>
    <p:sldId id="389" r:id="rId62"/>
    <p:sldId id="657" r:id="rId63"/>
    <p:sldId id="393" r:id="rId64"/>
    <p:sldId id="653" r:id="rId65"/>
    <p:sldId id="646" r:id="rId66"/>
    <p:sldId id="612" r:id="rId67"/>
    <p:sldId id="413" r:id="rId68"/>
    <p:sldId id="638" r:id="rId69"/>
    <p:sldId id="620" r:id="rId70"/>
    <p:sldId id="419" r:id="rId71"/>
    <p:sldId id="420" r:id="rId72"/>
    <p:sldId id="421" r:id="rId73"/>
    <p:sldId id="696" r:id="rId74"/>
    <p:sldId id="658" r:id="rId75"/>
    <p:sldId id="698" r:id="rId76"/>
    <p:sldId id="660" r:id="rId77"/>
    <p:sldId id="661" r:id="rId78"/>
    <p:sldId id="697" r:id="rId79"/>
    <p:sldId id="668" r:id="rId80"/>
    <p:sldId id="423" r:id="rId81"/>
    <p:sldId id="424" r:id="rId82"/>
    <p:sldId id="665" r:id="rId83"/>
    <p:sldId id="425" r:id="rId84"/>
    <p:sldId id="426" r:id="rId85"/>
    <p:sldId id="422" r:id="rId86"/>
    <p:sldId id="639" r:id="rId87"/>
    <p:sldId id="621" r:id="rId88"/>
    <p:sldId id="681" r:id="rId89"/>
    <p:sldId id="682" r:id="rId90"/>
    <p:sldId id="684" r:id="rId91"/>
    <p:sldId id="673" r:id="rId92"/>
    <p:sldId id="685" r:id="rId93"/>
    <p:sldId id="683" r:id="rId94"/>
    <p:sldId id="679" r:id="rId95"/>
    <p:sldId id="680" r:id="rId96"/>
    <p:sldId id="416" r:id="rId97"/>
    <p:sldId id="686" r:id="rId98"/>
    <p:sldId id="687" r:id="rId9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en Wojcikowski" initials="KW" lastIdx="0" clrIdx="0">
    <p:extLst>
      <p:ext uri="{19B8F6BF-5375-455C-9EA6-DF929625EA0E}">
        <p15:presenceInfo xmlns:p15="http://schemas.microsoft.com/office/powerpoint/2012/main" userId="S-1-5-21-2480466078-756638408-271747008-603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A7386"/>
    <a:srgbClr val="FFC3FF"/>
    <a:srgbClr val="7030A0"/>
    <a:srgbClr val="C4E8FF"/>
    <a:srgbClr val="D3CAC1"/>
    <a:srgbClr val="CCC4BB"/>
    <a:srgbClr val="D4D0C4"/>
    <a:srgbClr val="D6D0C2"/>
    <a:srgbClr val="3399FF"/>
    <a:srgbClr val="5773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13" autoAdjust="0"/>
    <p:restoredTop sz="73112" autoAdjust="0"/>
  </p:normalViewPr>
  <p:slideViewPr>
    <p:cSldViewPr snapToGrid="0">
      <p:cViewPr varScale="1">
        <p:scale>
          <a:sx n="68" d="100"/>
          <a:sy n="68" d="100"/>
        </p:scale>
        <p:origin x="46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slide" Target="slides/slide77.xml"/><Relationship Id="rId89" Type="http://schemas.openxmlformats.org/officeDocument/2006/relationships/slide" Target="slides/slide82.xml"/><Relationship Id="rId16" Type="http://schemas.openxmlformats.org/officeDocument/2006/relationships/slide" Target="slides/slide9.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102" Type="http://schemas.openxmlformats.org/officeDocument/2006/relationships/presProps" Target="presProps.xml"/><Relationship Id="rId5" Type="http://schemas.openxmlformats.org/officeDocument/2006/relationships/slideMaster" Target="slideMasters/slideMaster2.xml"/><Relationship Id="rId90" Type="http://schemas.openxmlformats.org/officeDocument/2006/relationships/slide" Target="slides/slide83.xml"/><Relationship Id="rId95" Type="http://schemas.openxmlformats.org/officeDocument/2006/relationships/slide" Target="slides/slide88.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80" Type="http://schemas.openxmlformats.org/officeDocument/2006/relationships/slide" Target="slides/slide73.xml"/><Relationship Id="rId85" Type="http://schemas.openxmlformats.org/officeDocument/2006/relationships/slide" Target="slides/slide78.xml"/><Relationship Id="rId12" Type="http://schemas.openxmlformats.org/officeDocument/2006/relationships/slide" Target="slides/slide5.xml"/><Relationship Id="rId17" Type="http://schemas.openxmlformats.org/officeDocument/2006/relationships/slide" Target="slides/slide10.xml"/><Relationship Id="rId33" Type="http://schemas.openxmlformats.org/officeDocument/2006/relationships/slide" Target="slides/slide26.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viewProps" Target="viewProp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slide" Target="slides/slide76.xml"/><Relationship Id="rId88" Type="http://schemas.openxmlformats.org/officeDocument/2006/relationships/slide" Target="slides/slide81.xml"/><Relationship Id="rId91" Type="http://schemas.openxmlformats.org/officeDocument/2006/relationships/slide" Target="slides/slide84.xml"/><Relationship Id="rId96" Type="http://schemas.openxmlformats.org/officeDocument/2006/relationships/slide" Target="slides/slide89.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6" Type="http://schemas.microsoft.com/office/2016/11/relationships/changesInfo" Target="changesInfos/changesInfo1.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slide" Target="slides/slide74.xml"/><Relationship Id="rId86" Type="http://schemas.openxmlformats.org/officeDocument/2006/relationships/slide" Target="slides/slide79.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04" Type="http://schemas.openxmlformats.org/officeDocument/2006/relationships/theme" Target="theme/theme1.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slide" Target="slides/slide85.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3" Type="http://schemas.openxmlformats.org/officeDocument/2006/relationships/customXml" Target="../customXml/item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 Wojcikowski" userId="3d9dd381-bb96-4ff2-a8e3-dc2a625deaa7" providerId="ADAL" clId="{94C6F1D0-6B75-42D1-B62C-6343906F0330}"/>
    <pc:docChg chg="undo redo modSld sldOrd">
      <pc:chgData name="Ken Wojcikowski" userId="3d9dd381-bb96-4ff2-a8e3-dc2a625deaa7" providerId="ADAL" clId="{94C6F1D0-6B75-42D1-B62C-6343906F0330}" dt="2022-09-08T05:39:52.628" v="34" actId="20577"/>
      <pc:docMkLst>
        <pc:docMk/>
      </pc:docMkLst>
      <pc:sldChg chg="ord">
        <pc:chgData name="Ken Wojcikowski" userId="3d9dd381-bb96-4ff2-a8e3-dc2a625deaa7" providerId="ADAL" clId="{94C6F1D0-6B75-42D1-B62C-6343906F0330}" dt="2022-09-07T22:34:35.926" v="26"/>
        <pc:sldMkLst>
          <pc:docMk/>
          <pc:sldMk cId="1377272692" sldId="325"/>
        </pc:sldMkLst>
      </pc:sldChg>
      <pc:sldChg chg="modSp">
        <pc:chgData name="Ken Wojcikowski" userId="3d9dd381-bb96-4ff2-a8e3-dc2a625deaa7" providerId="ADAL" clId="{94C6F1D0-6B75-42D1-B62C-6343906F0330}" dt="2022-09-05T20:13:37.498" v="1" actId="20577"/>
        <pc:sldMkLst>
          <pc:docMk/>
          <pc:sldMk cId="1710490268" sldId="377"/>
        </pc:sldMkLst>
        <pc:spChg chg="mod">
          <ac:chgData name="Ken Wojcikowski" userId="3d9dd381-bb96-4ff2-a8e3-dc2a625deaa7" providerId="ADAL" clId="{94C6F1D0-6B75-42D1-B62C-6343906F0330}" dt="2022-09-05T20:13:37.498" v="1" actId="20577"/>
          <ac:spMkLst>
            <pc:docMk/>
            <pc:sldMk cId="1710490268" sldId="377"/>
            <ac:spMk id="3" creationId="{00000000-0000-0000-0000-000000000000}"/>
          </ac:spMkLst>
        </pc:spChg>
      </pc:sldChg>
      <pc:sldChg chg="modSp">
        <pc:chgData name="Ken Wojcikowski" userId="3d9dd381-bb96-4ff2-a8e3-dc2a625deaa7" providerId="ADAL" clId="{94C6F1D0-6B75-42D1-B62C-6343906F0330}" dt="2022-09-07T10:48:20.920" v="25" actId="20577"/>
        <pc:sldMkLst>
          <pc:docMk/>
          <pc:sldMk cId="2031353866" sldId="603"/>
        </pc:sldMkLst>
        <pc:spChg chg="mod">
          <ac:chgData name="Ken Wojcikowski" userId="3d9dd381-bb96-4ff2-a8e3-dc2a625deaa7" providerId="ADAL" clId="{94C6F1D0-6B75-42D1-B62C-6343906F0330}" dt="2022-09-07T10:48:20.920" v="25" actId="20577"/>
          <ac:spMkLst>
            <pc:docMk/>
            <pc:sldMk cId="2031353866" sldId="603"/>
            <ac:spMk id="3" creationId="{00000000-0000-0000-0000-000000000000}"/>
          </ac:spMkLst>
        </pc:spChg>
      </pc:sldChg>
      <pc:sldChg chg="modSp">
        <pc:chgData name="Ken Wojcikowski" userId="3d9dd381-bb96-4ff2-a8e3-dc2a625deaa7" providerId="ADAL" clId="{94C6F1D0-6B75-42D1-B62C-6343906F0330}" dt="2022-09-07T10:48:16.336" v="23" actId="20577"/>
        <pc:sldMkLst>
          <pc:docMk/>
          <pc:sldMk cId="2195858439" sldId="632"/>
        </pc:sldMkLst>
        <pc:spChg chg="mod">
          <ac:chgData name="Ken Wojcikowski" userId="3d9dd381-bb96-4ff2-a8e3-dc2a625deaa7" providerId="ADAL" clId="{94C6F1D0-6B75-42D1-B62C-6343906F0330}" dt="2022-09-07T10:48:16.336" v="23" actId="20577"/>
          <ac:spMkLst>
            <pc:docMk/>
            <pc:sldMk cId="2195858439" sldId="632"/>
            <ac:spMk id="6" creationId="{412AF3EA-8299-4F19-A75A-7252A5B31D7D}"/>
          </ac:spMkLst>
        </pc:spChg>
      </pc:sldChg>
      <pc:sldChg chg="modSp">
        <pc:chgData name="Ken Wojcikowski" userId="3d9dd381-bb96-4ff2-a8e3-dc2a625deaa7" providerId="ADAL" clId="{94C6F1D0-6B75-42D1-B62C-6343906F0330}" dt="2022-09-08T05:39:52.628" v="34" actId="20577"/>
        <pc:sldMkLst>
          <pc:docMk/>
          <pc:sldMk cId="3438560385" sldId="657"/>
        </pc:sldMkLst>
        <pc:spChg chg="mod">
          <ac:chgData name="Ken Wojcikowski" userId="3d9dd381-bb96-4ff2-a8e3-dc2a625deaa7" providerId="ADAL" clId="{94C6F1D0-6B75-42D1-B62C-6343906F0330}" dt="2022-09-08T05:39:52.628" v="34" actId="20577"/>
          <ac:spMkLst>
            <pc:docMk/>
            <pc:sldMk cId="3438560385" sldId="657"/>
            <ac:spMk id="3" creationId="{3498FA7F-0F22-499A-9766-1A61517A9A78}"/>
          </ac:spMkLst>
        </pc:spChg>
      </pc:sldChg>
    </pc:docChg>
  </pc:docChgLst>
  <pc:docChgLst>
    <pc:chgData name="Ken Wojcikowski" userId="3d9dd381-bb96-4ff2-a8e3-dc2a625deaa7" providerId="ADAL" clId="{BAE98C2C-F901-4806-8D9A-166F0AA0DD32}"/>
  </pc:docChgLst>
  <pc:docChgLst>
    <pc:chgData name="Ken Wojcikowski" userId="3d9dd381-bb96-4ff2-a8e3-dc2a625deaa7" providerId="ADAL" clId="{0179277F-A657-4E12-9904-214742BFAFE6}"/>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7EA9DB-4D24-41D2-9B83-3621BC68401B}" type="datetimeFigureOut">
              <a:rPr lang="en-AU" smtClean="0"/>
              <a:t>8/09/2022</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4561FD-5DE1-4ED8-9EC0-79EBB7F68F4C}" type="slidenum">
              <a:rPr lang="en-AU" smtClean="0"/>
              <a:t>‹#›</a:t>
            </a:fld>
            <a:endParaRPr lang="en-AU"/>
          </a:p>
        </p:txBody>
      </p:sp>
    </p:spTree>
    <p:extLst>
      <p:ext uri="{BB962C8B-B14F-4D97-AF65-F5344CB8AC3E}">
        <p14:creationId xmlns:p14="http://schemas.microsoft.com/office/powerpoint/2010/main" val="967701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3</a:t>
            </a:fld>
            <a:endParaRPr lang="en-AU"/>
          </a:p>
        </p:txBody>
      </p:sp>
    </p:spTree>
    <p:extLst>
      <p:ext uri="{BB962C8B-B14F-4D97-AF65-F5344CB8AC3E}">
        <p14:creationId xmlns:p14="http://schemas.microsoft.com/office/powerpoint/2010/main" val="25363717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4</a:t>
            </a:fld>
            <a:endParaRPr lang="en-AU"/>
          </a:p>
        </p:txBody>
      </p:sp>
    </p:spTree>
    <p:extLst>
      <p:ext uri="{BB962C8B-B14F-4D97-AF65-F5344CB8AC3E}">
        <p14:creationId xmlns:p14="http://schemas.microsoft.com/office/powerpoint/2010/main" val="1929401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00539A87-F627-4430-9ECF-03663228E67E}" type="slidenum">
              <a:rPr lang="en-AU" smtClean="0"/>
              <a:t>5</a:t>
            </a:fld>
            <a:endParaRPr lang="en-AU"/>
          </a:p>
        </p:txBody>
      </p:sp>
    </p:spTree>
    <p:extLst>
      <p:ext uri="{BB962C8B-B14F-4D97-AF65-F5344CB8AC3E}">
        <p14:creationId xmlns:p14="http://schemas.microsoft.com/office/powerpoint/2010/main" val="2090365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7</a:t>
            </a:fld>
            <a:endParaRPr lang="en-AU"/>
          </a:p>
        </p:txBody>
      </p:sp>
    </p:spTree>
    <p:extLst>
      <p:ext uri="{BB962C8B-B14F-4D97-AF65-F5344CB8AC3E}">
        <p14:creationId xmlns:p14="http://schemas.microsoft.com/office/powerpoint/2010/main" val="14395095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8</a:t>
            </a:fld>
            <a:endParaRPr lang="en-AU"/>
          </a:p>
        </p:txBody>
      </p:sp>
    </p:spTree>
    <p:extLst>
      <p:ext uri="{BB962C8B-B14F-4D97-AF65-F5344CB8AC3E}">
        <p14:creationId xmlns:p14="http://schemas.microsoft.com/office/powerpoint/2010/main" val="3104577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9</a:t>
            </a:fld>
            <a:endParaRPr lang="en-AU"/>
          </a:p>
        </p:txBody>
      </p:sp>
    </p:spTree>
    <p:extLst>
      <p:ext uri="{BB962C8B-B14F-4D97-AF65-F5344CB8AC3E}">
        <p14:creationId xmlns:p14="http://schemas.microsoft.com/office/powerpoint/2010/main" val="39660893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10</a:t>
            </a:fld>
            <a:endParaRPr lang="en-AU"/>
          </a:p>
        </p:txBody>
      </p:sp>
    </p:spTree>
    <p:extLst>
      <p:ext uri="{BB962C8B-B14F-4D97-AF65-F5344CB8AC3E}">
        <p14:creationId xmlns:p14="http://schemas.microsoft.com/office/powerpoint/2010/main" val="1455047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12</a:t>
            </a:fld>
            <a:endParaRPr lang="en-AU"/>
          </a:p>
        </p:txBody>
      </p:sp>
    </p:spTree>
    <p:extLst>
      <p:ext uri="{BB962C8B-B14F-4D97-AF65-F5344CB8AC3E}">
        <p14:creationId xmlns:p14="http://schemas.microsoft.com/office/powerpoint/2010/main" val="24590308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13</a:t>
            </a:fld>
            <a:endParaRPr lang="en-AU"/>
          </a:p>
        </p:txBody>
      </p:sp>
    </p:spTree>
    <p:extLst>
      <p:ext uri="{BB962C8B-B14F-4D97-AF65-F5344CB8AC3E}">
        <p14:creationId xmlns:p14="http://schemas.microsoft.com/office/powerpoint/2010/main" val="1938478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14</a:t>
            </a:fld>
            <a:endParaRPr lang="en-AU"/>
          </a:p>
        </p:txBody>
      </p:sp>
    </p:spTree>
    <p:extLst>
      <p:ext uri="{BB962C8B-B14F-4D97-AF65-F5344CB8AC3E}">
        <p14:creationId xmlns:p14="http://schemas.microsoft.com/office/powerpoint/2010/main" val="363254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15</a:t>
            </a:fld>
            <a:endParaRPr lang="en-AU"/>
          </a:p>
        </p:txBody>
      </p:sp>
    </p:spTree>
    <p:extLst>
      <p:ext uri="{BB962C8B-B14F-4D97-AF65-F5344CB8AC3E}">
        <p14:creationId xmlns:p14="http://schemas.microsoft.com/office/powerpoint/2010/main" val="37525944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524561FD-5DE1-4ED8-9EC0-79EBB7F68F4C}" type="slidenum">
              <a:rPr lang="en-AU" smtClean="0"/>
              <a:t>16</a:t>
            </a:fld>
            <a:endParaRPr lang="en-AU"/>
          </a:p>
        </p:txBody>
      </p:sp>
    </p:spTree>
    <p:extLst>
      <p:ext uri="{BB962C8B-B14F-4D97-AF65-F5344CB8AC3E}">
        <p14:creationId xmlns:p14="http://schemas.microsoft.com/office/powerpoint/2010/main" val="14041114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17</a:t>
            </a:fld>
            <a:endParaRPr lang="en-AU"/>
          </a:p>
        </p:txBody>
      </p:sp>
    </p:spTree>
    <p:extLst>
      <p:ext uri="{BB962C8B-B14F-4D97-AF65-F5344CB8AC3E}">
        <p14:creationId xmlns:p14="http://schemas.microsoft.com/office/powerpoint/2010/main" val="33520381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19</a:t>
            </a:fld>
            <a:endParaRPr lang="en-AU"/>
          </a:p>
        </p:txBody>
      </p:sp>
    </p:spTree>
    <p:extLst>
      <p:ext uri="{BB962C8B-B14F-4D97-AF65-F5344CB8AC3E}">
        <p14:creationId xmlns:p14="http://schemas.microsoft.com/office/powerpoint/2010/main" val="29048320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23</a:t>
            </a:fld>
            <a:endParaRPr lang="en-AU"/>
          </a:p>
        </p:txBody>
      </p:sp>
    </p:spTree>
    <p:extLst>
      <p:ext uri="{BB962C8B-B14F-4D97-AF65-F5344CB8AC3E}">
        <p14:creationId xmlns:p14="http://schemas.microsoft.com/office/powerpoint/2010/main" val="27099642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25</a:t>
            </a:fld>
            <a:endParaRPr lang="en-AU"/>
          </a:p>
        </p:txBody>
      </p:sp>
    </p:spTree>
    <p:extLst>
      <p:ext uri="{BB962C8B-B14F-4D97-AF65-F5344CB8AC3E}">
        <p14:creationId xmlns:p14="http://schemas.microsoft.com/office/powerpoint/2010/main" val="42433210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26</a:t>
            </a:fld>
            <a:endParaRPr lang="en-AU"/>
          </a:p>
        </p:txBody>
      </p:sp>
    </p:spTree>
    <p:extLst>
      <p:ext uri="{BB962C8B-B14F-4D97-AF65-F5344CB8AC3E}">
        <p14:creationId xmlns:p14="http://schemas.microsoft.com/office/powerpoint/2010/main" val="41395958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00539A87-F627-4430-9ECF-03663228E67E}" type="slidenum">
              <a:rPr lang="en-AU" smtClean="0"/>
              <a:t>27</a:t>
            </a:fld>
            <a:endParaRPr lang="en-AU"/>
          </a:p>
        </p:txBody>
      </p:sp>
    </p:spTree>
    <p:extLst>
      <p:ext uri="{BB962C8B-B14F-4D97-AF65-F5344CB8AC3E}">
        <p14:creationId xmlns:p14="http://schemas.microsoft.com/office/powerpoint/2010/main" val="20903657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31</a:t>
            </a:fld>
            <a:endParaRPr lang="en-AU"/>
          </a:p>
        </p:txBody>
      </p:sp>
    </p:spTree>
    <p:extLst>
      <p:ext uri="{BB962C8B-B14F-4D97-AF65-F5344CB8AC3E}">
        <p14:creationId xmlns:p14="http://schemas.microsoft.com/office/powerpoint/2010/main" val="40918301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32</a:t>
            </a:fld>
            <a:endParaRPr lang="en-AU"/>
          </a:p>
        </p:txBody>
      </p:sp>
    </p:spTree>
    <p:extLst>
      <p:ext uri="{BB962C8B-B14F-4D97-AF65-F5344CB8AC3E}">
        <p14:creationId xmlns:p14="http://schemas.microsoft.com/office/powerpoint/2010/main" val="15493512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 </a:t>
            </a:r>
          </a:p>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33</a:t>
            </a:fld>
            <a:endParaRPr lang="en-AU"/>
          </a:p>
        </p:txBody>
      </p:sp>
    </p:spTree>
    <p:extLst>
      <p:ext uri="{BB962C8B-B14F-4D97-AF65-F5344CB8AC3E}">
        <p14:creationId xmlns:p14="http://schemas.microsoft.com/office/powerpoint/2010/main" val="353723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34</a:t>
            </a:fld>
            <a:endParaRPr lang="en-AU"/>
          </a:p>
        </p:txBody>
      </p:sp>
    </p:spTree>
    <p:extLst>
      <p:ext uri="{BB962C8B-B14F-4D97-AF65-F5344CB8AC3E}">
        <p14:creationId xmlns:p14="http://schemas.microsoft.com/office/powerpoint/2010/main" val="12950087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35</a:t>
            </a:fld>
            <a:endParaRPr lang="en-AU"/>
          </a:p>
        </p:txBody>
      </p:sp>
    </p:spTree>
    <p:extLst>
      <p:ext uri="{BB962C8B-B14F-4D97-AF65-F5344CB8AC3E}">
        <p14:creationId xmlns:p14="http://schemas.microsoft.com/office/powerpoint/2010/main" val="407128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524561FD-5DE1-4ED8-9EC0-79EBB7F68F4C}" type="slidenum">
              <a:rPr lang="en-AU" smtClean="0"/>
              <a:t>36</a:t>
            </a:fld>
            <a:endParaRPr lang="en-AU"/>
          </a:p>
        </p:txBody>
      </p:sp>
    </p:spTree>
    <p:extLst>
      <p:ext uri="{BB962C8B-B14F-4D97-AF65-F5344CB8AC3E}">
        <p14:creationId xmlns:p14="http://schemas.microsoft.com/office/powerpoint/2010/main" val="21847805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37</a:t>
            </a:fld>
            <a:endParaRPr lang="en-AU"/>
          </a:p>
        </p:txBody>
      </p:sp>
    </p:spTree>
    <p:extLst>
      <p:ext uri="{BB962C8B-B14F-4D97-AF65-F5344CB8AC3E}">
        <p14:creationId xmlns:p14="http://schemas.microsoft.com/office/powerpoint/2010/main" val="5550435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38</a:t>
            </a:fld>
            <a:endParaRPr lang="en-AU"/>
          </a:p>
        </p:txBody>
      </p:sp>
    </p:spTree>
    <p:extLst>
      <p:ext uri="{BB962C8B-B14F-4D97-AF65-F5344CB8AC3E}">
        <p14:creationId xmlns:p14="http://schemas.microsoft.com/office/powerpoint/2010/main" val="24819155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40</a:t>
            </a:fld>
            <a:endParaRPr lang="en-AU"/>
          </a:p>
        </p:txBody>
      </p:sp>
    </p:spTree>
    <p:extLst>
      <p:ext uri="{BB962C8B-B14F-4D97-AF65-F5344CB8AC3E}">
        <p14:creationId xmlns:p14="http://schemas.microsoft.com/office/powerpoint/2010/main" val="17464535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00539A87-F627-4430-9ECF-03663228E67E}" type="slidenum">
              <a:rPr lang="en-AU" smtClean="0"/>
              <a:t>41</a:t>
            </a:fld>
            <a:endParaRPr lang="en-AU"/>
          </a:p>
        </p:txBody>
      </p:sp>
    </p:spTree>
    <p:extLst>
      <p:ext uri="{BB962C8B-B14F-4D97-AF65-F5344CB8AC3E}">
        <p14:creationId xmlns:p14="http://schemas.microsoft.com/office/powerpoint/2010/main" val="20903657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00539A87-F627-4430-9ECF-03663228E67E}" type="slidenum">
              <a:rPr lang="en-AU" smtClean="0"/>
              <a:t>42</a:t>
            </a:fld>
            <a:endParaRPr lang="en-AU"/>
          </a:p>
        </p:txBody>
      </p:sp>
    </p:spTree>
    <p:extLst>
      <p:ext uri="{BB962C8B-B14F-4D97-AF65-F5344CB8AC3E}">
        <p14:creationId xmlns:p14="http://schemas.microsoft.com/office/powerpoint/2010/main" val="11116095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43</a:t>
            </a:fld>
            <a:endParaRPr lang="en-AU"/>
          </a:p>
        </p:txBody>
      </p:sp>
    </p:spTree>
    <p:extLst>
      <p:ext uri="{BB962C8B-B14F-4D97-AF65-F5344CB8AC3E}">
        <p14:creationId xmlns:p14="http://schemas.microsoft.com/office/powerpoint/2010/main" val="36088031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48</a:t>
            </a:fld>
            <a:endParaRPr lang="en-AU"/>
          </a:p>
        </p:txBody>
      </p:sp>
    </p:spTree>
    <p:extLst>
      <p:ext uri="{BB962C8B-B14F-4D97-AF65-F5344CB8AC3E}">
        <p14:creationId xmlns:p14="http://schemas.microsoft.com/office/powerpoint/2010/main" val="7603359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50</a:t>
            </a:fld>
            <a:endParaRPr lang="en-AU"/>
          </a:p>
        </p:txBody>
      </p:sp>
    </p:spTree>
    <p:extLst>
      <p:ext uri="{BB962C8B-B14F-4D97-AF65-F5344CB8AC3E}">
        <p14:creationId xmlns:p14="http://schemas.microsoft.com/office/powerpoint/2010/main" val="27441525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51</a:t>
            </a:fld>
            <a:endParaRPr lang="en-AU"/>
          </a:p>
        </p:txBody>
      </p:sp>
    </p:spTree>
    <p:extLst>
      <p:ext uri="{BB962C8B-B14F-4D97-AF65-F5344CB8AC3E}">
        <p14:creationId xmlns:p14="http://schemas.microsoft.com/office/powerpoint/2010/main" val="31549513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53</a:t>
            </a:fld>
            <a:endParaRPr lang="en-AU"/>
          </a:p>
        </p:txBody>
      </p:sp>
    </p:spTree>
    <p:extLst>
      <p:ext uri="{BB962C8B-B14F-4D97-AF65-F5344CB8AC3E}">
        <p14:creationId xmlns:p14="http://schemas.microsoft.com/office/powerpoint/2010/main" val="42494374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54</a:t>
            </a:fld>
            <a:endParaRPr lang="en-AU"/>
          </a:p>
        </p:txBody>
      </p:sp>
    </p:spTree>
    <p:extLst>
      <p:ext uri="{BB962C8B-B14F-4D97-AF65-F5344CB8AC3E}">
        <p14:creationId xmlns:p14="http://schemas.microsoft.com/office/powerpoint/2010/main" val="41488998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55</a:t>
            </a:fld>
            <a:endParaRPr lang="en-AU"/>
          </a:p>
        </p:txBody>
      </p:sp>
    </p:spTree>
    <p:extLst>
      <p:ext uri="{BB962C8B-B14F-4D97-AF65-F5344CB8AC3E}">
        <p14:creationId xmlns:p14="http://schemas.microsoft.com/office/powerpoint/2010/main" val="19992803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56</a:t>
            </a:fld>
            <a:endParaRPr lang="en-AU"/>
          </a:p>
        </p:txBody>
      </p:sp>
    </p:spTree>
    <p:extLst>
      <p:ext uri="{BB962C8B-B14F-4D97-AF65-F5344CB8AC3E}">
        <p14:creationId xmlns:p14="http://schemas.microsoft.com/office/powerpoint/2010/main" val="17561877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57</a:t>
            </a:fld>
            <a:endParaRPr lang="en-AU"/>
          </a:p>
        </p:txBody>
      </p:sp>
    </p:spTree>
    <p:extLst>
      <p:ext uri="{BB962C8B-B14F-4D97-AF65-F5344CB8AC3E}">
        <p14:creationId xmlns:p14="http://schemas.microsoft.com/office/powerpoint/2010/main" val="15708044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58</a:t>
            </a:fld>
            <a:endParaRPr lang="en-AU"/>
          </a:p>
        </p:txBody>
      </p:sp>
    </p:spTree>
    <p:extLst>
      <p:ext uri="{BB962C8B-B14F-4D97-AF65-F5344CB8AC3E}">
        <p14:creationId xmlns:p14="http://schemas.microsoft.com/office/powerpoint/2010/main" val="37659645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60</a:t>
            </a:fld>
            <a:endParaRPr lang="en-AU"/>
          </a:p>
        </p:txBody>
      </p:sp>
    </p:spTree>
    <p:extLst>
      <p:ext uri="{BB962C8B-B14F-4D97-AF65-F5344CB8AC3E}">
        <p14:creationId xmlns:p14="http://schemas.microsoft.com/office/powerpoint/2010/main" val="15463359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63</a:t>
            </a:fld>
            <a:endParaRPr lang="en-AU"/>
          </a:p>
        </p:txBody>
      </p:sp>
    </p:spTree>
    <p:extLst>
      <p:ext uri="{BB962C8B-B14F-4D97-AF65-F5344CB8AC3E}">
        <p14:creationId xmlns:p14="http://schemas.microsoft.com/office/powerpoint/2010/main" val="37899967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64</a:t>
            </a:fld>
            <a:endParaRPr lang="en-AU"/>
          </a:p>
        </p:txBody>
      </p:sp>
    </p:spTree>
    <p:extLst>
      <p:ext uri="{BB962C8B-B14F-4D97-AF65-F5344CB8AC3E}">
        <p14:creationId xmlns:p14="http://schemas.microsoft.com/office/powerpoint/2010/main" val="30140042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65</a:t>
            </a:fld>
            <a:endParaRPr lang="en-AU"/>
          </a:p>
        </p:txBody>
      </p:sp>
    </p:spTree>
    <p:extLst>
      <p:ext uri="{BB962C8B-B14F-4D97-AF65-F5344CB8AC3E}">
        <p14:creationId xmlns:p14="http://schemas.microsoft.com/office/powerpoint/2010/main" val="1904747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66</a:t>
            </a:fld>
            <a:endParaRPr lang="en-AU"/>
          </a:p>
        </p:txBody>
      </p:sp>
    </p:spTree>
    <p:extLst>
      <p:ext uri="{BB962C8B-B14F-4D97-AF65-F5344CB8AC3E}">
        <p14:creationId xmlns:p14="http://schemas.microsoft.com/office/powerpoint/2010/main" val="35387273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67</a:t>
            </a:fld>
            <a:endParaRPr lang="en-AU"/>
          </a:p>
        </p:txBody>
      </p:sp>
    </p:spTree>
    <p:extLst>
      <p:ext uri="{BB962C8B-B14F-4D97-AF65-F5344CB8AC3E}">
        <p14:creationId xmlns:p14="http://schemas.microsoft.com/office/powerpoint/2010/main" val="11399970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73</a:t>
            </a:fld>
            <a:endParaRPr lang="en-AU"/>
          </a:p>
        </p:txBody>
      </p:sp>
    </p:spTree>
    <p:extLst>
      <p:ext uri="{BB962C8B-B14F-4D97-AF65-F5344CB8AC3E}">
        <p14:creationId xmlns:p14="http://schemas.microsoft.com/office/powerpoint/2010/main" val="16805468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74</a:t>
            </a:fld>
            <a:endParaRPr lang="en-AU"/>
          </a:p>
        </p:txBody>
      </p:sp>
    </p:spTree>
    <p:extLst>
      <p:ext uri="{BB962C8B-B14F-4D97-AF65-F5344CB8AC3E}">
        <p14:creationId xmlns:p14="http://schemas.microsoft.com/office/powerpoint/2010/main" val="295043427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75</a:t>
            </a:fld>
            <a:endParaRPr lang="en-AU"/>
          </a:p>
        </p:txBody>
      </p:sp>
    </p:spTree>
    <p:extLst>
      <p:ext uri="{BB962C8B-B14F-4D97-AF65-F5344CB8AC3E}">
        <p14:creationId xmlns:p14="http://schemas.microsoft.com/office/powerpoint/2010/main" val="29504342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76</a:t>
            </a:fld>
            <a:endParaRPr lang="en-AU"/>
          </a:p>
        </p:txBody>
      </p:sp>
    </p:spTree>
    <p:extLst>
      <p:ext uri="{BB962C8B-B14F-4D97-AF65-F5344CB8AC3E}">
        <p14:creationId xmlns:p14="http://schemas.microsoft.com/office/powerpoint/2010/main" val="235377512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EBC11E3F-B2AB-437F-ADA4-96031FD0EB65}" type="slidenum">
              <a:rPr lang="en-AU" smtClean="0"/>
              <a:t>77</a:t>
            </a:fld>
            <a:endParaRPr lang="en-AU"/>
          </a:p>
        </p:txBody>
      </p:sp>
    </p:spTree>
    <p:extLst>
      <p:ext uri="{BB962C8B-B14F-4D97-AF65-F5344CB8AC3E}">
        <p14:creationId xmlns:p14="http://schemas.microsoft.com/office/powerpoint/2010/main" val="10919559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78</a:t>
            </a:fld>
            <a:endParaRPr lang="en-AU"/>
          </a:p>
        </p:txBody>
      </p:sp>
    </p:spTree>
    <p:extLst>
      <p:ext uri="{BB962C8B-B14F-4D97-AF65-F5344CB8AC3E}">
        <p14:creationId xmlns:p14="http://schemas.microsoft.com/office/powerpoint/2010/main" val="321276204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BC11E3F-B2AB-437F-ADA4-96031FD0EB65}" type="slidenum">
              <a:rPr lang="en-AU" smtClean="0"/>
              <a:t>79</a:t>
            </a:fld>
            <a:endParaRPr lang="en-AU"/>
          </a:p>
        </p:txBody>
      </p:sp>
    </p:spTree>
    <p:extLst>
      <p:ext uri="{BB962C8B-B14F-4D97-AF65-F5344CB8AC3E}">
        <p14:creationId xmlns:p14="http://schemas.microsoft.com/office/powerpoint/2010/main" val="102657520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81</a:t>
            </a:fld>
            <a:endParaRPr lang="en-AU"/>
          </a:p>
        </p:txBody>
      </p:sp>
    </p:spTree>
    <p:extLst>
      <p:ext uri="{BB962C8B-B14F-4D97-AF65-F5344CB8AC3E}">
        <p14:creationId xmlns:p14="http://schemas.microsoft.com/office/powerpoint/2010/main" val="15612098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00539A87-F627-4430-9ECF-03663228E67E}" type="slidenum">
              <a:rPr lang="en-AU" smtClean="0"/>
              <a:t>82</a:t>
            </a:fld>
            <a:endParaRPr lang="en-AU"/>
          </a:p>
        </p:txBody>
      </p:sp>
    </p:spTree>
    <p:extLst>
      <p:ext uri="{BB962C8B-B14F-4D97-AF65-F5344CB8AC3E}">
        <p14:creationId xmlns:p14="http://schemas.microsoft.com/office/powerpoint/2010/main" val="20903657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BC11E3F-B2AB-437F-ADA4-96031FD0EB65}" type="slidenum">
              <a:rPr lang="en-AU" smtClean="0"/>
              <a:t>83</a:t>
            </a:fld>
            <a:endParaRPr lang="en-AU"/>
          </a:p>
        </p:txBody>
      </p:sp>
    </p:spTree>
    <p:extLst>
      <p:ext uri="{BB962C8B-B14F-4D97-AF65-F5344CB8AC3E}">
        <p14:creationId xmlns:p14="http://schemas.microsoft.com/office/powerpoint/2010/main" val="83323810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BC11E3F-B2AB-437F-ADA4-96031FD0EB65}" type="slidenum">
              <a:rPr lang="en-AU" smtClean="0"/>
              <a:t>84</a:t>
            </a:fld>
            <a:endParaRPr lang="en-AU"/>
          </a:p>
        </p:txBody>
      </p:sp>
    </p:spTree>
    <p:extLst>
      <p:ext uri="{BB962C8B-B14F-4D97-AF65-F5344CB8AC3E}">
        <p14:creationId xmlns:p14="http://schemas.microsoft.com/office/powerpoint/2010/main" val="382059977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92</a:t>
            </a:fld>
            <a:endParaRPr lang="en-AU"/>
          </a:p>
        </p:txBody>
      </p:sp>
    </p:spTree>
    <p:extLst>
      <p:ext uri="{BB962C8B-B14F-4D97-AF65-F5344CB8AC3E}">
        <p14:creationId xmlns:p14="http://schemas.microsoft.com/office/powerpoint/2010/main" val="2972837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0E4CE-9BE1-4364-9FE8-16C926C207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AE7E0A07-4BA5-4FCF-9642-03604BEF69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386A4B73-6FD5-44E3-8080-D390E0D69C38}"/>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5" name="Footer Placeholder 4">
            <a:extLst>
              <a:ext uri="{FF2B5EF4-FFF2-40B4-BE49-F238E27FC236}">
                <a16:creationId xmlns:a16="http://schemas.microsoft.com/office/drawing/2014/main" id="{72BDD9F3-E412-4C88-9953-701F2A7BD2F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1A09348-E0A0-4876-A168-0A431E8D4486}"/>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2822709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81424-6738-444B-8697-52835512EB0F}"/>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DB8969C-5CF9-4330-89EB-112FC5C153D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881A6D7-537F-4D20-A2A7-117A094CE2D3}"/>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5" name="Footer Placeholder 4">
            <a:extLst>
              <a:ext uri="{FF2B5EF4-FFF2-40B4-BE49-F238E27FC236}">
                <a16:creationId xmlns:a16="http://schemas.microsoft.com/office/drawing/2014/main" id="{5B9A2DAB-164C-42DB-B3C3-EB537FB46D3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FE1B48A-92C0-484B-870D-3ED36BCF2EB1}"/>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1513078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46D30-753D-4081-B736-8FE9A42523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72F96E25-2611-43B0-A242-470695D06E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BDA1AA9-DFDB-4CB2-9689-9E8114784149}"/>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5" name="Footer Placeholder 4">
            <a:extLst>
              <a:ext uri="{FF2B5EF4-FFF2-40B4-BE49-F238E27FC236}">
                <a16:creationId xmlns:a16="http://schemas.microsoft.com/office/drawing/2014/main" id="{CB38E040-6DBF-4800-BD28-05A8D112C91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6C85AD9-741B-4232-BE44-CB49AAD7A66F}"/>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2714492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E8886-BEE6-418E-8799-697524C2260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184410F-3679-46A9-AA43-D59BA4F788B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98144AEA-C972-4CDC-8DD8-0F12E04B72C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C8A8C3B4-B854-4CC9-BB3A-B334A8663C66}"/>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6" name="Footer Placeholder 5">
            <a:extLst>
              <a:ext uri="{FF2B5EF4-FFF2-40B4-BE49-F238E27FC236}">
                <a16:creationId xmlns:a16="http://schemas.microsoft.com/office/drawing/2014/main" id="{1AF46DDC-744E-44B6-B296-424E33388BB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8CF5D7A-CA37-4116-ADDB-02A692337702}"/>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1929773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2152B-B2FA-4F3E-849F-D250C9BE231A}"/>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F84D125B-CC94-4E7A-81E3-C9A3036C2B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FA62CF7-2E1F-413F-9D05-269F41B8585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FD8D7F8B-010B-420E-8CEC-AA989DFF83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CA8E04D-B413-41D6-BDF3-288B857841A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A0956572-2D97-4598-A69E-5913D82F7B18}"/>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8" name="Footer Placeholder 7">
            <a:extLst>
              <a:ext uri="{FF2B5EF4-FFF2-40B4-BE49-F238E27FC236}">
                <a16:creationId xmlns:a16="http://schemas.microsoft.com/office/drawing/2014/main" id="{6FD12243-1385-4AFB-B84E-821C97970331}"/>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AE381C11-FAA9-4762-9962-8A9F9E823E14}"/>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1940837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ADF50-05D2-47FA-A5F8-EE986F530DC8}"/>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1C055791-1E2D-4CEA-9830-1F512CB19381}"/>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4" name="Footer Placeholder 3">
            <a:extLst>
              <a:ext uri="{FF2B5EF4-FFF2-40B4-BE49-F238E27FC236}">
                <a16:creationId xmlns:a16="http://schemas.microsoft.com/office/drawing/2014/main" id="{13FC3256-A819-4E23-98BC-FB76CF4BAED6}"/>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D35F09AB-DBAB-48FF-9911-70F739AE7085}"/>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2378807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ED75CB-A330-4970-8508-8D8FA42A607E}"/>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3" name="Footer Placeholder 2">
            <a:extLst>
              <a:ext uri="{FF2B5EF4-FFF2-40B4-BE49-F238E27FC236}">
                <a16:creationId xmlns:a16="http://schemas.microsoft.com/office/drawing/2014/main" id="{32B88BAB-1BBB-4640-A7DC-BA32A37F8A78}"/>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2BC4286B-C2E0-4CAD-B290-D54DC329242C}"/>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2384799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21404-4403-45C9-8817-3A555C0294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74638A51-5324-4738-B321-6C397EFA34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C9590F52-A2B0-4342-A15D-4AF6FF6128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CE1CAA9-1918-46FC-8B3F-3C8B4CB19B09}"/>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6" name="Footer Placeholder 5">
            <a:extLst>
              <a:ext uri="{FF2B5EF4-FFF2-40B4-BE49-F238E27FC236}">
                <a16:creationId xmlns:a16="http://schemas.microsoft.com/office/drawing/2014/main" id="{EFF524A3-84FE-4429-A28D-5DE68227C7D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73AA12A-991B-4F0F-AD1B-3F3FECD8D7E5}"/>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3053195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1CA31-E171-4514-AA77-7AFFA8A819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9A0C180A-1E2E-42F9-B908-997A0CA2E8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31AB1F8D-507C-422E-A124-F8305C54F4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145C658-BA77-4D31-A409-07CA2B04CE52}"/>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6" name="Footer Placeholder 5">
            <a:extLst>
              <a:ext uri="{FF2B5EF4-FFF2-40B4-BE49-F238E27FC236}">
                <a16:creationId xmlns:a16="http://schemas.microsoft.com/office/drawing/2014/main" id="{6851FE25-C6C8-4CD9-84C6-BF5793597E3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17D2A70-45D1-48D0-A586-43B745142942}"/>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2639595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86EE1-B5CD-46EA-A94A-B74E4844004A}"/>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8232E62-F30A-4493-8B4A-27FC16D4AE4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8DD65BC-D647-402D-AF52-E0E53E33CF15}"/>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5" name="Footer Placeholder 4">
            <a:extLst>
              <a:ext uri="{FF2B5EF4-FFF2-40B4-BE49-F238E27FC236}">
                <a16:creationId xmlns:a16="http://schemas.microsoft.com/office/drawing/2014/main" id="{CAF786AC-9BC3-4572-BB69-498D59AB1B1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1384FEC-6783-4ACA-BE8E-051203479510}"/>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3563542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FF417A-99AD-407D-97FA-819685E69D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D15EA3B4-29EC-4E8D-8833-8A173653625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57A2DC0-DDF1-4D8C-AFDB-B5359C697EFF}"/>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5" name="Footer Placeholder 4">
            <a:extLst>
              <a:ext uri="{FF2B5EF4-FFF2-40B4-BE49-F238E27FC236}">
                <a16:creationId xmlns:a16="http://schemas.microsoft.com/office/drawing/2014/main" id="{2C907559-F114-4040-9E86-00C41A793A1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012560F-5B3B-4389-A105-0A9621716721}"/>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341694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a:t>Insert subtitle</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Presentation title</a:t>
            </a:r>
            <a:endParaRPr lang="en-US" dirty="0"/>
          </a:p>
        </p:txBody>
      </p:sp>
      <p:sp>
        <p:nvSpPr>
          <p:cNvPr id="9" name="Text Placeholder 8"/>
          <p:cNvSpPr>
            <a:spLocks noGrp="1"/>
          </p:cNvSpPr>
          <p:nvPr>
            <p:ph type="body" sz="quarter" idx="18" hasCustomPrompt="1"/>
          </p:nvPr>
        </p:nvSpPr>
        <p:spPr>
          <a:xfrm>
            <a:off x="664028" y="6100990"/>
            <a:ext cx="3024569" cy="315308"/>
          </a:xfrm>
          <a:prstGeom prst="rect">
            <a:avLst/>
          </a:prstGeom>
        </p:spPr>
        <p:txBody>
          <a:bodyPr/>
          <a:lstStyle>
            <a:lvl1pPr marL="0" indent="0">
              <a:buNone/>
              <a:defRPr sz="1200" b="0" i="0">
                <a:solidFill>
                  <a:srgbClr val="007298"/>
                </a:solidFill>
                <a:latin typeface="Roboto Light" charset="0"/>
                <a:ea typeface="Roboto Light" charset="0"/>
                <a:cs typeface="Roboto Light"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 Month 2017</a:t>
            </a:r>
            <a:endParaRPr lang="en-US" dirty="0"/>
          </a:p>
        </p:txBody>
      </p:sp>
    </p:spTree>
    <p:extLst>
      <p:ext uri="{BB962C8B-B14F-4D97-AF65-F5344CB8AC3E}">
        <p14:creationId xmlns:p14="http://schemas.microsoft.com/office/powerpoint/2010/main" val="27818528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Insert text</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Section title</a:t>
            </a:r>
            <a:endParaRPr lang="en-US" dirty="0"/>
          </a:p>
        </p:txBody>
      </p:sp>
    </p:spTree>
    <p:extLst>
      <p:ext uri="{BB962C8B-B14F-4D97-AF65-F5344CB8AC3E}">
        <p14:creationId xmlns:p14="http://schemas.microsoft.com/office/powerpoint/2010/main" val="9307351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Insert text</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Section title</a:t>
            </a:r>
            <a:endParaRPr lang="en-US" dirty="0"/>
          </a:p>
        </p:txBody>
      </p:sp>
    </p:spTree>
    <p:extLst>
      <p:ext uri="{BB962C8B-B14F-4D97-AF65-F5344CB8AC3E}">
        <p14:creationId xmlns:p14="http://schemas.microsoft.com/office/powerpoint/2010/main" val="39553050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apt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Insert text</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Section title</a:t>
            </a:r>
            <a:endParaRPr lang="en-US" dirty="0"/>
          </a:p>
        </p:txBody>
      </p:sp>
    </p:spTree>
    <p:extLst>
      <p:ext uri="{BB962C8B-B14F-4D97-AF65-F5344CB8AC3E}">
        <p14:creationId xmlns:p14="http://schemas.microsoft.com/office/powerpoint/2010/main" val="2726928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Insert text</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Section title</a:t>
            </a:r>
            <a:endParaRPr lang="en-US" dirty="0"/>
          </a:p>
        </p:txBody>
      </p:sp>
    </p:spTree>
    <p:extLst>
      <p:ext uri="{BB962C8B-B14F-4D97-AF65-F5344CB8AC3E}">
        <p14:creationId xmlns:p14="http://schemas.microsoft.com/office/powerpoint/2010/main" val="9972034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pter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Insert text</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Section title</a:t>
            </a:r>
            <a:endParaRPr lang="en-US" dirty="0"/>
          </a:p>
        </p:txBody>
      </p:sp>
    </p:spTree>
    <p:extLst>
      <p:ext uri="{BB962C8B-B14F-4D97-AF65-F5344CB8AC3E}">
        <p14:creationId xmlns:p14="http://schemas.microsoft.com/office/powerpoint/2010/main" val="37185172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3"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a:t>Insert subtitle</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Presentation title</a:t>
            </a:r>
            <a:endParaRPr lang="en-US" dirty="0"/>
          </a:p>
        </p:txBody>
      </p:sp>
      <p:sp>
        <p:nvSpPr>
          <p:cNvPr id="9" name="Text Placeholder 8"/>
          <p:cNvSpPr>
            <a:spLocks noGrp="1"/>
          </p:cNvSpPr>
          <p:nvPr>
            <p:ph type="body" sz="quarter" idx="18" hasCustomPrompt="1"/>
          </p:nvPr>
        </p:nvSpPr>
        <p:spPr>
          <a:xfrm>
            <a:off x="664028" y="6100990"/>
            <a:ext cx="3024569" cy="315308"/>
          </a:xfrm>
          <a:prstGeom prst="rect">
            <a:avLst/>
          </a:prstGeom>
        </p:spPr>
        <p:txBody>
          <a:bodyPr/>
          <a:lstStyle>
            <a:lvl1pPr marL="0" indent="0">
              <a:buNone/>
              <a:defRPr sz="1200" b="0" i="0">
                <a:solidFill>
                  <a:srgbClr val="007298"/>
                </a:solidFill>
                <a:latin typeface="Roboto Light" charset="0"/>
                <a:ea typeface="Roboto Light" charset="0"/>
                <a:cs typeface="Roboto Light"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 Month 2017</a:t>
            </a:r>
            <a:endParaRPr lang="en-US" dirty="0"/>
          </a:p>
        </p:txBody>
      </p:sp>
    </p:spTree>
    <p:extLst>
      <p:ext uri="{BB962C8B-B14F-4D97-AF65-F5344CB8AC3E}">
        <p14:creationId xmlns:p14="http://schemas.microsoft.com/office/powerpoint/2010/main" val="35498598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8"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9"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16836337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Full Colou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11" name="Text Placeholder 2"/>
          <p:cNvSpPr>
            <a:spLocks noGrp="1"/>
          </p:cNvSpPr>
          <p:nvPr>
            <p:ph type="body" sz="quarter" idx="16" hasCustomPrompt="1"/>
          </p:nvPr>
        </p:nvSpPr>
        <p:spPr>
          <a:xfrm>
            <a:off x="664029" y="2389855"/>
            <a:ext cx="3164052" cy="3261643"/>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2"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
        <p:nvSpPr>
          <p:cNvPr id="14" name="Text Placeholder 2"/>
          <p:cNvSpPr>
            <a:spLocks noGrp="1"/>
          </p:cNvSpPr>
          <p:nvPr>
            <p:ph type="body" sz="quarter" idx="19" hasCustomPrompt="1"/>
          </p:nvPr>
        </p:nvSpPr>
        <p:spPr>
          <a:xfrm>
            <a:off x="4585099" y="2389854"/>
            <a:ext cx="3164054" cy="3261643"/>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2</a:t>
            </a:r>
            <a:endParaRPr lang="en-US" dirty="0"/>
          </a:p>
        </p:txBody>
      </p:sp>
    </p:spTree>
    <p:extLst>
      <p:ext uri="{BB962C8B-B14F-4D97-AF65-F5344CB8AC3E}">
        <p14:creationId xmlns:p14="http://schemas.microsoft.com/office/powerpoint/2010/main" val="41124469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Full Colour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10"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1"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7"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20"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37673618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8"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9"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9890184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14487892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42550504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29134030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24317184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eavy 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5241473" cy="1314241"/>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0" name="Text Placeholder 2"/>
          <p:cNvSpPr>
            <a:spLocks noGrp="1"/>
          </p:cNvSpPr>
          <p:nvPr>
            <p:ph type="body" sz="quarter" idx="21" hasCustomPrompt="1"/>
          </p:nvPr>
        </p:nvSpPr>
        <p:spPr>
          <a:xfrm>
            <a:off x="6328229" y="2389854"/>
            <a:ext cx="5241473" cy="1314241"/>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2</a:t>
            </a:r>
            <a:endParaRPr lang="en-US" dirty="0"/>
          </a:p>
        </p:txBody>
      </p:sp>
      <p:sp>
        <p:nvSpPr>
          <p:cNvPr id="11" name="Text Placeholder 2"/>
          <p:cNvSpPr>
            <a:spLocks noGrp="1"/>
          </p:cNvSpPr>
          <p:nvPr>
            <p:ph type="body" sz="quarter" idx="22" hasCustomPrompt="1"/>
          </p:nvPr>
        </p:nvSpPr>
        <p:spPr>
          <a:xfrm>
            <a:off x="664027" y="3993194"/>
            <a:ext cx="5241473" cy="1314242"/>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3</a:t>
            </a:r>
            <a:endParaRPr lang="en-US" dirty="0"/>
          </a:p>
        </p:txBody>
      </p:sp>
      <p:sp>
        <p:nvSpPr>
          <p:cNvPr id="12" name="Text Placeholder 2"/>
          <p:cNvSpPr>
            <a:spLocks noGrp="1"/>
          </p:cNvSpPr>
          <p:nvPr>
            <p:ph type="body" sz="quarter" idx="23" hasCustomPrompt="1"/>
          </p:nvPr>
        </p:nvSpPr>
        <p:spPr>
          <a:xfrm>
            <a:off x="6328229" y="3993194"/>
            <a:ext cx="5241473" cy="1314242"/>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4</a:t>
            </a:r>
            <a:endParaRPr lang="en-US" dirty="0"/>
          </a:p>
        </p:txBody>
      </p:sp>
      <p:sp>
        <p:nvSpPr>
          <p:cNvPr id="13"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3912861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 Id="rId9"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DBF780-B700-4034-83ED-DE42606B5F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59AF6ED-E06F-45C1-8908-3D9DDB0334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8E87AD4-FEA1-4F76-B5E0-ACCC677A3C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827676-95C5-467D-A2EB-FE6007790F8D}" type="datetimeFigureOut">
              <a:rPr lang="en-AU" smtClean="0"/>
              <a:t>8/09/2022</a:t>
            </a:fld>
            <a:endParaRPr lang="en-AU"/>
          </a:p>
        </p:txBody>
      </p:sp>
      <p:sp>
        <p:nvSpPr>
          <p:cNvPr id="5" name="Footer Placeholder 4">
            <a:extLst>
              <a:ext uri="{FF2B5EF4-FFF2-40B4-BE49-F238E27FC236}">
                <a16:creationId xmlns:a16="http://schemas.microsoft.com/office/drawing/2014/main" id="{92496670-7418-4329-B912-81EA179B74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AC640104-1832-4699-AC27-B141295543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562508-113A-4731-AAE7-CF84C65C8D4F}" type="slidenum">
              <a:rPr lang="en-AU" smtClean="0"/>
              <a:t>‹#›</a:t>
            </a:fld>
            <a:endParaRPr lang="en-AU"/>
          </a:p>
        </p:txBody>
      </p:sp>
    </p:spTree>
    <p:extLst>
      <p:ext uri="{BB962C8B-B14F-4D97-AF65-F5344CB8AC3E}">
        <p14:creationId xmlns:p14="http://schemas.microsoft.com/office/powerpoint/2010/main" val="3350359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2437646"/>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3800" b="1" i="0" kern="1200" spc="150" baseline="0">
          <a:solidFill>
            <a:schemeClr val="tx1"/>
          </a:solidFill>
          <a:latin typeface="Roboto Black" charset="0"/>
          <a:ea typeface="Roboto Black" charset="0"/>
          <a:cs typeface="Roboto Black" charset="0"/>
        </a:defRPr>
      </a:lvl1pPr>
    </p:titleStyle>
    <p:bodyStyle>
      <a:lvl1pPr marL="228600" indent="-228600" algn="l" defTabSz="914400" rtl="0" eaLnBrk="1" latinLnBrk="0" hangingPunct="1">
        <a:lnSpc>
          <a:spcPct val="90000"/>
        </a:lnSpc>
        <a:spcBef>
          <a:spcPts val="1000"/>
        </a:spcBef>
        <a:buFont typeface="Arial"/>
        <a:buChar char="•"/>
        <a:defRPr sz="2400" b="0" i="0" kern="1200" baseline="0">
          <a:solidFill>
            <a:schemeClr val="tx1"/>
          </a:solidFill>
          <a:latin typeface="Roboto Light" charset="0"/>
          <a:ea typeface="Roboto Light" charset="0"/>
          <a:cs typeface="Roboto Light" charset="0"/>
        </a:defRPr>
      </a:lvl1pPr>
      <a:lvl2pPr marL="685800" indent="-228600" algn="l" defTabSz="914400" rtl="0" eaLnBrk="1" latinLnBrk="0" hangingPunct="1">
        <a:lnSpc>
          <a:spcPct val="90000"/>
        </a:lnSpc>
        <a:spcBef>
          <a:spcPts val="500"/>
        </a:spcBef>
        <a:buFont typeface="Arial"/>
        <a:buChar char="•"/>
        <a:defRPr sz="2400" b="0" i="0" kern="1200">
          <a:solidFill>
            <a:schemeClr val="tx1"/>
          </a:solidFill>
          <a:latin typeface="Roboto Light" charset="0"/>
          <a:ea typeface="Roboto Light" charset="0"/>
          <a:cs typeface="Roboto Light" charset="0"/>
        </a:defRPr>
      </a:lvl2pPr>
      <a:lvl3pPr marL="1143000" indent="-228600" algn="l" defTabSz="914400" rtl="0" eaLnBrk="1" latinLnBrk="0" hangingPunct="1">
        <a:lnSpc>
          <a:spcPct val="90000"/>
        </a:lnSpc>
        <a:spcBef>
          <a:spcPts val="500"/>
        </a:spcBef>
        <a:buFont typeface="Arial"/>
        <a:buChar char="•"/>
        <a:defRPr sz="2000" b="0" i="0" kern="1200">
          <a:solidFill>
            <a:schemeClr val="tx1"/>
          </a:solidFill>
          <a:latin typeface="Roboto Light" charset="0"/>
          <a:ea typeface="Roboto Light" charset="0"/>
          <a:cs typeface="Roboto Light" charset="0"/>
        </a:defRPr>
      </a:lvl3pPr>
      <a:lvl4pPr marL="1600200" indent="-228600" algn="l" defTabSz="914400" rtl="0" eaLnBrk="1" latinLnBrk="0" hangingPunct="1">
        <a:lnSpc>
          <a:spcPct val="90000"/>
        </a:lnSpc>
        <a:spcBef>
          <a:spcPts val="500"/>
        </a:spcBef>
        <a:buFont typeface="Arial"/>
        <a:buChar char="•"/>
        <a:defRPr sz="1800" b="0" i="0" kern="1200">
          <a:solidFill>
            <a:schemeClr val="tx1"/>
          </a:solidFill>
          <a:latin typeface="Roboto Light" charset="0"/>
          <a:ea typeface="Roboto Light" charset="0"/>
          <a:cs typeface="Roboto Light" charset="0"/>
        </a:defRPr>
      </a:lvl4pPr>
      <a:lvl5pPr marL="2057400" indent="-228600" algn="l" defTabSz="914400" rtl="0" eaLnBrk="1" latinLnBrk="0" hangingPunct="1">
        <a:lnSpc>
          <a:spcPct val="90000"/>
        </a:lnSpc>
        <a:spcBef>
          <a:spcPts val="500"/>
        </a:spcBef>
        <a:buFont typeface="Arial"/>
        <a:buChar char="•"/>
        <a:defRPr sz="1800" b="0" i="0" kern="1200">
          <a:solidFill>
            <a:schemeClr val="tx1"/>
          </a:solidFill>
          <a:latin typeface="Roboto Light" charset="0"/>
          <a:ea typeface="Roboto Light" charset="0"/>
          <a:cs typeface="Roboto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657399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77" r:id="rId6"/>
    <p:sldLayoutId id="2147483678" r:id="rId7"/>
  </p:sldLayoutIdLst>
  <p:txStyles>
    <p:titleStyle>
      <a:lvl1pPr algn="l" defTabSz="914400" rtl="0" eaLnBrk="1" latinLnBrk="0" hangingPunct="1">
        <a:lnSpc>
          <a:spcPct val="90000"/>
        </a:lnSpc>
        <a:spcBef>
          <a:spcPct val="0"/>
        </a:spcBef>
        <a:buNone/>
        <a:defRPr sz="3800" b="1" i="0" kern="1200" spc="150" baseline="0">
          <a:solidFill>
            <a:schemeClr val="tx1"/>
          </a:solidFill>
          <a:latin typeface="Roboto Black" charset="0"/>
          <a:ea typeface="Roboto Black" charset="0"/>
          <a:cs typeface="Roboto Black" charset="0"/>
        </a:defRPr>
      </a:lvl1pPr>
    </p:titleStyle>
    <p:bodyStyle>
      <a:lvl1pPr marL="228600" indent="-228600" algn="l" defTabSz="914400" rtl="0" eaLnBrk="1" latinLnBrk="0" hangingPunct="1">
        <a:lnSpc>
          <a:spcPct val="90000"/>
        </a:lnSpc>
        <a:spcBef>
          <a:spcPts val="1000"/>
        </a:spcBef>
        <a:buFont typeface="Arial"/>
        <a:buChar char="•"/>
        <a:defRPr sz="2400" b="0" i="0" kern="1200">
          <a:solidFill>
            <a:schemeClr val="tx1"/>
          </a:solidFill>
          <a:latin typeface="Roboto Light" charset="0"/>
          <a:ea typeface="Roboto Light" charset="0"/>
          <a:cs typeface="Roboto Light"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9210155"/>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gif"/><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www.google.com.au/url?sa=i&amp;rct=j&amp;q=&amp;esrc=s&amp;frm=1&amp;source=images&amp;cd=&amp;cad=rja&amp;uact=8&amp;ved=0CAcQjRw&amp;url=http://www.toxipedia.org/display/toxipedia/Selective%2BSerotonin%2BReuptake%2BInhibitors&amp;ei=J82MVJXDE4aomgX1kYL4Cg&amp;bvm=bv.81828268,d.dGY&amp;psig=AFQjCNFmkF8_nh84b72odc3QdpF0MldEPg&amp;ust=1418600100774141"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5D0B708-458D-46A5-B22B-72B13CB6746C}"/>
              </a:ext>
            </a:extLst>
          </p:cNvPr>
          <p:cNvSpPr>
            <a:spLocks noGrp="1"/>
          </p:cNvSpPr>
          <p:nvPr>
            <p:ph type="body" sz="quarter" idx="17"/>
          </p:nvPr>
        </p:nvSpPr>
        <p:spPr>
          <a:xfrm>
            <a:off x="664028" y="1623776"/>
            <a:ext cx="7224609" cy="573088"/>
          </a:xfrm>
        </p:spPr>
        <p:txBody>
          <a:bodyPr/>
          <a:lstStyle/>
          <a:p>
            <a:r>
              <a:rPr lang="en-AU" altLang="en-US" sz="4000" dirty="0">
                <a:solidFill>
                  <a:srgbClr val="3A7386"/>
                </a:solidFill>
                <a:latin typeface="Roboto Black" panose="02000000000000000000" pitchFamily="2" charset="0"/>
                <a:ea typeface="Roboto Black" panose="02000000000000000000" pitchFamily="2" charset="0"/>
                <a:cs typeface="Arial" panose="020B0604020202020204" pitchFamily="34" charset="0"/>
              </a:rPr>
              <a:t>Psychotropic medications</a:t>
            </a:r>
          </a:p>
          <a:p>
            <a:r>
              <a:rPr lang="en-AU" sz="4000" dirty="0">
                <a:solidFill>
                  <a:srgbClr val="3A7386"/>
                </a:solidFill>
                <a:latin typeface="Roboto Black" panose="02000000000000000000" pitchFamily="2" charset="0"/>
                <a:ea typeface="Roboto Black" panose="02000000000000000000" pitchFamily="2" charset="0"/>
                <a:cs typeface="Arial" panose="020B0604020202020204" pitchFamily="34" charset="0"/>
              </a:rPr>
              <a:t>(CNS pharmacology)</a:t>
            </a:r>
          </a:p>
        </p:txBody>
      </p:sp>
      <p:sp>
        <p:nvSpPr>
          <p:cNvPr id="4" name="Text Placeholder 3">
            <a:extLst>
              <a:ext uri="{FF2B5EF4-FFF2-40B4-BE49-F238E27FC236}">
                <a16:creationId xmlns:a16="http://schemas.microsoft.com/office/drawing/2014/main" id="{68A38FD6-D3C0-47AA-B8A4-4AC2507C115F}"/>
              </a:ext>
            </a:extLst>
          </p:cNvPr>
          <p:cNvSpPr>
            <a:spLocks noGrp="1"/>
          </p:cNvSpPr>
          <p:nvPr>
            <p:ph type="body" sz="quarter" idx="18"/>
          </p:nvPr>
        </p:nvSpPr>
        <p:spPr/>
        <p:txBody>
          <a:bodyPr/>
          <a:lstStyle/>
          <a:p>
            <a:r>
              <a:rPr lang="en-AU" sz="1400" b="1" dirty="0">
                <a:solidFill>
                  <a:srgbClr val="3A7386"/>
                </a:solidFill>
                <a:latin typeface="Roboto Black" panose="02000000000000000000" pitchFamily="2" charset="0"/>
                <a:ea typeface="Roboto Black" panose="02000000000000000000" pitchFamily="2" charset="0"/>
                <a:cs typeface="Arial" panose="020B0604020202020204" pitchFamily="34" charset="0"/>
              </a:rPr>
              <a:t>Dr Ken Wojcikowski</a:t>
            </a:r>
          </a:p>
        </p:txBody>
      </p:sp>
    </p:spTree>
    <p:extLst>
      <p:ext uri="{BB962C8B-B14F-4D97-AF65-F5344CB8AC3E}">
        <p14:creationId xmlns:p14="http://schemas.microsoft.com/office/powerpoint/2010/main" val="1377272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958000-15F2-4B0B-B482-29A61645F54A}"/>
              </a:ext>
            </a:extLst>
          </p:cNvPr>
          <p:cNvSpPr>
            <a:spLocks noGrp="1"/>
          </p:cNvSpPr>
          <p:nvPr>
            <p:ph type="body" sz="quarter" idx="16"/>
          </p:nvPr>
        </p:nvSpPr>
        <p:spPr/>
        <p:txBody>
          <a:bodyPr/>
          <a:lstStyle/>
          <a:p>
            <a:endParaRPr lang="en-AU"/>
          </a:p>
        </p:txBody>
      </p:sp>
      <p:sp>
        <p:nvSpPr>
          <p:cNvPr id="3" name="Text Placeholder 2">
            <a:extLst>
              <a:ext uri="{FF2B5EF4-FFF2-40B4-BE49-F238E27FC236}">
                <a16:creationId xmlns:a16="http://schemas.microsoft.com/office/drawing/2014/main" id="{2ECBCCCF-A46F-40CE-87D1-0578C4EBFA68}"/>
              </a:ext>
            </a:extLst>
          </p:cNvPr>
          <p:cNvSpPr>
            <a:spLocks noGrp="1"/>
          </p:cNvSpPr>
          <p:nvPr>
            <p:ph type="body" sz="quarter" idx="17"/>
          </p:nvPr>
        </p:nvSpPr>
        <p:spPr/>
        <p:txBody>
          <a:bodyPr/>
          <a:lstStyle/>
          <a:p>
            <a:endParaRPr lang="en-AU"/>
          </a:p>
        </p:txBody>
      </p:sp>
      <p:sp>
        <p:nvSpPr>
          <p:cNvPr id="4" name="Text Placeholder 3">
            <a:extLst>
              <a:ext uri="{FF2B5EF4-FFF2-40B4-BE49-F238E27FC236}">
                <a16:creationId xmlns:a16="http://schemas.microsoft.com/office/drawing/2014/main" id="{4504BBA8-B148-4136-B2F6-6936EA3938AF}"/>
              </a:ext>
            </a:extLst>
          </p:cNvPr>
          <p:cNvSpPr>
            <a:spLocks noGrp="1"/>
          </p:cNvSpPr>
          <p:nvPr>
            <p:ph type="body" sz="quarter" idx="18"/>
          </p:nvPr>
        </p:nvSpPr>
        <p:spPr/>
        <p:txBody>
          <a:bodyPr/>
          <a:lstStyle/>
          <a:p>
            <a:endParaRPr lang="en-AU"/>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3008"/>
            <a:ext cx="12192000" cy="6858000"/>
          </a:xfrm>
          <a:prstGeom prst="rect">
            <a:avLst/>
          </a:prstGeom>
        </p:spPr>
      </p:pic>
    </p:spTree>
    <p:extLst>
      <p:ext uri="{BB962C8B-B14F-4D97-AF65-F5344CB8AC3E}">
        <p14:creationId xmlns:p14="http://schemas.microsoft.com/office/powerpoint/2010/main" val="3578228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3900" y="417879"/>
            <a:ext cx="10744200" cy="1325563"/>
          </a:xfrm>
        </p:spPr>
        <p:txBody>
          <a:bodyPr>
            <a:normAutofit/>
          </a:bodyPr>
          <a:lstStyle/>
          <a:p>
            <a:pPr algn="ctr"/>
            <a:r>
              <a:rPr lang="en-AU" sz="3600" b="1" dirty="0">
                <a:solidFill>
                  <a:srgbClr val="3A7386"/>
                </a:solidFill>
                <a:latin typeface="Roboto Black" panose="02000000000000000000" pitchFamily="2" charset="0"/>
                <a:ea typeface="Roboto Black" panose="02000000000000000000" pitchFamily="2" charset="0"/>
                <a:cs typeface="Arial" panose="020B0604020202020204" pitchFamily="34" charset="0"/>
              </a:rPr>
              <a:t>Overall objectives for psychotropic medications</a:t>
            </a:r>
          </a:p>
        </p:txBody>
      </p:sp>
      <p:sp>
        <p:nvSpPr>
          <p:cNvPr id="3" name="Content Placeholder 2"/>
          <p:cNvSpPr>
            <a:spLocks noGrp="1"/>
          </p:cNvSpPr>
          <p:nvPr>
            <p:ph sz="quarter" idx="1"/>
          </p:nvPr>
        </p:nvSpPr>
        <p:spPr>
          <a:xfrm>
            <a:off x="838200" y="1825625"/>
            <a:ext cx="10515600" cy="4667250"/>
          </a:xfrm>
        </p:spPr>
        <p:txBody>
          <a:bodyPr>
            <a:normAutofit fontScale="92500" lnSpcReduction="10000"/>
          </a:bodyPr>
          <a:lstStyle/>
          <a:p>
            <a:r>
              <a:rPr lang="en-AU" dirty="0">
                <a:solidFill>
                  <a:srgbClr val="3A7386"/>
                </a:solidFill>
                <a:latin typeface="Roboto Black" panose="02000000000000000000" pitchFamily="2" charset="0"/>
                <a:ea typeface="Roboto Black" panose="02000000000000000000" pitchFamily="2" charset="0"/>
              </a:rPr>
              <a:t>For each of the disorders listed below, briefly explain the clinical manifestations of the disorder, the hypothesised neurologic abnormalities, and the mechanisms by which the commonly prescribed medications help correct the neurologic abnormality. </a:t>
            </a:r>
          </a:p>
          <a:p>
            <a:pPr lvl="1"/>
            <a:r>
              <a:rPr lang="en-AU" dirty="0">
                <a:solidFill>
                  <a:srgbClr val="3A7386"/>
                </a:solidFill>
                <a:latin typeface="Roboto Black" panose="02000000000000000000" pitchFamily="2" charset="0"/>
                <a:ea typeface="Roboto Black" panose="02000000000000000000" pitchFamily="2" charset="0"/>
              </a:rPr>
              <a:t>Parkinson’s disease</a:t>
            </a:r>
          </a:p>
          <a:p>
            <a:pPr lvl="1"/>
            <a:r>
              <a:rPr lang="en-AU" dirty="0">
                <a:solidFill>
                  <a:srgbClr val="3A7386"/>
                </a:solidFill>
                <a:latin typeface="Roboto Black" panose="02000000000000000000" pitchFamily="2" charset="0"/>
                <a:ea typeface="Roboto Black" panose="02000000000000000000" pitchFamily="2" charset="0"/>
              </a:rPr>
              <a:t>Alzheimer’s disease</a:t>
            </a:r>
          </a:p>
          <a:p>
            <a:pPr lvl="1"/>
            <a:r>
              <a:rPr lang="en-AU" dirty="0">
                <a:solidFill>
                  <a:srgbClr val="3A7386"/>
                </a:solidFill>
                <a:latin typeface="Roboto Black" panose="02000000000000000000" pitchFamily="2" charset="0"/>
                <a:ea typeface="Roboto Black" panose="02000000000000000000" pitchFamily="2" charset="0"/>
              </a:rPr>
              <a:t>Anxiety disorders, </a:t>
            </a:r>
          </a:p>
          <a:p>
            <a:pPr lvl="1"/>
            <a:r>
              <a:rPr lang="en-AU" dirty="0">
                <a:solidFill>
                  <a:srgbClr val="3A7386"/>
                </a:solidFill>
                <a:latin typeface="Roboto Black" panose="02000000000000000000" pitchFamily="2" charset="0"/>
                <a:ea typeface="Roboto Black" panose="02000000000000000000" pitchFamily="2" charset="0"/>
              </a:rPr>
              <a:t>Depression,</a:t>
            </a:r>
          </a:p>
          <a:p>
            <a:pPr lvl="1"/>
            <a:r>
              <a:rPr lang="en-AU" dirty="0">
                <a:solidFill>
                  <a:srgbClr val="3A7386"/>
                </a:solidFill>
                <a:latin typeface="Roboto Black" panose="02000000000000000000" pitchFamily="2" charset="0"/>
                <a:ea typeface="Roboto Black" panose="02000000000000000000" pitchFamily="2" charset="0"/>
              </a:rPr>
              <a:t>Schizophrenia and other psychotic disorders and</a:t>
            </a:r>
          </a:p>
          <a:p>
            <a:pPr lvl="1"/>
            <a:r>
              <a:rPr lang="en-AU" dirty="0">
                <a:solidFill>
                  <a:srgbClr val="3A7386"/>
                </a:solidFill>
                <a:latin typeface="Roboto Black" panose="02000000000000000000" pitchFamily="2" charset="0"/>
                <a:ea typeface="Roboto Black" panose="02000000000000000000" pitchFamily="2" charset="0"/>
              </a:rPr>
              <a:t>Seizure syndromes</a:t>
            </a:r>
          </a:p>
          <a:p>
            <a:endParaRPr lang="en-AU" dirty="0">
              <a:solidFill>
                <a:srgbClr val="3A7386"/>
              </a:solidFill>
              <a:latin typeface="Roboto Black" panose="02000000000000000000" pitchFamily="2" charset="0"/>
              <a:ea typeface="Roboto Black" panose="02000000000000000000" pitchFamily="2" charset="0"/>
            </a:endParaRPr>
          </a:p>
          <a:p>
            <a:r>
              <a:rPr lang="en-AU" dirty="0">
                <a:solidFill>
                  <a:srgbClr val="3A7386"/>
                </a:solidFill>
                <a:latin typeface="Roboto Black" panose="02000000000000000000" pitchFamily="2" charset="0"/>
                <a:ea typeface="Roboto Black" panose="02000000000000000000" pitchFamily="2" charset="0"/>
              </a:rPr>
              <a:t>And for each of the medications discussed, note any associated suffix, and explain the side effects and contraindications</a:t>
            </a:r>
          </a:p>
          <a:p>
            <a:endParaRPr lang="en-AU" sz="2500" b="1" dirty="0">
              <a:solidFill>
                <a:srgbClr val="3A7386"/>
              </a:solidFill>
              <a:latin typeface="Arial" panose="020B0604020202020204" pitchFamily="34" charset="0"/>
              <a:cs typeface="Arial" panose="020B0604020202020204" pitchFamily="34" charset="0"/>
            </a:endParaRPr>
          </a:p>
          <a:p>
            <a:endParaRPr lang="en-AU" dirty="0"/>
          </a:p>
        </p:txBody>
      </p:sp>
    </p:spTree>
    <p:extLst>
      <p:ext uri="{BB962C8B-B14F-4D97-AF65-F5344CB8AC3E}">
        <p14:creationId xmlns:p14="http://schemas.microsoft.com/office/powerpoint/2010/main" val="138233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779585" y="2168769"/>
            <a:ext cx="10515600" cy="2139889"/>
          </a:xfrm>
        </p:spPr>
        <p:txBody>
          <a:bodyPr>
            <a:normAutofit/>
          </a:bodyPr>
          <a:lstStyle/>
          <a:p>
            <a:pPr algn="ctr"/>
            <a:r>
              <a:rPr lang="en-AU" b="1" dirty="0">
                <a:solidFill>
                  <a:schemeClr val="bg1"/>
                </a:solidFill>
                <a:latin typeface="Roboto Black" panose="02000000000000000000" pitchFamily="2" charset="0"/>
                <a:ea typeface="Roboto Black" panose="02000000000000000000" pitchFamily="2" charset="0"/>
                <a:cs typeface="Arial" panose="020B0604020202020204" pitchFamily="34" charset="0"/>
              </a:rPr>
              <a:t>Medications that treat </a:t>
            </a:r>
            <a:br>
              <a:rPr lang="en-AU" b="1" dirty="0">
                <a:solidFill>
                  <a:schemeClr val="bg1"/>
                </a:solidFill>
                <a:latin typeface="Roboto Black" panose="02000000000000000000" pitchFamily="2" charset="0"/>
                <a:ea typeface="Roboto Black" panose="02000000000000000000" pitchFamily="2" charset="0"/>
                <a:cs typeface="Arial" panose="020B0604020202020204" pitchFamily="34" charset="0"/>
              </a:rPr>
            </a:br>
            <a:r>
              <a:rPr lang="en-AU" b="1" dirty="0">
                <a:solidFill>
                  <a:schemeClr val="bg1"/>
                </a:solidFill>
                <a:latin typeface="Roboto Black" panose="02000000000000000000" pitchFamily="2" charset="0"/>
                <a:ea typeface="Roboto Black" panose="02000000000000000000" pitchFamily="2" charset="0"/>
                <a:cs typeface="Arial" panose="020B0604020202020204" pitchFamily="34" charset="0"/>
              </a:rPr>
              <a:t>Neurodegenerative disorders:</a:t>
            </a:r>
            <a:br>
              <a:rPr lang="en-AU" b="1" dirty="0">
                <a:solidFill>
                  <a:schemeClr val="bg1"/>
                </a:solidFill>
                <a:latin typeface="Roboto Black" panose="02000000000000000000" pitchFamily="2" charset="0"/>
                <a:ea typeface="Roboto Black" panose="02000000000000000000" pitchFamily="2" charset="0"/>
                <a:cs typeface="Arial" panose="020B0604020202020204" pitchFamily="34" charset="0"/>
              </a:rPr>
            </a:br>
            <a:r>
              <a:rPr lang="en-AU" b="1" dirty="0">
                <a:solidFill>
                  <a:schemeClr val="bg1"/>
                </a:solidFill>
                <a:latin typeface="Roboto Black" panose="02000000000000000000" pitchFamily="2" charset="0"/>
                <a:ea typeface="Roboto Black" panose="02000000000000000000" pitchFamily="2" charset="0"/>
                <a:cs typeface="Arial" panose="020B0604020202020204" pitchFamily="34" charset="0"/>
              </a:rPr>
              <a:t>Parkinson’s disease</a:t>
            </a:r>
          </a:p>
        </p:txBody>
      </p:sp>
    </p:spTree>
    <p:extLst>
      <p:ext uri="{BB962C8B-B14F-4D97-AF65-F5344CB8AC3E}">
        <p14:creationId xmlns:p14="http://schemas.microsoft.com/office/powerpoint/2010/main" val="1394866814"/>
      </p:ext>
    </p:extLst>
  </p:cSld>
  <p:clrMapOvr>
    <a:masterClrMapping/>
  </p:clrMapOvr>
  <p:transition>
    <p:cut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5752" y="752654"/>
            <a:ext cx="8534400" cy="758952"/>
          </a:xfrm>
        </p:spPr>
        <p:txBody>
          <a:bodyPr>
            <a:noAutofit/>
          </a:bodyPr>
          <a:lstStyle/>
          <a:p>
            <a:pPr algn="ctr"/>
            <a:r>
              <a:rPr lang="en-AU" sz="3600" b="1" dirty="0">
                <a:solidFill>
                  <a:srgbClr val="3A7386"/>
                </a:solidFill>
                <a:latin typeface="Roboto Black" panose="02000000000000000000" pitchFamily="2" charset="0"/>
                <a:ea typeface="Roboto Black" panose="02000000000000000000" pitchFamily="2" charset="0"/>
              </a:rPr>
              <a:t>Objectives for Part 1: Neurodegenerative Medicines</a:t>
            </a:r>
          </a:p>
        </p:txBody>
      </p:sp>
      <p:sp>
        <p:nvSpPr>
          <p:cNvPr id="3" name="Content Placeholder 2"/>
          <p:cNvSpPr>
            <a:spLocks noGrp="1"/>
          </p:cNvSpPr>
          <p:nvPr>
            <p:ph sz="quarter" idx="1"/>
          </p:nvPr>
        </p:nvSpPr>
        <p:spPr>
          <a:xfrm>
            <a:off x="1574703" y="2142510"/>
            <a:ext cx="9293593" cy="4998296"/>
          </a:xfrm>
        </p:spPr>
        <p:txBody>
          <a:bodyPr>
            <a:normAutofit/>
          </a:bodyPr>
          <a:lstStyle/>
          <a:p>
            <a:r>
              <a:rPr lang="en-AU" dirty="0">
                <a:solidFill>
                  <a:srgbClr val="3A7386"/>
                </a:solidFill>
                <a:latin typeface="Roboto Black" panose="02000000000000000000" pitchFamily="2" charset="0"/>
                <a:ea typeface="Roboto Black" panose="02000000000000000000" pitchFamily="2" charset="0"/>
              </a:rPr>
              <a:t>Describe Parkinson’s and Alzheimer’s disease with respect to the neurologic changes that occur. </a:t>
            </a:r>
          </a:p>
          <a:p>
            <a:r>
              <a:rPr lang="en-AU" dirty="0">
                <a:solidFill>
                  <a:srgbClr val="3A7386"/>
                </a:solidFill>
                <a:latin typeface="Roboto Black" panose="02000000000000000000" pitchFamily="2" charset="0"/>
                <a:ea typeface="Roboto Black" panose="02000000000000000000" pitchFamily="2" charset="0"/>
              </a:rPr>
              <a:t>Briefly explain the mechanism by which the following drugs exert their therapeutic effects, and the major indications, contraindications and side effects.  </a:t>
            </a:r>
          </a:p>
          <a:p>
            <a:pPr lvl="1"/>
            <a:r>
              <a:rPr lang="en-AU" dirty="0">
                <a:solidFill>
                  <a:srgbClr val="3A7386"/>
                </a:solidFill>
                <a:latin typeface="Roboto Black" panose="02000000000000000000" pitchFamily="2" charset="0"/>
                <a:ea typeface="Roboto Black" panose="02000000000000000000" pitchFamily="2" charset="0"/>
              </a:rPr>
              <a:t>Parkinson’s: carbidopa/levodopa (Sinemet); *</a:t>
            </a:r>
            <a:r>
              <a:rPr lang="en-AU" dirty="0" err="1">
                <a:solidFill>
                  <a:srgbClr val="3A7386"/>
                </a:solidFill>
                <a:latin typeface="Roboto Black" panose="02000000000000000000" pitchFamily="2" charset="0"/>
                <a:ea typeface="Roboto Black" panose="02000000000000000000" pitchFamily="2" charset="0"/>
              </a:rPr>
              <a:t>Benzatropine</a:t>
            </a:r>
            <a:r>
              <a:rPr lang="en-AU" dirty="0">
                <a:solidFill>
                  <a:srgbClr val="3A7386"/>
                </a:solidFill>
                <a:latin typeface="Roboto Black" panose="02000000000000000000" pitchFamily="2" charset="0"/>
                <a:ea typeface="Roboto Black" panose="02000000000000000000" pitchFamily="2" charset="0"/>
              </a:rPr>
              <a:t> (Benztropine)*</a:t>
            </a:r>
          </a:p>
          <a:p>
            <a:pPr lvl="1"/>
            <a:r>
              <a:rPr lang="en-AU" dirty="0">
                <a:solidFill>
                  <a:srgbClr val="3A7386"/>
                </a:solidFill>
                <a:latin typeface="Roboto Black" panose="02000000000000000000" pitchFamily="2" charset="0"/>
                <a:ea typeface="Roboto Black" panose="02000000000000000000" pitchFamily="2" charset="0"/>
              </a:rPr>
              <a:t>Alzheimer’s: *donepezil*; *memantine*  </a:t>
            </a:r>
          </a:p>
          <a:p>
            <a:endParaRPr lang="en-AU" dirty="0">
              <a:solidFill>
                <a:srgbClr val="3A7386"/>
              </a:solidFill>
              <a:latin typeface="Roboto Black" panose="02000000000000000000" pitchFamily="2" charset="0"/>
              <a:ea typeface="Roboto Black" panose="02000000000000000000" pitchFamily="2" charset="0"/>
            </a:endParaRPr>
          </a:p>
          <a:p>
            <a:endParaRPr lang="en-AU" dirty="0">
              <a:solidFill>
                <a:srgbClr val="3A7386"/>
              </a:solidFill>
              <a:latin typeface="Roboto Black" panose="02000000000000000000" pitchFamily="2" charset="0"/>
              <a:ea typeface="Roboto Black" panose="02000000000000000000" pitchFamily="2" charset="0"/>
            </a:endParaRPr>
          </a:p>
          <a:p>
            <a:pPr lvl="0"/>
            <a:endParaRPr lang="en-AU" dirty="0"/>
          </a:p>
        </p:txBody>
      </p:sp>
    </p:spTree>
    <p:extLst>
      <p:ext uri="{BB962C8B-B14F-4D97-AF65-F5344CB8AC3E}">
        <p14:creationId xmlns:p14="http://schemas.microsoft.com/office/powerpoint/2010/main" val="2031353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93810-9939-4E36-B54A-C3DCADF65A78}"/>
              </a:ext>
            </a:extLst>
          </p:cNvPr>
          <p:cNvSpPr>
            <a:spLocks noGrp="1"/>
          </p:cNvSpPr>
          <p:nvPr>
            <p:ph type="title"/>
          </p:nvPr>
        </p:nvSpPr>
        <p:spPr/>
        <p:txBody>
          <a:bodyPr>
            <a:normAutofit fontScale="90000"/>
          </a:bodyPr>
          <a:lstStyle/>
          <a:p>
            <a:pPr algn="ctr"/>
            <a:r>
              <a:rPr lang="en-AU" dirty="0">
                <a:solidFill>
                  <a:srgbClr val="3A7386"/>
                </a:solidFill>
                <a:latin typeface="Roboto Black" panose="02000000000000000000" pitchFamily="2" charset="0"/>
                <a:ea typeface="Roboto Black" panose="02000000000000000000" pitchFamily="2" charset="0"/>
              </a:rPr>
              <a:t>Parkinson’s disease results in a decrease in dopamine-neurons in the basal ganglia</a:t>
            </a:r>
          </a:p>
        </p:txBody>
      </p:sp>
      <p:pic>
        <p:nvPicPr>
          <p:cNvPr id="5" name="Content Placeholder 4">
            <a:extLst>
              <a:ext uri="{FF2B5EF4-FFF2-40B4-BE49-F238E27FC236}">
                <a16:creationId xmlns:a16="http://schemas.microsoft.com/office/drawing/2014/main" id="{7470666A-4676-4F18-822C-804E76278522}"/>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1038"/>
          <a:stretch/>
        </p:blipFill>
        <p:spPr>
          <a:xfrm>
            <a:off x="2096946" y="2321168"/>
            <a:ext cx="7358848" cy="4582625"/>
          </a:xfrm>
        </p:spPr>
      </p:pic>
    </p:spTree>
    <p:extLst>
      <p:ext uri="{BB962C8B-B14F-4D97-AF65-F5344CB8AC3E}">
        <p14:creationId xmlns:p14="http://schemas.microsoft.com/office/powerpoint/2010/main" val="3055887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600" b="1" dirty="0">
                <a:solidFill>
                  <a:srgbClr val="3A7386"/>
                </a:solidFill>
                <a:latin typeface="Roboto Black" panose="02000000000000000000" pitchFamily="2" charset="0"/>
                <a:ea typeface="Roboto Black" panose="02000000000000000000" pitchFamily="2" charset="0"/>
              </a:rPr>
              <a:t>Parkinson’s disease</a:t>
            </a:r>
          </a:p>
        </p:txBody>
      </p:sp>
      <p:sp>
        <p:nvSpPr>
          <p:cNvPr id="3" name="Content Placeholder 2"/>
          <p:cNvSpPr>
            <a:spLocks noGrp="1"/>
          </p:cNvSpPr>
          <p:nvPr>
            <p:ph sz="quarter" idx="1"/>
          </p:nvPr>
        </p:nvSpPr>
        <p:spPr>
          <a:xfrm>
            <a:off x="800770" y="1560059"/>
            <a:ext cx="5688740" cy="4782272"/>
          </a:xfrm>
        </p:spPr>
        <p:txBody>
          <a:bodyPr>
            <a:normAutofit lnSpcReduction="10000"/>
          </a:bodyPr>
          <a:lstStyle/>
          <a:p>
            <a:pPr marL="0" indent="0">
              <a:buNone/>
            </a:pPr>
            <a:r>
              <a:rPr lang="en-AU" dirty="0">
                <a:solidFill>
                  <a:srgbClr val="3A7386"/>
                </a:solidFill>
                <a:latin typeface="Roboto Black" panose="02000000000000000000" pitchFamily="2" charset="0"/>
                <a:ea typeface="Roboto Black" panose="02000000000000000000" pitchFamily="2" charset="0"/>
              </a:rPr>
              <a:t>Affects part of the extrapyramidal system</a:t>
            </a:r>
          </a:p>
          <a:p>
            <a:r>
              <a:rPr lang="en-AU" dirty="0">
                <a:solidFill>
                  <a:srgbClr val="3A7386"/>
                </a:solidFill>
                <a:latin typeface="Roboto Black" panose="02000000000000000000" pitchFamily="2" charset="0"/>
                <a:ea typeface="Roboto Black" panose="02000000000000000000" pitchFamily="2" charset="0"/>
              </a:rPr>
              <a:t>The part of brain involved is basal ganglia</a:t>
            </a:r>
          </a:p>
          <a:p>
            <a:pPr lvl="1"/>
            <a:r>
              <a:rPr lang="en-AU" sz="2300" dirty="0">
                <a:solidFill>
                  <a:srgbClr val="3A7386"/>
                </a:solidFill>
                <a:latin typeface="Roboto Black" panose="02000000000000000000" pitchFamily="2" charset="0"/>
                <a:ea typeface="Roboto Black" panose="02000000000000000000" pitchFamily="2" charset="0"/>
              </a:rPr>
              <a:t>Controls involuntary movements</a:t>
            </a:r>
          </a:p>
          <a:p>
            <a:pPr lvl="1"/>
            <a:r>
              <a:rPr lang="en-AU" sz="2300" dirty="0">
                <a:solidFill>
                  <a:srgbClr val="3A7386"/>
                </a:solidFill>
                <a:latin typeface="Roboto Black" panose="02000000000000000000" pitchFamily="2" charset="0"/>
                <a:ea typeface="Roboto Black" panose="02000000000000000000" pitchFamily="2" charset="0"/>
              </a:rPr>
              <a:t>Initiation of muscular movement</a:t>
            </a:r>
          </a:p>
          <a:p>
            <a:pPr lvl="1"/>
            <a:r>
              <a:rPr lang="en-AU" sz="2300" dirty="0">
                <a:solidFill>
                  <a:srgbClr val="3A7386"/>
                </a:solidFill>
                <a:latin typeface="Roboto Black" panose="02000000000000000000" pitchFamily="2" charset="0"/>
                <a:ea typeface="Roboto Black" panose="02000000000000000000" pitchFamily="2" charset="0"/>
              </a:rPr>
              <a:t>Fine muscle movement</a:t>
            </a:r>
          </a:p>
          <a:p>
            <a:pPr lvl="1"/>
            <a:r>
              <a:rPr lang="en-AU" sz="2300" dirty="0">
                <a:solidFill>
                  <a:srgbClr val="3A7386"/>
                </a:solidFill>
                <a:latin typeface="Roboto Black" panose="02000000000000000000" pitchFamily="2" charset="0"/>
                <a:ea typeface="Roboto Black" panose="02000000000000000000" pitchFamily="2" charset="0"/>
              </a:rPr>
              <a:t>Muscle tone</a:t>
            </a:r>
          </a:p>
          <a:p>
            <a:pPr lvl="1"/>
            <a:endParaRPr lang="en-AU" sz="2300" dirty="0">
              <a:solidFill>
                <a:srgbClr val="3A7386"/>
              </a:solidFill>
              <a:latin typeface="Roboto Black" panose="02000000000000000000" pitchFamily="2" charset="0"/>
              <a:ea typeface="Roboto Black" panose="02000000000000000000" pitchFamily="2" charset="0"/>
            </a:endParaRPr>
          </a:p>
          <a:p>
            <a:r>
              <a:rPr lang="en-AU" dirty="0">
                <a:solidFill>
                  <a:srgbClr val="3A7386"/>
                </a:solidFill>
                <a:latin typeface="Roboto Black" panose="02000000000000000000" pitchFamily="2" charset="0"/>
                <a:ea typeface="Roboto Black" panose="02000000000000000000" pitchFamily="2" charset="0"/>
              </a:rPr>
              <a:t>Characterised by pill-rolling tremor,  hypokinesia, shuffling gate, muscle rigidity. </a:t>
            </a:r>
          </a:p>
          <a:p>
            <a:pPr marL="0" lvl="1" indent="0">
              <a:buNone/>
            </a:pPr>
            <a:endParaRPr lang="en-AU" sz="2300" dirty="0">
              <a:solidFill>
                <a:srgbClr val="3A7386"/>
              </a:solidFill>
              <a:latin typeface="Roboto Black" panose="02000000000000000000" pitchFamily="2" charset="0"/>
              <a:ea typeface="Roboto Black" panose="02000000000000000000" pitchFamily="2" charset="0"/>
            </a:endParaRPr>
          </a:p>
          <a:p>
            <a:endParaRPr lang="en-AU" dirty="0"/>
          </a:p>
        </p:txBody>
      </p:sp>
      <p:pic>
        <p:nvPicPr>
          <p:cNvPr id="5" name="Picture 4">
            <a:extLst>
              <a:ext uri="{FF2B5EF4-FFF2-40B4-BE49-F238E27FC236}">
                <a16:creationId xmlns:a16="http://schemas.microsoft.com/office/drawing/2014/main" id="{A7E397CF-05CC-4E70-A0EF-55F0EC2C0DCC}"/>
              </a:ext>
            </a:extLst>
          </p:cNvPr>
          <p:cNvPicPr>
            <a:picLocks noChangeAspect="1"/>
          </p:cNvPicPr>
          <p:nvPr/>
        </p:nvPicPr>
        <p:blipFill rotWithShape="1">
          <a:blip r:embed="rId3">
            <a:extLst>
              <a:ext uri="{28A0092B-C50C-407E-A947-70E740481C1C}">
                <a14:useLocalDpi xmlns:a14="http://schemas.microsoft.com/office/drawing/2010/main" val="0"/>
              </a:ext>
            </a:extLst>
          </a:blip>
          <a:srcRect t="11586"/>
          <a:stretch/>
        </p:blipFill>
        <p:spPr>
          <a:xfrm>
            <a:off x="6489510" y="164122"/>
            <a:ext cx="5702490" cy="6693877"/>
          </a:xfrm>
          <a:prstGeom prst="rect">
            <a:avLst/>
          </a:prstGeom>
        </p:spPr>
      </p:pic>
    </p:spTree>
    <p:extLst>
      <p:ext uri="{BB962C8B-B14F-4D97-AF65-F5344CB8AC3E}">
        <p14:creationId xmlns:p14="http://schemas.microsoft.com/office/powerpoint/2010/main" val="3652567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600" b="1" dirty="0">
                <a:solidFill>
                  <a:srgbClr val="3A7386"/>
                </a:solidFill>
                <a:latin typeface="Roboto Black" panose="02000000000000000000" pitchFamily="2" charset="0"/>
                <a:ea typeface="Roboto Black" panose="02000000000000000000" pitchFamily="2" charset="0"/>
              </a:rPr>
              <a:t>Parkinson’s disease</a:t>
            </a:r>
          </a:p>
        </p:txBody>
      </p:sp>
      <p:sp>
        <p:nvSpPr>
          <p:cNvPr id="3" name="Content Placeholder 2"/>
          <p:cNvSpPr>
            <a:spLocks noGrp="1"/>
          </p:cNvSpPr>
          <p:nvPr>
            <p:ph sz="quarter" idx="1"/>
          </p:nvPr>
        </p:nvSpPr>
        <p:spPr>
          <a:xfrm>
            <a:off x="412124" y="1560059"/>
            <a:ext cx="6023019" cy="4782272"/>
          </a:xfrm>
        </p:spPr>
        <p:txBody>
          <a:bodyPr>
            <a:normAutofit/>
          </a:bodyPr>
          <a:lstStyle/>
          <a:p>
            <a:pPr marL="0" indent="0">
              <a:buNone/>
            </a:pPr>
            <a:r>
              <a:rPr lang="en-AU" dirty="0">
                <a:solidFill>
                  <a:srgbClr val="3A7386"/>
                </a:solidFill>
                <a:latin typeface="Roboto Black" panose="02000000000000000000" pitchFamily="2" charset="0"/>
                <a:ea typeface="Roboto Black" panose="02000000000000000000" pitchFamily="2" charset="0"/>
              </a:rPr>
              <a:t>Affects part of the _______________ system</a:t>
            </a:r>
          </a:p>
          <a:p>
            <a:r>
              <a:rPr lang="en-AU" dirty="0">
                <a:solidFill>
                  <a:srgbClr val="3A7386"/>
                </a:solidFill>
                <a:latin typeface="Roboto Black" panose="02000000000000000000" pitchFamily="2" charset="0"/>
                <a:ea typeface="Roboto Black" panose="02000000000000000000" pitchFamily="2" charset="0"/>
              </a:rPr>
              <a:t>The part of brain involved is _________, which has these actions:</a:t>
            </a:r>
          </a:p>
          <a:p>
            <a:pPr marL="914400" lvl="1" indent="-457200">
              <a:buFont typeface="+mj-lt"/>
              <a:buAutoNum type="arabicPeriod"/>
            </a:pPr>
            <a:r>
              <a:rPr lang="en-AU" sz="2300" dirty="0">
                <a:solidFill>
                  <a:srgbClr val="3A7386"/>
                </a:solidFill>
                <a:latin typeface="Roboto Black" panose="02000000000000000000" pitchFamily="2" charset="0"/>
                <a:ea typeface="Roboto Black" panose="02000000000000000000" pitchFamily="2" charset="0"/>
              </a:rPr>
              <a:t>____</a:t>
            </a:r>
          </a:p>
          <a:p>
            <a:pPr marL="914400" lvl="1" indent="-457200">
              <a:buFont typeface="+mj-lt"/>
              <a:buAutoNum type="arabicPeriod"/>
            </a:pPr>
            <a:r>
              <a:rPr lang="en-AU" sz="2300" dirty="0">
                <a:solidFill>
                  <a:srgbClr val="3A7386"/>
                </a:solidFill>
                <a:latin typeface="Roboto Black" panose="02000000000000000000" pitchFamily="2" charset="0"/>
                <a:ea typeface="Roboto Black" panose="02000000000000000000" pitchFamily="2" charset="0"/>
              </a:rPr>
              <a:t>____</a:t>
            </a:r>
          </a:p>
          <a:p>
            <a:pPr marL="914400" lvl="1" indent="-457200">
              <a:buFont typeface="+mj-lt"/>
              <a:buAutoNum type="arabicPeriod"/>
            </a:pPr>
            <a:r>
              <a:rPr lang="en-AU" sz="2300" dirty="0">
                <a:solidFill>
                  <a:srgbClr val="3A7386"/>
                </a:solidFill>
                <a:latin typeface="Roboto Black" panose="02000000000000000000" pitchFamily="2" charset="0"/>
                <a:ea typeface="Roboto Black" panose="02000000000000000000" pitchFamily="2" charset="0"/>
              </a:rPr>
              <a:t>____</a:t>
            </a:r>
          </a:p>
          <a:p>
            <a:pPr marL="914400" lvl="1" indent="-457200">
              <a:buFont typeface="+mj-lt"/>
              <a:buAutoNum type="arabicPeriod"/>
            </a:pPr>
            <a:r>
              <a:rPr lang="en-AU" sz="2300" dirty="0">
                <a:solidFill>
                  <a:srgbClr val="3A7386"/>
                </a:solidFill>
                <a:latin typeface="Roboto Black" panose="02000000000000000000" pitchFamily="2" charset="0"/>
                <a:ea typeface="Roboto Black" panose="02000000000000000000" pitchFamily="2" charset="0"/>
              </a:rPr>
              <a:t>____</a:t>
            </a:r>
          </a:p>
          <a:p>
            <a:pPr lvl="1"/>
            <a:endParaRPr lang="en-AU" sz="2300" dirty="0">
              <a:solidFill>
                <a:srgbClr val="3A7386"/>
              </a:solidFill>
              <a:latin typeface="Roboto Black" panose="02000000000000000000" pitchFamily="2" charset="0"/>
              <a:ea typeface="Roboto Black" panose="02000000000000000000" pitchFamily="2" charset="0"/>
            </a:endParaRPr>
          </a:p>
          <a:p>
            <a:r>
              <a:rPr lang="en-AU" dirty="0">
                <a:solidFill>
                  <a:srgbClr val="3A7386"/>
                </a:solidFill>
                <a:latin typeface="Roboto Black" panose="02000000000000000000" pitchFamily="2" charset="0"/>
                <a:ea typeface="Roboto Black" panose="02000000000000000000" pitchFamily="2" charset="0"/>
              </a:rPr>
              <a:t>Characterised by: </a:t>
            </a:r>
          </a:p>
          <a:p>
            <a:pPr marL="0" lvl="1" indent="0">
              <a:buNone/>
            </a:pPr>
            <a:endParaRPr lang="en-AU" sz="2300" dirty="0">
              <a:solidFill>
                <a:srgbClr val="3A7386"/>
              </a:solidFill>
              <a:latin typeface="Roboto Black" panose="02000000000000000000" pitchFamily="2" charset="0"/>
              <a:ea typeface="Roboto Black" panose="02000000000000000000" pitchFamily="2" charset="0"/>
            </a:endParaRPr>
          </a:p>
          <a:p>
            <a:endParaRPr lang="en-AU" dirty="0"/>
          </a:p>
        </p:txBody>
      </p:sp>
      <p:pic>
        <p:nvPicPr>
          <p:cNvPr id="5" name="Picture 4">
            <a:extLst>
              <a:ext uri="{FF2B5EF4-FFF2-40B4-BE49-F238E27FC236}">
                <a16:creationId xmlns:a16="http://schemas.microsoft.com/office/drawing/2014/main" id="{A7E397CF-05CC-4E70-A0EF-55F0EC2C0DCC}"/>
              </a:ext>
            </a:extLst>
          </p:cNvPr>
          <p:cNvPicPr>
            <a:picLocks noChangeAspect="1"/>
          </p:cNvPicPr>
          <p:nvPr/>
        </p:nvPicPr>
        <p:blipFill rotWithShape="1">
          <a:blip r:embed="rId3">
            <a:extLst>
              <a:ext uri="{28A0092B-C50C-407E-A947-70E740481C1C}">
                <a14:useLocalDpi xmlns:a14="http://schemas.microsoft.com/office/drawing/2010/main" val="0"/>
              </a:ext>
            </a:extLst>
          </a:blip>
          <a:srcRect t="11586"/>
          <a:stretch/>
        </p:blipFill>
        <p:spPr>
          <a:xfrm>
            <a:off x="6489510" y="164122"/>
            <a:ext cx="5702490" cy="6693877"/>
          </a:xfrm>
          <a:prstGeom prst="rect">
            <a:avLst/>
          </a:prstGeom>
        </p:spPr>
      </p:pic>
    </p:spTree>
    <p:extLst>
      <p:ext uri="{BB962C8B-B14F-4D97-AF65-F5344CB8AC3E}">
        <p14:creationId xmlns:p14="http://schemas.microsoft.com/office/powerpoint/2010/main" val="1688845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4">
            <a:extLst>
              <a:ext uri="{FF2B5EF4-FFF2-40B4-BE49-F238E27FC236}">
                <a16:creationId xmlns:a16="http://schemas.microsoft.com/office/drawing/2014/main" id="{62350FC7-FD00-4861-8CC1-075FEBC70EBF}"/>
              </a:ext>
            </a:extLst>
          </p:cNvPr>
          <p:cNvPicPr>
            <a:picLocks noChangeAspect="1"/>
          </p:cNvPicPr>
          <p:nvPr/>
        </p:nvPicPr>
        <p:blipFill rotWithShape="1">
          <a:blip r:embed="rId3">
            <a:extLst>
              <a:ext uri="{28A0092B-C50C-407E-A947-70E740481C1C}">
                <a14:useLocalDpi xmlns:a14="http://schemas.microsoft.com/office/drawing/2010/main" val="0"/>
              </a:ext>
            </a:extLst>
          </a:blip>
          <a:srcRect l="30155" r="30213"/>
          <a:stretch/>
        </p:blipFill>
        <p:spPr>
          <a:xfrm>
            <a:off x="7805653" y="872437"/>
            <a:ext cx="3393998" cy="2074988"/>
          </a:xfrm>
          <a:prstGeom prst="rect">
            <a:avLst/>
          </a:prstGeom>
        </p:spPr>
      </p:pic>
      <p:sp>
        <p:nvSpPr>
          <p:cNvPr id="2" name="Title 1"/>
          <p:cNvSpPr>
            <a:spLocks noGrp="1"/>
          </p:cNvSpPr>
          <p:nvPr>
            <p:ph type="title"/>
          </p:nvPr>
        </p:nvSpPr>
        <p:spPr/>
        <p:txBody>
          <a:bodyPr>
            <a:normAutofit/>
          </a:bodyPr>
          <a:lstStyle/>
          <a:p>
            <a:r>
              <a:rPr lang="en-AU" b="1" dirty="0">
                <a:solidFill>
                  <a:srgbClr val="3A7386"/>
                </a:solidFill>
                <a:latin typeface="Roboto Black" panose="02000000000000000000" pitchFamily="2" charset="0"/>
                <a:ea typeface="Roboto Black" panose="02000000000000000000" pitchFamily="2" charset="0"/>
              </a:rPr>
              <a:t>Parkinson’s disease</a:t>
            </a:r>
          </a:p>
        </p:txBody>
      </p:sp>
      <p:sp>
        <p:nvSpPr>
          <p:cNvPr id="3" name="Content Placeholder 2"/>
          <p:cNvSpPr>
            <a:spLocks noGrp="1"/>
          </p:cNvSpPr>
          <p:nvPr>
            <p:ph sz="quarter" idx="1"/>
          </p:nvPr>
        </p:nvSpPr>
        <p:spPr>
          <a:xfrm>
            <a:off x="838200" y="1825624"/>
            <a:ext cx="5165446" cy="4509861"/>
          </a:xfrm>
        </p:spPr>
        <p:txBody>
          <a:bodyPr>
            <a:normAutofit lnSpcReduction="10000"/>
          </a:bodyPr>
          <a:lstStyle/>
          <a:p>
            <a:r>
              <a:rPr lang="en-AU" dirty="0">
                <a:solidFill>
                  <a:srgbClr val="3A7386"/>
                </a:solidFill>
                <a:latin typeface="Roboto Black" panose="02000000000000000000" pitchFamily="2" charset="0"/>
                <a:ea typeface="Roboto Black" panose="02000000000000000000" pitchFamily="2" charset="0"/>
              </a:rPr>
              <a:t>Balance between cholinergic and dopaminergic nerve activity is upset by too little dopamine</a:t>
            </a:r>
          </a:p>
          <a:p>
            <a:pPr lvl="1"/>
            <a:r>
              <a:rPr lang="en-AU" dirty="0">
                <a:solidFill>
                  <a:srgbClr val="3A7386"/>
                </a:solidFill>
                <a:latin typeface="Roboto Black" panose="02000000000000000000" pitchFamily="2" charset="0"/>
                <a:ea typeface="Roboto Black" panose="02000000000000000000" pitchFamily="2" charset="0"/>
              </a:rPr>
              <a:t>Too much cholinergic activity relative to dopamine</a:t>
            </a:r>
          </a:p>
          <a:p>
            <a:r>
              <a:rPr lang="en-AU" dirty="0">
                <a:solidFill>
                  <a:srgbClr val="3A7386"/>
                </a:solidFill>
                <a:latin typeface="Roboto Black" panose="02000000000000000000" pitchFamily="2" charset="0"/>
                <a:ea typeface="Roboto Black" panose="02000000000000000000" pitchFamily="2" charset="0"/>
              </a:rPr>
              <a:t>Two solutions:</a:t>
            </a:r>
          </a:p>
          <a:p>
            <a:pPr lvl="1"/>
            <a:r>
              <a:rPr lang="en-AU" dirty="0">
                <a:solidFill>
                  <a:srgbClr val="FF0000"/>
                </a:solidFill>
                <a:latin typeface="Roboto Black" panose="02000000000000000000" pitchFamily="2" charset="0"/>
                <a:ea typeface="Roboto Black" panose="02000000000000000000" pitchFamily="2" charset="0"/>
              </a:rPr>
              <a:t>Increase dopamine</a:t>
            </a:r>
          </a:p>
          <a:p>
            <a:pPr lvl="2"/>
            <a:r>
              <a:rPr lang="en-AU" sz="2400" dirty="0">
                <a:solidFill>
                  <a:srgbClr val="3A7386"/>
                </a:solidFill>
                <a:latin typeface="Roboto Black" panose="02000000000000000000" pitchFamily="2" charset="0"/>
                <a:ea typeface="Roboto Black" panose="02000000000000000000" pitchFamily="2" charset="0"/>
              </a:rPr>
              <a:t>Carbidopa/Levodopa </a:t>
            </a:r>
          </a:p>
          <a:p>
            <a:pPr lvl="1"/>
            <a:r>
              <a:rPr lang="en-AU" dirty="0">
                <a:solidFill>
                  <a:srgbClr val="FF0000"/>
                </a:solidFill>
                <a:latin typeface="Roboto Black" panose="02000000000000000000" pitchFamily="2" charset="0"/>
                <a:ea typeface="Roboto Black" panose="02000000000000000000" pitchFamily="2" charset="0"/>
              </a:rPr>
              <a:t>Decrease cholinergic activity</a:t>
            </a:r>
          </a:p>
          <a:p>
            <a:pPr lvl="2"/>
            <a:r>
              <a:rPr lang="en-AU" sz="2400" dirty="0">
                <a:solidFill>
                  <a:srgbClr val="3A7386"/>
                </a:solidFill>
                <a:latin typeface="Roboto Black" panose="02000000000000000000" pitchFamily="2" charset="0"/>
                <a:ea typeface="Roboto Black" panose="02000000000000000000" pitchFamily="2" charset="0"/>
              </a:rPr>
              <a:t>Antimuscarinics</a:t>
            </a:r>
          </a:p>
          <a:p>
            <a:pPr lvl="3"/>
            <a:r>
              <a:rPr lang="en-AU" sz="2200" dirty="0">
                <a:solidFill>
                  <a:srgbClr val="3A7386"/>
                </a:solidFill>
                <a:latin typeface="Roboto Black" panose="02000000000000000000" pitchFamily="2" charset="0"/>
                <a:ea typeface="Roboto Black" panose="02000000000000000000" pitchFamily="2" charset="0"/>
              </a:rPr>
              <a:t>*Benztropine*</a:t>
            </a:r>
          </a:p>
          <a:p>
            <a:pPr lvl="2"/>
            <a:endParaRPr lang="en-AU" sz="1700" dirty="0"/>
          </a:p>
          <a:p>
            <a:endParaRPr lang="en-AU" sz="2400" dirty="0"/>
          </a:p>
          <a:p>
            <a:endParaRPr lang="en-AU" dirty="0"/>
          </a:p>
          <a:p>
            <a:endParaRPr lang="en-AU" dirty="0"/>
          </a:p>
        </p:txBody>
      </p:sp>
      <p:pic>
        <p:nvPicPr>
          <p:cNvPr id="4" name="Content Placeholder 4">
            <a:extLst>
              <a:ext uri="{FF2B5EF4-FFF2-40B4-BE49-F238E27FC236}">
                <a16:creationId xmlns:a16="http://schemas.microsoft.com/office/drawing/2014/main" id="{77ED6901-4ED1-4F52-9E19-EE2AD556A50A}"/>
              </a:ext>
            </a:extLst>
          </p:cNvPr>
          <p:cNvPicPr>
            <a:picLocks noChangeAspect="1"/>
          </p:cNvPicPr>
          <p:nvPr/>
        </p:nvPicPr>
        <p:blipFill rotWithShape="1">
          <a:blip r:embed="rId3">
            <a:extLst>
              <a:ext uri="{28A0092B-C50C-407E-A947-70E740481C1C}">
                <a14:useLocalDpi xmlns:a14="http://schemas.microsoft.com/office/drawing/2010/main" val="0"/>
              </a:ext>
            </a:extLst>
          </a:blip>
          <a:srcRect r="66444"/>
          <a:stretch/>
        </p:blipFill>
        <p:spPr>
          <a:xfrm>
            <a:off x="8187926" y="2921823"/>
            <a:ext cx="3090498" cy="2453353"/>
          </a:xfrm>
          <a:prstGeom prst="rect">
            <a:avLst/>
          </a:prstGeom>
        </p:spPr>
      </p:pic>
      <p:sp>
        <p:nvSpPr>
          <p:cNvPr id="5" name="Title 1">
            <a:extLst>
              <a:ext uri="{FF2B5EF4-FFF2-40B4-BE49-F238E27FC236}">
                <a16:creationId xmlns:a16="http://schemas.microsoft.com/office/drawing/2014/main" id="{5BA1A594-A868-4CFC-A30F-47128BE4218C}"/>
              </a:ext>
            </a:extLst>
          </p:cNvPr>
          <p:cNvSpPr txBox="1">
            <a:spLocks/>
          </p:cNvSpPr>
          <p:nvPr/>
        </p:nvSpPr>
        <p:spPr>
          <a:xfrm>
            <a:off x="6897655" y="975410"/>
            <a:ext cx="5671040" cy="8838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200" dirty="0">
                <a:solidFill>
                  <a:srgbClr val="3A7386"/>
                </a:solidFill>
                <a:latin typeface="Roboto Black" panose="02000000000000000000" pitchFamily="2" charset="0"/>
                <a:ea typeface="Roboto Black" panose="02000000000000000000" pitchFamily="2" charset="0"/>
              </a:rPr>
              <a:t>Acetylcholine     Dopamine</a:t>
            </a:r>
            <a:endParaRPr lang="en-AU" sz="2000" dirty="0">
              <a:solidFill>
                <a:srgbClr val="3A7386"/>
              </a:solidFill>
              <a:latin typeface="Roboto Black" panose="02000000000000000000" pitchFamily="2" charset="0"/>
              <a:ea typeface="Roboto Black" panose="02000000000000000000" pitchFamily="2" charset="0"/>
            </a:endParaRPr>
          </a:p>
        </p:txBody>
      </p:sp>
      <p:pic>
        <p:nvPicPr>
          <p:cNvPr id="6" name="Content Placeholder 4">
            <a:extLst>
              <a:ext uri="{FF2B5EF4-FFF2-40B4-BE49-F238E27FC236}">
                <a16:creationId xmlns:a16="http://schemas.microsoft.com/office/drawing/2014/main" id="{CE9EC67E-68C1-43EE-A559-F48BC306B7E6}"/>
              </a:ext>
            </a:extLst>
          </p:cNvPr>
          <p:cNvPicPr>
            <a:picLocks noChangeAspect="1"/>
          </p:cNvPicPr>
          <p:nvPr/>
        </p:nvPicPr>
        <p:blipFill rotWithShape="1">
          <a:blip r:embed="rId3">
            <a:extLst>
              <a:ext uri="{28A0092B-C50C-407E-A947-70E740481C1C}">
                <a14:useLocalDpi xmlns:a14="http://schemas.microsoft.com/office/drawing/2010/main" val="0"/>
              </a:ext>
            </a:extLst>
          </a:blip>
          <a:srcRect l="30155" r="30213" b="22009"/>
          <a:stretch/>
        </p:blipFill>
        <p:spPr>
          <a:xfrm>
            <a:off x="7853208" y="5221558"/>
            <a:ext cx="3393998" cy="1618300"/>
          </a:xfrm>
          <a:prstGeom prst="rect">
            <a:avLst/>
          </a:prstGeom>
        </p:spPr>
      </p:pic>
      <p:sp>
        <p:nvSpPr>
          <p:cNvPr id="7" name="Title 1">
            <a:extLst>
              <a:ext uri="{FF2B5EF4-FFF2-40B4-BE49-F238E27FC236}">
                <a16:creationId xmlns:a16="http://schemas.microsoft.com/office/drawing/2014/main" id="{F1FC557C-01F2-43C8-9127-5E11F0EA6533}"/>
              </a:ext>
            </a:extLst>
          </p:cNvPr>
          <p:cNvSpPr txBox="1">
            <a:spLocks/>
          </p:cNvSpPr>
          <p:nvPr/>
        </p:nvSpPr>
        <p:spPr>
          <a:xfrm>
            <a:off x="6973031" y="5375176"/>
            <a:ext cx="5671040" cy="8838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2400" dirty="0">
                <a:solidFill>
                  <a:srgbClr val="3A7386"/>
                </a:solidFill>
                <a:latin typeface="Roboto Black" panose="02000000000000000000" pitchFamily="2" charset="0"/>
                <a:ea typeface="Roboto Black" panose="02000000000000000000" pitchFamily="2" charset="0"/>
              </a:rPr>
              <a:t>Acetylcholine                Dopamine</a:t>
            </a:r>
          </a:p>
        </p:txBody>
      </p:sp>
      <p:sp>
        <p:nvSpPr>
          <p:cNvPr id="8" name="Text Placeholder 3">
            <a:extLst>
              <a:ext uri="{FF2B5EF4-FFF2-40B4-BE49-F238E27FC236}">
                <a16:creationId xmlns:a16="http://schemas.microsoft.com/office/drawing/2014/main" id="{5D6761B7-39C7-451C-8FDF-4E6DD169AAFC}"/>
              </a:ext>
            </a:extLst>
          </p:cNvPr>
          <p:cNvSpPr txBox="1">
            <a:spLocks/>
          </p:cNvSpPr>
          <p:nvPr/>
        </p:nvSpPr>
        <p:spPr>
          <a:xfrm>
            <a:off x="7532016" y="4924793"/>
            <a:ext cx="4402318" cy="81152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b="1" dirty="0">
                <a:solidFill>
                  <a:srgbClr val="FF0000"/>
                </a:solidFill>
                <a:latin typeface="Roboto Black" panose="02000000000000000000" pitchFamily="2" charset="0"/>
                <a:ea typeface="Roboto Black" panose="02000000000000000000" pitchFamily="2" charset="0"/>
                <a:cs typeface="Arial" panose="020B0604020202020204" pitchFamily="34" charset="0"/>
              </a:rPr>
              <a:t>We compromise with this:</a:t>
            </a:r>
          </a:p>
        </p:txBody>
      </p:sp>
      <p:sp>
        <p:nvSpPr>
          <p:cNvPr id="9" name="Title 1">
            <a:extLst>
              <a:ext uri="{FF2B5EF4-FFF2-40B4-BE49-F238E27FC236}">
                <a16:creationId xmlns:a16="http://schemas.microsoft.com/office/drawing/2014/main" id="{C8D3B8D9-A5B5-4CAB-8666-2C2F2A1BE16D}"/>
              </a:ext>
            </a:extLst>
          </p:cNvPr>
          <p:cNvSpPr txBox="1">
            <a:spLocks/>
          </p:cNvSpPr>
          <p:nvPr/>
        </p:nvSpPr>
        <p:spPr>
          <a:xfrm>
            <a:off x="7134911" y="2937376"/>
            <a:ext cx="5671040" cy="8838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200" dirty="0">
                <a:solidFill>
                  <a:srgbClr val="3A7386"/>
                </a:solidFill>
                <a:latin typeface="Roboto Black" panose="02000000000000000000" pitchFamily="2" charset="0"/>
                <a:ea typeface="Roboto Black" panose="02000000000000000000" pitchFamily="2" charset="0"/>
              </a:rPr>
              <a:t>Acetylcholine</a:t>
            </a:r>
            <a:r>
              <a:rPr lang="en-AU" sz="2400" dirty="0">
                <a:solidFill>
                  <a:srgbClr val="3A7386"/>
                </a:solidFill>
                <a:latin typeface="Roboto Black" panose="02000000000000000000" pitchFamily="2" charset="0"/>
                <a:ea typeface="Roboto Black" panose="02000000000000000000" pitchFamily="2" charset="0"/>
              </a:rPr>
              <a:t>           </a:t>
            </a:r>
            <a:r>
              <a:rPr lang="en-AU" sz="2000" dirty="0">
                <a:solidFill>
                  <a:srgbClr val="3A7386"/>
                </a:solidFill>
                <a:latin typeface="Roboto Black" panose="02000000000000000000" pitchFamily="2" charset="0"/>
                <a:ea typeface="Roboto Black" panose="02000000000000000000" pitchFamily="2" charset="0"/>
              </a:rPr>
              <a:t>Dopamine</a:t>
            </a:r>
          </a:p>
        </p:txBody>
      </p:sp>
      <p:sp>
        <p:nvSpPr>
          <p:cNvPr id="10" name="Text Placeholder 3">
            <a:extLst>
              <a:ext uri="{FF2B5EF4-FFF2-40B4-BE49-F238E27FC236}">
                <a16:creationId xmlns:a16="http://schemas.microsoft.com/office/drawing/2014/main" id="{6F08094A-E14C-4EC0-9FB1-C653D6986BA1}"/>
              </a:ext>
            </a:extLst>
          </p:cNvPr>
          <p:cNvSpPr txBox="1">
            <a:spLocks/>
          </p:cNvSpPr>
          <p:nvPr/>
        </p:nvSpPr>
        <p:spPr>
          <a:xfrm>
            <a:off x="7349048" y="2676787"/>
            <a:ext cx="4585286" cy="81152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b="1" dirty="0">
                <a:solidFill>
                  <a:srgbClr val="FF0000"/>
                </a:solidFill>
                <a:latin typeface="Roboto Black" panose="02000000000000000000" pitchFamily="2" charset="0"/>
                <a:ea typeface="Roboto Black" panose="02000000000000000000" pitchFamily="2" charset="0"/>
                <a:cs typeface="Arial" panose="020B0604020202020204" pitchFamily="34" charset="0"/>
              </a:rPr>
              <a:t>Parkinson’s results in this:</a:t>
            </a:r>
          </a:p>
        </p:txBody>
      </p:sp>
      <p:sp>
        <p:nvSpPr>
          <p:cNvPr id="12" name="Text Placeholder 3">
            <a:extLst>
              <a:ext uri="{FF2B5EF4-FFF2-40B4-BE49-F238E27FC236}">
                <a16:creationId xmlns:a16="http://schemas.microsoft.com/office/drawing/2014/main" id="{AAFE82E5-AB6A-4B5C-85D2-EE1FF4A7C0F6}"/>
              </a:ext>
            </a:extLst>
          </p:cNvPr>
          <p:cNvSpPr txBox="1">
            <a:spLocks/>
          </p:cNvSpPr>
          <p:nvPr/>
        </p:nvSpPr>
        <p:spPr>
          <a:xfrm>
            <a:off x="7134911" y="556375"/>
            <a:ext cx="4585286" cy="81152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b="1" dirty="0">
                <a:solidFill>
                  <a:srgbClr val="FF0000"/>
                </a:solidFill>
                <a:latin typeface="Roboto Black" panose="02000000000000000000" pitchFamily="2" charset="0"/>
                <a:ea typeface="Roboto Black" panose="02000000000000000000" pitchFamily="2" charset="0"/>
                <a:cs typeface="Arial" panose="020B0604020202020204" pitchFamily="34" charset="0"/>
              </a:rPr>
              <a:t>We start with this:</a:t>
            </a:r>
          </a:p>
        </p:txBody>
      </p:sp>
    </p:spTree>
    <p:extLst>
      <p:ext uri="{BB962C8B-B14F-4D97-AF65-F5344CB8AC3E}">
        <p14:creationId xmlns:p14="http://schemas.microsoft.com/office/powerpoint/2010/main" val="1030680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3600" b="1" dirty="0">
                <a:solidFill>
                  <a:srgbClr val="3A7386"/>
                </a:solidFill>
                <a:latin typeface="Roboto Black" panose="02000000000000000000" pitchFamily="2" charset="0"/>
                <a:ea typeface="Roboto Black" panose="02000000000000000000" pitchFamily="2" charset="0"/>
              </a:rPr>
              <a:t>Antimuscarinic / anticholinergic medications</a:t>
            </a:r>
          </a:p>
        </p:txBody>
      </p:sp>
      <p:sp>
        <p:nvSpPr>
          <p:cNvPr id="3" name="Content Placeholder 2"/>
          <p:cNvSpPr>
            <a:spLocks noGrp="1"/>
          </p:cNvSpPr>
          <p:nvPr>
            <p:ph sz="quarter" idx="1"/>
          </p:nvPr>
        </p:nvSpPr>
        <p:spPr>
          <a:xfrm>
            <a:off x="1658815" y="1527048"/>
            <a:ext cx="8845061" cy="4926288"/>
          </a:xfrm>
        </p:spPr>
        <p:txBody>
          <a:bodyPr>
            <a:normAutofit/>
          </a:bodyPr>
          <a:lstStyle/>
          <a:p>
            <a:pPr marL="0" indent="0">
              <a:buNone/>
            </a:pPr>
            <a:r>
              <a:rPr lang="en-AU" dirty="0">
                <a:solidFill>
                  <a:srgbClr val="3A7386"/>
                </a:solidFill>
                <a:latin typeface="Roboto Black" panose="02000000000000000000" pitchFamily="2" charset="0"/>
                <a:ea typeface="Roboto Black" panose="02000000000000000000" pitchFamily="2" charset="0"/>
              </a:rPr>
              <a:t>These drugs restore the balance between acetylcholine and dopamine (the ultimate result is that both are decreased)</a:t>
            </a:r>
          </a:p>
          <a:p>
            <a:r>
              <a:rPr lang="en-AU" dirty="0">
                <a:solidFill>
                  <a:srgbClr val="3A7386"/>
                </a:solidFill>
                <a:latin typeface="Roboto Black" panose="02000000000000000000" pitchFamily="2" charset="0"/>
                <a:ea typeface="Roboto Black" panose="02000000000000000000" pitchFamily="2" charset="0"/>
              </a:rPr>
              <a:t>Only useful in the initial stages and when the dopaminergic drugs begin to be ineffective</a:t>
            </a:r>
          </a:p>
          <a:p>
            <a:r>
              <a:rPr lang="en-AU" dirty="0">
                <a:solidFill>
                  <a:srgbClr val="3A7386"/>
                </a:solidFill>
                <a:latin typeface="Roboto Black" panose="02000000000000000000" pitchFamily="2" charset="0"/>
                <a:ea typeface="Roboto Black" panose="02000000000000000000" pitchFamily="2" charset="0"/>
              </a:rPr>
              <a:t>Recall the side effects of drugs that </a:t>
            </a:r>
            <a:r>
              <a:rPr lang="en-AU" dirty="0">
                <a:solidFill>
                  <a:srgbClr val="FF0000"/>
                </a:solidFill>
                <a:latin typeface="Roboto Black" panose="02000000000000000000" pitchFamily="2" charset="0"/>
                <a:ea typeface="Roboto Black" panose="02000000000000000000" pitchFamily="2" charset="0"/>
              </a:rPr>
              <a:t>decrease</a:t>
            </a:r>
            <a:r>
              <a:rPr lang="en-AU" dirty="0">
                <a:solidFill>
                  <a:srgbClr val="3A7386"/>
                </a:solidFill>
                <a:latin typeface="Roboto Black" panose="02000000000000000000" pitchFamily="2" charset="0"/>
                <a:ea typeface="Roboto Black" panose="02000000000000000000" pitchFamily="2" charset="0"/>
              </a:rPr>
              <a:t> the parasympathetic (</a:t>
            </a:r>
            <a:r>
              <a:rPr lang="en-AU" dirty="0">
                <a:solidFill>
                  <a:srgbClr val="FF0000"/>
                </a:solidFill>
                <a:latin typeface="Roboto Black" panose="02000000000000000000" pitchFamily="2" charset="0"/>
                <a:ea typeface="Roboto Black" panose="02000000000000000000" pitchFamily="2" charset="0"/>
              </a:rPr>
              <a:t>rest and digest</a:t>
            </a:r>
            <a:r>
              <a:rPr lang="en-AU" dirty="0">
                <a:solidFill>
                  <a:srgbClr val="3A7386"/>
                </a:solidFill>
                <a:latin typeface="Roboto Black" panose="02000000000000000000" pitchFamily="2" charset="0"/>
                <a:ea typeface="Roboto Black" panose="02000000000000000000" pitchFamily="2" charset="0"/>
              </a:rPr>
              <a:t>) system</a:t>
            </a:r>
          </a:p>
          <a:p>
            <a:pPr lvl="1"/>
            <a:r>
              <a:rPr lang="en-AU" dirty="0">
                <a:solidFill>
                  <a:srgbClr val="3A7386"/>
                </a:solidFill>
                <a:latin typeface="Roboto Black" panose="02000000000000000000" pitchFamily="2" charset="0"/>
                <a:ea typeface="Roboto Black" panose="02000000000000000000" pitchFamily="2" charset="0"/>
              </a:rPr>
              <a:t>Dry mouth, blurred vision, difficulty in micturition, </a:t>
            </a:r>
          </a:p>
          <a:p>
            <a:pPr lvl="1"/>
            <a:r>
              <a:rPr lang="en-AU" dirty="0">
                <a:solidFill>
                  <a:srgbClr val="3A7386"/>
                </a:solidFill>
                <a:latin typeface="Roboto Black" panose="02000000000000000000" pitchFamily="2" charset="0"/>
                <a:ea typeface="Roboto Black" panose="02000000000000000000" pitchFamily="2" charset="0"/>
              </a:rPr>
              <a:t>Confusion and </a:t>
            </a:r>
          </a:p>
          <a:p>
            <a:pPr lvl="1"/>
            <a:r>
              <a:rPr lang="en-AU" dirty="0">
                <a:solidFill>
                  <a:srgbClr val="3A7386"/>
                </a:solidFill>
                <a:latin typeface="Roboto Black" panose="02000000000000000000" pitchFamily="2" charset="0"/>
                <a:ea typeface="Roboto Black" panose="02000000000000000000" pitchFamily="2" charset="0"/>
              </a:rPr>
              <a:t>Hallucinations</a:t>
            </a:r>
          </a:p>
          <a:p>
            <a:r>
              <a:rPr lang="en-AU" dirty="0">
                <a:solidFill>
                  <a:srgbClr val="3A7386"/>
                </a:solidFill>
                <a:latin typeface="Roboto Black" panose="02000000000000000000" pitchFamily="2" charset="0"/>
                <a:ea typeface="Roboto Black" panose="02000000000000000000" pitchFamily="2" charset="0"/>
              </a:rPr>
              <a:t>Example: </a:t>
            </a:r>
            <a:r>
              <a:rPr lang="en-AU" b="1" dirty="0">
                <a:solidFill>
                  <a:srgbClr val="3A7386"/>
                </a:solidFill>
                <a:latin typeface="Roboto Black" panose="02000000000000000000" pitchFamily="2" charset="0"/>
                <a:ea typeface="Roboto Black" panose="02000000000000000000" pitchFamily="2" charset="0"/>
              </a:rPr>
              <a:t>*</a:t>
            </a:r>
            <a:r>
              <a:rPr lang="en-AU" b="1" dirty="0" err="1">
                <a:solidFill>
                  <a:srgbClr val="3A7386"/>
                </a:solidFill>
                <a:latin typeface="Roboto Black" panose="02000000000000000000" pitchFamily="2" charset="0"/>
                <a:ea typeface="Roboto Black" panose="02000000000000000000" pitchFamily="2" charset="0"/>
              </a:rPr>
              <a:t>Benzatropine</a:t>
            </a:r>
            <a:r>
              <a:rPr lang="en-AU" b="1" dirty="0">
                <a:solidFill>
                  <a:srgbClr val="3A7386"/>
                </a:solidFill>
                <a:latin typeface="Roboto Black" panose="02000000000000000000" pitchFamily="2" charset="0"/>
                <a:ea typeface="Roboto Black" panose="02000000000000000000" pitchFamily="2" charset="0"/>
              </a:rPr>
              <a:t>* (benztropine in US texts)</a:t>
            </a:r>
          </a:p>
          <a:p>
            <a:endParaRPr lang="en-AU" dirty="0">
              <a:solidFill>
                <a:schemeClr val="tx1"/>
              </a:solidFill>
            </a:endParaRPr>
          </a:p>
        </p:txBody>
      </p:sp>
    </p:spTree>
    <p:extLst>
      <p:ext uri="{BB962C8B-B14F-4D97-AF65-F5344CB8AC3E}">
        <p14:creationId xmlns:p14="http://schemas.microsoft.com/office/powerpoint/2010/main" val="1710490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9C1F3-9439-4D7F-B17F-63867A8FD7AC}"/>
              </a:ext>
            </a:extLst>
          </p:cNvPr>
          <p:cNvSpPr>
            <a:spLocks noGrp="1"/>
          </p:cNvSpPr>
          <p:nvPr>
            <p:ph type="title"/>
          </p:nvPr>
        </p:nvSpPr>
        <p:spPr>
          <a:xfrm>
            <a:off x="791308" y="1071155"/>
            <a:ext cx="7766538" cy="5327936"/>
          </a:xfrm>
        </p:spPr>
        <p:txBody>
          <a:bodyPr>
            <a:normAutofit/>
          </a:bodyPr>
          <a:lstStyle/>
          <a:p>
            <a:r>
              <a:rPr lang="en-AU" sz="3600" b="1" dirty="0">
                <a:solidFill>
                  <a:srgbClr val="3A7386"/>
                </a:solidFill>
                <a:latin typeface="Roboto Black" panose="02000000000000000000" pitchFamily="2" charset="0"/>
                <a:ea typeface="Roboto Black" panose="02000000000000000000" pitchFamily="2" charset="0"/>
              </a:rPr>
              <a:t>Recall that the anticholinergic drugs will make the sympathetic nervous system dominate: </a:t>
            </a:r>
            <a:br>
              <a:rPr lang="en-AU" sz="3600" b="1" dirty="0">
                <a:solidFill>
                  <a:srgbClr val="3A7386"/>
                </a:solidFill>
                <a:latin typeface="Roboto Black" panose="02000000000000000000" pitchFamily="2" charset="0"/>
                <a:ea typeface="Roboto Black" panose="02000000000000000000" pitchFamily="2" charset="0"/>
              </a:rPr>
            </a:br>
            <a:br>
              <a:rPr lang="en-AU" sz="3600" b="1" dirty="0">
                <a:solidFill>
                  <a:srgbClr val="3A7386"/>
                </a:solidFill>
                <a:latin typeface="Roboto Black" panose="02000000000000000000" pitchFamily="2" charset="0"/>
                <a:ea typeface="Roboto Black" panose="02000000000000000000" pitchFamily="2" charset="0"/>
              </a:rPr>
            </a:br>
            <a:r>
              <a:rPr lang="en-AU" sz="3600" dirty="0">
                <a:solidFill>
                  <a:srgbClr val="3A7386"/>
                </a:solidFill>
                <a:latin typeface="Roboto Black" panose="02000000000000000000" pitchFamily="2" charset="0"/>
                <a:ea typeface="Roboto Black" panose="02000000000000000000" pitchFamily="2" charset="0"/>
              </a:rPr>
              <a:t>Dry mouth, constipation,</a:t>
            </a:r>
            <a:br>
              <a:rPr lang="en-AU" sz="3600" dirty="0">
                <a:solidFill>
                  <a:srgbClr val="3A7386"/>
                </a:solidFill>
                <a:latin typeface="Roboto Black" panose="02000000000000000000" pitchFamily="2" charset="0"/>
                <a:ea typeface="Roboto Black" panose="02000000000000000000" pitchFamily="2" charset="0"/>
              </a:rPr>
            </a:br>
            <a:r>
              <a:rPr lang="en-AU" sz="3600" dirty="0">
                <a:solidFill>
                  <a:srgbClr val="3A7386"/>
                </a:solidFill>
                <a:latin typeface="Roboto Black" panose="02000000000000000000" pitchFamily="2" charset="0"/>
                <a:ea typeface="Roboto Black" panose="02000000000000000000" pitchFamily="2" charset="0"/>
              </a:rPr>
              <a:t>blurred vision, </a:t>
            </a:r>
            <a:br>
              <a:rPr lang="en-AU" sz="3600" dirty="0">
                <a:solidFill>
                  <a:srgbClr val="3A7386"/>
                </a:solidFill>
                <a:latin typeface="Roboto Black" panose="02000000000000000000" pitchFamily="2" charset="0"/>
                <a:ea typeface="Roboto Black" panose="02000000000000000000" pitchFamily="2" charset="0"/>
              </a:rPr>
            </a:br>
            <a:r>
              <a:rPr lang="en-AU" sz="3600" dirty="0">
                <a:solidFill>
                  <a:srgbClr val="3A7386"/>
                </a:solidFill>
                <a:latin typeface="Roboto Black" panose="02000000000000000000" pitchFamily="2" charset="0"/>
                <a:ea typeface="Roboto Black" panose="02000000000000000000" pitchFamily="2" charset="0"/>
              </a:rPr>
              <a:t>difficulty in micturition, tachycardia</a:t>
            </a:r>
            <a:endParaRPr lang="en-AU" sz="3600" dirty="0"/>
          </a:p>
        </p:txBody>
      </p:sp>
      <p:pic>
        <p:nvPicPr>
          <p:cNvPr id="5" name="Content Placeholder 4">
            <a:extLst>
              <a:ext uri="{FF2B5EF4-FFF2-40B4-BE49-F238E27FC236}">
                <a16:creationId xmlns:a16="http://schemas.microsoft.com/office/drawing/2014/main" id="{FB40BBA0-3C44-4A7C-8915-9B368ED4466C}"/>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64133"/>
          <a:stretch/>
        </p:blipFill>
        <p:spPr>
          <a:xfrm>
            <a:off x="9149862" y="0"/>
            <a:ext cx="3042138" cy="8332336"/>
          </a:xfrm>
        </p:spPr>
      </p:pic>
      <p:sp>
        <p:nvSpPr>
          <p:cNvPr id="6" name="Title 1">
            <a:extLst>
              <a:ext uri="{FF2B5EF4-FFF2-40B4-BE49-F238E27FC236}">
                <a16:creationId xmlns:a16="http://schemas.microsoft.com/office/drawing/2014/main" id="{412AF3EA-8299-4F19-A75A-7252A5B31D7D}"/>
              </a:ext>
            </a:extLst>
          </p:cNvPr>
          <p:cNvSpPr txBox="1">
            <a:spLocks/>
          </p:cNvSpPr>
          <p:nvPr/>
        </p:nvSpPr>
        <p:spPr>
          <a:xfrm>
            <a:off x="949570" y="458911"/>
            <a:ext cx="7303477" cy="120963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b="1" dirty="0">
                <a:solidFill>
                  <a:srgbClr val="3A7386"/>
                </a:solidFill>
                <a:latin typeface="Roboto Black" panose="02000000000000000000" pitchFamily="2" charset="0"/>
                <a:ea typeface="Roboto Black" panose="02000000000000000000" pitchFamily="2" charset="0"/>
              </a:rPr>
              <a:t>*</a:t>
            </a:r>
            <a:r>
              <a:rPr lang="en-AU" b="1" dirty="0" err="1">
                <a:solidFill>
                  <a:srgbClr val="3A7386"/>
                </a:solidFill>
                <a:latin typeface="Roboto Black" panose="02000000000000000000" pitchFamily="2" charset="0"/>
                <a:ea typeface="Roboto Black" panose="02000000000000000000" pitchFamily="2" charset="0"/>
              </a:rPr>
              <a:t>Benzatropine</a:t>
            </a:r>
            <a:r>
              <a:rPr lang="en-AU" b="1" dirty="0">
                <a:solidFill>
                  <a:srgbClr val="3A7386"/>
                </a:solidFill>
                <a:latin typeface="Roboto Black" panose="02000000000000000000" pitchFamily="2" charset="0"/>
                <a:ea typeface="Roboto Black" panose="02000000000000000000" pitchFamily="2" charset="0"/>
              </a:rPr>
              <a:t>*</a:t>
            </a:r>
            <a:endParaRPr lang="en-AU" dirty="0"/>
          </a:p>
        </p:txBody>
      </p:sp>
    </p:spTree>
    <p:extLst>
      <p:ext uri="{BB962C8B-B14F-4D97-AF65-F5344CB8AC3E}">
        <p14:creationId xmlns:p14="http://schemas.microsoft.com/office/powerpoint/2010/main" val="2195858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4000" b="1" dirty="0">
                <a:solidFill>
                  <a:srgbClr val="3A7386"/>
                </a:solidFill>
                <a:latin typeface="Roboto Black" panose="02000000000000000000" pitchFamily="2" charset="0"/>
                <a:ea typeface="Roboto Black" panose="02000000000000000000" pitchFamily="2" charset="0"/>
              </a:rPr>
              <a:t>Increasing dopamine</a:t>
            </a:r>
          </a:p>
        </p:txBody>
      </p:sp>
      <p:sp>
        <p:nvSpPr>
          <p:cNvPr id="3" name="Content Placeholder 2"/>
          <p:cNvSpPr>
            <a:spLocks noGrp="1"/>
          </p:cNvSpPr>
          <p:nvPr>
            <p:ph sz="quarter" idx="1"/>
          </p:nvPr>
        </p:nvSpPr>
        <p:spPr>
          <a:xfrm>
            <a:off x="656492" y="1825625"/>
            <a:ext cx="10931770" cy="4351338"/>
          </a:xfrm>
        </p:spPr>
        <p:txBody>
          <a:bodyPr>
            <a:normAutofit/>
          </a:bodyPr>
          <a:lstStyle/>
          <a:p>
            <a:r>
              <a:rPr lang="en-AU" dirty="0">
                <a:solidFill>
                  <a:srgbClr val="3A7386"/>
                </a:solidFill>
                <a:latin typeface="Roboto Black" panose="02000000000000000000" pitchFamily="2" charset="0"/>
                <a:ea typeface="Roboto Black" panose="02000000000000000000" pitchFamily="2" charset="0"/>
              </a:rPr>
              <a:t>Dopamine cannot cross the blood–brain barrier. </a:t>
            </a:r>
          </a:p>
          <a:p>
            <a:r>
              <a:rPr lang="en-AU" b="1" dirty="0">
                <a:solidFill>
                  <a:srgbClr val="3A7386"/>
                </a:solidFill>
                <a:latin typeface="Roboto Black" panose="02000000000000000000" pitchFamily="2" charset="0"/>
                <a:ea typeface="Roboto Black" panose="02000000000000000000" pitchFamily="2" charset="0"/>
              </a:rPr>
              <a:t>Levodopa</a:t>
            </a:r>
            <a:r>
              <a:rPr lang="en-AU" dirty="0">
                <a:solidFill>
                  <a:srgbClr val="3A7386"/>
                </a:solidFill>
                <a:latin typeface="Roboto Black" panose="02000000000000000000" pitchFamily="2" charset="0"/>
                <a:ea typeface="Roboto Black" panose="02000000000000000000" pitchFamily="2" charset="0"/>
              </a:rPr>
              <a:t>, or L-dopa (precursor to dopamine) can cross the BBB </a:t>
            </a:r>
          </a:p>
          <a:p>
            <a:pPr lvl="1"/>
            <a:r>
              <a:rPr lang="en-AU" sz="2300" dirty="0">
                <a:solidFill>
                  <a:srgbClr val="3A7386"/>
                </a:solidFill>
                <a:latin typeface="Roboto Black" panose="02000000000000000000" pitchFamily="2" charset="0"/>
                <a:ea typeface="Roboto Black" panose="02000000000000000000" pitchFamily="2" charset="0"/>
              </a:rPr>
              <a:t>Converted into dopamine in brain </a:t>
            </a:r>
          </a:p>
          <a:p>
            <a:pPr marL="0" indent="0">
              <a:buNone/>
            </a:pPr>
            <a:r>
              <a:rPr lang="en-AU" dirty="0">
                <a:solidFill>
                  <a:srgbClr val="3A7386"/>
                </a:solidFill>
                <a:latin typeface="Roboto Black" panose="02000000000000000000" pitchFamily="2" charset="0"/>
                <a:ea typeface="Roboto Black" panose="02000000000000000000" pitchFamily="2" charset="0"/>
              </a:rPr>
              <a:t>BUT too much levodopa causes peripheral side effects</a:t>
            </a:r>
          </a:p>
          <a:p>
            <a:r>
              <a:rPr lang="en-AU" dirty="0">
                <a:solidFill>
                  <a:srgbClr val="3A7386"/>
                </a:solidFill>
                <a:latin typeface="Roboto Black" panose="02000000000000000000" pitchFamily="2" charset="0"/>
                <a:ea typeface="Roboto Black" panose="02000000000000000000" pitchFamily="2" charset="0"/>
              </a:rPr>
              <a:t>The enzyme that converts levodopa to dopamine is a DOPA decarboxylase. </a:t>
            </a:r>
          </a:p>
          <a:p>
            <a:r>
              <a:rPr lang="en-AU" b="1" dirty="0">
                <a:solidFill>
                  <a:srgbClr val="3A7386"/>
                </a:solidFill>
                <a:latin typeface="Roboto Black" panose="02000000000000000000" pitchFamily="2" charset="0"/>
                <a:ea typeface="Roboto Black" panose="02000000000000000000" pitchFamily="2" charset="0"/>
              </a:rPr>
              <a:t>Carbidopa inhibits this enzyme</a:t>
            </a:r>
            <a:endParaRPr lang="en-AU" dirty="0">
              <a:solidFill>
                <a:srgbClr val="3A7386"/>
              </a:solidFill>
              <a:latin typeface="Roboto Black" panose="02000000000000000000" pitchFamily="2" charset="0"/>
              <a:ea typeface="Roboto Black" panose="02000000000000000000" pitchFamily="2" charset="0"/>
            </a:endParaRPr>
          </a:p>
          <a:p>
            <a:endParaRPr lang="en-AU" dirty="0"/>
          </a:p>
          <a:p>
            <a:endParaRPr lang="en-AU" dirty="0"/>
          </a:p>
          <a:p>
            <a:endParaRPr lang="en-AU" dirty="0"/>
          </a:p>
        </p:txBody>
      </p:sp>
    </p:spTree>
    <p:extLst>
      <p:ext uri="{BB962C8B-B14F-4D97-AF65-F5344CB8AC3E}">
        <p14:creationId xmlns:p14="http://schemas.microsoft.com/office/powerpoint/2010/main" val="831070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b="1" dirty="0">
                <a:solidFill>
                  <a:srgbClr val="3A7386"/>
                </a:solidFill>
                <a:latin typeface="Roboto Black" panose="02000000000000000000" pitchFamily="2" charset="0"/>
                <a:ea typeface="Roboto Black" panose="02000000000000000000" pitchFamily="2" charset="0"/>
              </a:rPr>
              <a:t>Carbidopa and Levodopa (Sinemet)</a:t>
            </a:r>
            <a:endParaRPr lang="en-AU" sz="3600" b="1" dirty="0">
              <a:solidFill>
                <a:srgbClr val="3A7386"/>
              </a:solidFill>
              <a:latin typeface="Roboto Black" panose="02000000000000000000" pitchFamily="2" charset="0"/>
              <a:ea typeface="Roboto Black" panose="02000000000000000000" pitchFamily="2" charset="0"/>
            </a:endParaRPr>
          </a:p>
        </p:txBody>
      </p:sp>
      <p:sp>
        <p:nvSpPr>
          <p:cNvPr id="3" name="Content Placeholder 2"/>
          <p:cNvSpPr>
            <a:spLocks noGrp="1"/>
          </p:cNvSpPr>
          <p:nvPr>
            <p:ph sz="quarter" idx="1"/>
          </p:nvPr>
        </p:nvSpPr>
        <p:spPr>
          <a:xfrm>
            <a:off x="1825752" y="1671064"/>
            <a:ext cx="8503920" cy="6006408"/>
          </a:xfrm>
        </p:spPr>
        <p:txBody>
          <a:bodyPr>
            <a:normAutofit/>
          </a:bodyPr>
          <a:lstStyle/>
          <a:p>
            <a:r>
              <a:rPr lang="en-AU" b="1" dirty="0">
                <a:solidFill>
                  <a:srgbClr val="3A7386"/>
                </a:solidFill>
                <a:latin typeface="Roboto Black" panose="02000000000000000000" pitchFamily="2" charset="0"/>
                <a:ea typeface="Roboto Black" panose="02000000000000000000" pitchFamily="2" charset="0"/>
              </a:rPr>
              <a:t>Many common adverse effects</a:t>
            </a:r>
            <a:endParaRPr lang="en-AU" dirty="0">
              <a:solidFill>
                <a:srgbClr val="3A7386"/>
              </a:solidFill>
              <a:latin typeface="Roboto Black" panose="02000000000000000000" pitchFamily="2" charset="0"/>
              <a:ea typeface="Roboto Black" panose="02000000000000000000" pitchFamily="2" charset="0"/>
            </a:endParaRPr>
          </a:p>
          <a:p>
            <a:pPr lvl="1"/>
            <a:r>
              <a:rPr lang="en-AU" sz="2300" dirty="0">
                <a:solidFill>
                  <a:srgbClr val="3A7386"/>
                </a:solidFill>
                <a:latin typeface="Roboto Black" panose="02000000000000000000" pitchFamily="2" charset="0"/>
                <a:ea typeface="Roboto Black" panose="02000000000000000000" pitchFamily="2" charset="0"/>
              </a:rPr>
              <a:t>Nausea, depression, agitation and confusion (although these are sometimes due to the disease itself), increased sexual activity, hypotension, delusions, dysrhythmias, as well as involuntary movements of the extremities, head, lips and tongue (dyskinesias).</a:t>
            </a:r>
          </a:p>
          <a:p>
            <a:r>
              <a:rPr lang="en-AU" dirty="0">
                <a:solidFill>
                  <a:srgbClr val="3A7386"/>
                </a:solidFill>
                <a:latin typeface="Roboto Black" panose="02000000000000000000" pitchFamily="2" charset="0"/>
                <a:ea typeface="Roboto Black" panose="02000000000000000000" pitchFamily="2" charset="0"/>
              </a:rPr>
              <a:t>On-off phenomenon </a:t>
            </a:r>
          </a:p>
          <a:p>
            <a:pPr lvl="1"/>
            <a:r>
              <a:rPr lang="en-AU" sz="2300" dirty="0">
                <a:solidFill>
                  <a:srgbClr val="3A7386"/>
                </a:solidFill>
                <a:latin typeface="Roboto Black" panose="02000000000000000000" pitchFamily="2" charset="0"/>
                <a:ea typeface="Roboto Black" panose="02000000000000000000" pitchFamily="2" charset="0"/>
              </a:rPr>
              <a:t>Characterised by the affected person enjoying near-normal movement until severe disease symptoms suddenly develop. </a:t>
            </a:r>
          </a:p>
        </p:txBody>
      </p:sp>
    </p:spTree>
    <p:extLst>
      <p:ext uri="{BB962C8B-B14F-4D97-AF65-F5344CB8AC3E}">
        <p14:creationId xmlns:p14="http://schemas.microsoft.com/office/powerpoint/2010/main" val="4164460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b="1" dirty="0">
                <a:solidFill>
                  <a:srgbClr val="3A7386"/>
                </a:solidFill>
                <a:latin typeface="Roboto Black" panose="02000000000000000000" pitchFamily="2" charset="0"/>
                <a:ea typeface="Roboto Black" panose="02000000000000000000" pitchFamily="2" charset="0"/>
              </a:rPr>
              <a:t>Newer medications</a:t>
            </a:r>
            <a:endParaRPr lang="en-AU" sz="3600" b="1" dirty="0">
              <a:solidFill>
                <a:srgbClr val="3A7386"/>
              </a:solidFill>
              <a:latin typeface="Roboto Black" panose="02000000000000000000" pitchFamily="2" charset="0"/>
              <a:ea typeface="Roboto Black" panose="02000000000000000000" pitchFamily="2" charset="0"/>
            </a:endParaRPr>
          </a:p>
        </p:txBody>
      </p:sp>
      <p:sp>
        <p:nvSpPr>
          <p:cNvPr id="3" name="Content Placeholder 2"/>
          <p:cNvSpPr>
            <a:spLocks noGrp="1"/>
          </p:cNvSpPr>
          <p:nvPr>
            <p:ph sz="quarter" idx="1"/>
          </p:nvPr>
        </p:nvSpPr>
        <p:spPr>
          <a:xfrm>
            <a:off x="1825752" y="1671064"/>
            <a:ext cx="8503920" cy="6006408"/>
          </a:xfrm>
        </p:spPr>
        <p:txBody>
          <a:bodyPr>
            <a:normAutofit/>
          </a:bodyPr>
          <a:lstStyle/>
          <a:p>
            <a:pPr marL="0" indent="0" algn="ctr">
              <a:buNone/>
            </a:pPr>
            <a:r>
              <a:rPr lang="en-AU" b="1" dirty="0">
                <a:solidFill>
                  <a:srgbClr val="3A7386"/>
                </a:solidFill>
                <a:latin typeface="Roboto Black" panose="02000000000000000000" pitchFamily="2" charset="0"/>
                <a:ea typeface="Roboto Black" panose="02000000000000000000" pitchFamily="2" charset="0"/>
              </a:rPr>
              <a:t>All of the following aim to increase dopamine </a:t>
            </a:r>
          </a:p>
          <a:p>
            <a:pPr marL="0" indent="0" algn="ctr">
              <a:buNone/>
            </a:pPr>
            <a:r>
              <a:rPr lang="en-AU" b="1" dirty="0">
                <a:solidFill>
                  <a:srgbClr val="3A7386"/>
                </a:solidFill>
                <a:latin typeface="Roboto Black" panose="02000000000000000000" pitchFamily="2" charset="0"/>
                <a:ea typeface="Roboto Black" panose="02000000000000000000" pitchFamily="2" charset="0"/>
              </a:rPr>
              <a:t>(no need to learn)</a:t>
            </a:r>
          </a:p>
          <a:p>
            <a:r>
              <a:rPr lang="en-AU" b="1" dirty="0">
                <a:solidFill>
                  <a:srgbClr val="3A7386"/>
                </a:solidFill>
                <a:latin typeface="Roboto Black" panose="02000000000000000000" pitchFamily="2" charset="0"/>
                <a:ea typeface="Roboto Black" panose="02000000000000000000" pitchFamily="2" charset="0"/>
              </a:rPr>
              <a:t>Selegiline, </a:t>
            </a:r>
            <a:r>
              <a:rPr lang="en-AU" b="1" dirty="0" err="1">
                <a:solidFill>
                  <a:srgbClr val="3A7386"/>
                </a:solidFill>
                <a:latin typeface="Roboto Black" panose="02000000000000000000" pitchFamily="2" charset="0"/>
                <a:ea typeface="Roboto Black" panose="02000000000000000000" pitchFamily="2" charset="0"/>
              </a:rPr>
              <a:t>rasagiline</a:t>
            </a:r>
            <a:r>
              <a:rPr lang="en-AU" b="1" dirty="0">
                <a:solidFill>
                  <a:srgbClr val="3A7386"/>
                </a:solidFill>
                <a:latin typeface="Roboto Black" panose="02000000000000000000" pitchFamily="2" charset="0"/>
                <a:ea typeface="Roboto Black" panose="02000000000000000000" pitchFamily="2" charset="0"/>
              </a:rPr>
              <a:t> and entacapone inhibit the breakdown of the enzymes that break down dopamine</a:t>
            </a:r>
          </a:p>
          <a:p>
            <a:r>
              <a:rPr lang="en-AU" b="1" dirty="0">
                <a:solidFill>
                  <a:srgbClr val="3A7386"/>
                </a:solidFill>
                <a:latin typeface="Roboto Black" panose="02000000000000000000" pitchFamily="2" charset="0"/>
                <a:ea typeface="Roboto Black" panose="02000000000000000000" pitchFamily="2" charset="0"/>
              </a:rPr>
              <a:t>Amantadine inhibits the reuptake of dopamine from the synaptic cleft back into the first neuron</a:t>
            </a:r>
          </a:p>
          <a:p>
            <a:r>
              <a:rPr lang="en-AU" b="1" dirty="0">
                <a:solidFill>
                  <a:srgbClr val="3A7386"/>
                </a:solidFill>
                <a:latin typeface="Roboto Black" panose="02000000000000000000" pitchFamily="2" charset="0"/>
                <a:ea typeface="Roboto Black" panose="02000000000000000000" pitchFamily="2" charset="0"/>
              </a:rPr>
              <a:t>Bromocriptine, pramipexole and ropinirole are dopamine agonists that can cross into the brain</a:t>
            </a:r>
          </a:p>
          <a:p>
            <a:pPr marL="0" indent="0" algn="ctr">
              <a:buNone/>
            </a:pPr>
            <a:r>
              <a:rPr lang="en-AU" b="1" dirty="0">
                <a:solidFill>
                  <a:srgbClr val="FF0000"/>
                </a:solidFill>
                <a:latin typeface="Roboto Black" panose="02000000000000000000" pitchFamily="2" charset="0"/>
                <a:ea typeface="Roboto Black" panose="02000000000000000000" pitchFamily="2" charset="0"/>
              </a:rPr>
              <a:t>None of the medications reverse the changes that occur in this chronic progressive disorder</a:t>
            </a:r>
          </a:p>
          <a:p>
            <a:endParaRPr lang="en-AU" sz="2300" dirty="0">
              <a:solidFill>
                <a:srgbClr val="3A7386"/>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25123811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779585" y="2168769"/>
            <a:ext cx="10515600" cy="2139889"/>
          </a:xfrm>
        </p:spPr>
        <p:txBody>
          <a:bodyPr>
            <a:normAutofit/>
          </a:bodyPr>
          <a:lstStyle/>
          <a:p>
            <a:pPr algn="ctr"/>
            <a:r>
              <a:rPr lang="en-AU" b="1" dirty="0">
                <a:solidFill>
                  <a:schemeClr val="bg1"/>
                </a:solidFill>
                <a:latin typeface="Roboto Black" panose="02000000000000000000" pitchFamily="2" charset="0"/>
                <a:ea typeface="Roboto Black" panose="02000000000000000000" pitchFamily="2" charset="0"/>
                <a:cs typeface="Arial" panose="020B0604020202020204" pitchFamily="34" charset="0"/>
              </a:rPr>
              <a:t>Medications that treat </a:t>
            </a:r>
            <a:br>
              <a:rPr lang="en-AU" b="1" dirty="0">
                <a:solidFill>
                  <a:schemeClr val="bg1"/>
                </a:solidFill>
                <a:latin typeface="Roboto Black" panose="02000000000000000000" pitchFamily="2" charset="0"/>
                <a:ea typeface="Roboto Black" panose="02000000000000000000" pitchFamily="2" charset="0"/>
                <a:cs typeface="Arial" panose="020B0604020202020204" pitchFamily="34" charset="0"/>
              </a:rPr>
            </a:br>
            <a:r>
              <a:rPr lang="en-AU" b="1" dirty="0">
                <a:solidFill>
                  <a:schemeClr val="bg1"/>
                </a:solidFill>
                <a:latin typeface="Roboto Black" panose="02000000000000000000" pitchFamily="2" charset="0"/>
                <a:ea typeface="Roboto Black" panose="02000000000000000000" pitchFamily="2" charset="0"/>
                <a:cs typeface="Arial" panose="020B0604020202020204" pitchFamily="34" charset="0"/>
              </a:rPr>
              <a:t>Neurodegenerative disorders:</a:t>
            </a:r>
            <a:br>
              <a:rPr lang="en-AU" b="1" dirty="0">
                <a:solidFill>
                  <a:schemeClr val="bg1"/>
                </a:solidFill>
                <a:latin typeface="Roboto Black" panose="02000000000000000000" pitchFamily="2" charset="0"/>
                <a:ea typeface="Roboto Black" panose="02000000000000000000" pitchFamily="2" charset="0"/>
                <a:cs typeface="Arial" panose="020B0604020202020204" pitchFamily="34" charset="0"/>
              </a:rPr>
            </a:br>
            <a:r>
              <a:rPr lang="en-AU" b="1" dirty="0">
                <a:solidFill>
                  <a:schemeClr val="bg1"/>
                </a:solidFill>
                <a:latin typeface="Roboto Black" panose="02000000000000000000" pitchFamily="2" charset="0"/>
                <a:ea typeface="Roboto Black" panose="02000000000000000000" pitchFamily="2" charset="0"/>
                <a:cs typeface="Arial" panose="020B0604020202020204" pitchFamily="34" charset="0"/>
              </a:rPr>
              <a:t>Alzheimer’s disease</a:t>
            </a:r>
          </a:p>
        </p:txBody>
      </p:sp>
    </p:spTree>
    <p:extLst>
      <p:ext uri="{BB962C8B-B14F-4D97-AF65-F5344CB8AC3E}">
        <p14:creationId xmlns:p14="http://schemas.microsoft.com/office/powerpoint/2010/main" val="3399491642"/>
      </p:ext>
    </p:extLst>
  </p:cSld>
  <p:clrMapOvr>
    <a:masterClrMapping/>
  </p:clrMapOvr>
  <p:transition>
    <p:cut thruBlk="1"/>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C4E8FF"/>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1383A4D-13AA-42EE-9EBD-430836178C03}"/>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13352"/>
          <a:stretch/>
        </p:blipFill>
        <p:spPr>
          <a:xfrm>
            <a:off x="1078523" y="134815"/>
            <a:ext cx="10034954" cy="6816970"/>
          </a:xfrm>
        </p:spPr>
      </p:pic>
    </p:spTree>
    <p:extLst>
      <p:ext uri="{BB962C8B-B14F-4D97-AF65-F5344CB8AC3E}">
        <p14:creationId xmlns:p14="http://schemas.microsoft.com/office/powerpoint/2010/main" val="1757751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7195"/>
            <a:ext cx="10515600" cy="1325563"/>
          </a:xfrm>
        </p:spPr>
        <p:txBody>
          <a:bodyPr>
            <a:normAutofit/>
          </a:bodyPr>
          <a:lstStyle/>
          <a:p>
            <a:pPr algn="ctr"/>
            <a:r>
              <a:rPr lang="en-AU" sz="3600" b="1" dirty="0">
                <a:solidFill>
                  <a:srgbClr val="3A7386"/>
                </a:solidFill>
                <a:latin typeface="Roboto Black" panose="02000000000000000000" pitchFamily="2" charset="0"/>
                <a:ea typeface="Roboto Black" panose="02000000000000000000" pitchFamily="2" charset="0"/>
              </a:rPr>
              <a:t>Alzheimer’s disease </a:t>
            </a:r>
          </a:p>
        </p:txBody>
      </p:sp>
      <p:sp>
        <p:nvSpPr>
          <p:cNvPr id="3" name="Content Placeholder 2"/>
          <p:cNvSpPr>
            <a:spLocks noGrp="1"/>
          </p:cNvSpPr>
          <p:nvPr>
            <p:ph sz="quarter" idx="1"/>
          </p:nvPr>
        </p:nvSpPr>
        <p:spPr>
          <a:xfrm>
            <a:off x="196244" y="1372398"/>
            <a:ext cx="7693387" cy="4998296"/>
          </a:xfrm>
        </p:spPr>
        <p:txBody>
          <a:bodyPr>
            <a:normAutofit fontScale="92500"/>
          </a:bodyPr>
          <a:lstStyle/>
          <a:p>
            <a:r>
              <a:rPr lang="en-AU" dirty="0">
                <a:solidFill>
                  <a:srgbClr val="3A7386"/>
                </a:solidFill>
                <a:latin typeface="Roboto Black" panose="02000000000000000000" pitchFamily="2" charset="0"/>
                <a:ea typeface="Roboto Black" panose="02000000000000000000" pitchFamily="2" charset="0"/>
              </a:rPr>
              <a:t>Alzheimer’s disease is a form of dementia characterised by profound brain shrinkage</a:t>
            </a:r>
          </a:p>
          <a:p>
            <a:pPr lvl="1"/>
            <a:r>
              <a:rPr lang="en-AU" sz="2300" dirty="0">
                <a:solidFill>
                  <a:srgbClr val="3A7386"/>
                </a:solidFill>
                <a:latin typeface="Roboto Black" panose="02000000000000000000" pitchFamily="2" charset="0"/>
                <a:ea typeface="Roboto Black" panose="02000000000000000000" pitchFamily="2" charset="0"/>
              </a:rPr>
              <a:t>Progressive deterioration of intellectual and cognitive functioning. </a:t>
            </a:r>
          </a:p>
          <a:p>
            <a:r>
              <a:rPr lang="en-AU" dirty="0">
                <a:solidFill>
                  <a:srgbClr val="3A7386"/>
                </a:solidFill>
                <a:latin typeface="Roboto Black" panose="02000000000000000000" pitchFamily="2" charset="0"/>
                <a:ea typeface="Roboto Black" panose="02000000000000000000" pitchFamily="2" charset="0"/>
              </a:rPr>
              <a:t>Two observations that have led to the current therapy</a:t>
            </a:r>
          </a:p>
          <a:p>
            <a:pPr lvl="1"/>
            <a:r>
              <a:rPr lang="en-AU" sz="2300" dirty="0">
                <a:solidFill>
                  <a:srgbClr val="3A7386"/>
                </a:solidFill>
                <a:latin typeface="Roboto Black" panose="02000000000000000000" pitchFamily="2" charset="0"/>
                <a:ea typeface="Roboto Black" panose="02000000000000000000" pitchFamily="2" charset="0"/>
              </a:rPr>
              <a:t>Acetylcholine is reduced early in the course of the disease </a:t>
            </a:r>
          </a:p>
          <a:p>
            <a:pPr lvl="1"/>
            <a:r>
              <a:rPr lang="en-AU" sz="2300" dirty="0">
                <a:solidFill>
                  <a:srgbClr val="3A7386"/>
                </a:solidFill>
                <a:latin typeface="Roboto Black" panose="02000000000000000000" pitchFamily="2" charset="0"/>
                <a:ea typeface="Roboto Black" panose="02000000000000000000" pitchFamily="2" charset="0"/>
              </a:rPr>
              <a:t>Glutamate levels have been found to be </a:t>
            </a:r>
            <a:r>
              <a:rPr lang="en-AU" sz="2300" b="1" dirty="0">
                <a:solidFill>
                  <a:srgbClr val="3A7386"/>
                </a:solidFill>
                <a:latin typeface="Roboto Black" panose="02000000000000000000" pitchFamily="2" charset="0"/>
                <a:ea typeface="Roboto Black" panose="02000000000000000000" pitchFamily="2" charset="0"/>
              </a:rPr>
              <a:t>raised</a:t>
            </a:r>
            <a:r>
              <a:rPr lang="en-AU" sz="2300" dirty="0">
                <a:solidFill>
                  <a:srgbClr val="3A7386"/>
                </a:solidFill>
                <a:latin typeface="Roboto Black" panose="02000000000000000000" pitchFamily="2" charset="0"/>
                <a:ea typeface="Roboto Black" panose="02000000000000000000" pitchFamily="2" charset="0"/>
              </a:rPr>
              <a:t>  </a:t>
            </a:r>
          </a:p>
          <a:p>
            <a:r>
              <a:rPr lang="en-AU" dirty="0">
                <a:solidFill>
                  <a:srgbClr val="3A7386"/>
                </a:solidFill>
                <a:latin typeface="Roboto Black" panose="02000000000000000000" pitchFamily="2" charset="0"/>
                <a:ea typeface="Roboto Black" panose="02000000000000000000" pitchFamily="2" charset="0"/>
              </a:rPr>
              <a:t>The acetylcholinesterase inhibitors are used to enhance cholinergic transmission, while the use of the glutamate receptor antagonist </a:t>
            </a:r>
            <a:r>
              <a:rPr lang="en-AU" b="1" dirty="0">
                <a:solidFill>
                  <a:srgbClr val="3A7386"/>
                </a:solidFill>
                <a:latin typeface="Roboto Black" panose="02000000000000000000" pitchFamily="2" charset="0"/>
                <a:ea typeface="Roboto Black" panose="02000000000000000000" pitchFamily="2" charset="0"/>
              </a:rPr>
              <a:t>memantine </a:t>
            </a:r>
            <a:r>
              <a:rPr lang="en-AU" dirty="0">
                <a:solidFill>
                  <a:srgbClr val="3A7386"/>
                </a:solidFill>
                <a:latin typeface="Roboto Black" panose="02000000000000000000" pitchFamily="2" charset="0"/>
                <a:ea typeface="Roboto Black" panose="02000000000000000000" pitchFamily="2" charset="0"/>
              </a:rPr>
              <a:t>reduces the excitotoxic effects of glutamate. </a:t>
            </a:r>
          </a:p>
          <a:p>
            <a:endParaRPr lang="en-AU" dirty="0"/>
          </a:p>
        </p:txBody>
      </p:sp>
      <p:pic>
        <p:nvPicPr>
          <p:cNvPr id="5" name="Picture 4">
            <a:extLst>
              <a:ext uri="{FF2B5EF4-FFF2-40B4-BE49-F238E27FC236}">
                <a16:creationId xmlns:a16="http://schemas.microsoft.com/office/drawing/2014/main" id="{CDAFF05B-00D0-4065-8B01-ED43F86EB6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9024" y="2016369"/>
            <a:ext cx="4504967" cy="3710354"/>
          </a:xfrm>
          <a:prstGeom prst="rect">
            <a:avLst/>
          </a:prstGeom>
        </p:spPr>
      </p:pic>
    </p:spTree>
    <p:extLst>
      <p:ext uri="{BB962C8B-B14F-4D97-AF65-F5344CB8AC3E}">
        <p14:creationId xmlns:p14="http://schemas.microsoft.com/office/powerpoint/2010/main" val="20180168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396A0-CB75-48C3-8D39-8CA34B13FA6A}"/>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D0ED1108-17A1-4E36-B4AC-962568B27860}"/>
              </a:ext>
            </a:extLst>
          </p:cNvPr>
          <p:cNvSpPr>
            <a:spLocks noGrp="1"/>
          </p:cNvSpPr>
          <p:nvPr>
            <p:ph idx="1"/>
          </p:nvPr>
        </p:nvSpPr>
        <p:spPr/>
        <p:txBody>
          <a:bodyPr/>
          <a:lstStyle/>
          <a:p>
            <a:endParaRPr lang="en-AU"/>
          </a:p>
        </p:txBody>
      </p:sp>
      <p:pic>
        <p:nvPicPr>
          <p:cNvPr id="4" name="Picture 3">
            <a:extLst>
              <a:ext uri="{FF2B5EF4-FFF2-40B4-BE49-F238E27FC236}">
                <a16:creationId xmlns:a16="http://schemas.microsoft.com/office/drawing/2014/main" id="{453DCB69-AFBF-4AC4-9F48-93D2BEC730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4220" y="-107319"/>
            <a:ext cx="9403560" cy="7744904"/>
          </a:xfrm>
          <a:prstGeom prst="rect">
            <a:avLst/>
          </a:prstGeom>
        </p:spPr>
      </p:pic>
    </p:spTree>
    <p:extLst>
      <p:ext uri="{BB962C8B-B14F-4D97-AF65-F5344CB8AC3E}">
        <p14:creationId xmlns:p14="http://schemas.microsoft.com/office/powerpoint/2010/main" val="390600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99587"/>
            <a:ext cx="10515600" cy="1325563"/>
          </a:xfrm>
        </p:spPr>
        <p:txBody>
          <a:bodyPr/>
          <a:lstStyle/>
          <a:p>
            <a:pPr algn="ctr"/>
            <a:r>
              <a:rPr lang="en-AU" sz="3600" b="1" dirty="0">
                <a:solidFill>
                  <a:srgbClr val="3A7386"/>
                </a:solidFill>
                <a:latin typeface="Roboto Black" panose="02000000000000000000" pitchFamily="2" charset="0"/>
                <a:ea typeface="Roboto Black" panose="02000000000000000000" pitchFamily="2" charset="0"/>
              </a:rPr>
              <a:t>Acetylcholinesterase inhibitors (*donepezil*) </a:t>
            </a:r>
            <a:endParaRPr lang="en-AU" b="1" dirty="0">
              <a:solidFill>
                <a:srgbClr val="3A7386"/>
              </a:solidFill>
              <a:latin typeface="Roboto Black" panose="02000000000000000000" pitchFamily="2" charset="0"/>
              <a:ea typeface="Roboto Black" panose="02000000000000000000" pitchFamily="2" charset="0"/>
            </a:endParaRPr>
          </a:p>
        </p:txBody>
      </p:sp>
      <p:sp>
        <p:nvSpPr>
          <p:cNvPr id="3" name="Content Placeholder 2"/>
          <p:cNvSpPr>
            <a:spLocks noGrp="1"/>
          </p:cNvSpPr>
          <p:nvPr>
            <p:ph sz="quarter" idx="1"/>
          </p:nvPr>
        </p:nvSpPr>
        <p:spPr>
          <a:xfrm>
            <a:off x="1019908" y="2194780"/>
            <a:ext cx="9819718" cy="4926288"/>
          </a:xfrm>
        </p:spPr>
        <p:txBody>
          <a:bodyPr>
            <a:normAutofit/>
          </a:bodyPr>
          <a:lstStyle/>
          <a:p>
            <a:pPr marL="0" indent="0">
              <a:buNone/>
            </a:pPr>
            <a:r>
              <a:rPr lang="en-AU" dirty="0">
                <a:solidFill>
                  <a:srgbClr val="3A7386"/>
                </a:solidFill>
                <a:latin typeface="Roboto Black" panose="02000000000000000000" pitchFamily="2" charset="0"/>
                <a:ea typeface="Roboto Black" panose="02000000000000000000" pitchFamily="2" charset="0"/>
              </a:rPr>
              <a:t>By blocking the enzyme that degrades acetylcholine, more neurotransmitter will be available and its action prolonged. </a:t>
            </a:r>
          </a:p>
          <a:p>
            <a:r>
              <a:rPr lang="en-AU" b="1" dirty="0">
                <a:solidFill>
                  <a:srgbClr val="3A7386"/>
                </a:solidFill>
                <a:latin typeface="Roboto Black" panose="02000000000000000000" pitchFamily="2" charset="0"/>
                <a:ea typeface="Roboto Black" panose="02000000000000000000" pitchFamily="2" charset="0"/>
              </a:rPr>
              <a:t>Common adverse effects </a:t>
            </a:r>
            <a:endParaRPr lang="en-AU" dirty="0">
              <a:solidFill>
                <a:srgbClr val="3A7386"/>
              </a:solidFill>
              <a:latin typeface="Roboto Black" panose="02000000000000000000" pitchFamily="2" charset="0"/>
              <a:ea typeface="Roboto Black" panose="02000000000000000000" pitchFamily="2" charset="0"/>
            </a:endParaRPr>
          </a:p>
          <a:p>
            <a:pPr lvl="1"/>
            <a:r>
              <a:rPr lang="en-AU" sz="2300" dirty="0">
                <a:solidFill>
                  <a:srgbClr val="3A7386"/>
                </a:solidFill>
                <a:latin typeface="Roboto Black" panose="02000000000000000000" pitchFamily="2" charset="0"/>
                <a:ea typeface="Roboto Black" panose="02000000000000000000" pitchFamily="2" charset="0"/>
              </a:rPr>
              <a:t>Donepezil produces a number of common adverse effects, which include nausea, vomiting, elevated liver enzyme levels, diarrhoea, dizziness, anorexia, myalgia and dyspepsia</a:t>
            </a:r>
          </a:p>
          <a:p>
            <a:pPr marL="457200" lvl="1" indent="0">
              <a:buNone/>
            </a:pPr>
            <a:endParaRPr lang="en-AU" sz="2300" dirty="0">
              <a:solidFill>
                <a:srgbClr val="3A7386"/>
              </a:solidFill>
              <a:latin typeface="Roboto Black" panose="02000000000000000000" pitchFamily="2" charset="0"/>
              <a:ea typeface="Roboto Black" panose="02000000000000000000" pitchFamily="2" charset="0"/>
            </a:endParaRPr>
          </a:p>
          <a:p>
            <a:pPr marL="457200" lvl="1" indent="0" algn="ctr">
              <a:buNone/>
            </a:pPr>
            <a:r>
              <a:rPr lang="en-AU" sz="2300" dirty="0">
                <a:solidFill>
                  <a:srgbClr val="FF0000"/>
                </a:solidFill>
                <a:latin typeface="Roboto Black" panose="02000000000000000000" pitchFamily="2" charset="0"/>
                <a:ea typeface="Roboto Black" panose="02000000000000000000" pitchFamily="2" charset="0"/>
              </a:rPr>
              <a:t>These drugs may reduce deterioration in cognition but do not stop the pathological process or yield a cure</a:t>
            </a:r>
            <a:endParaRPr lang="en-AU" dirty="0">
              <a:solidFill>
                <a:srgbClr val="FF0000"/>
              </a:solidFill>
              <a:latin typeface="Roboto Black" panose="02000000000000000000" pitchFamily="2" charset="0"/>
              <a:ea typeface="Roboto Black" panose="02000000000000000000" pitchFamily="2" charset="0"/>
            </a:endParaRPr>
          </a:p>
          <a:p>
            <a:pPr marL="0" indent="0">
              <a:buNone/>
            </a:pPr>
            <a:endParaRPr lang="en-AU" dirty="0"/>
          </a:p>
        </p:txBody>
      </p:sp>
    </p:spTree>
    <p:extLst>
      <p:ext uri="{BB962C8B-B14F-4D97-AF65-F5344CB8AC3E}">
        <p14:creationId xmlns:p14="http://schemas.microsoft.com/office/powerpoint/2010/main" val="2902249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b="1" dirty="0">
                <a:solidFill>
                  <a:srgbClr val="3A7386"/>
                </a:solidFill>
                <a:latin typeface="Roboto Black" panose="02000000000000000000" pitchFamily="2" charset="0"/>
                <a:ea typeface="Roboto Black" panose="02000000000000000000" pitchFamily="2" charset="0"/>
              </a:rPr>
              <a:t>Glutamate</a:t>
            </a:r>
          </a:p>
        </p:txBody>
      </p:sp>
      <p:sp>
        <p:nvSpPr>
          <p:cNvPr id="3" name="Content Placeholder 2"/>
          <p:cNvSpPr>
            <a:spLocks noGrp="1"/>
          </p:cNvSpPr>
          <p:nvPr>
            <p:ph sz="quarter" idx="1"/>
          </p:nvPr>
        </p:nvSpPr>
        <p:spPr>
          <a:xfrm>
            <a:off x="369194" y="1493949"/>
            <a:ext cx="5057105" cy="5048519"/>
          </a:xfrm>
        </p:spPr>
        <p:txBody>
          <a:bodyPr>
            <a:normAutofit fontScale="92500" lnSpcReduction="10000"/>
          </a:bodyPr>
          <a:lstStyle/>
          <a:p>
            <a:r>
              <a:rPr lang="en-AU" dirty="0">
                <a:solidFill>
                  <a:srgbClr val="3A7386"/>
                </a:solidFill>
                <a:latin typeface="Roboto Black" panose="02000000000000000000" pitchFamily="2" charset="0"/>
                <a:ea typeface="Roboto Black" panose="02000000000000000000" pitchFamily="2" charset="0"/>
              </a:rPr>
              <a:t>Glutamate is the most abundant excitatory neurotransmitter in the nervous system</a:t>
            </a:r>
          </a:p>
          <a:p>
            <a:r>
              <a:rPr lang="en-AU" dirty="0">
                <a:solidFill>
                  <a:srgbClr val="3A7386"/>
                </a:solidFill>
                <a:latin typeface="Roboto Black" panose="02000000000000000000" pitchFamily="2" charset="0"/>
                <a:ea typeface="Roboto Black" panose="02000000000000000000" pitchFamily="2" charset="0"/>
              </a:rPr>
              <a:t>Glutamate binding results in increased Na</a:t>
            </a:r>
            <a:r>
              <a:rPr lang="en-AU" baseline="30000" dirty="0">
                <a:solidFill>
                  <a:srgbClr val="3A7386"/>
                </a:solidFill>
                <a:latin typeface="Roboto Black" panose="02000000000000000000" pitchFamily="2" charset="0"/>
                <a:ea typeface="Roboto Black" panose="02000000000000000000" pitchFamily="2" charset="0"/>
              </a:rPr>
              <a:t>+</a:t>
            </a:r>
            <a:r>
              <a:rPr lang="en-AU" dirty="0">
                <a:solidFill>
                  <a:srgbClr val="3A7386"/>
                </a:solidFill>
                <a:latin typeface="Roboto Black" panose="02000000000000000000" pitchFamily="2" charset="0"/>
                <a:ea typeface="Roboto Black" panose="02000000000000000000" pitchFamily="2" charset="0"/>
              </a:rPr>
              <a:t>, Ca</a:t>
            </a:r>
            <a:r>
              <a:rPr lang="en-AU" baseline="30000" dirty="0">
                <a:solidFill>
                  <a:srgbClr val="3A7386"/>
                </a:solidFill>
                <a:latin typeface="Roboto Black" panose="02000000000000000000" pitchFamily="2" charset="0"/>
                <a:ea typeface="Roboto Black" panose="02000000000000000000" pitchFamily="2" charset="0"/>
              </a:rPr>
              <a:t>2+ </a:t>
            </a:r>
            <a:r>
              <a:rPr lang="en-AU" dirty="0">
                <a:solidFill>
                  <a:srgbClr val="3A7386"/>
                </a:solidFill>
                <a:latin typeface="Roboto Black" panose="02000000000000000000" pitchFamily="2" charset="0"/>
                <a:ea typeface="Roboto Black" panose="02000000000000000000" pitchFamily="2" charset="0"/>
              </a:rPr>
              <a:t>or decreased Cl</a:t>
            </a:r>
            <a:r>
              <a:rPr lang="en-AU" baseline="30000" dirty="0">
                <a:solidFill>
                  <a:srgbClr val="3A7386"/>
                </a:solidFill>
                <a:latin typeface="Roboto Black" panose="02000000000000000000" pitchFamily="2" charset="0"/>
                <a:ea typeface="Roboto Black" panose="02000000000000000000" pitchFamily="2" charset="0"/>
              </a:rPr>
              <a:t>- </a:t>
            </a:r>
            <a:r>
              <a:rPr lang="en-AU" dirty="0">
                <a:solidFill>
                  <a:srgbClr val="3A7386"/>
                </a:solidFill>
                <a:latin typeface="Roboto Black" panose="02000000000000000000" pitchFamily="2" charset="0"/>
                <a:ea typeface="Roboto Black" panose="02000000000000000000" pitchFamily="2" charset="0"/>
              </a:rPr>
              <a:t>, depending on the receptor to which it binds. (In each case, that leads to excitation.)</a:t>
            </a:r>
          </a:p>
          <a:p>
            <a:r>
              <a:rPr lang="en-AU" dirty="0">
                <a:solidFill>
                  <a:srgbClr val="3A7386"/>
                </a:solidFill>
                <a:latin typeface="Roboto Black" panose="02000000000000000000" pitchFamily="2" charset="0"/>
                <a:ea typeface="Roboto Black" panose="02000000000000000000" pitchFamily="2" charset="0"/>
              </a:rPr>
              <a:t>For instance, glutamate binds to the NMDA receptor, allowing more calcium to flow in (more excitation)</a:t>
            </a:r>
          </a:p>
        </p:txBody>
      </p:sp>
      <p:pic>
        <p:nvPicPr>
          <p:cNvPr id="6" name="Picture 5">
            <a:extLst>
              <a:ext uri="{FF2B5EF4-FFF2-40B4-BE49-F238E27FC236}">
                <a16:creationId xmlns:a16="http://schemas.microsoft.com/office/drawing/2014/main" id="{C9BAA935-FDC6-4B50-AFEC-D956E76C4A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4362" y="1828800"/>
            <a:ext cx="6217559" cy="3497377"/>
          </a:xfrm>
          <a:prstGeom prst="rect">
            <a:avLst/>
          </a:prstGeom>
        </p:spPr>
      </p:pic>
    </p:spTree>
    <p:extLst>
      <p:ext uri="{BB962C8B-B14F-4D97-AF65-F5344CB8AC3E}">
        <p14:creationId xmlns:p14="http://schemas.microsoft.com/office/powerpoint/2010/main" val="18633876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9" name="Content Placeholder 8">
            <a:extLst>
              <a:ext uri="{FF2B5EF4-FFF2-40B4-BE49-F238E27FC236}">
                <a16:creationId xmlns:a16="http://schemas.microsoft.com/office/drawing/2014/main" id="{EAFC60BB-3D0C-4C24-928D-BE153B666618}"/>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2228144" y="1825625"/>
            <a:ext cx="7735712" cy="4351338"/>
          </a:xfrm>
        </p:spPr>
      </p:pic>
      <p:pic>
        <p:nvPicPr>
          <p:cNvPr id="4" name="Picture 2" descr="Metabotropic glutamate receptors as novel targets for anxiety and stress disorder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3357" y="-2619672"/>
            <a:ext cx="16577650" cy="16052690"/>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3">
            <a:extLst>
              <a:ext uri="{FF2B5EF4-FFF2-40B4-BE49-F238E27FC236}">
                <a16:creationId xmlns:a16="http://schemas.microsoft.com/office/drawing/2014/main" id="{9AC216B5-C414-43F9-AE16-5A9195843B71}"/>
              </a:ext>
            </a:extLst>
          </p:cNvPr>
          <p:cNvSpPr txBox="1">
            <a:spLocks/>
          </p:cNvSpPr>
          <p:nvPr/>
        </p:nvSpPr>
        <p:spPr>
          <a:xfrm>
            <a:off x="5258222" y="3796956"/>
            <a:ext cx="1262427" cy="3153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400" b="1" dirty="0">
                <a:solidFill>
                  <a:srgbClr val="FF0000"/>
                </a:solidFill>
                <a:highlight>
                  <a:srgbClr val="FFFF00"/>
                </a:highlight>
                <a:latin typeface="Roboto Black" panose="02000000000000000000" pitchFamily="2" charset="0"/>
                <a:ea typeface="Roboto Black" panose="02000000000000000000" pitchFamily="2" charset="0"/>
                <a:cs typeface="Arial" panose="020B0604020202020204" pitchFamily="34" charset="0"/>
              </a:rPr>
              <a:t>1. Glutamate release</a:t>
            </a:r>
          </a:p>
        </p:txBody>
      </p:sp>
      <p:sp>
        <p:nvSpPr>
          <p:cNvPr id="6" name="Text Placeholder 3">
            <a:extLst>
              <a:ext uri="{FF2B5EF4-FFF2-40B4-BE49-F238E27FC236}">
                <a16:creationId xmlns:a16="http://schemas.microsoft.com/office/drawing/2014/main" id="{5997EB7B-20D3-4D1C-93C1-02048E826139}"/>
              </a:ext>
            </a:extLst>
          </p:cNvPr>
          <p:cNvSpPr txBox="1">
            <a:spLocks/>
          </p:cNvSpPr>
          <p:nvPr/>
        </p:nvSpPr>
        <p:spPr>
          <a:xfrm>
            <a:off x="6096000" y="2250075"/>
            <a:ext cx="1262427" cy="3153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400" b="1" dirty="0">
                <a:solidFill>
                  <a:srgbClr val="FF0000"/>
                </a:solidFill>
                <a:highlight>
                  <a:srgbClr val="FFFF00"/>
                </a:highlight>
                <a:latin typeface="Roboto Black" panose="02000000000000000000" pitchFamily="2" charset="0"/>
                <a:ea typeface="Roboto Black" panose="02000000000000000000" pitchFamily="2" charset="0"/>
                <a:cs typeface="Arial" panose="020B0604020202020204" pitchFamily="34" charset="0"/>
              </a:rPr>
              <a:t>2. Glutamate binding</a:t>
            </a:r>
          </a:p>
        </p:txBody>
      </p:sp>
      <p:sp>
        <p:nvSpPr>
          <p:cNvPr id="7" name="Text Placeholder 3">
            <a:extLst>
              <a:ext uri="{FF2B5EF4-FFF2-40B4-BE49-F238E27FC236}">
                <a16:creationId xmlns:a16="http://schemas.microsoft.com/office/drawing/2014/main" id="{8E5FE2A6-82A7-445C-8B35-4235796AE30C}"/>
              </a:ext>
            </a:extLst>
          </p:cNvPr>
          <p:cNvSpPr txBox="1">
            <a:spLocks/>
          </p:cNvSpPr>
          <p:nvPr/>
        </p:nvSpPr>
        <p:spPr>
          <a:xfrm>
            <a:off x="10296299" y="2815974"/>
            <a:ext cx="1555390" cy="3153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400" b="1" dirty="0">
                <a:solidFill>
                  <a:srgbClr val="FF0000"/>
                </a:solidFill>
                <a:highlight>
                  <a:srgbClr val="FFFF00"/>
                </a:highlight>
                <a:latin typeface="Roboto Black" panose="02000000000000000000" pitchFamily="2" charset="0"/>
                <a:ea typeface="Roboto Black" panose="02000000000000000000" pitchFamily="2" charset="0"/>
                <a:cs typeface="Arial" panose="020B0604020202020204" pitchFamily="34" charset="0"/>
              </a:rPr>
              <a:t>3. EXCITATION of next neuron</a:t>
            </a:r>
          </a:p>
        </p:txBody>
      </p:sp>
    </p:spTree>
    <p:extLst>
      <p:ext uri="{BB962C8B-B14F-4D97-AF65-F5344CB8AC3E}">
        <p14:creationId xmlns:p14="http://schemas.microsoft.com/office/powerpoint/2010/main" val="972599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1601" y="292145"/>
            <a:ext cx="10928797" cy="1325563"/>
          </a:xfrm>
        </p:spPr>
        <p:txBody>
          <a:bodyPr>
            <a:normAutofit/>
          </a:bodyPr>
          <a:lstStyle/>
          <a:p>
            <a:pPr algn="ctr"/>
            <a:r>
              <a:rPr lang="en-AU" sz="3600" dirty="0">
                <a:solidFill>
                  <a:srgbClr val="3A7386"/>
                </a:solidFill>
                <a:latin typeface="Roboto Black" panose="02000000000000000000" pitchFamily="2" charset="0"/>
                <a:ea typeface="Roboto Black" panose="02000000000000000000" pitchFamily="2" charset="0"/>
              </a:rPr>
              <a:t>Memantine blocks glutamate at the NMDA receptor</a:t>
            </a:r>
            <a:endParaRPr lang="en-AU" sz="3600" b="1" dirty="0">
              <a:solidFill>
                <a:srgbClr val="3A7386"/>
              </a:solidFill>
              <a:latin typeface="Roboto Black" panose="02000000000000000000" pitchFamily="2" charset="0"/>
              <a:ea typeface="Roboto Black" panose="02000000000000000000" pitchFamily="2" charset="0"/>
            </a:endParaRPr>
          </a:p>
        </p:txBody>
      </p:sp>
      <p:sp>
        <p:nvSpPr>
          <p:cNvPr id="3" name="Content Placeholder 2"/>
          <p:cNvSpPr>
            <a:spLocks noGrp="1"/>
          </p:cNvSpPr>
          <p:nvPr>
            <p:ph sz="quarter" idx="1"/>
          </p:nvPr>
        </p:nvSpPr>
        <p:spPr>
          <a:xfrm>
            <a:off x="1825752" y="1484784"/>
            <a:ext cx="8503920" cy="5214320"/>
          </a:xfrm>
        </p:spPr>
        <p:txBody>
          <a:bodyPr>
            <a:normAutofit/>
          </a:bodyPr>
          <a:lstStyle/>
          <a:p>
            <a:r>
              <a:rPr lang="en-AU" dirty="0">
                <a:solidFill>
                  <a:srgbClr val="3A7386"/>
                </a:solidFill>
                <a:latin typeface="Roboto Black" panose="02000000000000000000" pitchFamily="2" charset="0"/>
                <a:ea typeface="Roboto Black" panose="02000000000000000000" pitchFamily="2" charset="0"/>
              </a:rPr>
              <a:t>The brain is very vulnerable to glutamate-mediated overexcitation; this results in excitotoxicity. </a:t>
            </a:r>
          </a:p>
          <a:p>
            <a:r>
              <a:rPr lang="en-AU" dirty="0">
                <a:solidFill>
                  <a:srgbClr val="3A7386"/>
                </a:solidFill>
                <a:latin typeface="Roboto Black" panose="02000000000000000000" pitchFamily="2" charset="0"/>
                <a:ea typeface="Roboto Black" panose="02000000000000000000" pitchFamily="2" charset="0"/>
              </a:rPr>
              <a:t>Ultimately, with this overexcitation, cell integrity is disrupted and the nerve cell dies. </a:t>
            </a:r>
          </a:p>
          <a:p>
            <a:r>
              <a:rPr lang="en-AU" dirty="0">
                <a:solidFill>
                  <a:srgbClr val="3A7386"/>
                </a:solidFill>
                <a:latin typeface="Roboto Black" panose="02000000000000000000" pitchFamily="2" charset="0"/>
                <a:ea typeface="Roboto Black" panose="02000000000000000000" pitchFamily="2" charset="0"/>
              </a:rPr>
              <a:t>Part of the process of Alzheimer's disease may have to do with this excitotoxicity from excess glutamate.  </a:t>
            </a:r>
          </a:p>
          <a:p>
            <a:r>
              <a:rPr lang="en-AU" dirty="0">
                <a:solidFill>
                  <a:srgbClr val="3A7386"/>
                </a:solidFill>
                <a:latin typeface="Roboto Black" panose="02000000000000000000" pitchFamily="2" charset="0"/>
                <a:ea typeface="Roboto Black" panose="02000000000000000000" pitchFamily="2" charset="0"/>
              </a:rPr>
              <a:t>The psychotropic agent </a:t>
            </a:r>
            <a:r>
              <a:rPr lang="en-AU" b="1" dirty="0">
                <a:solidFill>
                  <a:srgbClr val="3A7386"/>
                </a:solidFill>
                <a:latin typeface="Roboto Black" panose="02000000000000000000" pitchFamily="2" charset="0"/>
                <a:ea typeface="Roboto Black" panose="02000000000000000000" pitchFamily="2" charset="0"/>
              </a:rPr>
              <a:t>memantine is a</a:t>
            </a:r>
            <a:r>
              <a:rPr lang="en-AU" dirty="0">
                <a:solidFill>
                  <a:srgbClr val="3A7386"/>
                </a:solidFill>
                <a:latin typeface="Roboto Black" panose="02000000000000000000" pitchFamily="2" charset="0"/>
                <a:ea typeface="Roboto Black" panose="02000000000000000000" pitchFamily="2" charset="0"/>
              </a:rPr>
              <a:t> selective NMDA receptor antagonist. </a:t>
            </a:r>
          </a:p>
          <a:p>
            <a:pPr lvl="1"/>
            <a:r>
              <a:rPr lang="en-AU" dirty="0">
                <a:solidFill>
                  <a:srgbClr val="3A7386"/>
                </a:solidFill>
                <a:latin typeface="Roboto Black" panose="02000000000000000000" pitchFamily="2" charset="0"/>
                <a:ea typeface="Roboto Black" panose="02000000000000000000" pitchFamily="2" charset="0"/>
              </a:rPr>
              <a:t>This decreases calcium influx and decreases excitation</a:t>
            </a:r>
          </a:p>
        </p:txBody>
      </p:sp>
    </p:spTree>
    <p:extLst>
      <p:ext uri="{BB962C8B-B14F-4D97-AF65-F5344CB8AC3E}">
        <p14:creationId xmlns:p14="http://schemas.microsoft.com/office/powerpoint/2010/main" val="41560172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pPr algn="ctr"/>
            <a:r>
              <a:rPr lang="en-AU" sz="3600" b="1" dirty="0">
                <a:solidFill>
                  <a:srgbClr val="3A7386"/>
                </a:solidFill>
                <a:latin typeface="Roboto Black" panose="02000000000000000000" pitchFamily="2" charset="0"/>
                <a:ea typeface="Roboto Black" panose="02000000000000000000" pitchFamily="2" charset="0"/>
              </a:rPr>
              <a:t>Glutamate receptor antagonists</a:t>
            </a:r>
            <a:endParaRPr lang="en-AU" b="1" dirty="0">
              <a:solidFill>
                <a:srgbClr val="3A7386"/>
              </a:solidFill>
              <a:latin typeface="Roboto Black" panose="02000000000000000000" pitchFamily="2" charset="0"/>
              <a:ea typeface="Roboto Black" panose="02000000000000000000" pitchFamily="2" charset="0"/>
            </a:endParaRPr>
          </a:p>
        </p:txBody>
      </p:sp>
      <p:sp>
        <p:nvSpPr>
          <p:cNvPr id="3" name="Content Placeholder 2"/>
          <p:cNvSpPr>
            <a:spLocks noGrp="1"/>
          </p:cNvSpPr>
          <p:nvPr>
            <p:ph sz="quarter" idx="1"/>
          </p:nvPr>
        </p:nvSpPr>
        <p:spPr>
          <a:xfrm>
            <a:off x="1825752" y="1527048"/>
            <a:ext cx="8503920" cy="4782272"/>
          </a:xfrm>
        </p:spPr>
        <p:txBody>
          <a:bodyPr>
            <a:normAutofit/>
          </a:bodyPr>
          <a:lstStyle/>
          <a:p>
            <a:pPr marL="0" indent="0">
              <a:buNone/>
            </a:pPr>
            <a:r>
              <a:rPr lang="en-AU" dirty="0">
                <a:solidFill>
                  <a:srgbClr val="3A7386"/>
                </a:solidFill>
                <a:latin typeface="Roboto Black" panose="02000000000000000000" pitchFamily="2" charset="0"/>
                <a:ea typeface="Roboto Black" panose="02000000000000000000" pitchFamily="2" charset="0"/>
              </a:rPr>
              <a:t>Memantine is indicated in the management of moderate to severe Alzheimer’s disease. </a:t>
            </a:r>
          </a:p>
          <a:p>
            <a:r>
              <a:rPr lang="en-AU" b="1" dirty="0">
                <a:solidFill>
                  <a:srgbClr val="3A7386"/>
                </a:solidFill>
                <a:latin typeface="Roboto Black" panose="02000000000000000000" pitchFamily="2" charset="0"/>
                <a:ea typeface="Roboto Black" panose="02000000000000000000" pitchFamily="2" charset="0"/>
              </a:rPr>
              <a:t>Mechanism of action</a:t>
            </a:r>
            <a:endParaRPr lang="en-AU" dirty="0">
              <a:solidFill>
                <a:srgbClr val="3A7386"/>
              </a:solidFill>
              <a:latin typeface="Roboto Black" panose="02000000000000000000" pitchFamily="2" charset="0"/>
              <a:ea typeface="Roboto Black" panose="02000000000000000000" pitchFamily="2" charset="0"/>
            </a:endParaRPr>
          </a:p>
          <a:p>
            <a:pPr lvl="1"/>
            <a:r>
              <a:rPr lang="en-AU" sz="2300" dirty="0">
                <a:solidFill>
                  <a:srgbClr val="3A7386"/>
                </a:solidFill>
                <a:latin typeface="Roboto Black" panose="02000000000000000000" pitchFamily="2" charset="0"/>
                <a:ea typeface="Roboto Black" panose="02000000000000000000" pitchFamily="2" charset="0"/>
              </a:rPr>
              <a:t>Memantine is an NMDA receptor antagonist that selectively restores the ungated receptors to the gated state and inhibits prolonged calcium ion influx without affecting normal glutamate neurotransmission.</a:t>
            </a:r>
          </a:p>
          <a:p>
            <a:r>
              <a:rPr lang="en-AU" b="1" dirty="0">
                <a:solidFill>
                  <a:srgbClr val="3A7386"/>
                </a:solidFill>
                <a:latin typeface="Roboto Black" panose="02000000000000000000" pitchFamily="2" charset="0"/>
                <a:ea typeface="Roboto Black" panose="02000000000000000000" pitchFamily="2" charset="0"/>
              </a:rPr>
              <a:t>Common adverse effects</a:t>
            </a:r>
            <a:endParaRPr lang="en-AU" dirty="0">
              <a:solidFill>
                <a:srgbClr val="3A7386"/>
              </a:solidFill>
              <a:latin typeface="Roboto Black" panose="02000000000000000000" pitchFamily="2" charset="0"/>
              <a:ea typeface="Roboto Black" panose="02000000000000000000" pitchFamily="2" charset="0"/>
            </a:endParaRPr>
          </a:p>
          <a:p>
            <a:pPr lvl="1"/>
            <a:r>
              <a:rPr lang="en-AU" sz="2300" dirty="0">
                <a:solidFill>
                  <a:srgbClr val="3A7386"/>
                </a:solidFill>
                <a:latin typeface="Roboto Black" panose="02000000000000000000" pitchFamily="2" charset="0"/>
                <a:ea typeface="Roboto Black" panose="02000000000000000000" pitchFamily="2" charset="0"/>
              </a:rPr>
              <a:t>Agitation, insomnia, drowsiness, dizziness, headache, gastrointestinal disturbances and coughing. </a:t>
            </a:r>
            <a:endParaRPr lang="en-AU" dirty="0">
              <a:solidFill>
                <a:srgbClr val="3A7386"/>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2618068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5D0B708-458D-46A5-B22B-72B13CB6746C}"/>
              </a:ext>
            </a:extLst>
          </p:cNvPr>
          <p:cNvSpPr>
            <a:spLocks noGrp="1"/>
          </p:cNvSpPr>
          <p:nvPr>
            <p:ph type="body" sz="quarter" idx="17"/>
          </p:nvPr>
        </p:nvSpPr>
        <p:spPr>
          <a:xfrm>
            <a:off x="664028" y="1242879"/>
            <a:ext cx="8620649" cy="573088"/>
          </a:xfrm>
        </p:spPr>
        <p:txBody>
          <a:bodyPr/>
          <a:lstStyle/>
          <a:p>
            <a:r>
              <a:rPr lang="en-AU" altLang="en-US" sz="4000" dirty="0">
                <a:solidFill>
                  <a:srgbClr val="3A7386"/>
                </a:solidFill>
                <a:latin typeface="Roboto Black" panose="02000000000000000000" pitchFamily="2" charset="0"/>
                <a:ea typeface="Roboto Black" panose="02000000000000000000" pitchFamily="2" charset="0"/>
                <a:cs typeface="Arial" panose="020B0604020202020204" pitchFamily="34" charset="0"/>
              </a:rPr>
              <a:t>Psychotropic medications (part 2):</a:t>
            </a:r>
            <a:endParaRPr lang="en-AU" sz="4000" dirty="0">
              <a:solidFill>
                <a:srgbClr val="3A7386"/>
              </a:solidFill>
              <a:latin typeface="Roboto Black" panose="02000000000000000000" pitchFamily="2" charset="0"/>
              <a:ea typeface="Roboto Black" panose="02000000000000000000" pitchFamily="2" charset="0"/>
              <a:cs typeface="Arial" panose="020B0604020202020204" pitchFamily="34" charset="0"/>
            </a:endParaRPr>
          </a:p>
          <a:p>
            <a:r>
              <a:rPr lang="en-AU" sz="4000" dirty="0">
                <a:solidFill>
                  <a:srgbClr val="3A7386"/>
                </a:solidFill>
                <a:latin typeface="Roboto Black" panose="02000000000000000000" pitchFamily="2" charset="0"/>
                <a:ea typeface="Roboto Black" panose="02000000000000000000" pitchFamily="2" charset="0"/>
              </a:rPr>
              <a:t>Anxiolytics and hypnotics</a:t>
            </a:r>
          </a:p>
        </p:txBody>
      </p:sp>
      <p:sp>
        <p:nvSpPr>
          <p:cNvPr id="4" name="Text Placeholder 3">
            <a:extLst>
              <a:ext uri="{FF2B5EF4-FFF2-40B4-BE49-F238E27FC236}">
                <a16:creationId xmlns:a16="http://schemas.microsoft.com/office/drawing/2014/main" id="{68A38FD6-D3C0-47AA-B8A4-4AC2507C115F}"/>
              </a:ext>
            </a:extLst>
          </p:cNvPr>
          <p:cNvSpPr>
            <a:spLocks noGrp="1"/>
          </p:cNvSpPr>
          <p:nvPr>
            <p:ph type="body" sz="quarter" idx="18"/>
          </p:nvPr>
        </p:nvSpPr>
        <p:spPr/>
        <p:txBody>
          <a:bodyPr/>
          <a:lstStyle/>
          <a:p>
            <a:r>
              <a:rPr lang="en-AU" sz="1400" b="1" dirty="0">
                <a:solidFill>
                  <a:srgbClr val="3A7386"/>
                </a:solidFill>
                <a:latin typeface="Arial" panose="020B0604020202020204" pitchFamily="34" charset="0"/>
                <a:ea typeface="Roboto" panose="02000000000000000000" pitchFamily="2" charset="0"/>
                <a:cs typeface="Arial" panose="020B0604020202020204" pitchFamily="34" charset="0"/>
              </a:rPr>
              <a:t>Dr Ken Wojcikowski</a:t>
            </a:r>
          </a:p>
        </p:txBody>
      </p:sp>
    </p:spTree>
    <p:extLst>
      <p:ext uri="{BB962C8B-B14F-4D97-AF65-F5344CB8AC3E}">
        <p14:creationId xmlns:p14="http://schemas.microsoft.com/office/powerpoint/2010/main" val="34427298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103437"/>
            <a:ext cx="10515600" cy="1580289"/>
          </a:xfrm>
        </p:spPr>
        <p:txBody>
          <a:bodyPr/>
          <a:lstStyle/>
          <a:p>
            <a:pPr algn="ctr"/>
            <a:r>
              <a:rPr lang="en-AU" b="1" dirty="0">
                <a:solidFill>
                  <a:schemeClr val="bg1"/>
                </a:solidFill>
                <a:latin typeface="Arial" panose="020B0604020202020204" pitchFamily="34" charset="0"/>
                <a:cs typeface="Arial" panose="020B0604020202020204" pitchFamily="34" charset="0"/>
              </a:rPr>
              <a:t>Anxiolytics and hypnotics:</a:t>
            </a:r>
            <a:br>
              <a:rPr lang="en-AU" b="1" dirty="0">
                <a:solidFill>
                  <a:schemeClr val="bg1"/>
                </a:solidFill>
                <a:latin typeface="Arial" panose="020B0604020202020204" pitchFamily="34" charset="0"/>
                <a:cs typeface="Arial" panose="020B0604020202020204" pitchFamily="34" charset="0"/>
              </a:rPr>
            </a:br>
            <a:r>
              <a:rPr lang="en-AU" b="1" dirty="0">
                <a:solidFill>
                  <a:schemeClr val="bg1"/>
                </a:solidFill>
                <a:latin typeface="Arial" panose="020B0604020202020204" pitchFamily="34" charset="0"/>
                <a:cs typeface="Arial" panose="020B0604020202020204" pitchFamily="34" charset="0"/>
              </a:rPr>
              <a:t>Benzodiazepines </a:t>
            </a:r>
          </a:p>
        </p:txBody>
      </p:sp>
      <p:pic>
        <p:nvPicPr>
          <p:cNvPr id="4" name="Picture 3">
            <a:extLst>
              <a:ext uri="{FF2B5EF4-FFF2-40B4-BE49-F238E27FC236}">
                <a16:creationId xmlns:a16="http://schemas.microsoft.com/office/drawing/2014/main" id="{FD51F9C7-C9D5-42A5-A608-DE0DDC47B4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745" y="233294"/>
            <a:ext cx="11362509" cy="6391411"/>
          </a:xfrm>
          <a:prstGeom prst="rect">
            <a:avLst/>
          </a:prstGeom>
        </p:spPr>
      </p:pic>
    </p:spTree>
    <p:extLst>
      <p:ext uri="{BB962C8B-B14F-4D97-AF65-F5344CB8AC3E}">
        <p14:creationId xmlns:p14="http://schemas.microsoft.com/office/powerpoint/2010/main" val="1040753624"/>
      </p:ext>
    </p:extLst>
  </p:cSld>
  <p:clrMapOvr>
    <a:masterClrMapping/>
  </p:clrMapOvr>
  <p:transition>
    <p:cut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2048"/>
            <a:ext cx="10515600" cy="1325563"/>
          </a:xfrm>
        </p:spPr>
        <p:txBody>
          <a:bodyPr>
            <a:normAutofit/>
          </a:bodyPr>
          <a:lstStyle/>
          <a:p>
            <a:pPr algn="ctr"/>
            <a:r>
              <a:rPr lang="en-AU" sz="3600" b="1" dirty="0">
                <a:solidFill>
                  <a:srgbClr val="3A7386"/>
                </a:solidFill>
                <a:latin typeface="Roboto Black" panose="02000000000000000000" pitchFamily="2" charset="0"/>
                <a:ea typeface="Roboto Black" panose="02000000000000000000" pitchFamily="2" charset="0"/>
              </a:rPr>
              <a:t>Anxiolytics and hypnotics</a:t>
            </a:r>
          </a:p>
        </p:txBody>
      </p:sp>
      <p:sp>
        <p:nvSpPr>
          <p:cNvPr id="3" name="Content Placeholder 2"/>
          <p:cNvSpPr>
            <a:spLocks noGrp="1"/>
          </p:cNvSpPr>
          <p:nvPr>
            <p:ph sz="quarter" idx="1"/>
          </p:nvPr>
        </p:nvSpPr>
        <p:spPr>
          <a:xfrm>
            <a:off x="438129" y="1775881"/>
            <a:ext cx="11315742" cy="5702206"/>
          </a:xfrm>
        </p:spPr>
        <p:txBody>
          <a:bodyPr>
            <a:normAutofit/>
          </a:bodyPr>
          <a:lstStyle/>
          <a:p>
            <a:r>
              <a:rPr lang="en-AU" dirty="0">
                <a:solidFill>
                  <a:srgbClr val="3A7386"/>
                </a:solidFill>
                <a:latin typeface="Roboto Black" panose="02000000000000000000" pitchFamily="2" charset="0"/>
                <a:ea typeface="Roboto Black" panose="02000000000000000000" pitchFamily="2" charset="0"/>
              </a:rPr>
              <a:t>Anxiolytics, minor tranquiliser and sedative are often used interchangeably and are described as a substance that diminishes the activity of the CNS. Sedatives calm a person receiving therapy, and moderate excitability. </a:t>
            </a:r>
          </a:p>
          <a:p>
            <a:r>
              <a:rPr lang="en-AU" dirty="0">
                <a:solidFill>
                  <a:srgbClr val="3A7386"/>
                </a:solidFill>
                <a:latin typeface="Roboto Black" panose="02000000000000000000" pitchFamily="2" charset="0"/>
                <a:ea typeface="Roboto Black" panose="02000000000000000000" pitchFamily="2" charset="0"/>
              </a:rPr>
              <a:t>‘Hypnotic’ is the term used to describe a substance that induces sleep</a:t>
            </a:r>
          </a:p>
          <a:p>
            <a:pPr lvl="1"/>
            <a:r>
              <a:rPr lang="en-AU" dirty="0">
                <a:solidFill>
                  <a:srgbClr val="3A7386"/>
                </a:solidFill>
                <a:latin typeface="Roboto Black" panose="02000000000000000000" pitchFamily="2" charset="0"/>
                <a:ea typeface="Roboto Black" panose="02000000000000000000" pitchFamily="2" charset="0"/>
              </a:rPr>
              <a:t>Often difficult to distinguish</a:t>
            </a:r>
          </a:p>
          <a:p>
            <a:r>
              <a:rPr lang="en-AU" dirty="0">
                <a:solidFill>
                  <a:srgbClr val="3A7386"/>
                </a:solidFill>
                <a:latin typeface="Roboto Black" panose="02000000000000000000" pitchFamily="2" charset="0"/>
                <a:ea typeface="Roboto Black" panose="02000000000000000000" pitchFamily="2" charset="0"/>
              </a:rPr>
              <a:t>Many of the medicines in these categories can induce psychological dependence</a:t>
            </a:r>
          </a:p>
          <a:p>
            <a:endParaRPr lang="en-AU" dirty="0"/>
          </a:p>
        </p:txBody>
      </p:sp>
    </p:spTree>
    <p:extLst>
      <p:ext uri="{BB962C8B-B14F-4D97-AF65-F5344CB8AC3E}">
        <p14:creationId xmlns:p14="http://schemas.microsoft.com/office/powerpoint/2010/main" val="15430875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2080" y="365792"/>
            <a:ext cx="8534400" cy="758952"/>
          </a:xfrm>
        </p:spPr>
        <p:txBody>
          <a:bodyPr>
            <a:normAutofit fontScale="90000"/>
          </a:bodyPr>
          <a:lstStyle/>
          <a:p>
            <a:pPr algn="ctr"/>
            <a:br>
              <a:rPr lang="en-AU" sz="3600" b="1" dirty="0"/>
            </a:br>
            <a:br>
              <a:rPr lang="en-AU" sz="3600" b="1" dirty="0"/>
            </a:br>
            <a:r>
              <a:rPr lang="en-AU" b="1" dirty="0">
                <a:solidFill>
                  <a:srgbClr val="3A7386"/>
                </a:solidFill>
                <a:latin typeface="Roboto Black" panose="02000000000000000000" pitchFamily="2" charset="0"/>
                <a:ea typeface="Roboto Black" panose="02000000000000000000" pitchFamily="2" charset="0"/>
              </a:rPr>
              <a:t>Objectives for Part 2</a:t>
            </a:r>
            <a:br>
              <a:rPr lang="en-AU" b="1" dirty="0">
                <a:solidFill>
                  <a:srgbClr val="3A7386"/>
                </a:solidFill>
                <a:latin typeface="Roboto Black" panose="02000000000000000000" pitchFamily="2" charset="0"/>
                <a:ea typeface="Roboto Black" panose="02000000000000000000" pitchFamily="2" charset="0"/>
              </a:rPr>
            </a:br>
            <a:r>
              <a:rPr lang="en-AU" b="1" dirty="0">
                <a:solidFill>
                  <a:srgbClr val="3A7386"/>
                </a:solidFill>
                <a:latin typeface="Roboto Black" panose="02000000000000000000" pitchFamily="2" charset="0"/>
                <a:ea typeface="Roboto Black" panose="02000000000000000000" pitchFamily="2" charset="0"/>
              </a:rPr>
              <a:t>Anxiolytics and Hypnotics </a:t>
            </a:r>
          </a:p>
        </p:txBody>
      </p:sp>
      <p:sp>
        <p:nvSpPr>
          <p:cNvPr id="3" name="Content Placeholder 2"/>
          <p:cNvSpPr>
            <a:spLocks noGrp="1"/>
          </p:cNvSpPr>
          <p:nvPr>
            <p:ph sz="quarter" idx="1"/>
          </p:nvPr>
        </p:nvSpPr>
        <p:spPr>
          <a:xfrm>
            <a:off x="1802306" y="1956610"/>
            <a:ext cx="8503920" cy="4854280"/>
          </a:xfrm>
        </p:spPr>
        <p:txBody>
          <a:bodyPr>
            <a:normAutofit/>
          </a:bodyPr>
          <a:lstStyle/>
          <a:p>
            <a:pPr marL="0" indent="0">
              <a:buNone/>
            </a:pPr>
            <a:r>
              <a:rPr lang="en-AU" dirty="0">
                <a:solidFill>
                  <a:srgbClr val="3A7386"/>
                </a:solidFill>
                <a:latin typeface="Roboto Black" panose="02000000000000000000" pitchFamily="2" charset="0"/>
                <a:ea typeface="Roboto Black" panose="02000000000000000000" pitchFamily="2" charset="0"/>
              </a:rPr>
              <a:t>For each of the anxiolytics listed below, give an example of the drug class, the general mechanism by which it exerts its therapeutic effects, the indications, contraindications and most important side effects. </a:t>
            </a:r>
          </a:p>
          <a:p>
            <a:r>
              <a:rPr lang="en-AU" dirty="0">
                <a:solidFill>
                  <a:srgbClr val="3A7386"/>
                </a:solidFill>
                <a:latin typeface="Roboto Black" panose="02000000000000000000" pitchFamily="2" charset="0"/>
                <a:ea typeface="Roboto Black" panose="02000000000000000000" pitchFamily="2" charset="0"/>
              </a:rPr>
              <a:t>Benzodiazepines (*Diazepam* , *Alprazolam*, *Clonazepam* and *Lorazepam* )</a:t>
            </a:r>
          </a:p>
          <a:p>
            <a:r>
              <a:rPr lang="en-AU" dirty="0">
                <a:solidFill>
                  <a:srgbClr val="3A7386"/>
                </a:solidFill>
                <a:latin typeface="Roboto Black" panose="02000000000000000000" pitchFamily="2" charset="0"/>
                <a:ea typeface="Roboto Black" panose="02000000000000000000" pitchFamily="2" charset="0"/>
              </a:rPr>
              <a:t>Azapirones (*Buspirone*)</a:t>
            </a:r>
          </a:p>
          <a:p>
            <a:endParaRPr lang="en-AU" dirty="0"/>
          </a:p>
          <a:p>
            <a:pPr marL="0" indent="0">
              <a:buNone/>
            </a:pPr>
            <a:r>
              <a:rPr lang="en-AU" b="1" dirty="0">
                <a:solidFill>
                  <a:srgbClr val="FF0000"/>
                </a:solidFill>
              </a:rPr>
              <a:t>Make sure you know the ZEPAM and ZOLAM SUFFIXES!</a:t>
            </a:r>
          </a:p>
          <a:p>
            <a:pPr lvl="0"/>
            <a:endParaRPr lang="en-AU" dirty="0"/>
          </a:p>
        </p:txBody>
      </p:sp>
    </p:spTree>
    <p:extLst>
      <p:ext uri="{BB962C8B-B14F-4D97-AF65-F5344CB8AC3E}">
        <p14:creationId xmlns:p14="http://schemas.microsoft.com/office/powerpoint/2010/main" val="19931963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llustration of morphological identification of principal neurons and... |  Download Scientific Diagram">
            <a:extLst>
              <a:ext uri="{FF2B5EF4-FFF2-40B4-BE49-F238E27FC236}">
                <a16:creationId xmlns:a16="http://schemas.microsoft.com/office/drawing/2014/main" id="{C79AE64A-B861-4B40-BE00-AA66849EB5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728" t="9540"/>
          <a:stretch/>
        </p:blipFill>
        <p:spPr bwMode="auto">
          <a:xfrm>
            <a:off x="6096000" y="252508"/>
            <a:ext cx="6040297" cy="663384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lang="en-AU" b="1" dirty="0">
                <a:solidFill>
                  <a:srgbClr val="3A7386"/>
                </a:solidFill>
                <a:latin typeface="Roboto Black" panose="02000000000000000000" pitchFamily="2" charset="0"/>
                <a:ea typeface="Roboto Black" panose="02000000000000000000" pitchFamily="2" charset="0"/>
              </a:rPr>
              <a:t>Interneurons vs neurons</a:t>
            </a:r>
          </a:p>
        </p:txBody>
      </p:sp>
      <p:sp>
        <p:nvSpPr>
          <p:cNvPr id="3" name="Content Placeholder 2"/>
          <p:cNvSpPr>
            <a:spLocks noGrp="1"/>
          </p:cNvSpPr>
          <p:nvPr>
            <p:ph sz="quarter" idx="1"/>
          </p:nvPr>
        </p:nvSpPr>
        <p:spPr>
          <a:xfrm>
            <a:off x="847997" y="1593035"/>
            <a:ext cx="5405846" cy="4572000"/>
          </a:xfrm>
        </p:spPr>
        <p:txBody>
          <a:bodyPr/>
          <a:lstStyle/>
          <a:p>
            <a:r>
              <a:rPr lang="en-AU" dirty="0">
                <a:solidFill>
                  <a:srgbClr val="3A7386"/>
                </a:solidFill>
                <a:latin typeface="Roboto Black" panose="02000000000000000000" pitchFamily="2" charset="0"/>
                <a:ea typeface="Roboto Black" panose="02000000000000000000" pitchFamily="2" charset="0"/>
              </a:rPr>
              <a:t>Over 75% of the neurons in the brain are interneurons</a:t>
            </a:r>
          </a:p>
          <a:p>
            <a:r>
              <a:rPr lang="en-AU" dirty="0">
                <a:solidFill>
                  <a:srgbClr val="3A7386"/>
                </a:solidFill>
                <a:latin typeface="Roboto Black" panose="02000000000000000000" pitchFamily="2" charset="0"/>
                <a:ea typeface="Roboto Black" panose="02000000000000000000" pitchFamily="2" charset="0"/>
              </a:rPr>
              <a:t>Especially important in the portion of the brain responsible for anxiety</a:t>
            </a:r>
          </a:p>
        </p:txBody>
      </p:sp>
      <p:pic>
        <p:nvPicPr>
          <p:cNvPr id="2052" name="Picture 4" descr="https://encrypted-tbn1.gstatic.com/images?q=tbn:ANd9GcTw2GWkThtwIhCcNNffHZ6ByNKnAuV1dvJ7jkHzbn3_pplTMiy3j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7697" y="4268587"/>
            <a:ext cx="2476500" cy="184785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B1C33826-6FB1-4FFA-89C5-A91C07D9EDDC}"/>
              </a:ext>
            </a:extLst>
          </p:cNvPr>
          <p:cNvSpPr/>
          <p:nvPr/>
        </p:nvSpPr>
        <p:spPr>
          <a:xfrm>
            <a:off x="8882743" y="5539251"/>
            <a:ext cx="1567543" cy="2339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 Placeholder 3">
            <a:extLst>
              <a:ext uri="{FF2B5EF4-FFF2-40B4-BE49-F238E27FC236}">
                <a16:creationId xmlns:a16="http://schemas.microsoft.com/office/drawing/2014/main" id="{301E7E6B-3500-45D8-9E3D-FB98382C630E}"/>
              </a:ext>
            </a:extLst>
          </p:cNvPr>
          <p:cNvSpPr txBox="1">
            <a:spLocks/>
          </p:cNvSpPr>
          <p:nvPr/>
        </p:nvSpPr>
        <p:spPr>
          <a:xfrm>
            <a:off x="8882743" y="5498563"/>
            <a:ext cx="3024569" cy="3153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2000" b="1" dirty="0">
                <a:latin typeface="Arial" panose="020B0604020202020204" pitchFamily="34" charset="0"/>
                <a:ea typeface="Roboto" panose="02000000000000000000" pitchFamily="2" charset="0"/>
                <a:cs typeface="Arial" panose="020B0604020202020204" pitchFamily="34" charset="0"/>
              </a:rPr>
              <a:t>Principal neuron</a:t>
            </a:r>
          </a:p>
        </p:txBody>
      </p:sp>
      <p:sp>
        <p:nvSpPr>
          <p:cNvPr id="6" name="Rectangle 5">
            <a:extLst>
              <a:ext uri="{FF2B5EF4-FFF2-40B4-BE49-F238E27FC236}">
                <a16:creationId xmlns:a16="http://schemas.microsoft.com/office/drawing/2014/main" id="{CA6ADAB3-D924-4AA1-848A-DF6B8ABF0BFA}"/>
              </a:ext>
            </a:extLst>
          </p:cNvPr>
          <p:cNvSpPr/>
          <p:nvPr/>
        </p:nvSpPr>
        <p:spPr>
          <a:xfrm>
            <a:off x="9953896" y="252508"/>
            <a:ext cx="2194560" cy="17461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1086887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30DF13F-C952-4E2D-B0D2-AC7FD0F55E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2516"/>
            <a:ext cx="12147498" cy="6832968"/>
          </a:xfrm>
        </p:spPr>
      </p:pic>
      <p:sp>
        <p:nvSpPr>
          <p:cNvPr id="10" name="Text Placeholder 3">
            <a:extLst>
              <a:ext uri="{FF2B5EF4-FFF2-40B4-BE49-F238E27FC236}">
                <a16:creationId xmlns:a16="http://schemas.microsoft.com/office/drawing/2014/main" id="{D12AAAB5-D1B0-486D-B808-9A79AEE47B7E}"/>
              </a:ext>
            </a:extLst>
          </p:cNvPr>
          <p:cNvSpPr txBox="1">
            <a:spLocks/>
          </p:cNvSpPr>
          <p:nvPr/>
        </p:nvSpPr>
        <p:spPr>
          <a:xfrm>
            <a:off x="3054284" y="1763348"/>
            <a:ext cx="2039349"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highlight>
                  <a:srgbClr val="FFFF00"/>
                </a:highlight>
                <a:latin typeface="Roboto Black" panose="02000000000000000000" pitchFamily="2" charset="0"/>
                <a:ea typeface="Roboto Black" panose="02000000000000000000" pitchFamily="2" charset="0"/>
                <a:cs typeface="Arial" panose="020B0604020202020204" pitchFamily="34" charset="0"/>
              </a:rPr>
              <a:t>Presynaptic neuron</a:t>
            </a:r>
          </a:p>
        </p:txBody>
      </p:sp>
      <p:sp>
        <p:nvSpPr>
          <p:cNvPr id="14" name="Title 1">
            <a:extLst>
              <a:ext uri="{FF2B5EF4-FFF2-40B4-BE49-F238E27FC236}">
                <a16:creationId xmlns:a16="http://schemas.microsoft.com/office/drawing/2014/main" id="{BC1D5142-6CB6-43BB-86C6-BE51F8C3877F}"/>
              </a:ext>
            </a:extLst>
          </p:cNvPr>
          <p:cNvSpPr txBox="1">
            <a:spLocks/>
          </p:cNvSpPr>
          <p:nvPr/>
        </p:nvSpPr>
        <p:spPr>
          <a:xfrm>
            <a:off x="1444623" y="4305957"/>
            <a:ext cx="5459878" cy="8991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dirty="0">
                <a:solidFill>
                  <a:srgbClr val="3A7386"/>
                </a:solidFill>
                <a:latin typeface="Roboto Black" panose="02000000000000000000" pitchFamily="2" charset="0"/>
                <a:ea typeface="Roboto Black" panose="02000000000000000000" pitchFamily="2" charset="0"/>
              </a:rPr>
              <a:t>Neurons in the brain</a:t>
            </a:r>
          </a:p>
        </p:txBody>
      </p:sp>
      <p:sp>
        <p:nvSpPr>
          <p:cNvPr id="11" name="Text Placeholder 3">
            <a:extLst>
              <a:ext uri="{FF2B5EF4-FFF2-40B4-BE49-F238E27FC236}">
                <a16:creationId xmlns:a16="http://schemas.microsoft.com/office/drawing/2014/main" id="{97E241D9-5D14-43D7-A574-079DF6701DE3}"/>
              </a:ext>
            </a:extLst>
          </p:cNvPr>
          <p:cNvSpPr txBox="1">
            <a:spLocks/>
          </p:cNvSpPr>
          <p:nvPr/>
        </p:nvSpPr>
        <p:spPr>
          <a:xfrm>
            <a:off x="7115034" y="5973595"/>
            <a:ext cx="3885062"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highlight>
                  <a:srgbClr val="FFFF00"/>
                </a:highlight>
                <a:latin typeface="Roboto Black" panose="02000000000000000000" pitchFamily="2" charset="0"/>
                <a:ea typeface="Roboto Black" panose="02000000000000000000" pitchFamily="2" charset="0"/>
                <a:cs typeface="Arial" panose="020B0604020202020204" pitchFamily="34" charset="0"/>
              </a:rPr>
              <a:t>Inhibitory interneurons</a:t>
            </a:r>
          </a:p>
        </p:txBody>
      </p:sp>
      <p:sp>
        <p:nvSpPr>
          <p:cNvPr id="13" name="Text Placeholder 3">
            <a:extLst>
              <a:ext uri="{FF2B5EF4-FFF2-40B4-BE49-F238E27FC236}">
                <a16:creationId xmlns:a16="http://schemas.microsoft.com/office/drawing/2014/main" id="{DCC36475-1A5D-4C9A-A6F8-738B7DFEFDD3}"/>
              </a:ext>
            </a:extLst>
          </p:cNvPr>
          <p:cNvSpPr txBox="1">
            <a:spLocks/>
          </p:cNvSpPr>
          <p:nvPr/>
        </p:nvSpPr>
        <p:spPr>
          <a:xfrm>
            <a:off x="10295045" y="2187834"/>
            <a:ext cx="2039349"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highlight>
                  <a:srgbClr val="FFFF00"/>
                </a:highlight>
                <a:latin typeface="Roboto Black" panose="02000000000000000000" pitchFamily="2" charset="0"/>
                <a:ea typeface="Roboto Black" panose="02000000000000000000" pitchFamily="2" charset="0"/>
                <a:cs typeface="Arial" panose="020B0604020202020204" pitchFamily="34" charset="0"/>
              </a:rPr>
              <a:t>Postsynaptic neuron</a:t>
            </a:r>
          </a:p>
        </p:txBody>
      </p:sp>
      <p:sp>
        <p:nvSpPr>
          <p:cNvPr id="15" name="Text Placeholder 3">
            <a:extLst>
              <a:ext uri="{FF2B5EF4-FFF2-40B4-BE49-F238E27FC236}">
                <a16:creationId xmlns:a16="http://schemas.microsoft.com/office/drawing/2014/main" id="{CEDCF029-475D-410C-BF53-57F87949E659}"/>
              </a:ext>
            </a:extLst>
          </p:cNvPr>
          <p:cNvSpPr txBox="1">
            <a:spLocks/>
          </p:cNvSpPr>
          <p:nvPr/>
        </p:nvSpPr>
        <p:spPr>
          <a:xfrm>
            <a:off x="7015539" y="2372237"/>
            <a:ext cx="1855083"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highlight>
                  <a:srgbClr val="FFFF00"/>
                </a:highlight>
                <a:latin typeface="Roboto Black" panose="02000000000000000000" pitchFamily="2" charset="0"/>
                <a:ea typeface="Roboto Black" panose="02000000000000000000" pitchFamily="2" charset="0"/>
                <a:cs typeface="Arial" panose="020B0604020202020204" pitchFamily="34" charset="0"/>
              </a:rPr>
              <a:t>Glutamate release</a:t>
            </a:r>
          </a:p>
        </p:txBody>
      </p:sp>
      <p:sp>
        <p:nvSpPr>
          <p:cNvPr id="16" name="Text Placeholder 3">
            <a:extLst>
              <a:ext uri="{FF2B5EF4-FFF2-40B4-BE49-F238E27FC236}">
                <a16:creationId xmlns:a16="http://schemas.microsoft.com/office/drawing/2014/main" id="{27A4DAC4-B6FC-4F6C-B105-F79D97336FEA}"/>
              </a:ext>
            </a:extLst>
          </p:cNvPr>
          <p:cNvSpPr txBox="1">
            <a:spLocks/>
          </p:cNvSpPr>
          <p:nvPr/>
        </p:nvSpPr>
        <p:spPr>
          <a:xfrm>
            <a:off x="7429658" y="4085583"/>
            <a:ext cx="3885062"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highlight>
                  <a:srgbClr val="FFFF00"/>
                </a:highlight>
                <a:latin typeface="Roboto Black" panose="02000000000000000000" pitchFamily="2" charset="0"/>
                <a:ea typeface="Roboto Black" panose="02000000000000000000" pitchFamily="2" charset="0"/>
                <a:cs typeface="Arial" panose="020B0604020202020204" pitchFamily="34" charset="0"/>
              </a:rPr>
              <a:t>GABA release</a:t>
            </a:r>
          </a:p>
        </p:txBody>
      </p:sp>
    </p:spTree>
    <p:extLst>
      <p:ext uri="{BB962C8B-B14F-4D97-AF65-F5344CB8AC3E}">
        <p14:creationId xmlns:p14="http://schemas.microsoft.com/office/powerpoint/2010/main" val="15295447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30DF13F-C952-4E2D-B0D2-AC7FD0F55E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51" y="-36388"/>
            <a:ext cx="12147498" cy="6832968"/>
          </a:xfrm>
        </p:spPr>
      </p:pic>
      <p:sp>
        <p:nvSpPr>
          <p:cNvPr id="9" name="Oval 8">
            <a:extLst>
              <a:ext uri="{FF2B5EF4-FFF2-40B4-BE49-F238E27FC236}">
                <a16:creationId xmlns:a16="http://schemas.microsoft.com/office/drawing/2014/main" id="{50A2513A-6C52-466D-92AD-C171BBBECFA9}"/>
              </a:ext>
            </a:extLst>
          </p:cNvPr>
          <p:cNvSpPr/>
          <p:nvPr/>
        </p:nvSpPr>
        <p:spPr>
          <a:xfrm rot="1635331">
            <a:off x="9925225" y="2843284"/>
            <a:ext cx="1698118" cy="2042615"/>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 Placeholder 3">
            <a:extLst>
              <a:ext uri="{FF2B5EF4-FFF2-40B4-BE49-F238E27FC236}">
                <a16:creationId xmlns:a16="http://schemas.microsoft.com/office/drawing/2014/main" id="{D12AAAB5-D1B0-486D-B808-9A79AEE47B7E}"/>
              </a:ext>
            </a:extLst>
          </p:cNvPr>
          <p:cNvSpPr txBox="1">
            <a:spLocks/>
          </p:cNvSpPr>
          <p:nvPr/>
        </p:nvSpPr>
        <p:spPr>
          <a:xfrm>
            <a:off x="5500048" y="4167644"/>
            <a:ext cx="3885062"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latin typeface="Roboto Black" panose="02000000000000000000" pitchFamily="2" charset="0"/>
                <a:ea typeface="Roboto Black" panose="02000000000000000000" pitchFamily="2" charset="0"/>
                <a:cs typeface="Arial" panose="020B0604020202020204" pitchFamily="34" charset="0"/>
              </a:rPr>
              <a:t>Benzodiazepines potentiate the actions of the </a:t>
            </a:r>
            <a:r>
              <a:rPr lang="en-AU" sz="1800" b="1" dirty="0">
                <a:solidFill>
                  <a:srgbClr val="FF0000"/>
                </a:solidFill>
                <a:highlight>
                  <a:srgbClr val="FFFF00"/>
                </a:highlight>
                <a:latin typeface="Roboto Black" panose="02000000000000000000" pitchFamily="2" charset="0"/>
                <a:ea typeface="Roboto Black" panose="02000000000000000000" pitchFamily="2" charset="0"/>
                <a:cs typeface="Arial" panose="020B0604020202020204" pitchFamily="34" charset="0"/>
              </a:rPr>
              <a:t>inhibitory </a:t>
            </a:r>
            <a:r>
              <a:rPr lang="en-AU" sz="1800" b="1" dirty="0">
                <a:solidFill>
                  <a:srgbClr val="FF0000"/>
                </a:solidFill>
                <a:latin typeface="Roboto Black" panose="02000000000000000000" pitchFamily="2" charset="0"/>
                <a:ea typeface="Roboto Black" panose="02000000000000000000" pitchFamily="2" charset="0"/>
                <a:cs typeface="Arial" panose="020B0604020202020204" pitchFamily="34" charset="0"/>
              </a:rPr>
              <a:t>neurotransmitter GABA</a:t>
            </a:r>
          </a:p>
        </p:txBody>
      </p:sp>
      <p:cxnSp>
        <p:nvCxnSpPr>
          <p:cNvPr id="12" name="Straight Arrow Connector 11">
            <a:extLst>
              <a:ext uri="{FF2B5EF4-FFF2-40B4-BE49-F238E27FC236}">
                <a16:creationId xmlns:a16="http://schemas.microsoft.com/office/drawing/2014/main" id="{18D634A1-3A07-46E9-B91C-4F8073B6F0EA}"/>
              </a:ext>
            </a:extLst>
          </p:cNvPr>
          <p:cNvCxnSpPr>
            <a:cxnSpLocks/>
          </p:cNvCxnSpPr>
          <p:nvPr/>
        </p:nvCxnSpPr>
        <p:spPr>
          <a:xfrm flipV="1">
            <a:off x="8934734" y="3380096"/>
            <a:ext cx="2065362" cy="1228298"/>
          </a:xfrm>
          <a:prstGeom prst="straightConnector1">
            <a:avLst/>
          </a:prstGeom>
          <a:ln w="762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BC1D5142-6CB6-43BB-86C6-BE51F8C3877F}"/>
              </a:ext>
            </a:extLst>
          </p:cNvPr>
          <p:cNvSpPr txBox="1">
            <a:spLocks/>
          </p:cNvSpPr>
          <p:nvPr/>
        </p:nvSpPr>
        <p:spPr>
          <a:xfrm>
            <a:off x="661585" y="3225837"/>
            <a:ext cx="5459878" cy="8991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600" dirty="0">
                <a:solidFill>
                  <a:srgbClr val="3A7386"/>
                </a:solidFill>
                <a:latin typeface="Roboto Black" panose="02000000000000000000" pitchFamily="2" charset="0"/>
                <a:ea typeface="Roboto Black" panose="02000000000000000000" pitchFamily="2" charset="0"/>
              </a:rPr>
              <a:t>Benzodiazepines</a:t>
            </a:r>
          </a:p>
        </p:txBody>
      </p:sp>
      <p:sp>
        <p:nvSpPr>
          <p:cNvPr id="13" name="Text Placeholder 3">
            <a:extLst>
              <a:ext uri="{FF2B5EF4-FFF2-40B4-BE49-F238E27FC236}">
                <a16:creationId xmlns:a16="http://schemas.microsoft.com/office/drawing/2014/main" id="{CBA670B1-DCEB-4B6B-BC1E-A9E051005133}"/>
              </a:ext>
            </a:extLst>
          </p:cNvPr>
          <p:cNvSpPr txBox="1">
            <a:spLocks/>
          </p:cNvSpPr>
          <p:nvPr/>
        </p:nvSpPr>
        <p:spPr>
          <a:xfrm rot="20441895">
            <a:off x="6203321" y="5823413"/>
            <a:ext cx="4124090"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highlight>
                  <a:srgbClr val="FFFF00"/>
                </a:highlight>
                <a:latin typeface="Roboto Black" panose="02000000000000000000" pitchFamily="2" charset="0"/>
                <a:ea typeface="Roboto Black" panose="02000000000000000000" pitchFamily="2" charset="0"/>
                <a:cs typeface="Arial" panose="020B0604020202020204" pitchFamily="34" charset="0"/>
              </a:rPr>
              <a:t>Interneurons</a:t>
            </a:r>
            <a:r>
              <a:rPr lang="en-AU" sz="1800" b="1" dirty="0">
                <a:solidFill>
                  <a:srgbClr val="FF0000"/>
                </a:solidFill>
                <a:latin typeface="Roboto Black" panose="02000000000000000000" pitchFamily="2" charset="0"/>
                <a:ea typeface="Roboto Black" panose="02000000000000000000" pitchFamily="2" charset="0"/>
                <a:cs typeface="Arial" panose="020B0604020202020204" pitchFamily="34" charset="0"/>
              </a:rPr>
              <a:t> that release GABA</a:t>
            </a:r>
          </a:p>
        </p:txBody>
      </p:sp>
      <p:cxnSp>
        <p:nvCxnSpPr>
          <p:cNvPr id="11" name="Straight Arrow Connector 10">
            <a:extLst>
              <a:ext uri="{FF2B5EF4-FFF2-40B4-BE49-F238E27FC236}">
                <a16:creationId xmlns:a16="http://schemas.microsoft.com/office/drawing/2014/main" id="{2C118348-0AAC-4074-BB2D-2689D58C0B12}"/>
              </a:ext>
            </a:extLst>
          </p:cNvPr>
          <p:cNvCxnSpPr/>
          <p:nvPr/>
        </p:nvCxnSpPr>
        <p:spPr>
          <a:xfrm flipV="1">
            <a:off x="7147775" y="5420648"/>
            <a:ext cx="3442952" cy="1121820"/>
          </a:xfrm>
          <a:prstGeom prst="straightConnector1">
            <a:avLst/>
          </a:prstGeom>
          <a:ln w="76200">
            <a:solidFill>
              <a:srgbClr val="FF0000"/>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A03191F7-6069-49A2-B715-5C4318B90E84}"/>
              </a:ext>
            </a:extLst>
          </p:cNvPr>
          <p:cNvSpPr/>
          <p:nvPr/>
        </p:nvSpPr>
        <p:spPr>
          <a:xfrm>
            <a:off x="10774284" y="678287"/>
            <a:ext cx="992713" cy="1803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 Placeholder 3">
            <a:extLst>
              <a:ext uri="{FF2B5EF4-FFF2-40B4-BE49-F238E27FC236}">
                <a16:creationId xmlns:a16="http://schemas.microsoft.com/office/drawing/2014/main" id="{C73D5E9A-8990-4321-9930-3A0956CA2BF4}"/>
              </a:ext>
            </a:extLst>
          </p:cNvPr>
          <p:cNvSpPr txBox="1">
            <a:spLocks/>
          </p:cNvSpPr>
          <p:nvPr/>
        </p:nvSpPr>
        <p:spPr>
          <a:xfrm>
            <a:off x="9551775" y="500710"/>
            <a:ext cx="2745314"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latin typeface="Roboto Black" panose="02000000000000000000" pitchFamily="2" charset="0"/>
                <a:ea typeface="Roboto Black" panose="02000000000000000000" pitchFamily="2" charset="0"/>
                <a:cs typeface="Arial" panose="020B0604020202020204" pitchFamily="34" charset="0"/>
              </a:rPr>
              <a:t>Postsynaptic neuron with GABA receptors</a:t>
            </a:r>
          </a:p>
        </p:txBody>
      </p:sp>
    </p:spTree>
    <p:extLst>
      <p:ext uri="{BB962C8B-B14F-4D97-AF65-F5344CB8AC3E}">
        <p14:creationId xmlns:p14="http://schemas.microsoft.com/office/powerpoint/2010/main" val="13778580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7599" y="415243"/>
            <a:ext cx="2952482" cy="1325563"/>
          </a:xfrm>
        </p:spPr>
        <p:txBody>
          <a:bodyPr>
            <a:normAutofit/>
          </a:bodyPr>
          <a:lstStyle/>
          <a:p>
            <a:pPr algn="ctr"/>
            <a:r>
              <a:rPr lang="en-AU" b="1" dirty="0">
                <a:solidFill>
                  <a:srgbClr val="3A7386"/>
                </a:solidFill>
                <a:latin typeface="Roboto Black" panose="02000000000000000000" pitchFamily="2" charset="0"/>
                <a:ea typeface="Roboto Black" panose="02000000000000000000" pitchFamily="2" charset="0"/>
              </a:rPr>
              <a:t>GABA</a:t>
            </a:r>
          </a:p>
        </p:txBody>
      </p:sp>
      <p:sp>
        <p:nvSpPr>
          <p:cNvPr id="3" name="Content Placeholder 2"/>
          <p:cNvSpPr>
            <a:spLocks noGrp="1"/>
          </p:cNvSpPr>
          <p:nvPr>
            <p:ph sz="quarter" idx="1"/>
          </p:nvPr>
        </p:nvSpPr>
        <p:spPr>
          <a:xfrm>
            <a:off x="1146666" y="1497741"/>
            <a:ext cx="5184576" cy="4926288"/>
          </a:xfrm>
        </p:spPr>
        <p:txBody>
          <a:bodyPr>
            <a:normAutofit lnSpcReduction="10000"/>
          </a:bodyPr>
          <a:lstStyle/>
          <a:p>
            <a:r>
              <a:rPr lang="en-AU" dirty="0">
                <a:solidFill>
                  <a:srgbClr val="3A7386"/>
                </a:solidFill>
                <a:latin typeface="Roboto Black" panose="02000000000000000000" pitchFamily="2" charset="0"/>
                <a:ea typeface="Roboto Black" panose="02000000000000000000" pitchFamily="2" charset="0"/>
              </a:rPr>
              <a:t>GABA is the main </a:t>
            </a:r>
            <a:r>
              <a:rPr lang="en-AU" dirty="0">
                <a:solidFill>
                  <a:srgbClr val="3A7386"/>
                </a:solidFill>
                <a:highlight>
                  <a:srgbClr val="FFFF00"/>
                </a:highlight>
                <a:latin typeface="Roboto Black" panose="02000000000000000000" pitchFamily="2" charset="0"/>
                <a:ea typeface="Roboto Black" panose="02000000000000000000" pitchFamily="2" charset="0"/>
              </a:rPr>
              <a:t>inhibitory neurotransmitter </a:t>
            </a:r>
            <a:r>
              <a:rPr lang="en-AU" dirty="0">
                <a:solidFill>
                  <a:srgbClr val="3A7386"/>
                </a:solidFill>
                <a:latin typeface="Roboto Black" panose="02000000000000000000" pitchFamily="2" charset="0"/>
                <a:ea typeface="Roboto Black" panose="02000000000000000000" pitchFamily="2" charset="0"/>
              </a:rPr>
              <a:t>– interneurons use GABA</a:t>
            </a:r>
          </a:p>
          <a:p>
            <a:r>
              <a:rPr lang="en-AU" dirty="0">
                <a:solidFill>
                  <a:srgbClr val="3A7386"/>
                </a:solidFill>
                <a:latin typeface="Roboto Black" panose="02000000000000000000" pitchFamily="2" charset="0"/>
                <a:ea typeface="Roboto Black" panose="02000000000000000000" pitchFamily="2" charset="0"/>
              </a:rPr>
              <a:t>When GABA binds to receptor, chloride flows into the cell, making it more negative</a:t>
            </a:r>
          </a:p>
          <a:p>
            <a:pPr lvl="1"/>
            <a:r>
              <a:rPr lang="en-AU" dirty="0">
                <a:solidFill>
                  <a:srgbClr val="3A7386"/>
                </a:solidFill>
                <a:latin typeface="Roboto Black" panose="02000000000000000000" pitchFamily="2" charset="0"/>
                <a:ea typeface="Roboto Black" panose="02000000000000000000" pitchFamily="2" charset="0"/>
              </a:rPr>
              <a:t>This decreases the firing of  those neurons </a:t>
            </a:r>
          </a:p>
          <a:p>
            <a:r>
              <a:rPr lang="en-AU" dirty="0">
                <a:solidFill>
                  <a:srgbClr val="3A7386"/>
                </a:solidFill>
                <a:latin typeface="Roboto Black" panose="02000000000000000000" pitchFamily="2" charset="0"/>
                <a:ea typeface="Roboto Black" panose="02000000000000000000" pitchFamily="2" charset="0"/>
              </a:rPr>
              <a:t>Anxiety states are treated with drugs that potentiate the inhibitory actions of GABA or to open the GABA channels.</a:t>
            </a:r>
          </a:p>
        </p:txBody>
      </p:sp>
      <p:pic>
        <p:nvPicPr>
          <p:cNvPr id="6" name="Picture 5">
            <a:extLst>
              <a:ext uri="{FF2B5EF4-FFF2-40B4-BE49-F238E27FC236}">
                <a16:creationId xmlns:a16="http://schemas.microsoft.com/office/drawing/2014/main" id="{E5868B93-63B3-40B9-AE5A-2291DF8670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0502" y="165193"/>
            <a:ext cx="3438181" cy="1933977"/>
          </a:xfrm>
          <a:prstGeom prst="rect">
            <a:avLst/>
          </a:prstGeom>
        </p:spPr>
      </p:pic>
      <p:sp>
        <p:nvSpPr>
          <p:cNvPr id="7" name="Rectangle 6">
            <a:extLst>
              <a:ext uri="{FF2B5EF4-FFF2-40B4-BE49-F238E27FC236}">
                <a16:creationId xmlns:a16="http://schemas.microsoft.com/office/drawing/2014/main" id="{A8CC500C-7DE1-499E-ADA0-7E923CF92835}"/>
              </a:ext>
            </a:extLst>
          </p:cNvPr>
          <p:cNvSpPr/>
          <p:nvPr/>
        </p:nvSpPr>
        <p:spPr>
          <a:xfrm rot="18548798">
            <a:off x="9972840" y="945466"/>
            <a:ext cx="326265" cy="26511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1" name="Straight Arrow Connector 10">
            <a:extLst>
              <a:ext uri="{FF2B5EF4-FFF2-40B4-BE49-F238E27FC236}">
                <a16:creationId xmlns:a16="http://schemas.microsoft.com/office/drawing/2014/main" id="{076376DA-25D4-4076-8249-11F5C499EFDB}"/>
              </a:ext>
            </a:extLst>
          </p:cNvPr>
          <p:cNvCxnSpPr>
            <a:stCxn id="1026" idx="2"/>
          </p:cNvCxnSpPr>
          <p:nvPr/>
        </p:nvCxnSpPr>
        <p:spPr>
          <a:xfrm flipH="1" flipV="1">
            <a:off x="7916214" y="3129566"/>
            <a:ext cx="612485" cy="456248"/>
          </a:xfrm>
          <a:prstGeom prst="straightConnector1">
            <a:avLst/>
          </a:prstGeom>
          <a:ln w="38100">
            <a:solidFill>
              <a:schemeClr val="accent6"/>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E08AC3F6-2DED-48EB-A952-DF17504D4D44}"/>
              </a:ext>
            </a:extLst>
          </p:cNvPr>
          <p:cNvSpPr txBox="1">
            <a:spLocks/>
          </p:cNvSpPr>
          <p:nvPr/>
        </p:nvSpPr>
        <p:spPr>
          <a:xfrm>
            <a:off x="6137038" y="2649020"/>
            <a:ext cx="2950450" cy="370998"/>
          </a:xfrm>
          <a:prstGeom prst="rect">
            <a:avLst/>
          </a:prstGeom>
        </p:spPr>
        <p:txBody>
          <a:bodyPr vert="horz" anchor="b">
            <a:norm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AU" sz="1400" b="1" dirty="0">
                <a:solidFill>
                  <a:srgbClr val="FF0000"/>
                </a:solidFill>
                <a:latin typeface="Roboto Black" panose="02000000000000000000" pitchFamily="2" charset="0"/>
                <a:ea typeface="Roboto Black" panose="02000000000000000000" pitchFamily="2" charset="0"/>
              </a:rPr>
              <a:t>Chloride flows into cell</a:t>
            </a:r>
          </a:p>
        </p:txBody>
      </p:sp>
      <p:sp>
        <p:nvSpPr>
          <p:cNvPr id="12" name="Rectangle 11">
            <a:extLst>
              <a:ext uri="{FF2B5EF4-FFF2-40B4-BE49-F238E27FC236}">
                <a16:creationId xmlns:a16="http://schemas.microsoft.com/office/drawing/2014/main" id="{142C3C55-241A-4B59-9618-B6F9E604A8A6}"/>
              </a:ext>
            </a:extLst>
          </p:cNvPr>
          <p:cNvSpPr/>
          <p:nvPr/>
        </p:nvSpPr>
        <p:spPr>
          <a:xfrm rot="7904979">
            <a:off x="7571751" y="3068484"/>
            <a:ext cx="3876594" cy="2794715"/>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rgbClr val="FF0000"/>
              </a:solidFill>
            </a:endParaRPr>
          </a:p>
        </p:txBody>
      </p:sp>
      <p:pic>
        <p:nvPicPr>
          <p:cNvPr id="1026" name="Picture 2" descr="http://t1.gstatic.com/images?q=tbn:ANd9GcRgKemJZGbOjZioyRW2tdRVuxt0QcigPPsV7xndTy7xzKlLev6iKw"/>
          <p:cNvPicPr>
            <a:picLocks noChangeAspect="1" noChangeArrowheads="1"/>
          </p:cNvPicPr>
          <p:nvPr/>
        </p:nvPicPr>
        <p:blipFill rotWithShape="1">
          <a:blip r:embed="rId4">
            <a:extLst>
              <a:ext uri="{28A0092B-C50C-407E-A947-70E740481C1C}">
                <a14:useLocalDpi xmlns:a14="http://schemas.microsoft.com/office/drawing/2010/main" val="0"/>
              </a:ext>
            </a:extLst>
          </a:blip>
          <a:srcRect t="14476" b="21600"/>
          <a:stretch/>
        </p:blipFill>
        <p:spPr bwMode="auto">
          <a:xfrm rot="7873029">
            <a:off x="7628202" y="3147608"/>
            <a:ext cx="3733800" cy="2569478"/>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txBox="1">
            <a:spLocks/>
          </p:cNvSpPr>
          <p:nvPr/>
        </p:nvSpPr>
        <p:spPr>
          <a:xfrm>
            <a:off x="1271464" y="6357047"/>
            <a:ext cx="7257235" cy="485352"/>
          </a:xfrm>
          <a:prstGeom prst="rect">
            <a:avLst/>
          </a:prstGeom>
        </p:spPr>
        <p:txBody>
          <a:bodyPr vert="horz" anchor="b">
            <a:normAutofit fontScale="40000" lnSpcReduction="20000"/>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AU" sz="4000" b="1" dirty="0">
                <a:solidFill>
                  <a:srgbClr val="FF0000"/>
                </a:solidFill>
                <a:latin typeface="Roboto Black" panose="02000000000000000000" pitchFamily="2" charset="0"/>
                <a:ea typeface="Roboto Black" panose="02000000000000000000" pitchFamily="2" charset="0"/>
              </a:rPr>
              <a:t>Opening chloride channels cancels the excitatory </a:t>
            </a:r>
          </a:p>
          <a:p>
            <a:r>
              <a:rPr lang="en-AU" sz="4000" b="1" dirty="0">
                <a:solidFill>
                  <a:srgbClr val="FF0000"/>
                </a:solidFill>
                <a:latin typeface="Roboto Black" panose="02000000000000000000" pitchFamily="2" charset="0"/>
                <a:ea typeface="Roboto Black" panose="02000000000000000000" pitchFamily="2" charset="0"/>
              </a:rPr>
              <a:t>effect of opening sodium channels</a:t>
            </a:r>
          </a:p>
        </p:txBody>
      </p:sp>
      <p:cxnSp>
        <p:nvCxnSpPr>
          <p:cNvPr id="9" name="Straight Arrow Connector 8">
            <a:extLst>
              <a:ext uri="{FF2B5EF4-FFF2-40B4-BE49-F238E27FC236}">
                <a16:creationId xmlns:a16="http://schemas.microsoft.com/office/drawing/2014/main" id="{7644EEC0-37D7-4203-82C4-42C1D3331619}"/>
              </a:ext>
            </a:extLst>
          </p:cNvPr>
          <p:cNvCxnSpPr/>
          <p:nvPr/>
        </p:nvCxnSpPr>
        <p:spPr>
          <a:xfrm flipH="1">
            <a:off x="9646276" y="1288226"/>
            <a:ext cx="485104" cy="214077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CF65132-7697-4B13-B1C9-4BD5654428A2}"/>
              </a:ext>
            </a:extLst>
          </p:cNvPr>
          <p:cNvCxnSpPr/>
          <p:nvPr/>
        </p:nvCxnSpPr>
        <p:spPr>
          <a:xfrm flipH="1" flipV="1">
            <a:off x="10341764" y="5220237"/>
            <a:ext cx="699723" cy="562377"/>
          </a:xfrm>
          <a:prstGeom prst="straightConnector1">
            <a:avLst/>
          </a:prstGeom>
          <a:ln w="38100">
            <a:solidFill>
              <a:srgbClr val="3A7386"/>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17" name="Title 1">
            <a:extLst>
              <a:ext uri="{FF2B5EF4-FFF2-40B4-BE49-F238E27FC236}">
                <a16:creationId xmlns:a16="http://schemas.microsoft.com/office/drawing/2014/main" id="{403D8512-08EB-487B-8D57-654E9449AF35}"/>
              </a:ext>
            </a:extLst>
          </p:cNvPr>
          <p:cNvSpPr txBox="1">
            <a:spLocks/>
          </p:cNvSpPr>
          <p:nvPr/>
        </p:nvSpPr>
        <p:spPr>
          <a:xfrm>
            <a:off x="9700084" y="5804677"/>
            <a:ext cx="2950450" cy="370998"/>
          </a:xfrm>
          <a:prstGeom prst="rect">
            <a:avLst/>
          </a:prstGeom>
        </p:spPr>
        <p:txBody>
          <a:bodyPr vert="horz" anchor="b">
            <a:normAutofit fontScale="77500" lnSpcReduction="20000"/>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AU" sz="1400" b="1" dirty="0">
                <a:solidFill>
                  <a:srgbClr val="FF0000"/>
                </a:solidFill>
                <a:latin typeface="Roboto Black" panose="02000000000000000000" pitchFamily="2" charset="0"/>
                <a:ea typeface="Roboto Black" panose="02000000000000000000" pitchFamily="2" charset="0"/>
              </a:rPr>
              <a:t>Chloride flow</a:t>
            </a:r>
          </a:p>
          <a:p>
            <a:r>
              <a:rPr lang="en-AU" sz="1400" b="1" dirty="0">
                <a:solidFill>
                  <a:srgbClr val="FF0000"/>
                </a:solidFill>
                <a:latin typeface="Roboto Black" panose="02000000000000000000" pitchFamily="2" charset="0"/>
                <a:ea typeface="Roboto Black" panose="02000000000000000000" pitchFamily="2" charset="0"/>
              </a:rPr>
              <a:t>on GABA binding</a:t>
            </a:r>
          </a:p>
        </p:txBody>
      </p:sp>
    </p:spTree>
    <p:extLst>
      <p:ext uri="{BB962C8B-B14F-4D97-AF65-F5344CB8AC3E}">
        <p14:creationId xmlns:p14="http://schemas.microsoft.com/office/powerpoint/2010/main" val="1574257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4000" b="1" dirty="0">
                <a:solidFill>
                  <a:srgbClr val="3A7386"/>
                </a:solidFill>
                <a:latin typeface="Roboto Black" panose="02000000000000000000" pitchFamily="2" charset="0"/>
                <a:ea typeface="Roboto Black" panose="02000000000000000000" pitchFamily="2" charset="0"/>
              </a:rPr>
              <a:t>Benzodiazepines</a:t>
            </a:r>
          </a:p>
        </p:txBody>
      </p:sp>
      <p:sp>
        <p:nvSpPr>
          <p:cNvPr id="3" name="Content Placeholder 2"/>
          <p:cNvSpPr>
            <a:spLocks noGrp="1"/>
          </p:cNvSpPr>
          <p:nvPr>
            <p:ph sz="quarter" idx="1"/>
          </p:nvPr>
        </p:nvSpPr>
        <p:spPr>
          <a:xfrm>
            <a:off x="838200" y="1925272"/>
            <a:ext cx="10515600" cy="5249252"/>
          </a:xfrm>
        </p:spPr>
        <p:txBody>
          <a:bodyPr>
            <a:normAutofit/>
          </a:bodyPr>
          <a:lstStyle/>
          <a:p>
            <a:r>
              <a:rPr lang="en-AU" dirty="0">
                <a:solidFill>
                  <a:srgbClr val="3A7386"/>
                </a:solidFill>
                <a:latin typeface="Roboto Black" panose="02000000000000000000" pitchFamily="2" charset="0"/>
                <a:ea typeface="Roboto Black" panose="02000000000000000000" pitchFamily="2" charset="0"/>
              </a:rPr>
              <a:t>Benzodiazepines are the most commonly prescribed anxiolytics/hypnotics. </a:t>
            </a:r>
          </a:p>
          <a:p>
            <a:r>
              <a:rPr lang="en-AU" dirty="0">
                <a:solidFill>
                  <a:srgbClr val="3A7386"/>
                </a:solidFill>
                <a:latin typeface="Roboto Black" panose="02000000000000000000" pitchFamily="2" charset="0"/>
                <a:ea typeface="Roboto Black" panose="02000000000000000000" pitchFamily="2" charset="0"/>
              </a:rPr>
              <a:t>Most of the benzodiazepines have the </a:t>
            </a:r>
            <a:r>
              <a:rPr lang="en-AU" dirty="0">
                <a:solidFill>
                  <a:srgbClr val="3A7386"/>
                </a:solidFill>
                <a:highlight>
                  <a:srgbClr val="FFFF00"/>
                </a:highlight>
                <a:latin typeface="Roboto Black" panose="02000000000000000000" pitchFamily="2" charset="0"/>
                <a:ea typeface="Roboto Black" panose="02000000000000000000" pitchFamily="2" charset="0"/>
              </a:rPr>
              <a:t>suffix </a:t>
            </a:r>
            <a:r>
              <a:rPr lang="en-AU" i="1" dirty="0">
                <a:solidFill>
                  <a:srgbClr val="3A7386"/>
                </a:solidFill>
                <a:highlight>
                  <a:srgbClr val="FFFF00"/>
                </a:highlight>
                <a:latin typeface="Roboto Black" panose="02000000000000000000" pitchFamily="2" charset="0"/>
                <a:ea typeface="Roboto Black" panose="02000000000000000000" pitchFamily="2" charset="0"/>
              </a:rPr>
              <a:t>–</a:t>
            </a:r>
            <a:r>
              <a:rPr lang="en-AU" i="1" dirty="0">
                <a:solidFill>
                  <a:srgbClr val="FF0000"/>
                </a:solidFill>
                <a:highlight>
                  <a:srgbClr val="FFFF00"/>
                </a:highlight>
                <a:latin typeface="Roboto Black" panose="02000000000000000000" pitchFamily="2" charset="0"/>
                <a:ea typeface="Roboto Black" panose="02000000000000000000" pitchFamily="2" charset="0"/>
              </a:rPr>
              <a:t>ZEPAM</a:t>
            </a:r>
            <a:r>
              <a:rPr lang="en-AU" i="1" dirty="0">
                <a:solidFill>
                  <a:srgbClr val="3A7386"/>
                </a:solidFill>
                <a:highlight>
                  <a:srgbClr val="FFFF00"/>
                </a:highlight>
                <a:latin typeface="Roboto Black" panose="02000000000000000000" pitchFamily="2" charset="0"/>
                <a:ea typeface="Roboto Black" panose="02000000000000000000" pitchFamily="2" charset="0"/>
              </a:rPr>
              <a:t> or </a:t>
            </a:r>
            <a:r>
              <a:rPr lang="en-AU" i="1" dirty="0">
                <a:solidFill>
                  <a:srgbClr val="FF0000"/>
                </a:solidFill>
                <a:highlight>
                  <a:srgbClr val="FFFF00"/>
                </a:highlight>
                <a:latin typeface="Roboto Black" panose="02000000000000000000" pitchFamily="2" charset="0"/>
                <a:ea typeface="Roboto Black" panose="02000000000000000000" pitchFamily="2" charset="0"/>
              </a:rPr>
              <a:t>ZOLAM</a:t>
            </a:r>
            <a:r>
              <a:rPr lang="en-AU" i="1" dirty="0">
                <a:solidFill>
                  <a:srgbClr val="3A7386"/>
                </a:solidFill>
                <a:highlight>
                  <a:srgbClr val="FFFF00"/>
                </a:highlight>
                <a:latin typeface="Roboto Black" panose="02000000000000000000" pitchFamily="2" charset="0"/>
                <a:ea typeface="Roboto Black" panose="02000000000000000000" pitchFamily="2" charset="0"/>
              </a:rPr>
              <a:t> </a:t>
            </a:r>
          </a:p>
          <a:p>
            <a:pPr lvl="1"/>
            <a:r>
              <a:rPr lang="en-AU" dirty="0">
                <a:solidFill>
                  <a:srgbClr val="3A7386"/>
                </a:solidFill>
                <a:latin typeface="Roboto Black" panose="02000000000000000000" pitchFamily="2" charset="0"/>
                <a:ea typeface="Roboto Black" panose="02000000000000000000" pitchFamily="2" charset="0"/>
              </a:rPr>
              <a:t>(*Dia</a:t>
            </a:r>
            <a:r>
              <a:rPr lang="en-AU" dirty="0">
                <a:solidFill>
                  <a:srgbClr val="FF0000"/>
                </a:solidFill>
                <a:highlight>
                  <a:srgbClr val="FFFF00"/>
                </a:highlight>
                <a:latin typeface="Roboto Black" panose="02000000000000000000" pitchFamily="2" charset="0"/>
                <a:ea typeface="Roboto Black" panose="02000000000000000000" pitchFamily="2" charset="0"/>
              </a:rPr>
              <a:t>zepam</a:t>
            </a:r>
            <a:r>
              <a:rPr lang="en-AU" dirty="0">
                <a:solidFill>
                  <a:srgbClr val="3A7386"/>
                </a:solidFill>
                <a:latin typeface="Roboto Black" panose="02000000000000000000" pitchFamily="2" charset="0"/>
                <a:ea typeface="Roboto Black" panose="02000000000000000000" pitchFamily="2" charset="0"/>
              </a:rPr>
              <a:t>* , *Alpra</a:t>
            </a:r>
            <a:r>
              <a:rPr lang="en-AU" dirty="0">
                <a:solidFill>
                  <a:srgbClr val="FF0000"/>
                </a:solidFill>
                <a:highlight>
                  <a:srgbClr val="FFFF00"/>
                </a:highlight>
                <a:latin typeface="Roboto Black" panose="02000000000000000000" pitchFamily="2" charset="0"/>
                <a:ea typeface="Roboto Black" panose="02000000000000000000" pitchFamily="2" charset="0"/>
              </a:rPr>
              <a:t>zolam</a:t>
            </a:r>
            <a:r>
              <a:rPr lang="en-AU" dirty="0">
                <a:solidFill>
                  <a:srgbClr val="3A7386"/>
                </a:solidFill>
                <a:latin typeface="Roboto Black" panose="02000000000000000000" pitchFamily="2" charset="0"/>
                <a:ea typeface="Roboto Black" panose="02000000000000000000" pitchFamily="2" charset="0"/>
              </a:rPr>
              <a:t>*, *Clona</a:t>
            </a:r>
            <a:r>
              <a:rPr lang="en-AU" dirty="0">
                <a:solidFill>
                  <a:srgbClr val="FF0000"/>
                </a:solidFill>
                <a:highlight>
                  <a:srgbClr val="FFFF00"/>
                </a:highlight>
                <a:latin typeface="Roboto Black" panose="02000000000000000000" pitchFamily="2" charset="0"/>
                <a:ea typeface="Roboto Black" panose="02000000000000000000" pitchFamily="2" charset="0"/>
              </a:rPr>
              <a:t>zepam</a:t>
            </a:r>
            <a:r>
              <a:rPr lang="en-AU" dirty="0">
                <a:solidFill>
                  <a:srgbClr val="3A7386"/>
                </a:solidFill>
                <a:latin typeface="Roboto Black" panose="02000000000000000000" pitchFamily="2" charset="0"/>
                <a:ea typeface="Roboto Black" panose="02000000000000000000" pitchFamily="2" charset="0"/>
              </a:rPr>
              <a:t>* and *Lora</a:t>
            </a:r>
            <a:r>
              <a:rPr lang="en-AU" dirty="0">
                <a:solidFill>
                  <a:srgbClr val="FF0000"/>
                </a:solidFill>
                <a:highlight>
                  <a:srgbClr val="FFFF00"/>
                </a:highlight>
                <a:latin typeface="Roboto Black" panose="02000000000000000000" pitchFamily="2" charset="0"/>
                <a:ea typeface="Roboto Black" panose="02000000000000000000" pitchFamily="2" charset="0"/>
              </a:rPr>
              <a:t>zepam</a:t>
            </a:r>
            <a:r>
              <a:rPr lang="en-AU" dirty="0">
                <a:solidFill>
                  <a:srgbClr val="3A7386"/>
                </a:solidFill>
                <a:latin typeface="Roboto Black" panose="02000000000000000000" pitchFamily="2" charset="0"/>
                <a:ea typeface="Roboto Black" panose="02000000000000000000" pitchFamily="2" charset="0"/>
              </a:rPr>
              <a:t>*)</a:t>
            </a:r>
            <a:endParaRPr lang="en-AU" sz="2300" dirty="0">
              <a:solidFill>
                <a:srgbClr val="3A7386"/>
              </a:solidFill>
              <a:latin typeface="Roboto Black" panose="02000000000000000000" pitchFamily="2" charset="0"/>
              <a:ea typeface="Roboto Black" panose="02000000000000000000" pitchFamily="2" charset="0"/>
            </a:endParaRPr>
          </a:p>
          <a:p>
            <a:pPr marL="0" indent="0">
              <a:buNone/>
            </a:pPr>
            <a:endParaRPr lang="en-AU" b="1" dirty="0">
              <a:solidFill>
                <a:srgbClr val="3A7386"/>
              </a:solidFill>
              <a:latin typeface="Roboto Black" panose="02000000000000000000" pitchFamily="2" charset="0"/>
              <a:ea typeface="Roboto Black" panose="02000000000000000000" pitchFamily="2" charset="0"/>
            </a:endParaRPr>
          </a:p>
          <a:p>
            <a:pPr marL="0" indent="0">
              <a:buNone/>
            </a:pPr>
            <a:r>
              <a:rPr lang="en-AU" b="1" dirty="0">
                <a:solidFill>
                  <a:srgbClr val="3A7386"/>
                </a:solidFill>
                <a:latin typeface="Roboto Black" panose="02000000000000000000" pitchFamily="2" charset="0"/>
                <a:ea typeface="Roboto Black" panose="02000000000000000000" pitchFamily="2" charset="0"/>
              </a:rPr>
              <a:t>Mechanism of action </a:t>
            </a:r>
            <a:endParaRPr lang="en-AU" dirty="0">
              <a:solidFill>
                <a:srgbClr val="3A7386"/>
              </a:solidFill>
              <a:latin typeface="Roboto Black" panose="02000000000000000000" pitchFamily="2" charset="0"/>
              <a:ea typeface="Roboto Black" panose="02000000000000000000" pitchFamily="2" charset="0"/>
            </a:endParaRPr>
          </a:p>
          <a:p>
            <a:r>
              <a:rPr lang="en-AU" dirty="0">
                <a:solidFill>
                  <a:srgbClr val="3A7386"/>
                </a:solidFill>
                <a:latin typeface="Roboto Black" panose="02000000000000000000" pitchFamily="2" charset="0"/>
                <a:ea typeface="Roboto Black" panose="02000000000000000000" pitchFamily="2" charset="0"/>
              </a:rPr>
              <a:t>This group of medicines acts on gamma-aminobutyric acid (GABA) receptors in the CNS to potentiate its </a:t>
            </a:r>
            <a:r>
              <a:rPr lang="en-AU" dirty="0">
                <a:solidFill>
                  <a:srgbClr val="FF0000"/>
                </a:solidFill>
                <a:latin typeface="Roboto Black" panose="02000000000000000000" pitchFamily="2" charset="0"/>
                <a:ea typeface="Roboto Black" panose="02000000000000000000" pitchFamily="2" charset="0"/>
              </a:rPr>
              <a:t>inhibitory action</a:t>
            </a:r>
            <a:r>
              <a:rPr lang="en-AU" dirty="0">
                <a:solidFill>
                  <a:srgbClr val="3A7386"/>
                </a:solidFill>
                <a:latin typeface="Roboto Black" panose="02000000000000000000" pitchFamily="2" charset="0"/>
                <a:ea typeface="Roboto Black" panose="02000000000000000000" pitchFamily="2" charset="0"/>
              </a:rPr>
              <a:t> throughout the CNS </a:t>
            </a:r>
          </a:p>
        </p:txBody>
      </p:sp>
    </p:spTree>
    <p:extLst>
      <p:ext uri="{BB962C8B-B14F-4D97-AF65-F5344CB8AC3E}">
        <p14:creationId xmlns:p14="http://schemas.microsoft.com/office/powerpoint/2010/main" val="14910409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3600" b="1" dirty="0">
                <a:solidFill>
                  <a:srgbClr val="3A7386"/>
                </a:solidFill>
                <a:latin typeface="Roboto Black" panose="02000000000000000000" pitchFamily="2" charset="0"/>
                <a:ea typeface="Roboto Black" panose="02000000000000000000" pitchFamily="2" charset="0"/>
              </a:rPr>
              <a:t>Dia</a:t>
            </a:r>
            <a:r>
              <a:rPr lang="en-AU" sz="3600" b="1" dirty="0">
                <a:solidFill>
                  <a:srgbClr val="FF0000"/>
                </a:solidFill>
                <a:highlight>
                  <a:srgbClr val="FFFF00"/>
                </a:highlight>
                <a:latin typeface="Roboto Black" panose="02000000000000000000" pitchFamily="2" charset="0"/>
                <a:ea typeface="Roboto Black" panose="02000000000000000000" pitchFamily="2" charset="0"/>
              </a:rPr>
              <a:t>zepam</a:t>
            </a:r>
            <a:r>
              <a:rPr lang="en-AU" sz="3600" b="1" dirty="0">
                <a:solidFill>
                  <a:srgbClr val="3A7386"/>
                </a:solidFill>
                <a:latin typeface="Roboto Black" panose="02000000000000000000" pitchFamily="2" charset="0"/>
                <a:ea typeface="Roboto Black" panose="02000000000000000000" pitchFamily="2" charset="0"/>
              </a:rPr>
              <a:t>, Alpra</a:t>
            </a:r>
            <a:r>
              <a:rPr lang="en-AU" sz="3600" b="1" dirty="0">
                <a:solidFill>
                  <a:srgbClr val="FF0000"/>
                </a:solidFill>
                <a:highlight>
                  <a:srgbClr val="FFFF00"/>
                </a:highlight>
                <a:latin typeface="Roboto Black" panose="02000000000000000000" pitchFamily="2" charset="0"/>
                <a:ea typeface="Roboto Black" panose="02000000000000000000" pitchFamily="2" charset="0"/>
              </a:rPr>
              <a:t>zolam</a:t>
            </a:r>
            <a:r>
              <a:rPr lang="en-AU" sz="3600" b="1" dirty="0">
                <a:solidFill>
                  <a:srgbClr val="3A7386"/>
                </a:solidFill>
                <a:latin typeface="Roboto Black" panose="02000000000000000000" pitchFamily="2" charset="0"/>
                <a:ea typeface="Roboto Black" panose="02000000000000000000" pitchFamily="2" charset="0"/>
              </a:rPr>
              <a:t> and other </a:t>
            </a:r>
            <a:br>
              <a:rPr lang="en-AU" sz="3600" b="1" dirty="0">
                <a:solidFill>
                  <a:srgbClr val="3A7386"/>
                </a:solidFill>
                <a:latin typeface="Roboto Black" panose="02000000000000000000" pitchFamily="2" charset="0"/>
                <a:ea typeface="Roboto Black" panose="02000000000000000000" pitchFamily="2" charset="0"/>
              </a:rPr>
            </a:br>
            <a:r>
              <a:rPr lang="en-AU" sz="3600" b="1" dirty="0">
                <a:solidFill>
                  <a:srgbClr val="3A7386"/>
                </a:solidFill>
                <a:latin typeface="Roboto Black" panose="02000000000000000000" pitchFamily="2" charset="0"/>
                <a:ea typeface="Roboto Black" panose="02000000000000000000" pitchFamily="2" charset="0"/>
              </a:rPr>
              <a:t>…</a:t>
            </a:r>
            <a:r>
              <a:rPr lang="en-AU" sz="3600" b="1" dirty="0" err="1">
                <a:solidFill>
                  <a:srgbClr val="FF0000"/>
                </a:solidFill>
                <a:highlight>
                  <a:srgbClr val="FFFF00"/>
                </a:highlight>
                <a:latin typeface="Roboto Black" panose="02000000000000000000" pitchFamily="2" charset="0"/>
                <a:ea typeface="Roboto Black" panose="02000000000000000000" pitchFamily="2" charset="0"/>
              </a:rPr>
              <a:t>zepam</a:t>
            </a:r>
            <a:r>
              <a:rPr lang="en-AU" sz="3600" b="1" dirty="0">
                <a:solidFill>
                  <a:srgbClr val="3A7386"/>
                </a:solidFill>
                <a:latin typeface="Roboto Black" panose="02000000000000000000" pitchFamily="2" charset="0"/>
                <a:ea typeface="Roboto Black" panose="02000000000000000000" pitchFamily="2" charset="0"/>
              </a:rPr>
              <a:t> and …</a:t>
            </a:r>
            <a:r>
              <a:rPr lang="en-AU" sz="3600" b="1" dirty="0" err="1">
                <a:solidFill>
                  <a:srgbClr val="FF0000"/>
                </a:solidFill>
                <a:highlight>
                  <a:srgbClr val="FFFF00"/>
                </a:highlight>
                <a:latin typeface="Roboto Black" panose="02000000000000000000" pitchFamily="2" charset="0"/>
                <a:ea typeface="Roboto Black" panose="02000000000000000000" pitchFamily="2" charset="0"/>
              </a:rPr>
              <a:t>zolam</a:t>
            </a:r>
            <a:r>
              <a:rPr lang="en-AU" sz="3600" b="1" dirty="0">
                <a:solidFill>
                  <a:srgbClr val="3A7386"/>
                </a:solidFill>
                <a:latin typeface="Roboto Black" panose="02000000000000000000" pitchFamily="2" charset="0"/>
                <a:ea typeface="Roboto Black" panose="02000000000000000000" pitchFamily="2" charset="0"/>
              </a:rPr>
              <a:t> drugs</a:t>
            </a:r>
          </a:p>
        </p:txBody>
      </p:sp>
      <p:sp>
        <p:nvSpPr>
          <p:cNvPr id="3" name="Content Placeholder 2"/>
          <p:cNvSpPr>
            <a:spLocks noGrp="1"/>
          </p:cNvSpPr>
          <p:nvPr>
            <p:ph sz="quarter" idx="1"/>
          </p:nvPr>
        </p:nvSpPr>
        <p:spPr>
          <a:xfrm>
            <a:off x="1743690" y="1690688"/>
            <a:ext cx="8503920" cy="5070304"/>
          </a:xfrm>
        </p:spPr>
        <p:txBody>
          <a:bodyPr>
            <a:normAutofit fontScale="92500"/>
          </a:bodyPr>
          <a:lstStyle/>
          <a:p>
            <a:pPr marL="0" indent="0">
              <a:buNone/>
            </a:pPr>
            <a:r>
              <a:rPr lang="en-AU" b="1" dirty="0">
                <a:solidFill>
                  <a:srgbClr val="3A7386"/>
                </a:solidFill>
                <a:latin typeface="Roboto Black" panose="02000000000000000000" pitchFamily="2" charset="0"/>
                <a:ea typeface="Roboto Black" panose="02000000000000000000" pitchFamily="2" charset="0"/>
              </a:rPr>
              <a:t>Dia</a:t>
            </a:r>
            <a:r>
              <a:rPr lang="en-AU" b="1" dirty="0">
                <a:solidFill>
                  <a:srgbClr val="FF0000"/>
                </a:solidFill>
                <a:highlight>
                  <a:srgbClr val="FFFF00"/>
                </a:highlight>
                <a:latin typeface="Roboto Black" panose="02000000000000000000" pitchFamily="2" charset="0"/>
                <a:ea typeface="Roboto Black" panose="02000000000000000000" pitchFamily="2" charset="0"/>
              </a:rPr>
              <a:t>zepam</a:t>
            </a:r>
            <a:r>
              <a:rPr lang="en-AU" dirty="0">
                <a:solidFill>
                  <a:srgbClr val="3A7386"/>
                </a:solidFill>
                <a:latin typeface="Roboto Black" panose="02000000000000000000" pitchFamily="2" charset="0"/>
                <a:ea typeface="Roboto Black" panose="02000000000000000000" pitchFamily="2" charset="0"/>
              </a:rPr>
              <a:t> first marketed as Valium </a:t>
            </a:r>
          </a:p>
          <a:p>
            <a:r>
              <a:rPr lang="en-AU" dirty="0">
                <a:solidFill>
                  <a:srgbClr val="3A7386"/>
                </a:solidFill>
                <a:latin typeface="Roboto Black" panose="02000000000000000000" pitchFamily="2" charset="0"/>
                <a:ea typeface="Roboto Black" panose="02000000000000000000" pitchFamily="2" charset="0"/>
              </a:rPr>
              <a:t>Commonly used to treat anxiety, panic attacks, muscle spasms, </a:t>
            </a:r>
          </a:p>
          <a:p>
            <a:r>
              <a:rPr lang="en-AU" dirty="0">
                <a:solidFill>
                  <a:srgbClr val="3A7386"/>
                </a:solidFill>
                <a:latin typeface="Roboto Black" panose="02000000000000000000" pitchFamily="2" charset="0"/>
                <a:ea typeface="Roboto Black" panose="02000000000000000000" pitchFamily="2" charset="0"/>
              </a:rPr>
              <a:t>Can be given parenterally </a:t>
            </a:r>
          </a:p>
          <a:p>
            <a:r>
              <a:rPr lang="en-AU" dirty="0">
                <a:solidFill>
                  <a:srgbClr val="3A7386"/>
                </a:solidFill>
                <a:latin typeface="Roboto Black" panose="02000000000000000000" pitchFamily="2" charset="0"/>
                <a:ea typeface="Roboto Black" panose="02000000000000000000" pitchFamily="2" charset="0"/>
              </a:rPr>
              <a:t>LONG half life (50-100 hours)</a:t>
            </a:r>
          </a:p>
          <a:p>
            <a:pPr marL="0" indent="0">
              <a:buNone/>
            </a:pPr>
            <a:r>
              <a:rPr lang="en-AU" b="1" dirty="0">
                <a:solidFill>
                  <a:srgbClr val="3A7386"/>
                </a:solidFill>
                <a:latin typeface="Roboto Black" panose="02000000000000000000" pitchFamily="2" charset="0"/>
                <a:ea typeface="Roboto Black" panose="02000000000000000000" pitchFamily="2" charset="0"/>
              </a:rPr>
              <a:t>Alpra</a:t>
            </a:r>
            <a:r>
              <a:rPr lang="en-AU" b="1" dirty="0">
                <a:solidFill>
                  <a:srgbClr val="FF0000"/>
                </a:solidFill>
                <a:highlight>
                  <a:srgbClr val="FFFF00"/>
                </a:highlight>
                <a:latin typeface="Roboto Black" panose="02000000000000000000" pitchFamily="2" charset="0"/>
                <a:ea typeface="Roboto Black" panose="02000000000000000000" pitchFamily="2" charset="0"/>
              </a:rPr>
              <a:t>zolam</a:t>
            </a:r>
            <a:r>
              <a:rPr lang="en-AU" b="1" dirty="0">
                <a:solidFill>
                  <a:srgbClr val="FF0000"/>
                </a:solidFill>
                <a:latin typeface="Roboto Black" panose="02000000000000000000" pitchFamily="2" charset="0"/>
                <a:ea typeface="Roboto Black" panose="02000000000000000000" pitchFamily="2" charset="0"/>
              </a:rPr>
              <a:t> </a:t>
            </a:r>
            <a:r>
              <a:rPr lang="en-AU" dirty="0">
                <a:solidFill>
                  <a:srgbClr val="3A7386"/>
                </a:solidFill>
                <a:latin typeface="Roboto Black" panose="02000000000000000000" pitchFamily="2" charset="0"/>
                <a:ea typeface="Roboto Black" panose="02000000000000000000" pitchFamily="2" charset="0"/>
              </a:rPr>
              <a:t>is unique among the benzodiazepines, as it possesses antidepressant activity </a:t>
            </a:r>
          </a:p>
          <a:p>
            <a:r>
              <a:rPr lang="en-AU" dirty="0">
                <a:solidFill>
                  <a:srgbClr val="3A7386"/>
                </a:solidFill>
                <a:latin typeface="Roboto Black" panose="02000000000000000000" pitchFamily="2" charset="0"/>
                <a:ea typeface="Roboto Black" panose="02000000000000000000" pitchFamily="2" charset="0"/>
              </a:rPr>
              <a:t>Addictive </a:t>
            </a:r>
          </a:p>
          <a:p>
            <a:r>
              <a:rPr lang="en-AU" dirty="0">
                <a:solidFill>
                  <a:srgbClr val="3A7386"/>
                </a:solidFill>
                <a:latin typeface="Roboto Black" panose="02000000000000000000" pitchFamily="2" charset="0"/>
                <a:ea typeface="Roboto Black" panose="02000000000000000000" pitchFamily="2" charset="0"/>
              </a:rPr>
              <a:t>Half-life of 11.2 hours </a:t>
            </a:r>
          </a:p>
          <a:p>
            <a:r>
              <a:rPr lang="en-AU" dirty="0">
                <a:solidFill>
                  <a:srgbClr val="3A7386"/>
                </a:solidFill>
                <a:latin typeface="Roboto Black" panose="02000000000000000000" pitchFamily="2" charset="0"/>
                <a:ea typeface="Roboto Black" panose="02000000000000000000" pitchFamily="2" charset="0"/>
              </a:rPr>
              <a:t>Caution in the elderly and those with hepatic disease</a:t>
            </a:r>
          </a:p>
          <a:p>
            <a:r>
              <a:rPr lang="en-AU" dirty="0">
                <a:solidFill>
                  <a:srgbClr val="3A7386"/>
                </a:solidFill>
                <a:latin typeface="Roboto Black" panose="02000000000000000000" pitchFamily="2" charset="0"/>
                <a:ea typeface="Roboto Black" panose="02000000000000000000" pitchFamily="2" charset="0"/>
              </a:rPr>
              <a:t>Flumazenil (</a:t>
            </a:r>
            <a:r>
              <a:rPr lang="en-AU" dirty="0" err="1">
                <a:solidFill>
                  <a:srgbClr val="3A7386"/>
                </a:solidFill>
                <a:latin typeface="Roboto Black" panose="02000000000000000000" pitchFamily="2" charset="0"/>
                <a:ea typeface="Roboto Black" panose="02000000000000000000" pitchFamily="2" charset="0"/>
              </a:rPr>
              <a:t>romazicon</a:t>
            </a:r>
            <a:r>
              <a:rPr lang="en-AU" dirty="0">
                <a:solidFill>
                  <a:srgbClr val="3A7386"/>
                </a:solidFill>
                <a:latin typeface="Roboto Black" panose="02000000000000000000" pitchFamily="2" charset="0"/>
                <a:ea typeface="Roboto Black" panose="02000000000000000000" pitchFamily="2" charset="0"/>
              </a:rPr>
              <a:t>) is used in overdose</a:t>
            </a:r>
          </a:p>
        </p:txBody>
      </p:sp>
    </p:spTree>
    <p:extLst>
      <p:ext uri="{BB962C8B-B14F-4D97-AF65-F5344CB8AC3E}">
        <p14:creationId xmlns:p14="http://schemas.microsoft.com/office/powerpoint/2010/main" val="2439928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103437"/>
            <a:ext cx="10515600" cy="1580289"/>
          </a:xfrm>
        </p:spPr>
        <p:txBody>
          <a:bodyPr/>
          <a:lstStyle/>
          <a:p>
            <a:pPr algn="ctr"/>
            <a:r>
              <a:rPr lang="en-AU" b="1" dirty="0">
                <a:solidFill>
                  <a:schemeClr val="bg1"/>
                </a:solidFill>
                <a:latin typeface="Arial" panose="020B0604020202020204" pitchFamily="34" charset="0"/>
                <a:cs typeface="Arial" panose="020B0604020202020204" pitchFamily="34" charset="0"/>
              </a:rPr>
              <a:t>Anxiolytics and hypnotics:</a:t>
            </a:r>
            <a:br>
              <a:rPr lang="en-AU" b="1" dirty="0">
                <a:solidFill>
                  <a:schemeClr val="bg1"/>
                </a:solidFill>
                <a:latin typeface="Arial" panose="020B0604020202020204" pitchFamily="34" charset="0"/>
                <a:cs typeface="Arial" panose="020B0604020202020204" pitchFamily="34" charset="0"/>
              </a:rPr>
            </a:br>
            <a:r>
              <a:rPr lang="en-AU" b="1" dirty="0">
                <a:solidFill>
                  <a:schemeClr val="bg1"/>
                </a:solidFill>
                <a:latin typeface="Arial" panose="020B0604020202020204" pitchFamily="34" charset="0"/>
                <a:cs typeface="Arial" panose="020B0604020202020204" pitchFamily="34" charset="0"/>
              </a:rPr>
              <a:t>Alternatives to benzodiazepines </a:t>
            </a:r>
          </a:p>
        </p:txBody>
      </p:sp>
      <p:pic>
        <p:nvPicPr>
          <p:cNvPr id="4" name="Picture 3">
            <a:extLst>
              <a:ext uri="{FF2B5EF4-FFF2-40B4-BE49-F238E27FC236}">
                <a16:creationId xmlns:a16="http://schemas.microsoft.com/office/drawing/2014/main" id="{7A0FDFA4-A225-4AE6-A847-D12AE6F3B4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100" y="235743"/>
            <a:ext cx="11353800" cy="6386513"/>
          </a:xfrm>
          <a:prstGeom prst="rect">
            <a:avLst/>
          </a:prstGeom>
        </p:spPr>
      </p:pic>
      <p:sp>
        <p:nvSpPr>
          <p:cNvPr id="5" name="Rectangle 4">
            <a:extLst>
              <a:ext uri="{FF2B5EF4-FFF2-40B4-BE49-F238E27FC236}">
                <a16:creationId xmlns:a16="http://schemas.microsoft.com/office/drawing/2014/main" id="{5BAE90EA-ED60-4E65-A212-CD29AA0461C2}"/>
              </a:ext>
            </a:extLst>
          </p:cNvPr>
          <p:cNvSpPr/>
          <p:nvPr/>
        </p:nvSpPr>
        <p:spPr>
          <a:xfrm>
            <a:off x="1404594" y="442079"/>
            <a:ext cx="9106293" cy="11500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Rectangle 1">
            <a:extLst>
              <a:ext uri="{FF2B5EF4-FFF2-40B4-BE49-F238E27FC236}">
                <a16:creationId xmlns:a16="http://schemas.microsoft.com/office/drawing/2014/main" id="{9DD35DB2-5ED5-474D-BB35-137BF750A7F2}"/>
              </a:ext>
            </a:extLst>
          </p:cNvPr>
          <p:cNvSpPr/>
          <p:nvPr/>
        </p:nvSpPr>
        <p:spPr>
          <a:xfrm>
            <a:off x="652020" y="472349"/>
            <a:ext cx="10611439" cy="1089529"/>
          </a:xfrm>
          <a:prstGeom prst="rect">
            <a:avLst/>
          </a:prstGeom>
        </p:spPr>
        <p:txBody>
          <a:bodyPr wrap="square">
            <a:spAutoFit/>
          </a:bodyPr>
          <a:lstStyle/>
          <a:p>
            <a:pPr lvl="0" algn="ctr">
              <a:lnSpc>
                <a:spcPct val="90000"/>
              </a:lnSpc>
              <a:spcBef>
                <a:spcPts val="1000"/>
              </a:spcBef>
            </a:pPr>
            <a:r>
              <a:rPr lang="en-AU" sz="3600" dirty="0">
                <a:solidFill>
                  <a:srgbClr val="3A7386"/>
                </a:solidFill>
                <a:latin typeface="Roboto Black" panose="02000000000000000000" pitchFamily="2" charset="0"/>
                <a:ea typeface="Roboto Black" panose="02000000000000000000" pitchFamily="2" charset="0"/>
              </a:rPr>
              <a:t>Further information about benzodiazepines will be presented as we discuss the anti-seizure drugs</a:t>
            </a:r>
          </a:p>
        </p:txBody>
      </p:sp>
    </p:spTree>
    <p:extLst>
      <p:ext uri="{BB962C8B-B14F-4D97-AF65-F5344CB8AC3E}">
        <p14:creationId xmlns:p14="http://schemas.microsoft.com/office/powerpoint/2010/main" val="2809985473"/>
      </p:ext>
    </p:extLst>
  </p:cSld>
  <p:clrMapOvr>
    <a:masterClrMapping/>
  </p:clrMapOvr>
  <p:transition>
    <p:cut thruBlk="1"/>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103437"/>
            <a:ext cx="10515600" cy="1580289"/>
          </a:xfrm>
        </p:spPr>
        <p:txBody>
          <a:bodyPr/>
          <a:lstStyle/>
          <a:p>
            <a:pPr algn="ctr"/>
            <a:r>
              <a:rPr lang="en-AU" b="1" dirty="0">
                <a:solidFill>
                  <a:schemeClr val="bg1"/>
                </a:solidFill>
                <a:latin typeface="Arial" panose="020B0604020202020204" pitchFamily="34" charset="0"/>
                <a:cs typeface="Arial" panose="020B0604020202020204" pitchFamily="34" charset="0"/>
              </a:rPr>
              <a:t>Anxiolytics and hypnotics:</a:t>
            </a:r>
            <a:br>
              <a:rPr lang="en-AU" b="1" dirty="0">
                <a:solidFill>
                  <a:schemeClr val="bg1"/>
                </a:solidFill>
                <a:latin typeface="Arial" panose="020B0604020202020204" pitchFamily="34" charset="0"/>
                <a:cs typeface="Arial" panose="020B0604020202020204" pitchFamily="34" charset="0"/>
              </a:rPr>
            </a:br>
            <a:r>
              <a:rPr lang="en-AU" b="1" dirty="0">
                <a:solidFill>
                  <a:schemeClr val="bg1"/>
                </a:solidFill>
                <a:latin typeface="Arial" panose="020B0604020202020204" pitchFamily="34" charset="0"/>
                <a:cs typeface="Arial" panose="020B0604020202020204" pitchFamily="34" charset="0"/>
              </a:rPr>
              <a:t>Alternatives to benzodiazepines </a:t>
            </a:r>
          </a:p>
        </p:txBody>
      </p:sp>
      <p:pic>
        <p:nvPicPr>
          <p:cNvPr id="4" name="Picture 3">
            <a:extLst>
              <a:ext uri="{FF2B5EF4-FFF2-40B4-BE49-F238E27FC236}">
                <a16:creationId xmlns:a16="http://schemas.microsoft.com/office/drawing/2014/main" id="{7A0FDFA4-A225-4AE6-A847-D12AE6F3B4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100" y="235743"/>
            <a:ext cx="11353800" cy="6386513"/>
          </a:xfrm>
          <a:prstGeom prst="rect">
            <a:avLst/>
          </a:prstGeom>
        </p:spPr>
      </p:pic>
    </p:spTree>
    <p:extLst>
      <p:ext uri="{BB962C8B-B14F-4D97-AF65-F5344CB8AC3E}">
        <p14:creationId xmlns:p14="http://schemas.microsoft.com/office/powerpoint/2010/main" val="2530270144"/>
      </p:ext>
    </p:extLst>
  </p:cSld>
  <p:clrMapOvr>
    <a:masterClrMapping/>
  </p:clrMapOvr>
  <p:transition>
    <p:cut thruBlk="1"/>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ctr" rtl="0">
              <a:spcBef>
                <a:spcPct val="0"/>
              </a:spcBef>
            </a:pPr>
            <a:r>
              <a:rPr lang="en-AU" sz="4000" b="1" dirty="0">
                <a:solidFill>
                  <a:srgbClr val="3A7386"/>
                </a:solidFill>
                <a:latin typeface="Roboto Black" panose="02000000000000000000" pitchFamily="2" charset="0"/>
                <a:ea typeface="Roboto Black" panose="02000000000000000000" pitchFamily="2" charset="0"/>
              </a:rPr>
              <a:t>Aza</a:t>
            </a:r>
            <a:r>
              <a:rPr lang="en-AU" sz="4000" b="1" dirty="0">
                <a:solidFill>
                  <a:srgbClr val="FF0000"/>
                </a:solidFill>
                <a:latin typeface="Roboto Black" panose="02000000000000000000" pitchFamily="2" charset="0"/>
                <a:ea typeface="Roboto Black" panose="02000000000000000000" pitchFamily="2" charset="0"/>
              </a:rPr>
              <a:t>pirone</a:t>
            </a:r>
            <a:r>
              <a:rPr lang="en-AU" sz="4000" b="1" dirty="0">
                <a:solidFill>
                  <a:srgbClr val="3A7386"/>
                </a:solidFill>
                <a:latin typeface="Roboto Black" panose="02000000000000000000" pitchFamily="2" charset="0"/>
                <a:ea typeface="Roboto Black" panose="02000000000000000000" pitchFamily="2" charset="0"/>
              </a:rPr>
              <a:t>s (*Bus</a:t>
            </a:r>
            <a:r>
              <a:rPr lang="en-AU" sz="4000" b="1" dirty="0">
                <a:solidFill>
                  <a:srgbClr val="FF0000"/>
                </a:solidFill>
                <a:latin typeface="Roboto Black" panose="02000000000000000000" pitchFamily="2" charset="0"/>
                <a:ea typeface="Roboto Black" panose="02000000000000000000" pitchFamily="2" charset="0"/>
              </a:rPr>
              <a:t>pirone</a:t>
            </a:r>
            <a:r>
              <a:rPr lang="en-AU" sz="4000" b="1" dirty="0">
                <a:solidFill>
                  <a:srgbClr val="3A7386"/>
                </a:solidFill>
                <a:latin typeface="Roboto Black" panose="02000000000000000000" pitchFamily="2" charset="0"/>
                <a:ea typeface="Roboto Black" panose="02000000000000000000" pitchFamily="2" charset="0"/>
              </a:rPr>
              <a:t>*)</a:t>
            </a:r>
          </a:p>
        </p:txBody>
      </p:sp>
      <p:sp>
        <p:nvSpPr>
          <p:cNvPr id="3" name="Content Placeholder 2"/>
          <p:cNvSpPr>
            <a:spLocks noGrp="1"/>
          </p:cNvSpPr>
          <p:nvPr>
            <p:ph sz="quarter" idx="1"/>
          </p:nvPr>
        </p:nvSpPr>
        <p:spPr>
          <a:xfrm>
            <a:off x="1825752" y="1599056"/>
            <a:ext cx="8503920" cy="5070304"/>
          </a:xfrm>
        </p:spPr>
        <p:txBody>
          <a:bodyPr>
            <a:normAutofit/>
          </a:bodyPr>
          <a:lstStyle/>
          <a:p>
            <a:r>
              <a:rPr lang="en-AU" dirty="0" err="1">
                <a:solidFill>
                  <a:srgbClr val="3A7386"/>
                </a:solidFill>
                <a:latin typeface="Roboto Black" panose="02000000000000000000" pitchFamily="2" charset="0"/>
                <a:ea typeface="Roboto Black" panose="02000000000000000000" pitchFamily="2" charset="0"/>
              </a:rPr>
              <a:t>Bus</a:t>
            </a:r>
            <a:r>
              <a:rPr lang="en-AU" dirty="0" err="1">
                <a:solidFill>
                  <a:srgbClr val="FF0000"/>
                </a:solidFill>
                <a:latin typeface="Roboto Black" panose="02000000000000000000" pitchFamily="2" charset="0"/>
                <a:ea typeface="Roboto Black" panose="02000000000000000000" pitchFamily="2" charset="0"/>
              </a:rPr>
              <a:t>pirone</a:t>
            </a:r>
            <a:r>
              <a:rPr lang="en-AU" dirty="0">
                <a:solidFill>
                  <a:srgbClr val="3A7386"/>
                </a:solidFill>
                <a:latin typeface="Roboto Black" panose="02000000000000000000" pitchFamily="2" charset="0"/>
                <a:ea typeface="Roboto Black" panose="02000000000000000000" pitchFamily="2" charset="0"/>
              </a:rPr>
              <a:t> is an anxiolytic psychotropic drug </a:t>
            </a:r>
          </a:p>
          <a:p>
            <a:r>
              <a:rPr lang="en-AU" dirty="0">
                <a:solidFill>
                  <a:srgbClr val="3A7386"/>
                </a:solidFill>
                <a:latin typeface="Roboto Black" panose="02000000000000000000" pitchFamily="2" charset="0"/>
                <a:ea typeface="Roboto Black" panose="02000000000000000000" pitchFamily="2" charset="0"/>
              </a:rPr>
              <a:t>It is primarily used to treat generalized anxiety disorder (GAD). </a:t>
            </a:r>
          </a:p>
          <a:p>
            <a:r>
              <a:rPr lang="en-AU" dirty="0">
                <a:solidFill>
                  <a:srgbClr val="3A7386"/>
                </a:solidFill>
                <a:latin typeface="Roboto Black" panose="02000000000000000000" pitchFamily="2" charset="0"/>
                <a:ea typeface="Roboto Black" panose="02000000000000000000" pitchFamily="2" charset="0"/>
              </a:rPr>
              <a:t>It is not related to benzodiazepines or barbiturates</a:t>
            </a:r>
          </a:p>
          <a:p>
            <a:r>
              <a:rPr lang="en-AU" dirty="0">
                <a:solidFill>
                  <a:srgbClr val="3A7386"/>
                </a:solidFill>
                <a:latin typeface="Roboto Black" panose="02000000000000000000" pitchFamily="2" charset="0"/>
                <a:ea typeface="Roboto Black" panose="02000000000000000000" pitchFamily="2" charset="0"/>
              </a:rPr>
              <a:t>No addiction potential</a:t>
            </a:r>
          </a:p>
          <a:p>
            <a:r>
              <a:rPr lang="en-AU" dirty="0">
                <a:solidFill>
                  <a:srgbClr val="3A7386"/>
                </a:solidFill>
                <a:latin typeface="Roboto Black" panose="02000000000000000000" pitchFamily="2" charset="0"/>
                <a:ea typeface="Roboto Black" panose="02000000000000000000" pitchFamily="2" charset="0"/>
              </a:rPr>
              <a:t>Mechanism: serotonin receptor partial agonist</a:t>
            </a:r>
          </a:p>
          <a:p>
            <a:r>
              <a:rPr lang="en-AU" dirty="0">
                <a:solidFill>
                  <a:srgbClr val="3A7386"/>
                </a:solidFill>
                <a:latin typeface="Roboto Black" panose="02000000000000000000" pitchFamily="2" charset="0"/>
                <a:ea typeface="Roboto Black" panose="02000000000000000000" pitchFamily="2" charset="0"/>
              </a:rPr>
              <a:t>Common adverse effects (&gt;10%) Dizziness, Headache, sleepiness</a:t>
            </a:r>
          </a:p>
          <a:p>
            <a:endParaRPr lang="en-AU" dirty="0"/>
          </a:p>
        </p:txBody>
      </p:sp>
    </p:spTree>
    <p:extLst>
      <p:ext uri="{BB962C8B-B14F-4D97-AF65-F5344CB8AC3E}">
        <p14:creationId xmlns:p14="http://schemas.microsoft.com/office/powerpoint/2010/main" val="31877496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1574" y="246758"/>
            <a:ext cx="10948851" cy="1325563"/>
          </a:xfrm>
        </p:spPr>
        <p:txBody>
          <a:bodyPr>
            <a:normAutofit/>
          </a:bodyPr>
          <a:lstStyle/>
          <a:p>
            <a:pPr algn="ctr"/>
            <a:r>
              <a:rPr lang="en-AU" sz="4000" b="1" dirty="0">
                <a:solidFill>
                  <a:srgbClr val="3A7386"/>
                </a:solidFill>
                <a:latin typeface="Roboto Black" panose="02000000000000000000" pitchFamily="2" charset="0"/>
                <a:ea typeface="Roboto Black" panose="02000000000000000000" pitchFamily="2" charset="0"/>
              </a:rPr>
              <a:t>Other drugs with sedative and hypnotic effects</a:t>
            </a:r>
          </a:p>
        </p:txBody>
      </p:sp>
      <p:sp>
        <p:nvSpPr>
          <p:cNvPr id="3" name="Content Placeholder 2"/>
          <p:cNvSpPr>
            <a:spLocks noGrp="1"/>
          </p:cNvSpPr>
          <p:nvPr>
            <p:ph sz="quarter" idx="1"/>
          </p:nvPr>
        </p:nvSpPr>
        <p:spPr>
          <a:xfrm>
            <a:off x="1825752" y="1527048"/>
            <a:ext cx="8503920" cy="4998296"/>
          </a:xfrm>
        </p:spPr>
        <p:txBody>
          <a:bodyPr>
            <a:normAutofit/>
          </a:bodyPr>
          <a:lstStyle/>
          <a:p>
            <a:pPr marL="0" indent="0">
              <a:buNone/>
            </a:pPr>
            <a:r>
              <a:rPr lang="en-AU" b="1" dirty="0">
                <a:solidFill>
                  <a:srgbClr val="3A7386"/>
                </a:solidFill>
                <a:latin typeface="Roboto Black" panose="02000000000000000000" pitchFamily="2" charset="0"/>
                <a:ea typeface="Roboto Black" panose="02000000000000000000" pitchFamily="2" charset="0"/>
              </a:rPr>
              <a:t>The FIRST GENERATION H1-antihistamines </a:t>
            </a:r>
          </a:p>
          <a:p>
            <a:r>
              <a:rPr lang="en-AU" dirty="0">
                <a:solidFill>
                  <a:srgbClr val="3A7386"/>
                </a:solidFill>
                <a:latin typeface="Roboto Black" panose="02000000000000000000" pitchFamily="2" charset="0"/>
                <a:ea typeface="Roboto Black" panose="02000000000000000000" pitchFamily="2" charset="0"/>
              </a:rPr>
              <a:t>Available as over-the-counter sedative/hypnotic medicines. </a:t>
            </a:r>
          </a:p>
          <a:p>
            <a:pPr lvl="1"/>
            <a:r>
              <a:rPr lang="en-AU" dirty="0">
                <a:solidFill>
                  <a:srgbClr val="3A7386"/>
                </a:solidFill>
                <a:latin typeface="Roboto Black" panose="02000000000000000000" pitchFamily="2" charset="0"/>
                <a:ea typeface="Roboto Black" panose="02000000000000000000" pitchFamily="2" charset="0"/>
              </a:rPr>
              <a:t>*Hydroxyzine*</a:t>
            </a:r>
          </a:p>
          <a:p>
            <a:pPr lvl="1"/>
            <a:r>
              <a:rPr lang="en-AU" dirty="0">
                <a:solidFill>
                  <a:srgbClr val="3A7386"/>
                </a:solidFill>
                <a:latin typeface="Roboto Black" panose="02000000000000000000" pitchFamily="2" charset="0"/>
                <a:ea typeface="Roboto Black" panose="02000000000000000000" pitchFamily="2" charset="0"/>
              </a:rPr>
              <a:t>Half life in adults 20 hours; half life in children 7 hours</a:t>
            </a:r>
          </a:p>
          <a:p>
            <a:pPr lvl="1"/>
            <a:r>
              <a:rPr lang="en-AU" dirty="0">
                <a:solidFill>
                  <a:srgbClr val="3A7386"/>
                </a:solidFill>
                <a:latin typeface="Roboto Black" panose="02000000000000000000" pitchFamily="2" charset="0"/>
                <a:ea typeface="Roboto Black" panose="02000000000000000000" pitchFamily="2" charset="0"/>
              </a:rPr>
              <a:t>Drowsiness may remain the next day</a:t>
            </a:r>
          </a:p>
          <a:p>
            <a:pPr lvl="1"/>
            <a:r>
              <a:rPr lang="en-AU" dirty="0">
                <a:solidFill>
                  <a:srgbClr val="3A7386"/>
                </a:solidFill>
                <a:latin typeface="Roboto Black" panose="02000000000000000000" pitchFamily="2" charset="0"/>
                <a:ea typeface="Roboto Black" panose="02000000000000000000" pitchFamily="2" charset="0"/>
              </a:rPr>
              <a:t>Tolerance to the anti-anxiety and hypnotic effects may develop over time. </a:t>
            </a:r>
          </a:p>
          <a:p>
            <a:pPr marL="457200" lvl="1" indent="0">
              <a:buNone/>
            </a:pPr>
            <a:endParaRPr lang="en-AU" dirty="0">
              <a:solidFill>
                <a:srgbClr val="3A7386"/>
              </a:solidFill>
              <a:latin typeface="Roboto Black" panose="02000000000000000000" pitchFamily="2" charset="0"/>
              <a:ea typeface="Roboto Black" panose="02000000000000000000" pitchFamily="2" charset="0"/>
            </a:endParaRPr>
          </a:p>
          <a:p>
            <a:pPr marL="457200" lvl="1" indent="0">
              <a:buNone/>
            </a:pPr>
            <a:r>
              <a:rPr lang="en-AU" dirty="0">
                <a:solidFill>
                  <a:srgbClr val="3A7386"/>
                </a:solidFill>
                <a:latin typeface="Roboto Black" panose="02000000000000000000" pitchFamily="2" charset="0"/>
                <a:ea typeface="Roboto Black" panose="02000000000000000000" pitchFamily="2" charset="0"/>
              </a:rPr>
              <a:t>NOT suitable for elderly clients as the half-life increases to 30 hours and is associated with increased risk of developing Alzheimer’s disease. </a:t>
            </a:r>
          </a:p>
          <a:p>
            <a:endParaRPr lang="en-AU" dirty="0"/>
          </a:p>
        </p:txBody>
      </p:sp>
    </p:spTree>
    <p:extLst>
      <p:ext uri="{BB962C8B-B14F-4D97-AF65-F5344CB8AC3E}">
        <p14:creationId xmlns:p14="http://schemas.microsoft.com/office/powerpoint/2010/main" val="12116357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1574" y="246758"/>
            <a:ext cx="10948851" cy="1325563"/>
          </a:xfrm>
        </p:spPr>
        <p:txBody>
          <a:bodyPr>
            <a:normAutofit/>
          </a:bodyPr>
          <a:lstStyle/>
          <a:p>
            <a:pPr algn="ctr"/>
            <a:r>
              <a:rPr lang="en-AU" sz="4000" b="1" dirty="0">
                <a:solidFill>
                  <a:srgbClr val="3A7386"/>
                </a:solidFill>
                <a:latin typeface="Roboto Black" panose="02000000000000000000" pitchFamily="2" charset="0"/>
                <a:ea typeface="Roboto Black" panose="02000000000000000000" pitchFamily="2" charset="0"/>
              </a:rPr>
              <a:t>Other drugs with sedative and hypnotic effects</a:t>
            </a:r>
          </a:p>
        </p:txBody>
      </p:sp>
      <p:sp>
        <p:nvSpPr>
          <p:cNvPr id="3" name="Content Placeholder 2"/>
          <p:cNvSpPr>
            <a:spLocks noGrp="1"/>
          </p:cNvSpPr>
          <p:nvPr>
            <p:ph sz="quarter" idx="1"/>
          </p:nvPr>
        </p:nvSpPr>
        <p:spPr>
          <a:xfrm>
            <a:off x="1825752" y="1527048"/>
            <a:ext cx="8503920" cy="4998296"/>
          </a:xfrm>
        </p:spPr>
        <p:txBody>
          <a:bodyPr>
            <a:normAutofit/>
          </a:bodyPr>
          <a:lstStyle/>
          <a:p>
            <a:pPr marL="0" indent="0">
              <a:buNone/>
            </a:pPr>
            <a:r>
              <a:rPr lang="el-GR" b="1" dirty="0">
                <a:solidFill>
                  <a:srgbClr val="3A7386"/>
                </a:solidFill>
                <a:latin typeface="Roboto Black" panose="02000000000000000000" pitchFamily="2" charset="0"/>
                <a:ea typeface="Roboto Black" panose="02000000000000000000" pitchFamily="2" charset="0"/>
              </a:rPr>
              <a:t>α2-</a:t>
            </a:r>
            <a:r>
              <a:rPr lang="en-AU" b="1" dirty="0">
                <a:solidFill>
                  <a:srgbClr val="3A7386"/>
                </a:solidFill>
                <a:latin typeface="Roboto Black" panose="02000000000000000000" pitchFamily="2" charset="0"/>
                <a:ea typeface="Roboto Black" panose="02000000000000000000" pitchFamily="2" charset="0"/>
              </a:rPr>
              <a:t>adrenoceptor </a:t>
            </a:r>
            <a:r>
              <a:rPr lang="en-AU" dirty="0">
                <a:solidFill>
                  <a:srgbClr val="3A7386"/>
                </a:solidFill>
                <a:latin typeface="Roboto Black" panose="02000000000000000000" pitchFamily="2" charset="0"/>
                <a:ea typeface="Roboto Black" panose="02000000000000000000" pitchFamily="2" charset="0"/>
              </a:rPr>
              <a:t>agonists *Clonidine* </a:t>
            </a:r>
          </a:p>
          <a:p>
            <a:r>
              <a:rPr lang="en-AU" dirty="0">
                <a:solidFill>
                  <a:srgbClr val="3A7386"/>
                </a:solidFill>
                <a:latin typeface="Roboto Black" panose="02000000000000000000" pitchFamily="2" charset="0"/>
                <a:ea typeface="Roboto Black" panose="02000000000000000000" pitchFamily="2" charset="0"/>
              </a:rPr>
              <a:t>Off-label treatment of anxiety</a:t>
            </a:r>
          </a:p>
          <a:p>
            <a:r>
              <a:rPr lang="en-AU" dirty="0">
                <a:solidFill>
                  <a:srgbClr val="3A7386"/>
                </a:solidFill>
                <a:latin typeface="Roboto Black" panose="02000000000000000000" pitchFamily="2" charset="0"/>
                <a:ea typeface="Roboto Black" panose="02000000000000000000" pitchFamily="2" charset="0"/>
              </a:rPr>
              <a:t>Inhibits the release of norepinephrine (noradrenaline) in a form of negative feedback.</a:t>
            </a:r>
          </a:p>
          <a:p>
            <a:r>
              <a:rPr lang="en-AU" b="1" dirty="0">
                <a:solidFill>
                  <a:srgbClr val="3A7386"/>
                </a:solidFill>
                <a:latin typeface="Roboto Black" panose="02000000000000000000" pitchFamily="2" charset="0"/>
                <a:ea typeface="Roboto Black" panose="02000000000000000000" pitchFamily="2" charset="0"/>
              </a:rPr>
              <a:t>Also treats drug withdrawal (alcohol and opioids)</a:t>
            </a:r>
          </a:p>
          <a:p>
            <a:pPr marL="0" indent="0">
              <a:buNone/>
            </a:pPr>
            <a:endParaRPr lang="en-AU" b="1" dirty="0">
              <a:solidFill>
                <a:srgbClr val="3A7386"/>
              </a:solidFill>
              <a:latin typeface="Roboto Black" panose="02000000000000000000" pitchFamily="2" charset="0"/>
              <a:ea typeface="Roboto Black" panose="02000000000000000000" pitchFamily="2" charset="0"/>
            </a:endParaRPr>
          </a:p>
          <a:p>
            <a:pPr marL="0" indent="0">
              <a:buNone/>
            </a:pPr>
            <a:endParaRPr lang="en-AU" b="1" dirty="0">
              <a:solidFill>
                <a:srgbClr val="3A7386"/>
              </a:solidFill>
              <a:latin typeface="Roboto Black" panose="02000000000000000000" pitchFamily="2" charset="0"/>
              <a:ea typeface="Roboto Black" panose="02000000000000000000" pitchFamily="2" charset="0"/>
            </a:endParaRPr>
          </a:p>
          <a:p>
            <a:pPr marL="0" indent="0">
              <a:buNone/>
            </a:pPr>
            <a:endParaRPr lang="en-AU" b="1" dirty="0">
              <a:solidFill>
                <a:srgbClr val="3A7386"/>
              </a:solidFill>
              <a:latin typeface="Roboto Black" panose="02000000000000000000" pitchFamily="2" charset="0"/>
              <a:ea typeface="Roboto Black" panose="02000000000000000000" pitchFamily="2" charset="0"/>
            </a:endParaRPr>
          </a:p>
          <a:p>
            <a:pPr marL="0" indent="0" algn="ctr">
              <a:buNone/>
            </a:pPr>
            <a:r>
              <a:rPr lang="en-AU" b="1" dirty="0">
                <a:solidFill>
                  <a:srgbClr val="3A7386"/>
                </a:solidFill>
                <a:latin typeface="Roboto Black" panose="02000000000000000000" pitchFamily="2" charset="0"/>
                <a:ea typeface="Roboto Black" panose="02000000000000000000" pitchFamily="2" charset="0"/>
              </a:rPr>
              <a:t>Many antidepressants </a:t>
            </a:r>
            <a:r>
              <a:rPr lang="en-AU" dirty="0">
                <a:solidFill>
                  <a:srgbClr val="3A7386"/>
                </a:solidFill>
                <a:latin typeface="Roboto Black" panose="02000000000000000000" pitchFamily="2" charset="0"/>
                <a:ea typeface="Roboto Black" panose="02000000000000000000" pitchFamily="2" charset="0"/>
              </a:rPr>
              <a:t>have anxiolytic effects</a:t>
            </a:r>
          </a:p>
          <a:p>
            <a:pPr marL="0" indent="0" algn="ctr">
              <a:buNone/>
            </a:pPr>
            <a:r>
              <a:rPr lang="en-AU" dirty="0">
                <a:solidFill>
                  <a:srgbClr val="3A7386"/>
                </a:solidFill>
                <a:latin typeface="Roboto Black" panose="02000000000000000000" pitchFamily="2" charset="0"/>
                <a:ea typeface="Roboto Black" panose="02000000000000000000" pitchFamily="2" charset="0"/>
              </a:rPr>
              <a:t>(see following section)</a:t>
            </a:r>
          </a:p>
          <a:p>
            <a:endParaRPr lang="en-AU" dirty="0"/>
          </a:p>
        </p:txBody>
      </p:sp>
    </p:spTree>
    <p:extLst>
      <p:ext uri="{BB962C8B-B14F-4D97-AF65-F5344CB8AC3E}">
        <p14:creationId xmlns:p14="http://schemas.microsoft.com/office/powerpoint/2010/main" val="35466864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5D0B708-458D-46A5-B22B-72B13CB6746C}"/>
              </a:ext>
            </a:extLst>
          </p:cNvPr>
          <p:cNvSpPr>
            <a:spLocks noGrp="1"/>
          </p:cNvSpPr>
          <p:nvPr>
            <p:ph type="body" sz="quarter" idx="17"/>
          </p:nvPr>
        </p:nvSpPr>
        <p:spPr>
          <a:xfrm>
            <a:off x="664028" y="1362519"/>
            <a:ext cx="8427721" cy="573088"/>
          </a:xfrm>
        </p:spPr>
        <p:txBody>
          <a:bodyPr/>
          <a:lstStyle/>
          <a:p>
            <a:r>
              <a:rPr lang="en-AU" altLang="en-US" sz="4000" dirty="0">
                <a:solidFill>
                  <a:srgbClr val="3A7386"/>
                </a:solidFill>
                <a:latin typeface="Roboto Black" panose="02000000000000000000" pitchFamily="2" charset="0"/>
                <a:ea typeface="Roboto Black" panose="02000000000000000000" pitchFamily="2" charset="0"/>
                <a:cs typeface="Arial" panose="020B0604020202020204" pitchFamily="34" charset="0"/>
              </a:rPr>
              <a:t>Psychotropic medications: Part 3</a:t>
            </a:r>
          </a:p>
          <a:p>
            <a:r>
              <a:rPr lang="en-AU" altLang="en-US" sz="4000" dirty="0">
                <a:solidFill>
                  <a:srgbClr val="3A7386"/>
                </a:solidFill>
                <a:latin typeface="Roboto Black" panose="02000000000000000000" pitchFamily="2" charset="0"/>
                <a:ea typeface="Roboto Black" panose="02000000000000000000" pitchFamily="2" charset="0"/>
                <a:cs typeface="Arial" panose="020B0604020202020204" pitchFamily="34" charset="0"/>
              </a:rPr>
              <a:t>Antidepressants</a:t>
            </a:r>
          </a:p>
          <a:p>
            <a:endParaRPr lang="en-AU" sz="4000" dirty="0">
              <a:solidFill>
                <a:srgbClr val="3A7386"/>
              </a:solidFill>
              <a:latin typeface="Arial" panose="020B0604020202020204" pitchFamily="34" charset="0"/>
              <a:ea typeface="Roboto" panose="02000000000000000000"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68A38FD6-D3C0-47AA-B8A4-4AC2507C115F}"/>
              </a:ext>
            </a:extLst>
          </p:cNvPr>
          <p:cNvSpPr>
            <a:spLocks noGrp="1"/>
          </p:cNvSpPr>
          <p:nvPr>
            <p:ph type="body" sz="quarter" idx="18"/>
          </p:nvPr>
        </p:nvSpPr>
        <p:spPr/>
        <p:txBody>
          <a:bodyPr/>
          <a:lstStyle/>
          <a:p>
            <a:r>
              <a:rPr lang="en-AU" sz="1400" b="1" dirty="0">
                <a:solidFill>
                  <a:srgbClr val="3A7386"/>
                </a:solidFill>
                <a:latin typeface="Arial" panose="020B0604020202020204" pitchFamily="34" charset="0"/>
                <a:ea typeface="Roboto" panose="02000000000000000000" pitchFamily="2" charset="0"/>
                <a:cs typeface="Arial" panose="020B0604020202020204" pitchFamily="34" charset="0"/>
              </a:rPr>
              <a:t>Dr Ken Wojcikowski</a:t>
            </a:r>
          </a:p>
        </p:txBody>
      </p:sp>
    </p:spTree>
    <p:extLst>
      <p:ext uri="{BB962C8B-B14F-4D97-AF65-F5344CB8AC3E}">
        <p14:creationId xmlns:p14="http://schemas.microsoft.com/office/powerpoint/2010/main" val="27590117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491898"/>
            <a:ext cx="10515600" cy="1325563"/>
          </a:xfrm>
        </p:spPr>
        <p:txBody>
          <a:bodyPr/>
          <a:lstStyle/>
          <a:p>
            <a:pPr algn="ctr"/>
            <a:r>
              <a:rPr lang="en-AU" b="1" dirty="0">
                <a:solidFill>
                  <a:schemeClr val="bg1"/>
                </a:solidFill>
                <a:latin typeface="Roboto Black" panose="02000000000000000000" pitchFamily="2" charset="0"/>
                <a:ea typeface="Roboto Black" panose="02000000000000000000" pitchFamily="2" charset="0"/>
                <a:cs typeface="Arial" panose="020B0604020202020204" pitchFamily="34" charset="0"/>
              </a:rPr>
              <a:t>Antidepressants: </a:t>
            </a:r>
            <a:br>
              <a:rPr lang="en-AU" b="1" dirty="0">
                <a:solidFill>
                  <a:schemeClr val="bg1"/>
                </a:solidFill>
                <a:latin typeface="Roboto Black" panose="02000000000000000000" pitchFamily="2" charset="0"/>
                <a:ea typeface="Roboto Black" panose="02000000000000000000" pitchFamily="2" charset="0"/>
                <a:cs typeface="Arial" panose="020B0604020202020204" pitchFamily="34" charset="0"/>
              </a:rPr>
            </a:br>
            <a:r>
              <a:rPr lang="en-AU" b="1" dirty="0">
                <a:solidFill>
                  <a:schemeClr val="bg1"/>
                </a:solidFill>
                <a:latin typeface="Roboto Black" panose="02000000000000000000" pitchFamily="2" charset="0"/>
                <a:ea typeface="Roboto Black" panose="02000000000000000000" pitchFamily="2" charset="0"/>
                <a:cs typeface="Arial" panose="020B0604020202020204" pitchFamily="34" charset="0"/>
              </a:rPr>
              <a:t>Definition and mechanisms of action</a:t>
            </a:r>
          </a:p>
        </p:txBody>
      </p:sp>
    </p:spTree>
    <p:extLst>
      <p:ext uri="{BB962C8B-B14F-4D97-AF65-F5344CB8AC3E}">
        <p14:creationId xmlns:p14="http://schemas.microsoft.com/office/powerpoint/2010/main" val="142336188"/>
      </p:ext>
    </p:extLst>
  </p:cSld>
  <p:clrMapOvr>
    <a:masterClrMapping/>
  </p:clrMapOvr>
  <p:transition>
    <p:cut thruBlk="1"/>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5752" y="313539"/>
            <a:ext cx="8534400" cy="1476071"/>
          </a:xfrm>
        </p:spPr>
        <p:txBody>
          <a:bodyPr>
            <a:noAutofit/>
          </a:bodyPr>
          <a:lstStyle/>
          <a:p>
            <a:pPr algn="ctr"/>
            <a:r>
              <a:rPr lang="en-AU" sz="4000" b="1" dirty="0">
                <a:solidFill>
                  <a:srgbClr val="3A7386"/>
                </a:solidFill>
                <a:latin typeface="Roboto Black" panose="02000000000000000000" pitchFamily="2" charset="0"/>
                <a:ea typeface="Roboto Black" panose="02000000000000000000" pitchFamily="2" charset="0"/>
              </a:rPr>
              <a:t>Objectives for Part 3:</a:t>
            </a:r>
            <a:br>
              <a:rPr lang="en-AU" sz="4000" b="1" dirty="0">
                <a:solidFill>
                  <a:srgbClr val="3A7386"/>
                </a:solidFill>
                <a:latin typeface="Roboto Black" panose="02000000000000000000" pitchFamily="2" charset="0"/>
                <a:ea typeface="Roboto Black" panose="02000000000000000000" pitchFamily="2" charset="0"/>
              </a:rPr>
            </a:br>
            <a:r>
              <a:rPr lang="en-AU" sz="4000" b="1" dirty="0">
                <a:solidFill>
                  <a:srgbClr val="3A7386"/>
                </a:solidFill>
                <a:latin typeface="Roboto Black" panose="02000000000000000000" pitchFamily="2" charset="0"/>
                <a:ea typeface="Roboto Black" panose="02000000000000000000" pitchFamily="2" charset="0"/>
              </a:rPr>
              <a:t>CNS Antidepressants</a:t>
            </a:r>
          </a:p>
        </p:txBody>
      </p:sp>
      <p:sp>
        <p:nvSpPr>
          <p:cNvPr id="3" name="Content Placeholder 2"/>
          <p:cNvSpPr>
            <a:spLocks noGrp="1"/>
          </p:cNvSpPr>
          <p:nvPr>
            <p:ph sz="quarter" idx="1"/>
          </p:nvPr>
        </p:nvSpPr>
        <p:spPr>
          <a:xfrm>
            <a:off x="1825752" y="1841862"/>
            <a:ext cx="8503920" cy="4899506"/>
          </a:xfrm>
        </p:spPr>
        <p:txBody>
          <a:bodyPr>
            <a:normAutofit fontScale="77500" lnSpcReduction="20000"/>
          </a:bodyPr>
          <a:lstStyle/>
          <a:p>
            <a:r>
              <a:rPr lang="en-AU" sz="3000" dirty="0">
                <a:solidFill>
                  <a:srgbClr val="3A7386"/>
                </a:solidFill>
                <a:latin typeface="Roboto Black" panose="02000000000000000000" pitchFamily="2" charset="0"/>
                <a:ea typeface="Roboto Black" panose="02000000000000000000" pitchFamily="2" charset="0"/>
              </a:rPr>
              <a:t>Briefly state the definition and most common theory of depression. </a:t>
            </a:r>
          </a:p>
          <a:p>
            <a:r>
              <a:rPr lang="en-AU" sz="3000" dirty="0">
                <a:solidFill>
                  <a:srgbClr val="3A7386"/>
                </a:solidFill>
                <a:latin typeface="Roboto Black" panose="02000000000000000000" pitchFamily="2" charset="0"/>
                <a:ea typeface="Roboto Black" panose="02000000000000000000" pitchFamily="2" charset="0"/>
              </a:rPr>
              <a:t>Depression can be pharmaceutically treated using: </a:t>
            </a:r>
          </a:p>
          <a:p>
            <a:pPr marL="971550" lvl="1" indent="-514350">
              <a:buFont typeface="+mj-lt"/>
              <a:buAutoNum type="arabicPeriod"/>
            </a:pPr>
            <a:r>
              <a:rPr lang="en-AU" sz="3000" b="1" dirty="0">
                <a:solidFill>
                  <a:srgbClr val="3A7386"/>
                </a:solidFill>
                <a:latin typeface="Roboto Black" panose="02000000000000000000" pitchFamily="2" charset="0"/>
                <a:ea typeface="Roboto Black" panose="02000000000000000000" pitchFamily="2" charset="0"/>
              </a:rPr>
              <a:t>Selective serotonin reuptake inhibitors </a:t>
            </a:r>
            <a:r>
              <a:rPr lang="en-AU" sz="3000" dirty="0">
                <a:solidFill>
                  <a:srgbClr val="3A7386"/>
                </a:solidFill>
                <a:latin typeface="Roboto Black" panose="02000000000000000000" pitchFamily="2" charset="0"/>
                <a:ea typeface="Roboto Black" panose="02000000000000000000" pitchFamily="2" charset="0"/>
              </a:rPr>
              <a:t>(SSRI; *Sertraline*, *Escitalopram*, *Fluoxetine*). </a:t>
            </a:r>
          </a:p>
          <a:p>
            <a:pPr marL="971550" lvl="1" indent="-514350">
              <a:buFont typeface="+mj-lt"/>
              <a:buAutoNum type="arabicPeriod"/>
            </a:pPr>
            <a:r>
              <a:rPr lang="en-AU" sz="3000" dirty="0">
                <a:solidFill>
                  <a:srgbClr val="3A7386"/>
                </a:solidFill>
                <a:latin typeface="Roboto Black" panose="02000000000000000000" pitchFamily="2" charset="0"/>
                <a:ea typeface="Roboto Black" panose="02000000000000000000" pitchFamily="2" charset="0"/>
              </a:rPr>
              <a:t>Serotonin noradrenaline reuptake inhibitors (S</a:t>
            </a:r>
            <a:r>
              <a:rPr lang="en-AU" sz="3000" dirty="0">
                <a:solidFill>
                  <a:srgbClr val="FF0000"/>
                </a:solidFill>
                <a:highlight>
                  <a:srgbClr val="FFFF00"/>
                </a:highlight>
                <a:latin typeface="Roboto Black" panose="02000000000000000000" pitchFamily="2" charset="0"/>
                <a:ea typeface="Roboto Black" panose="02000000000000000000" pitchFamily="2" charset="0"/>
              </a:rPr>
              <a:t>N</a:t>
            </a:r>
            <a:r>
              <a:rPr lang="en-AU" sz="3000" dirty="0">
                <a:solidFill>
                  <a:srgbClr val="3A7386"/>
                </a:solidFill>
                <a:latin typeface="Roboto Black" panose="02000000000000000000" pitchFamily="2" charset="0"/>
                <a:ea typeface="Roboto Black" panose="02000000000000000000" pitchFamily="2" charset="0"/>
              </a:rPr>
              <a:t>RI’s; *Duloxetine*, *Venlafaxine*)</a:t>
            </a:r>
          </a:p>
          <a:p>
            <a:pPr marL="971550" lvl="1" indent="-514350">
              <a:buFont typeface="+mj-lt"/>
              <a:buAutoNum type="arabicPeriod"/>
            </a:pPr>
            <a:r>
              <a:rPr lang="en-AU" sz="3000" b="1" dirty="0">
                <a:solidFill>
                  <a:srgbClr val="3A7386"/>
                </a:solidFill>
                <a:latin typeface="Roboto Black" panose="02000000000000000000" pitchFamily="2" charset="0"/>
                <a:ea typeface="Roboto Black" panose="02000000000000000000" pitchFamily="2" charset="0"/>
              </a:rPr>
              <a:t>Tricyclic antidepressants</a:t>
            </a:r>
            <a:r>
              <a:rPr lang="en-AU" sz="3000" dirty="0">
                <a:solidFill>
                  <a:srgbClr val="3A7386"/>
                </a:solidFill>
                <a:latin typeface="Roboto Black" panose="02000000000000000000" pitchFamily="2" charset="0"/>
                <a:ea typeface="Roboto Black" panose="02000000000000000000" pitchFamily="2" charset="0"/>
              </a:rPr>
              <a:t> (TCAs; *Amitriptyline*), </a:t>
            </a:r>
          </a:p>
          <a:p>
            <a:pPr lvl="1"/>
            <a:endParaRPr lang="en-AU" sz="3000" dirty="0">
              <a:solidFill>
                <a:srgbClr val="3A7386"/>
              </a:solidFill>
              <a:latin typeface="Roboto Black" panose="02000000000000000000" pitchFamily="2" charset="0"/>
              <a:ea typeface="Roboto Black" panose="02000000000000000000" pitchFamily="2" charset="0"/>
            </a:endParaRPr>
          </a:p>
          <a:p>
            <a:pPr lvl="1"/>
            <a:r>
              <a:rPr lang="en-AU" sz="3000" dirty="0">
                <a:solidFill>
                  <a:srgbClr val="3A7386"/>
                </a:solidFill>
                <a:latin typeface="Roboto Black" panose="02000000000000000000" pitchFamily="2" charset="0"/>
                <a:ea typeface="Roboto Black" panose="02000000000000000000" pitchFamily="2" charset="0"/>
              </a:rPr>
              <a:t>Also consider: Atypical (*Bupropion*, *Trazodone*)</a:t>
            </a:r>
          </a:p>
          <a:p>
            <a:pPr lvl="1"/>
            <a:endParaRPr lang="en-AU" sz="3000" b="1" dirty="0">
              <a:solidFill>
                <a:srgbClr val="3A7386"/>
              </a:solidFill>
              <a:latin typeface="Roboto Black" panose="02000000000000000000" pitchFamily="2" charset="0"/>
              <a:ea typeface="Roboto Black" panose="02000000000000000000" pitchFamily="2" charset="0"/>
            </a:endParaRPr>
          </a:p>
          <a:p>
            <a:r>
              <a:rPr lang="en-AU" sz="3000" dirty="0">
                <a:solidFill>
                  <a:srgbClr val="3A7386"/>
                </a:solidFill>
                <a:latin typeface="Roboto Black" panose="02000000000000000000" pitchFamily="2" charset="0"/>
                <a:ea typeface="Roboto Black" panose="02000000000000000000" pitchFamily="2" charset="0"/>
              </a:rPr>
              <a:t>For each of the drug classes listed above, state one or more specific drugs that fall under that class, the general postulated mechanism by which it exerts its therapeutic effects, and the major side effects.</a:t>
            </a:r>
          </a:p>
          <a:p>
            <a:pPr lvl="0"/>
            <a:endParaRPr lang="en-AU" dirty="0"/>
          </a:p>
        </p:txBody>
      </p:sp>
    </p:spTree>
    <p:extLst>
      <p:ext uri="{BB962C8B-B14F-4D97-AF65-F5344CB8AC3E}">
        <p14:creationId xmlns:p14="http://schemas.microsoft.com/office/powerpoint/2010/main" val="22842303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5752" y="313539"/>
            <a:ext cx="8534400" cy="1476071"/>
          </a:xfrm>
        </p:spPr>
        <p:txBody>
          <a:bodyPr>
            <a:noAutofit/>
          </a:bodyPr>
          <a:lstStyle/>
          <a:p>
            <a:pPr algn="ctr"/>
            <a:r>
              <a:rPr lang="en-AU" sz="4000" b="1" dirty="0">
                <a:solidFill>
                  <a:srgbClr val="3A7386"/>
                </a:solidFill>
                <a:latin typeface="Roboto Black" panose="02000000000000000000" pitchFamily="2" charset="0"/>
                <a:ea typeface="Roboto Black" panose="02000000000000000000" pitchFamily="2" charset="0"/>
              </a:rPr>
              <a:t>Objectives for Part 3:</a:t>
            </a:r>
            <a:br>
              <a:rPr lang="en-AU" sz="4000" b="1" dirty="0">
                <a:solidFill>
                  <a:srgbClr val="3A7386"/>
                </a:solidFill>
                <a:latin typeface="Roboto Black" panose="02000000000000000000" pitchFamily="2" charset="0"/>
                <a:ea typeface="Roboto Black" panose="02000000000000000000" pitchFamily="2" charset="0"/>
              </a:rPr>
            </a:br>
            <a:r>
              <a:rPr lang="en-AU" sz="4000" b="1" dirty="0">
                <a:solidFill>
                  <a:srgbClr val="3A7386"/>
                </a:solidFill>
                <a:latin typeface="Roboto Black" panose="02000000000000000000" pitchFamily="2" charset="0"/>
                <a:ea typeface="Roboto Black" panose="02000000000000000000" pitchFamily="2" charset="0"/>
              </a:rPr>
              <a:t>Antidepressants</a:t>
            </a:r>
          </a:p>
        </p:txBody>
      </p:sp>
      <p:sp>
        <p:nvSpPr>
          <p:cNvPr id="3" name="Content Placeholder 2"/>
          <p:cNvSpPr>
            <a:spLocks noGrp="1"/>
          </p:cNvSpPr>
          <p:nvPr>
            <p:ph sz="quarter" idx="1"/>
          </p:nvPr>
        </p:nvSpPr>
        <p:spPr>
          <a:xfrm>
            <a:off x="6284889" y="1734537"/>
            <a:ext cx="5705341" cy="5335963"/>
          </a:xfrm>
        </p:spPr>
        <p:txBody>
          <a:bodyPr>
            <a:normAutofit fontScale="62500" lnSpcReduction="20000"/>
          </a:bodyPr>
          <a:lstStyle/>
          <a:p>
            <a:r>
              <a:rPr lang="en-AU" sz="3000" dirty="0">
                <a:solidFill>
                  <a:srgbClr val="3A7386"/>
                </a:solidFill>
                <a:latin typeface="Roboto Black" panose="02000000000000000000" pitchFamily="2" charset="0"/>
                <a:ea typeface="Roboto Black" panose="02000000000000000000" pitchFamily="2" charset="0"/>
              </a:rPr>
              <a:t>Briefly state the definition and most common theory of depression. </a:t>
            </a:r>
          </a:p>
          <a:p>
            <a:r>
              <a:rPr lang="en-AU" sz="3000" dirty="0">
                <a:solidFill>
                  <a:srgbClr val="3A7386"/>
                </a:solidFill>
                <a:latin typeface="Roboto Black" panose="02000000000000000000" pitchFamily="2" charset="0"/>
                <a:ea typeface="Roboto Black" panose="02000000000000000000" pitchFamily="2" charset="0"/>
              </a:rPr>
              <a:t>Depression can be pharmaceutically treated using: </a:t>
            </a:r>
          </a:p>
          <a:p>
            <a:pPr marL="971550" lvl="1" indent="-514350">
              <a:buFont typeface="+mj-lt"/>
              <a:buAutoNum type="arabicPeriod"/>
            </a:pPr>
            <a:r>
              <a:rPr lang="en-AU" sz="3000" b="1" dirty="0">
                <a:solidFill>
                  <a:srgbClr val="3A7386"/>
                </a:solidFill>
                <a:latin typeface="Roboto Black" panose="02000000000000000000" pitchFamily="2" charset="0"/>
                <a:ea typeface="Roboto Black" panose="02000000000000000000" pitchFamily="2" charset="0"/>
              </a:rPr>
              <a:t>Selective serotonin reuptake inhibitors </a:t>
            </a:r>
            <a:r>
              <a:rPr lang="en-AU" sz="3000" dirty="0">
                <a:solidFill>
                  <a:srgbClr val="3A7386"/>
                </a:solidFill>
                <a:latin typeface="Roboto Black" panose="02000000000000000000" pitchFamily="2" charset="0"/>
                <a:ea typeface="Roboto Black" panose="02000000000000000000" pitchFamily="2" charset="0"/>
              </a:rPr>
              <a:t>(SSRI; *Sertraline*, *Escitalopram*, *Fluoxetine*). </a:t>
            </a:r>
          </a:p>
          <a:p>
            <a:pPr marL="971550" lvl="1" indent="-514350">
              <a:buFont typeface="+mj-lt"/>
              <a:buAutoNum type="arabicPeriod"/>
            </a:pPr>
            <a:r>
              <a:rPr lang="en-AU" sz="3000" dirty="0">
                <a:solidFill>
                  <a:srgbClr val="3A7386"/>
                </a:solidFill>
                <a:latin typeface="Roboto Black" panose="02000000000000000000" pitchFamily="2" charset="0"/>
                <a:ea typeface="Roboto Black" panose="02000000000000000000" pitchFamily="2" charset="0"/>
              </a:rPr>
              <a:t>Serotonin noradrenaline reuptake inhibitors (S</a:t>
            </a:r>
            <a:r>
              <a:rPr lang="en-AU" sz="3000" dirty="0">
                <a:solidFill>
                  <a:srgbClr val="FF0000"/>
                </a:solidFill>
                <a:highlight>
                  <a:srgbClr val="FFFF00"/>
                </a:highlight>
                <a:latin typeface="Roboto Black" panose="02000000000000000000" pitchFamily="2" charset="0"/>
                <a:ea typeface="Roboto Black" panose="02000000000000000000" pitchFamily="2" charset="0"/>
              </a:rPr>
              <a:t>N</a:t>
            </a:r>
            <a:r>
              <a:rPr lang="en-AU" sz="3000" dirty="0">
                <a:solidFill>
                  <a:srgbClr val="3A7386"/>
                </a:solidFill>
                <a:latin typeface="Roboto Black" panose="02000000000000000000" pitchFamily="2" charset="0"/>
                <a:ea typeface="Roboto Black" panose="02000000000000000000" pitchFamily="2" charset="0"/>
              </a:rPr>
              <a:t>RI’s; *Duloxetine*, *Venlafaxine*)</a:t>
            </a:r>
          </a:p>
          <a:p>
            <a:pPr marL="971550" lvl="1" indent="-514350">
              <a:buFont typeface="+mj-lt"/>
              <a:buAutoNum type="arabicPeriod"/>
            </a:pPr>
            <a:r>
              <a:rPr lang="en-AU" sz="3000" b="1" dirty="0">
                <a:solidFill>
                  <a:srgbClr val="3A7386"/>
                </a:solidFill>
                <a:latin typeface="Roboto Black" panose="02000000000000000000" pitchFamily="2" charset="0"/>
                <a:ea typeface="Roboto Black" panose="02000000000000000000" pitchFamily="2" charset="0"/>
              </a:rPr>
              <a:t>Tricyclic antidepressants</a:t>
            </a:r>
            <a:r>
              <a:rPr lang="en-AU" sz="3000" dirty="0">
                <a:solidFill>
                  <a:srgbClr val="3A7386"/>
                </a:solidFill>
                <a:latin typeface="Roboto Black" panose="02000000000000000000" pitchFamily="2" charset="0"/>
                <a:ea typeface="Roboto Black" panose="02000000000000000000" pitchFamily="2" charset="0"/>
              </a:rPr>
              <a:t> (TCAs; *Amitriptyline*), </a:t>
            </a:r>
          </a:p>
          <a:p>
            <a:pPr lvl="1"/>
            <a:endParaRPr lang="en-AU" sz="3000" dirty="0">
              <a:solidFill>
                <a:srgbClr val="3A7386"/>
              </a:solidFill>
              <a:latin typeface="Roboto Black" panose="02000000000000000000" pitchFamily="2" charset="0"/>
              <a:ea typeface="Roboto Black" panose="02000000000000000000" pitchFamily="2" charset="0"/>
            </a:endParaRPr>
          </a:p>
          <a:p>
            <a:pPr lvl="1"/>
            <a:r>
              <a:rPr lang="en-AU" sz="3000" dirty="0">
                <a:solidFill>
                  <a:srgbClr val="3A7386"/>
                </a:solidFill>
                <a:latin typeface="Roboto Black" panose="02000000000000000000" pitchFamily="2" charset="0"/>
                <a:ea typeface="Roboto Black" panose="02000000000000000000" pitchFamily="2" charset="0"/>
              </a:rPr>
              <a:t>Also consider: Atypical (*Bupropion*, *Trazodone*)</a:t>
            </a:r>
          </a:p>
          <a:p>
            <a:pPr lvl="1"/>
            <a:endParaRPr lang="en-AU" sz="3000" b="1" dirty="0">
              <a:solidFill>
                <a:srgbClr val="3A7386"/>
              </a:solidFill>
              <a:latin typeface="Roboto Black" panose="02000000000000000000" pitchFamily="2" charset="0"/>
              <a:ea typeface="Roboto Black" panose="02000000000000000000" pitchFamily="2" charset="0"/>
            </a:endParaRPr>
          </a:p>
          <a:p>
            <a:r>
              <a:rPr lang="en-AU" sz="3000" dirty="0">
                <a:solidFill>
                  <a:srgbClr val="3A7386"/>
                </a:solidFill>
                <a:latin typeface="Roboto Black" panose="02000000000000000000" pitchFamily="2" charset="0"/>
                <a:ea typeface="Roboto Black" panose="02000000000000000000" pitchFamily="2" charset="0"/>
              </a:rPr>
              <a:t>For each of the drug classes listed above, state one or more specific drugs that fall under that class, the general postulated mechanism by which it exerts its therapeutic effects, and the major side effects.</a:t>
            </a:r>
          </a:p>
          <a:p>
            <a:pPr lvl="0"/>
            <a:endParaRPr lang="en-AU" dirty="0"/>
          </a:p>
        </p:txBody>
      </p:sp>
    </p:spTree>
    <p:extLst>
      <p:ext uri="{BB962C8B-B14F-4D97-AF65-F5344CB8AC3E}">
        <p14:creationId xmlns:p14="http://schemas.microsoft.com/office/powerpoint/2010/main" val="21355594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4000" b="1" dirty="0">
                <a:solidFill>
                  <a:srgbClr val="3A7386"/>
                </a:solidFill>
                <a:latin typeface="Roboto Black" panose="02000000000000000000" pitchFamily="2" charset="0"/>
                <a:ea typeface="Roboto Black" panose="02000000000000000000" pitchFamily="2" charset="0"/>
              </a:rPr>
              <a:t>Depression and bipolar disease</a:t>
            </a:r>
          </a:p>
        </p:txBody>
      </p:sp>
      <p:sp>
        <p:nvSpPr>
          <p:cNvPr id="3" name="Content Placeholder 2"/>
          <p:cNvSpPr>
            <a:spLocks noGrp="1"/>
          </p:cNvSpPr>
          <p:nvPr>
            <p:ph sz="quarter" idx="1"/>
          </p:nvPr>
        </p:nvSpPr>
        <p:spPr>
          <a:xfrm>
            <a:off x="1825752" y="1527048"/>
            <a:ext cx="8503920" cy="4998296"/>
          </a:xfrm>
        </p:spPr>
        <p:txBody>
          <a:bodyPr>
            <a:normAutofit/>
          </a:bodyPr>
          <a:lstStyle/>
          <a:p>
            <a:r>
              <a:rPr lang="en-AU" dirty="0">
                <a:solidFill>
                  <a:srgbClr val="3A7386"/>
                </a:solidFill>
                <a:latin typeface="Roboto Black" panose="02000000000000000000" pitchFamily="2" charset="0"/>
                <a:ea typeface="Roboto Black" panose="02000000000000000000" pitchFamily="2" charset="0"/>
              </a:rPr>
              <a:t>Depression is a state of profound sadness or melancholy. Common manifestations of this state include lethargy, apathy, loss of appetite, insomnia, feelings of unworthiness</a:t>
            </a:r>
          </a:p>
          <a:p>
            <a:pPr lvl="1"/>
            <a:r>
              <a:rPr lang="en-AU" sz="2300" dirty="0">
                <a:solidFill>
                  <a:srgbClr val="3A7386"/>
                </a:solidFill>
                <a:latin typeface="Roboto Black" panose="02000000000000000000" pitchFamily="2" charset="0"/>
                <a:ea typeface="Roboto Black" panose="02000000000000000000" pitchFamily="2" charset="0"/>
              </a:rPr>
              <a:t>Biogenic amine hypothesis does not explain everything</a:t>
            </a:r>
          </a:p>
          <a:p>
            <a:r>
              <a:rPr lang="en-AU" dirty="0">
                <a:solidFill>
                  <a:srgbClr val="3A7386"/>
                </a:solidFill>
                <a:latin typeface="Roboto Black" panose="02000000000000000000" pitchFamily="2" charset="0"/>
                <a:ea typeface="Roboto Black" panose="02000000000000000000" pitchFamily="2" charset="0"/>
              </a:rPr>
              <a:t>In Bipolar disease, the patient experiences episodes of depression and mania, where the affected person cycles between the two extreme mood states.</a:t>
            </a:r>
          </a:p>
          <a:p>
            <a:r>
              <a:rPr lang="en-AU" dirty="0">
                <a:solidFill>
                  <a:srgbClr val="3A7386"/>
                </a:solidFill>
                <a:latin typeface="Roboto Black" panose="02000000000000000000" pitchFamily="2" charset="0"/>
                <a:ea typeface="Roboto Black" panose="02000000000000000000" pitchFamily="2" charset="0"/>
              </a:rPr>
              <a:t>Mania/manic - abnormally elevated arousal energy level</a:t>
            </a:r>
          </a:p>
        </p:txBody>
      </p:sp>
    </p:spTree>
    <p:extLst>
      <p:ext uri="{BB962C8B-B14F-4D97-AF65-F5344CB8AC3E}">
        <p14:creationId xmlns:p14="http://schemas.microsoft.com/office/powerpoint/2010/main" val="6438995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7990"/>
          <a:stretch/>
        </p:blipFill>
        <p:spPr>
          <a:xfrm>
            <a:off x="5369553" y="1"/>
            <a:ext cx="6822447" cy="6857999"/>
          </a:xfrm>
          <a:prstGeom prst="rect">
            <a:avLst/>
          </a:prstGeom>
        </p:spPr>
      </p:pic>
      <p:sp>
        <p:nvSpPr>
          <p:cNvPr id="9" name="Rectangle 8"/>
          <p:cNvSpPr/>
          <p:nvPr/>
        </p:nvSpPr>
        <p:spPr>
          <a:xfrm>
            <a:off x="647115" y="1208873"/>
            <a:ext cx="3826412" cy="4524315"/>
          </a:xfrm>
          <a:prstGeom prst="rect">
            <a:avLst/>
          </a:prstGeom>
        </p:spPr>
        <p:txBody>
          <a:bodyPr wrap="square">
            <a:spAutoFit/>
          </a:bodyPr>
          <a:lstStyle/>
          <a:p>
            <a:pPr algn="ctr"/>
            <a:r>
              <a:rPr lang="en-US" sz="3200" dirty="0">
                <a:solidFill>
                  <a:srgbClr val="007298"/>
                </a:solidFill>
                <a:latin typeface="Roboto Black" panose="02000000000000000000" pitchFamily="2" charset="0"/>
                <a:ea typeface="Roboto Black" panose="02000000000000000000" pitchFamily="2" charset="0"/>
              </a:rPr>
              <a:t>DEPRESSION:</a:t>
            </a:r>
          </a:p>
          <a:p>
            <a:pPr algn="ctr"/>
            <a:endParaRPr lang="en-US" sz="3200" dirty="0">
              <a:solidFill>
                <a:srgbClr val="007298"/>
              </a:solidFill>
              <a:latin typeface="Roboto Black" panose="02000000000000000000" pitchFamily="2" charset="0"/>
              <a:ea typeface="Roboto Black" panose="02000000000000000000" pitchFamily="2" charset="0"/>
            </a:endParaRPr>
          </a:p>
          <a:p>
            <a:pPr algn="ctr"/>
            <a:r>
              <a:rPr lang="en-US" sz="3200" dirty="0">
                <a:solidFill>
                  <a:srgbClr val="007298"/>
                </a:solidFill>
                <a:latin typeface="Roboto Black" panose="02000000000000000000" pitchFamily="2" charset="0"/>
                <a:ea typeface="Roboto Black" panose="02000000000000000000" pitchFamily="2" charset="0"/>
              </a:rPr>
              <a:t> Abnormalities are commonly found in the lateral prefrontal cortex that is involved in the regulation of emotion</a:t>
            </a:r>
            <a:endParaRPr lang="en-AU" sz="3200" dirty="0">
              <a:solidFill>
                <a:srgbClr val="007298"/>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22767871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6800850" cy="6858000"/>
          </a:xfrm>
          <a:prstGeom prst="rect">
            <a:avLst/>
          </a:prstGeom>
        </p:spPr>
      </p:pic>
      <p:sp>
        <p:nvSpPr>
          <p:cNvPr id="5" name="Text Placeholder 2"/>
          <p:cNvSpPr>
            <a:spLocks noGrp="1"/>
          </p:cNvSpPr>
          <p:nvPr>
            <p:ph type="body" sz="quarter" idx="20"/>
          </p:nvPr>
        </p:nvSpPr>
        <p:spPr>
          <a:xfrm>
            <a:off x="7484013" y="1718181"/>
            <a:ext cx="4079631" cy="1077415"/>
          </a:xfrm>
        </p:spPr>
        <p:txBody>
          <a:bodyPr/>
          <a:lstStyle/>
          <a:p>
            <a:pPr algn="ctr"/>
            <a:r>
              <a:rPr lang="en-AU" sz="3600" b="1" dirty="0">
                <a:solidFill>
                  <a:srgbClr val="007298"/>
                </a:solidFill>
                <a:latin typeface="Roboto Black" panose="02000000000000000000" pitchFamily="2" charset="0"/>
                <a:ea typeface="Roboto Black" panose="02000000000000000000" pitchFamily="2" charset="0"/>
              </a:rPr>
              <a:t>In the areas of the brain associated with mood, we use serotonin and noradrenaline (NA)</a:t>
            </a:r>
          </a:p>
        </p:txBody>
      </p:sp>
    </p:spTree>
    <p:extLst>
      <p:ext uri="{BB962C8B-B14F-4D97-AF65-F5344CB8AC3E}">
        <p14:creationId xmlns:p14="http://schemas.microsoft.com/office/powerpoint/2010/main" val="23116621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189940" y="0"/>
            <a:ext cx="6774191" cy="6875867"/>
          </a:xfrm>
          <a:prstGeom prst="rect">
            <a:avLst/>
          </a:prstGeom>
        </p:spPr>
      </p:pic>
    </p:spTree>
    <p:extLst>
      <p:ext uri="{BB962C8B-B14F-4D97-AF65-F5344CB8AC3E}">
        <p14:creationId xmlns:p14="http://schemas.microsoft.com/office/powerpoint/2010/main" val="40969775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3213" y="1263310"/>
            <a:ext cx="9340947" cy="4524315"/>
          </a:xfrm>
          <a:prstGeom prst="rect">
            <a:avLst/>
          </a:prstGeom>
        </p:spPr>
        <p:txBody>
          <a:bodyPr wrap="square">
            <a:spAutoFit/>
          </a:bodyPr>
          <a:lstStyle/>
          <a:p>
            <a:r>
              <a:rPr lang="en-US" sz="3200" dirty="0">
                <a:solidFill>
                  <a:srgbClr val="007298"/>
                </a:solidFill>
                <a:latin typeface="Roboto Black" panose="02000000000000000000" pitchFamily="2" charset="0"/>
                <a:ea typeface="Roboto Black" panose="02000000000000000000" pitchFamily="2" charset="0"/>
              </a:rPr>
              <a:t>Monoamines are neurotransmitters that include: </a:t>
            </a:r>
          </a:p>
          <a:p>
            <a:pPr marL="457200" indent="-457200">
              <a:buFont typeface="Arial" panose="020B0604020202020204" pitchFamily="34" charset="0"/>
              <a:buChar char="•"/>
            </a:pPr>
            <a:r>
              <a:rPr lang="en-US" sz="3200" dirty="0">
                <a:solidFill>
                  <a:srgbClr val="007298"/>
                </a:solidFill>
              </a:rPr>
              <a:t>Serotonin (5HT), </a:t>
            </a:r>
          </a:p>
          <a:p>
            <a:pPr marL="457200" indent="-457200">
              <a:buFont typeface="Arial" panose="020B0604020202020204" pitchFamily="34" charset="0"/>
              <a:buChar char="•"/>
            </a:pPr>
            <a:r>
              <a:rPr lang="en-US" sz="3200" dirty="0">
                <a:solidFill>
                  <a:srgbClr val="007298"/>
                </a:solidFill>
              </a:rPr>
              <a:t>Dopamine, </a:t>
            </a:r>
          </a:p>
          <a:p>
            <a:pPr marL="457200" indent="-457200">
              <a:buFont typeface="Arial" panose="020B0604020202020204" pitchFamily="34" charset="0"/>
              <a:buChar char="•"/>
            </a:pPr>
            <a:r>
              <a:rPr lang="en-US" sz="3200" dirty="0">
                <a:solidFill>
                  <a:srgbClr val="007298"/>
                </a:solidFill>
              </a:rPr>
              <a:t>Noradrenaline (NA or NE for norepinephrine) and</a:t>
            </a:r>
          </a:p>
          <a:p>
            <a:pPr marL="457200" indent="-457200">
              <a:buFont typeface="Arial" panose="020B0604020202020204" pitchFamily="34" charset="0"/>
              <a:buChar char="•"/>
            </a:pPr>
            <a:r>
              <a:rPr lang="en-US" sz="3200" dirty="0">
                <a:solidFill>
                  <a:srgbClr val="007298"/>
                </a:solidFill>
              </a:rPr>
              <a:t>Adrenaline</a:t>
            </a:r>
          </a:p>
          <a:p>
            <a:pPr marL="457200" indent="-457200">
              <a:buFont typeface="Arial" panose="020B0604020202020204" pitchFamily="34" charset="0"/>
              <a:buChar char="•"/>
            </a:pPr>
            <a:r>
              <a:rPr lang="en-US" sz="3200" dirty="0">
                <a:solidFill>
                  <a:srgbClr val="007298"/>
                </a:solidFill>
              </a:rPr>
              <a:t>Histamine</a:t>
            </a:r>
          </a:p>
          <a:p>
            <a:pPr marL="457200" indent="-457200">
              <a:buFont typeface="Arial" panose="020B0604020202020204" pitchFamily="34" charset="0"/>
              <a:buChar char="•"/>
            </a:pPr>
            <a:endParaRPr lang="en-US" sz="3200" dirty="0">
              <a:solidFill>
                <a:srgbClr val="007298"/>
              </a:solidFill>
            </a:endParaRPr>
          </a:p>
          <a:p>
            <a:pPr algn="ctr"/>
            <a:r>
              <a:rPr lang="en-US" sz="3200" b="1" dirty="0">
                <a:solidFill>
                  <a:srgbClr val="007298"/>
                </a:solidFill>
              </a:rPr>
              <a:t>The deficit (or relative deficit) of serotonin or noradrenaline may be responsible for depression</a:t>
            </a:r>
          </a:p>
        </p:txBody>
      </p:sp>
    </p:spTree>
    <p:extLst>
      <p:ext uri="{BB962C8B-B14F-4D97-AF65-F5344CB8AC3E}">
        <p14:creationId xmlns:p14="http://schemas.microsoft.com/office/powerpoint/2010/main" val="39175187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3492" y="681037"/>
            <a:ext cx="9145016" cy="758952"/>
          </a:xfrm>
        </p:spPr>
        <p:txBody>
          <a:bodyPr>
            <a:noAutofit/>
          </a:bodyPr>
          <a:lstStyle/>
          <a:p>
            <a:pPr algn="ctr"/>
            <a:r>
              <a:rPr lang="en-AU" sz="4000" b="1" dirty="0">
                <a:solidFill>
                  <a:srgbClr val="3A7386"/>
                </a:solidFill>
                <a:latin typeface="Roboto Black" panose="02000000000000000000" pitchFamily="2" charset="0"/>
                <a:ea typeface="Roboto Black" panose="02000000000000000000" pitchFamily="2" charset="0"/>
              </a:rPr>
              <a:t>Monoamine oxidase inhibitors </a:t>
            </a:r>
            <a:br>
              <a:rPr lang="en-AU" sz="4000" b="1" dirty="0">
                <a:solidFill>
                  <a:srgbClr val="3A7386"/>
                </a:solidFill>
                <a:latin typeface="Roboto Black" panose="02000000000000000000" pitchFamily="2" charset="0"/>
                <a:ea typeface="Roboto Black" panose="02000000000000000000" pitchFamily="2" charset="0"/>
              </a:rPr>
            </a:br>
            <a:r>
              <a:rPr lang="en-AU" sz="4000" b="1" dirty="0">
                <a:solidFill>
                  <a:srgbClr val="3A7386"/>
                </a:solidFill>
                <a:latin typeface="Roboto Black" panose="02000000000000000000" pitchFamily="2" charset="0"/>
                <a:ea typeface="Roboto Black" panose="02000000000000000000" pitchFamily="2" charset="0"/>
              </a:rPr>
              <a:t>(MAOIs; phenelzine)</a:t>
            </a:r>
          </a:p>
        </p:txBody>
      </p:sp>
      <p:sp>
        <p:nvSpPr>
          <p:cNvPr id="3" name="Content Placeholder 2"/>
          <p:cNvSpPr>
            <a:spLocks noGrp="1"/>
          </p:cNvSpPr>
          <p:nvPr>
            <p:ph sz="quarter" idx="1"/>
          </p:nvPr>
        </p:nvSpPr>
        <p:spPr>
          <a:xfrm>
            <a:off x="838200" y="2178322"/>
            <a:ext cx="10515600" cy="4351338"/>
          </a:xfrm>
        </p:spPr>
        <p:txBody>
          <a:bodyPr/>
          <a:lstStyle/>
          <a:p>
            <a:r>
              <a:rPr lang="en-AU" dirty="0">
                <a:solidFill>
                  <a:srgbClr val="3A7386"/>
                </a:solidFill>
                <a:latin typeface="Roboto Black" panose="02000000000000000000" pitchFamily="2" charset="0"/>
                <a:ea typeface="Roboto Black" panose="02000000000000000000" pitchFamily="2" charset="0"/>
              </a:rPr>
              <a:t>MAO is responsible for the degradation of the released noradrenaline. </a:t>
            </a:r>
          </a:p>
          <a:p>
            <a:r>
              <a:rPr lang="en-AU" dirty="0">
                <a:solidFill>
                  <a:srgbClr val="3A7386"/>
                </a:solidFill>
                <a:latin typeface="Roboto Black" panose="02000000000000000000" pitchFamily="2" charset="0"/>
                <a:ea typeface="Roboto Black" panose="02000000000000000000" pitchFamily="2" charset="0"/>
              </a:rPr>
              <a:t>In people taking MAOIs, the ingestion of food rich in </a:t>
            </a:r>
            <a:r>
              <a:rPr lang="en-AU" dirty="0" err="1">
                <a:solidFill>
                  <a:srgbClr val="3A7386"/>
                </a:solidFill>
                <a:latin typeface="Roboto Black" panose="02000000000000000000" pitchFamily="2" charset="0"/>
                <a:ea typeface="Roboto Black" panose="02000000000000000000" pitchFamily="2" charset="0"/>
              </a:rPr>
              <a:t>tyramine</a:t>
            </a:r>
            <a:r>
              <a:rPr lang="en-AU" dirty="0">
                <a:solidFill>
                  <a:srgbClr val="3A7386"/>
                </a:solidFill>
                <a:latin typeface="Roboto Black" panose="02000000000000000000" pitchFamily="2" charset="0"/>
                <a:ea typeface="Roboto Black" panose="02000000000000000000" pitchFamily="2" charset="0"/>
              </a:rPr>
              <a:t> has the potential to precipitate a widespread release of noradrenaline in the periphery that is unable to be broken down because MAO is inhibited. </a:t>
            </a:r>
          </a:p>
          <a:p>
            <a:r>
              <a:rPr lang="en-AU" dirty="0">
                <a:solidFill>
                  <a:srgbClr val="FF0000"/>
                </a:solidFill>
                <a:latin typeface="Roboto Black" panose="02000000000000000000" pitchFamily="2" charset="0"/>
                <a:ea typeface="Roboto Black" panose="02000000000000000000" pitchFamily="2" charset="0"/>
              </a:rPr>
              <a:t>Possible life-threatening cardiovascular stimulation. </a:t>
            </a:r>
          </a:p>
          <a:p>
            <a:endParaRPr lang="en-AU" dirty="0">
              <a:solidFill>
                <a:srgbClr val="3A7386"/>
              </a:solidFill>
              <a:latin typeface="Roboto Black" panose="02000000000000000000" pitchFamily="2" charset="0"/>
              <a:ea typeface="Roboto Black" panose="02000000000000000000" pitchFamily="2" charset="0"/>
            </a:endParaRPr>
          </a:p>
          <a:p>
            <a:endParaRPr lang="en-AU" dirty="0"/>
          </a:p>
        </p:txBody>
      </p:sp>
    </p:spTree>
    <p:extLst>
      <p:ext uri="{BB962C8B-B14F-4D97-AF65-F5344CB8AC3E}">
        <p14:creationId xmlns:p14="http://schemas.microsoft.com/office/powerpoint/2010/main" val="6109877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7"/>
          </p:nvPr>
        </p:nvSpPr>
        <p:spPr>
          <a:xfrm>
            <a:off x="7193735" y="509453"/>
            <a:ext cx="4419144" cy="5773670"/>
          </a:xfrm>
        </p:spPr>
        <p:txBody>
          <a:bodyPr/>
          <a:lstStyle/>
          <a:p>
            <a:pPr algn="ctr"/>
            <a:r>
              <a:rPr lang="en-AU" dirty="0"/>
              <a:t>Why are some antidepressants good for pain?</a:t>
            </a:r>
          </a:p>
          <a:p>
            <a:pPr algn="ctr"/>
            <a:endParaRPr lang="en-AU" dirty="0"/>
          </a:p>
          <a:p>
            <a:pPr algn="ctr"/>
            <a:r>
              <a:rPr lang="en-AU" dirty="0"/>
              <a:t>A: there are serotonin and noradrenaline receptors in the “gate” that can block incoming stimuli</a:t>
            </a:r>
          </a:p>
          <a:p>
            <a:pPr marL="571500" indent="-571500">
              <a:buFont typeface="Arial" panose="020B0604020202020204" pitchFamily="34" charset="0"/>
              <a:buChar char="•"/>
            </a:pPr>
            <a:endParaRPr lang="en-AU" dirty="0"/>
          </a:p>
        </p:txBody>
      </p:sp>
      <p:sp>
        <p:nvSpPr>
          <p:cNvPr id="10" name="Rectangle 9"/>
          <p:cNvSpPr/>
          <p:nvPr/>
        </p:nvSpPr>
        <p:spPr>
          <a:xfrm>
            <a:off x="11338559" y="1463040"/>
            <a:ext cx="117567" cy="52512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607507" cy="6937882"/>
          </a:xfrm>
          <a:prstGeom prst="rect">
            <a:avLst/>
          </a:prstGeom>
        </p:spPr>
      </p:pic>
      <p:sp>
        <p:nvSpPr>
          <p:cNvPr id="5" name="Rectangle 4"/>
          <p:cNvSpPr/>
          <p:nvPr/>
        </p:nvSpPr>
        <p:spPr>
          <a:xfrm>
            <a:off x="6441743" y="0"/>
            <a:ext cx="165764" cy="7083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p:cNvSpPr/>
          <p:nvPr/>
        </p:nvSpPr>
        <p:spPr>
          <a:xfrm>
            <a:off x="18836" y="-145306"/>
            <a:ext cx="165764" cy="7083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p:cNvSpPr/>
          <p:nvPr/>
        </p:nvSpPr>
        <p:spPr>
          <a:xfrm>
            <a:off x="0" y="0"/>
            <a:ext cx="6919415" cy="2456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p:cNvSpPr/>
          <p:nvPr/>
        </p:nvSpPr>
        <p:spPr>
          <a:xfrm>
            <a:off x="-27296" y="6764875"/>
            <a:ext cx="6919415" cy="2456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Oval 3">
            <a:extLst>
              <a:ext uri="{FF2B5EF4-FFF2-40B4-BE49-F238E27FC236}">
                <a16:creationId xmlns:a16="http://schemas.microsoft.com/office/drawing/2014/main" id="{AEFC6FE4-39C9-47CD-8F3F-83C3C5C59AF2}"/>
              </a:ext>
            </a:extLst>
          </p:cNvPr>
          <p:cNvSpPr/>
          <p:nvPr/>
        </p:nvSpPr>
        <p:spPr>
          <a:xfrm>
            <a:off x="2782691" y="4663440"/>
            <a:ext cx="876361" cy="836023"/>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1" name="Straight Arrow Connector 10">
            <a:extLst>
              <a:ext uri="{FF2B5EF4-FFF2-40B4-BE49-F238E27FC236}">
                <a16:creationId xmlns:a16="http://schemas.microsoft.com/office/drawing/2014/main" id="{B516B42B-114A-43F4-BB46-E34386E84BED}"/>
              </a:ext>
            </a:extLst>
          </p:cNvPr>
          <p:cNvCxnSpPr/>
          <p:nvPr/>
        </p:nvCxnSpPr>
        <p:spPr>
          <a:xfrm flipH="1">
            <a:off x="3788229" y="4663440"/>
            <a:ext cx="3690118" cy="30044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91874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491898"/>
            <a:ext cx="10515600" cy="1325563"/>
          </a:xfrm>
        </p:spPr>
        <p:txBody>
          <a:bodyPr/>
          <a:lstStyle/>
          <a:p>
            <a:pPr algn="ctr"/>
            <a:r>
              <a:rPr lang="en-AU" b="1" dirty="0">
                <a:solidFill>
                  <a:schemeClr val="bg1"/>
                </a:solidFill>
                <a:latin typeface="Arial" panose="020B0604020202020204" pitchFamily="34" charset="0"/>
                <a:cs typeface="Arial" panose="020B0604020202020204" pitchFamily="34" charset="0"/>
              </a:rPr>
              <a:t>Antidepressants: </a:t>
            </a:r>
            <a:br>
              <a:rPr lang="en-AU" b="1" dirty="0">
                <a:solidFill>
                  <a:schemeClr val="bg1"/>
                </a:solidFill>
                <a:latin typeface="Arial" panose="020B0604020202020204" pitchFamily="34" charset="0"/>
                <a:cs typeface="Arial" panose="020B0604020202020204" pitchFamily="34" charset="0"/>
              </a:rPr>
            </a:br>
            <a:r>
              <a:rPr lang="en-AU" b="1" dirty="0">
                <a:solidFill>
                  <a:schemeClr val="bg1"/>
                </a:solidFill>
                <a:latin typeface="Arial" panose="020B0604020202020204" pitchFamily="34" charset="0"/>
                <a:cs typeface="Arial" panose="020B0604020202020204" pitchFamily="34" charset="0"/>
              </a:rPr>
              <a:t>SSRIs and TCAs</a:t>
            </a:r>
          </a:p>
        </p:txBody>
      </p:sp>
    </p:spTree>
    <p:extLst>
      <p:ext uri="{BB962C8B-B14F-4D97-AF65-F5344CB8AC3E}">
        <p14:creationId xmlns:p14="http://schemas.microsoft.com/office/powerpoint/2010/main" val="2595338073"/>
      </p:ext>
    </p:extLst>
  </p:cSld>
  <p:clrMapOvr>
    <a:masterClrMapping/>
  </p:clrMapOvr>
  <p:transition>
    <p:cut thruBlk="1"/>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8611" y="509167"/>
            <a:ext cx="9374777" cy="758952"/>
          </a:xfrm>
        </p:spPr>
        <p:txBody>
          <a:bodyPr>
            <a:noAutofit/>
          </a:bodyPr>
          <a:lstStyle/>
          <a:p>
            <a:pPr algn="ctr"/>
            <a:r>
              <a:rPr lang="en-AU" sz="4000" b="1" dirty="0">
                <a:solidFill>
                  <a:srgbClr val="3A7386"/>
                </a:solidFill>
                <a:latin typeface="Roboto Black" panose="02000000000000000000" pitchFamily="2" charset="0"/>
                <a:ea typeface="Roboto Black" panose="02000000000000000000" pitchFamily="2" charset="0"/>
              </a:rPr>
              <a:t>Selective serotonin reuptake inhibitors </a:t>
            </a:r>
            <a:br>
              <a:rPr lang="en-AU" sz="4000" b="1" dirty="0">
                <a:solidFill>
                  <a:srgbClr val="3A7386"/>
                </a:solidFill>
                <a:latin typeface="Roboto Black" panose="02000000000000000000" pitchFamily="2" charset="0"/>
                <a:ea typeface="Roboto Black" panose="02000000000000000000" pitchFamily="2" charset="0"/>
              </a:rPr>
            </a:br>
            <a:r>
              <a:rPr lang="en-AU" sz="4000" b="1" dirty="0">
                <a:solidFill>
                  <a:srgbClr val="3A7386"/>
                </a:solidFill>
                <a:latin typeface="Roboto Black" panose="02000000000000000000" pitchFamily="2" charset="0"/>
                <a:ea typeface="Roboto Black" panose="02000000000000000000" pitchFamily="2" charset="0"/>
              </a:rPr>
              <a:t>(SSRIs)</a:t>
            </a:r>
          </a:p>
        </p:txBody>
      </p:sp>
      <p:sp>
        <p:nvSpPr>
          <p:cNvPr id="3" name="Content Placeholder 2"/>
          <p:cNvSpPr>
            <a:spLocks noGrp="1"/>
          </p:cNvSpPr>
          <p:nvPr>
            <p:ph sz="quarter" idx="1"/>
          </p:nvPr>
        </p:nvSpPr>
        <p:spPr>
          <a:xfrm>
            <a:off x="420188" y="1734183"/>
            <a:ext cx="6672944" cy="6364787"/>
          </a:xfrm>
        </p:spPr>
        <p:txBody>
          <a:bodyPr>
            <a:normAutofit/>
          </a:bodyPr>
          <a:lstStyle/>
          <a:p>
            <a:r>
              <a:rPr lang="en-AU" b="1" dirty="0">
                <a:solidFill>
                  <a:srgbClr val="3A7386"/>
                </a:solidFill>
                <a:latin typeface="Roboto Black" panose="02000000000000000000" pitchFamily="2" charset="0"/>
                <a:ea typeface="Roboto Black" panose="02000000000000000000" pitchFamily="2" charset="0"/>
              </a:rPr>
              <a:t>*</a:t>
            </a:r>
            <a:r>
              <a:rPr lang="en-AU" b="1" dirty="0">
                <a:solidFill>
                  <a:srgbClr val="FF0000"/>
                </a:solidFill>
                <a:latin typeface="Roboto Black" panose="02000000000000000000" pitchFamily="2" charset="0"/>
                <a:ea typeface="Roboto Black" panose="02000000000000000000" pitchFamily="2" charset="0"/>
              </a:rPr>
              <a:t>Sertraline</a:t>
            </a:r>
            <a:r>
              <a:rPr lang="en-AU" b="1" dirty="0">
                <a:solidFill>
                  <a:srgbClr val="3A7386"/>
                </a:solidFill>
                <a:latin typeface="Roboto Black" panose="02000000000000000000" pitchFamily="2" charset="0"/>
                <a:ea typeface="Roboto Black" panose="02000000000000000000" pitchFamily="2" charset="0"/>
              </a:rPr>
              <a:t>* (Zoloft) is the most widely used, followed by *</a:t>
            </a:r>
            <a:r>
              <a:rPr lang="en-AU" b="1" dirty="0">
                <a:solidFill>
                  <a:srgbClr val="FF0000"/>
                </a:solidFill>
                <a:latin typeface="Roboto Black" panose="02000000000000000000" pitchFamily="2" charset="0"/>
                <a:ea typeface="Roboto Black" panose="02000000000000000000" pitchFamily="2" charset="0"/>
              </a:rPr>
              <a:t>Escitalopram</a:t>
            </a:r>
            <a:r>
              <a:rPr lang="en-AU" b="1" dirty="0">
                <a:solidFill>
                  <a:srgbClr val="3A7386"/>
                </a:solidFill>
                <a:latin typeface="Roboto Black" panose="02000000000000000000" pitchFamily="2" charset="0"/>
                <a:ea typeface="Roboto Black" panose="02000000000000000000" pitchFamily="2" charset="0"/>
              </a:rPr>
              <a:t> (Lexapro)* and *</a:t>
            </a:r>
            <a:r>
              <a:rPr lang="en-AU" b="1" dirty="0">
                <a:solidFill>
                  <a:srgbClr val="FF0000"/>
                </a:solidFill>
                <a:latin typeface="Roboto Black" panose="02000000000000000000" pitchFamily="2" charset="0"/>
                <a:ea typeface="Roboto Black" panose="02000000000000000000" pitchFamily="2" charset="0"/>
              </a:rPr>
              <a:t>Fluoxetine </a:t>
            </a:r>
            <a:r>
              <a:rPr lang="en-AU" b="1" dirty="0">
                <a:solidFill>
                  <a:srgbClr val="3A7386"/>
                </a:solidFill>
                <a:latin typeface="Roboto Black" panose="02000000000000000000" pitchFamily="2" charset="0"/>
                <a:ea typeface="Roboto Black" panose="02000000000000000000" pitchFamily="2" charset="0"/>
              </a:rPr>
              <a:t>(Prozac)*. </a:t>
            </a:r>
          </a:p>
          <a:p>
            <a:r>
              <a:rPr lang="en-AU" dirty="0">
                <a:solidFill>
                  <a:srgbClr val="3A7386"/>
                </a:solidFill>
                <a:latin typeface="Roboto Black" panose="02000000000000000000" pitchFamily="2" charset="0"/>
                <a:ea typeface="Roboto Black" panose="02000000000000000000" pitchFamily="2" charset="0"/>
              </a:rPr>
              <a:t>No common suffix </a:t>
            </a:r>
            <a:r>
              <a:rPr lang="en-AU" sz="2000" dirty="0">
                <a:solidFill>
                  <a:srgbClr val="3A7386"/>
                </a:solidFill>
                <a:latin typeface="Roboto Black" panose="02000000000000000000" pitchFamily="2" charset="0"/>
                <a:ea typeface="Roboto Black" panose="02000000000000000000" pitchFamily="2" charset="0"/>
              </a:rPr>
              <a:t>but most antidepressants end with -pram, -mine, -tine, -line</a:t>
            </a:r>
          </a:p>
          <a:p>
            <a:r>
              <a:rPr lang="en-AU" dirty="0">
                <a:solidFill>
                  <a:srgbClr val="3A7386"/>
                </a:solidFill>
                <a:latin typeface="Roboto Black" panose="02000000000000000000" pitchFamily="2" charset="0"/>
                <a:ea typeface="Roboto Black" panose="02000000000000000000" pitchFamily="2" charset="0"/>
              </a:rPr>
              <a:t>They are considered the first-line agents in the treatment of major depression. </a:t>
            </a:r>
          </a:p>
          <a:p>
            <a:r>
              <a:rPr lang="en-AU" dirty="0">
                <a:solidFill>
                  <a:srgbClr val="3A7386"/>
                </a:solidFill>
                <a:latin typeface="Roboto Black" panose="02000000000000000000" pitchFamily="2" charset="0"/>
                <a:ea typeface="Roboto Black" panose="02000000000000000000" pitchFamily="2" charset="0"/>
              </a:rPr>
              <a:t>Take 4-6 weeks to be effective</a:t>
            </a:r>
          </a:p>
          <a:p>
            <a:r>
              <a:rPr lang="en-AU" dirty="0">
                <a:solidFill>
                  <a:srgbClr val="3A7386"/>
                </a:solidFill>
                <a:latin typeface="Roboto Black" panose="02000000000000000000" pitchFamily="2" charset="0"/>
                <a:ea typeface="Roboto Black" panose="02000000000000000000" pitchFamily="2" charset="0"/>
              </a:rPr>
              <a:t>May increase risk of suicide especially in people under 18y/o</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6927" y="1389261"/>
            <a:ext cx="4981713" cy="49595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Placeholder 3">
            <a:extLst>
              <a:ext uri="{FF2B5EF4-FFF2-40B4-BE49-F238E27FC236}">
                <a16:creationId xmlns:a16="http://schemas.microsoft.com/office/drawing/2014/main" id="{E8367DE8-0F3A-4B6F-9894-2EBB288092C6}"/>
              </a:ext>
            </a:extLst>
          </p:cNvPr>
          <p:cNvSpPr txBox="1">
            <a:spLocks/>
          </p:cNvSpPr>
          <p:nvPr/>
        </p:nvSpPr>
        <p:spPr>
          <a:xfrm>
            <a:off x="7673340" y="6218555"/>
            <a:ext cx="3725092" cy="75701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latin typeface="Roboto Black" panose="02000000000000000000" pitchFamily="2" charset="0"/>
                <a:ea typeface="Roboto Black" panose="02000000000000000000" pitchFamily="2" charset="0"/>
                <a:cs typeface="Arial" panose="020B0604020202020204" pitchFamily="34" charset="0"/>
              </a:rPr>
              <a:t>The above depicts the most common SSRIs and SNRIs	</a:t>
            </a:r>
          </a:p>
        </p:txBody>
      </p:sp>
    </p:spTree>
    <p:extLst>
      <p:ext uri="{BB962C8B-B14F-4D97-AF65-F5344CB8AC3E}">
        <p14:creationId xmlns:p14="http://schemas.microsoft.com/office/powerpoint/2010/main" val="13455706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data:image/png;base64,iVBORw0KGgoAAAANSUhEUgAAAOIAAADfCAMAAADcKv+WAAAAh1BMVEX///8AAAD7+/v29vbu7u74+Pjr6+vx8fHm5uYKCgrp6eni4uI+Pj43Nzfz8/MYGBhXV1fU1NTb29t/f38TExOsrKxoaGhdXV3Ly8tSUlJiYmK9vb2Hh4fExMSamppOTk6SkpKysrJxcXGkpKRGRkZtbW17e3spKSmlpaUlJSUwMDCcnJwfHx+NBTcuAAAgAElEQVR4nO1dCZeyOLMmCAiyhjUQdpD9//++WwG1XbBbbXq+e+ZMzbytIkKeVKW2VAJnusp2ZG54rY3IdTlXEMXdOwSnP/uBaBvvXWv18r++xM3lDJ1TRG47cja4Bt1tcJEv4gHihlcU/Q0uEqsbXOSLNoZolxtcJKcbXOSLNoZImw0uMo4bXOSLNoZYxRtcxNuin75oY4hxusFFaLjBRb5oY4hRt8FFiLapSt0YYl2c3ohVVSUvNUDmcHF7CA+H7Vq0NUTePcOS0LFB1fz2fHnj67TzUXhjI5UA669tsz3Zm7WI2xqigfDpnQDvyigvdRINJbuBbGU10WS1L8JsInJW67ITaq0QobAr+bgd8OUqsvkS/1+lbSECS07vBGT5qACEpWVPnZ1gD9FUrb0qTFrbb/CIta4MD2VJJlwFZLK7L11sDFsorQttC5Gi/emdgGKPcFHMBZofefEQCHmtYU+zCtCXcYmjY+uVMUd1PEmd34EOvRp/9RYOxIW2hdih8zsJEfgbxFycYZ95K1WgDrk0oV1Rc47TWDZA1Gno2KgbQ4IKP/q6TLCp1dgWYn6BuHOYyHoArrJmQyKOQc6LYcPhiqPFoWxGcgwch+erOOm4JIqvFM5x2KxF3NYQHfT991mPrz5Fz8ISx5W2ahG3NUS///57+abpkvDktBzhJ998QptC3NXaJtfx0JZWY1OIQvuensCVEPMrxwnyrj/y8aRRcOv6hk8sK3RE7IPijplPdGVqOGLBn/ExDtgU4gEdvz7Mzszu8ofj9lfHZ29GLMw9g7jnrl0fIBXdxBq5oo4Io9Fu8wIlRR8nCgh8mNs2FwecSJgvRDBYLE5WSbI7qKDMD0Q6m+hNIaro3If80R8sA+v6KNalpmG1lRy9ZqYv12tMw7CnYqhnmqzZWTTFXN4G9f5yHdm9EfgO5UQ2prDAvGce5CxNTIAYDJaCc9+ow7bjorpPE2S3Sd4kpoUKtQ31+i8g4pNXCgyqHayQOi0QURwpyL2o03EAFj1B2MkKJB2Pni7FuoqwQguE3YSiL+UjDTeamaeZmx3kclC8AtX6JM0QLYeLj2lZTOA/FIizC4pQB14F1XZxkwZceu6mTSEW6BJoZIXY0j5qGgw+QKFbSTw0DfhlFWqa3Ku53M9Ljg4AcVIJIuZBuIJoZOha9eYjZ7uxL3KOXpgHVa/IDDHn0iAtPZ3DeoU4gVIUMceJWlzOII5/AjFH56yLqHU7Bew59VXQjoKJeNomcce8WJrmxQCDKEHUGmzgok2QrAfWFUTueGM1POSHPR6GEo0esNdqEgQin6EG0Tg4oGZwduZxKGEsKnns0xouLk96+yeCWl6UPV9hPlVF50i4HIZ9AQJM/Zx9g4/xDo9c4nHdsauE/JALcm4UHbmGmKObEFKuvB27CAYtAr2E9wSUFFaLhFMxJ3RwU7GjnAAfE9uWMKfaaifnZ+2+KURrdkw/oF1Ua9fa3kO/zAFJUR2eg84tIRq18mksu7PtawNJkPXbxkgXn3dLiNIwPXPJ3iQBbZmK2BCiam4VIfAaepYu9qvVw0LBjU9cqy0hYlT/fNJr1KD864NwsIVdAloLtAmXpRhGA07AHcIw8lWDHCTwb8AA25TbwQk7WU5uvMItIYJh2uhKoG+sr/gxn4bC8gdCB8fFwRAhPOrNwDV1FoqalpVt0NMIxXlm1NZQYTPob/y/LSFWaLM0toxc+fIhd3e57lmR7RUKZYmEJh+qwkY2jxJQxH7DxbXtGmlYZNDN2JQL5fpaW0J0UL7RlThuurKMec05WUKTOEtaGoBTE9kULKcpc4hqCefHXKrPEDsLdDEeDOpeX2pLiCEqfj7pRXJQcHkfD5xtNj0ttRQVISoRcbQRCUEd9DuXckelRJ2KylgXlGMfE0Wgty7udhD304bBeoL6yywjC45kj0DwRbEMTg18TDqQY1rwHJE4cBMTpoDgNMFLOHB9hJuIekOIBG2YqBf627D4G4p/mEfZEGKKtswNli87OPxa4uD6++0gDijf5kIzQfS36g3+gGftF5tBxAhtOUcPYfHtZHFuGswuofi2+kK9FtN4zWptB9FHwWoP8189z3PXb/jbj/dUoun8VgCnZc4o2ODDTAVng29jGxhe9wBaBq9H5mQZYw5jQ8Xk7nKbQbTRism4uhnP30O8O+H2ZzyTipNixG3ZFxU68pyEwopwXl2GQqv5+VC2JEIVbY+T3bQ+SmKnQKV7N+mzGcQG6av1O/z83xWiFVRXh7++3dXnfJ4TAiqBDQMeO7pb6MdcoW261wsuywnitJRr4sbnrC5uCpNz7tzIrSBCn1cnRD8puFcvmSO0GCHH4mh9YNqnAD/fCvScdLZJRJ1yVp4gTq+42GlKzmcQdS7+I4gRQrMw8me63OB0bHm/vJ0/zZJ79YtFPPnzIeanokXkbBQhz2AQBXOqEfHcqD2AFI9wXCUopihAqg9cHB2WkHPurM1GEEHFe1/wWAsNTIuuotLN0bcIFE67hNgCtUFG5+xyQoGzmO45DPrVhlfOxpwKB1WVUyVZ3tucfKfYN4KoIU28aZ9MEup5YxzTjzGCE/eyh/MdbQPRY+r0unkqtrE11VUal9XnGHuU/X+BuHchLrhu2wHLxohMVI6xE33MR9ZzP5TDvVKEuQnEGEGMcdU2Edt7rkMuaro8LiPxQ4zMF/+ejXvj26+3gwhWP75hokrUvSGXg+XVZlZan7Nx7rtv6KXgbQuIYDBuFCdHkjSMbZxQH5lKAHH6pxDV/no674Fk+Zsvt4SY3DFR5JIUIZQnRWEpphIGzocIAWPzJN443fml9v0eIh8iJNw2jDagao7U6/LeHXzrFxDBaXqe8rJfm174PcSCOSG3DUvyFimpF1tNXJZ+lv7K/KOn0vii0fw9xF4Z9nftsvPUSStHUZBf+oGGfwER2PislAq/OEf0a4gpm5sVb4mv4jzPIxiI2TEIj7z4OXEWcp+MxvTFdv8WoqEotXHfLl51nDguJ9cNIqu2fwUxeTYayatF8r+FmDPX7bFhuATywyDKavL49VsYM6Ssmr/m1eUlv4SoIiVcYxIn5YFlWXXtyL9DOLNxbaqEvOyh/xIiKLx1LvGcDJEGlbnfSOmC0Vp1cV5f8/I7iIT18JOmLUHwbwECRLhJ8HDn5PW1HL+DyDqYF+eVXDOd3+y+Dt3Q7uqk3fJvd/Wzy4Hbvooe2cj7rzjgG0CkjInzKjjx9HdZEndeuXaCNK+V2y3r2U6r2kRRvPrd5fXycr4c+8MTpFh3GR+Sv97KX0HsFVMVL20/c/O8RO/U5BPI87/zykDxpj++lgue+fr1dsdG/J2F8F9ywH8P0WP+t7jguObaGefVwdOiR3H5eO6V67e7a86dL7T8hLeRUt+YCPrOGsJfQNz1Sqt+df6Ff9sTCzhupp/Cd4pffgFxZP73CeBexQTLrMuNP4AogvnVr/RL8jz64AVZutNEn0MUWtcUFrnaY1p4VZ6nmP8DgLuFjfnXrc2n80M4UBR3cG6Y/DnEGISHNxjTVEJIkudeGjc5wzwzcv5meXf9hv0xbj8u/64OGbc/Yi9S637VyCWPZvJEHRrqzAoyVH4Vt34OUZ6USYTmGDsV27btg/2o8riM9+zY5sRGxUXFDM9GIlEGDSBGfmnpX5HWxxBjNonBEMpYlQ64d90eIDr+KP4FxJ1QK+cUB31WY89nSjvU4PsfS6fUL1mPTyGqrjIsTMS2xImHDKGsS2OnDPCfYGTJheMJyHrKRkizXtOHvs38soFYrj17RJ9CdFgyniFUiS2NR0pKv+saXT9GOf8XEHdipiyloMV6oV3RWg708DGo+zYChGneG7+CKCNFm0fdjhAbYkZUYOqlEAMPvi/8yWjkyRJU8fpqKFy16ZizKTg/sDQ3iPO0O0/CfQgxZpEwADREmuAImShNii43Xbf1rb+RVIMLFeaNF6sztWQCqzVjPEZWVrtROnY0pL+AKAETF2btiiLxTJQVcIvUck3LD8nfQBRnNvLmWoXWTi9oUXQMI7AxrDW3rLyiCI3PIQITvWXI7TyvoF4+Lp1Y+scgw38iqIyNSFGLdi2K8iJMElpUaR7PbNSGPvUKciw+hihNbnvu26LqPE9H2jiGQ9CUkWXJf4NwL0LsFg+robBf2AyjV53ZqJthQRNqfQwxBZt40pu7JB8rHwajHyBXCfwga/5GTtm9QKkqa6UCcq3Ksk1AHaRnSW3dlCZ2hD+EKA2K+9W5oLxKQFdmbP7CtzT6ZxD5Aq1X/tvB3oBAICm8cZHUWhtcHyCm44cQPeYT708kUjBC4WDF5WQOUVA3cLc/IkPSkL7GRezvDUPGhJ4hwmCcBkoxjT6EWCuu+oXDqEoHqCmPURRkobz7K4QAUUerKxtxdJAPwMVriL1SUUL0zyDOyvvqxsbol2V59H0QkL9EuAdf3FXWkotqBoEAZmPxCiKKC0qGzyCy3Ok1ELBYjWUFVliHo/FnUgr3kd3SWa0llOqExXOz1XAuXHS8IvkMooiU+v7mO+KNaUUl8e8AAhNzZCcIrVmNY5pQSq9tP0BswPq3H0EE65TzDz08B+d/yEIgAUWi2KN6pbmeBc6N582m/wvi2I3ZRxDBI7X/Fss6QD6G8cGvFzgYQ9d11ZienFQw/e1kxvlY5p9A3CMlMAS45YWu3q583Ij2hoCsnWCQddNY1VWa5udQI9P01hziONfsTyCCUezEP0HxPYk5SnaCsNORvtYsrczjeEbImAhy6lpNXM+98TZEVkNh/NP4YLCrMAjhHZ+i1UWSUlsCQIYwCGcm9lHUOvwnEKUWWf88QkxgEBbsvnuioHytYViHIOAICCFcBN/G1Gr/FDu/C5Fp7d0/DXE3eqprLsNDqtcllbMz3Z95WGv6NCXCJSf5LkTQaOQf56IY5TGquMP8HkbK+kJQkOGhZgh7pF/P6rwLMVPc/4GyQS3S5GCWVIM+L28Ui3JQFD2+9WPfhCi3KOD/aYAGjA40KM0yQOThuzWEvPiQ2nkTItysux2Kf2MGb2gHowMwnsbHPkLDW3uBvgkxRS6+vvtBtW35r2HuM0Co4BPEXYrQWzv+vAkxQq0kSAsJh3lCKs1HKuylvyPBZkwcxdPHfbK26GUziHyPAvFy5ySB+MUD995xyB9i3I2AsNxdEMs3E3FbQ8RsVdbpVjbGGIK0Yg7SyuLvMBo+DERZ+Pocorc2mn0PIijswjghtFUYhzQbmm7OXp6Pb09qC7b4qgeNGOnvbJHwHsQOuWTuTkHFKgxG2UeuO455A4GoLTxr4+9ozwLU3fUB79tS419CLMFvWJAQWzZEQQ7YdMaoo6H04916E39LYoQ0/vqAQNaTVNtA1FCwSIxNbBXUqEx7dCxYkXtYhvanIHaiuD8wMIIkiHtW+mEcvr61XYRvBURAl92Rtoc4oWYZciTBtiqrNiaUeg1ykXW0vA8lVcjL0oPLqj7dE78Ig8hqvoaeMYKYHm5+sOvf2ivmPYgwKhaINCEYg04luZalo9VmEGznnypVlKcUfqu6Hp8gmkZu3n31lqjp8t35Yv2WSn0LooqQN4vUoaAsrUdIgRSUscweQHSgmUt3Hw7SCq0eBLJRHNss6O2dIncxV7X7L0GFgUf3d78U/du15+LBVr/B8BZEGOdEOAAA2SsoBcufdDAMNZbZO4J0sa/eJ4FkNLSoE9vD1E4u3o+tLF2+3ceBcf8LI0dX9WI0MNt6cK2nHs9bEAuE8HL3zvOKgo5x5aOpmZkYhfFnEKWEcsXQlQ5bCJ2AKzr2AFE+fSkgVbr/heB9GUbaRgmblaJpPTxZXvQWxBFN9nxDyRu7zssRakeW9mJMDOruCiJIGAToL0EUKCrNeCfsVdRBMEiM1P3iolDkD0xkvxhOjriTJdJemielqkYhsrwSg7wFMUetemAdLCX5OFaBYqIy9fs+YHkvDV8atgejQosEy/tXUAokLth5coEl21MlUlx1Vb7yA4mgdgnr/SNWD+I87wY+VmP2bf1oTt6C6CDtdBc5ztm0omI6sem6EzAx88/dLQhVMLHgQNFAjbyAUTIW/gPbpfnf4SynB5usSL+E3X6GGAcJuCD7w2n2NA7ctkX+PSPfglii8CDPJLBZxdzPytgBiKYfhFoiLV/tqY4UZYaoIDfdn37xI12dNyvt5a20diZ2Zy7SllIC9plZ53kOvBkGTTPvbeZbECPkn28ppQ1bbuI0jTVNYWBpqXFCGIMjoGTHxjmGrQI+weFVjOcrGxJOaILh9VlnYJNB3OupN9tnAqNijgXKsK3rzL1TO+9A5APUnG97UPNj0zRleWS5y1DLzzx0AKGTzLUFaRxNgFF4B6Ag00DX6zCsdas4rP+UQTyAZrCqrphNF51nwCEUsPostPT8FxBD1FxuelAr3z/6/pyczbyzAHtI6SkrLYj1Os7jY+ui/HWMoEEz/RinHmu6F9XFKiNBUHWJEzUnZcU1lM41P8uETW8FQXhXy/kmROequRKJ/cAKw8yK8enwQVaUKeFlGyfAzBpkx59cRX15OB7KPoIxPnpFwvz8pHbWx6KiGRzR4zxlFTGeN89JzbNufRD50d3647cgWldcnPtcJYVHiXpRKQKrOeJEycYU3B6d3ddyUfwiGw9CprMiRGAOqBEVFK18DIyV8whbRe1l0Bkp2C4GkN2JzQ730bH0s9uSh7fUjY+O970Kuu/644QiUPrARXJEkzO7PYOiqa9BlCzdP84QCwZREAXV9uP943kFc8PLgJVk5oxOU1JBWLcl6Ie7zZPeghij7Ps2si0MVBmrrJQJOpeNDz9TUPKSpEqjGUTHExdPwRpJJvzwY6liwVQQlLNSZ3NuZ4S65jiOf7em800fdbK/baSDdEKO05FclBw4BSbynqn/G7L1mtU8O/NYBDay9FdCneb+x+q+YRtTBNaxBJ4BvGaZkgprrQ+Ar9adg/MWRAi313XciQ4Rigizi3GylP3Nndui9IXBqEqemYWBXzZMi3hztMbMQTc8iPmuZpPhTh35xyNbJ7nMuYVsRsoBp0v/hV1ky8DCbxmSoSZxkIkc6nVNqzfztPTwmtnYN+1c1w2Smp+sASvA7AZ835Eq6iVWXRyA+pwpCuZZRX2qx3TM7/eHejuP6izDHwbK8qrO/58OAMTCC90Q9HiOXLdtmPwMwEVVnU+5sGz5qap+fZClbF6AMBd2g6aczUFXjaNO5Pke8w/g30GtUc6xZ6eAmQ9mssKsBoTQlxD/BPdrN9+e00ARdOMTkn3kQ9MqVjwRK6bbzrUFLeqkZ7+4okPdanXIRiPDmKdgD5g1yAciX58m2SEqZz4FepaFjLIFYItKFsW293A+mELV6EFeb6WUo4w1jRVP5KFihsw1yCaUPDn/9sdWr2swGheMizlg6nIiV10qS+DknzQmMbV6IQ0ADr2SgXAn0UP0/37FBjjZDZZWGy1jNJ2aBuqceemlpWmu9gJAVRUcly0kYRiPs6ZkFwGrg7IrgLg879Y0i5SuAek6AGwnQAiBh/e4C+37pUVSCHGSg/drIKUS+cwO5/ScL9olGYqfSvZN/1ClnTHCePSZppy9/LKeUD7LuSwISYOQdZUIj1E7MGr7yUTRrISHx4WNnxRrEjbfF9DDIytlG/VN6e050b+kOiNFXesNcNeEAwsNhUXxAEQ0tYPOVgSdVCVz8gNXb0EKmK/YuAiVt5n+pEfmNJmmq2h5wdwFbSVN/lHhNE9AXpCW4sM9fw4dmu9SgXFcymMo6h4RQqRLOieAIaRFMV30l+Rr5gnjRVUGVqtreo9x508oi+lD6fuOWibw3nKYt4BxuJaG+3S1jZ3XCPV+heVb3SPF8/zmCBDnDpX75kGdyjKJwzn1MZMSVjZcxNb8zJ16wAha5KwrWx3s3WTVAE9dn/22zZNDRAnVVhONny/u2xG/hwaGacJSVl8YU5fCgM2UI9PsRgBhxp2AyvQIuBByh9oKMr13FTTk5GBrZRO6MyNnlExTmvVcR2N/N9cWD8wf6ih1nqyI+9VyaZ6MwEvkWjG1WVGMJO1hfI7zJnzLAkKCjnkis6QTs+/wqtJGn1kXJ6fa2QKZJhzQGx1sRdnC4GoZSlCT7hCBi2u1Pyzhz1HYxE3WPtsJ9gyxsKK7kSpf90l1LnVR47sOMZLUnxs9ZH7p15NeetdnCDlI5BA2OcR1aWPNZ6LBubpXBQ5fXrFrHMHgj00NgBXXVfq6ZAGEn2lsBJLk+UaHcuU06fOdYU4QCRpjpHIC+H4GL3ACS42EImeACt7xksF1lOfnkis1Fnl5f3cRUSBshQQIjCcvLSHFohkw5njaDOiK2obCqOK75tSoQ40yaIFoYD2vwDcquhyMBVwrn+v2gp51dYy+3YTqustV8N7t65KOE0SKigPmaV2nBjjwia7FuHULomml2AS1JsTeaGXMhcehEQb1NzOY85ZXI1omVvKlelSwC8cCHwuipZgsd6/QeVNJaNTMdoNLhmp2vhf/myUrYidcBtjkuuiVYhvsZLXl+2Hmf3H9LKggT4HEHsmBUW5DXDuR1BK0ylCKqNyjBGTIkjPwK4iL4axVqSjspekxKyMz5zJ1EDhzgaRy/F7Yi5x4GoFsgc71VfhGT1k6Zp7wSiirBIFozB9KY96KM0BPivtuyI50xyM2OAl2YYV3j+8pKIf7EoHTRJBkQPPqooskkJE6j1IOJWUax1wZs+W6Bj0q+ePVUzQfhPhCMZhctaxl4CPMa0cOA6pnrUjOG/Qk6Gs/VVoJ88Z4hFOR7lCszsnfLrbMErMCWEvijDT/eTfrCjUslrblvXGw7fHchRdBzVOEtbhoZcCXlSOSKwWXWYFwmHOI+hDesufwsd3VUeJfp/FGpwmYFln0Xr10d5ELnET4XezMTEyBZ7PCs+DNosaki7CDNGsi294wgau7aLL0zAp1CCPmX1CWl/0RHaOmzcduhmgYLM3pnXZ0OgtqAvzjpDy2xcrgjDzGoAsTsXIwRzHXyQkmhEvY85s6nsbptZ3aN7MWOUVpkuOcBAS3qD6PhwKdKhAc0JYz6P18CQkUlxgyqTZCpdxxO51VRsEfc7fjOb60EmD3XGMr/sjEmCUdGURssxn6hBZxKF5D/Jj4JGIIH+snY+DL+Sg/BovV2jvBDDXRhwoEYGBzgqCbLIMTZ/9ZKkAFm6BbliugXuZi7QgSEbT+99vjFsM5sUWWpE/RVRrdAKJYsOE2IyTxLcwKKffrDaTkPPx0+JJtDTArXjYWgeyRnb5b1g6yA2wBL152z8xBXL/dTstoo9mPm6cAlqTPmJb+ryFiJqO5mjApxehSDbOYRD6v71xGG12mPjUG8QAQv0Y1uwC2XWb/DotUJl/G8EeInX6cE1uAcU76ePPKG31lEUPyZGSr5YNVIiBHdc46Pmbj0IMun+OnvYWC9S2FmOieUNsWs620Dr/CO3aBIlrUET/mrC+My/oo0bmfjLkj04IYkyVEzkkfZlXB53AuEMU9jH9V4CoX4DAXh/kHsgrir0IjeJWg61aLNvV1zffUZZHA3BC5RcuzdjtoJcMsPIwdir6WyvBzly0bVKnzc88xhIO2s3gE8GLdydb3hl9FX0mfcUn6sAz50KP8YjTqOo/Z81h7rqxromqhjgstjLi8hggl0LMzxB1Y1fhoHQv1jFkNtFmbCsXCEQ9kCnjl6cHDGrXquCZsxrQUmGIQCakMPTZz6Jru2ffJ4xd2KErch6QPc3BbfYBOPdvFxEOksbyBuEnTStTWqyBLqI3oqBS9UMwQD7iY89Q3chjBsLoGIzaoAe8Wjr5Y/0PYNpy3h3I2CrHDgEPwvbYQ7I4Kd0lsneYAWIq8PPpWX2t9fIaos0cA5l2lF1OcpnTItVwarcGDg2megaZgsFZ3PQ+Ba4+BmoDcla3NGNEovb2MOD2WCSeUl9F8uHfNF+oWKTontljKZ57a9aNIHyDYDE4Qi55XUXeMO1dCFQzbjJppULKnBubsyXF5gJ5uSmZr5tqTkkd3XpPFJf1047SzKui7SQepuvV51VkyE5ZVn53eFx4KZKMlscVyPkegeWY3nMIwrM8QVRgBtlOJtsfZ8SgaeVoku9QhnByDKwYmr3tueMUFveBHN71tzArCqG/3VJpb/qTNwiLvuWvO6kpbVkfZ+JUt8dHA0iEs5xMBzRnycNDgjeZwmz1sApwc7ZHVBjT0BqKYoX69zAnr7mx1kKvMUQUohNfvnrsssQUgQwtozpDrLUvj9XQziKLunqphbon2060aFcmDpi1G9sMIhi+zhgp62Er7Zz4K08RyPizjw/L/bAbALGFI+pqx3SNDvK/Fk2KXvrOSApzUQWC6U5kfMY7D6I59FdJ/ZGjCEltzZmvJkPdmw7IGwMQNn21zuHDnCP7zqeONFy7OQg0YdcLxZiubL87JyH0hrQGO0dS3S3p86JV6No7WcaPd37+IsmdmcqykaJZZw9eHnwuAIdTK5nTQtQcz6sFZEmRgL9NQ34urlcFQMSdGrqI5s4fjs3Duc4jG0gLbv0rCg7Dq0jJFN3+uJkwGCDP3iW0XBdvyk3AEd4QzikrlBK9YWp14X3JNLZ/5NRhgXfzlashsVkoUf+fF+UHpZ0Pb960W5eCldlXlhyyE+RiifVqANoAivXRvuYQ/l5QgQVpuY3QYMwcdEa1qD2GtdRApw7HlB8d6cICkfrGDzOX5+nJOMwLo73a2rTTmoYKL6s3VRkXhZf4vtvThLsEcU/H9JekIItdeZwR2Ki0RzsaANg7nj2rso6T2uLgpXKtL0NF6eDK8CjI+S4BzLsg8E2X51m8aZGgNxBndqd6ZJLFycpk+huhAp7I2dEtOg4+RBh9Jd5Obd3SMESVI544NF3R1o7pJ3chhniYUFQpZid3Ss9l8mOwNUPitnrb7cimDwLZNYz0+d/zHEIUmXMRmWbSLWZ3Gw0n7UtNiEL6YPePuwBIAAApsSURBVD45pl5WBrgGF2RPw6Dh0ixciTyEZ83hhR8yqdKxLlMPwuE4CK6s1lsQDTYFIwsnZ+XmhusQ5ydeCFZrnx6otYd/Qzc/pIZ1zI8W5Xwrzmte2updLZoo8mNqX7ftdYgk9Ye5ktbVy/HhhnyqWE/EiL91Z/DrXkGl9AubYYwrHz9t7UWIdt6yyRSTkQvhOTKP3hOHg4bH+zmPl+ixFQaosnZ+d53Ne5tegkgC4J15Qwxmm84PRqqU9sqvlif0Ymr3hoxzqcl12+AeS3UCBst06bcDPcsQW5v+M39egGhDXH8GBnQDU2v2+NLXy9nKK97WA12mlYFwdRIQcvFW1eSiqeWBZd7VqgwyDVw1vQ4a78kM8osQ97mJzoCUftAH8yKx80GcsCnQq1vEyvTBk8K/igM4rJwSXef01amlp9eULfDZsbS6wnrcZaX2ZpY+H6o/QUy0WUQZw+ICy8JespM0cC+Ci6gw3M39fTtt7TnrE3e7ADknEPlXLvKLJCc4DcYCvrb4Bt2Pm+ZZMPI9RN6ZoUCwU924GjxONaZz4Nq9uPMoRzXP4GjW/LQnu4d+eOYQN89ePZ6Tzbl1HKOUVduoe/NON7BGNk8edfgdRKwzFAry1yRPKFghDETohaym0ADCnMifnu7lfKlG9ak4k/QBodS6rKyV3Y8xWGBbB36VfJwlql2VkO8gjqbCRMB62hZhqU2YXOgJVwUJch98zjuy+9NEI0ddtDwRQ/0m2hXVJZsqsFwjkgm7jxKwogekRXHFtl0sKicYTuNGUdYqH55D3Pnsd2jwvg3TBOq3s8JFmOXWIo7KnDjmT5t9ICdZZm48UxHek/1rZoQ+aglzWVos5kfMRcoy7EwrvR7wvESP00llrNirpxBtJqTQ0z8vLz/QkAlQxJFjztkQAkXQiB8z2A38hvk5OhiZ+04UTr9mmkVjj3tQWP7nEM3lK4qfrFxcTt1ZAa0kb59BLBhr0PTiymuZ1d8c5WUHNY615EdfxIj9ecRB95h3X+WLirZFgKgM3HHua7SsNCsfi8ROJMSLNFmvLQsDncyE9B1PDOcTmsw5ScqUrS0Tdiuiu/nphKRZDWjl5jhLNe5P/ih3gHuD2Leo2EHHUVGfRVBh5Tr021jD1hgjUXR30ipEuUZMkf7wYOp7MhJ/Au02yFJkUc4HQ6pyw8Vpwej73T90pAxLAkdiEG2C3HbP2xLYCAavtXL7x6eEQNA6c+bu6ApEOjFRe5LQ/ZZkL1NQrXL8Lkbz2Ad/7wSsOM8/3t3//AYgtvtdEUcRE9SSed7KkCYFDOwpzIn82lNiC2YE7nTOI0RxNvcoemcbiyvC8YQsf5jdgpopFdOYo76DfjHou+TibXlZc5pkI9NUsKHMEjQq5hJltsggnXHyThiFJ4bxZtLkASKZWfjW9gf3RI5oMVSgdBKP5ydUp6x09BQoHtpL9QMrxwg4u4jrZZrDmwfTkSYsbQJhRkzf7mhDv9d2dxDlEtrmovDj+HMhMSlnNxbFtkx7Bdgxy9neS7DKfFBX2xmyjZlL7eqzSz3XyOxbd3HF4ECWJ5/JERhT07zehOMGogyBLxuFrz/g6DmBf8c8H3exyUvNes7kkGeFUhbXgPrFKmKzBBlzovox6TRlDrd1H+C9tb3UDYlMD1xtL/4FUbTjFpqjoOM7O618R0LiaO7Jg0QxIfEshoXomwOenU6fw47HpuNOMTZCvVZWb2Q+nhCTE9ScL8MgghCJOK3RLKPrruzbdLKovO3Nq8OVWfpmKBALgnr0FxOmcqLHik/nKk4rJW88eOg7qtggUU5FXgDRPEb6oh8U1L61cdU35F0ZCLvIsyUkYBx10bGL+yvOgVUI8oK8/mysFwhiJACJgo5JpMbNYTzrRyUq3h4Bz8wVj6IbeRNtWjlRpptXxbemnvnOSO8FU92im8W0X1C1WTRxZtsOWniMvZVKuurbcVkkYv0s0vLR0N2rRF40BLYfBmXrYrAsGOJKDyVvbUn0nIQc3JB5hwGTc+3D4aLADgLT1XYCY4mQndDP1RUiIfzB4PaSJCQHjieJwR1k+FOXBpw9n/xArHhxWqtz+J5UZ30P+09ItIsm04fW5JQr6TSmIZxkD1mT7FjH0HNrxsbaj6w84MNx0mtzpwW+LiOt1sikFyapzGDtiazMUeleqkS4/hGrivwgRfkNiYJ8a/qNPuHqfKBclMdDXnAalYMAZ3VODyiZZLcwFLvwGtNGe74lfs67WKEsDH4gjDSUP7ntU7NQpCs1OL+mW4g7iGjqXC+4IMYkNlWNGl2nEuIgLtMCDlFpwqgqAKIktkkQA0SXcuPKiJVrIVzbxpyRlj9rTXKVTt2K7hw4Y6jDQS76UFedLKr3gclc5zAIahhcBYcKCdD5FvwJa41zlK4nVRu2K4NRtDnVDB+Pc3Ma7okWM9wJ1x9EON/SPcSpYOYXkwPTMRInzeZqR4ghxS1oFoO3eZXYqoowfGvgg73jbPLMmUxWhY4lGvt1jA2rD9/I/F/oDqJ4fNaHJLv23qXwJUsdr+y5K1QJipJqTRGR1d3rf0sbV2zcU7j2MFqxX68QE81nD5L+FX22flH8oQL2QsLaU6HEJ+qmeVwkuwV9BNE7kvvF888I648SzYerAXfSbj0KT7e7g4gPhcrKQUURHxLMixhcxln1s+UFssqqTXCSZ3tq2HYBTk6h/qAAvRVL7q8+K0r7YELrFbrXqKZeT4fSsnwbKaFrdzUxHZZzkZHTFykKkEfQcQpoS1DYR3Jv6eYPiuf42PJmzfSVLz8u+k26h9gnwkRR7KACbJcf+0VZjzpogXQasywNuGN8HLkxpDoxBTp4OodXn211TY9rSPIVfuFt/bYreoBIpB7MWZKzmv7CRUZpYbY+c+yx5+URoG5iLmYQJ4kO1FS7HyGqD+zpHq3i7k+U6Uz3EFuAiGMta1g1uGRmoC8stupH0i2dphFw0UaZHgDEVqLt3qmj4UcLie/VSPIYthW/zmY8pXt1o+54VeQwFnnW02zJxmFxNwSicpLMyRKn4oO8U0WV26lqSar6Z/tx3/zHJRzfzcD9ln5n+vlxrjH8Pf2h9/GX3g2PMX4Vv/huZPlOO/4OotSaAzquNt28d10P9e74mwT8d/SXEHs2SaHKjSNzdhmrHAV7k1ROzrbHEmmZi3bqUbZ4oiRGTqbaVhvnwHd+umky7k8hDmXlR4aex9kBpWB8EK3HFBV1maCOKl7oUGQl4M75XmQjokf2kDpRghLr41qwVfpTiEHcNjKqtTZFoFFyNxssMK2k5ZDhlPBamEwbe4ruycgIUzBHWk8y5bitr/qXECfKEddGtpQSdKBW13NJMfZ8XHMIdwOfZtRlifjcThBFRu3IINVjknLatm7AH0IUQODsTC40reNGXSu4UsvUsbfA3Q4yudFrm4RMGXlaFsu1UQ2Jp2mFZGXhtqmNvwyJd/xs8AymPfbsjyByeS3CId6YP5zMobFfzuPns34sHn6X/jjqfyB76/zaz/RPQ/wf0H8Q/w30H8R/A/0H8d9A/0H8NxCDaPD/atrpXK/9y6n9P92dcE7OzfxYAAAAAElFTkSuQmCC">
            <a:hlinkClick r:id="rId2"/>
          </p:cNvPr>
          <p:cNvSpPr>
            <a:spLocks noChangeAspect="1" noChangeArrowheads="1"/>
          </p:cNvSpPr>
          <p:nvPr/>
        </p:nvSpPr>
        <p:spPr bwMode="auto">
          <a:xfrm>
            <a:off x="1641476" y="-1790700"/>
            <a:ext cx="3781425" cy="37433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1029"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l="1439" t="1654" r="1952"/>
          <a:stretch/>
        </p:blipFill>
        <p:spPr bwMode="auto">
          <a:xfrm>
            <a:off x="2455340" y="117566"/>
            <a:ext cx="6961962" cy="69931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131984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8611" y="509167"/>
            <a:ext cx="9374777" cy="758952"/>
          </a:xfrm>
        </p:spPr>
        <p:txBody>
          <a:bodyPr>
            <a:noAutofit/>
          </a:bodyPr>
          <a:lstStyle/>
          <a:p>
            <a:pPr algn="ctr"/>
            <a:r>
              <a:rPr lang="en-AU" sz="4000" b="1" dirty="0">
                <a:solidFill>
                  <a:srgbClr val="3A7386"/>
                </a:solidFill>
                <a:latin typeface="Roboto Black" panose="02000000000000000000" pitchFamily="2" charset="0"/>
                <a:ea typeface="Roboto Black" panose="02000000000000000000" pitchFamily="2" charset="0"/>
              </a:rPr>
              <a:t>Selective serotonin reuptake inhibitors </a:t>
            </a:r>
            <a:br>
              <a:rPr lang="en-AU" sz="4000" b="1" dirty="0">
                <a:solidFill>
                  <a:srgbClr val="3A7386"/>
                </a:solidFill>
                <a:latin typeface="Roboto Black" panose="02000000000000000000" pitchFamily="2" charset="0"/>
                <a:ea typeface="Roboto Black" panose="02000000000000000000" pitchFamily="2" charset="0"/>
              </a:rPr>
            </a:br>
            <a:r>
              <a:rPr lang="en-AU" sz="4000" b="1" dirty="0">
                <a:solidFill>
                  <a:srgbClr val="3A7386"/>
                </a:solidFill>
                <a:latin typeface="Roboto Black" panose="02000000000000000000" pitchFamily="2" charset="0"/>
                <a:ea typeface="Roboto Black" panose="02000000000000000000" pitchFamily="2" charset="0"/>
              </a:rPr>
              <a:t>(SSRIs)</a:t>
            </a:r>
          </a:p>
        </p:txBody>
      </p:sp>
      <p:sp>
        <p:nvSpPr>
          <p:cNvPr id="3" name="Content Placeholder 2"/>
          <p:cNvSpPr>
            <a:spLocks noGrp="1"/>
          </p:cNvSpPr>
          <p:nvPr>
            <p:ph sz="quarter" idx="1"/>
          </p:nvPr>
        </p:nvSpPr>
        <p:spPr>
          <a:xfrm>
            <a:off x="1110342" y="1734183"/>
            <a:ext cx="9940835" cy="6364787"/>
          </a:xfrm>
        </p:spPr>
        <p:txBody>
          <a:bodyPr>
            <a:normAutofit/>
          </a:bodyPr>
          <a:lstStyle/>
          <a:p>
            <a:r>
              <a:rPr lang="en-AU" b="1" dirty="0">
                <a:solidFill>
                  <a:srgbClr val="3A7386"/>
                </a:solidFill>
                <a:latin typeface="Roboto Black" panose="02000000000000000000" pitchFamily="2" charset="0"/>
                <a:ea typeface="Roboto Black" panose="02000000000000000000" pitchFamily="2" charset="0"/>
              </a:rPr>
              <a:t>*</a:t>
            </a:r>
            <a:r>
              <a:rPr lang="en-AU" b="1" dirty="0">
                <a:solidFill>
                  <a:srgbClr val="FF0000"/>
                </a:solidFill>
                <a:latin typeface="Roboto Black" panose="02000000000000000000" pitchFamily="2" charset="0"/>
                <a:ea typeface="Roboto Black" panose="02000000000000000000" pitchFamily="2" charset="0"/>
              </a:rPr>
              <a:t>Sertraline</a:t>
            </a:r>
            <a:r>
              <a:rPr lang="en-AU" b="1" dirty="0">
                <a:solidFill>
                  <a:srgbClr val="3A7386"/>
                </a:solidFill>
                <a:latin typeface="Roboto Black" panose="02000000000000000000" pitchFamily="2" charset="0"/>
                <a:ea typeface="Roboto Black" panose="02000000000000000000" pitchFamily="2" charset="0"/>
              </a:rPr>
              <a:t>* (Zoloft) is the most widely used, followed by *</a:t>
            </a:r>
            <a:r>
              <a:rPr lang="en-AU" b="1" dirty="0">
                <a:solidFill>
                  <a:srgbClr val="FF0000"/>
                </a:solidFill>
                <a:latin typeface="Roboto Black" panose="02000000000000000000" pitchFamily="2" charset="0"/>
                <a:ea typeface="Roboto Black" panose="02000000000000000000" pitchFamily="2" charset="0"/>
              </a:rPr>
              <a:t>Escitalopram</a:t>
            </a:r>
            <a:r>
              <a:rPr lang="en-AU" b="1" dirty="0">
                <a:solidFill>
                  <a:srgbClr val="3A7386"/>
                </a:solidFill>
                <a:latin typeface="Roboto Black" panose="02000000000000000000" pitchFamily="2" charset="0"/>
                <a:ea typeface="Roboto Black" panose="02000000000000000000" pitchFamily="2" charset="0"/>
              </a:rPr>
              <a:t> (Lexapro)* and *</a:t>
            </a:r>
            <a:r>
              <a:rPr lang="en-AU" b="1" dirty="0">
                <a:solidFill>
                  <a:srgbClr val="FF0000"/>
                </a:solidFill>
                <a:latin typeface="Roboto Black" panose="02000000000000000000" pitchFamily="2" charset="0"/>
                <a:ea typeface="Roboto Black" panose="02000000000000000000" pitchFamily="2" charset="0"/>
              </a:rPr>
              <a:t>Fluoxetine</a:t>
            </a:r>
            <a:r>
              <a:rPr lang="en-AU" b="1" dirty="0">
                <a:solidFill>
                  <a:srgbClr val="3A7386"/>
                </a:solidFill>
                <a:latin typeface="Roboto Black" panose="02000000000000000000" pitchFamily="2" charset="0"/>
                <a:ea typeface="Roboto Black" panose="02000000000000000000" pitchFamily="2" charset="0"/>
              </a:rPr>
              <a:t> (Prozac)*. </a:t>
            </a:r>
          </a:p>
          <a:p>
            <a:r>
              <a:rPr lang="en-AU" b="1" dirty="0">
                <a:solidFill>
                  <a:srgbClr val="3A7386"/>
                </a:solidFill>
                <a:latin typeface="Roboto Black" panose="02000000000000000000" pitchFamily="2" charset="0"/>
                <a:ea typeface="Roboto Black" panose="02000000000000000000" pitchFamily="2" charset="0"/>
              </a:rPr>
              <a:t> Many are indicated in major depression, panic disorder, social anxiety disorder, generalized anxiety disorder, and obsessive–compulsive disorder. </a:t>
            </a:r>
          </a:p>
          <a:p>
            <a:r>
              <a:rPr lang="en-AU" b="1" dirty="0">
                <a:solidFill>
                  <a:srgbClr val="3A7386"/>
                </a:solidFill>
                <a:latin typeface="Roboto Black" panose="02000000000000000000" pitchFamily="2" charset="0"/>
                <a:ea typeface="Roboto Black" panose="02000000000000000000" pitchFamily="2" charset="0"/>
              </a:rPr>
              <a:t>Sexual dysfunction and decreased libido are among the most commonly reported side effects. </a:t>
            </a:r>
          </a:p>
          <a:p>
            <a:r>
              <a:rPr lang="en-AU" b="1" dirty="0">
                <a:solidFill>
                  <a:srgbClr val="3A7386"/>
                </a:solidFill>
                <a:latin typeface="Roboto Black" panose="02000000000000000000" pitchFamily="2" charset="0"/>
                <a:ea typeface="Roboto Black" panose="02000000000000000000" pitchFamily="2" charset="0"/>
              </a:rPr>
              <a:t>Not to be withdrawn suddenly</a:t>
            </a:r>
          </a:p>
          <a:p>
            <a:endParaRPr lang="en-AU" b="1" dirty="0">
              <a:solidFill>
                <a:srgbClr val="3A7386"/>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34492516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b="1" dirty="0">
                <a:solidFill>
                  <a:srgbClr val="3A7386"/>
                </a:solidFill>
                <a:latin typeface="Roboto Black" panose="02000000000000000000" pitchFamily="2" charset="0"/>
                <a:ea typeface="Roboto Black" panose="02000000000000000000" pitchFamily="2" charset="0"/>
              </a:rPr>
              <a:t>Tricyclic antidepressants (TCAs)</a:t>
            </a:r>
          </a:p>
        </p:txBody>
      </p:sp>
      <p:sp>
        <p:nvSpPr>
          <p:cNvPr id="3" name="Content Placeholder 2"/>
          <p:cNvSpPr>
            <a:spLocks noGrp="1"/>
          </p:cNvSpPr>
          <p:nvPr>
            <p:ph sz="quarter" idx="1"/>
          </p:nvPr>
        </p:nvSpPr>
        <p:spPr>
          <a:xfrm>
            <a:off x="838200" y="1527048"/>
            <a:ext cx="5384074" cy="5330952"/>
          </a:xfrm>
        </p:spPr>
        <p:txBody>
          <a:bodyPr>
            <a:normAutofit/>
          </a:bodyPr>
          <a:lstStyle/>
          <a:p>
            <a:pPr marL="0" indent="0">
              <a:buNone/>
            </a:pPr>
            <a:r>
              <a:rPr lang="en-AU" dirty="0">
                <a:solidFill>
                  <a:srgbClr val="3A7386"/>
                </a:solidFill>
                <a:latin typeface="Roboto Black" panose="02000000000000000000" pitchFamily="2" charset="0"/>
                <a:ea typeface="Roboto Black" panose="02000000000000000000" pitchFamily="2" charset="0"/>
              </a:rPr>
              <a:t>TCAs are still important in the management of depression but  are not always the antidepressants of choice. *Amitriptyline*</a:t>
            </a:r>
          </a:p>
          <a:p>
            <a:r>
              <a:rPr lang="en-AU" b="1" dirty="0">
                <a:solidFill>
                  <a:srgbClr val="3A7386"/>
                </a:solidFill>
                <a:latin typeface="Roboto Black" panose="02000000000000000000" pitchFamily="2" charset="0"/>
                <a:ea typeface="Roboto Black" panose="02000000000000000000" pitchFamily="2" charset="0"/>
              </a:rPr>
              <a:t>Mechanism of action </a:t>
            </a:r>
            <a:endParaRPr lang="en-AU" dirty="0">
              <a:solidFill>
                <a:srgbClr val="3A7386"/>
              </a:solidFill>
              <a:latin typeface="Roboto Black" panose="02000000000000000000" pitchFamily="2" charset="0"/>
              <a:ea typeface="Roboto Black" panose="02000000000000000000" pitchFamily="2" charset="0"/>
            </a:endParaRPr>
          </a:p>
          <a:p>
            <a:pPr lvl="1">
              <a:buClr>
                <a:srgbClr val="FF0000"/>
              </a:buClr>
            </a:pPr>
            <a:r>
              <a:rPr lang="en-AU" sz="2300" dirty="0">
                <a:solidFill>
                  <a:srgbClr val="3A7386"/>
                </a:solidFill>
                <a:latin typeface="Roboto Black" panose="02000000000000000000" pitchFamily="2" charset="0"/>
                <a:ea typeface="Roboto Black" panose="02000000000000000000" pitchFamily="2" charset="0"/>
              </a:rPr>
              <a:t>These drugs act primarily by blocking the amine reuptake pumps on the presynaptic terminal in the brain. </a:t>
            </a:r>
          </a:p>
          <a:p>
            <a:pPr lvl="1">
              <a:buClr>
                <a:srgbClr val="FF0000"/>
              </a:buClr>
            </a:pPr>
            <a:r>
              <a:rPr lang="en-AU" sz="2300" dirty="0">
                <a:solidFill>
                  <a:srgbClr val="3A7386"/>
                </a:solidFill>
                <a:latin typeface="Roboto Black" panose="02000000000000000000" pitchFamily="2" charset="0"/>
                <a:ea typeface="Roboto Black" panose="02000000000000000000" pitchFamily="2" charset="0"/>
              </a:rPr>
              <a:t>The effect of decreasing pain occurs at ‘the gate’ of the spinal cord</a:t>
            </a:r>
          </a:p>
          <a:p>
            <a:pPr lvl="1">
              <a:buClr>
                <a:srgbClr val="FF0000"/>
              </a:buClr>
            </a:pPr>
            <a:endParaRPr lang="en-AU" sz="2300" dirty="0">
              <a:solidFill>
                <a:srgbClr val="3A7386"/>
              </a:solidFill>
              <a:latin typeface="Roboto Black" panose="02000000000000000000" pitchFamily="2" charset="0"/>
              <a:ea typeface="Roboto Black" panose="02000000000000000000" pitchFamily="2" charset="0"/>
            </a:endParaRPr>
          </a:p>
          <a:p>
            <a:endParaRPr lang="en-AU" b="1" dirty="0">
              <a:solidFill>
                <a:srgbClr val="3A7386"/>
              </a:solidFill>
              <a:latin typeface="Roboto Black" panose="02000000000000000000" pitchFamily="2" charset="0"/>
              <a:ea typeface="Roboto Black" panose="02000000000000000000" pitchFamily="2" charset="0"/>
            </a:endParaRPr>
          </a:p>
        </p:txBody>
      </p:sp>
      <p:pic>
        <p:nvPicPr>
          <p:cNvPr id="5" name="Picture 4">
            <a:extLst>
              <a:ext uri="{FF2B5EF4-FFF2-40B4-BE49-F238E27FC236}">
                <a16:creationId xmlns:a16="http://schemas.microsoft.com/office/drawing/2014/main" id="{74553176-159F-4D0B-A774-F88A59D23C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2274" y="3429000"/>
            <a:ext cx="6096000" cy="3429000"/>
          </a:xfrm>
          <a:prstGeom prst="rect">
            <a:avLst/>
          </a:prstGeom>
        </p:spPr>
      </p:pic>
    </p:spTree>
    <p:extLst>
      <p:ext uri="{BB962C8B-B14F-4D97-AF65-F5344CB8AC3E}">
        <p14:creationId xmlns:p14="http://schemas.microsoft.com/office/powerpoint/2010/main" val="1267415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b="1" dirty="0">
                <a:solidFill>
                  <a:srgbClr val="3A7386"/>
                </a:solidFill>
                <a:latin typeface="Roboto Black" panose="02000000000000000000" pitchFamily="2" charset="0"/>
                <a:ea typeface="Roboto Black" panose="02000000000000000000" pitchFamily="2" charset="0"/>
              </a:rPr>
              <a:t>Tricyclic antidepressants (TCAs)</a:t>
            </a:r>
          </a:p>
        </p:txBody>
      </p:sp>
      <p:sp>
        <p:nvSpPr>
          <p:cNvPr id="3" name="Content Placeholder 2"/>
          <p:cNvSpPr>
            <a:spLocks noGrp="1"/>
          </p:cNvSpPr>
          <p:nvPr>
            <p:ph sz="quarter" idx="1"/>
          </p:nvPr>
        </p:nvSpPr>
        <p:spPr>
          <a:xfrm>
            <a:off x="1825752" y="1527048"/>
            <a:ext cx="8503920" cy="5330952"/>
          </a:xfrm>
        </p:spPr>
        <p:txBody>
          <a:bodyPr>
            <a:normAutofit/>
          </a:bodyPr>
          <a:lstStyle/>
          <a:p>
            <a:r>
              <a:rPr lang="en-AU" b="1" dirty="0">
                <a:solidFill>
                  <a:srgbClr val="3A7386"/>
                </a:solidFill>
                <a:latin typeface="Roboto Black" panose="02000000000000000000" pitchFamily="2" charset="0"/>
                <a:ea typeface="Roboto Black" panose="02000000000000000000" pitchFamily="2" charset="0"/>
              </a:rPr>
              <a:t>Common adverse effects of TCAs</a:t>
            </a:r>
            <a:endParaRPr lang="en-AU" dirty="0">
              <a:solidFill>
                <a:srgbClr val="3A7386"/>
              </a:solidFill>
              <a:latin typeface="Roboto Black" panose="02000000000000000000" pitchFamily="2" charset="0"/>
              <a:ea typeface="Roboto Black" panose="02000000000000000000" pitchFamily="2" charset="0"/>
            </a:endParaRPr>
          </a:p>
          <a:p>
            <a:pPr lvl="1">
              <a:buClr>
                <a:srgbClr val="FF0000"/>
              </a:buClr>
            </a:pPr>
            <a:r>
              <a:rPr lang="en-AU" sz="2300" dirty="0">
                <a:solidFill>
                  <a:srgbClr val="3A7386"/>
                </a:solidFill>
                <a:latin typeface="Roboto Black" panose="02000000000000000000" pitchFamily="2" charset="0"/>
                <a:ea typeface="Roboto Black" panose="02000000000000000000" pitchFamily="2" charset="0"/>
              </a:rPr>
              <a:t>Adverse effects derive from the fact that the TCAs have secondary actions: </a:t>
            </a:r>
          </a:p>
          <a:p>
            <a:pPr lvl="1">
              <a:buClr>
                <a:srgbClr val="FF0000"/>
              </a:buClr>
            </a:pPr>
            <a:r>
              <a:rPr lang="en-AU" sz="2300" dirty="0">
                <a:solidFill>
                  <a:srgbClr val="3A7386"/>
                </a:solidFill>
                <a:latin typeface="Roboto Black" panose="02000000000000000000" pitchFamily="2" charset="0"/>
                <a:ea typeface="Roboto Black" panose="02000000000000000000" pitchFamily="2" charset="0"/>
              </a:rPr>
              <a:t>Antimuscarinic actions: dry mouth, blurred vision, constipation, urinary retention and tachycardia</a:t>
            </a:r>
            <a:r>
              <a:rPr lang="en-AU" sz="2300" b="1" dirty="0">
                <a:solidFill>
                  <a:srgbClr val="3A7386"/>
                </a:solidFill>
                <a:latin typeface="Roboto Black" panose="02000000000000000000" pitchFamily="2" charset="0"/>
                <a:ea typeface="Roboto Black" panose="02000000000000000000" pitchFamily="2" charset="0"/>
              </a:rPr>
              <a:t>**.</a:t>
            </a:r>
            <a:r>
              <a:rPr lang="en-AU" sz="2300" dirty="0">
                <a:solidFill>
                  <a:srgbClr val="3A7386"/>
                </a:solidFill>
                <a:latin typeface="Roboto Black" panose="02000000000000000000" pitchFamily="2" charset="0"/>
                <a:ea typeface="Roboto Black" panose="02000000000000000000" pitchFamily="2" charset="0"/>
              </a:rPr>
              <a:t> </a:t>
            </a:r>
          </a:p>
          <a:p>
            <a:pPr lvl="1">
              <a:buClr>
                <a:srgbClr val="FF0000"/>
              </a:buClr>
            </a:pPr>
            <a:r>
              <a:rPr lang="en-AU" sz="2300" dirty="0">
                <a:solidFill>
                  <a:srgbClr val="3A7386"/>
                </a:solidFill>
                <a:latin typeface="Roboto Black" panose="02000000000000000000" pitchFamily="2" charset="0"/>
                <a:ea typeface="Roboto Black" panose="02000000000000000000" pitchFamily="2" charset="0"/>
              </a:rPr>
              <a:t>Central antihistamine actions: Mental confusion and sedation </a:t>
            </a:r>
          </a:p>
          <a:p>
            <a:pPr lvl="1">
              <a:buClr>
                <a:srgbClr val="FF0000"/>
              </a:buClr>
            </a:pPr>
            <a:r>
              <a:rPr lang="en-AU" sz="2300" dirty="0">
                <a:solidFill>
                  <a:srgbClr val="3A7386"/>
                </a:solidFill>
                <a:latin typeface="Roboto Black" panose="02000000000000000000" pitchFamily="2" charset="0"/>
                <a:ea typeface="Roboto Black" panose="02000000000000000000" pitchFamily="2" charset="0"/>
              </a:rPr>
              <a:t>Antiadrenergic activity: postural hypotension  </a:t>
            </a:r>
          </a:p>
          <a:p>
            <a:pPr marL="0" indent="0">
              <a:buNone/>
            </a:pPr>
            <a:endParaRPr lang="en-AU" b="1" dirty="0">
              <a:solidFill>
                <a:srgbClr val="3A7386"/>
              </a:solidFill>
              <a:latin typeface="Roboto Black" panose="02000000000000000000" pitchFamily="2" charset="0"/>
              <a:ea typeface="Roboto Black" panose="02000000000000000000" pitchFamily="2" charset="0"/>
            </a:endParaRPr>
          </a:p>
          <a:p>
            <a:pPr marL="0" indent="0" algn="ctr">
              <a:buNone/>
            </a:pPr>
            <a:r>
              <a:rPr lang="en-AU" b="1" dirty="0">
                <a:solidFill>
                  <a:srgbClr val="3A7386"/>
                </a:solidFill>
                <a:latin typeface="Roboto Black" panose="02000000000000000000" pitchFamily="2" charset="0"/>
                <a:ea typeface="Roboto Black" panose="02000000000000000000" pitchFamily="2" charset="0"/>
              </a:rPr>
              <a:t>Contraindicated in patients with history of cardiovascular problems or epilepsy</a:t>
            </a:r>
          </a:p>
          <a:p>
            <a:pPr marL="0" indent="0" algn="ctr">
              <a:buNone/>
            </a:pPr>
            <a:r>
              <a:rPr lang="en-AU" b="1" dirty="0">
                <a:solidFill>
                  <a:srgbClr val="3A7386"/>
                </a:solidFill>
                <a:latin typeface="Roboto Black" panose="02000000000000000000" pitchFamily="2" charset="0"/>
                <a:ea typeface="Roboto Black" panose="02000000000000000000" pitchFamily="2" charset="0"/>
              </a:rPr>
              <a:t>(remember they block reuptake of noradrenaline)</a:t>
            </a:r>
            <a:endParaRPr lang="en-AU" dirty="0">
              <a:solidFill>
                <a:srgbClr val="3A7386"/>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5487229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491898"/>
            <a:ext cx="10515600" cy="1325563"/>
          </a:xfrm>
        </p:spPr>
        <p:txBody>
          <a:bodyPr/>
          <a:lstStyle/>
          <a:p>
            <a:pPr algn="ctr"/>
            <a:r>
              <a:rPr lang="en-AU" b="1" dirty="0">
                <a:solidFill>
                  <a:schemeClr val="bg1"/>
                </a:solidFill>
                <a:latin typeface="Roboto Black" panose="02000000000000000000" pitchFamily="2" charset="0"/>
                <a:ea typeface="Roboto Black" panose="02000000000000000000" pitchFamily="2" charset="0"/>
                <a:cs typeface="Arial" panose="020B0604020202020204" pitchFamily="34" charset="0"/>
              </a:rPr>
              <a:t>SNRIs and Atypical Antidepressants</a:t>
            </a:r>
          </a:p>
        </p:txBody>
      </p:sp>
    </p:spTree>
    <p:extLst>
      <p:ext uri="{BB962C8B-B14F-4D97-AF65-F5344CB8AC3E}">
        <p14:creationId xmlns:p14="http://schemas.microsoft.com/office/powerpoint/2010/main" val="3438560385"/>
      </p:ext>
    </p:extLst>
  </p:cSld>
  <p:clrMapOvr>
    <a:masterClrMapping/>
  </p:clrMapOvr>
  <p:transition>
    <p:cut thruBlk="1"/>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b="1" dirty="0">
                <a:solidFill>
                  <a:srgbClr val="3A7386"/>
                </a:solidFill>
                <a:latin typeface="Roboto Black" panose="02000000000000000000" pitchFamily="2" charset="0"/>
                <a:ea typeface="Roboto Black" panose="02000000000000000000" pitchFamily="2" charset="0"/>
              </a:rPr>
              <a:t>S</a:t>
            </a:r>
            <a:r>
              <a:rPr lang="en-AU" b="1" dirty="0">
                <a:solidFill>
                  <a:srgbClr val="FF0000"/>
                </a:solidFill>
                <a:latin typeface="Roboto Black" panose="02000000000000000000" pitchFamily="2" charset="0"/>
                <a:ea typeface="Roboto Black" panose="02000000000000000000" pitchFamily="2" charset="0"/>
              </a:rPr>
              <a:t>N</a:t>
            </a:r>
            <a:r>
              <a:rPr lang="en-AU" b="1" dirty="0">
                <a:solidFill>
                  <a:srgbClr val="3A7386"/>
                </a:solidFill>
                <a:latin typeface="Roboto Black" panose="02000000000000000000" pitchFamily="2" charset="0"/>
                <a:ea typeface="Roboto Black" panose="02000000000000000000" pitchFamily="2" charset="0"/>
              </a:rPr>
              <a:t>RIs</a:t>
            </a:r>
          </a:p>
        </p:txBody>
      </p:sp>
      <p:sp>
        <p:nvSpPr>
          <p:cNvPr id="3" name="Content Placeholder 2"/>
          <p:cNvSpPr>
            <a:spLocks noGrp="1"/>
          </p:cNvSpPr>
          <p:nvPr>
            <p:ph sz="quarter" idx="1"/>
          </p:nvPr>
        </p:nvSpPr>
        <p:spPr>
          <a:xfrm>
            <a:off x="676220" y="1494579"/>
            <a:ext cx="4718739" cy="4998296"/>
          </a:xfrm>
        </p:spPr>
        <p:txBody>
          <a:bodyPr>
            <a:normAutofit fontScale="92500"/>
          </a:bodyPr>
          <a:lstStyle/>
          <a:p>
            <a:pPr marL="0" indent="0" algn="ctr">
              <a:buNone/>
            </a:pPr>
            <a:r>
              <a:rPr lang="en-AU" b="1" dirty="0">
                <a:solidFill>
                  <a:srgbClr val="3A7386"/>
                </a:solidFill>
                <a:latin typeface="Roboto Black" panose="02000000000000000000" pitchFamily="2" charset="0"/>
                <a:ea typeface="Roboto Black" panose="02000000000000000000" pitchFamily="2" charset="0"/>
              </a:rPr>
              <a:t>Serotonin and noradrenaline reuptake inhibitors (SNRIs) </a:t>
            </a:r>
            <a:endParaRPr lang="en-AU" dirty="0">
              <a:solidFill>
                <a:srgbClr val="3A7386"/>
              </a:solidFill>
              <a:latin typeface="Roboto Black" panose="02000000000000000000" pitchFamily="2" charset="0"/>
              <a:ea typeface="Roboto Black" panose="02000000000000000000" pitchFamily="2" charset="0"/>
            </a:endParaRPr>
          </a:p>
          <a:p>
            <a:pPr marL="0" indent="0">
              <a:buNone/>
            </a:pPr>
            <a:r>
              <a:rPr lang="en-AU" b="1" dirty="0">
                <a:solidFill>
                  <a:srgbClr val="3A7386"/>
                </a:solidFill>
                <a:latin typeface="Roboto Black" panose="02000000000000000000" pitchFamily="2" charset="0"/>
                <a:ea typeface="Roboto Black" panose="02000000000000000000" pitchFamily="2" charset="0"/>
              </a:rPr>
              <a:t>Mechanism of action</a:t>
            </a:r>
            <a:endParaRPr lang="en-AU" dirty="0">
              <a:solidFill>
                <a:srgbClr val="3A7386"/>
              </a:solidFill>
              <a:latin typeface="Roboto Black" panose="02000000000000000000" pitchFamily="2" charset="0"/>
              <a:ea typeface="Roboto Black" panose="02000000000000000000" pitchFamily="2" charset="0"/>
            </a:endParaRPr>
          </a:p>
          <a:p>
            <a:r>
              <a:rPr lang="en-AU" dirty="0">
                <a:solidFill>
                  <a:srgbClr val="3A7386"/>
                </a:solidFill>
                <a:latin typeface="Roboto Black" panose="02000000000000000000" pitchFamily="2" charset="0"/>
                <a:ea typeface="Roboto Black" panose="02000000000000000000" pitchFamily="2" charset="0"/>
              </a:rPr>
              <a:t>Block the reuptake of noradrenaline, serotonin and, to some extent, dopamine from the synaptic gap. This action enhances neurotransmission </a:t>
            </a:r>
          </a:p>
          <a:p>
            <a:r>
              <a:rPr lang="en-AU" dirty="0">
                <a:solidFill>
                  <a:srgbClr val="3A7386"/>
                </a:solidFill>
                <a:latin typeface="Roboto Black" panose="02000000000000000000" pitchFamily="2" charset="0"/>
                <a:ea typeface="Roboto Black" panose="02000000000000000000" pitchFamily="2" charset="0"/>
              </a:rPr>
              <a:t>*</a:t>
            </a:r>
            <a:r>
              <a:rPr lang="en-AU" dirty="0">
                <a:solidFill>
                  <a:srgbClr val="FF0000"/>
                </a:solidFill>
                <a:latin typeface="Roboto Black" panose="02000000000000000000" pitchFamily="2" charset="0"/>
                <a:ea typeface="Roboto Black" panose="02000000000000000000" pitchFamily="2" charset="0"/>
              </a:rPr>
              <a:t>Duloxetine</a:t>
            </a:r>
            <a:r>
              <a:rPr lang="en-AU" dirty="0">
                <a:solidFill>
                  <a:srgbClr val="3A7386"/>
                </a:solidFill>
                <a:latin typeface="Roboto Black" panose="02000000000000000000" pitchFamily="2" charset="0"/>
                <a:ea typeface="Roboto Black" panose="02000000000000000000" pitchFamily="2" charset="0"/>
              </a:rPr>
              <a:t>* (Cymbalta) and *</a:t>
            </a:r>
            <a:r>
              <a:rPr lang="en-AU" dirty="0">
                <a:solidFill>
                  <a:srgbClr val="FF0000"/>
                </a:solidFill>
                <a:latin typeface="Roboto Black" panose="02000000000000000000" pitchFamily="2" charset="0"/>
                <a:ea typeface="Roboto Black" panose="02000000000000000000" pitchFamily="2" charset="0"/>
              </a:rPr>
              <a:t>Venlafaxine</a:t>
            </a:r>
            <a:r>
              <a:rPr lang="en-AU" dirty="0">
                <a:solidFill>
                  <a:srgbClr val="3A7386"/>
                </a:solidFill>
                <a:latin typeface="Roboto Black" panose="02000000000000000000" pitchFamily="2" charset="0"/>
                <a:ea typeface="Roboto Black" panose="02000000000000000000" pitchFamily="2" charset="0"/>
              </a:rPr>
              <a:t>* (Effexor)</a:t>
            </a:r>
          </a:p>
        </p:txBody>
      </p:sp>
      <p:pic>
        <p:nvPicPr>
          <p:cNvPr id="4" name="Picture 3">
            <a:extLst>
              <a:ext uri="{FF2B5EF4-FFF2-40B4-BE49-F238E27FC236}">
                <a16:creationId xmlns:a16="http://schemas.microsoft.com/office/drawing/2014/main" id="{E4342DE0-1B76-4916-B17A-EB327DB8FC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6927" y="1389261"/>
            <a:ext cx="4981713" cy="49595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Placeholder 3">
            <a:extLst>
              <a:ext uri="{FF2B5EF4-FFF2-40B4-BE49-F238E27FC236}">
                <a16:creationId xmlns:a16="http://schemas.microsoft.com/office/drawing/2014/main" id="{BE17A864-7BB5-4B9C-BFD7-85CA7F0E0FD7}"/>
              </a:ext>
            </a:extLst>
          </p:cNvPr>
          <p:cNvSpPr txBox="1">
            <a:spLocks/>
          </p:cNvSpPr>
          <p:nvPr/>
        </p:nvSpPr>
        <p:spPr>
          <a:xfrm>
            <a:off x="7673340" y="6218555"/>
            <a:ext cx="3725092" cy="75701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latin typeface="Roboto Black" panose="02000000000000000000" pitchFamily="2" charset="0"/>
                <a:ea typeface="Roboto Black" panose="02000000000000000000" pitchFamily="2" charset="0"/>
                <a:cs typeface="Arial" panose="020B0604020202020204" pitchFamily="34" charset="0"/>
              </a:rPr>
              <a:t>The above depicts the most common SSRIs and SNRIs	</a:t>
            </a:r>
          </a:p>
        </p:txBody>
      </p:sp>
    </p:spTree>
    <p:extLst>
      <p:ext uri="{BB962C8B-B14F-4D97-AF65-F5344CB8AC3E}">
        <p14:creationId xmlns:p14="http://schemas.microsoft.com/office/powerpoint/2010/main" val="12512938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b="1" dirty="0">
                <a:solidFill>
                  <a:srgbClr val="3A7386"/>
                </a:solidFill>
                <a:latin typeface="Roboto Black" panose="02000000000000000000" pitchFamily="2" charset="0"/>
                <a:ea typeface="Roboto Black" panose="02000000000000000000" pitchFamily="2" charset="0"/>
              </a:rPr>
              <a:t>S</a:t>
            </a:r>
            <a:r>
              <a:rPr lang="en-AU" b="1" dirty="0">
                <a:solidFill>
                  <a:srgbClr val="FF0000"/>
                </a:solidFill>
                <a:latin typeface="Roboto Black" panose="02000000000000000000" pitchFamily="2" charset="0"/>
                <a:ea typeface="Roboto Black" panose="02000000000000000000" pitchFamily="2" charset="0"/>
              </a:rPr>
              <a:t>N</a:t>
            </a:r>
            <a:r>
              <a:rPr lang="en-AU" b="1" dirty="0">
                <a:solidFill>
                  <a:srgbClr val="3A7386"/>
                </a:solidFill>
                <a:latin typeface="Roboto Black" panose="02000000000000000000" pitchFamily="2" charset="0"/>
                <a:ea typeface="Roboto Black" panose="02000000000000000000" pitchFamily="2" charset="0"/>
              </a:rPr>
              <a:t>RIs</a:t>
            </a:r>
          </a:p>
        </p:txBody>
      </p:sp>
      <p:sp>
        <p:nvSpPr>
          <p:cNvPr id="3" name="Content Placeholder 2"/>
          <p:cNvSpPr>
            <a:spLocks noGrp="1"/>
          </p:cNvSpPr>
          <p:nvPr>
            <p:ph sz="quarter" idx="1"/>
          </p:nvPr>
        </p:nvSpPr>
        <p:spPr>
          <a:xfrm>
            <a:off x="1825752" y="1527048"/>
            <a:ext cx="8503920" cy="4998296"/>
          </a:xfrm>
        </p:spPr>
        <p:txBody>
          <a:bodyPr>
            <a:normAutofit/>
          </a:bodyPr>
          <a:lstStyle/>
          <a:p>
            <a:pPr marL="0" indent="0" algn="ctr">
              <a:buNone/>
            </a:pPr>
            <a:r>
              <a:rPr lang="en-AU" b="1" dirty="0">
                <a:solidFill>
                  <a:srgbClr val="3A7386"/>
                </a:solidFill>
                <a:latin typeface="Roboto Black" panose="02000000000000000000" pitchFamily="2" charset="0"/>
                <a:ea typeface="Roboto Black" panose="02000000000000000000" pitchFamily="2" charset="0"/>
              </a:rPr>
              <a:t>Serotonin and noradrenaline reuptake inhibitors (SNRIs) </a:t>
            </a:r>
            <a:endParaRPr lang="en-AU" dirty="0">
              <a:solidFill>
                <a:srgbClr val="3A7386"/>
              </a:solidFill>
              <a:latin typeface="Roboto Black" panose="02000000000000000000" pitchFamily="2" charset="0"/>
              <a:ea typeface="Roboto Black" panose="02000000000000000000" pitchFamily="2" charset="0"/>
            </a:endParaRPr>
          </a:p>
          <a:p>
            <a:pPr marL="0" indent="0">
              <a:buNone/>
            </a:pPr>
            <a:r>
              <a:rPr lang="en-AU" b="1" dirty="0">
                <a:solidFill>
                  <a:srgbClr val="3A7386"/>
                </a:solidFill>
                <a:latin typeface="Roboto Black" panose="02000000000000000000" pitchFamily="2" charset="0"/>
                <a:ea typeface="Roboto Black" panose="02000000000000000000" pitchFamily="2" charset="0"/>
              </a:rPr>
              <a:t>Mechanism of action</a:t>
            </a:r>
            <a:endParaRPr lang="en-AU" dirty="0">
              <a:solidFill>
                <a:srgbClr val="3A7386"/>
              </a:solidFill>
              <a:latin typeface="Roboto Black" panose="02000000000000000000" pitchFamily="2" charset="0"/>
              <a:ea typeface="Roboto Black" panose="02000000000000000000" pitchFamily="2" charset="0"/>
            </a:endParaRPr>
          </a:p>
          <a:p>
            <a:r>
              <a:rPr lang="en-AU" dirty="0">
                <a:solidFill>
                  <a:srgbClr val="3A7386"/>
                </a:solidFill>
                <a:latin typeface="Roboto Black" panose="02000000000000000000" pitchFamily="2" charset="0"/>
                <a:ea typeface="Roboto Black" panose="02000000000000000000" pitchFamily="2" charset="0"/>
              </a:rPr>
              <a:t>Block the reuptake of noradrenaline, serotonin and, to some extent, dopamine from the synaptic gap. This action enhances neurotransmission </a:t>
            </a:r>
          </a:p>
          <a:p>
            <a:pPr marL="0" indent="0">
              <a:buNone/>
            </a:pPr>
            <a:r>
              <a:rPr lang="en-AU" dirty="0">
                <a:solidFill>
                  <a:srgbClr val="3A7386"/>
                </a:solidFill>
                <a:latin typeface="Roboto Black" panose="02000000000000000000" pitchFamily="2" charset="0"/>
                <a:ea typeface="Roboto Black" panose="02000000000000000000" pitchFamily="2" charset="0"/>
              </a:rPr>
              <a:t>The SNRIs produce less sedation, as well as fewer cardiovascular and </a:t>
            </a:r>
            <a:r>
              <a:rPr lang="en-AU" dirty="0" err="1">
                <a:solidFill>
                  <a:srgbClr val="3A7386"/>
                </a:solidFill>
                <a:latin typeface="Roboto Black" panose="02000000000000000000" pitchFamily="2" charset="0"/>
                <a:ea typeface="Roboto Black" panose="02000000000000000000" pitchFamily="2" charset="0"/>
              </a:rPr>
              <a:t>antimuscarinic</a:t>
            </a:r>
            <a:r>
              <a:rPr lang="en-AU" dirty="0">
                <a:solidFill>
                  <a:srgbClr val="3A7386"/>
                </a:solidFill>
                <a:latin typeface="Roboto Black" panose="02000000000000000000" pitchFamily="2" charset="0"/>
                <a:ea typeface="Roboto Black" panose="02000000000000000000" pitchFamily="2" charset="0"/>
              </a:rPr>
              <a:t> side-effects compared to the TCAs.</a:t>
            </a:r>
          </a:p>
          <a:p>
            <a:r>
              <a:rPr lang="en-AU" dirty="0">
                <a:solidFill>
                  <a:srgbClr val="3A7386"/>
                </a:solidFill>
                <a:latin typeface="Roboto Black" panose="02000000000000000000" pitchFamily="2" charset="0"/>
                <a:ea typeface="Roboto Black" panose="02000000000000000000" pitchFamily="2" charset="0"/>
              </a:rPr>
              <a:t>Always withdraw antidepressants slowly</a:t>
            </a:r>
          </a:p>
          <a:p>
            <a:r>
              <a:rPr lang="en-AU" dirty="0">
                <a:solidFill>
                  <a:srgbClr val="3A7386"/>
                </a:solidFill>
                <a:latin typeface="Roboto Black" panose="02000000000000000000" pitchFamily="2" charset="0"/>
                <a:ea typeface="Roboto Black" panose="02000000000000000000" pitchFamily="2" charset="0"/>
              </a:rPr>
              <a:t>All antidepressants may increase risk of suicide</a:t>
            </a:r>
          </a:p>
        </p:txBody>
      </p:sp>
    </p:spTree>
    <p:extLst>
      <p:ext uri="{BB962C8B-B14F-4D97-AF65-F5344CB8AC3E}">
        <p14:creationId xmlns:p14="http://schemas.microsoft.com/office/powerpoint/2010/main" val="12772589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CF3A8-FB2C-49D6-8E6E-4B6DDA336106}"/>
              </a:ext>
            </a:extLst>
          </p:cNvPr>
          <p:cNvSpPr>
            <a:spLocks noGrp="1"/>
          </p:cNvSpPr>
          <p:nvPr>
            <p:ph type="title"/>
          </p:nvPr>
        </p:nvSpPr>
        <p:spPr/>
        <p:txBody>
          <a:bodyPr/>
          <a:lstStyle/>
          <a:p>
            <a:pPr algn="ctr"/>
            <a:r>
              <a:rPr lang="en-AU" b="1" dirty="0">
                <a:solidFill>
                  <a:srgbClr val="3A7386"/>
                </a:solidFill>
                <a:latin typeface="Roboto Black" panose="02000000000000000000" pitchFamily="2" charset="0"/>
                <a:ea typeface="Roboto Black" panose="02000000000000000000" pitchFamily="2" charset="0"/>
              </a:rPr>
              <a:t>Atypical antidepressants</a:t>
            </a:r>
          </a:p>
        </p:txBody>
      </p:sp>
      <p:sp>
        <p:nvSpPr>
          <p:cNvPr id="3" name="Content Placeholder 2">
            <a:extLst>
              <a:ext uri="{FF2B5EF4-FFF2-40B4-BE49-F238E27FC236}">
                <a16:creationId xmlns:a16="http://schemas.microsoft.com/office/drawing/2014/main" id="{ED6D58FC-AD93-4EA9-9C61-6E300B10AC1A}"/>
              </a:ext>
            </a:extLst>
          </p:cNvPr>
          <p:cNvSpPr>
            <a:spLocks noGrp="1"/>
          </p:cNvSpPr>
          <p:nvPr>
            <p:ph idx="1"/>
          </p:nvPr>
        </p:nvSpPr>
        <p:spPr/>
        <p:txBody>
          <a:bodyPr>
            <a:normAutofit fontScale="92500" lnSpcReduction="10000"/>
          </a:bodyPr>
          <a:lstStyle/>
          <a:p>
            <a:pPr marL="0" indent="0">
              <a:buNone/>
            </a:pPr>
            <a:r>
              <a:rPr lang="en-AU" b="1" dirty="0">
                <a:solidFill>
                  <a:srgbClr val="3A7386"/>
                </a:solidFill>
                <a:latin typeface="Roboto Black" panose="02000000000000000000" pitchFamily="2" charset="0"/>
                <a:ea typeface="Roboto Black" panose="02000000000000000000" pitchFamily="2" charset="0"/>
              </a:rPr>
              <a:t>*Bupropion* and *Trazodone* are atypical antidepressants. </a:t>
            </a:r>
          </a:p>
          <a:p>
            <a:pPr marL="0" indent="0">
              <a:buNone/>
            </a:pPr>
            <a:r>
              <a:rPr lang="en-AU" dirty="0">
                <a:solidFill>
                  <a:srgbClr val="3A7386"/>
                </a:solidFill>
                <a:latin typeface="Roboto Black" panose="02000000000000000000" pitchFamily="2" charset="0"/>
                <a:ea typeface="Roboto Black" panose="02000000000000000000" pitchFamily="2" charset="0"/>
              </a:rPr>
              <a:t>Bupropion is a weak noradrenaline and dopamine inhibitor </a:t>
            </a:r>
          </a:p>
          <a:p>
            <a:r>
              <a:rPr lang="en-AU" dirty="0">
                <a:solidFill>
                  <a:srgbClr val="3A7386"/>
                </a:solidFill>
                <a:latin typeface="Roboto Black" panose="02000000000000000000" pitchFamily="2" charset="0"/>
                <a:ea typeface="Roboto Black" panose="02000000000000000000" pitchFamily="2" charset="0"/>
              </a:rPr>
              <a:t>Does not cause sexual dysfunction, weight gain or sleepiness</a:t>
            </a:r>
          </a:p>
          <a:p>
            <a:r>
              <a:rPr lang="en-AU" dirty="0">
                <a:solidFill>
                  <a:srgbClr val="3A7386"/>
                </a:solidFill>
                <a:latin typeface="Roboto Black" panose="02000000000000000000" pitchFamily="2" charset="0"/>
                <a:ea typeface="Roboto Black" panose="02000000000000000000" pitchFamily="2" charset="0"/>
              </a:rPr>
              <a:t>Can be used as an add-on to SSRIs </a:t>
            </a:r>
          </a:p>
          <a:p>
            <a:r>
              <a:rPr lang="en-AU" dirty="0">
                <a:solidFill>
                  <a:srgbClr val="3A7386"/>
                </a:solidFill>
                <a:latin typeface="Roboto Black" panose="02000000000000000000" pitchFamily="2" charset="0"/>
                <a:ea typeface="Roboto Black" panose="02000000000000000000" pitchFamily="2" charset="0"/>
              </a:rPr>
              <a:t>Is effective for reducing nicotine cravings </a:t>
            </a:r>
          </a:p>
          <a:p>
            <a:pPr marL="0" indent="0">
              <a:buNone/>
            </a:pPr>
            <a:r>
              <a:rPr lang="en-AU" dirty="0">
                <a:solidFill>
                  <a:srgbClr val="3A7386"/>
                </a:solidFill>
                <a:latin typeface="Roboto Black" panose="02000000000000000000" pitchFamily="2" charset="0"/>
                <a:ea typeface="Roboto Black" panose="02000000000000000000" pitchFamily="2" charset="0"/>
              </a:rPr>
              <a:t>Trazodone blocks the reuptake of serotonin but it also blocks the postsynaptic serotonin receptors of subtype 2 A which are thought to contribute to depression. </a:t>
            </a:r>
          </a:p>
          <a:p>
            <a:r>
              <a:rPr lang="en-AU" dirty="0">
                <a:solidFill>
                  <a:srgbClr val="3A7386"/>
                </a:solidFill>
                <a:latin typeface="Roboto Black" panose="02000000000000000000" pitchFamily="2" charset="0"/>
                <a:ea typeface="Roboto Black" panose="02000000000000000000" pitchFamily="2" charset="0"/>
              </a:rPr>
              <a:t>Indicated for depression, alcohol withdrawals and anxiety disorders</a:t>
            </a:r>
          </a:p>
          <a:p>
            <a:r>
              <a:rPr lang="en-AU" dirty="0">
                <a:solidFill>
                  <a:srgbClr val="3A7386"/>
                </a:solidFill>
                <a:latin typeface="Roboto Black" panose="02000000000000000000" pitchFamily="2" charset="0"/>
                <a:ea typeface="Roboto Black" panose="02000000000000000000" pitchFamily="2" charset="0"/>
              </a:rPr>
              <a:t>Doesn’t have anticholinergic effects</a:t>
            </a:r>
          </a:p>
          <a:p>
            <a:pPr marL="0" indent="0">
              <a:buNone/>
            </a:pPr>
            <a:endParaRPr lang="en-AU" dirty="0"/>
          </a:p>
        </p:txBody>
      </p:sp>
    </p:spTree>
    <p:extLst>
      <p:ext uri="{BB962C8B-B14F-4D97-AF65-F5344CB8AC3E}">
        <p14:creationId xmlns:p14="http://schemas.microsoft.com/office/powerpoint/2010/main" val="41765509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3600" b="1" dirty="0">
                <a:solidFill>
                  <a:srgbClr val="3A7386"/>
                </a:solidFill>
                <a:latin typeface="Roboto Black" panose="02000000000000000000" pitchFamily="2" charset="0"/>
                <a:ea typeface="Roboto Black" panose="02000000000000000000" pitchFamily="2" charset="0"/>
              </a:rPr>
              <a:t>Bipolar disorder (manic-depressive)</a:t>
            </a:r>
          </a:p>
        </p:txBody>
      </p:sp>
      <p:sp>
        <p:nvSpPr>
          <p:cNvPr id="3" name="Content Placeholder 2"/>
          <p:cNvSpPr>
            <a:spLocks noGrp="1"/>
          </p:cNvSpPr>
          <p:nvPr>
            <p:ph sz="quarter" idx="1"/>
          </p:nvPr>
        </p:nvSpPr>
        <p:spPr/>
        <p:txBody>
          <a:bodyPr>
            <a:normAutofit/>
          </a:bodyPr>
          <a:lstStyle/>
          <a:p>
            <a:r>
              <a:rPr lang="en-AU" dirty="0">
                <a:solidFill>
                  <a:srgbClr val="3A7386"/>
                </a:solidFill>
                <a:latin typeface="Roboto Black" panose="02000000000000000000" pitchFamily="2" charset="0"/>
                <a:ea typeface="Roboto Black" panose="02000000000000000000" pitchFamily="2" charset="0"/>
              </a:rPr>
              <a:t>Alternates between mania (euphoria) and depression</a:t>
            </a:r>
          </a:p>
          <a:p>
            <a:r>
              <a:rPr lang="en-AU" dirty="0">
                <a:solidFill>
                  <a:srgbClr val="3A7386"/>
                </a:solidFill>
                <a:latin typeface="Roboto Black" panose="02000000000000000000" pitchFamily="2" charset="0"/>
                <a:ea typeface="Roboto Black" panose="02000000000000000000" pitchFamily="2" charset="0"/>
              </a:rPr>
              <a:t>Note that mania is the opposite to depression and is </a:t>
            </a:r>
            <a:r>
              <a:rPr lang="en-AU" b="1" dirty="0">
                <a:solidFill>
                  <a:srgbClr val="3A7386"/>
                </a:solidFill>
                <a:latin typeface="Roboto Black" panose="02000000000000000000" pitchFamily="2" charset="0"/>
                <a:ea typeface="Roboto Black" panose="02000000000000000000" pitchFamily="2" charset="0"/>
              </a:rPr>
              <a:t>not another term for extreme or acute</a:t>
            </a:r>
          </a:p>
          <a:p>
            <a:r>
              <a:rPr lang="en-AU" b="1" dirty="0">
                <a:solidFill>
                  <a:srgbClr val="3A7386"/>
                </a:solidFill>
                <a:latin typeface="Roboto Black" panose="02000000000000000000" pitchFamily="2" charset="0"/>
                <a:ea typeface="Roboto Black" panose="02000000000000000000" pitchFamily="2" charset="0"/>
              </a:rPr>
              <a:t>Treatment: </a:t>
            </a:r>
          </a:p>
          <a:p>
            <a:pPr lvl="1"/>
            <a:r>
              <a:rPr lang="en-AU" sz="2300" b="1" dirty="0">
                <a:solidFill>
                  <a:srgbClr val="3A7386"/>
                </a:solidFill>
                <a:latin typeface="Roboto Black" panose="02000000000000000000" pitchFamily="2" charset="0"/>
                <a:ea typeface="Roboto Black" panose="02000000000000000000" pitchFamily="2" charset="0"/>
              </a:rPr>
              <a:t>Lithium carbonate</a:t>
            </a:r>
            <a:r>
              <a:rPr lang="en-AU" sz="2300" dirty="0">
                <a:solidFill>
                  <a:srgbClr val="3A7386"/>
                </a:solidFill>
                <a:latin typeface="Roboto Black" panose="02000000000000000000" pitchFamily="2" charset="0"/>
                <a:ea typeface="Roboto Black" panose="02000000000000000000" pitchFamily="2" charset="0"/>
              </a:rPr>
              <a:t>, </a:t>
            </a:r>
          </a:p>
          <a:p>
            <a:pPr lvl="1"/>
            <a:r>
              <a:rPr lang="en-AU" sz="2300" dirty="0">
                <a:solidFill>
                  <a:srgbClr val="3A7386"/>
                </a:solidFill>
                <a:latin typeface="Roboto Black" panose="02000000000000000000" pitchFamily="2" charset="0"/>
                <a:ea typeface="Roboto Black" panose="02000000000000000000" pitchFamily="2" charset="0"/>
              </a:rPr>
              <a:t>The </a:t>
            </a:r>
            <a:r>
              <a:rPr lang="en-AU" sz="2300" dirty="0" err="1">
                <a:solidFill>
                  <a:srgbClr val="3A7386"/>
                </a:solidFill>
                <a:latin typeface="Roboto Black" panose="02000000000000000000" pitchFamily="2" charset="0"/>
                <a:ea typeface="Roboto Black" panose="02000000000000000000" pitchFamily="2" charset="0"/>
              </a:rPr>
              <a:t>antiseizure</a:t>
            </a:r>
            <a:r>
              <a:rPr lang="en-AU" sz="2300" dirty="0">
                <a:solidFill>
                  <a:srgbClr val="3A7386"/>
                </a:solidFill>
                <a:latin typeface="Roboto Black" panose="02000000000000000000" pitchFamily="2" charset="0"/>
                <a:ea typeface="Roboto Black" panose="02000000000000000000" pitchFamily="2" charset="0"/>
              </a:rPr>
              <a:t> agents (</a:t>
            </a:r>
            <a:r>
              <a:rPr lang="en-AU" sz="2300" b="1" dirty="0">
                <a:solidFill>
                  <a:srgbClr val="3A7386"/>
                </a:solidFill>
                <a:latin typeface="Roboto Black" panose="02000000000000000000" pitchFamily="2" charset="0"/>
                <a:ea typeface="Roboto Black" panose="02000000000000000000" pitchFamily="2" charset="0"/>
              </a:rPr>
              <a:t>carbamazepine</a:t>
            </a:r>
            <a:r>
              <a:rPr lang="en-AU" sz="2300" dirty="0">
                <a:solidFill>
                  <a:srgbClr val="3A7386"/>
                </a:solidFill>
                <a:latin typeface="Roboto Black" panose="02000000000000000000" pitchFamily="2" charset="0"/>
                <a:ea typeface="Roboto Black" panose="02000000000000000000" pitchFamily="2" charset="0"/>
              </a:rPr>
              <a:t>, </a:t>
            </a:r>
            <a:r>
              <a:rPr lang="en-AU" sz="2300" b="1" dirty="0">
                <a:solidFill>
                  <a:srgbClr val="3A7386"/>
                </a:solidFill>
                <a:latin typeface="Roboto Black" panose="02000000000000000000" pitchFamily="2" charset="0"/>
                <a:ea typeface="Roboto Black" panose="02000000000000000000" pitchFamily="2" charset="0"/>
              </a:rPr>
              <a:t>sodium valproate</a:t>
            </a:r>
            <a:r>
              <a:rPr lang="en-AU" sz="2300" dirty="0">
                <a:solidFill>
                  <a:srgbClr val="3A7386"/>
                </a:solidFill>
                <a:latin typeface="Roboto Black" panose="02000000000000000000" pitchFamily="2" charset="0"/>
                <a:ea typeface="Roboto Black" panose="02000000000000000000" pitchFamily="2" charset="0"/>
              </a:rPr>
              <a:t>, </a:t>
            </a:r>
            <a:r>
              <a:rPr lang="en-AU" sz="2300" b="1" dirty="0">
                <a:solidFill>
                  <a:srgbClr val="3A7386"/>
                </a:solidFill>
                <a:latin typeface="Roboto Black" panose="02000000000000000000" pitchFamily="2" charset="0"/>
                <a:ea typeface="Roboto Black" panose="02000000000000000000" pitchFamily="2" charset="0"/>
              </a:rPr>
              <a:t>lamotrigine </a:t>
            </a:r>
            <a:r>
              <a:rPr lang="en-AU" sz="2300" dirty="0">
                <a:solidFill>
                  <a:srgbClr val="3A7386"/>
                </a:solidFill>
                <a:latin typeface="Roboto Black" panose="02000000000000000000" pitchFamily="2" charset="0"/>
                <a:ea typeface="Roboto Black" panose="02000000000000000000" pitchFamily="2" charset="0"/>
              </a:rPr>
              <a:t>and </a:t>
            </a:r>
            <a:r>
              <a:rPr lang="en-AU" sz="2300" b="1" dirty="0">
                <a:solidFill>
                  <a:srgbClr val="3A7386"/>
                </a:solidFill>
                <a:latin typeface="Roboto Black" panose="02000000000000000000" pitchFamily="2" charset="0"/>
                <a:ea typeface="Roboto Black" panose="02000000000000000000" pitchFamily="2" charset="0"/>
              </a:rPr>
              <a:t>clonazepam</a:t>
            </a:r>
            <a:r>
              <a:rPr lang="en-AU" sz="2300" dirty="0">
                <a:solidFill>
                  <a:srgbClr val="3A7386"/>
                </a:solidFill>
                <a:latin typeface="Roboto Black" panose="02000000000000000000" pitchFamily="2" charset="0"/>
                <a:ea typeface="Roboto Black" panose="02000000000000000000" pitchFamily="2" charset="0"/>
              </a:rPr>
              <a:t>)</a:t>
            </a:r>
          </a:p>
          <a:p>
            <a:pPr lvl="1"/>
            <a:r>
              <a:rPr lang="en-AU" sz="2300" dirty="0">
                <a:solidFill>
                  <a:srgbClr val="3A7386"/>
                </a:solidFill>
                <a:latin typeface="Roboto Black" panose="02000000000000000000" pitchFamily="2" charset="0"/>
                <a:ea typeface="Roboto Black" panose="02000000000000000000" pitchFamily="2" charset="0"/>
              </a:rPr>
              <a:t>Second generation antipsychotic agents </a:t>
            </a:r>
            <a:r>
              <a:rPr lang="en-AU" sz="2300" b="1" dirty="0">
                <a:solidFill>
                  <a:srgbClr val="3A7386"/>
                </a:solidFill>
                <a:latin typeface="Roboto Black" panose="02000000000000000000" pitchFamily="2" charset="0"/>
                <a:ea typeface="Roboto Black" panose="02000000000000000000" pitchFamily="2" charset="0"/>
              </a:rPr>
              <a:t>olanzapine</a:t>
            </a:r>
            <a:r>
              <a:rPr lang="en-AU" sz="2300" dirty="0">
                <a:solidFill>
                  <a:srgbClr val="3A7386"/>
                </a:solidFill>
                <a:latin typeface="Roboto Black" panose="02000000000000000000" pitchFamily="2" charset="0"/>
                <a:ea typeface="Roboto Black" panose="02000000000000000000" pitchFamily="2" charset="0"/>
              </a:rPr>
              <a:t>, </a:t>
            </a:r>
            <a:r>
              <a:rPr lang="en-AU" sz="2300" b="1" dirty="0">
                <a:solidFill>
                  <a:srgbClr val="3A7386"/>
                </a:solidFill>
                <a:latin typeface="Roboto Black" panose="02000000000000000000" pitchFamily="2" charset="0"/>
                <a:ea typeface="Roboto Black" panose="02000000000000000000" pitchFamily="2" charset="0"/>
              </a:rPr>
              <a:t>quetiapine</a:t>
            </a:r>
            <a:r>
              <a:rPr lang="en-AU" sz="2300" dirty="0">
                <a:solidFill>
                  <a:srgbClr val="3A7386"/>
                </a:solidFill>
                <a:latin typeface="Roboto Black" panose="02000000000000000000" pitchFamily="2" charset="0"/>
                <a:ea typeface="Roboto Black" panose="02000000000000000000" pitchFamily="2" charset="0"/>
              </a:rPr>
              <a:t>, </a:t>
            </a:r>
            <a:r>
              <a:rPr lang="en-AU" sz="2300" b="1" dirty="0" err="1">
                <a:solidFill>
                  <a:srgbClr val="3A7386"/>
                </a:solidFill>
                <a:latin typeface="Roboto Black" panose="02000000000000000000" pitchFamily="2" charset="0"/>
                <a:ea typeface="Roboto Black" panose="02000000000000000000" pitchFamily="2" charset="0"/>
              </a:rPr>
              <a:t>asenapine</a:t>
            </a:r>
            <a:r>
              <a:rPr lang="en-AU" sz="2300" dirty="0">
                <a:solidFill>
                  <a:srgbClr val="3A7386"/>
                </a:solidFill>
                <a:latin typeface="Roboto Black" panose="02000000000000000000" pitchFamily="2" charset="0"/>
                <a:ea typeface="Roboto Black" panose="02000000000000000000" pitchFamily="2" charset="0"/>
              </a:rPr>
              <a:t>, </a:t>
            </a:r>
            <a:r>
              <a:rPr lang="en-AU" sz="2300" b="1" dirty="0" err="1">
                <a:solidFill>
                  <a:srgbClr val="3A7386"/>
                </a:solidFill>
                <a:latin typeface="Roboto Black" panose="02000000000000000000" pitchFamily="2" charset="0"/>
                <a:ea typeface="Roboto Black" panose="02000000000000000000" pitchFamily="2" charset="0"/>
              </a:rPr>
              <a:t>risperidone</a:t>
            </a:r>
            <a:r>
              <a:rPr lang="en-AU" sz="2300" b="1" dirty="0">
                <a:solidFill>
                  <a:srgbClr val="3A7386"/>
                </a:solidFill>
                <a:latin typeface="Roboto Black" panose="02000000000000000000" pitchFamily="2" charset="0"/>
                <a:ea typeface="Roboto Black" panose="02000000000000000000" pitchFamily="2" charset="0"/>
              </a:rPr>
              <a:t> </a:t>
            </a:r>
            <a:r>
              <a:rPr lang="en-AU" sz="2300" dirty="0">
                <a:solidFill>
                  <a:srgbClr val="3A7386"/>
                </a:solidFill>
                <a:latin typeface="Roboto Black" panose="02000000000000000000" pitchFamily="2" charset="0"/>
                <a:ea typeface="Roboto Black" panose="02000000000000000000" pitchFamily="2" charset="0"/>
              </a:rPr>
              <a:t>or </a:t>
            </a:r>
            <a:r>
              <a:rPr lang="en-AU" sz="2300" b="1" dirty="0" err="1">
                <a:solidFill>
                  <a:srgbClr val="3A7386"/>
                </a:solidFill>
                <a:latin typeface="Roboto Black" panose="02000000000000000000" pitchFamily="2" charset="0"/>
                <a:ea typeface="Roboto Black" panose="02000000000000000000" pitchFamily="2" charset="0"/>
              </a:rPr>
              <a:t>ziprasidone</a:t>
            </a:r>
            <a:r>
              <a:rPr lang="en-AU" sz="2300" b="1" dirty="0">
                <a:solidFill>
                  <a:srgbClr val="3A7386"/>
                </a:solidFill>
                <a:latin typeface="Roboto Black" panose="02000000000000000000" pitchFamily="2" charset="0"/>
                <a:ea typeface="Roboto Black" panose="02000000000000000000" pitchFamily="2" charset="0"/>
              </a:rPr>
              <a:t>.</a:t>
            </a:r>
            <a:endParaRPr lang="en-AU" b="1" dirty="0">
              <a:solidFill>
                <a:srgbClr val="3A7386"/>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30853957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4000" b="1" dirty="0">
                <a:solidFill>
                  <a:srgbClr val="3A7386"/>
                </a:solidFill>
                <a:latin typeface="Roboto Black" panose="02000000000000000000" pitchFamily="2" charset="0"/>
                <a:ea typeface="Roboto Black" panose="02000000000000000000" pitchFamily="2" charset="0"/>
              </a:rPr>
              <a:t>Lithium carbonate</a:t>
            </a:r>
          </a:p>
        </p:txBody>
      </p:sp>
      <p:sp>
        <p:nvSpPr>
          <p:cNvPr id="3" name="Content Placeholder 2"/>
          <p:cNvSpPr>
            <a:spLocks noGrp="1"/>
          </p:cNvSpPr>
          <p:nvPr>
            <p:ph sz="quarter" idx="1"/>
          </p:nvPr>
        </p:nvSpPr>
        <p:spPr>
          <a:xfrm>
            <a:off x="838200" y="1690688"/>
            <a:ext cx="10622279" cy="5430344"/>
          </a:xfrm>
        </p:spPr>
        <p:txBody>
          <a:bodyPr>
            <a:noAutofit/>
          </a:bodyPr>
          <a:lstStyle/>
          <a:p>
            <a:r>
              <a:rPr lang="en-AU" sz="2400" dirty="0">
                <a:solidFill>
                  <a:srgbClr val="3A7386"/>
                </a:solidFill>
                <a:latin typeface="Roboto Black" panose="02000000000000000000" pitchFamily="2" charset="0"/>
                <a:ea typeface="Roboto Black" panose="02000000000000000000" pitchFamily="2" charset="0"/>
              </a:rPr>
              <a:t>Lithium carbonate is the first-line therapy  for the treatment and prevention of acute mania. It is a mood stabilizer. </a:t>
            </a:r>
          </a:p>
          <a:p>
            <a:endParaRPr lang="en-AU" sz="2400" dirty="0">
              <a:solidFill>
                <a:srgbClr val="3A7386"/>
              </a:solidFill>
              <a:latin typeface="Roboto Black" panose="02000000000000000000" pitchFamily="2" charset="0"/>
              <a:ea typeface="Roboto Black" panose="02000000000000000000" pitchFamily="2" charset="0"/>
            </a:endParaRPr>
          </a:p>
          <a:p>
            <a:pPr marL="0" indent="0">
              <a:buNone/>
            </a:pPr>
            <a:r>
              <a:rPr lang="en-AU" sz="2400" b="1" dirty="0">
                <a:solidFill>
                  <a:srgbClr val="3A7386"/>
                </a:solidFill>
                <a:latin typeface="Roboto Black" panose="02000000000000000000" pitchFamily="2" charset="0"/>
                <a:ea typeface="Roboto Black" panose="02000000000000000000" pitchFamily="2" charset="0"/>
              </a:rPr>
              <a:t>Adverse effects </a:t>
            </a:r>
            <a:endParaRPr lang="en-AU" sz="2400" dirty="0">
              <a:solidFill>
                <a:srgbClr val="3A7386"/>
              </a:solidFill>
              <a:latin typeface="Roboto Black" panose="02000000000000000000" pitchFamily="2" charset="0"/>
              <a:ea typeface="Roboto Black" panose="02000000000000000000" pitchFamily="2" charset="0"/>
            </a:endParaRPr>
          </a:p>
          <a:p>
            <a:r>
              <a:rPr lang="en-AU" sz="2400" dirty="0">
                <a:solidFill>
                  <a:srgbClr val="3A7386"/>
                </a:solidFill>
                <a:latin typeface="Roboto Black" panose="02000000000000000000" pitchFamily="2" charset="0"/>
                <a:ea typeface="Roboto Black" panose="02000000000000000000" pitchFamily="2" charset="0"/>
              </a:rPr>
              <a:t>Gastrointestinal irritation, tremor, muscle weakness and polyuria... </a:t>
            </a:r>
          </a:p>
          <a:p>
            <a:r>
              <a:rPr lang="en-AU" sz="2400" dirty="0">
                <a:solidFill>
                  <a:srgbClr val="3A7386"/>
                </a:solidFill>
                <a:latin typeface="Roboto Black" panose="02000000000000000000" pitchFamily="2" charset="0"/>
                <a:ea typeface="Roboto Black" panose="02000000000000000000" pitchFamily="2" charset="0"/>
              </a:rPr>
              <a:t>Lithium has a </a:t>
            </a:r>
            <a:r>
              <a:rPr lang="en-AU" sz="2400" dirty="0">
                <a:solidFill>
                  <a:srgbClr val="FF0000"/>
                </a:solidFill>
                <a:latin typeface="Roboto Black" panose="02000000000000000000" pitchFamily="2" charset="0"/>
                <a:ea typeface="Roboto Black" panose="02000000000000000000" pitchFamily="2" charset="0"/>
              </a:rPr>
              <a:t>very narrow therapeutic range</a:t>
            </a:r>
            <a:r>
              <a:rPr lang="en-AU" sz="2400" dirty="0">
                <a:solidFill>
                  <a:srgbClr val="3A7386"/>
                </a:solidFill>
                <a:latin typeface="Roboto Black" panose="02000000000000000000" pitchFamily="2" charset="0"/>
                <a:ea typeface="Roboto Black" panose="02000000000000000000" pitchFamily="2" charset="0"/>
              </a:rPr>
              <a:t>. Toxicity results in exacerbation of above plus cardiac dysrhythmias, convulsions and renal failure.  </a:t>
            </a:r>
          </a:p>
          <a:p>
            <a:r>
              <a:rPr lang="en-AU" sz="2400" dirty="0">
                <a:solidFill>
                  <a:srgbClr val="3A7386"/>
                </a:solidFill>
                <a:latin typeface="Roboto Black" panose="02000000000000000000" pitchFamily="2" charset="0"/>
                <a:ea typeface="Roboto Black" panose="02000000000000000000" pitchFamily="2" charset="0"/>
              </a:rPr>
              <a:t>Plasma concentrations to be monitored closely</a:t>
            </a:r>
          </a:p>
          <a:p>
            <a:endParaRPr lang="en-AU" sz="2400" dirty="0">
              <a:solidFill>
                <a:srgbClr val="3A7386"/>
              </a:solidFill>
              <a:latin typeface="Roboto Black" panose="02000000000000000000" pitchFamily="2" charset="0"/>
              <a:ea typeface="Roboto Black" panose="02000000000000000000" pitchFamily="2" charset="0"/>
            </a:endParaRPr>
          </a:p>
          <a:p>
            <a:pPr marL="0" indent="0" algn="ctr">
              <a:buNone/>
            </a:pPr>
            <a:r>
              <a:rPr lang="en-AU" sz="2400" dirty="0">
                <a:solidFill>
                  <a:srgbClr val="FF0000"/>
                </a:solidFill>
                <a:latin typeface="Roboto Black" panose="02000000000000000000" pitchFamily="2" charset="0"/>
                <a:ea typeface="Roboto Black" panose="02000000000000000000" pitchFamily="2" charset="0"/>
              </a:rPr>
              <a:t>Drink plenty of water, check lithium and UEC levels frequently, do not consume other nephrotoxic agents</a:t>
            </a:r>
          </a:p>
        </p:txBody>
      </p:sp>
    </p:spTree>
    <p:extLst>
      <p:ext uri="{BB962C8B-B14F-4D97-AF65-F5344CB8AC3E}">
        <p14:creationId xmlns:p14="http://schemas.microsoft.com/office/powerpoint/2010/main" val="41689815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5D0B708-458D-46A5-B22B-72B13CB6746C}"/>
              </a:ext>
            </a:extLst>
          </p:cNvPr>
          <p:cNvSpPr>
            <a:spLocks noGrp="1"/>
          </p:cNvSpPr>
          <p:nvPr>
            <p:ph type="body" sz="quarter" idx="17"/>
          </p:nvPr>
        </p:nvSpPr>
        <p:spPr>
          <a:xfrm>
            <a:off x="664028" y="1362518"/>
            <a:ext cx="8257903" cy="573088"/>
          </a:xfrm>
        </p:spPr>
        <p:txBody>
          <a:bodyPr/>
          <a:lstStyle/>
          <a:p>
            <a:r>
              <a:rPr lang="en-AU" altLang="en-US" sz="4000" dirty="0">
                <a:solidFill>
                  <a:srgbClr val="3A7386"/>
                </a:solidFill>
                <a:latin typeface="Roboto Black" panose="02000000000000000000" pitchFamily="2" charset="0"/>
                <a:ea typeface="Roboto Black" panose="02000000000000000000" pitchFamily="2" charset="0"/>
                <a:cs typeface="Arial" panose="020B0604020202020204" pitchFamily="34" charset="0"/>
              </a:rPr>
              <a:t>Psychotropic medications: Part 4</a:t>
            </a:r>
          </a:p>
          <a:p>
            <a:r>
              <a:rPr lang="en-AU" sz="4000" dirty="0">
                <a:solidFill>
                  <a:srgbClr val="3A7386"/>
                </a:solidFill>
                <a:latin typeface="Roboto Black" panose="02000000000000000000" pitchFamily="2" charset="0"/>
                <a:ea typeface="Roboto Black" panose="02000000000000000000" pitchFamily="2" charset="0"/>
                <a:cs typeface="Arial" panose="020B0604020202020204" pitchFamily="34" charset="0"/>
              </a:rPr>
              <a:t>Antipsychotics</a:t>
            </a:r>
          </a:p>
        </p:txBody>
      </p:sp>
      <p:sp>
        <p:nvSpPr>
          <p:cNvPr id="4" name="Text Placeholder 3">
            <a:extLst>
              <a:ext uri="{FF2B5EF4-FFF2-40B4-BE49-F238E27FC236}">
                <a16:creationId xmlns:a16="http://schemas.microsoft.com/office/drawing/2014/main" id="{68A38FD6-D3C0-47AA-B8A4-4AC2507C115F}"/>
              </a:ext>
            </a:extLst>
          </p:cNvPr>
          <p:cNvSpPr>
            <a:spLocks noGrp="1"/>
          </p:cNvSpPr>
          <p:nvPr>
            <p:ph type="body" sz="quarter" idx="18"/>
          </p:nvPr>
        </p:nvSpPr>
        <p:spPr/>
        <p:txBody>
          <a:bodyPr/>
          <a:lstStyle/>
          <a:p>
            <a:r>
              <a:rPr lang="en-AU" sz="1400" b="1" dirty="0">
                <a:solidFill>
                  <a:srgbClr val="3A7386"/>
                </a:solidFill>
                <a:latin typeface="Arial" panose="020B0604020202020204" pitchFamily="34" charset="0"/>
                <a:ea typeface="Roboto" panose="02000000000000000000" pitchFamily="2" charset="0"/>
                <a:cs typeface="Arial" panose="020B0604020202020204" pitchFamily="34" charset="0"/>
              </a:rPr>
              <a:t>Dr Ken Wojcikowski</a:t>
            </a:r>
          </a:p>
        </p:txBody>
      </p:sp>
    </p:spTree>
    <p:extLst>
      <p:ext uri="{BB962C8B-B14F-4D97-AF65-F5344CB8AC3E}">
        <p14:creationId xmlns:p14="http://schemas.microsoft.com/office/powerpoint/2010/main" val="33776478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766218"/>
            <a:ext cx="10515600" cy="1325563"/>
          </a:xfrm>
        </p:spPr>
        <p:txBody>
          <a:bodyPr/>
          <a:lstStyle/>
          <a:p>
            <a:pPr algn="ctr"/>
            <a:r>
              <a:rPr lang="en-AU" b="1" dirty="0">
                <a:solidFill>
                  <a:schemeClr val="bg1"/>
                </a:solidFill>
                <a:latin typeface="Arial" panose="020B0604020202020204" pitchFamily="34" charset="0"/>
                <a:cs typeface="Arial" panose="020B0604020202020204" pitchFamily="34" charset="0"/>
              </a:rPr>
              <a:t>Antipsychotics </a:t>
            </a:r>
          </a:p>
        </p:txBody>
      </p:sp>
      <p:pic>
        <p:nvPicPr>
          <p:cNvPr id="7" name="Picture 6">
            <a:extLst>
              <a:ext uri="{FF2B5EF4-FFF2-40B4-BE49-F238E27FC236}">
                <a16:creationId xmlns:a16="http://schemas.microsoft.com/office/drawing/2014/main" id="{26DBFC34-EA55-4021-846E-87068C8820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438" y="289933"/>
            <a:ext cx="11161123" cy="6278132"/>
          </a:xfrm>
          <a:prstGeom prst="rect">
            <a:avLst/>
          </a:prstGeom>
        </p:spPr>
      </p:pic>
      <p:sp>
        <p:nvSpPr>
          <p:cNvPr id="2" name="Rectangle 1">
            <a:extLst>
              <a:ext uri="{FF2B5EF4-FFF2-40B4-BE49-F238E27FC236}">
                <a16:creationId xmlns:a16="http://schemas.microsoft.com/office/drawing/2014/main" id="{FEEDDF48-5A30-4FE8-9ECE-BDC4791C3C7A}"/>
              </a:ext>
            </a:extLst>
          </p:cNvPr>
          <p:cNvSpPr/>
          <p:nvPr/>
        </p:nvSpPr>
        <p:spPr>
          <a:xfrm>
            <a:off x="792013" y="1437729"/>
            <a:ext cx="2271776" cy="369332"/>
          </a:xfrm>
          <a:prstGeom prst="rect">
            <a:avLst/>
          </a:prstGeom>
        </p:spPr>
        <p:txBody>
          <a:bodyPr wrap="none">
            <a:spAutoFit/>
          </a:bodyPr>
          <a:lstStyle/>
          <a:p>
            <a:r>
              <a:rPr lang="en-AU" b="1" dirty="0">
                <a:solidFill>
                  <a:schemeClr val="bg1"/>
                </a:solidFill>
                <a:latin typeface="Roboto Black" panose="02000000000000000000" pitchFamily="2" charset="0"/>
                <a:ea typeface="Roboto Black" panose="02000000000000000000" pitchFamily="2" charset="0"/>
              </a:rPr>
              <a:t>General information</a:t>
            </a:r>
            <a:endParaRPr lang="en-AU" dirty="0">
              <a:solidFill>
                <a:schemeClr val="bg1"/>
              </a:solidFill>
            </a:endParaRPr>
          </a:p>
        </p:txBody>
      </p:sp>
    </p:spTree>
    <p:extLst>
      <p:ext uri="{BB962C8B-B14F-4D97-AF65-F5344CB8AC3E}">
        <p14:creationId xmlns:p14="http://schemas.microsoft.com/office/powerpoint/2010/main" val="1530962616"/>
      </p:ext>
    </p:extLst>
  </p:cSld>
  <p:clrMapOvr>
    <a:masterClrMapping/>
  </p:clrMapOvr>
  <p:transition>
    <p:cut thruBlk="1"/>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5752" y="365792"/>
            <a:ext cx="8534400" cy="758952"/>
          </a:xfrm>
        </p:spPr>
        <p:txBody>
          <a:bodyPr>
            <a:noAutofit/>
          </a:bodyPr>
          <a:lstStyle/>
          <a:p>
            <a:pPr algn="ctr"/>
            <a:r>
              <a:rPr lang="en-AU" sz="4000" b="1" dirty="0">
                <a:solidFill>
                  <a:srgbClr val="3A7386"/>
                </a:solidFill>
                <a:latin typeface="Roboto Black" panose="02000000000000000000" pitchFamily="2" charset="0"/>
                <a:ea typeface="Roboto Black" panose="02000000000000000000" pitchFamily="2" charset="0"/>
              </a:rPr>
              <a:t>Objectives for Part 4: </a:t>
            </a:r>
            <a:br>
              <a:rPr lang="en-AU" sz="4000" b="1" dirty="0">
                <a:solidFill>
                  <a:srgbClr val="3A7386"/>
                </a:solidFill>
                <a:latin typeface="Roboto Black" panose="02000000000000000000" pitchFamily="2" charset="0"/>
                <a:ea typeface="Roboto Black" panose="02000000000000000000" pitchFamily="2" charset="0"/>
              </a:rPr>
            </a:br>
            <a:r>
              <a:rPr lang="en-AU" sz="4000" b="1" dirty="0">
                <a:solidFill>
                  <a:srgbClr val="3A7386"/>
                </a:solidFill>
                <a:latin typeface="Roboto Black" panose="02000000000000000000" pitchFamily="2" charset="0"/>
                <a:ea typeface="Roboto Black" panose="02000000000000000000" pitchFamily="2" charset="0"/>
              </a:rPr>
              <a:t>Antipsychotic agents</a:t>
            </a:r>
          </a:p>
        </p:txBody>
      </p:sp>
      <p:sp>
        <p:nvSpPr>
          <p:cNvPr id="3" name="Content Placeholder 2"/>
          <p:cNvSpPr>
            <a:spLocks noGrp="1"/>
          </p:cNvSpPr>
          <p:nvPr>
            <p:ph sz="quarter" idx="1"/>
          </p:nvPr>
        </p:nvSpPr>
        <p:spPr>
          <a:xfrm>
            <a:off x="1825752" y="1527048"/>
            <a:ext cx="8503920" cy="5070304"/>
          </a:xfrm>
        </p:spPr>
        <p:txBody>
          <a:bodyPr>
            <a:normAutofit fontScale="85000" lnSpcReduction="20000"/>
          </a:bodyPr>
          <a:lstStyle/>
          <a:p>
            <a:r>
              <a:rPr lang="en-AU" dirty="0">
                <a:solidFill>
                  <a:srgbClr val="3A7386"/>
                </a:solidFill>
                <a:latin typeface="Roboto Black" panose="02000000000000000000" pitchFamily="2" charset="0"/>
                <a:ea typeface="Roboto Black" panose="02000000000000000000" pitchFamily="2" charset="0"/>
              </a:rPr>
              <a:t>Briefly explain the hypothesised neurologic abnormalities that are found in individuals with schizophrenia and other forms of psychosis. </a:t>
            </a:r>
          </a:p>
          <a:p>
            <a:r>
              <a:rPr lang="en-AU" dirty="0">
                <a:solidFill>
                  <a:srgbClr val="3A7386"/>
                </a:solidFill>
                <a:latin typeface="Roboto Black" panose="02000000000000000000" pitchFamily="2" charset="0"/>
                <a:ea typeface="Roboto Black" panose="02000000000000000000" pitchFamily="2" charset="0"/>
              </a:rPr>
              <a:t>Explain the four major pathways for dopamine 2 in the brain and </a:t>
            </a:r>
            <a:r>
              <a:rPr lang="en-AU" dirty="0">
                <a:solidFill>
                  <a:srgbClr val="3A7386"/>
                </a:solidFill>
                <a:highlight>
                  <a:srgbClr val="FFFF00"/>
                </a:highlight>
                <a:latin typeface="Roboto Black" panose="02000000000000000000" pitchFamily="2" charset="0"/>
                <a:ea typeface="Roboto Black" panose="02000000000000000000" pitchFamily="2" charset="0"/>
              </a:rPr>
              <a:t>relate those to the actions </a:t>
            </a:r>
            <a:r>
              <a:rPr lang="en-AU" dirty="0">
                <a:solidFill>
                  <a:srgbClr val="3A7386"/>
                </a:solidFill>
                <a:latin typeface="Roboto Black" panose="02000000000000000000" pitchFamily="2" charset="0"/>
                <a:ea typeface="Roboto Black" panose="02000000000000000000" pitchFamily="2" charset="0"/>
              </a:rPr>
              <a:t>of our antipsychotic medications</a:t>
            </a:r>
          </a:p>
          <a:p>
            <a:r>
              <a:rPr lang="en-AU" dirty="0">
                <a:solidFill>
                  <a:srgbClr val="3A7386"/>
                </a:solidFill>
                <a:latin typeface="Roboto Black" panose="02000000000000000000" pitchFamily="2" charset="0"/>
                <a:ea typeface="Roboto Black" panose="02000000000000000000" pitchFamily="2" charset="0"/>
              </a:rPr>
              <a:t>For each of the drugs noted below, be able to identify the drug class to which it belongs. (Simply identify it as a typical first class antipsychotic or atypical.) </a:t>
            </a:r>
          </a:p>
          <a:p>
            <a:pPr lvl="1"/>
            <a:r>
              <a:rPr lang="en-AU" dirty="0">
                <a:solidFill>
                  <a:srgbClr val="3A7386"/>
                </a:solidFill>
                <a:latin typeface="Roboto Black" panose="02000000000000000000" pitchFamily="2" charset="0"/>
                <a:ea typeface="Roboto Black" panose="02000000000000000000" pitchFamily="2" charset="0"/>
              </a:rPr>
              <a:t>Typical antipsychotic agents include </a:t>
            </a:r>
            <a:r>
              <a:rPr lang="en-AU" dirty="0">
                <a:solidFill>
                  <a:srgbClr val="3A7386"/>
                </a:solidFill>
                <a:highlight>
                  <a:srgbClr val="FFFF00"/>
                </a:highlight>
                <a:latin typeface="Roboto Black" panose="02000000000000000000" pitchFamily="2" charset="0"/>
                <a:ea typeface="Roboto Black" panose="02000000000000000000" pitchFamily="2" charset="0"/>
              </a:rPr>
              <a:t>Haloperidol</a:t>
            </a:r>
            <a:r>
              <a:rPr lang="en-AU" dirty="0">
                <a:solidFill>
                  <a:srgbClr val="3A7386"/>
                </a:solidFill>
                <a:latin typeface="Roboto Black" panose="02000000000000000000" pitchFamily="2" charset="0"/>
                <a:ea typeface="Roboto Black" panose="02000000000000000000" pitchFamily="2" charset="0"/>
              </a:rPr>
              <a:t> and </a:t>
            </a:r>
            <a:r>
              <a:rPr lang="en-AU" dirty="0">
                <a:solidFill>
                  <a:srgbClr val="3A7386"/>
                </a:solidFill>
                <a:highlight>
                  <a:srgbClr val="FFFF00"/>
                </a:highlight>
                <a:latin typeface="Roboto Black" panose="02000000000000000000" pitchFamily="2" charset="0"/>
                <a:ea typeface="Roboto Black" panose="02000000000000000000" pitchFamily="2" charset="0"/>
              </a:rPr>
              <a:t>Chlorpromazine</a:t>
            </a:r>
            <a:r>
              <a:rPr lang="en-AU" dirty="0">
                <a:solidFill>
                  <a:srgbClr val="3A7386"/>
                </a:solidFill>
                <a:latin typeface="Roboto Black" panose="02000000000000000000" pitchFamily="2" charset="0"/>
                <a:ea typeface="Roboto Black" panose="02000000000000000000" pitchFamily="2" charset="0"/>
              </a:rPr>
              <a:t>, and </a:t>
            </a:r>
          </a:p>
          <a:p>
            <a:pPr lvl="1"/>
            <a:r>
              <a:rPr lang="en-AU" dirty="0">
                <a:solidFill>
                  <a:srgbClr val="3A7386"/>
                </a:solidFill>
                <a:latin typeface="Roboto Black" panose="02000000000000000000" pitchFamily="2" charset="0"/>
                <a:ea typeface="Roboto Black" panose="02000000000000000000" pitchFamily="2" charset="0"/>
              </a:rPr>
              <a:t>Atypical antipsychotic agents include *</a:t>
            </a:r>
            <a:r>
              <a:rPr lang="en-AU" dirty="0">
                <a:solidFill>
                  <a:srgbClr val="3A7386"/>
                </a:solidFill>
                <a:highlight>
                  <a:srgbClr val="FFFF00"/>
                </a:highlight>
                <a:latin typeface="Roboto Black" panose="02000000000000000000" pitchFamily="2" charset="0"/>
                <a:ea typeface="Roboto Black" panose="02000000000000000000" pitchFamily="2" charset="0"/>
              </a:rPr>
              <a:t>Quetiapine</a:t>
            </a:r>
            <a:r>
              <a:rPr lang="en-AU" dirty="0">
                <a:solidFill>
                  <a:srgbClr val="3A7386"/>
                </a:solidFill>
                <a:latin typeface="Roboto Black" panose="02000000000000000000" pitchFamily="2" charset="0"/>
                <a:ea typeface="Roboto Black" panose="02000000000000000000" pitchFamily="2" charset="0"/>
              </a:rPr>
              <a:t>*, *</a:t>
            </a:r>
            <a:r>
              <a:rPr lang="en-AU" dirty="0">
                <a:solidFill>
                  <a:srgbClr val="3A7386"/>
                </a:solidFill>
                <a:highlight>
                  <a:srgbClr val="FFFF00"/>
                </a:highlight>
                <a:latin typeface="Roboto Black" panose="02000000000000000000" pitchFamily="2" charset="0"/>
                <a:ea typeface="Roboto Black" panose="02000000000000000000" pitchFamily="2" charset="0"/>
              </a:rPr>
              <a:t>Aripiprazole</a:t>
            </a:r>
            <a:r>
              <a:rPr lang="en-AU" dirty="0">
                <a:solidFill>
                  <a:srgbClr val="3A7386"/>
                </a:solidFill>
                <a:latin typeface="Roboto Black" panose="02000000000000000000" pitchFamily="2" charset="0"/>
                <a:ea typeface="Roboto Black" panose="02000000000000000000" pitchFamily="2" charset="0"/>
              </a:rPr>
              <a:t>*, *</a:t>
            </a:r>
            <a:r>
              <a:rPr lang="en-AU" dirty="0">
                <a:solidFill>
                  <a:srgbClr val="3A7386"/>
                </a:solidFill>
                <a:highlight>
                  <a:srgbClr val="FFFF00"/>
                </a:highlight>
                <a:latin typeface="Roboto Black" panose="02000000000000000000" pitchFamily="2" charset="0"/>
                <a:ea typeface="Roboto Black" panose="02000000000000000000" pitchFamily="2" charset="0"/>
              </a:rPr>
              <a:t>Risperidone</a:t>
            </a:r>
            <a:r>
              <a:rPr lang="en-AU" dirty="0">
                <a:solidFill>
                  <a:srgbClr val="3A7386"/>
                </a:solidFill>
                <a:latin typeface="Roboto Black" panose="02000000000000000000" pitchFamily="2" charset="0"/>
                <a:ea typeface="Roboto Black" panose="02000000000000000000" pitchFamily="2" charset="0"/>
              </a:rPr>
              <a:t>*, and *</a:t>
            </a:r>
            <a:r>
              <a:rPr lang="en-AU" dirty="0">
                <a:solidFill>
                  <a:srgbClr val="3A7386"/>
                </a:solidFill>
                <a:highlight>
                  <a:srgbClr val="FFFF00"/>
                </a:highlight>
                <a:latin typeface="Roboto Black" panose="02000000000000000000" pitchFamily="2" charset="0"/>
                <a:ea typeface="Roboto Black" panose="02000000000000000000" pitchFamily="2" charset="0"/>
              </a:rPr>
              <a:t>Olanzapine</a:t>
            </a:r>
            <a:r>
              <a:rPr lang="en-AU" dirty="0">
                <a:solidFill>
                  <a:srgbClr val="3A7386"/>
                </a:solidFill>
                <a:latin typeface="Roboto Black" panose="02000000000000000000" pitchFamily="2" charset="0"/>
                <a:ea typeface="Roboto Black" panose="02000000000000000000" pitchFamily="2" charset="0"/>
              </a:rPr>
              <a:t>* </a:t>
            </a:r>
          </a:p>
          <a:p>
            <a:r>
              <a:rPr lang="en-AU" dirty="0">
                <a:solidFill>
                  <a:srgbClr val="3A7386"/>
                </a:solidFill>
                <a:latin typeface="Roboto Black" panose="02000000000000000000" pitchFamily="2" charset="0"/>
                <a:ea typeface="Roboto Black" panose="02000000000000000000" pitchFamily="2" charset="0"/>
              </a:rPr>
              <a:t>For both of the drug classes above, briefly describe the mechanism by which drugs of that broad class exert their therapeutic effect, the general indications, contraindications and major side effects.</a:t>
            </a:r>
          </a:p>
        </p:txBody>
      </p:sp>
    </p:spTree>
    <p:extLst>
      <p:ext uri="{BB962C8B-B14F-4D97-AF65-F5344CB8AC3E}">
        <p14:creationId xmlns:p14="http://schemas.microsoft.com/office/powerpoint/2010/main" val="18708868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4000" b="1" dirty="0">
                <a:solidFill>
                  <a:srgbClr val="3A7386"/>
                </a:solidFill>
                <a:latin typeface="Roboto Black" panose="02000000000000000000" pitchFamily="2" charset="0"/>
                <a:ea typeface="Roboto Black" panose="02000000000000000000" pitchFamily="2" charset="0"/>
              </a:rPr>
              <a:t>Antipsychotic agents</a:t>
            </a:r>
          </a:p>
        </p:txBody>
      </p:sp>
      <p:sp>
        <p:nvSpPr>
          <p:cNvPr id="3" name="Content Placeholder 2"/>
          <p:cNvSpPr>
            <a:spLocks noGrp="1"/>
          </p:cNvSpPr>
          <p:nvPr>
            <p:ph sz="quarter" idx="1"/>
          </p:nvPr>
        </p:nvSpPr>
        <p:spPr>
          <a:xfrm>
            <a:off x="838200" y="1825625"/>
            <a:ext cx="6490063" cy="4351338"/>
          </a:xfrm>
        </p:spPr>
        <p:txBody>
          <a:bodyPr>
            <a:normAutofit fontScale="92500" lnSpcReduction="20000"/>
          </a:bodyPr>
          <a:lstStyle/>
          <a:p>
            <a:r>
              <a:rPr lang="en-AU" sz="3200" b="1" dirty="0">
                <a:solidFill>
                  <a:srgbClr val="3A7386"/>
                </a:solidFill>
                <a:latin typeface="Roboto Black" panose="02000000000000000000" pitchFamily="2" charset="0"/>
                <a:ea typeface="Roboto Black" panose="02000000000000000000" pitchFamily="2" charset="0"/>
              </a:rPr>
              <a:t>Psychoses: </a:t>
            </a:r>
            <a:r>
              <a:rPr lang="en-AU" sz="3200" dirty="0">
                <a:solidFill>
                  <a:srgbClr val="3A7386"/>
                </a:solidFill>
                <a:latin typeface="Roboto Black" panose="02000000000000000000" pitchFamily="2" charset="0"/>
                <a:ea typeface="Roboto Black" panose="02000000000000000000" pitchFamily="2" charset="0"/>
              </a:rPr>
              <a:t>mental health disorders characterised by aberrant behaviour and disturbed emotional states. </a:t>
            </a:r>
          </a:p>
          <a:p>
            <a:pPr lvl="1"/>
            <a:r>
              <a:rPr lang="en-AU" sz="3200" dirty="0">
                <a:solidFill>
                  <a:srgbClr val="3A7386"/>
                </a:solidFill>
                <a:latin typeface="Roboto Black" panose="02000000000000000000" pitchFamily="2" charset="0"/>
                <a:ea typeface="Roboto Black" panose="02000000000000000000" pitchFamily="2" charset="0"/>
              </a:rPr>
              <a:t>Schizophrenia, severe agitation and some forms of dementia</a:t>
            </a:r>
          </a:p>
          <a:p>
            <a:pPr marL="0" indent="0">
              <a:buNone/>
            </a:pPr>
            <a:r>
              <a:rPr lang="en-AU" sz="3200" dirty="0">
                <a:solidFill>
                  <a:srgbClr val="3A7386"/>
                </a:solidFill>
                <a:latin typeface="Roboto Black" panose="02000000000000000000" pitchFamily="2" charset="0"/>
                <a:ea typeface="Roboto Black" panose="02000000000000000000" pitchFamily="2" charset="0"/>
              </a:rPr>
              <a:t> </a:t>
            </a:r>
          </a:p>
          <a:p>
            <a:r>
              <a:rPr lang="en-AU" sz="3200" dirty="0">
                <a:solidFill>
                  <a:srgbClr val="3A7386"/>
                </a:solidFill>
                <a:latin typeface="Roboto Black" panose="02000000000000000000" pitchFamily="2" charset="0"/>
                <a:ea typeface="Roboto Black" panose="02000000000000000000" pitchFamily="2" charset="0"/>
              </a:rPr>
              <a:t>The most effective medicines in the treatment of the psychoses are the </a:t>
            </a:r>
            <a:r>
              <a:rPr lang="en-AU" sz="3200" b="1" dirty="0">
                <a:solidFill>
                  <a:srgbClr val="3A7386"/>
                </a:solidFill>
                <a:latin typeface="Roboto Black" panose="02000000000000000000" pitchFamily="2" charset="0"/>
                <a:ea typeface="Roboto Black" panose="02000000000000000000" pitchFamily="2" charset="0"/>
              </a:rPr>
              <a:t>central dopamine receptor antagonists</a:t>
            </a:r>
            <a:r>
              <a:rPr lang="en-AU" sz="3200" dirty="0">
                <a:solidFill>
                  <a:srgbClr val="3A7386"/>
                </a:solidFill>
                <a:latin typeface="Roboto Black" panose="02000000000000000000" pitchFamily="2" charset="0"/>
                <a:ea typeface="Roboto Black" panose="02000000000000000000" pitchFamily="2" charset="0"/>
              </a:rPr>
              <a:t> </a:t>
            </a:r>
          </a:p>
          <a:p>
            <a:endParaRPr lang="en-AU" dirty="0"/>
          </a:p>
        </p:txBody>
      </p:sp>
      <p:pic>
        <p:nvPicPr>
          <p:cNvPr id="4" name="Content Placeholder 4">
            <a:extLst>
              <a:ext uri="{FF2B5EF4-FFF2-40B4-BE49-F238E27FC236}">
                <a16:creationId xmlns:a16="http://schemas.microsoft.com/office/drawing/2014/main" id="{7006D433-1FCB-44F2-9DA4-1619856192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7524" y="2105745"/>
            <a:ext cx="4065356" cy="2646509"/>
          </a:xfrm>
          <a:prstGeom prst="rect">
            <a:avLst/>
          </a:prstGeom>
        </p:spPr>
      </p:pic>
    </p:spTree>
    <p:extLst>
      <p:ext uri="{BB962C8B-B14F-4D97-AF65-F5344CB8AC3E}">
        <p14:creationId xmlns:p14="http://schemas.microsoft.com/office/powerpoint/2010/main" val="23257947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b="1" dirty="0">
                <a:solidFill>
                  <a:srgbClr val="3A7386"/>
                </a:solidFill>
                <a:latin typeface="Roboto Black" panose="02000000000000000000" pitchFamily="2" charset="0"/>
                <a:ea typeface="Roboto Black" panose="02000000000000000000" pitchFamily="2" charset="0"/>
              </a:rPr>
              <a:t>Schizophrenia</a:t>
            </a:r>
          </a:p>
        </p:txBody>
      </p:sp>
      <p:sp>
        <p:nvSpPr>
          <p:cNvPr id="3" name="Content Placeholder 2"/>
          <p:cNvSpPr>
            <a:spLocks noGrp="1"/>
          </p:cNvSpPr>
          <p:nvPr>
            <p:ph sz="quarter" idx="1"/>
          </p:nvPr>
        </p:nvSpPr>
        <p:spPr>
          <a:xfrm>
            <a:off x="1825752" y="1412776"/>
            <a:ext cx="8503920" cy="5330952"/>
          </a:xfrm>
        </p:spPr>
        <p:txBody>
          <a:bodyPr>
            <a:normAutofit lnSpcReduction="10000"/>
          </a:bodyPr>
          <a:lstStyle/>
          <a:p>
            <a:r>
              <a:rPr lang="en-AU" b="1" dirty="0">
                <a:solidFill>
                  <a:srgbClr val="3A7386"/>
                </a:solidFill>
                <a:latin typeface="Roboto Black" panose="02000000000000000000" pitchFamily="2" charset="0"/>
                <a:ea typeface="Roboto Black" panose="02000000000000000000" pitchFamily="2" charset="0"/>
              </a:rPr>
              <a:t>Schizophrenia is relatively common, affecting 1 per cent of the population,</a:t>
            </a:r>
          </a:p>
          <a:p>
            <a:pPr lvl="1"/>
            <a:r>
              <a:rPr lang="en-AU" sz="2300" b="1" dirty="0">
                <a:solidFill>
                  <a:srgbClr val="3A7386"/>
                </a:solidFill>
                <a:latin typeface="Roboto Black" panose="02000000000000000000" pitchFamily="2" charset="0"/>
                <a:ea typeface="Roboto Black" panose="02000000000000000000" pitchFamily="2" charset="0"/>
              </a:rPr>
              <a:t>Increased dopaminergic activity in certain parts of the brain, particularly the prefrontal cortex, limbic</a:t>
            </a:r>
            <a:endParaRPr lang="en-AU" sz="1900" b="1" dirty="0">
              <a:solidFill>
                <a:srgbClr val="3A7386"/>
              </a:solidFill>
              <a:latin typeface="Roboto Black" panose="02000000000000000000" pitchFamily="2" charset="0"/>
              <a:ea typeface="Roboto Black" panose="02000000000000000000" pitchFamily="2" charset="0"/>
            </a:endParaRPr>
          </a:p>
          <a:p>
            <a:pPr lvl="1"/>
            <a:r>
              <a:rPr lang="en-AU" sz="2300" b="1" dirty="0">
                <a:solidFill>
                  <a:srgbClr val="3A7386"/>
                </a:solidFill>
                <a:latin typeface="Roboto Black" panose="02000000000000000000" pitchFamily="2" charset="0"/>
                <a:ea typeface="Roboto Black" panose="02000000000000000000" pitchFamily="2" charset="0"/>
              </a:rPr>
              <a:t>Onset 15 and 25</a:t>
            </a:r>
          </a:p>
          <a:p>
            <a:pPr marL="0" indent="0">
              <a:buNone/>
            </a:pPr>
            <a:r>
              <a:rPr lang="en-AU" b="1" dirty="0">
                <a:solidFill>
                  <a:srgbClr val="3A7386"/>
                </a:solidFill>
                <a:latin typeface="Roboto Black" panose="02000000000000000000" pitchFamily="2" charset="0"/>
                <a:ea typeface="Roboto Black" panose="02000000000000000000" pitchFamily="2" charset="0"/>
              </a:rPr>
              <a:t>Symptoms of schizophrenia are described as either negative or positive. </a:t>
            </a:r>
          </a:p>
          <a:p>
            <a:r>
              <a:rPr lang="en-AU" b="1" dirty="0">
                <a:solidFill>
                  <a:srgbClr val="3A7386"/>
                </a:solidFill>
                <a:latin typeface="Roboto Black" panose="02000000000000000000" pitchFamily="2" charset="0"/>
                <a:ea typeface="Roboto Black" panose="02000000000000000000" pitchFamily="2" charset="0"/>
              </a:rPr>
              <a:t>Positive symptoms </a:t>
            </a:r>
          </a:p>
          <a:p>
            <a:pPr lvl="1"/>
            <a:r>
              <a:rPr lang="en-AU" sz="2300" b="1" dirty="0">
                <a:solidFill>
                  <a:srgbClr val="3A7386"/>
                </a:solidFill>
                <a:latin typeface="Roboto Black" panose="02000000000000000000" pitchFamily="2" charset="0"/>
                <a:ea typeface="Roboto Black" panose="02000000000000000000" pitchFamily="2" charset="0"/>
              </a:rPr>
              <a:t>delusions, disorganised speech and/or thought, distorted perceptions and emotions, hallucinations and the belief that one is under the control of an external agency. </a:t>
            </a:r>
          </a:p>
          <a:p>
            <a:r>
              <a:rPr lang="en-AU" b="1" dirty="0">
                <a:solidFill>
                  <a:srgbClr val="3A7386"/>
                </a:solidFill>
                <a:latin typeface="Roboto Black" panose="02000000000000000000" pitchFamily="2" charset="0"/>
                <a:ea typeface="Roboto Black" panose="02000000000000000000" pitchFamily="2" charset="0"/>
              </a:rPr>
              <a:t>Negative symptoms </a:t>
            </a:r>
          </a:p>
          <a:p>
            <a:pPr lvl="1"/>
            <a:r>
              <a:rPr lang="en-AU" sz="2300" b="1" dirty="0">
                <a:solidFill>
                  <a:srgbClr val="3A7386"/>
                </a:solidFill>
                <a:latin typeface="Roboto Black" panose="02000000000000000000" pitchFamily="2" charset="0"/>
                <a:ea typeface="Roboto Black" panose="02000000000000000000" pitchFamily="2" charset="0"/>
              </a:rPr>
              <a:t>toneless speech, vacant eyes, social withdrawal, anhedonia (lack of enjoyment) and apathy. </a:t>
            </a:r>
          </a:p>
        </p:txBody>
      </p:sp>
    </p:spTree>
    <p:extLst>
      <p:ext uri="{BB962C8B-B14F-4D97-AF65-F5344CB8AC3E}">
        <p14:creationId xmlns:p14="http://schemas.microsoft.com/office/powerpoint/2010/main" val="29614426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b="1" dirty="0">
                <a:solidFill>
                  <a:srgbClr val="3A7386"/>
                </a:solidFill>
                <a:latin typeface="Roboto Black" panose="02000000000000000000" pitchFamily="2" charset="0"/>
                <a:ea typeface="Roboto Black" panose="02000000000000000000" pitchFamily="2" charset="0"/>
              </a:rPr>
              <a:t>Dopamine pathways</a:t>
            </a:r>
          </a:p>
        </p:txBody>
      </p:sp>
      <p:sp>
        <p:nvSpPr>
          <p:cNvPr id="3" name="Content Placeholder 2"/>
          <p:cNvSpPr>
            <a:spLocks noGrp="1"/>
          </p:cNvSpPr>
          <p:nvPr>
            <p:ph sz="quarter" idx="1"/>
          </p:nvPr>
        </p:nvSpPr>
        <p:spPr>
          <a:xfrm>
            <a:off x="1844040" y="1927931"/>
            <a:ext cx="8503920" cy="5330952"/>
          </a:xfrm>
        </p:spPr>
        <p:txBody>
          <a:bodyPr>
            <a:normAutofit/>
          </a:bodyPr>
          <a:lstStyle/>
          <a:p>
            <a:r>
              <a:rPr lang="en-AU" b="1" dirty="0">
                <a:solidFill>
                  <a:srgbClr val="3A7386"/>
                </a:solidFill>
                <a:latin typeface="Roboto Black" panose="02000000000000000000" pitchFamily="2" charset="0"/>
                <a:ea typeface="Roboto Black" panose="02000000000000000000" pitchFamily="2" charset="0"/>
              </a:rPr>
              <a:t>Mesolimbic pathway – hyperactive in schizophrenia – yields positive symptoms like delusions</a:t>
            </a:r>
          </a:p>
          <a:p>
            <a:r>
              <a:rPr lang="en-AU" b="1" dirty="0" err="1">
                <a:solidFill>
                  <a:srgbClr val="3A7386"/>
                </a:solidFill>
                <a:latin typeface="Roboto Black" panose="02000000000000000000" pitchFamily="2" charset="0"/>
                <a:ea typeface="Roboto Black" panose="02000000000000000000" pitchFamily="2" charset="0"/>
              </a:rPr>
              <a:t>Mesocortical</a:t>
            </a:r>
            <a:r>
              <a:rPr lang="en-AU" b="1" dirty="0">
                <a:solidFill>
                  <a:srgbClr val="3A7386"/>
                </a:solidFill>
                <a:latin typeface="Roboto Black" panose="02000000000000000000" pitchFamily="2" charset="0"/>
                <a:ea typeface="Roboto Black" panose="02000000000000000000" pitchFamily="2" charset="0"/>
              </a:rPr>
              <a:t> pathway - underactive in schizophrenia – contributes to negative symptoms</a:t>
            </a:r>
          </a:p>
          <a:p>
            <a:r>
              <a:rPr lang="en-AU" b="1" dirty="0">
                <a:solidFill>
                  <a:srgbClr val="3A7386"/>
                </a:solidFill>
                <a:latin typeface="Roboto Black" panose="02000000000000000000" pitchFamily="2" charset="0"/>
                <a:ea typeface="Roboto Black" panose="02000000000000000000" pitchFamily="2" charset="0"/>
              </a:rPr>
              <a:t>Nigrostriatal pathway – decreases in dopamine here result in Parkinsonian symptoms</a:t>
            </a:r>
          </a:p>
          <a:p>
            <a:r>
              <a:rPr lang="en-AU" b="1" dirty="0">
                <a:solidFill>
                  <a:srgbClr val="3A7386"/>
                </a:solidFill>
                <a:latin typeface="Roboto Black" panose="02000000000000000000" pitchFamily="2" charset="0"/>
                <a:ea typeface="Roboto Black" panose="02000000000000000000" pitchFamily="2" charset="0"/>
              </a:rPr>
              <a:t>Tuberoinfundibular pathway – controls prolactin release</a:t>
            </a:r>
          </a:p>
          <a:p>
            <a:endParaRPr lang="en-AU" b="1" dirty="0">
              <a:solidFill>
                <a:srgbClr val="3A7386"/>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32677276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487D6C-879C-40B5-A79D-BB3CAEFF6C56}"/>
              </a:ext>
            </a:extLst>
          </p:cNvPr>
          <p:cNvPicPr>
            <a:picLocks noChangeAspect="1"/>
          </p:cNvPicPr>
          <p:nvPr/>
        </p:nvPicPr>
        <p:blipFill>
          <a:blip r:embed="rId2"/>
          <a:stretch>
            <a:fillRect/>
          </a:stretch>
        </p:blipFill>
        <p:spPr>
          <a:xfrm>
            <a:off x="1740205" y="130744"/>
            <a:ext cx="8711590" cy="6844821"/>
          </a:xfrm>
          <a:prstGeom prst="rect">
            <a:avLst/>
          </a:prstGeom>
          <a:ln>
            <a:solidFill>
              <a:schemeClr val="accent2"/>
            </a:solidFill>
          </a:ln>
        </p:spPr>
      </p:pic>
      <p:sp>
        <p:nvSpPr>
          <p:cNvPr id="5" name="Rectangle 4">
            <a:extLst>
              <a:ext uri="{FF2B5EF4-FFF2-40B4-BE49-F238E27FC236}">
                <a16:creationId xmlns:a16="http://schemas.microsoft.com/office/drawing/2014/main" id="{A1BDB142-F931-4585-8CFC-6C5A86448EC6}"/>
              </a:ext>
            </a:extLst>
          </p:cNvPr>
          <p:cNvSpPr/>
          <p:nvPr/>
        </p:nvSpPr>
        <p:spPr>
          <a:xfrm>
            <a:off x="1740205" y="4134118"/>
            <a:ext cx="3415637" cy="2841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F026017F-70D6-448F-8F04-FC11AFD92AAE}"/>
              </a:ext>
            </a:extLst>
          </p:cNvPr>
          <p:cNvSpPr/>
          <p:nvPr/>
        </p:nvSpPr>
        <p:spPr>
          <a:xfrm>
            <a:off x="7499208" y="4210318"/>
            <a:ext cx="3415637" cy="2841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 Placeholder 3">
            <a:extLst>
              <a:ext uri="{FF2B5EF4-FFF2-40B4-BE49-F238E27FC236}">
                <a16:creationId xmlns:a16="http://schemas.microsoft.com/office/drawing/2014/main" id="{316B2282-9778-44AD-8C30-AA8935BCDB0B}"/>
              </a:ext>
            </a:extLst>
          </p:cNvPr>
          <p:cNvSpPr txBox="1">
            <a:spLocks/>
          </p:cNvSpPr>
          <p:nvPr/>
        </p:nvSpPr>
        <p:spPr>
          <a:xfrm>
            <a:off x="174630" y="2121418"/>
            <a:ext cx="3024569" cy="3153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2000" b="1" dirty="0">
                <a:solidFill>
                  <a:srgbClr val="FF0000"/>
                </a:solidFill>
                <a:latin typeface="Roboto Black" panose="02000000000000000000" pitchFamily="2" charset="0"/>
                <a:ea typeface="Roboto Black" panose="02000000000000000000" pitchFamily="2" charset="0"/>
                <a:cs typeface="Arial" panose="020B0604020202020204" pitchFamily="34" charset="0"/>
              </a:rPr>
              <a:t>RED paths are serotonin</a:t>
            </a:r>
          </a:p>
        </p:txBody>
      </p:sp>
      <p:sp>
        <p:nvSpPr>
          <p:cNvPr id="8" name="Text Placeholder 3">
            <a:extLst>
              <a:ext uri="{FF2B5EF4-FFF2-40B4-BE49-F238E27FC236}">
                <a16:creationId xmlns:a16="http://schemas.microsoft.com/office/drawing/2014/main" id="{4F18C035-2A4B-4009-8A71-9E9920F97391}"/>
              </a:ext>
            </a:extLst>
          </p:cNvPr>
          <p:cNvSpPr txBox="1">
            <a:spLocks/>
          </p:cNvSpPr>
          <p:nvPr/>
        </p:nvSpPr>
        <p:spPr>
          <a:xfrm>
            <a:off x="174630" y="4510450"/>
            <a:ext cx="3415637" cy="3153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2000" b="1" dirty="0">
                <a:solidFill>
                  <a:schemeClr val="accent1"/>
                </a:solidFill>
                <a:highlight>
                  <a:srgbClr val="FFFF00"/>
                </a:highlight>
                <a:latin typeface="Roboto Black" panose="02000000000000000000" pitchFamily="2" charset="0"/>
                <a:ea typeface="Roboto Black" panose="02000000000000000000" pitchFamily="2" charset="0"/>
                <a:cs typeface="Arial" panose="020B0604020202020204" pitchFamily="34" charset="0"/>
              </a:rPr>
              <a:t>BLUE paths are DOPAMINE</a:t>
            </a:r>
          </a:p>
        </p:txBody>
      </p:sp>
      <p:sp>
        <p:nvSpPr>
          <p:cNvPr id="14" name="Rectangle 13">
            <a:extLst>
              <a:ext uri="{FF2B5EF4-FFF2-40B4-BE49-F238E27FC236}">
                <a16:creationId xmlns:a16="http://schemas.microsoft.com/office/drawing/2014/main" id="{7DE83D0C-F2C0-46EF-BE95-A47B6D63EEA0}"/>
              </a:ext>
            </a:extLst>
          </p:cNvPr>
          <p:cNvSpPr/>
          <p:nvPr/>
        </p:nvSpPr>
        <p:spPr>
          <a:xfrm>
            <a:off x="882314" y="5631041"/>
            <a:ext cx="10090485" cy="1077218"/>
          </a:xfrm>
          <a:prstGeom prst="rect">
            <a:avLst/>
          </a:prstGeom>
        </p:spPr>
        <p:txBody>
          <a:bodyPr wrap="square">
            <a:spAutoFit/>
          </a:bodyPr>
          <a:lstStyle/>
          <a:p>
            <a:pPr algn="ctr"/>
            <a:r>
              <a:rPr lang="en-AU" sz="3200" dirty="0">
                <a:solidFill>
                  <a:schemeClr val="accent2"/>
                </a:solidFill>
                <a:latin typeface="Roboto Black" panose="02000000000000000000" pitchFamily="2" charset="0"/>
                <a:ea typeface="Roboto Black" panose="02000000000000000000" pitchFamily="2" charset="0"/>
              </a:rPr>
              <a:t>Mesolimbic pathway – hyperactive in schizophrenia – yields positive symptoms like delusions</a:t>
            </a:r>
          </a:p>
        </p:txBody>
      </p:sp>
      <p:sp>
        <p:nvSpPr>
          <p:cNvPr id="16" name="Oval 15">
            <a:extLst>
              <a:ext uri="{FF2B5EF4-FFF2-40B4-BE49-F238E27FC236}">
                <a16:creationId xmlns:a16="http://schemas.microsoft.com/office/drawing/2014/main" id="{B8FF4F99-10D2-41C5-B2BD-C33EC599316E}"/>
              </a:ext>
            </a:extLst>
          </p:cNvPr>
          <p:cNvSpPr/>
          <p:nvPr/>
        </p:nvSpPr>
        <p:spPr>
          <a:xfrm rot="1022196">
            <a:off x="5000530" y="2299398"/>
            <a:ext cx="1346122" cy="875764"/>
          </a:xfrm>
          <a:prstGeom prst="ellipse">
            <a:avLst/>
          </a:prstGeom>
          <a:noFill/>
          <a:ln w="762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Oval 14">
            <a:extLst>
              <a:ext uri="{FF2B5EF4-FFF2-40B4-BE49-F238E27FC236}">
                <a16:creationId xmlns:a16="http://schemas.microsoft.com/office/drawing/2014/main" id="{565344C7-4FF2-47E3-A5AF-8921D03DF778}"/>
              </a:ext>
            </a:extLst>
          </p:cNvPr>
          <p:cNvSpPr/>
          <p:nvPr/>
        </p:nvSpPr>
        <p:spPr>
          <a:xfrm rot="673657">
            <a:off x="4974151" y="2295430"/>
            <a:ext cx="1346122" cy="875764"/>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2189492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487D6C-879C-40B5-A79D-BB3CAEFF6C56}"/>
              </a:ext>
            </a:extLst>
          </p:cNvPr>
          <p:cNvPicPr>
            <a:picLocks noChangeAspect="1"/>
          </p:cNvPicPr>
          <p:nvPr/>
        </p:nvPicPr>
        <p:blipFill>
          <a:blip r:embed="rId2"/>
          <a:stretch>
            <a:fillRect/>
          </a:stretch>
        </p:blipFill>
        <p:spPr>
          <a:xfrm>
            <a:off x="1740205" y="130744"/>
            <a:ext cx="8711590" cy="6844821"/>
          </a:xfrm>
          <a:prstGeom prst="rect">
            <a:avLst/>
          </a:prstGeom>
          <a:ln>
            <a:solidFill>
              <a:schemeClr val="accent2"/>
            </a:solidFill>
          </a:ln>
        </p:spPr>
      </p:pic>
      <p:sp>
        <p:nvSpPr>
          <p:cNvPr id="5" name="Rectangle 4">
            <a:extLst>
              <a:ext uri="{FF2B5EF4-FFF2-40B4-BE49-F238E27FC236}">
                <a16:creationId xmlns:a16="http://schemas.microsoft.com/office/drawing/2014/main" id="{A1BDB142-F931-4585-8CFC-6C5A86448EC6}"/>
              </a:ext>
            </a:extLst>
          </p:cNvPr>
          <p:cNvSpPr/>
          <p:nvPr/>
        </p:nvSpPr>
        <p:spPr>
          <a:xfrm>
            <a:off x="1740205" y="4134118"/>
            <a:ext cx="3415637" cy="2841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F026017F-70D6-448F-8F04-FC11AFD92AAE}"/>
              </a:ext>
            </a:extLst>
          </p:cNvPr>
          <p:cNvSpPr/>
          <p:nvPr/>
        </p:nvSpPr>
        <p:spPr>
          <a:xfrm>
            <a:off x="7499208" y="4210318"/>
            <a:ext cx="3415637" cy="2841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 Placeholder 3">
            <a:extLst>
              <a:ext uri="{FF2B5EF4-FFF2-40B4-BE49-F238E27FC236}">
                <a16:creationId xmlns:a16="http://schemas.microsoft.com/office/drawing/2014/main" id="{316B2282-9778-44AD-8C30-AA8935BCDB0B}"/>
              </a:ext>
            </a:extLst>
          </p:cNvPr>
          <p:cNvSpPr txBox="1">
            <a:spLocks/>
          </p:cNvSpPr>
          <p:nvPr/>
        </p:nvSpPr>
        <p:spPr>
          <a:xfrm>
            <a:off x="174630" y="2121418"/>
            <a:ext cx="3024569" cy="3153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2000" b="1" dirty="0">
                <a:solidFill>
                  <a:srgbClr val="FF0000"/>
                </a:solidFill>
                <a:latin typeface="Roboto Black" panose="02000000000000000000" pitchFamily="2" charset="0"/>
                <a:ea typeface="Roboto Black" panose="02000000000000000000" pitchFamily="2" charset="0"/>
                <a:cs typeface="Arial" panose="020B0604020202020204" pitchFamily="34" charset="0"/>
              </a:rPr>
              <a:t>RED paths are serotonin</a:t>
            </a:r>
          </a:p>
        </p:txBody>
      </p:sp>
      <p:sp>
        <p:nvSpPr>
          <p:cNvPr id="8" name="Text Placeholder 3">
            <a:extLst>
              <a:ext uri="{FF2B5EF4-FFF2-40B4-BE49-F238E27FC236}">
                <a16:creationId xmlns:a16="http://schemas.microsoft.com/office/drawing/2014/main" id="{4F18C035-2A4B-4009-8A71-9E9920F97391}"/>
              </a:ext>
            </a:extLst>
          </p:cNvPr>
          <p:cNvSpPr txBox="1">
            <a:spLocks/>
          </p:cNvSpPr>
          <p:nvPr/>
        </p:nvSpPr>
        <p:spPr>
          <a:xfrm>
            <a:off x="174630" y="4510450"/>
            <a:ext cx="3415637" cy="3153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2000" b="1" dirty="0">
                <a:solidFill>
                  <a:schemeClr val="accent1"/>
                </a:solidFill>
                <a:highlight>
                  <a:srgbClr val="FFFF00"/>
                </a:highlight>
                <a:latin typeface="Roboto Black" panose="02000000000000000000" pitchFamily="2" charset="0"/>
                <a:ea typeface="Roboto Black" panose="02000000000000000000" pitchFamily="2" charset="0"/>
                <a:cs typeface="Arial" panose="020B0604020202020204" pitchFamily="34" charset="0"/>
              </a:rPr>
              <a:t>BLUE paths are DOPAMINE</a:t>
            </a:r>
          </a:p>
        </p:txBody>
      </p:sp>
      <p:sp>
        <p:nvSpPr>
          <p:cNvPr id="14" name="Rectangle 13">
            <a:extLst>
              <a:ext uri="{FF2B5EF4-FFF2-40B4-BE49-F238E27FC236}">
                <a16:creationId xmlns:a16="http://schemas.microsoft.com/office/drawing/2014/main" id="{7DE83D0C-F2C0-46EF-BE95-A47B6D63EEA0}"/>
              </a:ext>
            </a:extLst>
          </p:cNvPr>
          <p:cNvSpPr/>
          <p:nvPr/>
        </p:nvSpPr>
        <p:spPr>
          <a:xfrm>
            <a:off x="925243" y="5474038"/>
            <a:ext cx="10090485" cy="1077218"/>
          </a:xfrm>
          <a:prstGeom prst="rect">
            <a:avLst/>
          </a:prstGeom>
        </p:spPr>
        <p:txBody>
          <a:bodyPr wrap="square">
            <a:spAutoFit/>
          </a:bodyPr>
          <a:lstStyle/>
          <a:p>
            <a:pPr algn="ctr"/>
            <a:r>
              <a:rPr lang="en-AU" sz="3200" dirty="0" err="1">
                <a:solidFill>
                  <a:srgbClr val="7030A0"/>
                </a:solidFill>
                <a:latin typeface="Roboto Black" panose="02000000000000000000" pitchFamily="2" charset="0"/>
                <a:ea typeface="Roboto Black" panose="02000000000000000000" pitchFamily="2" charset="0"/>
              </a:rPr>
              <a:t>Mesocortical</a:t>
            </a:r>
            <a:r>
              <a:rPr lang="en-AU" sz="3200" dirty="0">
                <a:solidFill>
                  <a:srgbClr val="7030A0"/>
                </a:solidFill>
                <a:latin typeface="Roboto Black" panose="02000000000000000000" pitchFamily="2" charset="0"/>
                <a:ea typeface="Roboto Black" panose="02000000000000000000" pitchFamily="2" charset="0"/>
              </a:rPr>
              <a:t> pathway - underactive in schizophrenia – contributes to negative symptoms</a:t>
            </a:r>
          </a:p>
        </p:txBody>
      </p:sp>
      <p:sp>
        <p:nvSpPr>
          <p:cNvPr id="11" name="Oval 10">
            <a:extLst>
              <a:ext uri="{FF2B5EF4-FFF2-40B4-BE49-F238E27FC236}">
                <a16:creationId xmlns:a16="http://schemas.microsoft.com/office/drawing/2014/main" id="{619B54E1-B1E3-476C-B0E6-670B1F1A103E}"/>
              </a:ext>
            </a:extLst>
          </p:cNvPr>
          <p:cNvSpPr/>
          <p:nvPr/>
        </p:nvSpPr>
        <p:spPr>
          <a:xfrm rot="20029479">
            <a:off x="3615148" y="1594256"/>
            <a:ext cx="901522" cy="1814848"/>
          </a:xfrm>
          <a:prstGeom prst="ellipse">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9781B405-509A-427A-A5B8-43A1D416EB89}"/>
              </a:ext>
            </a:extLst>
          </p:cNvPr>
          <p:cNvSpPr/>
          <p:nvPr/>
        </p:nvSpPr>
        <p:spPr>
          <a:xfrm rot="20029479">
            <a:off x="3615148" y="1588982"/>
            <a:ext cx="901522" cy="1814848"/>
          </a:xfrm>
          <a:prstGeom prst="ellipse">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2551493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487D6C-879C-40B5-A79D-BB3CAEFF6C56}"/>
              </a:ext>
            </a:extLst>
          </p:cNvPr>
          <p:cNvPicPr>
            <a:picLocks noChangeAspect="1"/>
          </p:cNvPicPr>
          <p:nvPr/>
        </p:nvPicPr>
        <p:blipFill>
          <a:blip r:embed="rId2"/>
          <a:stretch>
            <a:fillRect/>
          </a:stretch>
        </p:blipFill>
        <p:spPr>
          <a:xfrm>
            <a:off x="1740205" y="130744"/>
            <a:ext cx="8711590" cy="6844821"/>
          </a:xfrm>
          <a:prstGeom prst="rect">
            <a:avLst/>
          </a:prstGeom>
          <a:ln>
            <a:solidFill>
              <a:schemeClr val="accent2"/>
            </a:solidFill>
          </a:ln>
        </p:spPr>
      </p:pic>
      <p:sp>
        <p:nvSpPr>
          <p:cNvPr id="5" name="Rectangle 4">
            <a:extLst>
              <a:ext uri="{FF2B5EF4-FFF2-40B4-BE49-F238E27FC236}">
                <a16:creationId xmlns:a16="http://schemas.microsoft.com/office/drawing/2014/main" id="{A1BDB142-F931-4585-8CFC-6C5A86448EC6}"/>
              </a:ext>
            </a:extLst>
          </p:cNvPr>
          <p:cNvSpPr/>
          <p:nvPr/>
        </p:nvSpPr>
        <p:spPr>
          <a:xfrm>
            <a:off x="1740205" y="4134118"/>
            <a:ext cx="3415637" cy="2841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F026017F-70D6-448F-8F04-FC11AFD92AAE}"/>
              </a:ext>
            </a:extLst>
          </p:cNvPr>
          <p:cNvSpPr/>
          <p:nvPr/>
        </p:nvSpPr>
        <p:spPr>
          <a:xfrm>
            <a:off x="7499208" y="4210318"/>
            <a:ext cx="3415637" cy="2841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 Placeholder 3">
            <a:extLst>
              <a:ext uri="{FF2B5EF4-FFF2-40B4-BE49-F238E27FC236}">
                <a16:creationId xmlns:a16="http://schemas.microsoft.com/office/drawing/2014/main" id="{316B2282-9778-44AD-8C30-AA8935BCDB0B}"/>
              </a:ext>
            </a:extLst>
          </p:cNvPr>
          <p:cNvSpPr txBox="1">
            <a:spLocks/>
          </p:cNvSpPr>
          <p:nvPr/>
        </p:nvSpPr>
        <p:spPr>
          <a:xfrm>
            <a:off x="227920" y="2099006"/>
            <a:ext cx="3024569" cy="3153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2000" b="1" dirty="0">
                <a:solidFill>
                  <a:srgbClr val="FF0000"/>
                </a:solidFill>
                <a:latin typeface="Roboto Black" panose="02000000000000000000" pitchFamily="2" charset="0"/>
                <a:ea typeface="Roboto Black" panose="02000000000000000000" pitchFamily="2" charset="0"/>
                <a:cs typeface="Arial" panose="020B0604020202020204" pitchFamily="34" charset="0"/>
              </a:rPr>
              <a:t>RED paths are serotonin</a:t>
            </a:r>
          </a:p>
        </p:txBody>
      </p:sp>
      <p:sp>
        <p:nvSpPr>
          <p:cNvPr id="8" name="Text Placeholder 3">
            <a:extLst>
              <a:ext uri="{FF2B5EF4-FFF2-40B4-BE49-F238E27FC236}">
                <a16:creationId xmlns:a16="http://schemas.microsoft.com/office/drawing/2014/main" id="{4F18C035-2A4B-4009-8A71-9E9920F97391}"/>
              </a:ext>
            </a:extLst>
          </p:cNvPr>
          <p:cNvSpPr txBox="1">
            <a:spLocks/>
          </p:cNvSpPr>
          <p:nvPr/>
        </p:nvSpPr>
        <p:spPr>
          <a:xfrm>
            <a:off x="206137" y="4378732"/>
            <a:ext cx="3373499" cy="3153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2000" b="1" dirty="0">
                <a:solidFill>
                  <a:schemeClr val="accent1"/>
                </a:solidFill>
                <a:highlight>
                  <a:srgbClr val="FFFF00"/>
                </a:highlight>
                <a:latin typeface="Roboto Black" panose="02000000000000000000" pitchFamily="2" charset="0"/>
                <a:ea typeface="Roboto Black" panose="02000000000000000000" pitchFamily="2" charset="0"/>
                <a:cs typeface="Arial" panose="020B0604020202020204" pitchFamily="34" charset="0"/>
              </a:rPr>
              <a:t>BLUE paths are DOPAMINE</a:t>
            </a:r>
          </a:p>
        </p:txBody>
      </p:sp>
      <p:sp>
        <p:nvSpPr>
          <p:cNvPr id="9" name="Oval 8">
            <a:extLst>
              <a:ext uri="{FF2B5EF4-FFF2-40B4-BE49-F238E27FC236}">
                <a16:creationId xmlns:a16="http://schemas.microsoft.com/office/drawing/2014/main" id="{BC0EF0AC-BD49-47E5-A4F0-AC78248D5A3C}"/>
              </a:ext>
            </a:extLst>
          </p:cNvPr>
          <p:cNvSpPr/>
          <p:nvPr/>
        </p:nvSpPr>
        <p:spPr>
          <a:xfrm>
            <a:off x="5821250" y="1847894"/>
            <a:ext cx="768440" cy="798490"/>
          </a:xfrm>
          <a:prstGeom prst="ellipse">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sp>
        <p:nvSpPr>
          <p:cNvPr id="10" name="Oval 9">
            <a:extLst>
              <a:ext uri="{FF2B5EF4-FFF2-40B4-BE49-F238E27FC236}">
                <a16:creationId xmlns:a16="http://schemas.microsoft.com/office/drawing/2014/main" id="{B7A06279-0912-416B-8EC9-8AC541E0FC87}"/>
              </a:ext>
            </a:extLst>
          </p:cNvPr>
          <p:cNvSpPr/>
          <p:nvPr/>
        </p:nvSpPr>
        <p:spPr>
          <a:xfrm>
            <a:off x="5821250" y="1847894"/>
            <a:ext cx="768440" cy="798490"/>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sp>
        <p:nvSpPr>
          <p:cNvPr id="14" name="Rectangle 13">
            <a:extLst>
              <a:ext uri="{FF2B5EF4-FFF2-40B4-BE49-F238E27FC236}">
                <a16:creationId xmlns:a16="http://schemas.microsoft.com/office/drawing/2014/main" id="{7DE83D0C-F2C0-46EF-BE95-A47B6D63EEA0}"/>
              </a:ext>
            </a:extLst>
          </p:cNvPr>
          <p:cNvSpPr/>
          <p:nvPr/>
        </p:nvSpPr>
        <p:spPr>
          <a:xfrm>
            <a:off x="1045447" y="5105196"/>
            <a:ext cx="10090485" cy="1908215"/>
          </a:xfrm>
          <a:prstGeom prst="rect">
            <a:avLst/>
          </a:prstGeom>
        </p:spPr>
        <p:txBody>
          <a:bodyPr wrap="square">
            <a:spAutoFit/>
          </a:bodyPr>
          <a:lstStyle/>
          <a:p>
            <a:endParaRPr lang="en-AU" dirty="0">
              <a:solidFill>
                <a:srgbClr val="3A7386"/>
              </a:solidFill>
              <a:latin typeface="Roboto Black" panose="02000000000000000000" pitchFamily="2" charset="0"/>
              <a:ea typeface="Roboto Black" panose="02000000000000000000" pitchFamily="2" charset="0"/>
            </a:endParaRPr>
          </a:p>
          <a:p>
            <a:pPr algn="ctr"/>
            <a:r>
              <a:rPr lang="en-AU" sz="3200" dirty="0">
                <a:solidFill>
                  <a:srgbClr val="FF0000"/>
                </a:solidFill>
                <a:latin typeface="Roboto Black" panose="02000000000000000000" pitchFamily="2" charset="0"/>
                <a:ea typeface="Roboto Black" panose="02000000000000000000" pitchFamily="2" charset="0"/>
              </a:rPr>
              <a:t>Nigrostriatal pathway – decreases in dopamine </a:t>
            </a:r>
          </a:p>
          <a:p>
            <a:pPr algn="ctr"/>
            <a:r>
              <a:rPr lang="en-AU" sz="3200" dirty="0">
                <a:solidFill>
                  <a:srgbClr val="FF0000"/>
                </a:solidFill>
                <a:latin typeface="Roboto Black" panose="02000000000000000000" pitchFamily="2" charset="0"/>
                <a:ea typeface="Roboto Black" panose="02000000000000000000" pitchFamily="2" charset="0"/>
              </a:rPr>
              <a:t>here result in Parkinsonian symptoms</a:t>
            </a:r>
          </a:p>
          <a:p>
            <a:endParaRPr lang="en-AU" dirty="0">
              <a:solidFill>
                <a:srgbClr val="3A7386"/>
              </a:solidFill>
              <a:latin typeface="Roboto Black" panose="02000000000000000000" pitchFamily="2" charset="0"/>
              <a:ea typeface="Roboto Black" panose="02000000000000000000" pitchFamily="2" charset="0"/>
            </a:endParaRPr>
          </a:p>
          <a:p>
            <a:endParaRPr lang="en-AU" dirty="0">
              <a:solidFill>
                <a:schemeClr val="accent6"/>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20416876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487D6C-879C-40B5-A79D-BB3CAEFF6C56}"/>
              </a:ext>
            </a:extLst>
          </p:cNvPr>
          <p:cNvPicPr>
            <a:picLocks noChangeAspect="1"/>
          </p:cNvPicPr>
          <p:nvPr/>
        </p:nvPicPr>
        <p:blipFill>
          <a:blip r:embed="rId2"/>
          <a:stretch>
            <a:fillRect/>
          </a:stretch>
        </p:blipFill>
        <p:spPr>
          <a:xfrm>
            <a:off x="1740205" y="130744"/>
            <a:ext cx="8711590" cy="6844821"/>
          </a:xfrm>
          <a:prstGeom prst="rect">
            <a:avLst/>
          </a:prstGeom>
          <a:ln>
            <a:solidFill>
              <a:schemeClr val="accent2"/>
            </a:solidFill>
          </a:ln>
        </p:spPr>
      </p:pic>
      <p:sp>
        <p:nvSpPr>
          <p:cNvPr id="5" name="Rectangle 4">
            <a:extLst>
              <a:ext uri="{FF2B5EF4-FFF2-40B4-BE49-F238E27FC236}">
                <a16:creationId xmlns:a16="http://schemas.microsoft.com/office/drawing/2014/main" id="{A1BDB142-F931-4585-8CFC-6C5A86448EC6}"/>
              </a:ext>
            </a:extLst>
          </p:cNvPr>
          <p:cNvSpPr/>
          <p:nvPr/>
        </p:nvSpPr>
        <p:spPr>
          <a:xfrm>
            <a:off x="1740205" y="4134118"/>
            <a:ext cx="3415637" cy="2841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F026017F-70D6-448F-8F04-FC11AFD92AAE}"/>
              </a:ext>
            </a:extLst>
          </p:cNvPr>
          <p:cNvSpPr/>
          <p:nvPr/>
        </p:nvSpPr>
        <p:spPr>
          <a:xfrm>
            <a:off x="7499208" y="4210318"/>
            <a:ext cx="3415637" cy="2841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 Placeholder 3">
            <a:extLst>
              <a:ext uri="{FF2B5EF4-FFF2-40B4-BE49-F238E27FC236}">
                <a16:creationId xmlns:a16="http://schemas.microsoft.com/office/drawing/2014/main" id="{316B2282-9778-44AD-8C30-AA8935BCDB0B}"/>
              </a:ext>
            </a:extLst>
          </p:cNvPr>
          <p:cNvSpPr txBox="1">
            <a:spLocks/>
          </p:cNvSpPr>
          <p:nvPr/>
        </p:nvSpPr>
        <p:spPr>
          <a:xfrm>
            <a:off x="227920" y="2089485"/>
            <a:ext cx="3024569" cy="3153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2000" b="1" dirty="0">
                <a:solidFill>
                  <a:srgbClr val="FF0000"/>
                </a:solidFill>
                <a:latin typeface="Roboto Black" panose="02000000000000000000" pitchFamily="2" charset="0"/>
                <a:ea typeface="Roboto Black" panose="02000000000000000000" pitchFamily="2" charset="0"/>
                <a:cs typeface="Arial" panose="020B0604020202020204" pitchFamily="34" charset="0"/>
              </a:rPr>
              <a:t>RED paths are serotonin</a:t>
            </a:r>
          </a:p>
        </p:txBody>
      </p:sp>
      <p:sp>
        <p:nvSpPr>
          <p:cNvPr id="8" name="Text Placeholder 3">
            <a:extLst>
              <a:ext uri="{FF2B5EF4-FFF2-40B4-BE49-F238E27FC236}">
                <a16:creationId xmlns:a16="http://schemas.microsoft.com/office/drawing/2014/main" id="{4F18C035-2A4B-4009-8A71-9E9920F97391}"/>
              </a:ext>
            </a:extLst>
          </p:cNvPr>
          <p:cNvSpPr txBox="1">
            <a:spLocks/>
          </p:cNvSpPr>
          <p:nvPr/>
        </p:nvSpPr>
        <p:spPr>
          <a:xfrm>
            <a:off x="259890" y="4453208"/>
            <a:ext cx="3369206" cy="3153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2000" b="1" dirty="0">
                <a:solidFill>
                  <a:schemeClr val="accent1"/>
                </a:solidFill>
                <a:highlight>
                  <a:srgbClr val="FFFF00"/>
                </a:highlight>
                <a:latin typeface="Roboto Black" panose="02000000000000000000" pitchFamily="2" charset="0"/>
                <a:ea typeface="Roboto Black" panose="02000000000000000000" pitchFamily="2" charset="0"/>
                <a:cs typeface="Arial" panose="020B0604020202020204" pitchFamily="34" charset="0"/>
              </a:rPr>
              <a:t>BLUE paths are DOPAMINE</a:t>
            </a:r>
          </a:p>
        </p:txBody>
      </p:sp>
      <p:sp>
        <p:nvSpPr>
          <p:cNvPr id="2" name="Oval 1">
            <a:extLst>
              <a:ext uri="{FF2B5EF4-FFF2-40B4-BE49-F238E27FC236}">
                <a16:creationId xmlns:a16="http://schemas.microsoft.com/office/drawing/2014/main" id="{4F6D3754-83C5-42FD-8482-2F6EC1A304EA}"/>
              </a:ext>
            </a:extLst>
          </p:cNvPr>
          <p:cNvSpPr/>
          <p:nvPr/>
        </p:nvSpPr>
        <p:spPr>
          <a:xfrm>
            <a:off x="5908962" y="2646383"/>
            <a:ext cx="656822" cy="654901"/>
          </a:xfrm>
          <a:prstGeom prst="ellipse">
            <a:avLst/>
          </a:prstGeom>
          <a:noFill/>
          <a:ln w="76200">
            <a:solidFill>
              <a:srgbClr val="FFFF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Oval 12">
            <a:extLst>
              <a:ext uri="{FF2B5EF4-FFF2-40B4-BE49-F238E27FC236}">
                <a16:creationId xmlns:a16="http://schemas.microsoft.com/office/drawing/2014/main" id="{E84481B7-F4BB-4FAB-A25F-2AC61A5FDB34}"/>
              </a:ext>
            </a:extLst>
          </p:cNvPr>
          <p:cNvSpPr/>
          <p:nvPr/>
        </p:nvSpPr>
        <p:spPr>
          <a:xfrm>
            <a:off x="5908962" y="2641301"/>
            <a:ext cx="656822" cy="654901"/>
          </a:xfrm>
          <a:prstGeom prst="ellipse">
            <a:avLst/>
          </a:prstGeom>
          <a:noFill/>
          <a:ln w="28575">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Rectangle 13">
            <a:extLst>
              <a:ext uri="{FF2B5EF4-FFF2-40B4-BE49-F238E27FC236}">
                <a16:creationId xmlns:a16="http://schemas.microsoft.com/office/drawing/2014/main" id="{7DE83D0C-F2C0-46EF-BE95-A47B6D63EEA0}"/>
              </a:ext>
            </a:extLst>
          </p:cNvPr>
          <p:cNvSpPr/>
          <p:nvPr/>
        </p:nvSpPr>
        <p:spPr>
          <a:xfrm>
            <a:off x="1045447" y="5105196"/>
            <a:ext cx="10090485" cy="1354217"/>
          </a:xfrm>
          <a:prstGeom prst="rect">
            <a:avLst/>
          </a:prstGeom>
        </p:spPr>
        <p:txBody>
          <a:bodyPr wrap="square">
            <a:spAutoFit/>
          </a:bodyPr>
          <a:lstStyle/>
          <a:p>
            <a:endParaRPr lang="en-AU" dirty="0">
              <a:solidFill>
                <a:srgbClr val="3A7386"/>
              </a:solidFill>
              <a:latin typeface="Roboto Black" panose="02000000000000000000" pitchFamily="2" charset="0"/>
              <a:ea typeface="Roboto Black" panose="02000000000000000000" pitchFamily="2" charset="0"/>
            </a:endParaRPr>
          </a:p>
          <a:p>
            <a:pPr algn="ctr"/>
            <a:r>
              <a:rPr lang="en-AU" sz="3200" dirty="0">
                <a:solidFill>
                  <a:schemeClr val="accent6"/>
                </a:solidFill>
                <a:latin typeface="Roboto Black" panose="02000000000000000000" pitchFamily="2" charset="0"/>
                <a:ea typeface="Roboto Black" panose="02000000000000000000" pitchFamily="2" charset="0"/>
              </a:rPr>
              <a:t>Tuberoinfundibular pathway – </a:t>
            </a:r>
          </a:p>
          <a:p>
            <a:pPr algn="ctr"/>
            <a:r>
              <a:rPr lang="en-AU" sz="3200" dirty="0">
                <a:solidFill>
                  <a:schemeClr val="accent6"/>
                </a:solidFill>
                <a:latin typeface="Roboto Black" panose="02000000000000000000" pitchFamily="2" charset="0"/>
                <a:ea typeface="Roboto Black" panose="02000000000000000000" pitchFamily="2" charset="0"/>
              </a:rPr>
              <a:t>controls prolactin release</a:t>
            </a:r>
          </a:p>
        </p:txBody>
      </p:sp>
    </p:spTree>
    <p:extLst>
      <p:ext uri="{BB962C8B-B14F-4D97-AF65-F5344CB8AC3E}">
        <p14:creationId xmlns:p14="http://schemas.microsoft.com/office/powerpoint/2010/main" val="337506019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487D6C-879C-40B5-A79D-BB3CAEFF6C56}"/>
              </a:ext>
            </a:extLst>
          </p:cNvPr>
          <p:cNvPicPr>
            <a:picLocks noChangeAspect="1"/>
          </p:cNvPicPr>
          <p:nvPr/>
        </p:nvPicPr>
        <p:blipFill>
          <a:blip r:embed="rId2"/>
          <a:stretch>
            <a:fillRect/>
          </a:stretch>
        </p:blipFill>
        <p:spPr>
          <a:xfrm>
            <a:off x="1740205" y="130744"/>
            <a:ext cx="8711590" cy="6844821"/>
          </a:xfrm>
          <a:prstGeom prst="rect">
            <a:avLst/>
          </a:prstGeom>
          <a:ln>
            <a:solidFill>
              <a:schemeClr val="accent2"/>
            </a:solidFill>
          </a:ln>
        </p:spPr>
      </p:pic>
      <p:sp>
        <p:nvSpPr>
          <p:cNvPr id="5" name="Rectangle 4">
            <a:extLst>
              <a:ext uri="{FF2B5EF4-FFF2-40B4-BE49-F238E27FC236}">
                <a16:creationId xmlns:a16="http://schemas.microsoft.com/office/drawing/2014/main" id="{A1BDB142-F931-4585-8CFC-6C5A86448EC6}"/>
              </a:ext>
            </a:extLst>
          </p:cNvPr>
          <p:cNvSpPr/>
          <p:nvPr/>
        </p:nvSpPr>
        <p:spPr>
          <a:xfrm>
            <a:off x="1740205" y="4134118"/>
            <a:ext cx="3415637" cy="2841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F026017F-70D6-448F-8F04-FC11AFD92AAE}"/>
              </a:ext>
            </a:extLst>
          </p:cNvPr>
          <p:cNvSpPr/>
          <p:nvPr/>
        </p:nvSpPr>
        <p:spPr>
          <a:xfrm>
            <a:off x="7499208" y="4210318"/>
            <a:ext cx="3415637" cy="2841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 Placeholder 3">
            <a:extLst>
              <a:ext uri="{FF2B5EF4-FFF2-40B4-BE49-F238E27FC236}">
                <a16:creationId xmlns:a16="http://schemas.microsoft.com/office/drawing/2014/main" id="{316B2282-9778-44AD-8C30-AA8935BCDB0B}"/>
              </a:ext>
            </a:extLst>
          </p:cNvPr>
          <p:cNvSpPr txBox="1">
            <a:spLocks/>
          </p:cNvSpPr>
          <p:nvPr/>
        </p:nvSpPr>
        <p:spPr>
          <a:xfrm>
            <a:off x="565290" y="2121418"/>
            <a:ext cx="3024569" cy="3153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600" b="1" dirty="0">
                <a:solidFill>
                  <a:srgbClr val="FF0000"/>
                </a:solidFill>
                <a:latin typeface="Roboto Black" panose="02000000000000000000" pitchFamily="2" charset="0"/>
                <a:ea typeface="Roboto Black" panose="02000000000000000000" pitchFamily="2" charset="0"/>
                <a:cs typeface="Arial" panose="020B0604020202020204" pitchFamily="34" charset="0"/>
              </a:rPr>
              <a:t>RED paths are serotonin</a:t>
            </a:r>
          </a:p>
        </p:txBody>
      </p:sp>
      <p:sp>
        <p:nvSpPr>
          <p:cNvPr id="8" name="Text Placeholder 3">
            <a:extLst>
              <a:ext uri="{FF2B5EF4-FFF2-40B4-BE49-F238E27FC236}">
                <a16:creationId xmlns:a16="http://schemas.microsoft.com/office/drawing/2014/main" id="{4F18C035-2A4B-4009-8A71-9E9920F97391}"/>
              </a:ext>
            </a:extLst>
          </p:cNvPr>
          <p:cNvSpPr txBox="1">
            <a:spLocks/>
          </p:cNvSpPr>
          <p:nvPr/>
        </p:nvSpPr>
        <p:spPr>
          <a:xfrm>
            <a:off x="606073" y="4467520"/>
            <a:ext cx="3024569" cy="3153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600" b="1" dirty="0">
                <a:solidFill>
                  <a:schemeClr val="accent1"/>
                </a:solidFill>
                <a:highlight>
                  <a:srgbClr val="FFFF00"/>
                </a:highlight>
                <a:latin typeface="Roboto Black" panose="02000000000000000000" pitchFamily="2" charset="0"/>
                <a:ea typeface="Roboto Black" panose="02000000000000000000" pitchFamily="2" charset="0"/>
                <a:cs typeface="Arial" panose="020B0604020202020204" pitchFamily="34" charset="0"/>
              </a:rPr>
              <a:t>BLUE paths are DOPAMINE</a:t>
            </a:r>
          </a:p>
        </p:txBody>
      </p:sp>
      <p:sp>
        <p:nvSpPr>
          <p:cNvPr id="9" name="Oval 8">
            <a:extLst>
              <a:ext uri="{FF2B5EF4-FFF2-40B4-BE49-F238E27FC236}">
                <a16:creationId xmlns:a16="http://schemas.microsoft.com/office/drawing/2014/main" id="{BC0EF0AC-BD49-47E5-A4F0-AC78248D5A3C}"/>
              </a:ext>
            </a:extLst>
          </p:cNvPr>
          <p:cNvSpPr/>
          <p:nvPr/>
        </p:nvSpPr>
        <p:spPr>
          <a:xfrm>
            <a:off x="5821250" y="1847894"/>
            <a:ext cx="768440" cy="798490"/>
          </a:xfrm>
          <a:prstGeom prst="ellipse">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sp>
        <p:nvSpPr>
          <p:cNvPr id="10" name="Oval 9">
            <a:extLst>
              <a:ext uri="{FF2B5EF4-FFF2-40B4-BE49-F238E27FC236}">
                <a16:creationId xmlns:a16="http://schemas.microsoft.com/office/drawing/2014/main" id="{B7A06279-0912-416B-8EC9-8AC541E0FC87}"/>
              </a:ext>
            </a:extLst>
          </p:cNvPr>
          <p:cNvSpPr/>
          <p:nvPr/>
        </p:nvSpPr>
        <p:spPr>
          <a:xfrm>
            <a:off x="5821250" y="1847894"/>
            <a:ext cx="768440" cy="798490"/>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sp>
        <p:nvSpPr>
          <p:cNvPr id="11" name="Oval 10">
            <a:extLst>
              <a:ext uri="{FF2B5EF4-FFF2-40B4-BE49-F238E27FC236}">
                <a16:creationId xmlns:a16="http://schemas.microsoft.com/office/drawing/2014/main" id="{1523DAF8-0A8E-4FFA-BA87-E15685054306}"/>
              </a:ext>
            </a:extLst>
          </p:cNvPr>
          <p:cNvSpPr/>
          <p:nvPr/>
        </p:nvSpPr>
        <p:spPr>
          <a:xfrm rot="20029479">
            <a:off x="3679064" y="1563224"/>
            <a:ext cx="901522" cy="1814848"/>
          </a:xfrm>
          <a:prstGeom prst="ellipse">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Oval 11">
            <a:extLst>
              <a:ext uri="{FF2B5EF4-FFF2-40B4-BE49-F238E27FC236}">
                <a16:creationId xmlns:a16="http://schemas.microsoft.com/office/drawing/2014/main" id="{2A6E847E-0A74-4BC9-B1A1-3F2414827BA0}"/>
              </a:ext>
            </a:extLst>
          </p:cNvPr>
          <p:cNvSpPr/>
          <p:nvPr/>
        </p:nvSpPr>
        <p:spPr>
          <a:xfrm rot="20029479">
            <a:off x="3679066" y="1563224"/>
            <a:ext cx="901522" cy="1814848"/>
          </a:xfrm>
          <a:prstGeom prst="ellipse">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Oval 1">
            <a:extLst>
              <a:ext uri="{FF2B5EF4-FFF2-40B4-BE49-F238E27FC236}">
                <a16:creationId xmlns:a16="http://schemas.microsoft.com/office/drawing/2014/main" id="{4F6D3754-83C5-42FD-8482-2F6EC1A304EA}"/>
              </a:ext>
            </a:extLst>
          </p:cNvPr>
          <p:cNvSpPr/>
          <p:nvPr/>
        </p:nvSpPr>
        <p:spPr>
          <a:xfrm>
            <a:off x="5908962" y="2646383"/>
            <a:ext cx="656822" cy="654901"/>
          </a:xfrm>
          <a:prstGeom prst="ellipse">
            <a:avLst/>
          </a:prstGeom>
          <a:noFill/>
          <a:ln w="76200">
            <a:solidFill>
              <a:srgbClr val="FFFF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Oval 12">
            <a:extLst>
              <a:ext uri="{FF2B5EF4-FFF2-40B4-BE49-F238E27FC236}">
                <a16:creationId xmlns:a16="http://schemas.microsoft.com/office/drawing/2014/main" id="{E84481B7-F4BB-4FAB-A25F-2AC61A5FDB34}"/>
              </a:ext>
            </a:extLst>
          </p:cNvPr>
          <p:cNvSpPr/>
          <p:nvPr/>
        </p:nvSpPr>
        <p:spPr>
          <a:xfrm>
            <a:off x="5908962" y="2641301"/>
            <a:ext cx="656822" cy="654901"/>
          </a:xfrm>
          <a:prstGeom prst="ellipse">
            <a:avLst/>
          </a:prstGeom>
          <a:noFill/>
          <a:ln w="28575">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Rectangle 13">
            <a:extLst>
              <a:ext uri="{FF2B5EF4-FFF2-40B4-BE49-F238E27FC236}">
                <a16:creationId xmlns:a16="http://schemas.microsoft.com/office/drawing/2014/main" id="{7DE83D0C-F2C0-46EF-BE95-A47B6D63EEA0}"/>
              </a:ext>
            </a:extLst>
          </p:cNvPr>
          <p:cNvSpPr/>
          <p:nvPr/>
        </p:nvSpPr>
        <p:spPr>
          <a:xfrm>
            <a:off x="1045447" y="5105196"/>
            <a:ext cx="10090485" cy="1477328"/>
          </a:xfrm>
          <a:prstGeom prst="rect">
            <a:avLst/>
          </a:prstGeom>
        </p:spPr>
        <p:txBody>
          <a:bodyPr wrap="square">
            <a:spAutoFit/>
          </a:bodyPr>
          <a:lstStyle/>
          <a:p>
            <a:r>
              <a:rPr lang="en-AU" dirty="0" err="1">
                <a:solidFill>
                  <a:srgbClr val="7030A0"/>
                </a:solidFill>
                <a:latin typeface="Roboto Black" panose="02000000000000000000" pitchFamily="2" charset="0"/>
                <a:ea typeface="Roboto Black" panose="02000000000000000000" pitchFamily="2" charset="0"/>
              </a:rPr>
              <a:t>Mesocortical</a:t>
            </a:r>
            <a:r>
              <a:rPr lang="en-AU" dirty="0">
                <a:solidFill>
                  <a:srgbClr val="7030A0"/>
                </a:solidFill>
                <a:latin typeface="Roboto Black" panose="02000000000000000000" pitchFamily="2" charset="0"/>
                <a:ea typeface="Roboto Black" panose="02000000000000000000" pitchFamily="2" charset="0"/>
              </a:rPr>
              <a:t> pathway - underactive in schizophrenia – contributes to negative symptoms</a:t>
            </a:r>
          </a:p>
          <a:p>
            <a:endParaRPr lang="en-AU" dirty="0">
              <a:solidFill>
                <a:srgbClr val="3A7386"/>
              </a:solidFill>
              <a:latin typeface="Roboto Black" panose="02000000000000000000" pitchFamily="2" charset="0"/>
              <a:ea typeface="Roboto Black" panose="02000000000000000000" pitchFamily="2" charset="0"/>
            </a:endParaRPr>
          </a:p>
          <a:p>
            <a:r>
              <a:rPr lang="en-AU" dirty="0">
                <a:solidFill>
                  <a:srgbClr val="FF0000"/>
                </a:solidFill>
                <a:latin typeface="Roboto Black" panose="02000000000000000000" pitchFamily="2" charset="0"/>
                <a:ea typeface="Roboto Black" panose="02000000000000000000" pitchFamily="2" charset="0"/>
              </a:rPr>
              <a:t>Nigrostriatal pathway – decreases in dopamine here result in Parkinsonian symptoms</a:t>
            </a:r>
          </a:p>
          <a:p>
            <a:endParaRPr lang="en-AU" dirty="0">
              <a:solidFill>
                <a:srgbClr val="3A7386"/>
              </a:solidFill>
              <a:latin typeface="Roboto Black" panose="02000000000000000000" pitchFamily="2" charset="0"/>
              <a:ea typeface="Roboto Black" panose="02000000000000000000" pitchFamily="2" charset="0"/>
            </a:endParaRPr>
          </a:p>
          <a:p>
            <a:r>
              <a:rPr lang="en-AU" dirty="0">
                <a:solidFill>
                  <a:schemeClr val="accent6"/>
                </a:solidFill>
                <a:latin typeface="Roboto Black" panose="02000000000000000000" pitchFamily="2" charset="0"/>
                <a:ea typeface="Roboto Black" panose="02000000000000000000" pitchFamily="2" charset="0"/>
              </a:rPr>
              <a:t>Tuberoinfundibular pathway – controls prolactin release</a:t>
            </a:r>
          </a:p>
        </p:txBody>
      </p:sp>
    </p:spTree>
    <p:extLst>
      <p:ext uri="{BB962C8B-B14F-4D97-AF65-F5344CB8AC3E}">
        <p14:creationId xmlns:p14="http://schemas.microsoft.com/office/powerpoint/2010/main" val="26698689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766218"/>
            <a:ext cx="10515600" cy="1325563"/>
          </a:xfrm>
        </p:spPr>
        <p:txBody>
          <a:bodyPr/>
          <a:lstStyle/>
          <a:p>
            <a:pPr algn="ctr"/>
            <a:r>
              <a:rPr lang="en-AU" b="1" dirty="0">
                <a:solidFill>
                  <a:schemeClr val="bg1"/>
                </a:solidFill>
                <a:latin typeface="Arial" panose="020B0604020202020204" pitchFamily="34" charset="0"/>
                <a:cs typeface="Arial" panose="020B0604020202020204" pitchFamily="34" charset="0"/>
              </a:rPr>
              <a:t>Antipsychotics </a:t>
            </a:r>
          </a:p>
        </p:txBody>
      </p:sp>
      <p:pic>
        <p:nvPicPr>
          <p:cNvPr id="7" name="Picture 6">
            <a:extLst>
              <a:ext uri="{FF2B5EF4-FFF2-40B4-BE49-F238E27FC236}">
                <a16:creationId xmlns:a16="http://schemas.microsoft.com/office/drawing/2014/main" id="{26DBFC34-EA55-4021-846E-87068C8820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438" y="289934"/>
            <a:ext cx="11161123" cy="6278132"/>
          </a:xfrm>
          <a:prstGeom prst="rect">
            <a:avLst/>
          </a:prstGeom>
        </p:spPr>
      </p:pic>
      <p:sp>
        <p:nvSpPr>
          <p:cNvPr id="4" name="Title 1">
            <a:extLst>
              <a:ext uri="{FF2B5EF4-FFF2-40B4-BE49-F238E27FC236}">
                <a16:creationId xmlns:a16="http://schemas.microsoft.com/office/drawing/2014/main" id="{435773D9-89DC-4D0D-8F33-B90C0EA8299E}"/>
              </a:ext>
            </a:extLst>
          </p:cNvPr>
          <p:cNvSpPr txBox="1">
            <a:spLocks/>
          </p:cNvSpPr>
          <p:nvPr/>
        </p:nvSpPr>
        <p:spPr>
          <a:xfrm>
            <a:off x="551720" y="1131903"/>
            <a:ext cx="3199096" cy="67746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2400" b="1" dirty="0">
                <a:solidFill>
                  <a:schemeClr val="bg1"/>
                </a:solidFill>
                <a:latin typeface="Roboto Black" panose="02000000000000000000" pitchFamily="2" charset="0"/>
                <a:ea typeface="Roboto Black" panose="02000000000000000000" pitchFamily="2" charset="0"/>
              </a:rPr>
              <a:t>Specific medications</a:t>
            </a:r>
          </a:p>
        </p:txBody>
      </p:sp>
    </p:spTree>
    <p:extLst>
      <p:ext uri="{BB962C8B-B14F-4D97-AF65-F5344CB8AC3E}">
        <p14:creationId xmlns:p14="http://schemas.microsoft.com/office/powerpoint/2010/main" val="2360803822"/>
      </p:ext>
    </p:extLst>
  </p:cSld>
  <p:clrMapOvr>
    <a:masterClrMapping/>
  </p:clrMapOvr>
  <p:transition>
    <p:cut thruBlk="1"/>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4000" b="1" dirty="0">
                <a:solidFill>
                  <a:srgbClr val="3A7386"/>
                </a:solidFill>
                <a:latin typeface="Roboto Black" panose="02000000000000000000" pitchFamily="2" charset="0"/>
                <a:ea typeface="Roboto Black" panose="02000000000000000000" pitchFamily="2" charset="0"/>
              </a:rPr>
              <a:t>First generation antipsychotics</a:t>
            </a:r>
          </a:p>
        </p:txBody>
      </p:sp>
      <p:sp>
        <p:nvSpPr>
          <p:cNvPr id="3" name="Content Placeholder 2"/>
          <p:cNvSpPr>
            <a:spLocks noGrp="1"/>
          </p:cNvSpPr>
          <p:nvPr>
            <p:ph sz="quarter" idx="1"/>
          </p:nvPr>
        </p:nvSpPr>
        <p:spPr/>
        <p:txBody>
          <a:bodyPr>
            <a:normAutofit/>
          </a:bodyPr>
          <a:lstStyle/>
          <a:p>
            <a:r>
              <a:rPr lang="en-AU" dirty="0">
                <a:solidFill>
                  <a:srgbClr val="3A7386"/>
                </a:solidFill>
                <a:latin typeface="Roboto Black" panose="02000000000000000000" pitchFamily="2" charset="0"/>
                <a:ea typeface="Roboto Black" panose="02000000000000000000" pitchFamily="2" charset="0"/>
              </a:rPr>
              <a:t>First generation antipsychotics 	</a:t>
            </a:r>
          </a:p>
          <a:p>
            <a:pPr lvl="1"/>
            <a:r>
              <a:rPr lang="en-AU" sz="2300" dirty="0">
                <a:solidFill>
                  <a:srgbClr val="3A7386"/>
                </a:solidFill>
                <a:latin typeface="Roboto Black" panose="02000000000000000000" pitchFamily="2" charset="0"/>
                <a:ea typeface="Roboto Black" panose="02000000000000000000" pitchFamily="2" charset="0"/>
              </a:rPr>
              <a:t>Also termed ‘typical’ ‘neuroleptics’ or ‘major tranquillisers’</a:t>
            </a:r>
          </a:p>
          <a:p>
            <a:r>
              <a:rPr lang="en-AU" dirty="0">
                <a:solidFill>
                  <a:srgbClr val="3A7386"/>
                </a:solidFill>
                <a:latin typeface="Roboto Black" panose="02000000000000000000" pitchFamily="2" charset="0"/>
                <a:ea typeface="Roboto Black" panose="02000000000000000000" pitchFamily="2" charset="0"/>
              </a:rPr>
              <a:t>Haloperidol (</a:t>
            </a:r>
            <a:r>
              <a:rPr lang="en-AU" dirty="0" err="1">
                <a:solidFill>
                  <a:srgbClr val="3A7386"/>
                </a:solidFill>
                <a:latin typeface="Roboto Black" panose="02000000000000000000" pitchFamily="2" charset="0"/>
                <a:ea typeface="Roboto Black" panose="02000000000000000000" pitchFamily="2" charset="0"/>
              </a:rPr>
              <a:t>Serenace</a:t>
            </a:r>
            <a:r>
              <a:rPr lang="en-AU" dirty="0">
                <a:solidFill>
                  <a:srgbClr val="3A7386"/>
                </a:solidFill>
                <a:latin typeface="Roboto Black" panose="02000000000000000000" pitchFamily="2" charset="0"/>
                <a:ea typeface="Roboto Black" panose="02000000000000000000" pitchFamily="2" charset="0"/>
              </a:rPr>
              <a:t>) and Chlorpromazine (</a:t>
            </a:r>
            <a:r>
              <a:rPr lang="en-AU" dirty="0" err="1">
                <a:solidFill>
                  <a:srgbClr val="3A7386"/>
                </a:solidFill>
                <a:latin typeface="Roboto Black" panose="02000000000000000000" pitchFamily="2" charset="0"/>
                <a:ea typeface="Roboto Black" panose="02000000000000000000" pitchFamily="2" charset="0"/>
              </a:rPr>
              <a:t>Largactil</a:t>
            </a:r>
            <a:r>
              <a:rPr lang="en-AU" dirty="0">
                <a:solidFill>
                  <a:srgbClr val="3A7386"/>
                </a:solidFill>
                <a:latin typeface="Roboto Black" panose="02000000000000000000" pitchFamily="2" charset="0"/>
                <a:ea typeface="Roboto Black" panose="02000000000000000000" pitchFamily="2" charset="0"/>
              </a:rPr>
              <a:t>)</a:t>
            </a:r>
          </a:p>
          <a:p>
            <a:r>
              <a:rPr lang="en-AU" dirty="0">
                <a:solidFill>
                  <a:srgbClr val="3A7386"/>
                </a:solidFill>
                <a:latin typeface="Roboto Black" panose="02000000000000000000" pitchFamily="2" charset="0"/>
                <a:ea typeface="Roboto Black" panose="02000000000000000000" pitchFamily="2" charset="0"/>
              </a:rPr>
              <a:t>Similar mechanisms of action on the CNS</a:t>
            </a:r>
          </a:p>
          <a:p>
            <a:r>
              <a:rPr lang="en-AU" dirty="0">
                <a:solidFill>
                  <a:srgbClr val="3A7386"/>
                </a:solidFill>
                <a:latin typeface="Roboto Black" panose="02000000000000000000" pitchFamily="2" charset="0"/>
                <a:ea typeface="Roboto Black" panose="02000000000000000000" pitchFamily="2" charset="0"/>
              </a:rPr>
              <a:t>Main action is to antagonise dopamine receptors</a:t>
            </a:r>
          </a:p>
          <a:p>
            <a:pPr lvl="1"/>
            <a:r>
              <a:rPr lang="en-AU" sz="1900" dirty="0">
                <a:solidFill>
                  <a:srgbClr val="3A7386"/>
                </a:solidFill>
                <a:latin typeface="Roboto Black" panose="02000000000000000000" pitchFamily="2" charset="0"/>
                <a:ea typeface="Roboto Black" panose="02000000000000000000" pitchFamily="2" charset="0"/>
              </a:rPr>
              <a:t>Numerous adverse effects  </a:t>
            </a:r>
          </a:p>
        </p:txBody>
      </p:sp>
    </p:spTree>
    <p:extLst>
      <p:ext uri="{BB962C8B-B14F-4D97-AF65-F5344CB8AC3E}">
        <p14:creationId xmlns:p14="http://schemas.microsoft.com/office/powerpoint/2010/main" val="20938201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5271" y="545429"/>
            <a:ext cx="10515600" cy="1325563"/>
          </a:xfrm>
        </p:spPr>
        <p:txBody>
          <a:bodyPr>
            <a:normAutofit fontScale="90000"/>
          </a:bodyPr>
          <a:lstStyle/>
          <a:p>
            <a:pPr algn="ctr"/>
            <a:r>
              <a:rPr lang="en-AU" sz="3600" b="1" dirty="0">
                <a:solidFill>
                  <a:srgbClr val="3A7386"/>
                </a:solidFill>
                <a:latin typeface="Roboto Black" panose="02000000000000000000" pitchFamily="2" charset="0"/>
                <a:ea typeface="Roboto Black" panose="02000000000000000000" pitchFamily="2" charset="0"/>
              </a:rPr>
              <a:t>Adverse effects of </a:t>
            </a:r>
            <a:r>
              <a:rPr lang="en-AU" sz="3600" dirty="0">
                <a:solidFill>
                  <a:srgbClr val="3A7386"/>
                </a:solidFill>
                <a:latin typeface="Roboto Black" panose="02000000000000000000" pitchFamily="2" charset="0"/>
                <a:ea typeface="Roboto Black" panose="02000000000000000000" pitchFamily="2" charset="0"/>
              </a:rPr>
              <a:t>Haloperidol, Chlorpromazine and other first generation antipsychotic agents</a:t>
            </a:r>
            <a:br>
              <a:rPr lang="en-AU" sz="3600" dirty="0">
                <a:solidFill>
                  <a:srgbClr val="3A7386"/>
                </a:solidFill>
                <a:latin typeface="Roboto Black" panose="02000000000000000000" pitchFamily="2" charset="0"/>
                <a:ea typeface="Roboto Black" panose="02000000000000000000" pitchFamily="2" charset="0"/>
              </a:rPr>
            </a:br>
            <a:endParaRPr lang="en-AU" sz="3600" b="1" dirty="0">
              <a:solidFill>
                <a:srgbClr val="3A7386"/>
              </a:solidFill>
              <a:latin typeface="Roboto Black" panose="02000000000000000000" pitchFamily="2" charset="0"/>
              <a:ea typeface="Roboto Black" panose="02000000000000000000" pitchFamily="2" charset="0"/>
            </a:endParaRPr>
          </a:p>
        </p:txBody>
      </p:sp>
      <p:sp>
        <p:nvSpPr>
          <p:cNvPr id="3" name="Content Placeholder 2"/>
          <p:cNvSpPr>
            <a:spLocks noGrp="1"/>
          </p:cNvSpPr>
          <p:nvPr>
            <p:ph sz="quarter" idx="1"/>
          </p:nvPr>
        </p:nvSpPr>
        <p:spPr>
          <a:xfrm>
            <a:off x="795271" y="2203405"/>
            <a:ext cx="10515600" cy="4351338"/>
          </a:xfrm>
        </p:spPr>
        <p:txBody>
          <a:bodyPr>
            <a:normAutofit/>
          </a:bodyPr>
          <a:lstStyle/>
          <a:p>
            <a:r>
              <a:rPr lang="en-AU" sz="2400" dirty="0">
                <a:solidFill>
                  <a:srgbClr val="3A7386"/>
                </a:solidFill>
                <a:latin typeface="Roboto Black" panose="02000000000000000000" pitchFamily="2" charset="0"/>
                <a:ea typeface="Roboto Black" panose="02000000000000000000" pitchFamily="2" charset="0"/>
              </a:rPr>
              <a:t>Worsening of the negative symptoms (lack of motivation, diminished energy, inability to express emotions, social withdrawal)</a:t>
            </a:r>
          </a:p>
          <a:p>
            <a:r>
              <a:rPr lang="en-AU" sz="2400" dirty="0">
                <a:solidFill>
                  <a:srgbClr val="3A7386"/>
                </a:solidFill>
                <a:latin typeface="Roboto Black" panose="02000000000000000000" pitchFamily="2" charset="0"/>
                <a:ea typeface="Roboto Black" panose="02000000000000000000" pitchFamily="2" charset="0"/>
              </a:rPr>
              <a:t>Parkinsonian symptoms</a:t>
            </a:r>
          </a:p>
          <a:p>
            <a:r>
              <a:rPr lang="en-AU" sz="2400" dirty="0">
                <a:solidFill>
                  <a:srgbClr val="3A7386"/>
                </a:solidFill>
                <a:latin typeface="Roboto Black" panose="02000000000000000000" pitchFamily="2" charset="0"/>
                <a:ea typeface="Roboto Black" panose="02000000000000000000" pitchFamily="2" charset="0"/>
              </a:rPr>
              <a:t>Excess prolactin (milk production, breast development in males and sexual dysfunction)</a:t>
            </a:r>
          </a:p>
          <a:p>
            <a:endParaRPr lang="en-AU" sz="2400" dirty="0">
              <a:solidFill>
                <a:srgbClr val="3A7386"/>
              </a:solidFill>
              <a:latin typeface="Roboto Black" panose="02000000000000000000" pitchFamily="2" charset="0"/>
              <a:ea typeface="Roboto Black" panose="02000000000000000000" pitchFamily="2" charset="0"/>
            </a:endParaRPr>
          </a:p>
          <a:p>
            <a:r>
              <a:rPr lang="en-AU" sz="2400" dirty="0">
                <a:solidFill>
                  <a:srgbClr val="3A7386"/>
                </a:solidFill>
                <a:latin typeface="Roboto Black" panose="02000000000000000000" pitchFamily="2" charset="0"/>
                <a:ea typeface="Roboto Black" panose="02000000000000000000" pitchFamily="2" charset="0"/>
              </a:rPr>
              <a:t>Long term effects include the opposite of parkinsonian symptoms, that being tardive dyskinesia (smacking of lips, etc)</a:t>
            </a:r>
          </a:p>
          <a:p>
            <a:endParaRPr lang="en-AU" sz="1800" dirty="0">
              <a:solidFill>
                <a:srgbClr val="3A7386"/>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65495907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5271" y="545429"/>
            <a:ext cx="10515600" cy="1325563"/>
          </a:xfrm>
        </p:spPr>
        <p:txBody>
          <a:bodyPr>
            <a:normAutofit fontScale="90000"/>
          </a:bodyPr>
          <a:lstStyle/>
          <a:p>
            <a:pPr algn="ctr"/>
            <a:r>
              <a:rPr lang="en-AU" sz="3600" b="1" dirty="0">
                <a:solidFill>
                  <a:srgbClr val="3A7386"/>
                </a:solidFill>
                <a:highlight>
                  <a:srgbClr val="FFFF00"/>
                </a:highlight>
                <a:latin typeface="Roboto Black" panose="02000000000000000000" pitchFamily="2" charset="0"/>
                <a:ea typeface="Roboto Black" panose="02000000000000000000" pitchFamily="2" charset="0"/>
              </a:rPr>
              <a:t>Additional adverse effects </a:t>
            </a:r>
            <a:br>
              <a:rPr lang="en-AU" sz="3600" b="1" dirty="0">
                <a:solidFill>
                  <a:srgbClr val="3A7386"/>
                </a:solidFill>
                <a:highlight>
                  <a:srgbClr val="FFFF00"/>
                </a:highlight>
                <a:latin typeface="Roboto Black" panose="02000000000000000000" pitchFamily="2" charset="0"/>
                <a:ea typeface="Roboto Black" panose="02000000000000000000" pitchFamily="2" charset="0"/>
              </a:rPr>
            </a:br>
            <a:r>
              <a:rPr lang="en-AU" sz="3600" b="1" dirty="0">
                <a:solidFill>
                  <a:srgbClr val="3A7386"/>
                </a:solidFill>
                <a:latin typeface="Roboto Black" panose="02000000000000000000" pitchFamily="2" charset="0"/>
                <a:ea typeface="Roboto Black" panose="02000000000000000000" pitchFamily="2" charset="0"/>
              </a:rPr>
              <a:t>of </a:t>
            </a:r>
            <a:r>
              <a:rPr lang="en-AU" sz="3600" dirty="0">
                <a:solidFill>
                  <a:srgbClr val="3A7386"/>
                </a:solidFill>
                <a:latin typeface="Roboto Black" panose="02000000000000000000" pitchFamily="2" charset="0"/>
                <a:ea typeface="Roboto Black" panose="02000000000000000000" pitchFamily="2" charset="0"/>
              </a:rPr>
              <a:t>first generation antipsychotic agents</a:t>
            </a:r>
            <a:br>
              <a:rPr lang="en-AU" sz="3600" dirty="0">
                <a:solidFill>
                  <a:srgbClr val="3A7386"/>
                </a:solidFill>
                <a:latin typeface="Roboto Black" panose="02000000000000000000" pitchFamily="2" charset="0"/>
                <a:ea typeface="Roboto Black" panose="02000000000000000000" pitchFamily="2" charset="0"/>
              </a:rPr>
            </a:br>
            <a:endParaRPr lang="en-AU" sz="3600" b="1" dirty="0">
              <a:solidFill>
                <a:srgbClr val="3A7386"/>
              </a:solidFill>
              <a:latin typeface="Roboto Black" panose="02000000000000000000" pitchFamily="2" charset="0"/>
              <a:ea typeface="Roboto Black" panose="02000000000000000000" pitchFamily="2" charset="0"/>
            </a:endParaRPr>
          </a:p>
        </p:txBody>
      </p:sp>
      <p:sp>
        <p:nvSpPr>
          <p:cNvPr id="3" name="Content Placeholder 2"/>
          <p:cNvSpPr>
            <a:spLocks noGrp="1"/>
          </p:cNvSpPr>
          <p:nvPr>
            <p:ph sz="quarter" idx="1"/>
          </p:nvPr>
        </p:nvSpPr>
        <p:spPr>
          <a:xfrm>
            <a:off x="881129" y="1911483"/>
            <a:ext cx="4227490" cy="4351338"/>
          </a:xfrm>
        </p:spPr>
        <p:txBody>
          <a:bodyPr>
            <a:normAutofit/>
          </a:bodyPr>
          <a:lstStyle/>
          <a:p>
            <a:pPr marL="0" indent="0" algn="ctr">
              <a:buNone/>
            </a:pPr>
            <a:r>
              <a:rPr lang="en-AU" sz="2400" dirty="0">
                <a:solidFill>
                  <a:srgbClr val="3A7386"/>
                </a:solidFill>
                <a:latin typeface="Roboto Black" panose="02000000000000000000" pitchFamily="2" charset="0"/>
                <a:ea typeface="Roboto Black" panose="02000000000000000000" pitchFamily="2" charset="0"/>
              </a:rPr>
              <a:t>High potency agents</a:t>
            </a:r>
          </a:p>
          <a:p>
            <a:pPr marL="0" indent="0">
              <a:buNone/>
            </a:pPr>
            <a:r>
              <a:rPr lang="en-AU" sz="2000" dirty="0">
                <a:solidFill>
                  <a:srgbClr val="3A7386"/>
                </a:solidFill>
                <a:latin typeface="Roboto Black" panose="02000000000000000000" pitchFamily="2" charset="0"/>
                <a:ea typeface="Roboto Black" panose="02000000000000000000" pitchFamily="2" charset="0"/>
              </a:rPr>
              <a:t>Example: </a:t>
            </a:r>
            <a:r>
              <a:rPr lang="en-AU" sz="2000" dirty="0">
                <a:solidFill>
                  <a:srgbClr val="3A7386"/>
                </a:solidFill>
                <a:highlight>
                  <a:srgbClr val="FFFF00"/>
                </a:highlight>
                <a:latin typeface="Roboto Black" panose="02000000000000000000" pitchFamily="2" charset="0"/>
                <a:ea typeface="Roboto Black" panose="02000000000000000000" pitchFamily="2" charset="0"/>
              </a:rPr>
              <a:t>Haloperidol</a:t>
            </a:r>
          </a:p>
          <a:p>
            <a:pPr marL="0" indent="0">
              <a:buNone/>
            </a:pPr>
            <a:r>
              <a:rPr lang="en-AU" sz="2000" dirty="0">
                <a:solidFill>
                  <a:srgbClr val="3A7386"/>
                </a:solidFill>
                <a:latin typeface="Roboto Black" panose="02000000000000000000" pitchFamily="2" charset="0"/>
                <a:ea typeface="Roboto Black" panose="02000000000000000000" pitchFamily="2" charset="0"/>
              </a:rPr>
              <a:t>Cause more profound extrapyramidal symptoms and more galactorrhoea</a:t>
            </a:r>
          </a:p>
        </p:txBody>
      </p:sp>
      <p:sp>
        <p:nvSpPr>
          <p:cNvPr id="4" name="Content Placeholder 2">
            <a:extLst>
              <a:ext uri="{FF2B5EF4-FFF2-40B4-BE49-F238E27FC236}">
                <a16:creationId xmlns:a16="http://schemas.microsoft.com/office/drawing/2014/main" id="{68E83259-7A00-4142-9060-9B53B521BBCA}"/>
              </a:ext>
            </a:extLst>
          </p:cNvPr>
          <p:cNvSpPr txBox="1">
            <a:spLocks/>
          </p:cNvSpPr>
          <p:nvPr/>
        </p:nvSpPr>
        <p:spPr>
          <a:xfrm>
            <a:off x="6442656" y="1870991"/>
            <a:ext cx="4647500" cy="48183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AU" sz="2400" dirty="0">
                <a:solidFill>
                  <a:srgbClr val="3A7386"/>
                </a:solidFill>
                <a:latin typeface="Roboto Black" panose="02000000000000000000" pitchFamily="2" charset="0"/>
                <a:ea typeface="Roboto Black" panose="02000000000000000000" pitchFamily="2" charset="0"/>
              </a:rPr>
              <a:t>Low potency agents</a:t>
            </a:r>
          </a:p>
          <a:p>
            <a:pPr marL="0" indent="0">
              <a:buFont typeface="Arial" panose="020B0604020202020204" pitchFamily="34" charset="0"/>
              <a:buNone/>
            </a:pPr>
            <a:r>
              <a:rPr lang="en-AU" sz="2000" dirty="0">
                <a:solidFill>
                  <a:srgbClr val="3A7386"/>
                </a:solidFill>
                <a:latin typeface="Roboto Black" panose="02000000000000000000" pitchFamily="2" charset="0"/>
                <a:ea typeface="Roboto Black" panose="02000000000000000000" pitchFamily="2" charset="0"/>
              </a:rPr>
              <a:t>Example: </a:t>
            </a:r>
            <a:r>
              <a:rPr lang="en-AU" sz="2000" dirty="0">
                <a:solidFill>
                  <a:srgbClr val="3A7386"/>
                </a:solidFill>
                <a:highlight>
                  <a:srgbClr val="FFFF00"/>
                </a:highlight>
                <a:latin typeface="Roboto Black" panose="02000000000000000000" pitchFamily="2" charset="0"/>
                <a:ea typeface="Roboto Black" panose="02000000000000000000" pitchFamily="2" charset="0"/>
              </a:rPr>
              <a:t>chlorpromazine</a:t>
            </a:r>
          </a:p>
          <a:p>
            <a:r>
              <a:rPr lang="en-AU" sz="2000" dirty="0">
                <a:solidFill>
                  <a:srgbClr val="3A7386"/>
                </a:solidFill>
                <a:latin typeface="Roboto Black" panose="02000000000000000000" pitchFamily="2" charset="0"/>
                <a:ea typeface="Roboto Black" panose="02000000000000000000" pitchFamily="2" charset="0"/>
              </a:rPr>
              <a:t>Bind to alpha adrenergic receptors</a:t>
            </a:r>
          </a:p>
          <a:p>
            <a:pPr lvl="1"/>
            <a:r>
              <a:rPr lang="en-AU" sz="1600" dirty="0">
                <a:solidFill>
                  <a:srgbClr val="3A7386"/>
                </a:solidFill>
                <a:latin typeface="Roboto Black" panose="02000000000000000000" pitchFamily="2" charset="0"/>
                <a:ea typeface="Roboto Black" panose="02000000000000000000" pitchFamily="2" charset="0"/>
              </a:rPr>
              <a:t>cause orthostatic hypotension</a:t>
            </a:r>
          </a:p>
          <a:p>
            <a:r>
              <a:rPr lang="en-AU" sz="2000" dirty="0">
                <a:solidFill>
                  <a:srgbClr val="3A7386"/>
                </a:solidFill>
                <a:latin typeface="Roboto Black" panose="02000000000000000000" pitchFamily="2" charset="0"/>
                <a:ea typeface="Roboto Black" panose="02000000000000000000" pitchFamily="2" charset="0"/>
              </a:rPr>
              <a:t>Bind to the acetylcholine receptor</a:t>
            </a:r>
          </a:p>
          <a:p>
            <a:pPr lvl="1"/>
            <a:r>
              <a:rPr lang="en-AU" sz="1800" dirty="0">
                <a:solidFill>
                  <a:srgbClr val="3A7386"/>
                </a:solidFill>
                <a:latin typeface="Roboto Black" panose="02000000000000000000" pitchFamily="2" charset="0"/>
                <a:ea typeface="Roboto Black" panose="02000000000000000000" pitchFamily="2" charset="0"/>
              </a:rPr>
              <a:t>Cause eye pain</a:t>
            </a:r>
          </a:p>
          <a:p>
            <a:pPr lvl="1"/>
            <a:r>
              <a:rPr lang="en-AU" sz="1800" dirty="0">
                <a:solidFill>
                  <a:srgbClr val="3A7386"/>
                </a:solidFill>
                <a:latin typeface="Roboto Black" panose="02000000000000000000" pitchFamily="2" charset="0"/>
                <a:ea typeface="Roboto Black" panose="02000000000000000000" pitchFamily="2" charset="0"/>
              </a:rPr>
              <a:t>Dry mouth</a:t>
            </a:r>
          </a:p>
          <a:p>
            <a:pPr lvl="1"/>
            <a:r>
              <a:rPr lang="en-AU" sz="1800" dirty="0">
                <a:solidFill>
                  <a:srgbClr val="3A7386"/>
                </a:solidFill>
                <a:latin typeface="Roboto Black" panose="02000000000000000000" pitchFamily="2" charset="0"/>
                <a:ea typeface="Roboto Black" panose="02000000000000000000" pitchFamily="2" charset="0"/>
              </a:rPr>
              <a:t>Constipation</a:t>
            </a:r>
          </a:p>
          <a:p>
            <a:r>
              <a:rPr lang="en-AU" sz="2000" dirty="0">
                <a:solidFill>
                  <a:srgbClr val="3A7386"/>
                </a:solidFill>
                <a:latin typeface="Roboto Black" panose="02000000000000000000" pitchFamily="2" charset="0"/>
                <a:ea typeface="Roboto Black" panose="02000000000000000000" pitchFamily="2" charset="0"/>
              </a:rPr>
              <a:t>Bind to histamine 1 receptor</a:t>
            </a:r>
          </a:p>
          <a:p>
            <a:pPr lvl="1"/>
            <a:r>
              <a:rPr lang="en-AU" sz="1600" dirty="0">
                <a:solidFill>
                  <a:srgbClr val="3A7386"/>
                </a:solidFill>
                <a:latin typeface="Roboto Black" panose="02000000000000000000" pitchFamily="2" charset="0"/>
                <a:ea typeface="Roboto Black" panose="02000000000000000000" pitchFamily="2" charset="0"/>
              </a:rPr>
              <a:t>Drowsiness, </a:t>
            </a:r>
          </a:p>
          <a:p>
            <a:pPr lvl="1"/>
            <a:r>
              <a:rPr lang="en-AU" sz="1600" dirty="0">
                <a:solidFill>
                  <a:srgbClr val="3A7386"/>
                </a:solidFill>
                <a:latin typeface="Roboto Black" panose="02000000000000000000" pitchFamily="2" charset="0"/>
                <a:ea typeface="Roboto Black" panose="02000000000000000000" pitchFamily="2" charset="0"/>
              </a:rPr>
              <a:t>Sedation, </a:t>
            </a:r>
          </a:p>
          <a:p>
            <a:pPr lvl="1"/>
            <a:r>
              <a:rPr lang="en-AU" sz="1600" dirty="0">
                <a:solidFill>
                  <a:srgbClr val="3A7386"/>
                </a:solidFill>
                <a:latin typeface="Roboto Black" panose="02000000000000000000" pitchFamily="2" charset="0"/>
                <a:ea typeface="Roboto Black" panose="02000000000000000000" pitchFamily="2" charset="0"/>
              </a:rPr>
              <a:t>Weight gain</a:t>
            </a:r>
          </a:p>
          <a:p>
            <a:pPr lvl="1"/>
            <a:endParaRPr lang="en-AU" sz="1400" dirty="0">
              <a:solidFill>
                <a:srgbClr val="3A7386"/>
              </a:solidFill>
              <a:latin typeface="Roboto Black" panose="02000000000000000000" pitchFamily="2" charset="0"/>
              <a:ea typeface="Roboto Black" panose="02000000000000000000" pitchFamily="2" charset="0"/>
            </a:endParaRPr>
          </a:p>
          <a:p>
            <a:pPr marL="0" indent="0">
              <a:buFont typeface="Arial" panose="020B0604020202020204" pitchFamily="34" charset="0"/>
              <a:buNone/>
            </a:pPr>
            <a:endParaRPr lang="en-AU" sz="1800" dirty="0">
              <a:solidFill>
                <a:srgbClr val="3A7386"/>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198344366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4000" b="1" dirty="0">
                <a:solidFill>
                  <a:srgbClr val="3A7386"/>
                </a:solidFill>
                <a:latin typeface="Roboto Black" panose="02000000000000000000" pitchFamily="2" charset="0"/>
                <a:ea typeface="Roboto Black" panose="02000000000000000000" pitchFamily="2" charset="0"/>
              </a:rPr>
              <a:t>Second generation antipsychotics</a:t>
            </a:r>
          </a:p>
        </p:txBody>
      </p:sp>
      <p:sp>
        <p:nvSpPr>
          <p:cNvPr id="3" name="Content Placeholder 2"/>
          <p:cNvSpPr>
            <a:spLocks noGrp="1"/>
          </p:cNvSpPr>
          <p:nvPr>
            <p:ph sz="quarter" idx="1"/>
          </p:nvPr>
        </p:nvSpPr>
        <p:spPr/>
        <p:txBody>
          <a:bodyPr/>
          <a:lstStyle/>
          <a:p>
            <a:pPr marL="0" indent="0">
              <a:buNone/>
            </a:pPr>
            <a:r>
              <a:rPr lang="en-AU" b="1" dirty="0">
                <a:solidFill>
                  <a:srgbClr val="3A7386"/>
                </a:solidFill>
                <a:latin typeface="Roboto Black" panose="02000000000000000000" pitchFamily="2" charset="0"/>
                <a:ea typeface="Roboto Black" panose="02000000000000000000" pitchFamily="2" charset="0"/>
              </a:rPr>
              <a:t>Second-generation (atypical) antipsychotics </a:t>
            </a:r>
            <a:endParaRPr lang="en-AU" dirty="0">
              <a:solidFill>
                <a:srgbClr val="3A7386"/>
              </a:solidFill>
              <a:latin typeface="Roboto Black" panose="02000000000000000000" pitchFamily="2" charset="0"/>
              <a:ea typeface="Roboto Black" panose="02000000000000000000" pitchFamily="2" charset="0"/>
            </a:endParaRPr>
          </a:p>
          <a:p>
            <a:r>
              <a:rPr lang="en-AU" dirty="0">
                <a:solidFill>
                  <a:srgbClr val="3A7386"/>
                </a:solidFill>
                <a:latin typeface="Roboto Black" panose="02000000000000000000" pitchFamily="2" charset="0"/>
                <a:ea typeface="Roboto Black" panose="02000000000000000000" pitchFamily="2" charset="0"/>
              </a:rPr>
              <a:t>*</a:t>
            </a:r>
            <a:r>
              <a:rPr lang="en-AU" dirty="0">
                <a:solidFill>
                  <a:srgbClr val="3A7386"/>
                </a:solidFill>
                <a:highlight>
                  <a:srgbClr val="FFFF00"/>
                </a:highlight>
                <a:latin typeface="Roboto Black" panose="02000000000000000000" pitchFamily="2" charset="0"/>
                <a:ea typeface="Roboto Black" panose="02000000000000000000" pitchFamily="2" charset="0"/>
              </a:rPr>
              <a:t>Quetiapine</a:t>
            </a:r>
            <a:r>
              <a:rPr lang="en-AU" dirty="0">
                <a:solidFill>
                  <a:srgbClr val="3A7386"/>
                </a:solidFill>
                <a:latin typeface="Roboto Black" panose="02000000000000000000" pitchFamily="2" charset="0"/>
                <a:ea typeface="Roboto Black" panose="02000000000000000000" pitchFamily="2" charset="0"/>
              </a:rPr>
              <a:t>* (Seroquel), *</a:t>
            </a:r>
            <a:r>
              <a:rPr lang="en-AU" dirty="0">
                <a:solidFill>
                  <a:srgbClr val="3A7386"/>
                </a:solidFill>
                <a:highlight>
                  <a:srgbClr val="FFFF00"/>
                </a:highlight>
                <a:latin typeface="Roboto Black" panose="02000000000000000000" pitchFamily="2" charset="0"/>
                <a:ea typeface="Roboto Black" panose="02000000000000000000" pitchFamily="2" charset="0"/>
              </a:rPr>
              <a:t>Aripiprazole</a:t>
            </a:r>
            <a:r>
              <a:rPr lang="en-AU" dirty="0">
                <a:solidFill>
                  <a:srgbClr val="3A7386"/>
                </a:solidFill>
                <a:latin typeface="Roboto Black" panose="02000000000000000000" pitchFamily="2" charset="0"/>
                <a:ea typeface="Roboto Black" panose="02000000000000000000" pitchFamily="2" charset="0"/>
              </a:rPr>
              <a:t>* (Abilify), *</a:t>
            </a:r>
            <a:r>
              <a:rPr lang="en-AU" dirty="0">
                <a:solidFill>
                  <a:srgbClr val="3A7386"/>
                </a:solidFill>
                <a:highlight>
                  <a:srgbClr val="FFFF00"/>
                </a:highlight>
                <a:latin typeface="Roboto Black" panose="02000000000000000000" pitchFamily="2" charset="0"/>
                <a:ea typeface="Roboto Black" panose="02000000000000000000" pitchFamily="2" charset="0"/>
              </a:rPr>
              <a:t>Risperidone</a:t>
            </a:r>
            <a:r>
              <a:rPr lang="en-AU" dirty="0">
                <a:solidFill>
                  <a:srgbClr val="3A7386"/>
                </a:solidFill>
                <a:latin typeface="Roboto Black" panose="02000000000000000000" pitchFamily="2" charset="0"/>
                <a:ea typeface="Roboto Black" panose="02000000000000000000" pitchFamily="2" charset="0"/>
              </a:rPr>
              <a:t>* (Risperdal), and *</a:t>
            </a:r>
            <a:r>
              <a:rPr lang="en-AU" dirty="0">
                <a:solidFill>
                  <a:srgbClr val="3A7386"/>
                </a:solidFill>
                <a:highlight>
                  <a:srgbClr val="FFFF00"/>
                </a:highlight>
                <a:latin typeface="Roboto Black" panose="02000000000000000000" pitchFamily="2" charset="0"/>
                <a:ea typeface="Roboto Black" panose="02000000000000000000" pitchFamily="2" charset="0"/>
              </a:rPr>
              <a:t>Olanzapine</a:t>
            </a:r>
            <a:r>
              <a:rPr lang="en-AU" dirty="0">
                <a:solidFill>
                  <a:srgbClr val="3A7386"/>
                </a:solidFill>
                <a:latin typeface="Roboto Black" panose="02000000000000000000" pitchFamily="2" charset="0"/>
                <a:ea typeface="Roboto Black" panose="02000000000000000000" pitchFamily="2" charset="0"/>
              </a:rPr>
              <a:t>* (</a:t>
            </a:r>
            <a:r>
              <a:rPr lang="en-AU" dirty="0" err="1">
                <a:solidFill>
                  <a:srgbClr val="3A7386"/>
                </a:solidFill>
                <a:latin typeface="Roboto Black" panose="02000000000000000000" pitchFamily="2" charset="0"/>
                <a:ea typeface="Roboto Black" panose="02000000000000000000" pitchFamily="2" charset="0"/>
              </a:rPr>
              <a:t>Zyperxa</a:t>
            </a:r>
            <a:r>
              <a:rPr lang="en-AU" dirty="0">
                <a:solidFill>
                  <a:srgbClr val="3A7386"/>
                </a:solidFill>
                <a:latin typeface="Roboto Black" panose="02000000000000000000" pitchFamily="2" charset="0"/>
                <a:ea typeface="Roboto Black" panose="02000000000000000000" pitchFamily="2" charset="0"/>
              </a:rPr>
              <a:t>)</a:t>
            </a:r>
          </a:p>
          <a:p>
            <a:r>
              <a:rPr lang="en-AU" dirty="0">
                <a:solidFill>
                  <a:srgbClr val="3A7386"/>
                </a:solidFill>
                <a:latin typeface="Roboto Black" panose="02000000000000000000" pitchFamily="2" charset="0"/>
                <a:ea typeface="Roboto Black" panose="02000000000000000000" pitchFamily="2" charset="0"/>
              </a:rPr>
              <a:t>The most important difference between the first and second generation antipsychotics is the tendency of the latter to induce fewer extrapyramidal disturbances. </a:t>
            </a:r>
          </a:p>
          <a:p>
            <a:r>
              <a:rPr lang="en-AU" dirty="0">
                <a:solidFill>
                  <a:srgbClr val="3A7386"/>
                </a:solidFill>
                <a:latin typeface="Roboto Black" panose="02000000000000000000" pitchFamily="2" charset="0"/>
                <a:ea typeface="Roboto Black" panose="02000000000000000000" pitchFamily="2" charset="0"/>
              </a:rPr>
              <a:t>Differences in their affinities for various central receptors may explain why the second generation antipsychotics are less prone to producing these adverse effects.  </a:t>
            </a:r>
          </a:p>
        </p:txBody>
      </p:sp>
    </p:spTree>
    <p:extLst>
      <p:ext uri="{BB962C8B-B14F-4D97-AF65-F5344CB8AC3E}">
        <p14:creationId xmlns:p14="http://schemas.microsoft.com/office/powerpoint/2010/main" val="79688703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b="1" dirty="0">
                <a:solidFill>
                  <a:srgbClr val="3A7386"/>
                </a:solidFill>
                <a:latin typeface="Roboto Black" panose="02000000000000000000" pitchFamily="2" charset="0"/>
                <a:ea typeface="Roboto Black" panose="02000000000000000000" pitchFamily="2" charset="0"/>
              </a:rPr>
              <a:t>Second generation antipsychotic agents</a:t>
            </a:r>
          </a:p>
        </p:txBody>
      </p:sp>
      <p:sp>
        <p:nvSpPr>
          <p:cNvPr id="3" name="Content Placeholder 2"/>
          <p:cNvSpPr>
            <a:spLocks noGrp="1"/>
          </p:cNvSpPr>
          <p:nvPr>
            <p:ph sz="quarter" idx="1"/>
          </p:nvPr>
        </p:nvSpPr>
        <p:spPr>
          <a:xfrm>
            <a:off x="1825752" y="1527048"/>
            <a:ext cx="8503920" cy="5142312"/>
          </a:xfrm>
        </p:spPr>
        <p:txBody>
          <a:bodyPr>
            <a:normAutofit/>
          </a:bodyPr>
          <a:lstStyle/>
          <a:p>
            <a:r>
              <a:rPr lang="en-AU" dirty="0">
                <a:solidFill>
                  <a:srgbClr val="3A7386"/>
                </a:solidFill>
                <a:latin typeface="Roboto Black" panose="02000000000000000000" pitchFamily="2" charset="0"/>
                <a:ea typeface="Roboto Black" panose="02000000000000000000" pitchFamily="2" charset="0"/>
              </a:rPr>
              <a:t>*Quetiapine*</a:t>
            </a:r>
          </a:p>
          <a:p>
            <a:pPr lvl="1"/>
            <a:r>
              <a:rPr lang="en-AU" dirty="0">
                <a:solidFill>
                  <a:srgbClr val="3A7386"/>
                </a:solidFill>
                <a:latin typeface="Roboto Black" panose="02000000000000000000" pitchFamily="2" charset="0"/>
                <a:ea typeface="Roboto Black" panose="02000000000000000000" pitchFamily="2" charset="0"/>
              </a:rPr>
              <a:t>Binds to Histamine 1 receptors and cause drowsiness</a:t>
            </a:r>
          </a:p>
          <a:p>
            <a:r>
              <a:rPr lang="en-AU" dirty="0">
                <a:solidFill>
                  <a:srgbClr val="3A7386"/>
                </a:solidFill>
                <a:latin typeface="Roboto Black" panose="02000000000000000000" pitchFamily="2" charset="0"/>
                <a:ea typeface="Roboto Black" panose="02000000000000000000" pitchFamily="2" charset="0"/>
              </a:rPr>
              <a:t>*Aripiprazole*</a:t>
            </a:r>
          </a:p>
          <a:p>
            <a:r>
              <a:rPr lang="en-AU" dirty="0">
                <a:solidFill>
                  <a:srgbClr val="3A7386"/>
                </a:solidFill>
                <a:latin typeface="Roboto Black" panose="02000000000000000000" pitchFamily="2" charset="0"/>
                <a:ea typeface="Roboto Black" panose="02000000000000000000" pitchFamily="2" charset="0"/>
              </a:rPr>
              <a:t>*Olanzapine* </a:t>
            </a:r>
          </a:p>
          <a:p>
            <a:pPr lvl="1"/>
            <a:r>
              <a:rPr lang="en-AU" dirty="0">
                <a:solidFill>
                  <a:srgbClr val="3A7386"/>
                </a:solidFill>
                <a:latin typeface="Roboto Black" panose="02000000000000000000" pitchFamily="2" charset="0"/>
                <a:ea typeface="Roboto Black" panose="02000000000000000000" pitchFamily="2" charset="0"/>
              </a:rPr>
              <a:t>Binds to Serotonin 2c strongly and causes metabolic symptoms such as weight gain and high glucose</a:t>
            </a:r>
          </a:p>
          <a:p>
            <a:pPr lvl="1"/>
            <a:r>
              <a:rPr lang="en-AU" dirty="0">
                <a:solidFill>
                  <a:srgbClr val="3A7386"/>
                </a:solidFill>
                <a:latin typeface="Roboto Black" panose="02000000000000000000" pitchFamily="2" charset="0"/>
                <a:ea typeface="Roboto Black" panose="02000000000000000000" pitchFamily="2" charset="0"/>
              </a:rPr>
              <a:t>Bind to Histamine 1 receptors and cause drowsiness</a:t>
            </a:r>
          </a:p>
          <a:p>
            <a:r>
              <a:rPr lang="en-AU" dirty="0">
                <a:solidFill>
                  <a:srgbClr val="3A7386"/>
                </a:solidFill>
                <a:latin typeface="Roboto Black" panose="02000000000000000000" pitchFamily="2" charset="0"/>
                <a:ea typeface="Roboto Black" panose="02000000000000000000" pitchFamily="2" charset="0"/>
              </a:rPr>
              <a:t>*Risperidone*</a:t>
            </a:r>
          </a:p>
          <a:p>
            <a:pPr lvl="1"/>
            <a:r>
              <a:rPr lang="en-AU" dirty="0">
                <a:solidFill>
                  <a:srgbClr val="3A7386"/>
                </a:solidFill>
                <a:latin typeface="Roboto Black" panose="02000000000000000000" pitchFamily="2" charset="0"/>
                <a:ea typeface="Roboto Black" panose="02000000000000000000" pitchFamily="2" charset="0"/>
              </a:rPr>
              <a:t>Binds strongly to alpha 1 receptors (orthostatic hypotension)</a:t>
            </a:r>
          </a:p>
          <a:p>
            <a:pPr lvl="1"/>
            <a:r>
              <a:rPr lang="en-AU" dirty="0">
                <a:solidFill>
                  <a:srgbClr val="3A7386"/>
                </a:solidFill>
                <a:latin typeface="Roboto Black" panose="02000000000000000000" pitchFamily="2" charset="0"/>
                <a:ea typeface="Roboto Black" panose="02000000000000000000" pitchFamily="2" charset="0"/>
              </a:rPr>
              <a:t>Highest amount of extrapyramidal symptoms and galactorrhoea </a:t>
            </a:r>
          </a:p>
          <a:p>
            <a:endParaRPr lang="en-AU" dirty="0"/>
          </a:p>
        </p:txBody>
      </p:sp>
    </p:spTree>
    <p:extLst>
      <p:ext uri="{BB962C8B-B14F-4D97-AF65-F5344CB8AC3E}">
        <p14:creationId xmlns:p14="http://schemas.microsoft.com/office/powerpoint/2010/main" val="225145092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3600" b="1" dirty="0">
                <a:solidFill>
                  <a:srgbClr val="3A7386"/>
                </a:solidFill>
                <a:latin typeface="Roboto Black" panose="02000000000000000000" pitchFamily="2" charset="0"/>
                <a:ea typeface="Roboto Black" panose="02000000000000000000" pitchFamily="2" charset="0"/>
              </a:rPr>
              <a:t>First generation vs second generation antipsychotics: review</a:t>
            </a:r>
          </a:p>
        </p:txBody>
      </p:sp>
      <p:sp>
        <p:nvSpPr>
          <p:cNvPr id="3" name="Content Placeholder 2"/>
          <p:cNvSpPr>
            <a:spLocks noGrp="1"/>
          </p:cNvSpPr>
          <p:nvPr>
            <p:ph sz="quarter" idx="1"/>
          </p:nvPr>
        </p:nvSpPr>
        <p:spPr/>
        <p:txBody>
          <a:bodyPr>
            <a:normAutofit fontScale="92500"/>
          </a:bodyPr>
          <a:lstStyle/>
          <a:p>
            <a:r>
              <a:rPr lang="en-AU" dirty="0">
                <a:solidFill>
                  <a:srgbClr val="3A7386"/>
                </a:solidFill>
                <a:latin typeface="Roboto Black" panose="02000000000000000000" pitchFamily="2" charset="0"/>
                <a:ea typeface="Roboto Black" panose="02000000000000000000" pitchFamily="2" charset="0"/>
              </a:rPr>
              <a:t>Antipsychotic agents can be classified as either typical (first generation) or atypical agents (second generation). </a:t>
            </a:r>
          </a:p>
          <a:p>
            <a:r>
              <a:rPr lang="en-AU" dirty="0">
                <a:solidFill>
                  <a:srgbClr val="3A7386"/>
                </a:solidFill>
                <a:latin typeface="Roboto Black" panose="02000000000000000000" pitchFamily="2" charset="0"/>
                <a:ea typeface="Roboto Black" panose="02000000000000000000" pitchFamily="2" charset="0"/>
              </a:rPr>
              <a:t>Typical are much more active on the D2 receptors than are the atypical ones. </a:t>
            </a:r>
          </a:p>
          <a:p>
            <a:r>
              <a:rPr lang="en-AU" dirty="0">
                <a:solidFill>
                  <a:srgbClr val="3A7386"/>
                </a:solidFill>
                <a:latin typeface="Roboto Black" panose="02000000000000000000" pitchFamily="2" charset="0"/>
                <a:ea typeface="Roboto Black" panose="02000000000000000000" pitchFamily="2" charset="0"/>
              </a:rPr>
              <a:t>The atypical agents, have less affinity for the D2 receptors, usually have a lower incidence of debilitating motor disturbances</a:t>
            </a:r>
          </a:p>
          <a:p>
            <a:endParaRPr lang="en-AU" dirty="0">
              <a:solidFill>
                <a:srgbClr val="3A7386"/>
              </a:solidFill>
              <a:latin typeface="Roboto Black" panose="02000000000000000000" pitchFamily="2" charset="0"/>
              <a:ea typeface="Roboto Black" panose="02000000000000000000" pitchFamily="2" charset="0"/>
            </a:endParaRPr>
          </a:p>
          <a:p>
            <a:pPr marL="0" indent="0" algn="ctr">
              <a:buNone/>
            </a:pPr>
            <a:r>
              <a:rPr lang="en-AU" dirty="0">
                <a:solidFill>
                  <a:srgbClr val="3A7386"/>
                </a:solidFill>
                <a:highlight>
                  <a:srgbClr val="FFFF00"/>
                </a:highlight>
                <a:latin typeface="Roboto Black" panose="02000000000000000000" pitchFamily="2" charset="0"/>
                <a:ea typeface="Roboto Black" panose="02000000000000000000" pitchFamily="2" charset="0"/>
              </a:rPr>
              <a:t>The goal is to find the right antipsychotic agent for the person: an agent that addresses the most disturbing symptoms without the side effects that may prompt the person to stop taking the medication. </a:t>
            </a:r>
          </a:p>
        </p:txBody>
      </p:sp>
    </p:spTree>
    <p:extLst>
      <p:ext uri="{BB962C8B-B14F-4D97-AF65-F5344CB8AC3E}">
        <p14:creationId xmlns:p14="http://schemas.microsoft.com/office/powerpoint/2010/main" val="28909449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5D0B708-458D-46A5-B22B-72B13CB6746C}"/>
              </a:ext>
            </a:extLst>
          </p:cNvPr>
          <p:cNvSpPr>
            <a:spLocks noGrp="1"/>
          </p:cNvSpPr>
          <p:nvPr>
            <p:ph type="body" sz="quarter" idx="17"/>
          </p:nvPr>
        </p:nvSpPr>
        <p:spPr>
          <a:xfrm>
            <a:off x="664028" y="1362518"/>
            <a:ext cx="8257903" cy="573088"/>
          </a:xfrm>
        </p:spPr>
        <p:txBody>
          <a:bodyPr/>
          <a:lstStyle/>
          <a:p>
            <a:r>
              <a:rPr lang="en-AU" altLang="en-US" sz="4000" dirty="0">
                <a:solidFill>
                  <a:srgbClr val="3A7386"/>
                </a:solidFill>
                <a:latin typeface="Roboto Black" panose="02000000000000000000" pitchFamily="2" charset="0"/>
                <a:ea typeface="Roboto Black" panose="02000000000000000000" pitchFamily="2" charset="0"/>
                <a:cs typeface="Arial" panose="020B0604020202020204" pitchFamily="34" charset="0"/>
              </a:rPr>
              <a:t>Psychotropic medications: Part 5</a:t>
            </a:r>
          </a:p>
          <a:p>
            <a:r>
              <a:rPr lang="en-AU" sz="4000" dirty="0">
                <a:solidFill>
                  <a:srgbClr val="3A7386"/>
                </a:solidFill>
                <a:latin typeface="Roboto Black" panose="02000000000000000000" pitchFamily="2" charset="0"/>
                <a:ea typeface="Roboto Black" panose="02000000000000000000" pitchFamily="2" charset="0"/>
                <a:cs typeface="Arial" panose="020B0604020202020204" pitchFamily="34" charset="0"/>
              </a:rPr>
              <a:t>Antiseizure medications </a:t>
            </a:r>
          </a:p>
        </p:txBody>
      </p:sp>
      <p:sp>
        <p:nvSpPr>
          <p:cNvPr id="4" name="Text Placeholder 3">
            <a:extLst>
              <a:ext uri="{FF2B5EF4-FFF2-40B4-BE49-F238E27FC236}">
                <a16:creationId xmlns:a16="http://schemas.microsoft.com/office/drawing/2014/main" id="{68A38FD6-D3C0-47AA-B8A4-4AC2507C115F}"/>
              </a:ext>
            </a:extLst>
          </p:cNvPr>
          <p:cNvSpPr>
            <a:spLocks noGrp="1"/>
          </p:cNvSpPr>
          <p:nvPr>
            <p:ph type="body" sz="quarter" idx="18"/>
          </p:nvPr>
        </p:nvSpPr>
        <p:spPr/>
        <p:txBody>
          <a:bodyPr/>
          <a:lstStyle/>
          <a:p>
            <a:r>
              <a:rPr lang="en-AU" sz="1400" b="1" dirty="0">
                <a:solidFill>
                  <a:srgbClr val="3A7386"/>
                </a:solidFill>
                <a:latin typeface="Arial" panose="020B0604020202020204" pitchFamily="34" charset="0"/>
                <a:ea typeface="Roboto" panose="02000000000000000000" pitchFamily="2" charset="0"/>
                <a:cs typeface="Arial" panose="020B0604020202020204" pitchFamily="34" charset="0"/>
              </a:rPr>
              <a:t>Dr Ken Wojcikowski</a:t>
            </a:r>
          </a:p>
        </p:txBody>
      </p:sp>
    </p:spTree>
    <p:extLst>
      <p:ext uri="{BB962C8B-B14F-4D97-AF65-F5344CB8AC3E}">
        <p14:creationId xmlns:p14="http://schemas.microsoft.com/office/powerpoint/2010/main" val="37149275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766218"/>
            <a:ext cx="10515600" cy="1325563"/>
          </a:xfrm>
        </p:spPr>
        <p:txBody>
          <a:bodyPr/>
          <a:lstStyle/>
          <a:p>
            <a:pPr algn="ctr"/>
            <a:r>
              <a:rPr lang="en-AU" b="1" dirty="0">
                <a:solidFill>
                  <a:schemeClr val="bg1"/>
                </a:solidFill>
                <a:latin typeface="Arial" panose="020B0604020202020204" pitchFamily="34" charset="0"/>
                <a:cs typeface="Arial" panose="020B0604020202020204" pitchFamily="34" charset="0"/>
              </a:rPr>
              <a:t>Antiseizure medications</a:t>
            </a:r>
          </a:p>
        </p:txBody>
      </p:sp>
      <p:sp>
        <p:nvSpPr>
          <p:cNvPr id="6" name="Rectangle 5">
            <a:extLst>
              <a:ext uri="{FF2B5EF4-FFF2-40B4-BE49-F238E27FC236}">
                <a16:creationId xmlns:a16="http://schemas.microsoft.com/office/drawing/2014/main" id="{D0FFE0DA-B77F-4512-954E-86FDA4420A0E}"/>
              </a:ext>
            </a:extLst>
          </p:cNvPr>
          <p:cNvSpPr/>
          <p:nvPr/>
        </p:nvSpPr>
        <p:spPr>
          <a:xfrm>
            <a:off x="1375902" y="189567"/>
            <a:ext cx="9027242" cy="1086617"/>
          </a:xfrm>
          <a:prstGeom prst="rect">
            <a:avLst/>
          </a:prstGeom>
          <a:solidFill>
            <a:schemeClr val="tx1"/>
          </a:solidFill>
          <a:ln w="38100">
            <a:solidFill>
              <a:srgbClr val="FFC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itle 1">
            <a:extLst>
              <a:ext uri="{FF2B5EF4-FFF2-40B4-BE49-F238E27FC236}">
                <a16:creationId xmlns:a16="http://schemas.microsoft.com/office/drawing/2014/main" id="{E32985B5-4F54-462D-99C2-05FBF615855C}"/>
              </a:ext>
            </a:extLst>
          </p:cNvPr>
          <p:cNvSpPr txBox="1">
            <a:spLocks/>
          </p:cNvSpPr>
          <p:nvPr/>
        </p:nvSpPr>
        <p:spPr>
          <a:xfrm>
            <a:off x="1375902" y="73410"/>
            <a:ext cx="902724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3600" b="1" dirty="0">
                <a:solidFill>
                  <a:schemeClr val="bg1"/>
                </a:solidFill>
                <a:latin typeface="Roboto Black" panose="02000000000000000000" pitchFamily="2" charset="0"/>
                <a:ea typeface="Roboto Black" panose="02000000000000000000" pitchFamily="2" charset="0"/>
              </a:rPr>
              <a:t>Anti-seizure medications</a:t>
            </a:r>
          </a:p>
        </p:txBody>
      </p:sp>
      <p:sp>
        <p:nvSpPr>
          <p:cNvPr id="7" name="Rectangle 6">
            <a:extLst>
              <a:ext uri="{FF2B5EF4-FFF2-40B4-BE49-F238E27FC236}">
                <a16:creationId xmlns:a16="http://schemas.microsoft.com/office/drawing/2014/main" id="{96898162-0363-4292-BDB6-FC2650BF221E}"/>
              </a:ext>
            </a:extLst>
          </p:cNvPr>
          <p:cNvSpPr/>
          <p:nvPr/>
        </p:nvSpPr>
        <p:spPr>
          <a:xfrm>
            <a:off x="1375902" y="1515129"/>
            <a:ext cx="9027242" cy="5153304"/>
          </a:xfrm>
          <a:prstGeom prst="rect">
            <a:avLst/>
          </a:prstGeom>
          <a:solidFill>
            <a:srgbClr val="FFC3FF"/>
          </a:solidFill>
          <a:ln>
            <a:solidFill>
              <a:srgbClr val="FFC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 name="Picture 3">
            <a:extLst>
              <a:ext uri="{FF2B5EF4-FFF2-40B4-BE49-F238E27FC236}">
                <a16:creationId xmlns:a16="http://schemas.microsoft.com/office/drawing/2014/main" id="{7E4ACF04-43CC-44E4-A92F-9442DBAABC36}"/>
              </a:ext>
            </a:extLst>
          </p:cNvPr>
          <p:cNvPicPr>
            <a:picLocks noChangeAspect="1"/>
          </p:cNvPicPr>
          <p:nvPr/>
        </p:nvPicPr>
        <p:blipFill rotWithShape="1">
          <a:blip r:embed="rId3">
            <a:extLst>
              <a:ext uri="{28A0092B-C50C-407E-A947-70E740481C1C}">
                <a14:useLocalDpi xmlns:a14="http://schemas.microsoft.com/office/drawing/2010/main" val="0"/>
              </a:ext>
            </a:extLst>
          </a:blip>
          <a:srcRect t="8384" b="6667"/>
          <a:stretch/>
        </p:blipFill>
        <p:spPr>
          <a:xfrm>
            <a:off x="1420147" y="1560670"/>
            <a:ext cx="8938751" cy="5062221"/>
          </a:xfrm>
          <a:prstGeom prst="rect">
            <a:avLst/>
          </a:prstGeom>
        </p:spPr>
      </p:pic>
    </p:spTree>
    <p:extLst>
      <p:ext uri="{BB962C8B-B14F-4D97-AF65-F5344CB8AC3E}">
        <p14:creationId xmlns:p14="http://schemas.microsoft.com/office/powerpoint/2010/main" val="1135885046"/>
      </p:ext>
    </p:extLst>
  </p:cSld>
  <p:clrMapOvr>
    <a:masterClrMapping/>
  </p:clrMapOvr>
  <p:transition>
    <p:cut thruBlk="1"/>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7016" y="488341"/>
            <a:ext cx="9733135" cy="758952"/>
          </a:xfrm>
        </p:spPr>
        <p:txBody>
          <a:bodyPr>
            <a:noAutofit/>
          </a:bodyPr>
          <a:lstStyle/>
          <a:p>
            <a:pPr algn="ctr"/>
            <a:r>
              <a:rPr lang="en-AU" sz="3600" b="1" dirty="0">
                <a:solidFill>
                  <a:srgbClr val="3A7386"/>
                </a:solidFill>
                <a:latin typeface="Roboto Black" panose="02000000000000000000" pitchFamily="2" charset="0"/>
                <a:ea typeface="Roboto Black" panose="02000000000000000000" pitchFamily="2" charset="0"/>
              </a:rPr>
              <a:t>Objectives for Part 5</a:t>
            </a:r>
            <a:br>
              <a:rPr lang="en-AU" sz="3600" b="1" dirty="0">
                <a:solidFill>
                  <a:srgbClr val="3A7386"/>
                </a:solidFill>
                <a:latin typeface="Roboto Black" panose="02000000000000000000" pitchFamily="2" charset="0"/>
                <a:ea typeface="Roboto Black" panose="02000000000000000000" pitchFamily="2" charset="0"/>
              </a:rPr>
            </a:br>
            <a:r>
              <a:rPr lang="en-AU" sz="3600" b="1" dirty="0">
                <a:solidFill>
                  <a:srgbClr val="3A7386"/>
                </a:solidFill>
                <a:latin typeface="Roboto Black" panose="02000000000000000000" pitchFamily="2" charset="0"/>
                <a:ea typeface="Roboto Black" panose="02000000000000000000" pitchFamily="2" charset="0"/>
              </a:rPr>
              <a:t>Anti-seizure Medicines </a:t>
            </a:r>
          </a:p>
        </p:txBody>
      </p:sp>
      <p:sp>
        <p:nvSpPr>
          <p:cNvPr id="3" name="Content Placeholder 2"/>
          <p:cNvSpPr>
            <a:spLocks noGrp="1"/>
          </p:cNvSpPr>
          <p:nvPr>
            <p:ph sz="quarter" idx="1"/>
          </p:nvPr>
        </p:nvSpPr>
        <p:spPr>
          <a:xfrm>
            <a:off x="1118740" y="1637928"/>
            <a:ext cx="9241411" cy="4854280"/>
          </a:xfrm>
        </p:spPr>
        <p:txBody>
          <a:bodyPr>
            <a:normAutofit/>
          </a:bodyPr>
          <a:lstStyle/>
          <a:p>
            <a:pPr lvl="0"/>
            <a:r>
              <a:rPr lang="en-AU" dirty="0">
                <a:solidFill>
                  <a:srgbClr val="3A7386"/>
                </a:solidFill>
                <a:latin typeface="Roboto Black" panose="02000000000000000000" pitchFamily="2" charset="0"/>
                <a:ea typeface="Roboto Black" panose="02000000000000000000" pitchFamily="2" charset="0"/>
              </a:rPr>
              <a:t>Define the terms seizure, partial or focal seizure, generalized seizure, epilepsy, and status epilepticus. </a:t>
            </a:r>
          </a:p>
          <a:p>
            <a:pPr lvl="0"/>
            <a:r>
              <a:rPr lang="en-AU" dirty="0">
                <a:solidFill>
                  <a:srgbClr val="3A7386"/>
                </a:solidFill>
                <a:latin typeface="Roboto Black" panose="02000000000000000000" pitchFamily="2" charset="0"/>
                <a:ea typeface="Roboto Black" panose="02000000000000000000" pitchFamily="2" charset="0"/>
              </a:rPr>
              <a:t>For each of the following drugs, briefly explain the mechanism of action, and the major indications and side effects.</a:t>
            </a:r>
          </a:p>
          <a:p>
            <a:pPr lvl="1"/>
            <a:r>
              <a:rPr lang="en-AU" dirty="0">
                <a:solidFill>
                  <a:srgbClr val="3A7386"/>
                </a:solidFill>
                <a:latin typeface="Roboto Black" panose="02000000000000000000" pitchFamily="2" charset="0"/>
                <a:ea typeface="Roboto Black" panose="02000000000000000000" pitchFamily="2" charset="0"/>
              </a:rPr>
              <a:t>Clonazepam and diazepam (the benzodiazepines)</a:t>
            </a:r>
          </a:p>
          <a:p>
            <a:pPr lvl="1"/>
            <a:r>
              <a:rPr lang="en-AU" dirty="0">
                <a:solidFill>
                  <a:srgbClr val="3A7386"/>
                </a:solidFill>
                <a:latin typeface="Roboto Black" panose="02000000000000000000" pitchFamily="2" charset="0"/>
                <a:ea typeface="Roboto Black" panose="02000000000000000000" pitchFamily="2" charset="0"/>
              </a:rPr>
              <a:t>Gabapentin and Pregabalin,</a:t>
            </a:r>
          </a:p>
          <a:p>
            <a:pPr lvl="1"/>
            <a:r>
              <a:rPr lang="en-AU" dirty="0">
                <a:solidFill>
                  <a:srgbClr val="3A7386"/>
                </a:solidFill>
                <a:latin typeface="Roboto Black" panose="02000000000000000000" pitchFamily="2" charset="0"/>
                <a:ea typeface="Roboto Black" panose="02000000000000000000" pitchFamily="2" charset="0"/>
              </a:rPr>
              <a:t>Carbamazepine and valproic acid (valproate)  </a:t>
            </a:r>
          </a:p>
        </p:txBody>
      </p:sp>
    </p:spTree>
    <p:extLst>
      <p:ext uri="{BB962C8B-B14F-4D97-AF65-F5344CB8AC3E}">
        <p14:creationId xmlns:p14="http://schemas.microsoft.com/office/powerpoint/2010/main" val="42452674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78247"/>
            <a:ext cx="10515600" cy="1325563"/>
          </a:xfrm>
        </p:spPr>
        <p:txBody>
          <a:bodyPr>
            <a:normAutofit fontScale="90000"/>
          </a:bodyPr>
          <a:lstStyle/>
          <a:p>
            <a:pPr algn="ctr"/>
            <a:r>
              <a:rPr lang="en-AU" b="1" dirty="0">
                <a:solidFill>
                  <a:srgbClr val="3A7386"/>
                </a:solidFill>
                <a:latin typeface="Roboto Black" panose="02000000000000000000" pitchFamily="2" charset="0"/>
                <a:ea typeface="Roboto Black" panose="02000000000000000000" pitchFamily="2" charset="0"/>
              </a:rPr>
              <a:t>Terms regarding seizures*</a:t>
            </a:r>
            <a:br>
              <a:rPr lang="en-AU" b="1" dirty="0">
                <a:solidFill>
                  <a:srgbClr val="3A7386"/>
                </a:solidFill>
                <a:latin typeface="Roboto Black" panose="02000000000000000000" pitchFamily="2" charset="0"/>
                <a:ea typeface="Roboto Black" panose="02000000000000000000" pitchFamily="2" charset="0"/>
              </a:rPr>
            </a:br>
            <a:r>
              <a:rPr lang="en-AU" sz="2000" i="1" dirty="0">
                <a:solidFill>
                  <a:srgbClr val="3A7386"/>
                </a:solidFill>
                <a:latin typeface="Roboto Black" panose="02000000000000000000" pitchFamily="2" charset="0"/>
                <a:ea typeface="Roboto Black" panose="02000000000000000000" pitchFamily="2" charset="0"/>
              </a:rPr>
              <a:t>*</a:t>
            </a:r>
            <a:br>
              <a:rPr lang="en-AU" sz="2000" i="1" dirty="0">
                <a:solidFill>
                  <a:srgbClr val="3A7386"/>
                </a:solidFill>
                <a:latin typeface="Roboto Black" panose="02000000000000000000" pitchFamily="2" charset="0"/>
                <a:ea typeface="Roboto Black" panose="02000000000000000000" pitchFamily="2" charset="0"/>
              </a:rPr>
            </a:br>
            <a:r>
              <a:rPr lang="en-AU" sz="2000" i="1" dirty="0">
                <a:solidFill>
                  <a:srgbClr val="FF0000"/>
                </a:solidFill>
                <a:latin typeface="Roboto Black" panose="02000000000000000000" pitchFamily="2" charset="0"/>
                <a:ea typeface="Roboto Black" panose="02000000000000000000" pitchFamily="2" charset="0"/>
              </a:rPr>
              <a:t>*The term anticonvulsant is misleading because some seizures do not manifest as convulsions. </a:t>
            </a:r>
            <a:br>
              <a:rPr lang="en-AU" i="1" dirty="0">
                <a:solidFill>
                  <a:srgbClr val="3A7386"/>
                </a:solidFill>
                <a:latin typeface="Roboto Black" panose="02000000000000000000" pitchFamily="2" charset="0"/>
                <a:ea typeface="Roboto Black" panose="02000000000000000000" pitchFamily="2" charset="0"/>
              </a:rPr>
            </a:br>
            <a:r>
              <a:rPr lang="en-AU" b="1" dirty="0">
                <a:solidFill>
                  <a:srgbClr val="3A7386"/>
                </a:solidFill>
                <a:latin typeface="Roboto Black" panose="02000000000000000000" pitchFamily="2" charset="0"/>
                <a:ea typeface="Roboto Black" panose="02000000000000000000" pitchFamily="2" charset="0"/>
              </a:rPr>
              <a:t> </a:t>
            </a:r>
          </a:p>
        </p:txBody>
      </p:sp>
      <p:sp>
        <p:nvSpPr>
          <p:cNvPr id="3" name="Content Placeholder 2"/>
          <p:cNvSpPr>
            <a:spLocks noGrp="1"/>
          </p:cNvSpPr>
          <p:nvPr>
            <p:ph sz="quarter" idx="1"/>
          </p:nvPr>
        </p:nvSpPr>
        <p:spPr>
          <a:xfrm>
            <a:off x="1554053" y="1715688"/>
            <a:ext cx="9083894" cy="5142312"/>
          </a:xfrm>
        </p:spPr>
        <p:txBody>
          <a:bodyPr>
            <a:normAutofit/>
          </a:bodyPr>
          <a:lstStyle/>
          <a:p>
            <a:r>
              <a:rPr lang="en-AU" dirty="0">
                <a:solidFill>
                  <a:srgbClr val="3A7386"/>
                </a:solidFill>
                <a:latin typeface="Roboto Black" panose="02000000000000000000" pitchFamily="2" charset="0"/>
                <a:ea typeface="Roboto Black" panose="02000000000000000000" pitchFamily="2" charset="0"/>
              </a:rPr>
              <a:t>Partial seizures – begin in one hemisphere at a single cortical focus </a:t>
            </a:r>
          </a:p>
          <a:p>
            <a:pPr marL="274320" lvl="1">
              <a:buClr>
                <a:schemeClr val="accent1"/>
              </a:buClr>
              <a:buSzPct val="85000"/>
              <a:buFont typeface="Wingdings 2"/>
              <a:buChar char=""/>
            </a:pPr>
            <a:r>
              <a:rPr lang="en-AU" sz="2800" dirty="0">
                <a:solidFill>
                  <a:srgbClr val="3A7386"/>
                </a:solidFill>
                <a:latin typeface="Roboto Black" panose="02000000000000000000" pitchFamily="2" charset="0"/>
                <a:ea typeface="Roboto Black" panose="02000000000000000000" pitchFamily="2" charset="0"/>
              </a:rPr>
              <a:t>Generalised seizures form across both hemispheres </a:t>
            </a:r>
          </a:p>
          <a:p>
            <a:pPr marL="731520" lvl="2">
              <a:buClr>
                <a:schemeClr val="accent1"/>
              </a:buClr>
              <a:buSzPct val="85000"/>
              <a:buFont typeface="Wingdings 2"/>
              <a:buChar char=""/>
            </a:pPr>
            <a:r>
              <a:rPr lang="en-AU" sz="2400" dirty="0">
                <a:solidFill>
                  <a:srgbClr val="3A7386"/>
                </a:solidFill>
                <a:latin typeface="Roboto Black" panose="02000000000000000000" pitchFamily="2" charset="0"/>
                <a:ea typeface="Roboto Black" panose="02000000000000000000" pitchFamily="2" charset="0"/>
              </a:rPr>
              <a:t>Consciousness is always lost</a:t>
            </a:r>
          </a:p>
          <a:p>
            <a:r>
              <a:rPr lang="en-AU" dirty="0">
                <a:solidFill>
                  <a:srgbClr val="3A7386"/>
                </a:solidFill>
                <a:latin typeface="Roboto Black" panose="02000000000000000000" pitchFamily="2" charset="0"/>
                <a:ea typeface="Roboto Black" panose="02000000000000000000" pitchFamily="2" charset="0"/>
              </a:rPr>
              <a:t>Epilepsy is a term used to indicate a condition of recurrent seizures</a:t>
            </a:r>
          </a:p>
          <a:p>
            <a:pPr lvl="1"/>
            <a:r>
              <a:rPr lang="en-AU" dirty="0">
                <a:solidFill>
                  <a:srgbClr val="3A7386"/>
                </a:solidFill>
                <a:latin typeface="Roboto Black" panose="02000000000000000000" pitchFamily="2" charset="0"/>
                <a:ea typeface="Roboto Black" panose="02000000000000000000" pitchFamily="2" charset="0"/>
              </a:rPr>
              <a:t>It does not describe the nature of the seizure itself. </a:t>
            </a:r>
          </a:p>
          <a:p>
            <a:r>
              <a:rPr lang="en-AU" dirty="0">
                <a:solidFill>
                  <a:srgbClr val="3A7386"/>
                </a:solidFill>
                <a:latin typeface="Roboto Black" panose="02000000000000000000" pitchFamily="2" charset="0"/>
                <a:ea typeface="Roboto Black" panose="02000000000000000000" pitchFamily="2" charset="0"/>
              </a:rPr>
              <a:t>Status epilepticus: the affected person moves immediately from one seizure into another.</a:t>
            </a:r>
          </a:p>
          <a:p>
            <a:pPr lvl="1"/>
            <a:r>
              <a:rPr lang="en-AU" dirty="0">
                <a:solidFill>
                  <a:srgbClr val="3A7386"/>
                </a:solidFill>
                <a:latin typeface="Roboto Black" panose="02000000000000000000" pitchFamily="2" charset="0"/>
                <a:ea typeface="Roboto Black" panose="02000000000000000000" pitchFamily="2" charset="0"/>
              </a:rPr>
              <a:t>Very dangerous unless treated immediately</a:t>
            </a:r>
          </a:p>
          <a:p>
            <a:pPr lvl="1"/>
            <a:endParaRPr lang="en-AU" dirty="0">
              <a:solidFill>
                <a:srgbClr val="3A7386"/>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26164878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b="1" dirty="0">
                <a:solidFill>
                  <a:srgbClr val="3A7386"/>
                </a:solidFill>
                <a:latin typeface="Roboto Black" panose="02000000000000000000" pitchFamily="2" charset="0"/>
                <a:ea typeface="Roboto Black" panose="02000000000000000000" pitchFamily="2" charset="0"/>
              </a:rPr>
              <a:t>How do you treat or prevent a seizure?</a:t>
            </a:r>
          </a:p>
        </p:txBody>
      </p:sp>
      <p:sp>
        <p:nvSpPr>
          <p:cNvPr id="3" name="Content Placeholder 2"/>
          <p:cNvSpPr>
            <a:spLocks noGrp="1"/>
          </p:cNvSpPr>
          <p:nvPr>
            <p:ph sz="quarter" idx="1"/>
          </p:nvPr>
        </p:nvSpPr>
        <p:spPr>
          <a:xfrm>
            <a:off x="1764632" y="2215204"/>
            <a:ext cx="8662736" cy="5142312"/>
          </a:xfrm>
        </p:spPr>
        <p:txBody>
          <a:bodyPr>
            <a:normAutofit/>
          </a:bodyPr>
          <a:lstStyle/>
          <a:p>
            <a:pPr marL="514350" indent="-514350">
              <a:buAutoNum type="arabicPeriod"/>
            </a:pPr>
            <a:r>
              <a:rPr lang="en-AU" dirty="0">
                <a:solidFill>
                  <a:srgbClr val="3A7386"/>
                </a:solidFill>
                <a:latin typeface="Roboto Black" panose="02000000000000000000" pitchFamily="2" charset="0"/>
                <a:ea typeface="Roboto Black" panose="02000000000000000000" pitchFamily="2" charset="0"/>
              </a:rPr>
              <a:t>Increase chloride anions (the negative charge will decrease brain over activity)</a:t>
            </a:r>
          </a:p>
          <a:p>
            <a:pPr marL="514350" indent="-514350">
              <a:buAutoNum type="arabicPeriod"/>
            </a:pPr>
            <a:r>
              <a:rPr lang="en-AU" dirty="0">
                <a:solidFill>
                  <a:srgbClr val="3A7386"/>
                </a:solidFill>
                <a:latin typeface="Roboto Black" panose="02000000000000000000" pitchFamily="2" charset="0"/>
                <a:ea typeface="Roboto Black" panose="02000000000000000000" pitchFamily="2" charset="0"/>
              </a:rPr>
              <a:t>Decrease sodium ions (the decrease in positive ions will decrease brain over activity)</a:t>
            </a:r>
          </a:p>
          <a:p>
            <a:pPr marL="514350" indent="-514350">
              <a:buAutoNum type="arabicPeriod"/>
            </a:pPr>
            <a:r>
              <a:rPr lang="en-AU" dirty="0">
                <a:solidFill>
                  <a:srgbClr val="3A7386"/>
                </a:solidFill>
                <a:latin typeface="Roboto Black" panose="02000000000000000000" pitchFamily="2" charset="0"/>
                <a:ea typeface="Roboto Black" panose="02000000000000000000" pitchFamily="2" charset="0"/>
              </a:rPr>
              <a:t>Decrease calcium ions (the decrease in positive ions will decrease brain over activity)</a:t>
            </a:r>
          </a:p>
          <a:p>
            <a:pPr lvl="1"/>
            <a:endParaRPr lang="en-AU" dirty="0">
              <a:solidFill>
                <a:srgbClr val="3A7386"/>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32927054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30DF13F-C952-4E2D-B0D2-AC7FD0F55E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2516"/>
            <a:ext cx="12147498" cy="6832968"/>
          </a:xfrm>
        </p:spPr>
      </p:pic>
      <p:sp>
        <p:nvSpPr>
          <p:cNvPr id="10" name="Text Placeholder 3">
            <a:extLst>
              <a:ext uri="{FF2B5EF4-FFF2-40B4-BE49-F238E27FC236}">
                <a16:creationId xmlns:a16="http://schemas.microsoft.com/office/drawing/2014/main" id="{D12AAAB5-D1B0-486D-B808-9A79AEE47B7E}"/>
              </a:ext>
            </a:extLst>
          </p:cNvPr>
          <p:cNvSpPr txBox="1">
            <a:spLocks/>
          </p:cNvSpPr>
          <p:nvPr/>
        </p:nvSpPr>
        <p:spPr>
          <a:xfrm>
            <a:off x="3054284" y="1763348"/>
            <a:ext cx="2039349"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highlight>
                  <a:srgbClr val="FFFF00"/>
                </a:highlight>
                <a:latin typeface="Roboto Black" panose="02000000000000000000" pitchFamily="2" charset="0"/>
                <a:ea typeface="Roboto Black" panose="02000000000000000000" pitchFamily="2" charset="0"/>
                <a:cs typeface="Arial" panose="020B0604020202020204" pitchFamily="34" charset="0"/>
              </a:rPr>
              <a:t>Presynaptic neuron</a:t>
            </a:r>
          </a:p>
        </p:txBody>
      </p:sp>
      <p:sp>
        <p:nvSpPr>
          <p:cNvPr id="14" name="Title 1">
            <a:extLst>
              <a:ext uri="{FF2B5EF4-FFF2-40B4-BE49-F238E27FC236}">
                <a16:creationId xmlns:a16="http://schemas.microsoft.com/office/drawing/2014/main" id="{BC1D5142-6CB6-43BB-86C6-BE51F8C3877F}"/>
              </a:ext>
            </a:extLst>
          </p:cNvPr>
          <p:cNvSpPr txBox="1">
            <a:spLocks/>
          </p:cNvSpPr>
          <p:nvPr/>
        </p:nvSpPr>
        <p:spPr>
          <a:xfrm>
            <a:off x="1444623" y="4305957"/>
            <a:ext cx="5459878" cy="8991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dirty="0">
                <a:solidFill>
                  <a:srgbClr val="3A7386"/>
                </a:solidFill>
                <a:latin typeface="Roboto Black" panose="02000000000000000000" pitchFamily="2" charset="0"/>
                <a:ea typeface="Roboto Black" panose="02000000000000000000" pitchFamily="2" charset="0"/>
              </a:rPr>
              <a:t>Neurons in the brain</a:t>
            </a:r>
          </a:p>
        </p:txBody>
      </p:sp>
      <p:sp>
        <p:nvSpPr>
          <p:cNvPr id="11" name="Text Placeholder 3">
            <a:extLst>
              <a:ext uri="{FF2B5EF4-FFF2-40B4-BE49-F238E27FC236}">
                <a16:creationId xmlns:a16="http://schemas.microsoft.com/office/drawing/2014/main" id="{97E241D9-5D14-43D7-A574-079DF6701DE3}"/>
              </a:ext>
            </a:extLst>
          </p:cNvPr>
          <p:cNvSpPr txBox="1">
            <a:spLocks/>
          </p:cNvSpPr>
          <p:nvPr/>
        </p:nvSpPr>
        <p:spPr>
          <a:xfrm>
            <a:off x="7115034" y="5973595"/>
            <a:ext cx="3885062"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highlight>
                  <a:srgbClr val="FFFF00"/>
                </a:highlight>
                <a:latin typeface="Roboto Black" panose="02000000000000000000" pitchFamily="2" charset="0"/>
                <a:ea typeface="Roboto Black" panose="02000000000000000000" pitchFamily="2" charset="0"/>
                <a:cs typeface="Arial" panose="020B0604020202020204" pitchFamily="34" charset="0"/>
              </a:rPr>
              <a:t>Inhibitory interneurons</a:t>
            </a:r>
          </a:p>
        </p:txBody>
      </p:sp>
      <p:sp>
        <p:nvSpPr>
          <p:cNvPr id="13" name="Text Placeholder 3">
            <a:extLst>
              <a:ext uri="{FF2B5EF4-FFF2-40B4-BE49-F238E27FC236}">
                <a16:creationId xmlns:a16="http://schemas.microsoft.com/office/drawing/2014/main" id="{DCC36475-1A5D-4C9A-A6F8-738B7DFEFDD3}"/>
              </a:ext>
            </a:extLst>
          </p:cNvPr>
          <p:cNvSpPr txBox="1">
            <a:spLocks/>
          </p:cNvSpPr>
          <p:nvPr/>
        </p:nvSpPr>
        <p:spPr>
          <a:xfrm>
            <a:off x="10295045" y="2187834"/>
            <a:ext cx="2039349"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highlight>
                  <a:srgbClr val="FFFF00"/>
                </a:highlight>
                <a:latin typeface="Roboto Black" panose="02000000000000000000" pitchFamily="2" charset="0"/>
                <a:ea typeface="Roboto Black" panose="02000000000000000000" pitchFamily="2" charset="0"/>
                <a:cs typeface="Arial" panose="020B0604020202020204" pitchFamily="34" charset="0"/>
              </a:rPr>
              <a:t>Postsynaptic neuron</a:t>
            </a:r>
          </a:p>
        </p:txBody>
      </p:sp>
      <p:sp>
        <p:nvSpPr>
          <p:cNvPr id="15" name="Text Placeholder 3">
            <a:extLst>
              <a:ext uri="{FF2B5EF4-FFF2-40B4-BE49-F238E27FC236}">
                <a16:creationId xmlns:a16="http://schemas.microsoft.com/office/drawing/2014/main" id="{CEDCF029-475D-410C-BF53-57F87949E659}"/>
              </a:ext>
            </a:extLst>
          </p:cNvPr>
          <p:cNvSpPr txBox="1">
            <a:spLocks/>
          </p:cNvSpPr>
          <p:nvPr/>
        </p:nvSpPr>
        <p:spPr>
          <a:xfrm>
            <a:off x="7015539" y="2372237"/>
            <a:ext cx="1855083"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highlight>
                  <a:srgbClr val="FFFF00"/>
                </a:highlight>
                <a:latin typeface="Roboto Black" panose="02000000000000000000" pitchFamily="2" charset="0"/>
                <a:ea typeface="Roboto Black" panose="02000000000000000000" pitchFamily="2" charset="0"/>
                <a:cs typeface="Arial" panose="020B0604020202020204" pitchFamily="34" charset="0"/>
              </a:rPr>
              <a:t>Glutamate release</a:t>
            </a:r>
          </a:p>
        </p:txBody>
      </p:sp>
      <p:sp>
        <p:nvSpPr>
          <p:cNvPr id="16" name="Text Placeholder 3">
            <a:extLst>
              <a:ext uri="{FF2B5EF4-FFF2-40B4-BE49-F238E27FC236}">
                <a16:creationId xmlns:a16="http://schemas.microsoft.com/office/drawing/2014/main" id="{27A4DAC4-B6FC-4F6C-B105-F79D97336FEA}"/>
              </a:ext>
            </a:extLst>
          </p:cNvPr>
          <p:cNvSpPr txBox="1">
            <a:spLocks/>
          </p:cNvSpPr>
          <p:nvPr/>
        </p:nvSpPr>
        <p:spPr>
          <a:xfrm>
            <a:off x="7429658" y="4085583"/>
            <a:ext cx="3885062"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highlight>
                  <a:srgbClr val="FFFF00"/>
                </a:highlight>
                <a:latin typeface="Roboto Black" panose="02000000000000000000" pitchFamily="2" charset="0"/>
                <a:ea typeface="Roboto Black" panose="02000000000000000000" pitchFamily="2" charset="0"/>
                <a:cs typeface="Arial" panose="020B0604020202020204" pitchFamily="34" charset="0"/>
              </a:rPr>
              <a:t>GABA release</a:t>
            </a:r>
          </a:p>
        </p:txBody>
      </p:sp>
    </p:spTree>
    <p:extLst>
      <p:ext uri="{BB962C8B-B14F-4D97-AF65-F5344CB8AC3E}">
        <p14:creationId xmlns:p14="http://schemas.microsoft.com/office/powerpoint/2010/main" val="16442572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30DF13F-C952-4E2D-B0D2-AC7FD0F55E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2516"/>
            <a:ext cx="12147498" cy="6832968"/>
          </a:xfrm>
        </p:spPr>
      </p:pic>
      <p:sp>
        <p:nvSpPr>
          <p:cNvPr id="2" name="Title 1">
            <a:extLst>
              <a:ext uri="{FF2B5EF4-FFF2-40B4-BE49-F238E27FC236}">
                <a16:creationId xmlns:a16="http://schemas.microsoft.com/office/drawing/2014/main" id="{820D194E-B5BF-49D4-BDC9-73CBFB19B5FB}"/>
              </a:ext>
            </a:extLst>
          </p:cNvPr>
          <p:cNvSpPr>
            <a:spLocks noGrp="1"/>
          </p:cNvSpPr>
          <p:nvPr>
            <p:ph type="title"/>
          </p:nvPr>
        </p:nvSpPr>
        <p:spPr>
          <a:xfrm>
            <a:off x="570159" y="1451211"/>
            <a:ext cx="3407391" cy="899118"/>
          </a:xfrm>
        </p:spPr>
        <p:txBody>
          <a:bodyPr>
            <a:normAutofit fontScale="90000"/>
          </a:bodyPr>
          <a:lstStyle/>
          <a:p>
            <a:r>
              <a:rPr lang="en-AU" sz="3200" dirty="0">
                <a:solidFill>
                  <a:srgbClr val="3A7386"/>
                </a:solidFill>
                <a:latin typeface="Roboto Black" panose="02000000000000000000" pitchFamily="2" charset="0"/>
                <a:ea typeface="Roboto Black" panose="02000000000000000000" pitchFamily="2" charset="0"/>
              </a:rPr>
              <a:t>General mechanisms</a:t>
            </a:r>
          </a:p>
        </p:txBody>
      </p:sp>
      <p:sp>
        <p:nvSpPr>
          <p:cNvPr id="8" name="Content Placeholder 2">
            <a:extLst>
              <a:ext uri="{FF2B5EF4-FFF2-40B4-BE49-F238E27FC236}">
                <a16:creationId xmlns:a16="http://schemas.microsoft.com/office/drawing/2014/main" id="{0E026A61-676F-427A-B5DE-B585B77CA741}"/>
              </a:ext>
            </a:extLst>
          </p:cNvPr>
          <p:cNvSpPr txBox="1">
            <a:spLocks/>
          </p:cNvSpPr>
          <p:nvPr/>
        </p:nvSpPr>
        <p:spPr>
          <a:xfrm>
            <a:off x="506469" y="2734101"/>
            <a:ext cx="4798372" cy="41759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solidFill>
                  <a:srgbClr val="3A7386"/>
                </a:solidFill>
                <a:latin typeface="Roboto Black" panose="02000000000000000000" pitchFamily="2" charset="0"/>
                <a:ea typeface="Roboto Black" panose="02000000000000000000" pitchFamily="2" charset="0"/>
              </a:rPr>
              <a:t>Inhibitory interneurons release GABA</a:t>
            </a:r>
          </a:p>
          <a:p>
            <a:r>
              <a:rPr lang="en-AU" dirty="0">
                <a:solidFill>
                  <a:srgbClr val="3A7386"/>
                </a:solidFill>
                <a:latin typeface="Roboto Black" panose="02000000000000000000" pitchFamily="2" charset="0"/>
                <a:ea typeface="Roboto Black" panose="02000000000000000000" pitchFamily="2" charset="0"/>
              </a:rPr>
              <a:t>Gaba binds to GABA receptor</a:t>
            </a:r>
          </a:p>
          <a:p>
            <a:r>
              <a:rPr lang="en-AU" dirty="0">
                <a:solidFill>
                  <a:srgbClr val="3A7386"/>
                </a:solidFill>
                <a:latin typeface="Roboto Black" panose="02000000000000000000" pitchFamily="2" charset="0"/>
                <a:ea typeface="Roboto Black" panose="02000000000000000000" pitchFamily="2" charset="0"/>
              </a:rPr>
              <a:t>Chloride anion travels into the cell</a:t>
            </a:r>
          </a:p>
          <a:p>
            <a:r>
              <a:rPr lang="en-AU" dirty="0">
                <a:solidFill>
                  <a:srgbClr val="3A7386"/>
                </a:solidFill>
                <a:latin typeface="Roboto Black" panose="02000000000000000000" pitchFamily="2" charset="0"/>
                <a:ea typeface="Roboto Black" panose="02000000000000000000" pitchFamily="2" charset="0"/>
              </a:rPr>
              <a:t>More inhibition</a:t>
            </a:r>
          </a:p>
          <a:p>
            <a:endParaRPr lang="en-AU" dirty="0">
              <a:solidFill>
                <a:srgbClr val="3A7386"/>
              </a:solidFill>
              <a:latin typeface="Roboto Black" panose="02000000000000000000" pitchFamily="2" charset="0"/>
              <a:ea typeface="Roboto Black" panose="02000000000000000000" pitchFamily="2" charset="0"/>
            </a:endParaRPr>
          </a:p>
        </p:txBody>
      </p:sp>
      <p:sp>
        <p:nvSpPr>
          <p:cNvPr id="9" name="Oval 8">
            <a:extLst>
              <a:ext uri="{FF2B5EF4-FFF2-40B4-BE49-F238E27FC236}">
                <a16:creationId xmlns:a16="http://schemas.microsoft.com/office/drawing/2014/main" id="{50A2513A-6C52-466D-92AD-C171BBBECFA9}"/>
              </a:ext>
            </a:extLst>
          </p:cNvPr>
          <p:cNvSpPr/>
          <p:nvPr/>
        </p:nvSpPr>
        <p:spPr>
          <a:xfrm rot="1635331">
            <a:off x="9925225" y="2843284"/>
            <a:ext cx="1698118" cy="2042615"/>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 Placeholder 3">
            <a:extLst>
              <a:ext uri="{FF2B5EF4-FFF2-40B4-BE49-F238E27FC236}">
                <a16:creationId xmlns:a16="http://schemas.microsoft.com/office/drawing/2014/main" id="{D12AAAB5-D1B0-486D-B808-9A79AEE47B7E}"/>
              </a:ext>
            </a:extLst>
          </p:cNvPr>
          <p:cNvSpPr txBox="1">
            <a:spLocks/>
          </p:cNvSpPr>
          <p:nvPr/>
        </p:nvSpPr>
        <p:spPr>
          <a:xfrm>
            <a:off x="5177257" y="4223744"/>
            <a:ext cx="3885062"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latin typeface="Roboto Black" panose="02000000000000000000" pitchFamily="2" charset="0"/>
                <a:ea typeface="Roboto Black" panose="02000000000000000000" pitchFamily="2" charset="0"/>
                <a:cs typeface="Arial" panose="020B0604020202020204" pitchFamily="34" charset="0"/>
              </a:rPr>
              <a:t>If a drug acts like GABA or potentiates the action of GABA, it can decrease brain over activity</a:t>
            </a:r>
          </a:p>
        </p:txBody>
      </p:sp>
      <p:cxnSp>
        <p:nvCxnSpPr>
          <p:cNvPr id="12" name="Straight Arrow Connector 11">
            <a:extLst>
              <a:ext uri="{FF2B5EF4-FFF2-40B4-BE49-F238E27FC236}">
                <a16:creationId xmlns:a16="http://schemas.microsoft.com/office/drawing/2014/main" id="{18D634A1-3A07-46E9-B91C-4F8073B6F0EA}"/>
              </a:ext>
            </a:extLst>
          </p:cNvPr>
          <p:cNvCxnSpPr>
            <a:cxnSpLocks/>
          </p:cNvCxnSpPr>
          <p:nvPr/>
        </p:nvCxnSpPr>
        <p:spPr>
          <a:xfrm flipV="1">
            <a:off x="8934734" y="3380096"/>
            <a:ext cx="2065362" cy="1228298"/>
          </a:xfrm>
          <a:prstGeom prst="straightConnector1">
            <a:avLst/>
          </a:prstGeom>
          <a:ln w="762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BC1D5142-6CB6-43BB-86C6-BE51F8C3877F}"/>
              </a:ext>
            </a:extLst>
          </p:cNvPr>
          <p:cNvSpPr txBox="1">
            <a:spLocks/>
          </p:cNvSpPr>
          <p:nvPr/>
        </p:nvSpPr>
        <p:spPr>
          <a:xfrm>
            <a:off x="435955" y="375313"/>
            <a:ext cx="5459878" cy="8991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600" dirty="0">
                <a:solidFill>
                  <a:srgbClr val="3A7386"/>
                </a:solidFill>
                <a:latin typeface="Roboto Black" panose="02000000000000000000" pitchFamily="2" charset="0"/>
                <a:ea typeface="Roboto Black" panose="02000000000000000000" pitchFamily="2" charset="0"/>
              </a:rPr>
              <a:t>Antiseizure medications</a:t>
            </a:r>
          </a:p>
        </p:txBody>
      </p:sp>
    </p:spTree>
    <p:extLst>
      <p:ext uri="{BB962C8B-B14F-4D97-AF65-F5344CB8AC3E}">
        <p14:creationId xmlns:p14="http://schemas.microsoft.com/office/powerpoint/2010/main" val="278873004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30DF13F-C952-4E2D-B0D2-AC7FD0F55E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2516"/>
            <a:ext cx="12147498" cy="6832968"/>
          </a:xfrm>
        </p:spPr>
      </p:pic>
      <p:sp>
        <p:nvSpPr>
          <p:cNvPr id="2" name="Title 1">
            <a:extLst>
              <a:ext uri="{FF2B5EF4-FFF2-40B4-BE49-F238E27FC236}">
                <a16:creationId xmlns:a16="http://schemas.microsoft.com/office/drawing/2014/main" id="{820D194E-B5BF-49D4-BDC9-73CBFB19B5FB}"/>
              </a:ext>
            </a:extLst>
          </p:cNvPr>
          <p:cNvSpPr>
            <a:spLocks noGrp="1"/>
          </p:cNvSpPr>
          <p:nvPr>
            <p:ph type="title"/>
          </p:nvPr>
        </p:nvSpPr>
        <p:spPr>
          <a:xfrm>
            <a:off x="570159" y="1451211"/>
            <a:ext cx="3407391" cy="899118"/>
          </a:xfrm>
        </p:spPr>
        <p:txBody>
          <a:bodyPr>
            <a:normAutofit/>
          </a:bodyPr>
          <a:lstStyle/>
          <a:p>
            <a:r>
              <a:rPr lang="en-AU" sz="3200" dirty="0">
                <a:solidFill>
                  <a:srgbClr val="3A7386"/>
                </a:solidFill>
                <a:latin typeface="Roboto Black" panose="02000000000000000000" pitchFamily="2" charset="0"/>
                <a:ea typeface="Roboto Black" panose="02000000000000000000" pitchFamily="2" charset="0"/>
              </a:rPr>
              <a:t>Benzodiazepines</a:t>
            </a:r>
          </a:p>
        </p:txBody>
      </p:sp>
      <p:sp>
        <p:nvSpPr>
          <p:cNvPr id="8" name="Content Placeholder 2">
            <a:extLst>
              <a:ext uri="{FF2B5EF4-FFF2-40B4-BE49-F238E27FC236}">
                <a16:creationId xmlns:a16="http://schemas.microsoft.com/office/drawing/2014/main" id="{0E026A61-676F-427A-B5DE-B585B77CA741}"/>
              </a:ext>
            </a:extLst>
          </p:cNvPr>
          <p:cNvSpPr txBox="1">
            <a:spLocks/>
          </p:cNvSpPr>
          <p:nvPr/>
        </p:nvSpPr>
        <p:spPr>
          <a:xfrm>
            <a:off x="506469" y="2734101"/>
            <a:ext cx="4798372" cy="41759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solidFill>
                  <a:srgbClr val="3A7386"/>
                </a:solidFill>
                <a:latin typeface="Roboto Black" panose="02000000000000000000" pitchFamily="2" charset="0"/>
                <a:ea typeface="Roboto Black" panose="02000000000000000000" pitchFamily="2" charset="0"/>
              </a:rPr>
              <a:t>Intravenous dia</a:t>
            </a:r>
            <a:r>
              <a:rPr lang="en-AU" dirty="0">
                <a:solidFill>
                  <a:srgbClr val="3A7386"/>
                </a:solidFill>
                <a:highlight>
                  <a:srgbClr val="FFFF00"/>
                </a:highlight>
                <a:latin typeface="Roboto Black" panose="02000000000000000000" pitchFamily="2" charset="0"/>
                <a:ea typeface="Roboto Black" panose="02000000000000000000" pitchFamily="2" charset="0"/>
              </a:rPr>
              <a:t>zepam</a:t>
            </a:r>
            <a:r>
              <a:rPr lang="en-AU" dirty="0">
                <a:solidFill>
                  <a:srgbClr val="3A7386"/>
                </a:solidFill>
                <a:latin typeface="Roboto Black" panose="02000000000000000000" pitchFamily="2" charset="0"/>
                <a:ea typeface="Roboto Black" panose="02000000000000000000" pitchFamily="2" charset="0"/>
              </a:rPr>
              <a:t> or lora</a:t>
            </a:r>
            <a:r>
              <a:rPr lang="en-AU" dirty="0">
                <a:solidFill>
                  <a:srgbClr val="3A7386"/>
                </a:solidFill>
                <a:highlight>
                  <a:srgbClr val="FFFF00"/>
                </a:highlight>
                <a:latin typeface="Roboto Black" panose="02000000000000000000" pitchFamily="2" charset="0"/>
                <a:ea typeface="Roboto Black" panose="02000000000000000000" pitchFamily="2" charset="0"/>
              </a:rPr>
              <a:t>zepam</a:t>
            </a:r>
            <a:r>
              <a:rPr lang="en-AU" dirty="0">
                <a:solidFill>
                  <a:srgbClr val="3A7386"/>
                </a:solidFill>
                <a:latin typeface="Roboto Black" panose="02000000000000000000" pitchFamily="2" charset="0"/>
                <a:ea typeface="Roboto Black" panose="02000000000000000000" pitchFamily="2" charset="0"/>
              </a:rPr>
              <a:t> are first-line treatments for status epilepticus</a:t>
            </a:r>
          </a:p>
          <a:p>
            <a:r>
              <a:rPr lang="en-AU" dirty="0">
                <a:solidFill>
                  <a:srgbClr val="3A7386"/>
                </a:solidFill>
                <a:latin typeface="Roboto Black" panose="02000000000000000000" pitchFamily="2" charset="0"/>
                <a:ea typeface="Roboto Black" panose="02000000000000000000" pitchFamily="2" charset="0"/>
              </a:rPr>
              <a:t>Should not be used to prevent seizures because tolerance develops</a:t>
            </a:r>
          </a:p>
          <a:p>
            <a:r>
              <a:rPr lang="en-AU" dirty="0">
                <a:solidFill>
                  <a:srgbClr val="3A7386"/>
                </a:solidFill>
                <a:latin typeface="Roboto Black" panose="02000000000000000000" pitchFamily="2" charset="0"/>
                <a:ea typeface="Roboto Black" panose="02000000000000000000" pitchFamily="2" charset="0"/>
              </a:rPr>
              <a:t>(refer to anxiolytics for further information)</a:t>
            </a:r>
          </a:p>
          <a:p>
            <a:endParaRPr lang="en-AU" dirty="0">
              <a:solidFill>
                <a:srgbClr val="3A7386"/>
              </a:solidFill>
              <a:latin typeface="Roboto Black" panose="02000000000000000000" pitchFamily="2" charset="0"/>
              <a:ea typeface="Roboto Black" panose="02000000000000000000" pitchFamily="2" charset="0"/>
            </a:endParaRPr>
          </a:p>
        </p:txBody>
      </p:sp>
      <p:sp>
        <p:nvSpPr>
          <p:cNvPr id="9" name="Oval 8">
            <a:extLst>
              <a:ext uri="{FF2B5EF4-FFF2-40B4-BE49-F238E27FC236}">
                <a16:creationId xmlns:a16="http://schemas.microsoft.com/office/drawing/2014/main" id="{50A2513A-6C52-466D-92AD-C171BBBECFA9}"/>
              </a:ext>
            </a:extLst>
          </p:cNvPr>
          <p:cNvSpPr/>
          <p:nvPr/>
        </p:nvSpPr>
        <p:spPr>
          <a:xfrm rot="1635331">
            <a:off x="9925225" y="2843284"/>
            <a:ext cx="1698118" cy="2042615"/>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 Placeholder 3">
            <a:extLst>
              <a:ext uri="{FF2B5EF4-FFF2-40B4-BE49-F238E27FC236}">
                <a16:creationId xmlns:a16="http://schemas.microsoft.com/office/drawing/2014/main" id="{D12AAAB5-D1B0-486D-B808-9A79AEE47B7E}"/>
              </a:ext>
            </a:extLst>
          </p:cNvPr>
          <p:cNvSpPr txBox="1">
            <a:spLocks/>
          </p:cNvSpPr>
          <p:nvPr/>
        </p:nvSpPr>
        <p:spPr>
          <a:xfrm>
            <a:off x="5500048" y="4167644"/>
            <a:ext cx="3885062"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latin typeface="Roboto Black" panose="02000000000000000000" pitchFamily="2" charset="0"/>
                <a:ea typeface="Roboto Black" panose="02000000000000000000" pitchFamily="2" charset="0"/>
                <a:cs typeface="Arial" panose="020B0604020202020204" pitchFamily="34" charset="0"/>
              </a:rPr>
              <a:t>Benzodiazepines potentiate the actions of the </a:t>
            </a:r>
            <a:r>
              <a:rPr lang="en-AU" sz="1800" b="1" dirty="0">
                <a:solidFill>
                  <a:srgbClr val="FF0000"/>
                </a:solidFill>
                <a:highlight>
                  <a:srgbClr val="FFFF00"/>
                </a:highlight>
                <a:latin typeface="Roboto Black" panose="02000000000000000000" pitchFamily="2" charset="0"/>
                <a:ea typeface="Roboto Black" panose="02000000000000000000" pitchFamily="2" charset="0"/>
                <a:cs typeface="Arial" panose="020B0604020202020204" pitchFamily="34" charset="0"/>
              </a:rPr>
              <a:t>inhibitory </a:t>
            </a:r>
            <a:r>
              <a:rPr lang="en-AU" sz="1800" b="1" dirty="0">
                <a:solidFill>
                  <a:srgbClr val="FF0000"/>
                </a:solidFill>
                <a:latin typeface="Roboto Black" panose="02000000000000000000" pitchFamily="2" charset="0"/>
                <a:ea typeface="Roboto Black" panose="02000000000000000000" pitchFamily="2" charset="0"/>
                <a:cs typeface="Arial" panose="020B0604020202020204" pitchFamily="34" charset="0"/>
              </a:rPr>
              <a:t>neurotransmitter GABA</a:t>
            </a:r>
          </a:p>
        </p:txBody>
      </p:sp>
      <p:cxnSp>
        <p:nvCxnSpPr>
          <p:cNvPr id="12" name="Straight Arrow Connector 11">
            <a:extLst>
              <a:ext uri="{FF2B5EF4-FFF2-40B4-BE49-F238E27FC236}">
                <a16:creationId xmlns:a16="http://schemas.microsoft.com/office/drawing/2014/main" id="{18D634A1-3A07-46E9-B91C-4F8073B6F0EA}"/>
              </a:ext>
            </a:extLst>
          </p:cNvPr>
          <p:cNvCxnSpPr>
            <a:cxnSpLocks/>
          </p:cNvCxnSpPr>
          <p:nvPr/>
        </p:nvCxnSpPr>
        <p:spPr>
          <a:xfrm flipV="1">
            <a:off x="8934734" y="3380096"/>
            <a:ext cx="2065362" cy="1228298"/>
          </a:xfrm>
          <a:prstGeom prst="straightConnector1">
            <a:avLst/>
          </a:prstGeom>
          <a:ln w="762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BC1D5142-6CB6-43BB-86C6-BE51F8C3877F}"/>
              </a:ext>
            </a:extLst>
          </p:cNvPr>
          <p:cNvSpPr txBox="1">
            <a:spLocks/>
          </p:cNvSpPr>
          <p:nvPr/>
        </p:nvSpPr>
        <p:spPr>
          <a:xfrm>
            <a:off x="435955" y="375313"/>
            <a:ext cx="5459878" cy="8991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600" dirty="0">
                <a:solidFill>
                  <a:srgbClr val="3A7386"/>
                </a:solidFill>
                <a:latin typeface="Roboto Black" panose="02000000000000000000" pitchFamily="2" charset="0"/>
                <a:ea typeface="Roboto Black" panose="02000000000000000000" pitchFamily="2" charset="0"/>
              </a:rPr>
              <a:t>Antiseizure medications</a:t>
            </a:r>
          </a:p>
        </p:txBody>
      </p:sp>
    </p:spTree>
    <p:extLst>
      <p:ext uri="{BB962C8B-B14F-4D97-AF65-F5344CB8AC3E}">
        <p14:creationId xmlns:p14="http://schemas.microsoft.com/office/powerpoint/2010/main" val="248619744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30DF13F-C952-4E2D-B0D2-AC7FD0F55E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5687"/>
            <a:ext cx="12147498" cy="6832968"/>
          </a:xfrm>
        </p:spPr>
      </p:pic>
      <p:sp>
        <p:nvSpPr>
          <p:cNvPr id="2" name="Title 1">
            <a:extLst>
              <a:ext uri="{FF2B5EF4-FFF2-40B4-BE49-F238E27FC236}">
                <a16:creationId xmlns:a16="http://schemas.microsoft.com/office/drawing/2014/main" id="{820D194E-B5BF-49D4-BDC9-73CBFB19B5FB}"/>
              </a:ext>
            </a:extLst>
          </p:cNvPr>
          <p:cNvSpPr>
            <a:spLocks noGrp="1"/>
          </p:cNvSpPr>
          <p:nvPr>
            <p:ph type="title"/>
          </p:nvPr>
        </p:nvSpPr>
        <p:spPr>
          <a:xfrm>
            <a:off x="570159" y="1451211"/>
            <a:ext cx="3407391" cy="899118"/>
          </a:xfrm>
        </p:spPr>
        <p:txBody>
          <a:bodyPr>
            <a:normAutofit fontScale="90000"/>
          </a:bodyPr>
          <a:lstStyle/>
          <a:p>
            <a:r>
              <a:rPr lang="en-AU" sz="3200" dirty="0">
                <a:solidFill>
                  <a:srgbClr val="3A7386"/>
                </a:solidFill>
                <a:latin typeface="Roboto Black" panose="02000000000000000000" pitchFamily="2" charset="0"/>
                <a:ea typeface="Roboto Black" panose="02000000000000000000" pitchFamily="2" charset="0"/>
              </a:rPr>
              <a:t>Gabapentin and Pregabalin</a:t>
            </a:r>
          </a:p>
        </p:txBody>
      </p:sp>
      <p:sp>
        <p:nvSpPr>
          <p:cNvPr id="8" name="Content Placeholder 2">
            <a:extLst>
              <a:ext uri="{FF2B5EF4-FFF2-40B4-BE49-F238E27FC236}">
                <a16:creationId xmlns:a16="http://schemas.microsoft.com/office/drawing/2014/main" id="{0E026A61-676F-427A-B5DE-B585B77CA741}"/>
              </a:ext>
            </a:extLst>
          </p:cNvPr>
          <p:cNvSpPr txBox="1">
            <a:spLocks/>
          </p:cNvSpPr>
          <p:nvPr/>
        </p:nvSpPr>
        <p:spPr>
          <a:xfrm>
            <a:off x="260735" y="2651289"/>
            <a:ext cx="4593315" cy="417599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solidFill>
                  <a:srgbClr val="3A7386"/>
                </a:solidFill>
                <a:latin typeface="Roboto Black" panose="02000000000000000000" pitchFamily="2" charset="0"/>
                <a:ea typeface="Roboto Black" panose="02000000000000000000" pitchFamily="2" charset="0"/>
              </a:rPr>
              <a:t>Decrease activity of calcium channels</a:t>
            </a:r>
          </a:p>
          <a:p>
            <a:r>
              <a:rPr lang="en-AU" dirty="0">
                <a:solidFill>
                  <a:srgbClr val="3A7386"/>
                </a:solidFill>
                <a:latin typeface="Roboto Black" panose="02000000000000000000" pitchFamily="2" charset="0"/>
                <a:ea typeface="Roboto Black" panose="02000000000000000000" pitchFamily="2" charset="0"/>
              </a:rPr>
              <a:t>Treat partial seizures and neuropathic pain</a:t>
            </a:r>
          </a:p>
          <a:p>
            <a:r>
              <a:rPr lang="en-AU" dirty="0">
                <a:solidFill>
                  <a:srgbClr val="3A7386"/>
                </a:solidFill>
                <a:latin typeface="Roboto Black" panose="02000000000000000000" pitchFamily="2" charset="0"/>
                <a:ea typeface="Roboto Black" panose="02000000000000000000" pitchFamily="2" charset="0"/>
              </a:rPr>
              <a:t>Gabapentin is the first-line medication for the treatment of neuropathic pain </a:t>
            </a:r>
          </a:p>
          <a:p>
            <a:r>
              <a:rPr lang="en-AU" dirty="0">
                <a:solidFill>
                  <a:srgbClr val="3A7386"/>
                </a:solidFill>
                <a:latin typeface="Roboto Black" panose="02000000000000000000" pitchFamily="2" charset="0"/>
                <a:ea typeface="Roboto Black" panose="02000000000000000000" pitchFamily="2" charset="0"/>
              </a:rPr>
              <a:t>Side effects: sleepiness and dizziness are the most common. </a:t>
            </a:r>
          </a:p>
          <a:p>
            <a:endParaRPr lang="en-AU" dirty="0">
              <a:solidFill>
                <a:srgbClr val="3A7386"/>
              </a:solidFill>
              <a:latin typeface="Roboto Black" panose="02000000000000000000" pitchFamily="2" charset="0"/>
              <a:ea typeface="Roboto Black" panose="02000000000000000000" pitchFamily="2" charset="0"/>
            </a:endParaRPr>
          </a:p>
        </p:txBody>
      </p:sp>
      <p:sp>
        <p:nvSpPr>
          <p:cNvPr id="9" name="Oval 8">
            <a:extLst>
              <a:ext uri="{FF2B5EF4-FFF2-40B4-BE49-F238E27FC236}">
                <a16:creationId xmlns:a16="http://schemas.microsoft.com/office/drawing/2014/main" id="{50A2513A-6C52-466D-92AD-C171BBBECFA9}"/>
              </a:ext>
            </a:extLst>
          </p:cNvPr>
          <p:cNvSpPr/>
          <p:nvPr/>
        </p:nvSpPr>
        <p:spPr>
          <a:xfrm>
            <a:off x="4523609" y="1727940"/>
            <a:ext cx="1698118" cy="2042615"/>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 Placeholder 3">
            <a:extLst>
              <a:ext uri="{FF2B5EF4-FFF2-40B4-BE49-F238E27FC236}">
                <a16:creationId xmlns:a16="http://schemas.microsoft.com/office/drawing/2014/main" id="{D12AAAB5-D1B0-486D-B808-9A79AEE47B7E}"/>
              </a:ext>
            </a:extLst>
          </p:cNvPr>
          <p:cNvSpPr txBox="1">
            <a:spLocks/>
          </p:cNvSpPr>
          <p:nvPr/>
        </p:nvSpPr>
        <p:spPr>
          <a:xfrm>
            <a:off x="3307719" y="2060217"/>
            <a:ext cx="3885062"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4400" b="1" dirty="0">
                <a:solidFill>
                  <a:srgbClr val="FF0000"/>
                </a:solidFill>
                <a:latin typeface="Roboto Black" panose="02000000000000000000" pitchFamily="2" charset="0"/>
                <a:ea typeface="Roboto Black" panose="02000000000000000000" pitchFamily="2" charset="0"/>
                <a:cs typeface="Arial" panose="020B0604020202020204" pitchFamily="34" charset="0"/>
              </a:rPr>
              <a:t> X </a:t>
            </a:r>
          </a:p>
        </p:txBody>
      </p:sp>
      <p:cxnSp>
        <p:nvCxnSpPr>
          <p:cNvPr id="12" name="Straight Arrow Connector 11">
            <a:extLst>
              <a:ext uri="{FF2B5EF4-FFF2-40B4-BE49-F238E27FC236}">
                <a16:creationId xmlns:a16="http://schemas.microsoft.com/office/drawing/2014/main" id="{18D634A1-3A07-46E9-B91C-4F8073B6F0EA}"/>
              </a:ext>
            </a:extLst>
          </p:cNvPr>
          <p:cNvCxnSpPr>
            <a:cxnSpLocks/>
          </p:cNvCxnSpPr>
          <p:nvPr/>
        </p:nvCxnSpPr>
        <p:spPr>
          <a:xfrm flipV="1">
            <a:off x="5332136" y="2581917"/>
            <a:ext cx="0" cy="629850"/>
          </a:xfrm>
          <a:prstGeom prst="straightConnector1">
            <a:avLst/>
          </a:prstGeom>
          <a:ln w="762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BC1D5142-6CB6-43BB-86C6-BE51F8C3877F}"/>
              </a:ext>
            </a:extLst>
          </p:cNvPr>
          <p:cNvSpPr txBox="1">
            <a:spLocks/>
          </p:cNvSpPr>
          <p:nvPr/>
        </p:nvSpPr>
        <p:spPr>
          <a:xfrm>
            <a:off x="435955" y="375313"/>
            <a:ext cx="5459878" cy="8991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600" dirty="0">
                <a:solidFill>
                  <a:srgbClr val="3A7386"/>
                </a:solidFill>
                <a:latin typeface="Roboto Black" panose="02000000000000000000" pitchFamily="2" charset="0"/>
                <a:ea typeface="Roboto Black" panose="02000000000000000000" pitchFamily="2" charset="0"/>
              </a:rPr>
              <a:t>Antiseizure medications</a:t>
            </a:r>
          </a:p>
        </p:txBody>
      </p:sp>
      <p:sp>
        <p:nvSpPr>
          <p:cNvPr id="13" name="Text Placeholder 3">
            <a:extLst>
              <a:ext uri="{FF2B5EF4-FFF2-40B4-BE49-F238E27FC236}">
                <a16:creationId xmlns:a16="http://schemas.microsoft.com/office/drawing/2014/main" id="{E45B4112-9939-4313-9A7E-32D5AA202C3E}"/>
              </a:ext>
            </a:extLst>
          </p:cNvPr>
          <p:cNvSpPr txBox="1">
            <a:spLocks/>
          </p:cNvSpPr>
          <p:nvPr/>
        </p:nvSpPr>
        <p:spPr>
          <a:xfrm>
            <a:off x="4523609" y="3931407"/>
            <a:ext cx="3885062"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latin typeface="Roboto Black" panose="02000000000000000000" pitchFamily="2" charset="0"/>
                <a:ea typeface="Roboto Black" panose="02000000000000000000" pitchFamily="2" charset="0"/>
                <a:cs typeface="Arial" panose="020B0604020202020204" pitchFamily="34" charset="0"/>
              </a:rPr>
              <a:t>Gabapentin and pregabalin inhibit the calcium into the presynaptic neurons which results in less excitation throughout the brain </a:t>
            </a:r>
          </a:p>
        </p:txBody>
      </p:sp>
      <p:sp>
        <p:nvSpPr>
          <p:cNvPr id="15" name="Text Placeholder 3">
            <a:extLst>
              <a:ext uri="{FF2B5EF4-FFF2-40B4-BE49-F238E27FC236}">
                <a16:creationId xmlns:a16="http://schemas.microsoft.com/office/drawing/2014/main" id="{8679C5F4-7889-4A63-9FC5-F7109B4C46DF}"/>
              </a:ext>
            </a:extLst>
          </p:cNvPr>
          <p:cNvSpPr txBox="1">
            <a:spLocks/>
          </p:cNvSpPr>
          <p:nvPr/>
        </p:nvSpPr>
        <p:spPr>
          <a:xfrm>
            <a:off x="3430137" y="3224527"/>
            <a:ext cx="3885062"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latin typeface="Roboto Black" panose="02000000000000000000" pitchFamily="2" charset="0"/>
                <a:ea typeface="Roboto Black" panose="02000000000000000000" pitchFamily="2" charset="0"/>
                <a:cs typeface="Arial" panose="020B0604020202020204" pitchFamily="34" charset="0"/>
              </a:rPr>
              <a:t>Calcium</a:t>
            </a:r>
          </a:p>
        </p:txBody>
      </p:sp>
      <p:sp>
        <p:nvSpPr>
          <p:cNvPr id="11" name="Text Placeholder 3">
            <a:extLst>
              <a:ext uri="{FF2B5EF4-FFF2-40B4-BE49-F238E27FC236}">
                <a16:creationId xmlns:a16="http://schemas.microsoft.com/office/drawing/2014/main" id="{114752C8-94ED-45B9-A9EA-5C7899103B44}"/>
              </a:ext>
            </a:extLst>
          </p:cNvPr>
          <p:cNvSpPr txBox="1">
            <a:spLocks/>
          </p:cNvSpPr>
          <p:nvPr/>
        </p:nvSpPr>
        <p:spPr>
          <a:xfrm>
            <a:off x="7287011" y="2430914"/>
            <a:ext cx="1698118"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highlight>
                  <a:srgbClr val="FFFF00"/>
                </a:highlight>
                <a:latin typeface="Roboto Black" panose="02000000000000000000" pitchFamily="2" charset="0"/>
                <a:ea typeface="Roboto Black" panose="02000000000000000000" pitchFamily="2" charset="0"/>
                <a:cs typeface="Arial" panose="020B0604020202020204" pitchFamily="34" charset="0"/>
              </a:rPr>
              <a:t>LESS Glutamate released</a:t>
            </a:r>
          </a:p>
        </p:txBody>
      </p:sp>
    </p:spTree>
    <p:extLst>
      <p:ext uri="{BB962C8B-B14F-4D97-AF65-F5344CB8AC3E}">
        <p14:creationId xmlns:p14="http://schemas.microsoft.com/office/powerpoint/2010/main" val="153739367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30DF13F-C952-4E2D-B0D2-AC7FD0F55E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5687"/>
            <a:ext cx="12147498" cy="6832968"/>
          </a:xfrm>
        </p:spPr>
      </p:pic>
      <p:sp>
        <p:nvSpPr>
          <p:cNvPr id="2" name="Title 1">
            <a:extLst>
              <a:ext uri="{FF2B5EF4-FFF2-40B4-BE49-F238E27FC236}">
                <a16:creationId xmlns:a16="http://schemas.microsoft.com/office/drawing/2014/main" id="{820D194E-B5BF-49D4-BDC9-73CBFB19B5FB}"/>
              </a:ext>
            </a:extLst>
          </p:cNvPr>
          <p:cNvSpPr>
            <a:spLocks noGrp="1"/>
          </p:cNvSpPr>
          <p:nvPr>
            <p:ph type="title"/>
          </p:nvPr>
        </p:nvSpPr>
        <p:spPr>
          <a:xfrm>
            <a:off x="570159" y="1451211"/>
            <a:ext cx="3407391" cy="899118"/>
          </a:xfrm>
        </p:spPr>
        <p:txBody>
          <a:bodyPr>
            <a:normAutofit fontScale="90000"/>
          </a:bodyPr>
          <a:lstStyle/>
          <a:p>
            <a:r>
              <a:rPr lang="en-AU" sz="3200" dirty="0">
                <a:solidFill>
                  <a:srgbClr val="3A7386"/>
                </a:solidFill>
                <a:latin typeface="Roboto Black" panose="02000000000000000000" pitchFamily="2" charset="0"/>
                <a:ea typeface="Roboto Black" panose="02000000000000000000" pitchFamily="2" charset="0"/>
              </a:rPr>
              <a:t>Carbamazepine and valproic acid </a:t>
            </a:r>
          </a:p>
        </p:txBody>
      </p:sp>
      <p:sp>
        <p:nvSpPr>
          <p:cNvPr id="8" name="Content Placeholder 2">
            <a:extLst>
              <a:ext uri="{FF2B5EF4-FFF2-40B4-BE49-F238E27FC236}">
                <a16:creationId xmlns:a16="http://schemas.microsoft.com/office/drawing/2014/main" id="{0E026A61-676F-427A-B5DE-B585B77CA741}"/>
              </a:ext>
            </a:extLst>
          </p:cNvPr>
          <p:cNvSpPr txBox="1">
            <a:spLocks/>
          </p:cNvSpPr>
          <p:nvPr/>
        </p:nvSpPr>
        <p:spPr>
          <a:xfrm>
            <a:off x="506469" y="2734101"/>
            <a:ext cx="4216066" cy="41759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solidFill>
                  <a:srgbClr val="3A7386"/>
                </a:solidFill>
                <a:latin typeface="Roboto Black" panose="02000000000000000000" pitchFamily="2" charset="0"/>
                <a:ea typeface="Roboto Black" panose="02000000000000000000" pitchFamily="2" charset="0"/>
              </a:rPr>
              <a:t>Decrease sodium into the presynaptic neuron</a:t>
            </a:r>
          </a:p>
          <a:p>
            <a:endParaRPr lang="en-AU" dirty="0">
              <a:solidFill>
                <a:srgbClr val="3A7386"/>
              </a:solidFill>
              <a:latin typeface="Roboto Black" panose="02000000000000000000" pitchFamily="2" charset="0"/>
              <a:ea typeface="Roboto Black" panose="02000000000000000000" pitchFamily="2" charset="0"/>
            </a:endParaRPr>
          </a:p>
        </p:txBody>
      </p:sp>
      <p:sp>
        <p:nvSpPr>
          <p:cNvPr id="9" name="Oval 8">
            <a:extLst>
              <a:ext uri="{FF2B5EF4-FFF2-40B4-BE49-F238E27FC236}">
                <a16:creationId xmlns:a16="http://schemas.microsoft.com/office/drawing/2014/main" id="{50A2513A-6C52-466D-92AD-C171BBBECFA9}"/>
              </a:ext>
            </a:extLst>
          </p:cNvPr>
          <p:cNvSpPr/>
          <p:nvPr/>
        </p:nvSpPr>
        <p:spPr>
          <a:xfrm>
            <a:off x="4523609" y="1727940"/>
            <a:ext cx="1698118" cy="2042615"/>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 Placeholder 3">
            <a:extLst>
              <a:ext uri="{FF2B5EF4-FFF2-40B4-BE49-F238E27FC236}">
                <a16:creationId xmlns:a16="http://schemas.microsoft.com/office/drawing/2014/main" id="{D12AAAB5-D1B0-486D-B808-9A79AEE47B7E}"/>
              </a:ext>
            </a:extLst>
          </p:cNvPr>
          <p:cNvSpPr txBox="1">
            <a:spLocks/>
          </p:cNvSpPr>
          <p:nvPr/>
        </p:nvSpPr>
        <p:spPr>
          <a:xfrm>
            <a:off x="3307719" y="2060217"/>
            <a:ext cx="3885062"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4400" b="1" dirty="0">
                <a:solidFill>
                  <a:srgbClr val="FF0000"/>
                </a:solidFill>
                <a:latin typeface="Roboto Black" panose="02000000000000000000" pitchFamily="2" charset="0"/>
                <a:ea typeface="Roboto Black" panose="02000000000000000000" pitchFamily="2" charset="0"/>
                <a:cs typeface="Arial" panose="020B0604020202020204" pitchFamily="34" charset="0"/>
              </a:rPr>
              <a:t> X </a:t>
            </a:r>
          </a:p>
        </p:txBody>
      </p:sp>
      <p:cxnSp>
        <p:nvCxnSpPr>
          <p:cNvPr id="12" name="Straight Arrow Connector 11">
            <a:extLst>
              <a:ext uri="{FF2B5EF4-FFF2-40B4-BE49-F238E27FC236}">
                <a16:creationId xmlns:a16="http://schemas.microsoft.com/office/drawing/2014/main" id="{18D634A1-3A07-46E9-B91C-4F8073B6F0EA}"/>
              </a:ext>
            </a:extLst>
          </p:cNvPr>
          <p:cNvCxnSpPr>
            <a:cxnSpLocks/>
          </p:cNvCxnSpPr>
          <p:nvPr/>
        </p:nvCxnSpPr>
        <p:spPr>
          <a:xfrm flipV="1">
            <a:off x="5332136" y="2581917"/>
            <a:ext cx="0" cy="629850"/>
          </a:xfrm>
          <a:prstGeom prst="straightConnector1">
            <a:avLst/>
          </a:prstGeom>
          <a:ln w="762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BC1D5142-6CB6-43BB-86C6-BE51F8C3877F}"/>
              </a:ext>
            </a:extLst>
          </p:cNvPr>
          <p:cNvSpPr txBox="1">
            <a:spLocks/>
          </p:cNvSpPr>
          <p:nvPr/>
        </p:nvSpPr>
        <p:spPr>
          <a:xfrm>
            <a:off x="435955" y="375313"/>
            <a:ext cx="5459878" cy="8991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600" dirty="0">
                <a:solidFill>
                  <a:srgbClr val="3A7386"/>
                </a:solidFill>
                <a:latin typeface="Roboto Black" panose="02000000000000000000" pitchFamily="2" charset="0"/>
                <a:ea typeface="Roboto Black" panose="02000000000000000000" pitchFamily="2" charset="0"/>
              </a:rPr>
              <a:t>Antiseizure medications</a:t>
            </a:r>
          </a:p>
        </p:txBody>
      </p:sp>
      <p:sp>
        <p:nvSpPr>
          <p:cNvPr id="13" name="Text Placeholder 3">
            <a:extLst>
              <a:ext uri="{FF2B5EF4-FFF2-40B4-BE49-F238E27FC236}">
                <a16:creationId xmlns:a16="http://schemas.microsoft.com/office/drawing/2014/main" id="{E45B4112-9939-4313-9A7E-32D5AA202C3E}"/>
              </a:ext>
            </a:extLst>
          </p:cNvPr>
          <p:cNvSpPr txBox="1">
            <a:spLocks/>
          </p:cNvSpPr>
          <p:nvPr/>
        </p:nvSpPr>
        <p:spPr>
          <a:xfrm>
            <a:off x="3977550" y="3879369"/>
            <a:ext cx="4742243"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highlight>
                  <a:srgbClr val="FFFF00"/>
                </a:highlight>
                <a:latin typeface="Roboto Black" panose="02000000000000000000" pitchFamily="2" charset="0"/>
                <a:ea typeface="Roboto Black" panose="02000000000000000000" pitchFamily="2" charset="0"/>
                <a:cs typeface="Arial" panose="020B0604020202020204" pitchFamily="34" charset="0"/>
              </a:rPr>
              <a:t>Carbamazepine and valproic acid decrease the sodium into the presynaptic neurons.  </a:t>
            </a:r>
          </a:p>
          <a:p>
            <a:pPr marL="0" indent="0" algn="ctr">
              <a:buNone/>
            </a:pPr>
            <a:r>
              <a:rPr lang="en-AU" sz="1800" b="1" dirty="0">
                <a:solidFill>
                  <a:srgbClr val="FF0000"/>
                </a:solidFill>
                <a:highlight>
                  <a:srgbClr val="FFFF00"/>
                </a:highlight>
                <a:latin typeface="Roboto Black" panose="02000000000000000000" pitchFamily="2" charset="0"/>
                <a:ea typeface="Roboto Black" panose="02000000000000000000" pitchFamily="2" charset="0"/>
                <a:cs typeface="Arial" panose="020B0604020202020204" pitchFamily="34" charset="0"/>
              </a:rPr>
              <a:t>This decreases the amount of glutamate released = decreased excitation</a:t>
            </a:r>
          </a:p>
        </p:txBody>
      </p:sp>
      <p:sp>
        <p:nvSpPr>
          <p:cNvPr id="15" name="Text Placeholder 3">
            <a:extLst>
              <a:ext uri="{FF2B5EF4-FFF2-40B4-BE49-F238E27FC236}">
                <a16:creationId xmlns:a16="http://schemas.microsoft.com/office/drawing/2014/main" id="{8679C5F4-7889-4A63-9FC5-F7109B4C46DF}"/>
              </a:ext>
            </a:extLst>
          </p:cNvPr>
          <p:cNvSpPr txBox="1">
            <a:spLocks/>
          </p:cNvSpPr>
          <p:nvPr/>
        </p:nvSpPr>
        <p:spPr>
          <a:xfrm>
            <a:off x="4722536" y="3205485"/>
            <a:ext cx="1219199" cy="440749"/>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latin typeface="Roboto Black" panose="02000000000000000000" pitchFamily="2" charset="0"/>
                <a:ea typeface="Roboto Black" panose="02000000000000000000" pitchFamily="2" charset="0"/>
                <a:cs typeface="Arial" panose="020B0604020202020204" pitchFamily="34" charset="0"/>
              </a:rPr>
              <a:t> Sodium </a:t>
            </a:r>
          </a:p>
        </p:txBody>
      </p:sp>
      <p:sp>
        <p:nvSpPr>
          <p:cNvPr id="11" name="Text Placeholder 3">
            <a:extLst>
              <a:ext uri="{FF2B5EF4-FFF2-40B4-BE49-F238E27FC236}">
                <a16:creationId xmlns:a16="http://schemas.microsoft.com/office/drawing/2014/main" id="{6E38B438-C025-43CA-AC43-292164EB46A0}"/>
              </a:ext>
            </a:extLst>
          </p:cNvPr>
          <p:cNvSpPr txBox="1">
            <a:spLocks/>
          </p:cNvSpPr>
          <p:nvPr/>
        </p:nvSpPr>
        <p:spPr>
          <a:xfrm>
            <a:off x="7287011" y="2500966"/>
            <a:ext cx="1698118" cy="44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800" b="1" dirty="0">
                <a:solidFill>
                  <a:srgbClr val="FF0000"/>
                </a:solidFill>
                <a:highlight>
                  <a:srgbClr val="FFFF00"/>
                </a:highlight>
                <a:latin typeface="Roboto Black" panose="02000000000000000000" pitchFamily="2" charset="0"/>
                <a:ea typeface="Roboto Black" panose="02000000000000000000" pitchFamily="2" charset="0"/>
                <a:cs typeface="Arial" panose="020B0604020202020204" pitchFamily="34" charset="0"/>
              </a:rPr>
              <a:t>LESS Glutamate released</a:t>
            </a:r>
          </a:p>
        </p:txBody>
      </p:sp>
    </p:spTree>
    <p:extLst>
      <p:ext uri="{BB962C8B-B14F-4D97-AF65-F5344CB8AC3E}">
        <p14:creationId xmlns:p14="http://schemas.microsoft.com/office/powerpoint/2010/main" val="359348399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381239"/>
            <a:ext cx="8534400" cy="758952"/>
          </a:xfrm>
        </p:spPr>
        <p:txBody>
          <a:bodyPr>
            <a:noAutofit/>
          </a:bodyPr>
          <a:lstStyle/>
          <a:p>
            <a:pPr lvl="1" algn="ctr" rtl="0">
              <a:spcBef>
                <a:spcPct val="0"/>
              </a:spcBef>
            </a:pPr>
            <a:r>
              <a:rPr lang="en-AU" sz="4000" b="1" dirty="0">
                <a:solidFill>
                  <a:srgbClr val="3A7386"/>
                </a:solidFill>
                <a:latin typeface="Roboto Black" panose="02000000000000000000" pitchFamily="2" charset="0"/>
                <a:ea typeface="Roboto Black" panose="02000000000000000000" pitchFamily="2" charset="0"/>
              </a:rPr>
              <a:t>Carbamazepine </a:t>
            </a:r>
            <a:endParaRPr lang="en-AU" sz="4000" dirty="0">
              <a:solidFill>
                <a:srgbClr val="3A7386"/>
              </a:solidFill>
              <a:latin typeface="Roboto Black" panose="02000000000000000000" pitchFamily="2" charset="0"/>
              <a:ea typeface="Roboto Black" panose="02000000000000000000" pitchFamily="2" charset="0"/>
            </a:endParaRPr>
          </a:p>
        </p:txBody>
      </p:sp>
      <p:sp>
        <p:nvSpPr>
          <p:cNvPr id="3" name="Content Placeholder 2"/>
          <p:cNvSpPr>
            <a:spLocks noGrp="1"/>
          </p:cNvSpPr>
          <p:nvPr>
            <p:ph sz="quarter" idx="1"/>
          </p:nvPr>
        </p:nvSpPr>
        <p:spPr>
          <a:xfrm>
            <a:off x="1825752" y="1527048"/>
            <a:ext cx="8503920" cy="5574360"/>
          </a:xfrm>
        </p:spPr>
        <p:txBody>
          <a:bodyPr>
            <a:normAutofit/>
          </a:bodyPr>
          <a:lstStyle/>
          <a:p>
            <a:pPr marL="0" lvl="1" indent="0">
              <a:buClr>
                <a:schemeClr val="accent1"/>
              </a:buClr>
              <a:buSzPct val="85000"/>
              <a:buNone/>
            </a:pPr>
            <a:r>
              <a:rPr lang="en-AU" sz="2800" dirty="0">
                <a:solidFill>
                  <a:srgbClr val="3A7386"/>
                </a:solidFill>
                <a:latin typeface="Roboto Black" panose="02000000000000000000" pitchFamily="2" charset="0"/>
                <a:ea typeface="Roboto Black" panose="02000000000000000000" pitchFamily="2" charset="0"/>
              </a:rPr>
              <a:t>Carbamazepine (CBZ) is an anti seizure and mood-stabilizing drug used primarily in the treatment of epilepsy and neuropathic pain. </a:t>
            </a:r>
          </a:p>
          <a:p>
            <a:pPr marL="457200" lvl="1" indent="-457200">
              <a:buClr>
                <a:schemeClr val="accent1"/>
              </a:buClr>
              <a:buSzPct val="85000"/>
            </a:pPr>
            <a:r>
              <a:rPr lang="en-AU" dirty="0">
                <a:solidFill>
                  <a:srgbClr val="3A7386"/>
                </a:solidFill>
                <a:latin typeface="Roboto Black" panose="02000000000000000000" pitchFamily="2" charset="0"/>
                <a:ea typeface="Roboto Black" panose="02000000000000000000" pitchFamily="2" charset="0"/>
              </a:rPr>
              <a:t>Generalized seizures</a:t>
            </a:r>
          </a:p>
          <a:p>
            <a:pPr marL="0" lvl="1" indent="0">
              <a:buClr>
                <a:schemeClr val="accent1"/>
              </a:buClr>
              <a:buSzPct val="85000"/>
              <a:buNone/>
            </a:pPr>
            <a:endParaRPr lang="en-AU" sz="2800" dirty="0">
              <a:solidFill>
                <a:srgbClr val="3A7386"/>
              </a:solidFill>
              <a:latin typeface="Roboto Black" panose="02000000000000000000" pitchFamily="2" charset="0"/>
              <a:ea typeface="Roboto Black" panose="02000000000000000000" pitchFamily="2" charset="0"/>
            </a:endParaRPr>
          </a:p>
          <a:p>
            <a:pPr marL="0" lvl="1" indent="0">
              <a:buClr>
                <a:schemeClr val="accent1"/>
              </a:buClr>
              <a:buSzPct val="85000"/>
              <a:buNone/>
            </a:pPr>
            <a:r>
              <a:rPr lang="en-AU" sz="2800" dirty="0">
                <a:solidFill>
                  <a:srgbClr val="3A7386"/>
                </a:solidFill>
                <a:latin typeface="Roboto Black" panose="02000000000000000000" pitchFamily="2" charset="0"/>
                <a:ea typeface="Roboto Black" panose="02000000000000000000" pitchFamily="2" charset="0"/>
              </a:rPr>
              <a:t>CBZ is a sodium channel blocker . </a:t>
            </a:r>
          </a:p>
          <a:p>
            <a:pPr marL="0" lvl="1" indent="0">
              <a:buClr>
                <a:schemeClr val="accent1"/>
              </a:buClr>
              <a:buSzPct val="85000"/>
              <a:buNone/>
            </a:pPr>
            <a:endParaRPr lang="en-AU" sz="2800" dirty="0">
              <a:solidFill>
                <a:srgbClr val="3A7386"/>
              </a:solidFill>
              <a:latin typeface="Roboto Black" panose="02000000000000000000" pitchFamily="2" charset="0"/>
              <a:ea typeface="Roboto Black" panose="02000000000000000000" pitchFamily="2" charset="0"/>
            </a:endParaRPr>
          </a:p>
          <a:p>
            <a:pPr marL="0" lvl="1" indent="0">
              <a:buClr>
                <a:schemeClr val="accent1"/>
              </a:buClr>
              <a:buSzPct val="85000"/>
              <a:buNone/>
            </a:pPr>
            <a:r>
              <a:rPr lang="en-AU" sz="2800" dirty="0">
                <a:solidFill>
                  <a:srgbClr val="3A7386"/>
                </a:solidFill>
                <a:latin typeface="Roboto Black" panose="02000000000000000000" pitchFamily="2" charset="0"/>
                <a:ea typeface="Roboto Black" panose="02000000000000000000" pitchFamily="2" charset="0"/>
              </a:rPr>
              <a:t>Adverse effects may include nausea and drowsiness</a:t>
            </a:r>
          </a:p>
          <a:p>
            <a:pPr marL="0" lvl="1" indent="0">
              <a:buClr>
                <a:schemeClr val="accent1"/>
              </a:buClr>
              <a:buSzPct val="85000"/>
              <a:buNone/>
            </a:pPr>
            <a:endParaRPr lang="en-AU" sz="2800" dirty="0">
              <a:solidFill>
                <a:srgbClr val="3A7386"/>
              </a:solidFill>
              <a:latin typeface="Roboto Black" panose="02000000000000000000" pitchFamily="2" charset="0"/>
              <a:ea typeface="Roboto Black" panose="02000000000000000000" pitchFamily="2" charset="0"/>
            </a:endParaRPr>
          </a:p>
          <a:p>
            <a:pPr marL="0" lvl="1" indent="0">
              <a:buClr>
                <a:schemeClr val="accent1"/>
              </a:buClr>
              <a:buSzPct val="85000"/>
              <a:buNone/>
            </a:pPr>
            <a:r>
              <a:rPr lang="en-AU" sz="2800" dirty="0">
                <a:solidFill>
                  <a:srgbClr val="3A7386"/>
                </a:solidFill>
                <a:latin typeface="Roboto Black" panose="02000000000000000000" pitchFamily="2" charset="0"/>
                <a:ea typeface="Roboto Black" panose="02000000000000000000" pitchFamily="2" charset="0"/>
              </a:rPr>
              <a:t>Bone marrow dysfunction is possible</a:t>
            </a:r>
          </a:p>
          <a:p>
            <a:pPr marL="457200" lvl="1" indent="-457200">
              <a:buClr>
                <a:schemeClr val="accent1"/>
              </a:buClr>
              <a:buSzPct val="85000"/>
            </a:pPr>
            <a:r>
              <a:rPr lang="en-AU" dirty="0">
                <a:solidFill>
                  <a:srgbClr val="FF0000"/>
                </a:solidFill>
                <a:latin typeface="Roboto Black" panose="02000000000000000000" pitchFamily="2" charset="0"/>
                <a:ea typeface="Roboto Black" panose="02000000000000000000" pitchFamily="2" charset="0"/>
              </a:rPr>
              <a:t>Check LFTs and FBCs periodically!</a:t>
            </a:r>
            <a:endParaRPr lang="en-AU" dirty="0">
              <a:solidFill>
                <a:srgbClr val="3A7386"/>
              </a:solidFill>
              <a:latin typeface="Roboto Black" panose="02000000000000000000" pitchFamily="2" charset="0"/>
              <a:ea typeface="Roboto Black" panose="02000000000000000000" pitchFamily="2" charset="0"/>
            </a:endParaRPr>
          </a:p>
          <a:p>
            <a:pPr marL="274320" lvl="1">
              <a:buClr>
                <a:schemeClr val="accent1"/>
              </a:buClr>
              <a:buSzPct val="85000"/>
              <a:buFont typeface="Wingdings 2"/>
              <a:buChar char=""/>
            </a:pPr>
            <a:endParaRPr lang="en-AU" dirty="0">
              <a:solidFill>
                <a:srgbClr val="3A7386"/>
              </a:solidFill>
              <a:latin typeface="Roboto Black" panose="02000000000000000000" pitchFamily="2" charset="0"/>
              <a:ea typeface="Roboto Black" panose="02000000000000000000" pitchFamily="2" charset="0"/>
            </a:endParaRPr>
          </a:p>
          <a:p>
            <a:pPr marL="0" lvl="1" indent="0">
              <a:buClr>
                <a:schemeClr val="accent1"/>
              </a:buClr>
              <a:buSzPct val="85000"/>
              <a:buNone/>
            </a:pPr>
            <a:endParaRPr lang="en-AU" dirty="0">
              <a:solidFill>
                <a:srgbClr val="3A7386"/>
              </a:solidFill>
              <a:latin typeface="Roboto Black" panose="02000000000000000000" pitchFamily="2" charset="0"/>
              <a:ea typeface="Roboto Black" panose="02000000000000000000" pitchFamily="2" charset="0"/>
            </a:endParaRPr>
          </a:p>
          <a:p>
            <a:pPr marL="0" lvl="1" indent="0">
              <a:buClr>
                <a:schemeClr val="accent1"/>
              </a:buClr>
              <a:buSzPct val="85000"/>
              <a:buNone/>
            </a:pPr>
            <a:endParaRPr lang="en-AU" dirty="0">
              <a:solidFill>
                <a:schemeClr val="tx1"/>
              </a:solidFill>
            </a:endParaRPr>
          </a:p>
        </p:txBody>
      </p:sp>
    </p:spTree>
    <p:extLst>
      <p:ext uri="{BB962C8B-B14F-4D97-AF65-F5344CB8AC3E}">
        <p14:creationId xmlns:p14="http://schemas.microsoft.com/office/powerpoint/2010/main" val="268818320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381239"/>
            <a:ext cx="8534400" cy="758952"/>
          </a:xfrm>
        </p:spPr>
        <p:txBody>
          <a:bodyPr>
            <a:noAutofit/>
          </a:bodyPr>
          <a:lstStyle/>
          <a:p>
            <a:pPr lvl="1" algn="ctr" rtl="0">
              <a:spcBef>
                <a:spcPct val="0"/>
              </a:spcBef>
            </a:pPr>
            <a:r>
              <a:rPr lang="en-AU" sz="4000" b="1" dirty="0">
                <a:solidFill>
                  <a:srgbClr val="3A7386"/>
                </a:solidFill>
                <a:latin typeface="Roboto Black" panose="02000000000000000000" pitchFamily="2" charset="0"/>
                <a:ea typeface="Roboto Black" panose="02000000000000000000" pitchFamily="2" charset="0"/>
              </a:rPr>
              <a:t>Valproic acid </a:t>
            </a:r>
            <a:endParaRPr lang="en-AU" sz="4000" dirty="0">
              <a:solidFill>
                <a:srgbClr val="3A7386"/>
              </a:solidFill>
              <a:latin typeface="Roboto Black" panose="02000000000000000000" pitchFamily="2" charset="0"/>
              <a:ea typeface="Roboto Black" panose="02000000000000000000" pitchFamily="2" charset="0"/>
            </a:endParaRPr>
          </a:p>
        </p:txBody>
      </p:sp>
      <p:sp>
        <p:nvSpPr>
          <p:cNvPr id="3" name="Content Placeholder 2"/>
          <p:cNvSpPr>
            <a:spLocks noGrp="1"/>
          </p:cNvSpPr>
          <p:nvPr>
            <p:ph sz="quarter" idx="1"/>
          </p:nvPr>
        </p:nvSpPr>
        <p:spPr>
          <a:xfrm>
            <a:off x="1825752" y="1527048"/>
            <a:ext cx="8503920" cy="5574360"/>
          </a:xfrm>
        </p:spPr>
        <p:txBody>
          <a:bodyPr>
            <a:normAutofit/>
          </a:bodyPr>
          <a:lstStyle/>
          <a:p>
            <a:pPr marL="0" lvl="1" indent="0">
              <a:buClr>
                <a:schemeClr val="accent1"/>
              </a:buClr>
              <a:buSzPct val="85000"/>
              <a:buNone/>
            </a:pPr>
            <a:r>
              <a:rPr lang="en-AU" sz="2800" dirty="0">
                <a:solidFill>
                  <a:srgbClr val="3A7386"/>
                </a:solidFill>
                <a:latin typeface="Roboto Black" panose="02000000000000000000" pitchFamily="2" charset="0"/>
                <a:ea typeface="Roboto Black" panose="02000000000000000000" pitchFamily="2" charset="0"/>
              </a:rPr>
              <a:t>Valproic acid is an anti seizure and mood-stabilizing drug used primarily in the treatment of epilepsy and bipolar disorder.</a:t>
            </a:r>
          </a:p>
          <a:p>
            <a:pPr marL="0" lvl="1" indent="0">
              <a:buClr>
                <a:schemeClr val="accent1"/>
              </a:buClr>
              <a:buSzPct val="85000"/>
              <a:buNone/>
            </a:pPr>
            <a:endParaRPr lang="en-AU" sz="2800" dirty="0">
              <a:solidFill>
                <a:srgbClr val="3A7386"/>
              </a:solidFill>
              <a:latin typeface="Roboto Black" panose="02000000000000000000" pitchFamily="2" charset="0"/>
              <a:ea typeface="Roboto Black" panose="02000000000000000000" pitchFamily="2" charset="0"/>
            </a:endParaRPr>
          </a:p>
          <a:p>
            <a:pPr marL="0" lvl="1" indent="0">
              <a:buClr>
                <a:schemeClr val="accent1"/>
              </a:buClr>
              <a:buSzPct val="85000"/>
              <a:buNone/>
            </a:pPr>
            <a:r>
              <a:rPr lang="en-AU" sz="2800" dirty="0">
                <a:solidFill>
                  <a:srgbClr val="3A7386"/>
                </a:solidFill>
                <a:latin typeface="Roboto Black" panose="02000000000000000000" pitchFamily="2" charset="0"/>
                <a:ea typeface="Roboto Black" panose="02000000000000000000" pitchFamily="2" charset="0"/>
              </a:rPr>
              <a:t>Partial and generalized seizures</a:t>
            </a:r>
          </a:p>
          <a:p>
            <a:pPr marL="0" lvl="1" indent="0">
              <a:buClr>
                <a:schemeClr val="accent1"/>
              </a:buClr>
              <a:buSzPct val="85000"/>
              <a:buNone/>
            </a:pPr>
            <a:endParaRPr lang="en-AU" sz="2800" dirty="0">
              <a:solidFill>
                <a:srgbClr val="3A7386"/>
              </a:solidFill>
              <a:latin typeface="Roboto Black" panose="02000000000000000000" pitchFamily="2" charset="0"/>
              <a:ea typeface="Roboto Black" panose="02000000000000000000" pitchFamily="2" charset="0"/>
            </a:endParaRPr>
          </a:p>
          <a:p>
            <a:pPr marL="0" lvl="1" indent="0">
              <a:buClr>
                <a:schemeClr val="accent1"/>
              </a:buClr>
              <a:buSzPct val="85000"/>
              <a:buNone/>
            </a:pPr>
            <a:r>
              <a:rPr lang="en-AU" sz="2800" dirty="0">
                <a:solidFill>
                  <a:srgbClr val="3A7386"/>
                </a:solidFill>
                <a:latin typeface="Roboto Black" panose="02000000000000000000" pitchFamily="2" charset="0"/>
                <a:ea typeface="Roboto Black" panose="02000000000000000000" pitchFamily="2" charset="0"/>
              </a:rPr>
              <a:t>Valproic acid is a sodium channel blocker (and may increase GABA). </a:t>
            </a:r>
          </a:p>
          <a:p>
            <a:pPr marL="0" lvl="1" indent="0">
              <a:buClr>
                <a:schemeClr val="accent1"/>
              </a:buClr>
              <a:buSzPct val="85000"/>
              <a:buNone/>
            </a:pPr>
            <a:endParaRPr lang="en-AU" sz="2800" dirty="0">
              <a:solidFill>
                <a:srgbClr val="3A7386"/>
              </a:solidFill>
              <a:latin typeface="Roboto Black" panose="02000000000000000000" pitchFamily="2" charset="0"/>
              <a:ea typeface="Roboto Black" panose="02000000000000000000" pitchFamily="2" charset="0"/>
            </a:endParaRPr>
          </a:p>
          <a:p>
            <a:pPr marL="0" lvl="1" indent="0">
              <a:buClr>
                <a:schemeClr val="accent1"/>
              </a:buClr>
              <a:buSzPct val="85000"/>
              <a:buNone/>
            </a:pPr>
            <a:r>
              <a:rPr lang="en-AU" sz="2800" dirty="0">
                <a:solidFill>
                  <a:srgbClr val="3A7386"/>
                </a:solidFill>
                <a:latin typeface="Roboto Black" panose="02000000000000000000" pitchFamily="2" charset="0"/>
                <a:ea typeface="Roboto Black" panose="02000000000000000000" pitchFamily="2" charset="0"/>
              </a:rPr>
              <a:t>Side effects include nausea, sleepiness, dry mouth</a:t>
            </a:r>
          </a:p>
          <a:p>
            <a:pPr marL="0" lvl="1" indent="0">
              <a:buClr>
                <a:schemeClr val="accent1"/>
              </a:buClr>
              <a:buSzPct val="85000"/>
              <a:buNone/>
            </a:pPr>
            <a:endParaRPr lang="en-AU" dirty="0">
              <a:solidFill>
                <a:schemeClr val="tx1"/>
              </a:solidFill>
            </a:endParaRPr>
          </a:p>
        </p:txBody>
      </p:sp>
    </p:spTree>
    <p:extLst>
      <p:ext uri="{BB962C8B-B14F-4D97-AF65-F5344CB8AC3E}">
        <p14:creationId xmlns:p14="http://schemas.microsoft.com/office/powerpoint/2010/main" val="247731987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766218"/>
            <a:ext cx="10515600" cy="1325563"/>
          </a:xfrm>
        </p:spPr>
        <p:txBody>
          <a:bodyPr/>
          <a:lstStyle/>
          <a:p>
            <a:pPr algn="ctr"/>
            <a:r>
              <a:rPr lang="en-AU" b="1" dirty="0">
                <a:solidFill>
                  <a:schemeClr val="bg1"/>
                </a:solidFill>
                <a:latin typeface="Arial" panose="020B0604020202020204" pitchFamily="34" charset="0"/>
                <a:cs typeface="Arial" panose="020B0604020202020204" pitchFamily="34" charset="0"/>
              </a:rPr>
              <a:t>Antiseizure medications</a:t>
            </a:r>
          </a:p>
        </p:txBody>
      </p:sp>
      <p:sp>
        <p:nvSpPr>
          <p:cNvPr id="6" name="Rectangle 5">
            <a:extLst>
              <a:ext uri="{FF2B5EF4-FFF2-40B4-BE49-F238E27FC236}">
                <a16:creationId xmlns:a16="http://schemas.microsoft.com/office/drawing/2014/main" id="{D0FFE0DA-B77F-4512-954E-86FDA4420A0E}"/>
              </a:ext>
            </a:extLst>
          </p:cNvPr>
          <p:cNvSpPr/>
          <p:nvPr/>
        </p:nvSpPr>
        <p:spPr>
          <a:xfrm>
            <a:off x="1375902" y="189567"/>
            <a:ext cx="9027242" cy="1086617"/>
          </a:xfrm>
          <a:prstGeom prst="rect">
            <a:avLst/>
          </a:prstGeom>
          <a:solidFill>
            <a:schemeClr val="tx1"/>
          </a:solidFill>
          <a:ln w="38100">
            <a:solidFill>
              <a:srgbClr val="FFC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itle 1">
            <a:extLst>
              <a:ext uri="{FF2B5EF4-FFF2-40B4-BE49-F238E27FC236}">
                <a16:creationId xmlns:a16="http://schemas.microsoft.com/office/drawing/2014/main" id="{E32985B5-4F54-462D-99C2-05FBF615855C}"/>
              </a:ext>
            </a:extLst>
          </p:cNvPr>
          <p:cNvSpPr txBox="1">
            <a:spLocks/>
          </p:cNvSpPr>
          <p:nvPr/>
        </p:nvSpPr>
        <p:spPr>
          <a:xfrm>
            <a:off x="1375902" y="73410"/>
            <a:ext cx="902724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3600" b="1" dirty="0">
                <a:solidFill>
                  <a:schemeClr val="bg1"/>
                </a:solidFill>
                <a:latin typeface="Roboto Black" panose="02000000000000000000" pitchFamily="2" charset="0"/>
                <a:ea typeface="Roboto Black" panose="02000000000000000000" pitchFamily="2" charset="0"/>
              </a:rPr>
              <a:t>Anti-seizure medications</a:t>
            </a:r>
          </a:p>
        </p:txBody>
      </p:sp>
      <p:sp>
        <p:nvSpPr>
          <p:cNvPr id="7" name="Rectangle 6">
            <a:extLst>
              <a:ext uri="{FF2B5EF4-FFF2-40B4-BE49-F238E27FC236}">
                <a16:creationId xmlns:a16="http://schemas.microsoft.com/office/drawing/2014/main" id="{96898162-0363-4292-BDB6-FC2650BF221E}"/>
              </a:ext>
            </a:extLst>
          </p:cNvPr>
          <p:cNvSpPr/>
          <p:nvPr/>
        </p:nvSpPr>
        <p:spPr>
          <a:xfrm>
            <a:off x="1375902" y="1515129"/>
            <a:ext cx="9027242" cy="5153304"/>
          </a:xfrm>
          <a:prstGeom prst="rect">
            <a:avLst/>
          </a:prstGeom>
          <a:solidFill>
            <a:srgbClr val="FFC3FF"/>
          </a:solidFill>
          <a:ln>
            <a:solidFill>
              <a:srgbClr val="FFC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 name="Picture 3">
            <a:extLst>
              <a:ext uri="{FF2B5EF4-FFF2-40B4-BE49-F238E27FC236}">
                <a16:creationId xmlns:a16="http://schemas.microsoft.com/office/drawing/2014/main" id="{7E4ACF04-43CC-44E4-A92F-9442DBAABC36}"/>
              </a:ext>
            </a:extLst>
          </p:cNvPr>
          <p:cNvPicPr>
            <a:picLocks noChangeAspect="1"/>
          </p:cNvPicPr>
          <p:nvPr/>
        </p:nvPicPr>
        <p:blipFill rotWithShape="1">
          <a:blip r:embed="rId3">
            <a:extLst>
              <a:ext uri="{28A0092B-C50C-407E-A947-70E740481C1C}">
                <a14:useLocalDpi xmlns:a14="http://schemas.microsoft.com/office/drawing/2010/main" val="0"/>
              </a:ext>
            </a:extLst>
          </a:blip>
          <a:srcRect t="8384" b="6667"/>
          <a:stretch/>
        </p:blipFill>
        <p:spPr>
          <a:xfrm>
            <a:off x="1420147" y="1560670"/>
            <a:ext cx="8938751" cy="5062221"/>
          </a:xfrm>
          <a:prstGeom prst="rect">
            <a:avLst/>
          </a:prstGeom>
        </p:spPr>
      </p:pic>
    </p:spTree>
    <p:extLst>
      <p:ext uri="{BB962C8B-B14F-4D97-AF65-F5344CB8AC3E}">
        <p14:creationId xmlns:p14="http://schemas.microsoft.com/office/powerpoint/2010/main" val="2287594003"/>
      </p:ext>
    </p:extLst>
  </p:cSld>
  <p:clrMapOvr>
    <a:masterClrMapping/>
  </p:clrMapOvr>
  <p:transition>
    <p:cut thruBlk="1"/>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pen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8844ECF-5D84-2D4F-BD6C-159B28CC5448}" vid="{8780923D-96ED-9F4A-BDC2-8B626CD12C8C}"/>
    </a:ext>
  </a:extLst>
</a:theme>
</file>

<file path=ppt/theme/theme3.xml><?xml version="1.0" encoding="utf-8"?>
<a:theme xmlns:a="http://schemas.openxmlformats.org/drawingml/2006/main" name="Chapter Slid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8844ECF-5D84-2D4F-BD6C-159B28CC5448}" vid="{3EEEE9FF-5942-D645-A70B-E7E7029D5987}"/>
    </a:ext>
  </a:extLst>
</a:theme>
</file>

<file path=ppt/theme/theme4.xml><?xml version="1.0" encoding="utf-8"?>
<a:theme xmlns:a="http://schemas.openxmlformats.org/drawingml/2006/main" name="Content Slid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8844ECF-5D84-2D4F-BD6C-159B28CC5448}" vid="{852AA089-82C5-E441-8C9C-6B5E63BD1A4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EF7C384DA1D4A45B6AE690D29401D8C" ma:contentTypeVersion="11" ma:contentTypeDescription="Create a new document." ma:contentTypeScope="" ma:versionID="991042ea8ece25ed42d5e78d787df14a">
  <xsd:schema xmlns:xsd="http://www.w3.org/2001/XMLSchema" xmlns:xs="http://www.w3.org/2001/XMLSchema" xmlns:p="http://schemas.microsoft.com/office/2006/metadata/properties" xmlns:ns3="46a2430f-9ab9-4612-89ab-e74f08578de3" targetNamespace="http://schemas.microsoft.com/office/2006/metadata/properties" ma:root="true" ma:fieldsID="407fd9a13a8af064f5af9d3e1e052ba5" ns3:_="">
    <xsd:import namespace="46a2430f-9ab9-4612-89ab-e74f08578de3"/>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a2430f-9ab9-4612-89ab-e74f08578de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1995F2E-6D30-4A11-9792-BD0F87A0798C}">
  <ds:schemaRefs>
    <ds:schemaRef ds:uri="46a2430f-9ab9-4612-89ab-e74f08578de3"/>
    <ds:schemaRef ds:uri="http://purl.org/dc/elements/1.1/"/>
    <ds:schemaRef ds:uri="http://schemas.microsoft.com/office/2006/documentManagement/types"/>
    <ds:schemaRef ds:uri="http://www.w3.org/XML/1998/namespace"/>
    <ds:schemaRef ds:uri="http://schemas.microsoft.com/office/infopath/2007/PartnerControls"/>
    <ds:schemaRef ds:uri="http://purl.org/dc/terms/"/>
    <ds:schemaRef ds:uri="http://schemas.microsoft.com/office/2006/metadata/properties"/>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5E976F6B-57BA-47C4-AEBE-74F7A6918D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6a2430f-9ab9-4612-89ab-e74f08578de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42BB8D0-9ACC-455F-9BE2-3588D3A288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26569</TotalTime>
  <Words>4208</Words>
  <Application>Microsoft Office PowerPoint</Application>
  <PresentationFormat>Widescreen</PresentationFormat>
  <Paragraphs>563</Paragraphs>
  <Slides>92</Slides>
  <Notes>57</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92</vt:i4>
      </vt:variant>
    </vt:vector>
  </HeadingPairs>
  <TitlesOfParts>
    <vt:vector size="103" baseType="lpstr">
      <vt:lpstr>Arial</vt:lpstr>
      <vt:lpstr>Calibri</vt:lpstr>
      <vt:lpstr>Calibri Light</vt:lpstr>
      <vt:lpstr>Roboto</vt:lpstr>
      <vt:lpstr>Roboto Black</vt:lpstr>
      <vt:lpstr>Roboto Light</vt:lpstr>
      <vt:lpstr>Wingdings 2</vt:lpstr>
      <vt:lpstr>Office Theme</vt:lpstr>
      <vt:lpstr>Opening Slide</vt:lpstr>
      <vt:lpstr>Chapter Slides</vt:lpstr>
      <vt:lpstr>Content Slides</vt:lpstr>
      <vt:lpstr>PowerPoint Presentation</vt:lpstr>
      <vt:lpstr>PowerPoint Presentation</vt:lpstr>
      <vt:lpstr>Overall objectives for psychotropic medications</vt:lpstr>
      <vt:lpstr>Medications that treat  Neurodegenerative disorders: Parkinson’s disease</vt:lpstr>
      <vt:lpstr>Objectives for Part 1: Neurodegenerative Medicines</vt:lpstr>
      <vt:lpstr>Parkinson’s disease results in a decrease in dopamine-neurons in the basal ganglia</vt:lpstr>
      <vt:lpstr>Parkinson’s disease</vt:lpstr>
      <vt:lpstr>Parkinson’s disease</vt:lpstr>
      <vt:lpstr>Parkinson’s disease</vt:lpstr>
      <vt:lpstr>Antimuscarinic / anticholinergic medications</vt:lpstr>
      <vt:lpstr>Recall that the anticholinergic drugs will make the sympathetic nervous system dominate:   Dry mouth, constipation, blurred vision,  difficulty in micturition, tachycardia</vt:lpstr>
      <vt:lpstr>Increasing dopamine</vt:lpstr>
      <vt:lpstr>Carbidopa and Levodopa (Sinemet)</vt:lpstr>
      <vt:lpstr>Newer medications</vt:lpstr>
      <vt:lpstr>Medications that treat  Neurodegenerative disorders: Alzheimer’s disease</vt:lpstr>
      <vt:lpstr>PowerPoint Presentation</vt:lpstr>
      <vt:lpstr>Alzheimer’s disease </vt:lpstr>
      <vt:lpstr>PowerPoint Presentation</vt:lpstr>
      <vt:lpstr>Acetylcholinesterase inhibitors (*donepezil*) </vt:lpstr>
      <vt:lpstr>Glutamate</vt:lpstr>
      <vt:lpstr>PowerPoint Presentation</vt:lpstr>
      <vt:lpstr>Memantine blocks glutamate at the NMDA receptor</vt:lpstr>
      <vt:lpstr>Glutamate receptor antagonists</vt:lpstr>
      <vt:lpstr>PowerPoint Presentation</vt:lpstr>
      <vt:lpstr>Anxiolytics and hypnotics: Benzodiazepines </vt:lpstr>
      <vt:lpstr>Anxiolytics and hypnotics</vt:lpstr>
      <vt:lpstr>  Objectives for Part 2 Anxiolytics and Hypnotics </vt:lpstr>
      <vt:lpstr>Interneurons vs neurons</vt:lpstr>
      <vt:lpstr>PowerPoint Presentation</vt:lpstr>
      <vt:lpstr>PowerPoint Presentation</vt:lpstr>
      <vt:lpstr>GABA</vt:lpstr>
      <vt:lpstr>Benzodiazepines</vt:lpstr>
      <vt:lpstr>Diazepam, Alprazolam and other  …zepam and …zolam drugs</vt:lpstr>
      <vt:lpstr>Anxiolytics and hypnotics: Alternatives to benzodiazepines </vt:lpstr>
      <vt:lpstr>Anxiolytics and hypnotics: Alternatives to benzodiazepines </vt:lpstr>
      <vt:lpstr>Azapirones (*Buspirone*)</vt:lpstr>
      <vt:lpstr>Other drugs with sedative and hypnotic effects</vt:lpstr>
      <vt:lpstr>Other drugs with sedative and hypnotic effects</vt:lpstr>
      <vt:lpstr>PowerPoint Presentation</vt:lpstr>
      <vt:lpstr>Antidepressants:  Definition and mechanisms of action</vt:lpstr>
      <vt:lpstr>Objectives for Part 3: CNS Antidepressants</vt:lpstr>
      <vt:lpstr>Objectives for Part 3: Antidepressants</vt:lpstr>
      <vt:lpstr>Depression and bipolar disease</vt:lpstr>
      <vt:lpstr>PowerPoint Presentation</vt:lpstr>
      <vt:lpstr>PowerPoint Presentation</vt:lpstr>
      <vt:lpstr>PowerPoint Presentation</vt:lpstr>
      <vt:lpstr>PowerPoint Presentation</vt:lpstr>
      <vt:lpstr>Monoamine oxidase inhibitors  (MAOIs; phenelzine)</vt:lpstr>
      <vt:lpstr>PowerPoint Presentation</vt:lpstr>
      <vt:lpstr>Antidepressants:  SSRIs and TCAs</vt:lpstr>
      <vt:lpstr>Selective serotonin reuptake inhibitors  (SSRIs)</vt:lpstr>
      <vt:lpstr>PowerPoint Presentation</vt:lpstr>
      <vt:lpstr>Selective serotonin reuptake inhibitors  (SSRIs)</vt:lpstr>
      <vt:lpstr>Tricyclic antidepressants (TCAs)</vt:lpstr>
      <vt:lpstr>Tricyclic antidepressants (TCAs)</vt:lpstr>
      <vt:lpstr>SNRIs and Atypical Antidepressants</vt:lpstr>
      <vt:lpstr>SNRIs</vt:lpstr>
      <vt:lpstr>SNRIs</vt:lpstr>
      <vt:lpstr>Atypical antidepressants</vt:lpstr>
      <vt:lpstr>Bipolar disorder (manic-depressive)</vt:lpstr>
      <vt:lpstr>Lithium carbonate</vt:lpstr>
      <vt:lpstr>PowerPoint Presentation</vt:lpstr>
      <vt:lpstr>Antipsychotics </vt:lpstr>
      <vt:lpstr>Objectives for Part 4:  Antipsychotic agents</vt:lpstr>
      <vt:lpstr>Antipsychotic agents</vt:lpstr>
      <vt:lpstr>Schizophrenia</vt:lpstr>
      <vt:lpstr>Dopamine pathways</vt:lpstr>
      <vt:lpstr>PowerPoint Presentation</vt:lpstr>
      <vt:lpstr>PowerPoint Presentation</vt:lpstr>
      <vt:lpstr>PowerPoint Presentation</vt:lpstr>
      <vt:lpstr>PowerPoint Presentation</vt:lpstr>
      <vt:lpstr>PowerPoint Presentation</vt:lpstr>
      <vt:lpstr>Antipsychotics </vt:lpstr>
      <vt:lpstr>First generation antipsychotics</vt:lpstr>
      <vt:lpstr>Adverse effects of Haloperidol, Chlorpromazine and other first generation antipsychotic agents </vt:lpstr>
      <vt:lpstr>Additional adverse effects  of first generation antipsychotic agents </vt:lpstr>
      <vt:lpstr>Second generation antipsychotics</vt:lpstr>
      <vt:lpstr>Second generation antipsychotic agents</vt:lpstr>
      <vt:lpstr>First generation vs second generation antipsychotics: review</vt:lpstr>
      <vt:lpstr>PowerPoint Presentation</vt:lpstr>
      <vt:lpstr>Antiseizure medications</vt:lpstr>
      <vt:lpstr>Objectives for Part 5 Anti-seizure Medicines </vt:lpstr>
      <vt:lpstr>Terms regarding seizures* * *The term anticonvulsant is misleading because some seizures do not manifest as convulsions.   </vt:lpstr>
      <vt:lpstr>How do you treat or prevent a seizure?</vt:lpstr>
      <vt:lpstr>PowerPoint Presentation</vt:lpstr>
      <vt:lpstr>General mechanisms</vt:lpstr>
      <vt:lpstr>Benzodiazepines</vt:lpstr>
      <vt:lpstr>Gabapentin and Pregabalin</vt:lpstr>
      <vt:lpstr>Carbamazepine and valproic acid </vt:lpstr>
      <vt:lpstr>Carbamazepine </vt:lpstr>
      <vt:lpstr>Valproic acid </vt:lpstr>
      <vt:lpstr>Antiseizure medications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 Wojcikowski</dc:creator>
  <cp:lastModifiedBy>Ken Wojcikowski</cp:lastModifiedBy>
  <cp:revision>318</cp:revision>
  <dcterms:created xsi:type="dcterms:W3CDTF">2019-10-09T20:36:29Z</dcterms:created>
  <dcterms:modified xsi:type="dcterms:W3CDTF">2022-09-08T05:40:15Z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0x0101009EF7C384DA1D4A45B6AE690D29401D8C</vt:lpwstr>
  </property>
</Properties>
</file>