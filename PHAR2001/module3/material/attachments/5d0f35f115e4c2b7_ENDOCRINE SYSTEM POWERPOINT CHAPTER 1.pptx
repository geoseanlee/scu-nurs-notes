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6" r:id="rId6"/>
    <p:sldMasterId id="2147483680" r:id="rId7"/>
  </p:sldMasterIdLst>
  <p:notesMasterIdLst>
    <p:notesMasterId r:id="rId34"/>
  </p:notesMasterIdLst>
  <p:sldIdLst>
    <p:sldId id="268" r:id="rId8"/>
    <p:sldId id="764" r:id="rId9"/>
    <p:sldId id="766" r:id="rId10"/>
    <p:sldId id="527" r:id="rId11"/>
    <p:sldId id="771" r:id="rId12"/>
    <p:sldId id="769" r:id="rId13"/>
    <p:sldId id="774" r:id="rId14"/>
    <p:sldId id="775" r:id="rId15"/>
    <p:sldId id="615" r:id="rId16"/>
    <p:sldId id="616" r:id="rId17"/>
    <p:sldId id="617" r:id="rId18"/>
    <p:sldId id="798" r:id="rId19"/>
    <p:sldId id="618" r:id="rId20"/>
    <p:sldId id="619" r:id="rId21"/>
    <p:sldId id="620" r:id="rId22"/>
    <p:sldId id="770" r:id="rId23"/>
    <p:sldId id="799" r:id="rId24"/>
    <p:sldId id="622" r:id="rId25"/>
    <p:sldId id="797" r:id="rId26"/>
    <p:sldId id="800" r:id="rId27"/>
    <p:sldId id="624" r:id="rId28"/>
    <p:sldId id="801" r:id="rId29"/>
    <p:sldId id="772" r:id="rId30"/>
    <p:sldId id="773" r:id="rId31"/>
    <p:sldId id="627" r:id="rId32"/>
    <p:sldId id="80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98"/>
    <a:srgbClr val="4B2512"/>
    <a:srgbClr val="C16D48"/>
    <a:srgbClr val="EFD8E0"/>
    <a:srgbClr val="000000"/>
    <a:srgbClr val="F6E9EA"/>
    <a:srgbClr val="D7CAC4"/>
    <a:srgbClr val="00A6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4" autoAdjust="0"/>
    <p:restoredTop sz="92979" autoAdjust="0"/>
  </p:normalViewPr>
  <p:slideViewPr>
    <p:cSldViewPr snapToGrid="0" snapToObjects="1">
      <p:cViewPr varScale="1">
        <p:scale>
          <a:sx n="83" d="100"/>
          <a:sy n="83" d="100"/>
        </p:scale>
        <p:origin x="370" y="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microsoft.com/office/2016/11/relationships/changesInfo" Target="changesInfos/changesInfo1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presProps" Target="pres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 Wojcikowski" userId="3d9dd381-bb96-4ff2-a8e3-dc2a625deaa7" providerId="ADAL" clId="{6C2E6896-BB29-4CA4-B162-DFAB4B09F6D6}"/>
  </pc:docChgLst>
  <pc:docChgLst>
    <pc:chgData name="Ken Wojcikowski" userId="3d9dd381-bb96-4ff2-a8e3-dc2a625deaa7" providerId="ADAL" clId="{8C56A976-77ED-433E-90F1-5CF4ABDAE7D1}"/>
    <pc:docChg chg="delSld modSld">
      <pc:chgData name="Ken Wojcikowski" userId="3d9dd381-bb96-4ff2-a8e3-dc2a625deaa7" providerId="ADAL" clId="{8C56A976-77ED-433E-90F1-5CF4ABDAE7D1}" dt="2023-02-23T19:37:55.887" v="4" actId="6549"/>
      <pc:docMkLst>
        <pc:docMk/>
      </pc:docMkLst>
      <pc:sldChg chg="modNotesTx">
        <pc:chgData name="Ken Wojcikowski" userId="3d9dd381-bb96-4ff2-a8e3-dc2a625deaa7" providerId="ADAL" clId="{8C56A976-77ED-433E-90F1-5CF4ABDAE7D1}" dt="2023-02-23T19:37:55.887" v="4" actId="6549"/>
        <pc:sldMkLst>
          <pc:docMk/>
          <pc:sldMk cId="4214966928" sldId="622"/>
        </pc:sldMkLst>
      </pc:sldChg>
      <pc:sldChg chg="modNotesTx">
        <pc:chgData name="Ken Wojcikowski" userId="3d9dd381-bb96-4ff2-a8e3-dc2a625deaa7" providerId="ADAL" clId="{8C56A976-77ED-433E-90F1-5CF4ABDAE7D1}" dt="2023-02-23T19:37:31.585" v="2" actId="20577"/>
        <pc:sldMkLst>
          <pc:docMk/>
          <pc:sldMk cId="582392393" sldId="627"/>
        </pc:sldMkLst>
      </pc:sldChg>
      <pc:sldChg chg="del">
        <pc:chgData name="Ken Wojcikowski" userId="3d9dd381-bb96-4ff2-a8e3-dc2a625deaa7" providerId="ADAL" clId="{8C56A976-77ED-433E-90F1-5CF4ABDAE7D1}" dt="2023-02-23T19:37:01.697" v="0" actId="2696"/>
        <pc:sldMkLst>
          <pc:docMk/>
          <pc:sldMk cId="1587128018" sldId="768"/>
        </pc:sldMkLst>
      </pc:sldChg>
      <pc:sldChg chg="modNotesTx">
        <pc:chgData name="Ken Wojcikowski" userId="3d9dd381-bb96-4ff2-a8e3-dc2a625deaa7" providerId="ADAL" clId="{8C56A976-77ED-433E-90F1-5CF4ABDAE7D1}" dt="2023-02-23T19:37:45.408" v="3" actId="6549"/>
        <pc:sldMkLst>
          <pc:docMk/>
          <pc:sldMk cId="2293877693" sldId="797"/>
        </pc:sldMkLst>
      </pc:sldChg>
      <pc:sldChg chg="modNotesTx">
        <pc:chgData name="Ken Wojcikowski" userId="3d9dd381-bb96-4ff2-a8e3-dc2a625deaa7" providerId="ADAL" clId="{8C56A976-77ED-433E-90F1-5CF4ABDAE7D1}" dt="2023-02-23T19:37:23.734" v="1" actId="20577"/>
        <pc:sldMkLst>
          <pc:docMk/>
          <pc:sldMk cId="1005717894" sldId="8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A8AFD-BCA5-0F40-B12A-03C02F08D0D2}" type="datetimeFigureOut">
              <a:rPr lang="en-US" smtClean="0"/>
              <a:t>2/24/2023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D9FDE2-797B-454F-B658-773C4FF1F9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2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8D1285-ABCF-4615-9C3C-E937B2C54CC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7288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8D1285-ABCF-4615-9C3C-E937B2C54CC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7925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8D1285-ABCF-4615-9C3C-E937B2C54CC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304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8D1285-ABCF-4615-9C3C-E937B2C54CC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3132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4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37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72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Insert text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Section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1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11988800" y="3175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07434" y="241935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3945C-4688-42C5-9473-681910FE4739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7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91615F1-B4B7-4D80-A1B0-1505F0207D2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7441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91FB32-4C2D-4912-9EFF-798261188EC6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13B6F-B5E3-4ABA-A980-ECC9F8F3315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9439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5"/>
          <p:cNvSpPr>
            <a:spLocks noChangeArrowheads="1"/>
          </p:cNvSpPr>
          <p:nvPr/>
        </p:nvSpPr>
        <p:spPr bwMode="white">
          <a:xfrm>
            <a:off x="203200" y="2286000"/>
            <a:ext cx="11777133" cy="304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6"/>
          <p:cNvSpPr>
            <a:spLocks noChangeArrowheads="1"/>
          </p:cNvSpPr>
          <p:nvPr/>
        </p:nvSpPr>
        <p:spPr bwMode="auto">
          <a:xfrm>
            <a:off x="207434" y="142875"/>
            <a:ext cx="11777133" cy="2139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2438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89600" y="211455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5816600" y="2209800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12DFA-AE55-41AD-A705-46237C11B599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791200" y="219868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FCFCC2C-E3E5-4345-8D28-38BCDBC5692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363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9"/>
          <p:cNvSpPr>
            <a:spLocks noChangeShapeType="1"/>
          </p:cNvSpPr>
          <p:nvPr/>
        </p:nvSpPr>
        <p:spPr bwMode="auto">
          <a:xfrm flipV="1">
            <a:off x="6083301" y="1576388"/>
            <a:ext cx="12700" cy="4818062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5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7721601" y="6410326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4DE70-B72B-47F0-B279-DC8472FCEF7F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40F89-6D29-4C2C-822B-9C415BE8119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606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19"/>
          <p:cNvSpPr>
            <a:spLocks noChangeShapeType="1"/>
          </p:cNvSpPr>
          <p:nvPr/>
        </p:nvSpPr>
        <p:spPr bwMode="auto">
          <a:xfrm flipV="1">
            <a:off x="6096000" y="2200276"/>
            <a:ext cx="0" cy="4187825"/>
          </a:xfrm>
          <a:prstGeom prst="line">
            <a:avLst/>
          </a:prstGeom>
          <a:noFill/>
          <a:ln w="9525" algn="ctr">
            <a:solidFill>
              <a:schemeClr val="tx2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 sz="1800"/>
          </a:p>
        </p:txBody>
      </p:sp>
      <p:sp>
        <p:nvSpPr>
          <p:cNvPr id="8" name="Rectangle 20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3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1" name="Rectangle 2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2" name="Rectangle 11"/>
          <p:cNvSpPr/>
          <p:nvPr/>
        </p:nvSpPr>
        <p:spPr>
          <a:xfrm>
            <a:off x="203200" y="1371600"/>
            <a:ext cx="11777133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734" y="6391275"/>
            <a:ext cx="11777133" cy="31115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203200" y="1279525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Oval 16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388441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402336" y="2471383"/>
            <a:ext cx="5388864" cy="38184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7BB37-476A-46B2-A08F-06A04B3AB6B9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9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6400" y="6410326"/>
            <a:ext cx="4775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0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791200" y="1042989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944BD8E9-E0EE-463A-9F23-DDB791B879AD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684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DE605-9A11-48C7-B0FF-01A146EF7C9A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10366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8AEE4-18E2-42EF-8702-A5A71BA4281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7962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3" name="Rectangle 20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4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203200" y="15875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FDDBB-B1A3-4381-927E-E7B423ED52D8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689600" y="6324601"/>
            <a:ext cx="812800" cy="441325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927428E-EDBD-45A3-A872-B15A753C543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83096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3200" y="152400"/>
            <a:ext cx="11777133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1"/>
            <a:ext cx="12192000" cy="1190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03200" y="152400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82FEEF3-1433-4F7B-83EB-4EE1DCF8C7A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6A078-2379-4959-B9CA-F042C94784F5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510617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3733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203200" y="533400"/>
            <a:ext cx="11777133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6" name="Rectangle 20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3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25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1"/>
            <a:ext cx="11777133" cy="30162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4" name="Oval 13"/>
          <p:cNvSpPr/>
          <p:nvPr/>
        </p:nvSpPr>
        <p:spPr>
          <a:xfrm>
            <a:off x="1854200" y="323850"/>
            <a:ext cx="558800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0"/>
          </p:nvPr>
        </p:nvSpPr>
        <p:spPr>
          <a:xfrm>
            <a:off x="1828800" y="312739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1C9BF-AD39-4F0C-8E2D-C96F98A5287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7" name="Date Placeholder 4"/>
          <p:cNvSpPr>
            <a:spLocks noGrp="1"/>
          </p:cNvSpPr>
          <p:nvPr>
            <p:ph type="dt" sz="half" idx="11"/>
          </p:nvPr>
        </p:nvSpPr>
        <p:spPr>
          <a:xfrm>
            <a:off x="7717367" y="6405564"/>
            <a:ext cx="405976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291CE-D68F-44DD-B48A-48601FD1D31E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8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02168" y="6410326"/>
            <a:ext cx="4779433" cy="36671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01381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11063-2480-4D0E-8F5B-1899FE2A79F7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31C78-2BE9-4A50-A96B-5CA53055B2C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33754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5" name="Rectangle 20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white">
          <a:xfrm>
            <a:off x="0" y="1"/>
            <a:ext cx="12192000" cy="15557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7" name="Rectangle 24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94734" y="6391276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6402388" y="3278188"/>
            <a:ext cx="6245225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118600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2" name="Oval 11"/>
          <p:cNvSpPr/>
          <p:nvPr/>
        </p:nvSpPr>
        <p:spPr>
          <a:xfrm>
            <a:off x="9245600" y="3021013"/>
            <a:ext cx="560917" cy="419100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5200" y="304802"/>
            <a:ext cx="1930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220200" y="3009901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549A2-58FC-4B17-9780-2F2780A8D4B6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76CD4C-CF45-4376-9F08-BA4FBE0F70E6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1757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5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61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63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6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7" name="Rectangle 15"/>
          <p:cNvSpPr>
            <a:spLocks noChangeArrowheads="1"/>
          </p:cNvSpPr>
          <p:nvPr/>
        </p:nvSpPr>
        <p:spPr bwMode="white">
          <a:xfrm>
            <a:off x="0" y="1"/>
            <a:ext cx="12192000" cy="13938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102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eorgia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itchFamily="18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itchFamily="18" charset="0"/>
              </a:defRPr>
            </a:lvl9pPr>
          </a:lstStyle>
          <a:p>
            <a:pPr>
              <a:defRPr/>
            </a:pPr>
            <a:endParaRPr lang="en-US" altLang="en-US" sz="1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8967" y="6388101"/>
            <a:ext cx="11777133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7721601" y="6405564"/>
            <a:ext cx="4059767" cy="365125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01FD6E8-5945-4864-8B40-D8FAEADCA392}" type="datetimeFigureOut">
              <a:rPr lang="en-AU"/>
              <a:pPr>
                <a:defRPr/>
              </a:pPr>
              <a:t>24/02/2023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6400" y="6410326"/>
            <a:ext cx="4775200" cy="366713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575"/>
            <a:ext cx="11777133" cy="6546850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203200" y="1276350"/>
            <a:ext cx="11777133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689600" y="955675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5" name="Oval 14"/>
          <p:cNvSpPr/>
          <p:nvPr/>
        </p:nvSpPr>
        <p:spPr>
          <a:xfrm>
            <a:off x="5816600" y="1050925"/>
            <a:ext cx="558800" cy="420688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5791200" y="1039814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accent3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C1FDCA9-EE80-4B8B-8C7E-40986091ADA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038" name="Title Placeholder 21"/>
          <p:cNvSpPr>
            <a:spLocks noGrp="1"/>
          </p:cNvSpPr>
          <p:nvPr>
            <p:ph type="title"/>
          </p:nvPr>
        </p:nvSpPr>
        <p:spPr bwMode="auto">
          <a:xfrm>
            <a:off x="402167" y="228601"/>
            <a:ext cx="11379200" cy="75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02167" y="1524000"/>
            <a:ext cx="1137920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179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rgbClr val="7B98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300">
          <a:solidFill>
            <a:srgbClr val="7B9899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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ct val="20000"/>
        </a:spcBef>
        <a:spcAft>
          <a:spcPct val="0"/>
        </a:spcAft>
        <a:buClr>
          <a:srgbClr val="8CADAE"/>
        </a:buClr>
        <a:buSzPct val="75000"/>
        <a:buFont typeface="Wingdings 2" pitchFamily="18" charset="2"/>
        <a:buChar char="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ct val="20000"/>
        </a:spcBef>
        <a:spcAft>
          <a:spcPct val="0"/>
        </a:spcAft>
        <a:buClr>
          <a:srgbClr val="8C7B70"/>
        </a:buClr>
        <a:buSzPct val="70000"/>
        <a:buFont typeface="Wingdings" pitchFamily="2" charset="2"/>
        <a:buChar char="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ct val="20000"/>
        </a:spcBef>
        <a:spcAft>
          <a:spcPct val="0"/>
        </a:spcAft>
        <a:buClr>
          <a:srgbClr val="8FB08C"/>
        </a:buClr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5380901"/>
            <a:ext cx="5504297" cy="495918"/>
          </a:xfrm>
        </p:spPr>
        <p:txBody>
          <a:bodyPr/>
          <a:lstStyle/>
          <a:p>
            <a:r>
              <a:rPr lang="en-AU" dirty="0">
                <a:latin typeface="Roboto Black" panose="02000000000000000000" pitchFamily="2" charset="0"/>
                <a:ea typeface="Roboto Black" panose="02000000000000000000" pitchFamily="2" charset="0"/>
              </a:rPr>
              <a:t>Dr. Ken Wojcikowski</a:t>
            </a:r>
          </a:p>
          <a:p>
            <a:r>
              <a:rPr lang="en-AU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PhD, Pharmacology, UQ School of Medicine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3142456"/>
            <a:ext cx="6545663" cy="573088"/>
          </a:xfrm>
        </p:spPr>
        <p:txBody>
          <a:bodyPr/>
          <a:lstStyle/>
          <a:p>
            <a:r>
              <a:rPr lang="en-AU" dirty="0"/>
              <a:t>Introduction, oxytocin, </a:t>
            </a:r>
          </a:p>
          <a:p>
            <a:r>
              <a:rPr lang="en-AU" dirty="0"/>
              <a:t>ADH, growth hormone  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622298"/>
            <a:ext cx="6992617" cy="573088"/>
          </a:xfrm>
        </p:spPr>
        <p:txBody>
          <a:bodyPr/>
          <a:lstStyle/>
          <a:p>
            <a:r>
              <a:rPr lang="en-AU" sz="4800" dirty="0"/>
              <a:t>The endocrine system </a:t>
            </a:r>
          </a:p>
        </p:txBody>
      </p:sp>
    </p:spTree>
    <p:extLst>
      <p:ext uri="{BB962C8B-B14F-4D97-AF65-F5344CB8AC3E}">
        <p14:creationId xmlns:p14="http://schemas.microsoft.com/office/powerpoint/2010/main" val="3578228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-40" t="109" r="231" b="428"/>
          <a:stretch/>
        </p:blipFill>
        <p:spPr>
          <a:xfrm>
            <a:off x="392291" y="394953"/>
            <a:ext cx="5284291" cy="4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5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628649" y="1745719"/>
            <a:ext cx="10601325" cy="49262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AU" sz="2600" b="1" dirty="0">
                <a:solidFill>
                  <a:srgbClr val="007298"/>
                </a:solidFill>
              </a:rPr>
              <a:t>Define the ‘endocrine system’ and ‘hormone’</a:t>
            </a:r>
          </a:p>
          <a:p>
            <a:pPr lvl="1"/>
            <a:r>
              <a:rPr lang="en-AU" sz="2600" b="1" dirty="0">
                <a:solidFill>
                  <a:srgbClr val="007298"/>
                </a:solidFill>
              </a:rPr>
              <a:t>Give an example of a homeostatic control mechanism involving ‘negative feedback’.</a:t>
            </a:r>
          </a:p>
          <a:p>
            <a:pPr lvl="1"/>
            <a:r>
              <a:rPr lang="en-AU" sz="2600" b="1" dirty="0">
                <a:solidFill>
                  <a:srgbClr val="007298"/>
                </a:solidFill>
              </a:rPr>
              <a:t>Explain the reason that the hypothalamus is thought to be the controlling organ of the endocrine system.</a:t>
            </a:r>
          </a:p>
          <a:p>
            <a:pPr lvl="1"/>
            <a:r>
              <a:rPr lang="en-AU" sz="2600" b="1" dirty="0">
                <a:solidFill>
                  <a:srgbClr val="007298"/>
                </a:solidFill>
              </a:rPr>
              <a:t>Explain the effects of the two hormones secreted from the posterior pituitary gland (oxytocin and ADH) and give an example of when they would be useful as a pharmaceutical agent. </a:t>
            </a:r>
          </a:p>
          <a:p>
            <a:pPr lvl="1"/>
            <a:r>
              <a:rPr lang="en-AU" sz="2600" b="1" dirty="0">
                <a:solidFill>
                  <a:srgbClr val="007298"/>
                </a:solidFill>
              </a:rPr>
              <a:t>Explain the actions of growth hormone and the results of excesses and deficiencies during childhood and after puberty.  </a:t>
            </a:r>
          </a:p>
          <a:p>
            <a:pPr lvl="1"/>
            <a:r>
              <a:rPr lang="en-US" sz="2600" b="1" dirty="0">
                <a:solidFill>
                  <a:srgbClr val="007298"/>
                </a:solidFill>
              </a:rPr>
              <a:t>Drugs to know: Desmopressin, </a:t>
            </a:r>
            <a:r>
              <a:rPr lang="en-US" sz="2600" b="1" dirty="0" err="1">
                <a:solidFill>
                  <a:srgbClr val="007298"/>
                </a:solidFill>
              </a:rPr>
              <a:t>somatropin</a:t>
            </a:r>
            <a:r>
              <a:rPr lang="en-US" sz="2600" b="1" dirty="0">
                <a:solidFill>
                  <a:srgbClr val="007298"/>
                </a:solidFill>
              </a:rPr>
              <a:t>, vasopressin, oxytocin</a:t>
            </a:r>
            <a:endParaRPr lang="en-AU" sz="2600" b="1" dirty="0">
              <a:solidFill>
                <a:srgbClr val="007298"/>
              </a:solidFill>
            </a:endParaRPr>
          </a:p>
          <a:p>
            <a:endParaRPr lang="en-AU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02167" y="648254"/>
            <a:ext cx="11379200" cy="7588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b="1" i="0" kern="1200" spc="150" baseline="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1pPr>
          </a:lstStyle>
          <a:p>
            <a:pPr algn="ctr"/>
            <a:r>
              <a:rPr lang="en-AU" altLang="en-US" sz="4000" dirty="0">
                <a:solidFill>
                  <a:srgbClr val="007298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95982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1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Review of the Endocrine System – Part 1</a:t>
            </a:r>
          </a:p>
        </p:txBody>
      </p:sp>
    </p:spTree>
    <p:extLst>
      <p:ext uri="{BB962C8B-B14F-4D97-AF65-F5344CB8AC3E}">
        <p14:creationId xmlns:p14="http://schemas.microsoft.com/office/powerpoint/2010/main" val="4034114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3979" y="579415"/>
            <a:ext cx="6558183" cy="677125"/>
          </a:xfrm>
        </p:spPr>
        <p:txBody>
          <a:bodyPr/>
          <a:lstStyle/>
          <a:p>
            <a:pPr algn="ctr"/>
            <a:r>
              <a:rPr lang="en-AU" sz="4000" dirty="0"/>
              <a:t>Definitions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383" y="1540444"/>
            <a:ext cx="8503920" cy="4854280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571383" y="1582341"/>
            <a:ext cx="834401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7298"/>
                </a:solidFill>
              </a:rPr>
              <a:t>The </a:t>
            </a:r>
            <a:r>
              <a:rPr lang="en-AU" sz="2800" b="1" dirty="0">
                <a:solidFill>
                  <a:srgbClr val="007298"/>
                </a:solidFill>
              </a:rPr>
              <a:t>endocrine system:</a:t>
            </a:r>
            <a:r>
              <a:rPr lang="en-AU" sz="2800" dirty="0">
                <a:solidFill>
                  <a:srgbClr val="007298"/>
                </a:solidFill>
              </a:rPr>
              <a:t> is a system of glands that    secrete hormones directly into the circulatory system. From there, the hormones are often carried to a distant organ.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007298"/>
                </a:solidFill>
              </a:rPr>
              <a:t>The endocrine system is in contrast to the exocrine system, which secretes its hormones using ducts. </a:t>
            </a:r>
          </a:p>
          <a:p>
            <a:r>
              <a:rPr lang="en-US" sz="2800" b="1" dirty="0">
                <a:solidFill>
                  <a:srgbClr val="007298"/>
                </a:solidFill>
              </a:rPr>
              <a:t>Hormones</a:t>
            </a:r>
            <a:r>
              <a:rPr lang="en-US" sz="2800" dirty="0">
                <a:solidFill>
                  <a:srgbClr val="007298"/>
                </a:solidFill>
              </a:rPr>
              <a:t>: </a:t>
            </a:r>
            <a:r>
              <a:rPr lang="en-AU" sz="2800" dirty="0">
                <a:solidFill>
                  <a:srgbClr val="007298"/>
                </a:solidFill>
              </a:rPr>
              <a:t>From the Greek word meaning "impetus“; A biochemical that is produced by glands in the body transported ** by the circulatory system to another organ to regulate physiological and behavioural activities. They serve as a form of communication</a:t>
            </a:r>
          </a:p>
          <a:p>
            <a:pPr lvl="2"/>
            <a:r>
              <a:rPr lang="en-AU" sz="2000" dirty="0">
                <a:solidFill>
                  <a:srgbClr val="007298"/>
                </a:solidFill>
              </a:rPr>
              <a:t>**A few hormones act locally as well (oestrogen, testosterone).</a:t>
            </a:r>
          </a:p>
        </p:txBody>
      </p:sp>
    </p:spTree>
    <p:extLst>
      <p:ext uri="{BB962C8B-B14F-4D97-AF65-F5344CB8AC3E}">
        <p14:creationId xmlns:p14="http://schemas.microsoft.com/office/powerpoint/2010/main" val="36677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82590" y="717708"/>
            <a:ext cx="6558183" cy="768195"/>
          </a:xfrm>
        </p:spPr>
        <p:txBody>
          <a:bodyPr/>
          <a:lstStyle/>
          <a:p>
            <a:pPr algn="ctr"/>
            <a:r>
              <a:rPr lang="en-AU" sz="4000" dirty="0"/>
              <a:t>Hormones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5860" y="2202797"/>
            <a:ext cx="8503920" cy="4854280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325360" y="1714170"/>
            <a:ext cx="88186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Chemical messengers normally secreted into the bloodstream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Specific rates and rhythms of secretion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Diurnal, pulsatile and cyclic, and patterns depending on circulating substances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srgbClr val="007298"/>
              </a:solidFill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Operate within feedback systems</a:t>
            </a: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Affect only cells with appropriate receptors</a:t>
            </a:r>
          </a:p>
          <a:p>
            <a:pPr lvl="1">
              <a:defRPr/>
            </a:pPr>
            <a:endParaRPr lang="en-US" sz="2800" dirty="0">
              <a:solidFill>
                <a:srgbClr val="007298"/>
              </a:solidFill>
            </a:endParaRPr>
          </a:p>
          <a:p>
            <a:pPr lvl="1" algn="ctr">
              <a:defRPr/>
            </a:pPr>
            <a:r>
              <a:rPr lang="en-US" sz="2800" dirty="0">
                <a:solidFill>
                  <a:srgbClr val="007298"/>
                </a:solidFill>
              </a:rPr>
              <a:t>The liver inactivates hormones, rendering the hormones more water soluble for renal excretion</a:t>
            </a:r>
          </a:p>
        </p:txBody>
      </p:sp>
    </p:spTree>
    <p:extLst>
      <p:ext uri="{BB962C8B-B14F-4D97-AF65-F5344CB8AC3E}">
        <p14:creationId xmlns:p14="http://schemas.microsoft.com/office/powerpoint/2010/main" val="482114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3979" y="579415"/>
            <a:ext cx="6558183" cy="677125"/>
          </a:xfrm>
        </p:spPr>
        <p:txBody>
          <a:bodyPr/>
          <a:lstStyle/>
          <a:p>
            <a:pPr algn="ctr"/>
            <a:r>
              <a:rPr lang="en-AU" sz="4000" dirty="0"/>
              <a:t>Mechanisms of </a:t>
            </a:r>
          </a:p>
          <a:p>
            <a:pPr algn="ctr"/>
            <a:r>
              <a:rPr lang="en-AU" sz="4000" dirty="0"/>
              <a:t>hormone action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383" y="1540444"/>
            <a:ext cx="8503920" cy="4854280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757125" y="2411024"/>
            <a:ext cx="834401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7298"/>
                </a:solidFill>
              </a:rPr>
              <a:t>Hormones produce cellular changes in                       target cells – examples:</a:t>
            </a:r>
          </a:p>
          <a:p>
            <a:endParaRPr lang="en-AU" sz="2800" dirty="0">
              <a:solidFill>
                <a:srgbClr val="007298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</a:rPr>
              <a:t>Stimulate mitosis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</a:rPr>
              <a:t>Induce secretory 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</a:rPr>
              <a:t>Stimulate protein synthesis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</a:rPr>
              <a:t>Activate or deactivate enzyme systems</a:t>
            </a:r>
          </a:p>
        </p:txBody>
      </p:sp>
    </p:spTree>
    <p:extLst>
      <p:ext uri="{BB962C8B-B14F-4D97-AF65-F5344CB8AC3E}">
        <p14:creationId xmlns:p14="http://schemas.microsoft.com/office/powerpoint/2010/main" val="338343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53979" y="579415"/>
            <a:ext cx="6558183" cy="677125"/>
          </a:xfrm>
        </p:spPr>
        <p:txBody>
          <a:bodyPr/>
          <a:lstStyle/>
          <a:p>
            <a:pPr algn="ctr"/>
            <a:r>
              <a:rPr lang="en-AU" sz="4000" dirty="0"/>
              <a:t>Regulation of </a:t>
            </a:r>
          </a:p>
          <a:p>
            <a:pPr algn="ctr"/>
            <a:r>
              <a:rPr lang="en-AU" sz="4000" dirty="0"/>
              <a:t>hormone release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383" y="1540444"/>
            <a:ext cx="8503920" cy="4854280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Rectangle 1"/>
          <p:cNvSpPr/>
          <p:nvPr/>
        </p:nvSpPr>
        <p:spPr>
          <a:xfrm>
            <a:off x="757125" y="2411024"/>
            <a:ext cx="8344017" cy="3582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Hormones are released: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In response to an alteration in the cellular environment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To maintain a regulated level of certain substances or other hormones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Hormones are regulated by chemical, hormonal, or neural factors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Negative feedback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srgbClr val="007298"/>
                </a:solidFill>
              </a:rPr>
              <a:t>Positive feedback (rarely)</a:t>
            </a:r>
          </a:p>
        </p:txBody>
      </p:sp>
    </p:spTree>
    <p:extLst>
      <p:ext uri="{BB962C8B-B14F-4D97-AF65-F5344CB8AC3E}">
        <p14:creationId xmlns:p14="http://schemas.microsoft.com/office/powerpoint/2010/main" val="1837281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02167" y="328617"/>
            <a:ext cx="11379200" cy="758825"/>
          </a:xfrm>
        </p:spPr>
        <p:txBody>
          <a:bodyPr/>
          <a:lstStyle/>
          <a:p>
            <a:pPr eaLnBrk="1" hangingPunct="1">
              <a:defRPr/>
            </a:pPr>
            <a:r>
              <a:rPr lang="en-AU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Hormonal Feedback </a:t>
            </a:r>
            <a:endParaRPr lang="en-US" sz="40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Usually negative</a:t>
            </a:r>
          </a:p>
          <a:p>
            <a:pPr eaLnBrk="1" hangingPunct="1">
              <a:defRPr/>
            </a:pPr>
            <a:endParaRPr lang="en-AU" sz="2800" dirty="0"/>
          </a:p>
          <a:p>
            <a:pPr eaLnBrk="1" hangingPunct="1">
              <a:buFont typeface="Wingdings" pitchFamily="2" charset="2"/>
              <a:buNone/>
              <a:defRPr/>
            </a:pPr>
            <a:endParaRPr lang="en-AU" sz="2800" dirty="0"/>
          </a:p>
          <a:p>
            <a:pPr eaLnBrk="1" hangingPunct="1">
              <a:defRPr/>
            </a:pPr>
            <a:endParaRPr lang="en-AU" sz="2800" dirty="0"/>
          </a:p>
          <a:p>
            <a:pPr eaLnBrk="1" hangingPunct="1">
              <a:defRPr/>
            </a:pPr>
            <a:endParaRPr lang="en-AU" sz="2800" dirty="0"/>
          </a:p>
          <a:p>
            <a:pPr eaLnBrk="1" hangingPunct="1">
              <a:defRPr/>
            </a:pPr>
            <a:endParaRPr lang="en-AU" sz="2800" dirty="0"/>
          </a:p>
          <a:p>
            <a:pPr eaLnBrk="1" hangingPunct="1">
              <a:defRPr/>
            </a:pPr>
            <a:r>
              <a:rPr lang="en-AU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Seldom positive</a:t>
            </a:r>
          </a:p>
          <a:p>
            <a:pPr lvl="1" eaLnBrk="1" hangingPunct="1">
              <a:defRPr/>
            </a:pP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Example: day 12 of the menstrual cycle, increasing levels of oestrogen from ovary act on hypothalamus to INCREASE release of GRH</a:t>
            </a:r>
            <a:endParaRPr lang="en-US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6311901" y="1989139"/>
            <a:ext cx="1706563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Hypothalamus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Releases GHRH</a:t>
            </a:r>
            <a:endParaRPr lang="en-US" alt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311900" y="4149725"/>
            <a:ext cx="1728788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Pituitary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Releases GH</a:t>
            </a:r>
            <a:endParaRPr lang="en-US" alt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198" name="AutoShape 6"/>
          <p:cNvSpPr>
            <a:spLocks noChangeArrowheads="1"/>
          </p:cNvSpPr>
          <p:nvPr/>
        </p:nvSpPr>
        <p:spPr bwMode="auto">
          <a:xfrm>
            <a:off x="6816726" y="2924176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8328026" y="4508500"/>
            <a:ext cx="72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 flipV="1">
            <a:off x="9048750" y="2349500"/>
            <a:ext cx="0" cy="2159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 flipH="1">
            <a:off x="8256588" y="2349500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8202" name="Oval 10"/>
          <p:cNvSpPr>
            <a:spLocks noChangeArrowheads="1"/>
          </p:cNvSpPr>
          <p:nvPr/>
        </p:nvSpPr>
        <p:spPr bwMode="auto">
          <a:xfrm>
            <a:off x="8832850" y="1484313"/>
            <a:ext cx="914400" cy="914400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-ve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Inhibition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GH</a:t>
            </a:r>
            <a:endParaRPr lang="en-US" alt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3719513" y="2420938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8204" name="Line 12"/>
          <p:cNvSpPr>
            <a:spLocks noChangeShapeType="1"/>
          </p:cNvSpPr>
          <p:nvPr/>
        </p:nvSpPr>
        <p:spPr bwMode="auto">
          <a:xfrm flipV="1">
            <a:off x="3719513" y="21336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437476"/>
      </p:ext>
    </p:extLst>
  </p:cSld>
  <p:clrMapOvr>
    <a:masterClrMapping/>
  </p:clrMapOvr>
  <p:transition advTm="117853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auto">
          <a:xfrm>
            <a:off x="3432176" y="404813"/>
            <a:ext cx="2232025" cy="14398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 b="1">
                <a:solidFill>
                  <a:prstClr val="black"/>
                </a:solidFill>
                <a:latin typeface="Arial" charset="0"/>
                <a:cs typeface="Arial" charset="0"/>
              </a:rPr>
              <a:t>Hypothalamus</a:t>
            </a: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Receives neural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endocrine and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other signals</a:t>
            </a:r>
            <a:endParaRPr lang="en-US">
              <a:solidFill>
                <a:prstClr val="blac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auto">
          <a:xfrm>
            <a:off x="2566989" y="2708276"/>
            <a:ext cx="2376487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 b="1">
                <a:solidFill>
                  <a:prstClr val="black"/>
                </a:solidFill>
                <a:latin typeface="Arial" charset="0"/>
                <a:cs typeface="Arial" charset="0"/>
              </a:rPr>
              <a:t>Pituitary</a:t>
            </a: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Releases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AU">
                <a:solidFill>
                  <a:prstClr val="black"/>
                </a:solidFill>
                <a:latin typeface="Arial" charset="0"/>
                <a:cs typeface="Arial" charset="0"/>
              </a:rPr>
              <a:t>Numerous hormones</a:t>
            </a:r>
            <a:r>
              <a:rPr lang="en-AU" sz="240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endParaRPr lang="en-US">
              <a:solidFill>
                <a:srgbClr val="646B86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Arial" charset="0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711450" y="5157192"/>
            <a:ext cx="2376488" cy="12239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 sz="2400" b="1" dirty="0">
                <a:solidFill>
                  <a:prstClr val="black"/>
                </a:solidFill>
                <a:latin typeface="Arial" charset="0"/>
                <a:cs typeface="Arial" charset="0"/>
              </a:rPr>
              <a:t>Target </a:t>
            </a:r>
            <a:r>
              <a:rPr lang="en-AU" alt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gland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Responds with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 sz="2400" dirty="0">
                <a:solidFill>
                  <a:prstClr val="black"/>
                </a:solidFill>
                <a:latin typeface="Arial" charset="0"/>
                <a:cs typeface="Arial" charset="0"/>
              </a:rPr>
              <a:t>hormone</a:t>
            </a:r>
            <a:endParaRPr lang="en-US" altLang="en-US" sz="24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5951538" y="4508501"/>
            <a:ext cx="215900" cy="504825"/>
          </a:xfrm>
          <a:prstGeom prst="down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6024563" y="2060576"/>
            <a:ext cx="215900" cy="504825"/>
          </a:xfrm>
          <a:prstGeom prst="down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 flipV="1">
            <a:off x="2424113" y="1196976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19464" name="Line 8"/>
          <p:cNvSpPr>
            <a:spLocks noChangeShapeType="1"/>
          </p:cNvSpPr>
          <p:nvPr/>
        </p:nvSpPr>
        <p:spPr bwMode="auto">
          <a:xfrm>
            <a:off x="2424113" y="1196975"/>
            <a:ext cx="10080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1524001" y="1"/>
            <a:ext cx="1223963" cy="1203325"/>
          </a:xfrm>
          <a:prstGeom prst="ellipse">
            <a:avLst/>
          </a:prstGeom>
          <a:solidFill>
            <a:srgbClr val="FF66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Feedback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>
                <a:solidFill>
                  <a:prstClr val="black"/>
                </a:solidFill>
                <a:latin typeface="Arial" charset="0"/>
                <a:cs typeface="Arial" charset="0"/>
              </a:rPr>
              <a:t>loop</a:t>
            </a:r>
            <a:endParaRPr lang="en-US" alt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375" y="1844675"/>
            <a:ext cx="5791200" cy="629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7" name="Line 11"/>
          <p:cNvSpPr>
            <a:spLocks noChangeShapeType="1"/>
          </p:cNvSpPr>
          <p:nvPr/>
        </p:nvSpPr>
        <p:spPr bwMode="auto">
          <a:xfrm>
            <a:off x="3143251" y="4076700"/>
            <a:ext cx="180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2424114" y="5734050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  <p:sp>
        <p:nvSpPr>
          <p:cNvPr id="19469" name="AutoShape 13"/>
          <p:cNvSpPr>
            <a:spLocks noChangeArrowheads="1"/>
          </p:cNvSpPr>
          <p:nvPr/>
        </p:nvSpPr>
        <p:spPr bwMode="auto">
          <a:xfrm>
            <a:off x="4008439" y="1989139"/>
            <a:ext cx="287337" cy="617537"/>
          </a:xfrm>
          <a:prstGeom prst="downArrow">
            <a:avLst>
              <a:gd name="adj1" fmla="val 50000"/>
              <a:gd name="adj2" fmla="val 537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470" name="AutoShape 14"/>
          <p:cNvSpPr>
            <a:spLocks noChangeArrowheads="1"/>
          </p:cNvSpPr>
          <p:nvPr/>
        </p:nvSpPr>
        <p:spPr bwMode="auto">
          <a:xfrm>
            <a:off x="3719514" y="4293097"/>
            <a:ext cx="287337" cy="617537"/>
          </a:xfrm>
          <a:prstGeom prst="downArrow">
            <a:avLst>
              <a:gd name="adj1" fmla="val 50000"/>
              <a:gd name="adj2" fmla="val 5372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471" name="Rectangle 15"/>
          <p:cNvSpPr>
            <a:spLocks noChangeArrowheads="1"/>
          </p:cNvSpPr>
          <p:nvPr/>
        </p:nvSpPr>
        <p:spPr bwMode="auto">
          <a:xfrm>
            <a:off x="6167438" y="260350"/>
            <a:ext cx="4176712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altLang="en-US" sz="2400" b="1">
                <a:solidFill>
                  <a:prstClr val="black"/>
                </a:solidFill>
                <a:latin typeface="Arial Black" pitchFamily="34" charset="0"/>
                <a:cs typeface="Arial" charset="0"/>
              </a:rPr>
              <a:t>Hypothalamus / Pituitary</a:t>
            </a:r>
            <a:endParaRPr lang="en-US" altLang="en-US" sz="2400" b="1">
              <a:solidFill>
                <a:prstClr val="black"/>
              </a:solidFill>
              <a:latin typeface="Arial Black" pitchFamily="34" charset="0"/>
              <a:cs typeface="Arial" charset="0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28576" y="6381329"/>
            <a:ext cx="5635625" cy="75882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 kern="1200">
                <a:solidFill>
                  <a:srgbClr val="7B9899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rgbClr val="7B9899"/>
                </a:solidFill>
                <a:latin typeface="Georgia" pitchFamily="18" charset="0"/>
              </a:defRPr>
            </a:lvl9pPr>
          </a:lstStyle>
          <a:p>
            <a:pPr eaLnBrk="1" hangingPunct="1">
              <a:defRPr/>
            </a:pPr>
            <a:endParaRPr lang="en-US" sz="36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4176013"/>
      </p:ext>
    </p:extLst>
  </p:cSld>
  <p:clrMapOvr>
    <a:masterClrMapping/>
  </p:clrMapOvr>
  <p:transition advTm="278697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AutoShape 5"/>
          <p:cNvSpPr>
            <a:spLocks noChangeArrowheads="1"/>
          </p:cNvSpPr>
          <p:nvPr/>
        </p:nvSpPr>
        <p:spPr bwMode="auto">
          <a:xfrm>
            <a:off x="5951538" y="4508501"/>
            <a:ext cx="215900" cy="504825"/>
          </a:xfrm>
          <a:prstGeom prst="down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sp>
        <p:nvSpPr>
          <p:cNvPr id="19462" name="AutoShape 6"/>
          <p:cNvSpPr>
            <a:spLocks noChangeArrowheads="1"/>
          </p:cNvSpPr>
          <p:nvPr/>
        </p:nvSpPr>
        <p:spPr bwMode="auto">
          <a:xfrm>
            <a:off x="6024563" y="2060576"/>
            <a:ext cx="215900" cy="504825"/>
          </a:xfrm>
          <a:prstGeom prst="downArrow">
            <a:avLst>
              <a:gd name="adj1" fmla="val 50000"/>
              <a:gd name="adj2" fmla="val 5845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 altLang="en-US">
              <a:solidFill>
                <a:prstClr val="black"/>
              </a:solidFill>
              <a:cs typeface="Arial" charset="0"/>
            </a:endParaRPr>
          </a:p>
        </p:txBody>
      </p:sp>
      <p:pic>
        <p:nvPicPr>
          <p:cNvPr id="194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222" y="-1395536"/>
            <a:ext cx="9930631" cy="107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8" name="Line 12"/>
          <p:cNvSpPr>
            <a:spLocks noChangeShapeType="1"/>
          </p:cNvSpPr>
          <p:nvPr/>
        </p:nvSpPr>
        <p:spPr bwMode="auto">
          <a:xfrm>
            <a:off x="2424114" y="5734050"/>
            <a:ext cx="1428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AU">
              <a:solidFill>
                <a:prstClr val="black"/>
              </a:solidFill>
              <a:latin typeface="Georgia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820294"/>
      </p:ext>
    </p:extLst>
  </p:cSld>
  <p:clrMapOvr>
    <a:masterClrMapping/>
  </p:clrMapOvr>
  <p:transition advTm="278697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2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Review of the Endocrine System – Part 2</a:t>
            </a:r>
          </a:p>
        </p:txBody>
      </p:sp>
    </p:spTree>
    <p:extLst>
      <p:ext uri="{BB962C8B-B14F-4D97-AF65-F5344CB8AC3E}">
        <p14:creationId xmlns:p14="http://schemas.microsoft.com/office/powerpoint/2010/main" val="10814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Feedback used in the endocrine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Most often: negative feedback</a:t>
            </a:r>
          </a:p>
        </p:txBody>
      </p:sp>
      <p:pic>
        <p:nvPicPr>
          <p:cNvPr id="52226" name="Picture 2" descr="http://courses.washington.edu/conj/bess/feedback/hpa-feedb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088" y="1608954"/>
            <a:ext cx="3384376" cy="455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2060848"/>
            <a:ext cx="3596129" cy="464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410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992313" y="141511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hypothalamus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040" y="1656978"/>
            <a:ext cx="7757160" cy="57324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 neural and an endocrine organ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Maintains homeostasis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Responds to most hormones of the body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Receives neural signals from most other areas of the brain.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Sends neural information throughout the brain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Synthesizes and secrets its own hormones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Inputs: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Stress, Pain, Body weight, Temperature, Emotions, Various hormones…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8569" y="2125980"/>
            <a:ext cx="4766687" cy="3154680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51958000-15F2-4B0B-B482-29A61645F54A}"/>
              </a:ext>
            </a:extLst>
          </p:cNvPr>
          <p:cNvSpPr txBox="1">
            <a:spLocks/>
          </p:cNvSpPr>
          <p:nvPr/>
        </p:nvSpPr>
        <p:spPr>
          <a:xfrm>
            <a:off x="9067800" y="5501703"/>
            <a:ext cx="5504297" cy="495918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800" dirty="0">
                <a:solidFill>
                  <a:srgbClr val="007298"/>
                </a:solidFill>
              </a:rPr>
              <a:t>Medical News Today</a:t>
            </a:r>
          </a:p>
        </p:txBody>
      </p:sp>
    </p:spTree>
    <p:extLst>
      <p:ext uri="{BB962C8B-B14F-4D97-AF65-F5344CB8AC3E}">
        <p14:creationId xmlns:p14="http://schemas.microsoft.com/office/powerpoint/2010/main" val="3357306358"/>
      </p:ext>
    </p:extLst>
  </p:cSld>
  <p:clrMapOvr>
    <a:masterClrMapping/>
  </p:clrMapOvr>
  <p:transition advTm="45856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8839200" y="6507164"/>
            <a:ext cx="1600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>
                <a:solidFill>
                  <a:prstClr val="black"/>
                </a:solidFill>
                <a:latin typeface="Times New Roman" pitchFamily="18" charset="0"/>
                <a:cs typeface="Arial" charset="0"/>
              </a:rPr>
              <a:t>Figure 16.5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188914"/>
            <a:ext cx="8229600" cy="1139825"/>
          </a:xfrm>
        </p:spPr>
        <p:txBody>
          <a:bodyPr anchor="t" anchorCtr="0"/>
          <a:lstStyle/>
          <a:p>
            <a:pPr eaLnBrk="1" hangingPunct="1">
              <a:defRPr/>
            </a:pPr>
            <a:r>
              <a:rPr lang="en-US" sz="36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Pituitary 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670" y="862380"/>
            <a:ext cx="8742660" cy="5919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0477360"/>
      </p:ext>
    </p:extLst>
  </p:cSld>
  <p:clrMapOvr>
    <a:masterClrMapping/>
  </p:clrMapOvr>
  <p:transition advTm="318217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80215" y="744233"/>
            <a:ext cx="6558183" cy="630232"/>
          </a:xfrm>
        </p:spPr>
        <p:txBody>
          <a:bodyPr/>
          <a:lstStyle/>
          <a:p>
            <a:pPr algn="ctr"/>
            <a:r>
              <a:rPr lang="en-AU" sz="4000" dirty="0"/>
              <a:t>Posterior pituitary hormones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61827" y="2477901"/>
            <a:ext cx="5516880" cy="4034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marR="0" lvl="0" indent="-27305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Synthesized with their binding proteins in the hypothalamus</a:t>
            </a:r>
          </a:p>
          <a:p>
            <a:pPr marL="273050" marR="0" lvl="0" indent="-27305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Secreted by the posterior pituitary</a:t>
            </a:r>
          </a:p>
          <a:p>
            <a:pPr marL="547688" marR="0" lvl="1" indent="-27305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B400"/>
              </a:buClr>
              <a:buSzPct val="70000"/>
              <a:buFont typeface="Wingdings" pitchFamily="2" charset="2"/>
              <a:buChar char="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Antidiuretic hormone (ADH)</a:t>
            </a:r>
          </a:p>
          <a:p>
            <a:pPr marL="822325" marR="0" lvl="2" indent="-2286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THE WATER SAVER</a:t>
            </a:r>
          </a:p>
          <a:p>
            <a:pPr marL="822325" marR="0" lvl="2" indent="-2286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Controls plasma osmolality</a:t>
            </a:r>
          </a:p>
          <a:p>
            <a:pPr marL="547688" marR="0" lvl="1" indent="-27305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B400"/>
              </a:buClr>
              <a:buSzPct val="70000"/>
              <a:buFont typeface="Wingdings" pitchFamily="2" charset="2"/>
              <a:buChar char="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Oxytocin</a:t>
            </a:r>
          </a:p>
          <a:p>
            <a:pPr marL="822325" marR="0" lvl="2" indent="-228600" defTabSz="91440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Uterine contractions and milk ejection in lactating women</a:t>
            </a:r>
          </a:p>
        </p:txBody>
      </p:sp>
    </p:spTree>
    <p:extLst>
      <p:ext uri="{BB962C8B-B14F-4D97-AF65-F5344CB8AC3E}">
        <p14:creationId xmlns:p14="http://schemas.microsoft.com/office/powerpoint/2010/main" val="35374195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3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Antidiuretic hormone (ADH)</a:t>
            </a:r>
          </a:p>
        </p:txBody>
      </p:sp>
    </p:spTree>
    <p:extLst>
      <p:ext uri="{BB962C8B-B14F-4D97-AF65-F5344CB8AC3E}">
        <p14:creationId xmlns:p14="http://schemas.microsoft.com/office/powerpoint/2010/main" val="1717845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396241"/>
            <a:ext cx="11379200" cy="758825"/>
          </a:xfrm>
        </p:spPr>
        <p:txBody>
          <a:bodyPr/>
          <a:lstStyle/>
          <a:p>
            <a:r>
              <a:rPr lang="en-US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ADH (vasopressin)</a:t>
            </a:r>
            <a:endParaRPr lang="en-AU" sz="40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4841" y="1652424"/>
            <a:ext cx="6603856" cy="4896544"/>
          </a:xfrm>
        </p:spPr>
        <p:txBody>
          <a:bodyPr/>
          <a:lstStyle/>
          <a:p>
            <a:r>
              <a:rPr lang="en-US" sz="24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Too little ADH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the water saver results in a condition termed </a:t>
            </a:r>
            <a:r>
              <a:rPr lang="en-US" sz="2400" b="1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diabetes insipidus</a:t>
            </a: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. </a:t>
            </a:r>
          </a:p>
          <a:p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“Diabetes” comes Ancient Greek </a:t>
            </a:r>
            <a:r>
              <a:rPr lang="en-AU" sz="24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δι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αβήτης (diabētēs) which literally means “a passer through; a siphon”</a:t>
            </a:r>
          </a:p>
          <a:p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"Insipidus" comes from the Latin: </a:t>
            </a:r>
            <a:r>
              <a:rPr lang="en-AU" sz="2400" i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in-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"not" + </a:t>
            </a:r>
            <a:r>
              <a:rPr lang="en-AU" sz="2400" i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sapidus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"tasty" from </a:t>
            </a:r>
            <a:r>
              <a:rPr lang="en-AU" sz="2400" i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sapere</a:t>
            </a:r>
            <a:r>
              <a:rPr lang="en-AU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"have a taste“</a:t>
            </a:r>
          </a:p>
          <a:p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Diabetes insipidus is a disease with tasteless urine (in contrast to having sweet urine in diabetes mellitus.) Patients get dehydrated because they cannot save water.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697" y="1524460"/>
            <a:ext cx="3129473" cy="4986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66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828501"/>
            <a:ext cx="11379200" cy="758825"/>
          </a:xfrm>
        </p:spPr>
        <p:txBody>
          <a:bodyPr/>
          <a:lstStyle/>
          <a:p>
            <a:r>
              <a:rPr lang="en-US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ADH (vasopressin) replacement:</a:t>
            </a:r>
            <a:br>
              <a:rPr lang="en-US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</a:br>
            <a:r>
              <a:rPr lang="en-US" sz="4000" b="1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Desmopressin</a:t>
            </a:r>
            <a:endParaRPr lang="en-AU" sz="4000" b="1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4840" y="2002944"/>
            <a:ext cx="10546079" cy="4896544"/>
          </a:xfrm>
        </p:spPr>
        <p:txBody>
          <a:bodyPr/>
          <a:lstStyle/>
          <a:p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Synthetic version of ADH, the water saver (vasopressin)</a:t>
            </a:r>
          </a:p>
          <a:p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Works like ADH</a:t>
            </a:r>
          </a:p>
          <a:p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Main uses include diabetes insipidus but also used in </a:t>
            </a:r>
          </a:p>
          <a:p>
            <a:pPr lvl="1"/>
            <a:r>
              <a:rPr lang="en-US" sz="23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Bed wetting</a:t>
            </a:r>
          </a:p>
          <a:p>
            <a:pPr lvl="1"/>
            <a:r>
              <a:rPr lang="en-US" sz="23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Nocturia</a:t>
            </a:r>
            <a:endParaRPr lang="en-US" sz="23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People using the medication for </a:t>
            </a:r>
            <a:r>
              <a:rPr lang="en-US" sz="28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nocturia</a:t>
            </a:r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should be educated about hyponatremia </a:t>
            </a:r>
          </a:p>
          <a:p>
            <a:r>
              <a:rPr lang="en-US" sz="28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Often, intranasal administration</a:t>
            </a:r>
          </a:p>
        </p:txBody>
      </p:sp>
    </p:spTree>
    <p:extLst>
      <p:ext uri="{BB962C8B-B14F-4D97-AF65-F5344CB8AC3E}">
        <p14:creationId xmlns:p14="http://schemas.microsoft.com/office/powerpoint/2010/main" val="2293877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4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Oxytocin</a:t>
            </a:r>
          </a:p>
        </p:txBody>
      </p:sp>
    </p:spTree>
    <p:extLst>
      <p:ext uri="{BB962C8B-B14F-4D97-AF65-F5344CB8AC3E}">
        <p14:creationId xmlns:p14="http://schemas.microsoft.com/office/powerpoint/2010/main" val="2553258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350521"/>
            <a:ext cx="11379200" cy="758825"/>
          </a:xfrm>
        </p:spPr>
        <p:txBody>
          <a:bodyPr/>
          <a:lstStyle/>
          <a:p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Oxytocin </a:t>
            </a:r>
            <a:endParaRPr lang="en-AU" sz="40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70771" y="1515264"/>
            <a:ext cx="9841992" cy="4572000"/>
          </a:xfrm>
        </p:spPr>
        <p:txBody>
          <a:bodyPr/>
          <a:lstStyle/>
          <a:p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Derived from the Greek words meaning ‘swift birth’</a:t>
            </a:r>
          </a:p>
          <a:p>
            <a:r>
              <a:rPr lang="en-AU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The "bonding hormone“, the “love hormone”</a:t>
            </a:r>
          </a:p>
          <a:p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Used to initiate </a:t>
            </a:r>
            <a:r>
              <a:rPr lang="en-US" sz="26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labour</a:t>
            </a:r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control postpartum </a:t>
            </a:r>
            <a:r>
              <a:rPr lang="en-US" sz="26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haemorrhage</a:t>
            </a:r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, (promote breast milk production - no longer in humans)</a:t>
            </a:r>
          </a:p>
          <a:p>
            <a:r>
              <a:rPr lang="en-AU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Relatively safe when used at recommended doses, and side effects are uncommon</a:t>
            </a:r>
            <a:endParaRPr lang="en-US" sz="26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r>
              <a:rPr lang="en-AU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Has a half-life of about three minutes when given intravenously. Intranasal oxytocin has a duration of at least 2.25 hours</a:t>
            </a:r>
            <a:endParaRPr lang="en-US" sz="26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Replaces the ergot alkaloid </a:t>
            </a:r>
            <a:r>
              <a:rPr lang="en-US" sz="2600" b="1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ergometrine</a:t>
            </a:r>
            <a:r>
              <a:rPr lang="en-US" sz="26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 as the first choice in the uses above, but combinations are still used</a:t>
            </a:r>
            <a:endParaRPr lang="en-AU" sz="26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57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A7456-E2A9-46A8-9A18-93D26352BE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err="1">
                <a:solidFill>
                  <a:srgbClr val="007796"/>
                </a:solidFill>
              </a:rPr>
              <a:t>kjhkjhlkdfs</a:t>
            </a:r>
            <a:endParaRPr lang="en-AU" dirty="0">
              <a:solidFill>
                <a:srgbClr val="00779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AF63A5-E77F-4F26-A574-DDAEFBEE3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2E11A-F760-4031-B984-A6833D6EDD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62B28D-42B4-413B-A0D6-386E895AC73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9700E-B7C8-4875-B10E-DCC67DD0410E}"/>
              </a:ext>
            </a:extLst>
          </p:cNvPr>
          <p:cNvSpPr/>
          <p:nvPr/>
        </p:nvSpPr>
        <p:spPr>
          <a:xfrm>
            <a:off x="0" y="-16279"/>
            <a:ext cx="12192000" cy="6858000"/>
          </a:xfrm>
          <a:prstGeom prst="rect">
            <a:avLst/>
          </a:prstGeom>
          <a:solidFill>
            <a:srgbClr val="0077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rgbClr val="007796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52971A-8847-4430-8BB5-FD027F7B3335}"/>
              </a:ext>
            </a:extLst>
          </p:cNvPr>
          <p:cNvSpPr/>
          <p:nvPr/>
        </p:nvSpPr>
        <p:spPr>
          <a:xfrm>
            <a:off x="1074335" y="853056"/>
            <a:ext cx="9785023" cy="5307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AU" b="1" dirty="0"/>
              <a:t>PHAR2001_2_5_1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E544B-D75D-491B-A4AD-0406D551A9E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73430" y="2351470"/>
            <a:ext cx="7711449" cy="2794902"/>
          </a:xfrm>
        </p:spPr>
        <p:txBody>
          <a:bodyPr/>
          <a:lstStyle/>
          <a:p>
            <a:pPr algn="ctr"/>
            <a:r>
              <a:rPr lang="en-AU" sz="36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Medications of the Endocrine System: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Lesson 5</a:t>
            </a:r>
          </a:p>
          <a:p>
            <a:pPr algn="ctr"/>
            <a:r>
              <a:rPr lang="en-AU" sz="3200" dirty="0">
                <a:solidFill>
                  <a:srgbClr val="00779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Growth Hormone</a:t>
            </a:r>
          </a:p>
        </p:txBody>
      </p:sp>
    </p:spTree>
    <p:extLst>
      <p:ext uri="{BB962C8B-B14F-4D97-AF65-F5344CB8AC3E}">
        <p14:creationId xmlns:p14="http://schemas.microsoft.com/office/powerpoint/2010/main" val="18279279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1383" y="1150268"/>
            <a:ext cx="6558183" cy="677125"/>
          </a:xfrm>
        </p:spPr>
        <p:txBody>
          <a:bodyPr/>
          <a:lstStyle/>
          <a:p>
            <a:pPr algn="ctr"/>
            <a:r>
              <a:rPr lang="en-AU" sz="4000" dirty="0"/>
              <a:t>Growth hormone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383" y="2409307"/>
            <a:ext cx="8503920" cy="4472139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71383" y="2409307"/>
            <a:ext cx="8503920" cy="404549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b="1" dirty="0">
                <a:solidFill>
                  <a:srgbClr val="007298"/>
                </a:solidFill>
              </a:rPr>
              <a:t>Increases muscle mass through sarcomere hypertrophy</a:t>
            </a:r>
          </a:p>
          <a:p>
            <a:r>
              <a:rPr lang="en-AU" b="1" dirty="0">
                <a:solidFill>
                  <a:srgbClr val="007298"/>
                </a:solidFill>
              </a:rPr>
              <a:t>Promotes lipolysis</a:t>
            </a:r>
          </a:p>
          <a:p>
            <a:r>
              <a:rPr lang="en-AU" b="1" dirty="0">
                <a:solidFill>
                  <a:srgbClr val="007298"/>
                </a:solidFill>
              </a:rPr>
              <a:t>Increases protein synthesis</a:t>
            </a:r>
          </a:p>
          <a:p>
            <a:r>
              <a:rPr lang="en-AU" b="1" dirty="0">
                <a:solidFill>
                  <a:srgbClr val="007298"/>
                </a:solidFill>
              </a:rPr>
              <a:t>Your client needs to be told how dangerous it is to use growth hormone for muscle growth!</a:t>
            </a:r>
          </a:p>
          <a:p>
            <a:pPr lvl="1"/>
            <a:r>
              <a:rPr lang="en-AU" b="1" dirty="0">
                <a:solidFill>
                  <a:srgbClr val="007298"/>
                </a:solidFill>
              </a:rPr>
              <a:t> Stimulates the growth of all internal organs excluding the brain</a:t>
            </a:r>
          </a:p>
          <a:p>
            <a:pPr lvl="1"/>
            <a:r>
              <a:rPr lang="en-AU" b="1" dirty="0">
                <a:solidFill>
                  <a:srgbClr val="007298"/>
                </a:solidFill>
              </a:rPr>
              <a:t>Promotes gluconeogenesis in the liver (increases glucose levels: diabetes!)</a:t>
            </a:r>
          </a:p>
          <a:p>
            <a:endParaRPr lang="en-AU" b="1" dirty="0">
              <a:solidFill>
                <a:srgbClr val="0072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028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CCCF-A46F-40CE-87D1-0578C4EBFA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5400" y="939704"/>
            <a:ext cx="6558183" cy="1286724"/>
          </a:xfrm>
        </p:spPr>
        <p:txBody>
          <a:bodyPr/>
          <a:lstStyle/>
          <a:p>
            <a:pPr algn="ctr"/>
            <a:r>
              <a:rPr lang="en-AU" sz="4000" dirty="0"/>
              <a:t>Growth hormone deficiency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1383" y="2368062"/>
            <a:ext cx="8503920" cy="4026661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b="0" i="0" kern="120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AU" sz="2800" b="1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571383" y="2443489"/>
            <a:ext cx="8252577" cy="3884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marR="0" lvl="0" indent="-27305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Growth hormone deficiency (GDH) in childhood is commonly idiopathic (no identifiable cause)</a:t>
            </a:r>
          </a:p>
          <a:p>
            <a:pPr marL="273050" marR="0" lvl="0" indent="-27305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Adult-onset GHD is commonly due to pituitary tumours </a:t>
            </a:r>
          </a:p>
          <a:p>
            <a:pPr marL="273050" marR="0" lvl="0" indent="-27305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  <a:p>
            <a:pPr marL="273050" marR="0" lvl="0" indent="-27305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Somatropin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 is given for growth hormone deficiencies</a:t>
            </a:r>
          </a:p>
          <a:p>
            <a:pPr marL="273050" marR="0" lvl="0" indent="-27305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D16349"/>
              </a:buClr>
              <a:buSzPct val="85000"/>
              <a:buFont typeface="Wingdings 2" pitchFamily="18" charset="2"/>
              <a:buChar char="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7298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</a:rPr>
              <a:t>Subcutaneous or intramuscular injections</a:t>
            </a:r>
            <a:endParaRPr kumimoji="0" lang="en-AU" sz="2800" b="0" i="0" u="none" strike="noStrike" kern="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512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Growth hormone excess</a:t>
            </a:r>
            <a:endParaRPr lang="en-AU" sz="40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25752" y="1527048"/>
            <a:ext cx="3838200" cy="4572000"/>
          </a:xfrm>
        </p:spPr>
        <p:txBody>
          <a:bodyPr/>
          <a:lstStyle/>
          <a:p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Gigantism occurs when the child is still growing. </a:t>
            </a:r>
            <a:endParaRPr lang="en-AU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0513" y="2636912"/>
            <a:ext cx="1903358" cy="30647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745" y="3166480"/>
            <a:ext cx="3809671" cy="253516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5967007" y="1537138"/>
            <a:ext cx="3838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itchFamily="18" charset="2"/>
              <a:buChar char="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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ADAE"/>
              </a:buClr>
              <a:buSzPct val="75000"/>
              <a:buFont typeface="Wingdings 2" pitchFamily="18" charset="2"/>
              <a:buChar char="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C7B70"/>
              </a:buClr>
              <a:buSzPct val="70000"/>
              <a:buFont typeface="Wingdings" pitchFamily="2" charset="2"/>
              <a:buChar char="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D16349"/>
              </a:buClr>
            </a:pPr>
            <a:r>
              <a:rPr lang="en-US" sz="24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Acromegaly occurs after the epiphyseal plates have closed. </a:t>
            </a:r>
            <a:endParaRPr lang="en-AU" sz="2400" dirty="0">
              <a:solidFill>
                <a:srgbClr val="007298"/>
              </a:solidFill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61376" y="5813649"/>
            <a:ext cx="945902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AU" sz="2200" dirty="0" err="1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charset="0"/>
              </a:rPr>
              <a:t>Lanreotide</a:t>
            </a:r>
            <a:r>
              <a:rPr lang="en-AU" sz="2200" dirty="0">
                <a:solidFill>
                  <a:srgbClr val="007298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Arial" charset="0"/>
              </a:rPr>
              <a:t> is a synthetic analogue of somatostatin, a naturally occurring inhibitory hormone which blocks the release of growth hormone.</a:t>
            </a:r>
          </a:p>
        </p:txBody>
      </p:sp>
    </p:spTree>
    <p:extLst>
      <p:ext uri="{BB962C8B-B14F-4D97-AF65-F5344CB8AC3E}">
        <p14:creationId xmlns:p14="http://schemas.microsoft.com/office/powerpoint/2010/main" val="5823923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167" y="438145"/>
            <a:ext cx="11379200" cy="758825"/>
          </a:xfrm>
        </p:spPr>
        <p:txBody>
          <a:bodyPr/>
          <a:lstStyle/>
          <a:p>
            <a:r>
              <a:rPr lang="en-US" sz="4000" b="1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References</a:t>
            </a:r>
            <a:endParaRPr lang="en-AU" sz="4000" b="1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84140" y="1577682"/>
            <a:ext cx="9459024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Thibodeau GA, Patton KT: Anatomy and Physiology 3</a:t>
            </a:r>
            <a:r>
              <a:rPr lang="en-AU" sz="2800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rd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de. Mosby, St. Louis 1996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Patton KT, Thibodeau GA: Mosby’s Handbook of Anatomy and Physiology Mosby, St. Louis 2000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 err="1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E: Human Anatomy and Physiology, 5</a:t>
            </a:r>
            <a:r>
              <a:rPr lang="en-AU" sz="2800" baseline="300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San Francisco, 2001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800" dirty="0">
              <a:solidFill>
                <a:srgbClr val="007298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dirty="0">
                <a:solidFill>
                  <a:srgbClr val="00729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</p:txBody>
      </p:sp>
    </p:spTree>
    <p:extLst>
      <p:ext uri="{BB962C8B-B14F-4D97-AF65-F5344CB8AC3E}">
        <p14:creationId xmlns:p14="http://schemas.microsoft.com/office/powerpoint/2010/main" val="1005717894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2.xml><?xml version="1.0" encoding="utf-8"?>
<a:theme xmlns:a="http://schemas.openxmlformats.org/drawingml/2006/main" name="Chapter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3EEEE9FF-5942-D645-A70B-E7E7029D5987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1DFA15-2478-4864-BB2D-7A37A1FF84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1A14F2-C75E-41A5-AA4E-15195D8C500D}">
  <ds:schemaRefs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46a2430f-9ab9-4612-89ab-e74f08578de3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6A951B3-DB86-4A5C-9B2C-CF44326BDC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SCU PPT Template Final v2 - Copy</Template>
  <TotalTime>8193</TotalTime>
  <Words>1048</Words>
  <Application>Microsoft Office PowerPoint</Application>
  <PresentationFormat>Widescreen</PresentationFormat>
  <Paragraphs>174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42" baseType="lpstr">
      <vt:lpstr>Arial</vt:lpstr>
      <vt:lpstr>Arial Black</vt:lpstr>
      <vt:lpstr>Calibri</vt:lpstr>
      <vt:lpstr>Georgia</vt:lpstr>
      <vt:lpstr>Roboto</vt:lpstr>
      <vt:lpstr>Roboto Black</vt:lpstr>
      <vt:lpstr>Roboto Light</vt:lpstr>
      <vt:lpstr>Roboto Medium</vt:lpstr>
      <vt:lpstr>Times New Roman</vt:lpstr>
      <vt:lpstr>Verdana</vt:lpstr>
      <vt:lpstr>Wingdings</vt:lpstr>
      <vt:lpstr>Wingdings 2</vt:lpstr>
      <vt:lpstr>Opening Slide</vt:lpstr>
      <vt:lpstr>Chapter Slides</vt:lpstr>
      <vt:lpstr>Content Slides</vt:lpstr>
      <vt:lpstr>Civic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Hormonal Feedback </vt:lpstr>
      <vt:lpstr>PowerPoint Presentation</vt:lpstr>
      <vt:lpstr>PowerPoint Presentation</vt:lpstr>
      <vt:lpstr>PowerPoint Presentation</vt:lpstr>
      <vt:lpstr>Feedback used in the endocrine system</vt:lpstr>
      <vt:lpstr>The hypothalamus</vt:lpstr>
      <vt:lpstr>Pituitary </vt:lpstr>
      <vt:lpstr>PowerPoint Presentation</vt:lpstr>
      <vt:lpstr>PowerPoint Presentation</vt:lpstr>
      <vt:lpstr>ADH (vasopressin)</vt:lpstr>
      <vt:lpstr>ADH (vasopressin) replacement: Desmopressin</vt:lpstr>
      <vt:lpstr>PowerPoint Presentation</vt:lpstr>
      <vt:lpstr>Oxytocin </vt:lpstr>
      <vt:lpstr>PowerPoint Presentation</vt:lpstr>
      <vt:lpstr>PowerPoint Presentation</vt:lpstr>
      <vt:lpstr>PowerPoint Presentation</vt:lpstr>
      <vt:lpstr>Growth hormone excess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f</dc:creator>
  <cp:lastModifiedBy>Ken Wojcikowski</cp:lastModifiedBy>
  <cp:revision>151</cp:revision>
  <dcterms:created xsi:type="dcterms:W3CDTF">2017-08-04T08:55:49Z</dcterms:created>
  <dcterms:modified xsi:type="dcterms:W3CDTF">2023-02-23T19:38:33Z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