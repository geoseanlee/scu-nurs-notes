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6" r:id="rId6"/>
    <p:sldMasterId id="2147483680" r:id="rId7"/>
  </p:sldMasterIdLst>
  <p:notesMasterIdLst>
    <p:notesMasterId r:id="rId32"/>
  </p:notesMasterIdLst>
  <p:sldIdLst>
    <p:sldId id="776" r:id="rId8"/>
    <p:sldId id="777" r:id="rId9"/>
    <p:sldId id="801" r:id="rId10"/>
    <p:sldId id="527" r:id="rId11"/>
    <p:sldId id="807" r:id="rId12"/>
    <p:sldId id="805" r:id="rId13"/>
    <p:sldId id="703" r:id="rId14"/>
    <p:sldId id="795" r:id="rId15"/>
    <p:sldId id="704" r:id="rId16"/>
    <p:sldId id="705" r:id="rId17"/>
    <p:sldId id="803" r:id="rId18"/>
    <p:sldId id="706" r:id="rId19"/>
    <p:sldId id="707" r:id="rId20"/>
    <p:sldId id="804" r:id="rId21"/>
    <p:sldId id="779" r:id="rId22"/>
    <p:sldId id="709" r:id="rId23"/>
    <p:sldId id="806" r:id="rId24"/>
    <p:sldId id="780" r:id="rId25"/>
    <p:sldId id="711" r:id="rId26"/>
    <p:sldId id="781" r:id="rId27"/>
    <p:sldId id="782" r:id="rId28"/>
    <p:sldId id="783" r:id="rId29"/>
    <p:sldId id="715" r:id="rId30"/>
    <p:sldId id="8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98"/>
    <a:srgbClr val="4B2512"/>
    <a:srgbClr val="C16D48"/>
    <a:srgbClr val="EFD8E0"/>
    <a:srgbClr val="000000"/>
    <a:srgbClr val="F6E9EA"/>
    <a:srgbClr val="D7CAC4"/>
    <a:srgbClr val="00A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74" autoAdjust="0"/>
    <p:restoredTop sz="82002" autoAdjust="0"/>
  </p:normalViewPr>
  <p:slideViewPr>
    <p:cSldViewPr snapToGrid="0" snapToObjects="1">
      <p:cViewPr varScale="1">
        <p:scale>
          <a:sx n="73" d="100"/>
          <a:sy n="73" d="100"/>
        </p:scale>
        <p:origin x="754" y="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Wojcikowski" userId="3d9dd381-bb96-4ff2-a8e3-dc2a625deaa7" providerId="ADAL" clId="{7023A173-45D2-4027-B468-71C98544BFE5}"/>
  </pc:docChgLst>
  <pc:docChgLst>
    <pc:chgData name="Ken Wojcikowski" userId="3d9dd381-bb96-4ff2-a8e3-dc2a625deaa7" providerId="ADAL" clId="{2D22115C-FDE8-45E1-AE2C-160A1B119464}"/>
    <pc:docChg chg="modSld">
      <pc:chgData name="Ken Wojcikowski" userId="3d9dd381-bb96-4ff2-a8e3-dc2a625deaa7" providerId="ADAL" clId="{2D22115C-FDE8-45E1-AE2C-160A1B119464}" dt="2023-02-24T19:55:52.986" v="0" actId="20577"/>
      <pc:docMkLst>
        <pc:docMk/>
      </pc:docMkLst>
      <pc:sldChg chg="modNotesTx">
        <pc:chgData name="Ken Wojcikowski" userId="3d9dd381-bb96-4ff2-a8e3-dc2a625deaa7" providerId="ADAL" clId="{2D22115C-FDE8-45E1-AE2C-160A1B119464}" dt="2023-02-24T19:55:52.986" v="0" actId="20577"/>
        <pc:sldMkLst>
          <pc:docMk/>
          <pc:sldMk cId="2542475383" sldId="715"/>
        </pc:sldMkLst>
      </pc:sldChg>
    </pc:docChg>
  </pc:docChgLst>
  <pc:docChgLst>
    <pc:chgData name="Ken Wojcikowski" userId="3d9dd381-bb96-4ff2-a8e3-dc2a625deaa7" providerId="ADAL" clId="{8E88628A-6092-496B-BA83-79C16CF4BD9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8AFD-BCA5-0F40-B12A-03C02F08D0D2}" type="datetimeFigureOut">
              <a:rPr lang="en-US" smtClean="0"/>
              <a:t>2/25/2023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9FDE2-797B-454F-B658-773C4FF1F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2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AU" altLang="en-US" dirty="0"/>
          </a:p>
        </p:txBody>
      </p:sp>
      <p:sp>
        <p:nvSpPr>
          <p:cNvPr id="19763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7482" indent="-29903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96126" indent="-23922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74577" indent="-23922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53027" indent="-23922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31478" indent="-2392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109928" indent="-2392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88378" indent="-2392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66829" indent="-23922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F49C54-9EEA-414A-9BB4-00B3E2931536}" type="slidenum">
              <a:rPr kumimoji="0" lang="en-AU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58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7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2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11988800" y="3175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07434" y="241935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3945C-4688-42C5-9473-681910FE4739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91615F1-B4B7-4D80-A1B0-1505F0207D2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441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1FB32-4C2D-4912-9EFF-798261188EC6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13B6F-B5E3-4ABA-A980-ECC9F8F3315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9439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203200" y="2286000"/>
            <a:ext cx="11777133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207434" y="142875"/>
            <a:ext cx="11777133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2438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12DFA-AE55-41AD-A705-46237C11B599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FCFCC2C-E3E5-4345-8D28-38BCDBC5692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363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6083301" y="1576388"/>
            <a:ext cx="12700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1" y="6410326"/>
            <a:ext cx="40597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4DE70-B72B-47F0-B279-DC8472FCEF7F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40F89-6D29-4C2C-822B-9C415BE8119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606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6096000" y="2200276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2" name="Rectangle 11"/>
          <p:cNvSpPr/>
          <p:nvPr/>
        </p:nvSpPr>
        <p:spPr>
          <a:xfrm>
            <a:off x="203200" y="1371600"/>
            <a:ext cx="11777133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734" y="6391275"/>
            <a:ext cx="11777133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203200" y="1279525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Oval 16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BB37-476A-46B2-A08F-06A04B3AB6B9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10326"/>
            <a:ext cx="4775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989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44BD8E9-E0EE-463A-9F23-DDB791B879A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684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DE605-9A11-48C7-B0FF-01A146EF7C9A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6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8AEE4-18E2-42EF-8702-A5A71BA4281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962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3200" y="15875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FDDBB-B1A3-4381-927E-E7B423ED52D8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1"/>
            <a:ext cx="8128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927428E-EDBD-45A3-A872-B15A753C543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309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152400"/>
            <a:ext cx="11777133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1"/>
            <a:ext cx="12192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82FEEF3-1433-4F7B-83EB-4EE1DCF8C7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6A078-2379-4959-B9CA-F042C94784F5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02168" y="6410326"/>
            <a:ext cx="4510617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733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1"/>
            <a:ext cx="11777133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1C9BF-AD39-4F0C-8E2D-C96F98A5287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7717367" y="6405564"/>
            <a:ext cx="40597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291CE-D68F-44DD-B48A-48601FD1D31E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02168" y="6410326"/>
            <a:ext cx="477943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138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11063-2480-4D0E-8F5B-1899FE2A79F7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31C78-2BE9-4A50-A96B-5CA53055B2C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3375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6402388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18600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Oval 11"/>
          <p:cNvSpPr/>
          <p:nvPr/>
        </p:nvSpPr>
        <p:spPr>
          <a:xfrm>
            <a:off x="9245600" y="3021013"/>
            <a:ext cx="560917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220200" y="3009901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549A2-58FC-4B17-9780-2F2780A8D4B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6CD4C-CF45-4376-9F08-BA4FBE0F70E6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757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97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6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63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1FD6E8-5945-4864-8B40-D8FAEADCA392}" type="datetimeFigureOut">
              <a:rPr lang="en-AU"/>
              <a:pPr>
                <a:defRPr/>
              </a:pPr>
              <a:t>25/02/2023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350"/>
            <a:ext cx="11777133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Oval 14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39814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accent3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C1FDCA9-EE80-4B8B-8C7E-40986091ADA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402167" y="228601"/>
            <a:ext cx="11379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02167" y="1524000"/>
            <a:ext cx="113792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179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5380901"/>
            <a:ext cx="5504297" cy="495918"/>
          </a:xfrm>
        </p:spPr>
        <p:txBody>
          <a:bodyPr/>
          <a:lstStyle/>
          <a:p>
            <a:r>
              <a:rPr lang="en-AU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Ken Wojcikowski</a:t>
            </a:r>
          </a:p>
          <a:p>
            <a:r>
              <a:rPr lang="en-AU" sz="1600" dirty="0">
                <a:latin typeface="Roboto Black" panose="02000000000000000000" pitchFamily="2" charset="0"/>
                <a:ea typeface="Roboto Black" panose="02000000000000000000" pitchFamily="2" charset="0"/>
              </a:rPr>
              <a:t>PhD, Pharmacology, UQ School of Medicine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9" y="3159175"/>
            <a:ext cx="5238931" cy="573088"/>
          </a:xfrm>
        </p:spPr>
        <p:txBody>
          <a:bodyPr/>
          <a:lstStyle/>
          <a:p>
            <a:r>
              <a:rPr lang="en-AU" dirty="0"/>
              <a:t>The adrenal cortex: The stress axis 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486210"/>
            <a:ext cx="7224609" cy="573088"/>
          </a:xfrm>
        </p:spPr>
        <p:txBody>
          <a:bodyPr/>
          <a:lstStyle/>
          <a:p>
            <a:r>
              <a:rPr lang="en-AU" sz="4800" dirty="0"/>
              <a:t>The Endocrine System</a:t>
            </a:r>
          </a:p>
        </p:txBody>
      </p:sp>
    </p:spTree>
    <p:extLst>
      <p:ext uri="{BB962C8B-B14F-4D97-AF65-F5344CB8AC3E}">
        <p14:creationId xmlns:p14="http://schemas.microsoft.com/office/powerpoint/2010/main" val="296501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-40" t="109" r="231" b="428"/>
          <a:stretch/>
        </p:blipFill>
        <p:spPr>
          <a:xfrm>
            <a:off x="392291" y="394953"/>
            <a:ext cx="5284291" cy="4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6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b="1" dirty="0">
                <a:solidFill>
                  <a:srgbClr val="007298"/>
                </a:solidFill>
              </a:rPr>
              <a:t>Specific objectives</a:t>
            </a:r>
          </a:p>
        </p:txBody>
      </p:sp>
      <p:sp useBgFill="1"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79422" y="1210464"/>
            <a:ext cx="11501097" cy="4572000"/>
          </a:xfrm>
        </p:spPr>
        <p:txBody>
          <a:bodyPr/>
          <a:lstStyle/>
          <a:p>
            <a:pPr lvl="1"/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Name and explain the actions of the two types of steroidal hormones released from the adrenal </a:t>
            </a:r>
            <a:r>
              <a:rPr lang="en-AU" sz="24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cortex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(glucocorticoids and mineralocorticoids – the androgens are not as important so concentrate on the first two). </a:t>
            </a:r>
          </a:p>
          <a:p>
            <a:pPr lvl="1"/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Using hypoglycaemia as the stressor explain why the ‘hypothalamus &gt; anterior pituitary &gt; adrenal cortex’ axis is considered the stress axis (in other words, how does this axis help out in hypoglycaemia?) </a:t>
            </a:r>
          </a:p>
          <a:p>
            <a:pPr lvl="1"/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Using dehydration or hypovolemic shock as the stressor explain why the ‘hypothalamus &gt; anterior pituitary &gt; adrenal cortex’ axis is considered the stress axis (How does the adrenal gland help in times of dehydration?) Drugs to know: Spironolactone and </a:t>
            </a: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Fludrocortisone</a:t>
            </a:r>
            <a:endParaRPr lang="en-AU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lvl="1"/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Detail the physiological actions of the glucocorticoids. Give specific examples of the application of glucocorticoids in pharmacology, using specific drugs as examples (</a:t>
            </a:r>
            <a:r>
              <a:rPr lang="en-US" altLang="en-US" sz="1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Methylprednisolone, Prednisolone and Dexamethasone).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 List ten specific adverse effects of glucocorticoids.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3806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 The adrenal cortex: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1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Overview of the stress axis and mineralocorticoids</a:t>
            </a:r>
          </a:p>
        </p:txBody>
      </p:sp>
    </p:spTree>
    <p:extLst>
      <p:ext uri="{BB962C8B-B14F-4D97-AF65-F5344CB8AC3E}">
        <p14:creationId xmlns:p14="http://schemas.microsoft.com/office/powerpoint/2010/main" val="403411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992" y="403115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‘Corticosteroids’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315" y="2659509"/>
            <a:ext cx="4437743" cy="2497097"/>
          </a:xfrm>
        </p:spPr>
        <p:txBody>
          <a:bodyPr/>
          <a:lstStyle/>
          <a:p>
            <a:pPr marL="0" indent="0" algn="ctr" eaLnBrk="1" hangingPunct="1">
              <a:buNone/>
              <a:defRPr/>
            </a:pPr>
            <a:r>
              <a:rPr lang="en-US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Gluco</a:t>
            </a:r>
            <a:r>
              <a:rPr lang="en-US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corticoids</a:t>
            </a:r>
          </a:p>
          <a:p>
            <a:pPr marL="0" indent="0" algn="ctr" eaLnBrk="1" hangingPunct="1">
              <a:buNone/>
              <a:defRPr/>
            </a:pPr>
            <a:r>
              <a:rPr lang="en-US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Save </a:t>
            </a:r>
            <a:r>
              <a:rPr lang="en-US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glucose</a:t>
            </a:r>
          </a:p>
          <a:p>
            <a:pPr eaLnBrk="1" hangingPunct="1">
              <a:defRPr/>
            </a:pPr>
            <a:endParaRPr 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92745" y="5410237"/>
            <a:ext cx="10105694" cy="128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sz="22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Note: Androgens like testosterone are secreted by the adrenal cortex as well but they are never referred to as corticosteroids – they are sex hormones </a:t>
            </a:r>
          </a:p>
          <a:p>
            <a:pPr marL="274638" lvl="1" indent="0" eaLnBrk="1" hangingPunct="1">
              <a:buNone/>
              <a:defRPr/>
            </a:pPr>
            <a:endParaRPr lang="en-US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33215" y="1288756"/>
            <a:ext cx="10824754" cy="51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lvl="1" indent="0" algn="ctr" eaLnBrk="1" hangingPunct="1">
              <a:buNone/>
              <a:defRPr/>
            </a:pPr>
            <a:r>
              <a:rPr lang="en-US" sz="32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Steroidal hormones secreted by the adrenal cortex</a:t>
            </a:r>
          </a:p>
          <a:p>
            <a:pPr marL="274638" lvl="1" indent="0" algn="ctr" eaLnBrk="1" hangingPunct="1">
              <a:buNone/>
              <a:defRPr/>
            </a:pPr>
            <a:r>
              <a:rPr lang="en-US" sz="1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They include: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4B2F813-C081-4984-BD39-68CD1CE6A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3752" y="2659509"/>
            <a:ext cx="3788228" cy="59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lvl="1" indent="0" algn="ctr" eaLnBrk="1" hangingPunct="1">
              <a:buNone/>
              <a:defRPr/>
            </a:pPr>
            <a:r>
              <a:rPr lang="en-US" sz="2800" dirty="0">
                <a:solidFill>
                  <a:srgbClr val="7030A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Mineral</a:t>
            </a:r>
            <a:r>
              <a:rPr lang="en-US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ocorticoids</a:t>
            </a:r>
          </a:p>
          <a:p>
            <a:pPr marL="274638" lvl="1" indent="0" algn="ctr" eaLnBrk="1" hangingPunct="1">
              <a:buNone/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Save</a:t>
            </a:r>
            <a:r>
              <a:rPr lang="en-US" dirty="0">
                <a:solidFill>
                  <a:srgbClr val="7030A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salt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23DEAEA-9B8C-4A94-991D-E7341C060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745" y="4198492"/>
            <a:ext cx="9271547" cy="913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lvl="1" indent="0" algn="ctr" eaLnBrk="1" hangingPunct="1">
              <a:buNone/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NOTE: In clinic, you may refer to ‘corticosteroids’ as being synonymous with the pharmaceutical glucocorticoids like prednisone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C997BA-E78B-49AA-9485-2998D0DE480A}"/>
              </a:ext>
            </a:extLst>
          </p:cNvPr>
          <p:cNvCxnSpPr/>
          <p:nvPr/>
        </p:nvCxnSpPr>
        <p:spPr>
          <a:xfrm flipH="1">
            <a:off x="3911600" y="2167467"/>
            <a:ext cx="1934633" cy="492042"/>
          </a:xfrm>
          <a:prstGeom prst="straightConnector1">
            <a:avLst/>
          </a:prstGeom>
          <a:ln w="57150">
            <a:solidFill>
              <a:srgbClr val="0072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8E9D0C-9E25-45C2-B07C-60095523C791}"/>
              </a:ext>
            </a:extLst>
          </p:cNvPr>
          <p:cNvCxnSpPr>
            <a:cxnSpLocks/>
          </p:cNvCxnSpPr>
          <p:nvPr/>
        </p:nvCxnSpPr>
        <p:spPr>
          <a:xfrm>
            <a:off x="6663752" y="2167467"/>
            <a:ext cx="1587015" cy="492042"/>
          </a:xfrm>
          <a:prstGeom prst="straightConnector1">
            <a:avLst/>
          </a:prstGeom>
          <a:ln w="57150">
            <a:solidFill>
              <a:srgbClr val="0072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67662"/>
      </p:ext>
    </p:extLst>
  </p:cSld>
  <p:clrMapOvr>
    <a:masterClrMapping/>
  </p:clrMapOvr>
  <p:transition advTm="228182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376647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Overview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8457" y="1888636"/>
            <a:ext cx="7223760" cy="4572000"/>
          </a:xfrm>
        </p:spPr>
        <p:txBody>
          <a:bodyPr/>
          <a:lstStyle/>
          <a:p>
            <a:pPr marL="0" indent="0" algn="ctr" eaLnBrk="1" hangingPunct="1"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Corticosteroids</a:t>
            </a: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are steroidal hormones secreted by the adrenal cortex. They include: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Glucocorticoids </a:t>
            </a: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       and        Mineralocorticoids</a:t>
            </a:r>
          </a:p>
          <a:p>
            <a:pPr eaLnBrk="1" hangingPunct="1">
              <a:defRPr/>
            </a:pPr>
            <a:endParaRPr 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104174" y="2020698"/>
            <a:ext cx="378822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Anabolic steroids are testosterone and its ‘analogues’ (similar in structure)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 person would not say they are on anabolic steroids</a:t>
            </a:r>
          </a:p>
          <a:p>
            <a:pPr marL="274638" lvl="1" indent="0" eaLnBrk="1" hangingPunct="1">
              <a:buNone/>
              <a:defRPr/>
            </a:pPr>
            <a:endParaRPr lang="en-US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67648" y="1243767"/>
            <a:ext cx="10824754" cy="51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What is meant when a person says “I have had to be on steroids”?</a:t>
            </a:r>
          </a:p>
          <a:p>
            <a:pPr marL="274638" lvl="1" indent="0" eaLnBrk="1" hangingPunct="1">
              <a:buNone/>
              <a:defRPr/>
            </a:pP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5D2AD7-FFD8-4A1B-9314-741458A51CE2}"/>
              </a:ext>
            </a:extLst>
          </p:cNvPr>
          <p:cNvCxnSpPr/>
          <p:nvPr/>
        </p:nvCxnSpPr>
        <p:spPr>
          <a:xfrm>
            <a:off x="8564880" y="2020698"/>
            <a:ext cx="2570480" cy="2815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652971-00A5-48D1-A6A4-EF8D65C457DD}"/>
              </a:ext>
            </a:extLst>
          </p:cNvPr>
          <p:cNvCxnSpPr/>
          <p:nvPr/>
        </p:nvCxnSpPr>
        <p:spPr>
          <a:xfrm flipH="1">
            <a:off x="8564880" y="1851896"/>
            <a:ext cx="2570480" cy="3153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885696"/>
      </p:ext>
    </p:extLst>
  </p:cSld>
  <p:clrMapOvr>
    <a:masterClrMapping/>
  </p:clrMapOvr>
  <p:transition advTm="228182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376647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Overview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8457" y="1888636"/>
            <a:ext cx="7223760" cy="4572000"/>
          </a:xfrm>
        </p:spPr>
        <p:txBody>
          <a:bodyPr/>
          <a:lstStyle/>
          <a:p>
            <a:pPr marL="0" indent="0" algn="ctr" eaLnBrk="1" hangingPunct="1"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Corticosteroids</a:t>
            </a: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are steroidal hormones secreted by the adrenal cortex. They include: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Glucocorticoids </a:t>
            </a: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       and        Mineralocorticoids</a:t>
            </a:r>
          </a:p>
          <a:p>
            <a:pPr eaLnBrk="1" hangingPunct="1">
              <a:defRPr/>
            </a:pPr>
            <a:endParaRPr 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0" indent="0" algn="ctr" eaLnBrk="1" hangingPunct="1">
              <a:buNone/>
              <a:defRPr/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The glucocorticoids include cortisol, the major stress hormone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‘Glucocorticoids’ refers to cortisol and similar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‘Cortisol’ is the most abundant glucocorticoid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Prednisone and prednisolone are medications that act like cortisol </a:t>
            </a:r>
          </a:p>
          <a:p>
            <a:pPr lvl="1" eaLnBrk="1" hangingPunct="1">
              <a:defRPr/>
            </a:pPr>
            <a:r>
              <a:rPr lang="en-US" sz="19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Taken to decrease the immune system response (asthma, autoimmune disorders, organ transplant…)</a:t>
            </a:r>
            <a:endParaRPr lang="en-US" sz="19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104174" y="2020698"/>
            <a:ext cx="378822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Anabolic steroids are testosterone and its ‘analogues’ (similar in structure)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 person would not say they are on anabolic steroids</a:t>
            </a:r>
          </a:p>
          <a:p>
            <a:pPr marL="274638" lvl="1" indent="0" eaLnBrk="1" hangingPunct="1">
              <a:buNone/>
              <a:defRPr/>
            </a:pPr>
            <a:endParaRPr lang="en-US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67648" y="1243767"/>
            <a:ext cx="10824754" cy="51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What is meant when a person says “I have had to be on steroids”?</a:t>
            </a:r>
          </a:p>
          <a:p>
            <a:pPr marL="274638" lvl="1" indent="0" eaLnBrk="1" hangingPunct="1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69118"/>
      </p:ext>
    </p:extLst>
  </p:cSld>
  <p:clrMapOvr>
    <a:masterClrMapping/>
  </p:clrMapOvr>
  <p:transition advTm="228182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350521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Adrenal Glands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2167" y="1679448"/>
            <a:ext cx="4541705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Adrenal cortex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80% of an adrenal gland’s total weight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Synthesizes and releases steroid hormones called corticosteroids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Adrenal medulla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Innervated by the sympathetic and parasympathetic nervous systems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/>
          </a:p>
        </p:txBody>
      </p:sp>
      <p:pic>
        <p:nvPicPr>
          <p:cNvPr id="4" name="Picture 7" descr="npo0001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872" y="1679449"/>
            <a:ext cx="6143510" cy="3912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115011"/>
      </p:ext>
    </p:extLst>
  </p:cSld>
  <p:clrMapOvr>
    <a:masterClrMapping/>
  </p:clrMapOvr>
  <p:transition advTm="228182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5929314"/>
            <a:ext cx="9144000" cy="928687"/>
          </a:xfrm>
          <a:solidFill>
            <a:srgbClr val="FFFF00"/>
          </a:solidFill>
        </p:spPr>
        <p:txBody>
          <a:bodyPr/>
          <a:lstStyle/>
          <a:p>
            <a:pPr>
              <a:defRPr/>
            </a:pP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Glucocorticoids, mineral corticoids and noradrenaline are released from the adrenal gland in response to stress</a:t>
            </a:r>
          </a:p>
        </p:txBody>
      </p:sp>
      <p:pic>
        <p:nvPicPr>
          <p:cNvPr id="24579" name="Picture 10" descr="http://speakingoffaith.publicradio.org/programs/2008/stress/images/stressrespons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0"/>
            <a:ext cx="6715125" cy="60212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5030180" y="5301208"/>
            <a:ext cx="1080120" cy="464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rgbClr val="7B9899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AU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D2A0F-6525-403E-87FD-396350437838}"/>
              </a:ext>
            </a:extLst>
          </p:cNvPr>
          <p:cNvSpPr/>
          <p:nvPr/>
        </p:nvSpPr>
        <p:spPr>
          <a:xfrm>
            <a:off x="7305040" y="4978042"/>
            <a:ext cx="27838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Roberto </a:t>
            </a:r>
            <a:r>
              <a:rPr lang="en-AU" sz="14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Osti’s</a:t>
            </a:r>
            <a:r>
              <a:rPr lang="en-AU" sz="1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work portrayed </a:t>
            </a:r>
          </a:p>
          <a:p>
            <a:r>
              <a:rPr lang="en-AU" sz="1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 the  </a:t>
            </a:r>
            <a:r>
              <a:rPr lang="en-AU" sz="1400" i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Scientific American</a:t>
            </a:r>
            <a:endParaRPr lang="en-AU" sz="14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237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274321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How the stress axis works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CRH released from the hypothalamus in response to: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Hypoglycemia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Decreased circulating levels of glucocorticoids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Adrenocorticotropin hormone (ACTH) is released from the pituitary when stimulated by CRH, releasing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9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Glucocorticoids, 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9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Mineralocorticoids (salt savers)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9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Androgens  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…From the adrenal cortex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pic>
        <p:nvPicPr>
          <p:cNvPr id="16388" name="Picture 2" descr="http://www.fibromyalgia-treatment.com/wp-content/uploads/2013/04/Basic_HPA_Axis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3698876"/>
            <a:ext cx="4248150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6127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 The adrenal cortex: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2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Glucocorticoids</a:t>
            </a:r>
          </a:p>
        </p:txBody>
      </p:sp>
    </p:spTree>
    <p:extLst>
      <p:ext uri="{BB962C8B-B14F-4D97-AF65-F5344CB8AC3E}">
        <p14:creationId xmlns:p14="http://schemas.microsoft.com/office/powerpoint/2010/main" val="343929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56520" y="496105"/>
            <a:ext cx="85344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Effects of glucocorticoids </a:t>
            </a:r>
            <a:br>
              <a:rPr lang="en-US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(Mainly cortisol; a steroidal hormone)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7360" y="1600200"/>
            <a:ext cx="882396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Cortisol is essential in times of trauma and stress: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Affects glucose metabolism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Stimulates gluconeogenesis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Increases blood glucose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Stimulating tissues to use free fatty acids for energy instead of glucose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Stimulates protein breakdown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Inhibits protein syntheses in all body cells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Stimulates hunger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Promotes fat buildup in the trunk and facial regions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Increases the effects of catecholamines - increased heart rate / blood pressure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Inhibition of the immunity and inflammatory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Strong effect on emotional stability and mood</a:t>
            </a:r>
            <a:r>
              <a:rPr lang="en-US" altLang="en-US" sz="20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13371"/>
      </p:ext>
    </p:extLst>
  </p:cSld>
  <p:clrMapOvr>
    <a:masterClrMapping/>
  </p:clrMapOvr>
  <p:transition advTm="371207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6" y="-100013"/>
            <a:ext cx="5122863" cy="1139826"/>
          </a:xfrm>
        </p:spPr>
        <p:txBody>
          <a:bodyPr/>
          <a:lstStyle/>
          <a:p>
            <a:pPr eaLnBrk="1" hangingPunct="1">
              <a:defRPr/>
            </a:pPr>
            <a:endParaRPr lang="en-US" sz="4400" dirty="0"/>
          </a:p>
        </p:txBody>
      </p:sp>
      <p:pic>
        <p:nvPicPr>
          <p:cNvPr id="18435" name="Picture 9" descr="npo0000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44451"/>
            <a:ext cx="6697663" cy="912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2"/>
          <p:cNvSpPr txBox="1">
            <a:spLocks noChangeArrowheads="1"/>
          </p:cNvSpPr>
          <p:nvPr/>
        </p:nvSpPr>
        <p:spPr bwMode="auto">
          <a:xfrm>
            <a:off x="1487488" y="0"/>
            <a:ext cx="1439863" cy="7029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Georgia" pitchFamily="18" charset="0"/>
              </a:defRPr>
            </a:lvl1pPr>
            <a:lvl2pPr marL="547688" indent="-2730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>
                <a:solidFill>
                  <a:schemeClr val="tx2"/>
                </a:solidFill>
                <a:latin typeface="Georgia" pitchFamily="18" charset="0"/>
              </a:defRPr>
            </a:lvl2pPr>
            <a:lvl3pPr marL="822325" indent="-228600" eaLnBrk="0" hangingPunct="0">
              <a:spcBef>
                <a:spcPct val="20000"/>
              </a:spcBef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Georgia" pitchFamily="18" charset="0"/>
              </a:defRPr>
            </a:lvl3pPr>
            <a:lvl4pPr marL="1096963" indent="-228600" eaLnBrk="0" hangingPunct="0">
              <a:spcBef>
                <a:spcPct val="20000"/>
              </a:spcBef>
              <a:buClr>
                <a:srgbClr val="8C7B70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Georgia" pitchFamily="18" charset="0"/>
              </a:defRPr>
            </a:lvl4pPr>
            <a:lvl5pPr marL="1371600" indent="-228600" eaLnBrk="0" hangingPunct="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b="1">
              <a:solidFill>
                <a:srgbClr val="7B9899"/>
              </a:solidFill>
              <a:cs typeface="Arial" charset="0"/>
            </a:endParaRPr>
          </a:p>
        </p:txBody>
      </p:sp>
      <p:sp>
        <p:nvSpPr>
          <p:cNvPr id="18437" name="Rectangle 2"/>
          <p:cNvSpPr txBox="1">
            <a:spLocks noChangeArrowheads="1"/>
          </p:cNvSpPr>
          <p:nvPr/>
        </p:nvSpPr>
        <p:spPr bwMode="auto">
          <a:xfrm>
            <a:off x="9625014" y="44450"/>
            <a:ext cx="935037" cy="7029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Georgia" pitchFamily="18" charset="0"/>
              </a:defRPr>
            </a:lvl1pPr>
            <a:lvl2pPr marL="547688" indent="-2730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>
                <a:solidFill>
                  <a:schemeClr val="tx2"/>
                </a:solidFill>
                <a:latin typeface="Georgia" pitchFamily="18" charset="0"/>
              </a:defRPr>
            </a:lvl2pPr>
            <a:lvl3pPr marL="822325" indent="-228600" eaLnBrk="0" hangingPunct="0">
              <a:spcBef>
                <a:spcPct val="20000"/>
              </a:spcBef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Georgia" pitchFamily="18" charset="0"/>
              </a:defRPr>
            </a:lvl3pPr>
            <a:lvl4pPr marL="1096963" indent="-228600" eaLnBrk="0" hangingPunct="0">
              <a:spcBef>
                <a:spcPct val="20000"/>
              </a:spcBef>
              <a:buClr>
                <a:srgbClr val="8C7B70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Georgia" pitchFamily="18" charset="0"/>
              </a:defRPr>
            </a:lvl4pPr>
            <a:lvl5pPr marL="1371600" indent="-228600" eaLnBrk="0" hangingPunct="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b="1">
              <a:solidFill>
                <a:srgbClr val="7B9899"/>
              </a:solidFill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F711C6-966A-4582-80C5-07185BDED9F5}"/>
              </a:ext>
            </a:extLst>
          </p:cNvPr>
          <p:cNvSpPr/>
          <p:nvPr/>
        </p:nvSpPr>
        <p:spPr>
          <a:xfrm>
            <a:off x="8233094" y="6115962"/>
            <a:ext cx="2783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Mosby, 2006</a:t>
            </a:r>
          </a:p>
        </p:txBody>
      </p:sp>
    </p:spTree>
    <p:extLst>
      <p:ext uri="{BB962C8B-B14F-4D97-AF65-F5344CB8AC3E}">
        <p14:creationId xmlns:p14="http://schemas.microsoft.com/office/powerpoint/2010/main" val="103772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 The adrenal cortex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3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the side effects of corticosteroids</a:t>
            </a:r>
          </a:p>
        </p:txBody>
      </p:sp>
    </p:spTree>
    <p:extLst>
      <p:ext uri="{BB962C8B-B14F-4D97-AF65-F5344CB8AC3E}">
        <p14:creationId xmlns:p14="http://schemas.microsoft.com/office/powerpoint/2010/main" val="2489398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4920" y="706347"/>
            <a:ext cx="6558183" cy="1676805"/>
          </a:xfrm>
        </p:spPr>
        <p:txBody>
          <a:bodyPr/>
          <a:lstStyle/>
          <a:p>
            <a:pPr algn="ctr"/>
            <a:r>
              <a:rPr lang="en-AU" sz="4000" dirty="0"/>
              <a:t>Alterations in adrenal function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792480" y="2337138"/>
            <a:ext cx="83515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Disorders of the adrenal cortex</a:t>
            </a:r>
          </a:p>
          <a:p>
            <a:pPr lvl="1"/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Cushing disease</a:t>
            </a:r>
          </a:p>
          <a:p>
            <a:pPr lvl="2"/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Excessive anterior pituitary secretion of ACTH</a:t>
            </a:r>
          </a:p>
          <a:p>
            <a:pPr lvl="1"/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Cushing syndrome</a:t>
            </a:r>
          </a:p>
          <a:p>
            <a:pPr lvl="2"/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Excessive level of cortisol, regardless of cause</a:t>
            </a:r>
          </a:p>
          <a:p>
            <a:pPr lvl="2"/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Iatrogenic Cushing’s syndrome can occur with corticosteroid treatment</a:t>
            </a:r>
          </a:p>
        </p:txBody>
      </p:sp>
    </p:spTree>
    <p:extLst>
      <p:ext uri="{BB962C8B-B14F-4D97-AF65-F5344CB8AC3E}">
        <p14:creationId xmlns:p14="http://schemas.microsoft.com/office/powerpoint/2010/main" val="315092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-1714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</a:rPr>
              <a:t>Clinical manifestations of Cushing’s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720" y="1628775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Altered fat metabolism leading to fat pads on the back, moon face, protruding abdomen with thin extremities, stretch marks on breasts, thighs, and abdominal surface.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Muscle weakness from protein breakdown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Hypertension as a result of increased catecholamine responsiveness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Weight gain resulting from strong appetite stimulation.  Because of effects on hepatic gluconeogenesis, a reversible form of diabetes mellitus may result.</a:t>
            </a:r>
            <a:endParaRPr lang="en-US" altLang="en-US" sz="28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Inhibition of immune and inflammatory reactions</a:t>
            </a: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, leading to poor wound healing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698B1-A12C-41AF-871D-B51A31B94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111" r="46020"/>
          <a:stretch/>
        </p:blipFill>
        <p:spPr>
          <a:xfrm>
            <a:off x="8981441" y="891101"/>
            <a:ext cx="3210560" cy="6129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61066E-29F5-4338-84EE-35A6AD38FF5F}"/>
              </a:ext>
            </a:extLst>
          </p:cNvPr>
          <p:cNvSpPr/>
          <p:nvPr/>
        </p:nvSpPr>
        <p:spPr>
          <a:xfrm>
            <a:off x="8981440" y="6488668"/>
            <a:ext cx="2783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Shutterstock image</a:t>
            </a:r>
          </a:p>
        </p:txBody>
      </p:sp>
    </p:spTree>
    <p:extLst>
      <p:ext uri="{BB962C8B-B14F-4D97-AF65-F5344CB8AC3E}">
        <p14:creationId xmlns:p14="http://schemas.microsoft.com/office/powerpoint/2010/main" val="1500676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7425" y="185893"/>
            <a:ext cx="8769901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298"/>
                </a:solidFill>
              </a:rPr>
              <a:t>Long term side effects of corticosteroids</a:t>
            </a:r>
            <a:br>
              <a:rPr lang="en-US" sz="4000" b="1" dirty="0">
                <a:solidFill>
                  <a:srgbClr val="007298"/>
                </a:solidFill>
              </a:rPr>
            </a:br>
            <a:r>
              <a:rPr lang="en-US" sz="4000" b="1" dirty="0">
                <a:solidFill>
                  <a:srgbClr val="007298"/>
                </a:solidFill>
              </a:rPr>
              <a:t>are the same as Cushing’s syndrome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720" y="1628775"/>
            <a:ext cx="8229600" cy="63373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Altered fat metabolism leading to fat pads on the back, moon face, protruding abdomen with thin extremities, stretch marks on breasts, thighs, and abdominal surface.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Muscle weakness from protein breakdown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Hypertension as a result of increased catecholamine responsiveness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Weight gain resulting from strong appetite stimulation.  Because of effects on hepatic gluconeogenesis, a reversible form of diabetes mellitus may result.</a:t>
            </a:r>
            <a:endParaRPr lang="en-US" altLang="en-US" sz="28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Inhibition of immune and inflammatory reactions</a:t>
            </a:r>
            <a:r>
              <a:rPr lang="en-US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, leading to poor wound healing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698B1-A12C-41AF-871D-B51A31B94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111" r="46020"/>
          <a:stretch/>
        </p:blipFill>
        <p:spPr>
          <a:xfrm>
            <a:off x="8981441" y="891101"/>
            <a:ext cx="3210560" cy="6129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61066E-29F5-4338-84EE-35A6AD38FF5F}"/>
              </a:ext>
            </a:extLst>
          </p:cNvPr>
          <p:cNvSpPr/>
          <p:nvPr/>
        </p:nvSpPr>
        <p:spPr>
          <a:xfrm>
            <a:off x="8981440" y="6488668"/>
            <a:ext cx="2783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Shutterstock image</a:t>
            </a:r>
          </a:p>
        </p:txBody>
      </p:sp>
    </p:spTree>
    <p:extLst>
      <p:ext uri="{BB962C8B-B14F-4D97-AF65-F5344CB8AC3E}">
        <p14:creationId xmlns:p14="http://schemas.microsoft.com/office/powerpoint/2010/main" val="2484999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4920" y="706347"/>
            <a:ext cx="6558183" cy="1152933"/>
          </a:xfrm>
        </p:spPr>
        <p:txBody>
          <a:bodyPr/>
          <a:lstStyle/>
          <a:p>
            <a:pPr algn="ctr"/>
            <a:r>
              <a:rPr lang="en-US" sz="3600" dirty="0"/>
              <a:t>Adrenal dysfunction after long term corticosteroid treatment</a:t>
            </a:r>
            <a:endParaRPr lang="en-AU" sz="3600" dirty="0"/>
          </a:p>
        </p:txBody>
      </p:sp>
      <p:sp>
        <p:nvSpPr>
          <p:cNvPr id="2" name="Rectangle 1"/>
          <p:cNvSpPr/>
          <p:nvPr/>
        </p:nvSpPr>
        <p:spPr>
          <a:xfrm>
            <a:off x="574920" y="2337138"/>
            <a:ext cx="83515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Secondary adrenal insufficiency - hypopituitarism / hypothalamic dysfunction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ACTH is not released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Lack of mostly glucocorticoids, but possibly also androgens and mineralocorticoids  </a:t>
            </a:r>
          </a:p>
          <a:p>
            <a:pPr>
              <a:defRPr/>
            </a:pPr>
            <a:endParaRPr lang="en-US" sz="28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algn="ctr">
              <a:defRPr/>
            </a:pPr>
            <a:r>
              <a:rPr 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This can occur if cortisol treatment is withdrawn suddenly</a:t>
            </a:r>
          </a:p>
        </p:txBody>
      </p:sp>
    </p:spTree>
    <p:extLst>
      <p:ext uri="{BB962C8B-B14F-4D97-AF65-F5344CB8AC3E}">
        <p14:creationId xmlns:p14="http://schemas.microsoft.com/office/powerpoint/2010/main" val="225549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endParaRPr lang="en-AU" altLang="en-US"/>
          </a:p>
        </p:txBody>
      </p:sp>
      <p:pic>
        <p:nvPicPr>
          <p:cNvPr id="22532" name="Picture 2" descr="http://www.fibromyalgia-treatment.com/wp-content/uploads/2013/04/Basic_HPA_Axi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-171450"/>
            <a:ext cx="9601200" cy="720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5695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4920" y="873987"/>
            <a:ext cx="6831720" cy="1152933"/>
          </a:xfrm>
        </p:spPr>
        <p:txBody>
          <a:bodyPr/>
          <a:lstStyle/>
          <a:p>
            <a:pPr algn="ctr"/>
            <a:r>
              <a:rPr lang="en-US" sz="3600" dirty="0"/>
              <a:t>Clinical manifestations of </a:t>
            </a:r>
            <a:br>
              <a:rPr lang="en-US" sz="3600" dirty="0"/>
            </a:br>
            <a:r>
              <a:rPr lang="en-US" sz="3600" dirty="0"/>
              <a:t>secondary adrenal insufficiency</a:t>
            </a:r>
            <a:endParaRPr lang="en-AU" sz="3600" dirty="0"/>
          </a:p>
        </p:txBody>
      </p:sp>
      <p:sp>
        <p:nvSpPr>
          <p:cNvPr id="2" name="Rectangle 1"/>
          <p:cNvSpPr/>
          <p:nvPr/>
        </p:nvSpPr>
        <p:spPr>
          <a:xfrm>
            <a:off x="574920" y="2428578"/>
            <a:ext cx="835152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Following sudden withdrawal from corticosteroid treatment, the client may experience:</a:t>
            </a:r>
          </a:p>
          <a:p>
            <a:pPr>
              <a:lnSpc>
                <a:spcPct val="80000"/>
              </a:lnSpc>
              <a:defRPr/>
            </a:pPr>
            <a:endParaRPr 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Depression 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3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(because cortisol levels influence mood and emotions)</a:t>
            </a:r>
          </a:p>
          <a:p>
            <a:pPr lvl="1">
              <a:lnSpc>
                <a:spcPct val="80000"/>
              </a:lnSpc>
              <a:defRPr/>
            </a:pPr>
            <a:endParaRPr lang="en-US" sz="23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Fatigue, 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3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(related to hypoglycemia, and decreased gluconeogenesis)</a:t>
            </a:r>
          </a:p>
          <a:p>
            <a:pPr lvl="1">
              <a:lnSpc>
                <a:spcPct val="80000"/>
              </a:lnSpc>
              <a:defRPr/>
            </a:pPr>
            <a:endParaRPr lang="en-US" sz="23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Anorexia, vomiting, diarrhea, and nausea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Inability to respond to stressful situations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3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(perhaps leading to severe hypotension and shock)</a:t>
            </a:r>
          </a:p>
        </p:txBody>
      </p:sp>
    </p:spTree>
    <p:extLst>
      <p:ext uri="{BB962C8B-B14F-4D97-AF65-F5344CB8AC3E}">
        <p14:creationId xmlns:p14="http://schemas.microsoft.com/office/powerpoint/2010/main" val="293465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4920" y="873987"/>
            <a:ext cx="6831720" cy="1152933"/>
          </a:xfrm>
        </p:spPr>
        <p:txBody>
          <a:bodyPr/>
          <a:lstStyle/>
          <a:p>
            <a:pPr algn="ctr"/>
            <a:r>
              <a:rPr lang="en-US" sz="3600" dirty="0"/>
              <a:t>Specific glucocorticoid medications</a:t>
            </a:r>
            <a:endParaRPr lang="en-AU" sz="3600" dirty="0"/>
          </a:p>
        </p:txBody>
      </p:sp>
      <p:sp>
        <p:nvSpPr>
          <p:cNvPr id="2" name="Rectangle 1"/>
          <p:cNvSpPr/>
          <p:nvPr/>
        </p:nvSpPr>
        <p:spPr>
          <a:xfrm>
            <a:off x="574920" y="2428578"/>
            <a:ext cx="83515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Prednisolone</a:t>
            </a: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is a synthetic  derivative of cortisol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Used to treat inflammatory and auto-immune system conditions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Active metabolite of </a:t>
            </a:r>
            <a:r>
              <a:rPr lang="en-AU" altLang="en-US" sz="28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prednisone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Used with people who cannot metabolise prednisone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Liver failure</a:t>
            </a:r>
          </a:p>
        </p:txBody>
      </p:sp>
    </p:spTree>
    <p:extLst>
      <p:ext uri="{BB962C8B-B14F-4D97-AF65-F5344CB8AC3E}">
        <p14:creationId xmlns:p14="http://schemas.microsoft.com/office/powerpoint/2010/main" val="3473362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4920" y="1229925"/>
            <a:ext cx="6831720" cy="1152933"/>
          </a:xfrm>
        </p:spPr>
        <p:txBody>
          <a:bodyPr/>
          <a:lstStyle/>
          <a:p>
            <a:pPr algn="ctr"/>
            <a:r>
              <a:rPr lang="en-US" sz="3600" dirty="0"/>
              <a:t>Adrenal cortex </a:t>
            </a:r>
            <a:r>
              <a:rPr lang="en-US" sz="3600" u="sng" dirty="0"/>
              <a:t>ant</a:t>
            </a:r>
            <a:r>
              <a:rPr lang="en-US" sz="3600" dirty="0"/>
              <a:t>agonists</a:t>
            </a:r>
            <a:endParaRPr lang="en-AU" sz="3600" dirty="0"/>
          </a:p>
        </p:txBody>
      </p:sp>
      <p:sp>
        <p:nvSpPr>
          <p:cNvPr id="2" name="Rectangle 1"/>
          <p:cNvSpPr/>
          <p:nvPr/>
        </p:nvSpPr>
        <p:spPr>
          <a:xfrm>
            <a:off x="574920" y="2428578"/>
            <a:ext cx="76394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Spironolactone</a:t>
            </a:r>
          </a:p>
          <a:p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Antagonist to the mineralocorticoid aldosterone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Anti-salt saver (a diuretic)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AU" altLang="en-US" sz="28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(to be discussed at a later time)</a:t>
            </a:r>
          </a:p>
        </p:txBody>
      </p:sp>
    </p:spTree>
    <p:extLst>
      <p:ext uri="{BB962C8B-B14F-4D97-AF65-F5344CB8AC3E}">
        <p14:creationId xmlns:p14="http://schemas.microsoft.com/office/powerpoint/2010/main" val="3618524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713948" y="346697"/>
            <a:ext cx="10910155" cy="77946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Review: Adrenocortical hormones and their effects</a:t>
            </a:r>
            <a:endParaRPr lang="en-AU" altLang="en-US" sz="36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979613" y="1409701"/>
            <a:ext cx="4037012" cy="4899025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Hormone</a:t>
            </a:r>
          </a:p>
          <a:p>
            <a:pPr eaLnBrk="1" hangingPunct="1"/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Mineralocorticoids</a:t>
            </a:r>
          </a:p>
          <a:p>
            <a:pPr lvl="1" eaLnBrk="1" hangingPunct="1"/>
            <a:r>
              <a:rPr lang="en-US" altLang="en-US" sz="20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Aldosterone.</a:t>
            </a:r>
          </a:p>
          <a:p>
            <a:pPr lvl="2" eaLnBrk="1" hangingPunct="1"/>
            <a:r>
              <a:rPr lang="en-US" altLang="en-US" sz="1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Fludrocortisone</a:t>
            </a:r>
          </a:p>
          <a:p>
            <a:pPr lvl="1" eaLnBrk="1" hangingPunct="1"/>
            <a:r>
              <a:rPr lang="en-US" altLang="en-US" sz="20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Aldosterone antagonist</a:t>
            </a:r>
          </a:p>
          <a:p>
            <a:pPr lvl="2" eaLnBrk="1" hangingPunct="1"/>
            <a:r>
              <a:rPr lang="en-US" altLang="en-US" sz="1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Spironolactone</a:t>
            </a:r>
          </a:p>
          <a:p>
            <a:pPr lvl="2" eaLnBrk="1" hangingPunct="1"/>
            <a:endParaRPr lang="en-US" altLang="en-US" sz="2400" i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eaLnBrk="1" hangingPunct="1"/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Glucocorticoids</a:t>
            </a:r>
          </a:p>
          <a:p>
            <a:pPr lvl="1" eaLnBrk="1" hangingPunct="1"/>
            <a:r>
              <a:rPr lang="en-US" altLang="en-US" sz="20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Cortisone, hydrocortisone</a:t>
            </a:r>
          </a:p>
          <a:p>
            <a:pPr lvl="2" eaLnBrk="1" hangingPunct="1"/>
            <a:r>
              <a:rPr lang="en-US" altLang="en-US" sz="1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Methylprednisolone</a:t>
            </a:r>
          </a:p>
          <a:p>
            <a:pPr lvl="2" eaLnBrk="1" hangingPunct="1"/>
            <a:r>
              <a:rPr lang="en-US" altLang="en-US" sz="1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Prednisolone</a:t>
            </a:r>
          </a:p>
          <a:p>
            <a:pPr lvl="2" eaLnBrk="1" hangingPunct="1"/>
            <a:r>
              <a:rPr lang="en-US" altLang="en-US" sz="16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Dexamethasone</a:t>
            </a:r>
          </a:p>
          <a:p>
            <a:pPr lvl="2" eaLnBrk="1" hangingPunct="1"/>
            <a:endParaRPr lang="en-US" altLang="en-US" sz="1600" i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lvl="2" eaLnBrk="1" hangingPunct="1"/>
            <a:endParaRPr lang="en-AU" altLang="en-US" sz="1600" i="1" dirty="0"/>
          </a:p>
        </p:txBody>
      </p:sp>
      <p:sp>
        <p:nvSpPr>
          <p:cNvPr id="2662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6169026" y="1409701"/>
            <a:ext cx="4037013" cy="4899025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Effect</a:t>
            </a:r>
          </a:p>
          <a:p>
            <a:pPr eaLnBrk="1" hangingPunct="1"/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Sodium and water retention</a:t>
            </a:r>
          </a:p>
          <a:p>
            <a:pPr eaLnBrk="1" hangingPunct="1"/>
            <a:endParaRPr lang="en-US" alt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eaLnBrk="1" hangingPunct="1"/>
            <a:endParaRPr lang="en-US" alt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eaLnBrk="1" hangingPunct="1"/>
            <a:endParaRPr lang="en-US" alt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eaLnBrk="1" hangingPunct="1"/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Increase blood glucose</a:t>
            </a:r>
          </a:p>
          <a:p>
            <a:pPr eaLnBrk="1" hangingPunct="1"/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Regulate immune/inflammatory response</a:t>
            </a:r>
          </a:p>
          <a:p>
            <a:pPr eaLnBrk="1" hangingPunct="1"/>
            <a:r>
              <a:rPr lang="en-US" alt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Stimulate protein catabolism</a:t>
            </a:r>
            <a:endParaRPr lang="en-AU" alt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475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883920" y="1730375"/>
            <a:ext cx="9853771" cy="4572000"/>
          </a:xfrm>
        </p:spPr>
        <p:txBody>
          <a:bodyPr/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Thibodeau GA, Patton KT: Anatomy and Physiology 5</a:t>
            </a:r>
            <a:r>
              <a:rPr lang="en-AU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Mosby, St. Louis 2003</a:t>
            </a:r>
          </a:p>
          <a:p>
            <a:r>
              <a:rPr lang="en-AU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Osti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R: The Scientific American https://www.scientificamerican.com/article/illustrations-of-roberto-osti/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Patton KT, Thibodeau GA: Mosby’s Handbook of Anatomy and Physiology Mosby, St. Louis 2006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pPr marL="0" indent="0">
              <a:buNone/>
            </a:pPr>
            <a:endParaRPr lang="en-AU" dirty="0"/>
          </a:p>
          <a:p>
            <a:endParaRPr lang="en-AU" alt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F8DCE6-CABC-46F4-98E1-72A3CB2385A7}"/>
              </a:ext>
            </a:extLst>
          </p:cNvPr>
          <p:cNvSpPr txBox="1">
            <a:spLocks/>
          </p:cNvSpPr>
          <p:nvPr/>
        </p:nvSpPr>
        <p:spPr>
          <a:xfrm>
            <a:off x="2680140" y="647631"/>
            <a:ext cx="6831720" cy="734130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4000" b="1" dirty="0">
                <a:solidFill>
                  <a:srgbClr val="007298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88583878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2.xml><?xml version="1.0" encoding="utf-8"?>
<a:theme xmlns:a="http://schemas.openxmlformats.org/drawingml/2006/main" name="Chapte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3EEEE9FF-5942-D645-A70B-E7E7029D5987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D15BFA-4B11-4264-9365-05AEEFC404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82C6A9-C23E-489E-9ACB-7530B94F82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4FB9A7-6DB6-483D-B773-CC54AD0A6BCA}">
  <ds:schemaRefs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46a2430f-9ab9-4612-89ab-e74f08578de3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SCU PPT Template Final v2 - Copy</Template>
  <TotalTime>9144</TotalTime>
  <Words>1145</Words>
  <Application>Microsoft Office PowerPoint</Application>
  <PresentationFormat>Widescreen</PresentationFormat>
  <Paragraphs>165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Arial</vt:lpstr>
      <vt:lpstr>Calibri</vt:lpstr>
      <vt:lpstr>Georgia</vt:lpstr>
      <vt:lpstr>Roboto</vt:lpstr>
      <vt:lpstr>Roboto Black</vt:lpstr>
      <vt:lpstr>Roboto Light</vt:lpstr>
      <vt:lpstr>Roboto Medium</vt:lpstr>
      <vt:lpstr>Wingdings</vt:lpstr>
      <vt:lpstr>Wingdings 2</vt:lpstr>
      <vt:lpstr>Opening Slide</vt:lpstr>
      <vt:lpstr>Chapter Slides</vt:lpstr>
      <vt:lpstr>Content Slides</vt:lpstr>
      <vt:lpstr>Civic</vt:lpstr>
      <vt:lpstr>PowerPoint Presentation</vt:lpstr>
      <vt:lpstr>PowerPoint Presentation</vt:lpstr>
      <vt:lpstr>Specific objectives</vt:lpstr>
      <vt:lpstr>PowerPoint Presentation</vt:lpstr>
      <vt:lpstr>‘Corticosteroids’</vt:lpstr>
      <vt:lpstr>Overview</vt:lpstr>
      <vt:lpstr>Overview</vt:lpstr>
      <vt:lpstr>Adrenal Glands</vt:lpstr>
      <vt:lpstr>Glucocorticoids, mineral corticoids and noradrenaline are released from the adrenal gland in response to stress</vt:lpstr>
      <vt:lpstr>How the stress axis works</vt:lpstr>
      <vt:lpstr>PowerPoint Presentation</vt:lpstr>
      <vt:lpstr>Effects of glucocorticoids  (Mainly cortisol; a steroidal hormone)</vt:lpstr>
      <vt:lpstr>PowerPoint Presentation</vt:lpstr>
      <vt:lpstr>PowerPoint Presentation</vt:lpstr>
      <vt:lpstr>PowerPoint Presentation</vt:lpstr>
      <vt:lpstr>Clinical manifestations of Cushing’s </vt:lpstr>
      <vt:lpstr>Long term side effects of corticosteroids are the same as Cushing’s syndrome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Review: Adrenocortical hormones and their effects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f</dc:creator>
  <cp:lastModifiedBy>Ken Wojcikowski</cp:lastModifiedBy>
  <cp:revision>155</cp:revision>
  <dcterms:created xsi:type="dcterms:W3CDTF">2017-08-04T08:55:49Z</dcterms:created>
  <dcterms:modified xsi:type="dcterms:W3CDTF">2023-02-24T19:56:17Z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