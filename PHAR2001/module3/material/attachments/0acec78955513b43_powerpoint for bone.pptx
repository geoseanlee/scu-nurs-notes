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6" r:id="rId6"/>
    <p:sldMasterId id="2147483680" r:id="rId7"/>
  </p:sldMasterIdLst>
  <p:notesMasterIdLst>
    <p:notesMasterId r:id="rId32"/>
  </p:notesMasterIdLst>
  <p:sldIdLst>
    <p:sldId id="784" r:id="rId8"/>
    <p:sldId id="785" r:id="rId9"/>
    <p:sldId id="788" r:id="rId10"/>
    <p:sldId id="444" r:id="rId11"/>
    <p:sldId id="748" r:id="rId12"/>
    <p:sldId id="749" r:id="rId13"/>
    <p:sldId id="750" r:id="rId14"/>
    <p:sldId id="797" r:id="rId15"/>
    <p:sldId id="751" r:id="rId16"/>
    <p:sldId id="752" r:id="rId17"/>
    <p:sldId id="753" r:id="rId18"/>
    <p:sldId id="789" r:id="rId19"/>
    <p:sldId id="790" r:id="rId20"/>
    <p:sldId id="754" r:id="rId21"/>
    <p:sldId id="791" r:id="rId22"/>
    <p:sldId id="756" r:id="rId23"/>
    <p:sldId id="792" r:id="rId24"/>
    <p:sldId id="798" r:id="rId25"/>
    <p:sldId id="793" r:id="rId26"/>
    <p:sldId id="794" r:id="rId27"/>
    <p:sldId id="760" r:id="rId28"/>
    <p:sldId id="796" r:id="rId29"/>
    <p:sldId id="761" r:id="rId30"/>
    <p:sldId id="76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98"/>
    <a:srgbClr val="4B2512"/>
    <a:srgbClr val="C16D48"/>
    <a:srgbClr val="EFD8E0"/>
    <a:srgbClr val="000000"/>
    <a:srgbClr val="F6E9EA"/>
    <a:srgbClr val="D7CAC4"/>
    <a:srgbClr val="00A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4" autoAdjust="0"/>
    <p:restoredTop sz="92979" autoAdjust="0"/>
  </p:normalViewPr>
  <p:slideViewPr>
    <p:cSldViewPr snapToGrid="0" snapToObjects="1">
      <p:cViewPr varScale="1">
        <p:scale>
          <a:sx n="83" d="100"/>
          <a:sy n="83" d="100"/>
        </p:scale>
        <p:origin x="370" y="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7023A173-45D2-4027-B468-71C98544BFE5}"/>
    <pc:docChg chg="delSld">
      <pc:chgData name="Ken Wojcikowski" userId="3d9dd381-bb96-4ff2-a8e3-dc2a625deaa7" providerId="ADAL" clId="{7023A173-45D2-4027-B468-71C98544BFE5}" dt="2022-11-24T19:43:21.147" v="149" actId="2696"/>
      <pc:docMkLst>
        <pc:docMk/>
      </pc:docMkLst>
    </pc:docChg>
  </pc:docChgLst>
  <pc:docChgLst>
    <pc:chgData name="Ken Wojcikowski" userId="3d9dd381-bb96-4ff2-a8e3-dc2a625deaa7" providerId="ADAL" clId="{01C1772D-4F65-44F4-8FED-7EDE8F6F467F}"/>
    <pc:docChg chg="undo redo custSel addSld delSld modSld sldOrd">
      <pc:chgData name="Ken Wojcikowski" userId="3d9dd381-bb96-4ff2-a8e3-dc2a625deaa7" providerId="ADAL" clId="{01C1772D-4F65-44F4-8FED-7EDE8F6F467F}" dt="2022-11-28T09:17:14.457" v="597" actId="1076"/>
      <pc:docMkLst>
        <pc:docMk/>
      </pc:docMkLst>
      <pc:sldChg chg="modSp">
        <pc:chgData name="Ken Wojcikowski" userId="3d9dd381-bb96-4ff2-a8e3-dc2a625deaa7" providerId="ADAL" clId="{01C1772D-4F65-44F4-8FED-7EDE8F6F467F}" dt="2022-11-28T05:40:46.948" v="495" actId="20577"/>
        <pc:sldMkLst>
          <pc:docMk/>
          <pc:sldMk cId="1002673788" sldId="444"/>
        </pc:sldMkLst>
        <pc:spChg chg="mod">
          <ac:chgData name="Ken Wojcikowski" userId="3d9dd381-bb96-4ff2-a8e3-dc2a625deaa7" providerId="ADAL" clId="{01C1772D-4F65-44F4-8FED-7EDE8F6F467F}" dt="2022-11-28T05:40:46.948" v="495" actId="20577"/>
          <ac:spMkLst>
            <pc:docMk/>
            <pc:sldMk cId="1002673788" sldId="444"/>
            <ac:spMk id="3" creationId="{9FBE544B-D75D-491B-A4AD-0406D551A9E6}"/>
          </ac:spMkLst>
        </pc:spChg>
      </pc:sldChg>
      <pc:sldChg chg="modSp">
        <pc:chgData name="Ken Wojcikowski" userId="3d9dd381-bb96-4ff2-a8e3-dc2a625deaa7" providerId="ADAL" clId="{01C1772D-4F65-44F4-8FED-7EDE8F6F467F}" dt="2022-11-28T04:10:12.129" v="127" actId="1076"/>
        <pc:sldMkLst>
          <pc:docMk/>
          <pc:sldMk cId="3931785038" sldId="748"/>
        </pc:sldMkLst>
        <pc:picChg chg="mod">
          <ac:chgData name="Ken Wojcikowski" userId="3d9dd381-bb96-4ff2-a8e3-dc2a625deaa7" providerId="ADAL" clId="{01C1772D-4F65-44F4-8FED-7EDE8F6F467F}" dt="2022-11-28T04:10:12.129" v="127" actId="1076"/>
          <ac:picMkLst>
            <pc:docMk/>
            <pc:sldMk cId="3931785038" sldId="748"/>
            <ac:picMk id="15364" creationId="{00000000-0000-0000-0000-000000000000}"/>
          </ac:picMkLst>
        </pc:picChg>
      </pc:sldChg>
      <pc:sldChg chg="modSp">
        <pc:chgData name="Ken Wojcikowski" userId="3d9dd381-bb96-4ff2-a8e3-dc2a625deaa7" providerId="ADAL" clId="{01C1772D-4F65-44F4-8FED-7EDE8F6F467F}" dt="2022-11-28T09:17:14.457" v="597" actId="1076"/>
        <pc:sldMkLst>
          <pc:docMk/>
          <pc:sldMk cId="780214253" sldId="750"/>
        </pc:sldMkLst>
        <pc:spChg chg="mod">
          <ac:chgData name="Ken Wojcikowski" userId="3d9dd381-bb96-4ff2-a8e3-dc2a625deaa7" providerId="ADAL" clId="{01C1772D-4F65-44F4-8FED-7EDE8F6F467F}" dt="2022-11-28T09:17:14.457" v="597" actId="1076"/>
          <ac:spMkLst>
            <pc:docMk/>
            <pc:sldMk cId="780214253" sldId="750"/>
            <ac:spMk id="20482" creationId="{00000000-0000-0000-0000-000000000000}"/>
          </ac:spMkLst>
        </pc:spChg>
        <pc:graphicFrameChg chg="modGraphic">
          <ac:chgData name="Ken Wojcikowski" userId="3d9dd381-bb96-4ff2-a8e3-dc2a625deaa7" providerId="ADAL" clId="{01C1772D-4F65-44F4-8FED-7EDE8F6F467F}" dt="2022-11-28T09:16:43.840" v="595" actId="2711"/>
          <ac:graphicFrameMkLst>
            <pc:docMk/>
            <pc:sldMk cId="780214253" sldId="750"/>
            <ac:graphicFrameMk id="5" creationId="{00000000-0000-0000-0000-000000000000}"/>
          </ac:graphicFrameMkLst>
        </pc:graphicFrameChg>
      </pc:sldChg>
      <pc:sldChg chg="modSp">
        <pc:chgData name="Ken Wojcikowski" userId="3d9dd381-bb96-4ff2-a8e3-dc2a625deaa7" providerId="ADAL" clId="{01C1772D-4F65-44F4-8FED-7EDE8F6F467F}" dt="2022-11-28T09:13:27.144" v="579" actId="313"/>
        <pc:sldMkLst>
          <pc:docMk/>
          <pc:sldMk cId="2666817946" sldId="761"/>
        </pc:sldMkLst>
        <pc:spChg chg="mod">
          <ac:chgData name="Ken Wojcikowski" userId="3d9dd381-bb96-4ff2-a8e3-dc2a625deaa7" providerId="ADAL" clId="{01C1772D-4F65-44F4-8FED-7EDE8F6F467F}" dt="2022-11-28T09:13:27.144" v="579" actId="313"/>
          <ac:spMkLst>
            <pc:docMk/>
            <pc:sldMk cId="2666817946" sldId="761"/>
            <ac:spMk id="26627" creationId="{00000000-0000-0000-0000-000000000000}"/>
          </ac:spMkLst>
        </pc:spChg>
      </pc:sldChg>
      <pc:sldChg chg="modSp ord">
        <pc:chgData name="Ken Wojcikowski" userId="3d9dd381-bb96-4ff2-a8e3-dc2a625deaa7" providerId="ADAL" clId="{01C1772D-4F65-44F4-8FED-7EDE8F6F467F}" dt="2022-11-28T04:19:29.878" v="275" actId="6549"/>
        <pc:sldMkLst>
          <pc:docMk/>
          <pc:sldMk cId="473907807" sldId="762"/>
        </pc:sldMkLst>
        <pc:spChg chg="mod">
          <ac:chgData name="Ken Wojcikowski" userId="3d9dd381-bb96-4ff2-a8e3-dc2a625deaa7" providerId="ADAL" clId="{01C1772D-4F65-44F4-8FED-7EDE8F6F467F}" dt="2022-11-28T04:12:34.893" v="153" actId="20577"/>
          <ac:spMkLst>
            <pc:docMk/>
            <pc:sldMk cId="473907807" sldId="762"/>
            <ac:spMk id="2" creationId="{00000000-0000-0000-0000-000000000000}"/>
          </ac:spMkLst>
        </pc:spChg>
        <pc:spChg chg="mod">
          <ac:chgData name="Ken Wojcikowski" userId="3d9dd381-bb96-4ff2-a8e3-dc2a625deaa7" providerId="ADAL" clId="{01C1772D-4F65-44F4-8FED-7EDE8F6F467F}" dt="2022-11-28T04:19:29.878" v="275" actId="6549"/>
          <ac:spMkLst>
            <pc:docMk/>
            <pc:sldMk cId="473907807" sldId="762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01C1772D-4F65-44F4-8FED-7EDE8F6F467F}" dt="2022-11-28T04:15:56.346" v="160" actId="2696"/>
        <pc:sldMkLst>
          <pc:docMk/>
          <pc:sldMk cId="2226458190" sldId="763"/>
        </pc:sldMkLst>
        <pc:picChg chg="mod">
          <ac:chgData name="Ken Wojcikowski" userId="3d9dd381-bb96-4ff2-a8e3-dc2a625deaa7" providerId="ADAL" clId="{01C1772D-4F65-44F4-8FED-7EDE8F6F467F}" dt="2022-11-28T04:13:24.109" v="159" actId="1076"/>
          <ac:picMkLst>
            <pc:docMk/>
            <pc:sldMk cId="2226458190" sldId="763"/>
            <ac:picMk id="28677" creationId="{00000000-0000-0000-0000-000000000000}"/>
          </ac:picMkLst>
        </pc:picChg>
      </pc:sldChg>
      <pc:sldChg chg="modSp">
        <pc:chgData name="Ken Wojcikowski" userId="3d9dd381-bb96-4ff2-a8e3-dc2a625deaa7" providerId="ADAL" clId="{01C1772D-4F65-44F4-8FED-7EDE8F6F467F}" dt="2022-11-28T05:38:05.896" v="374" actId="1076"/>
        <pc:sldMkLst>
          <pc:docMk/>
          <pc:sldMk cId="752607225" sldId="785"/>
        </pc:sldMkLst>
        <pc:spChg chg="mod">
          <ac:chgData name="Ken Wojcikowski" userId="3d9dd381-bb96-4ff2-a8e3-dc2a625deaa7" providerId="ADAL" clId="{01C1772D-4F65-44F4-8FED-7EDE8F6F467F}" dt="2022-11-28T05:38:05.896" v="374" actId="1076"/>
          <ac:spMkLst>
            <pc:docMk/>
            <pc:sldMk cId="752607225" sldId="785"/>
            <ac:spMk id="3" creationId="{2ECBCCCF-A46F-40CE-87D1-0578C4EBFA68}"/>
          </ac:spMkLst>
        </pc:spChg>
      </pc:sldChg>
      <pc:sldChg chg="del">
        <pc:chgData name="Ken Wojcikowski" userId="3d9dd381-bb96-4ff2-a8e3-dc2a625deaa7" providerId="ADAL" clId="{01C1772D-4F65-44F4-8FED-7EDE8F6F467F}" dt="2022-11-28T04:08:12.194" v="0" actId="2696"/>
        <pc:sldMkLst>
          <pc:docMk/>
          <pc:sldMk cId="4163517950" sldId="787"/>
        </pc:sldMkLst>
      </pc:sldChg>
      <pc:sldChg chg="delSp modSp">
        <pc:chgData name="Ken Wojcikowski" userId="3d9dd381-bb96-4ff2-a8e3-dc2a625deaa7" providerId="ADAL" clId="{01C1772D-4F65-44F4-8FED-7EDE8F6F467F}" dt="2022-11-28T05:35:57.228" v="283"/>
        <pc:sldMkLst>
          <pc:docMk/>
          <pc:sldMk cId="1941123339" sldId="788"/>
        </pc:sldMkLst>
        <pc:spChg chg="mod">
          <ac:chgData name="Ken Wojcikowski" userId="3d9dd381-bb96-4ff2-a8e3-dc2a625deaa7" providerId="ADAL" clId="{01C1772D-4F65-44F4-8FED-7EDE8F6F467F}" dt="2022-11-28T04:10:15.486" v="129" actId="20577"/>
          <ac:spMkLst>
            <pc:docMk/>
            <pc:sldMk cId="1941123339" sldId="788"/>
            <ac:spMk id="3" creationId="{2ECBCCCF-A46F-40CE-87D1-0578C4EBFA68}"/>
          </ac:spMkLst>
        </pc:spChg>
        <pc:picChg chg="del">
          <ac:chgData name="Ken Wojcikowski" userId="3d9dd381-bb96-4ff2-a8e3-dc2a625deaa7" providerId="ADAL" clId="{01C1772D-4F65-44F4-8FED-7EDE8F6F467F}" dt="2022-11-28T05:35:57.228" v="283"/>
          <ac:picMkLst>
            <pc:docMk/>
            <pc:sldMk cId="1941123339" sldId="788"/>
            <ac:picMk id="4" creationId="{A12A30E3-0938-438C-85E8-CD4554EB8B8E}"/>
          </ac:picMkLst>
        </pc:picChg>
      </pc:sldChg>
      <pc:sldChg chg="addSp modSp">
        <pc:chgData name="Ken Wojcikowski" userId="3d9dd381-bb96-4ff2-a8e3-dc2a625deaa7" providerId="ADAL" clId="{01C1772D-4F65-44F4-8FED-7EDE8F6F467F}" dt="2022-11-28T04:20:25.282" v="282" actId="1076"/>
        <pc:sldMkLst>
          <pc:docMk/>
          <pc:sldMk cId="707484872" sldId="789"/>
        </pc:sldMkLst>
        <pc:spChg chg="add mod">
          <ac:chgData name="Ken Wojcikowski" userId="3d9dd381-bb96-4ff2-a8e3-dc2a625deaa7" providerId="ADAL" clId="{01C1772D-4F65-44F4-8FED-7EDE8F6F467F}" dt="2022-11-28T04:20:25.282" v="282" actId="1076"/>
          <ac:spMkLst>
            <pc:docMk/>
            <pc:sldMk cId="707484872" sldId="789"/>
            <ac:spMk id="2" creationId="{7D030AA2-0DC0-42E4-A71F-D4C3DF7FBDFD}"/>
          </ac:spMkLst>
        </pc:spChg>
        <pc:graphicFrameChg chg="mod">
          <ac:chgData name="Ken Wojcikowski" userId="3d9dd381-bb96-4ff2-a8e3-dc2a625deaa7" providerId="ADAL" clId="{01C1772D-4F65-44F4-8FED-7EDE8F6F467F}" dt="2022-11-28T04:19:58.516" v="279" actId="1076"/>
          <ac:graphicFrameMkLst>
            <pc:docMk/>
            <pc:sldMk cId="707484872" sldId="789"/>
            <ac:graphicFrameMk id="18434" creationId="{00000000-0000-0000-0000-000000000000}"/>
          </ac:graphicFrameMkLst>
        </pc:graphicFrameChg>
      </pc:sldChg>
      <pc:sldChg chg="modSp add ord">
        <pc:chgData name="Ken Wojcikowski" userId="3d9dd381-bb96-4ff2-a8e3-dc2a625deaa7" providerId="ADAL" clId="{01C1772D-4F65-44F4-8FED-7EDE8F6F467F}" dt="2022-11-28T09:11:52.085" v="527"/>
        <pc:sldMkLst>
          <pc:docMk/>
          <pc:sldMk cId="3648063460" sldId="797"/>
        </pc:sldMkLst>
        <pc:spChg chg="mod">
          <ac:chgData name="Ken Wojcikowski" userId="3d9dd381-bb96-4ff2-a8e3-dc2a625deaa7" providerId="ADAL" clId="{01C1772D-4F65-44F4-8FED-7EDE8F6F467F}" dt="2022-11-28T05:40:55.427" v="508" actId="20577"/>
          <ac:spMkLst>
            <pc:docMk/>
            <pc:sldMk cId="3648063460" sldId="797"/>
            <ac:spMk id="3" creationId="{9FBE544B-D75D-491B-A4AD-0406D551A9E6}"/>
          </ac:spMkLst>
        </pc:spChg>
      </pc:sldChg>
      <pc:sldChg chg="modSp add ord">
        <pc:chgData name="Ken Wojcikowski" userId="3d9dd381-bb96-4ff2-a8e3-dc2a625deaa7" providerId="ADAL" clId="{01C1772D-4F65-44F4-8FED-7EDE8F6F467F}" dt="2022-11-28T09:13:05.132" v="578"/>
        <pc:sldMkLst>
          <pc:docMk/>
          <pc:sldMk cId="1249726408" sldId="798"/>
        </pc:sldMkLst>
        <pc:spChg chg="mod">
          <ac:chgData name="Ken Wojcikowski" userId="3d9dd381-bb96-4ff2-a8e3-dc2a625deaa7" providerId="ADAL" clId="{01C1772D-4F65-44F4-8FED-7EDE8F6F467F}" dt="2022-11-28T09:12:32.680" v="576" actId="313"/>
          <ac:spMkLst>
            <pc:docMk/>
            <pc:sldMk cId="1249726408" sldId="798"/>
            <ac:spMk id="3" creationId="{9FBE544B-D75D-491B-A4AD-0406D551A9E6}"/>
          </ac:spMkLst>
        </pc:spChg>
      </pc:sldChg>
      <pc:sldChg chg="add del setBg">
        <pc:chgData name="Ken Wojcikowski" userId="3d9dd381-bb96-4ff2-a8e3-dc2a625deaa7" providerId="ADAL" clId="{01C1772D-4F65-44F4-8FED-7EDE8F6F467F}" dt="2022-11-28T04:12:57.820" v="157" actId="2696"/>
        <pc:sldMkLst>
          <pc:docMk/>
          <pc:sldMk cId="2288583878" sldId="802"/>
        </pc:sldMkLst>
      </pc:sldChg>
      <pc:sldChg chg="add del">
        <pc:chgData name="Ken Wojcikowski" userId="3d9dd381-bb96-4ff2-a8e3-dc2a625deaa7" providerId="ADAL" clId="{01C1772D-4F65-44F4-8FED-7EDE8F6F467F}" dt="2022-11-28T04:11:46.897" v="142"/>
        <pc:sldMkLst>
          <pc:docMk/>
          <pc:sldMk cId="2983255867" sldId="803"/>
        </pc:sldMkLst>
      </pc:sldChg>
      <pc:sldChg chg="add del">
        <pc:chgData name="Ken Wojcikowski" userId="3d9dd381-bb96-4ff2-a8e3-dc2a625deaa7" providerId="ADAL" clId="{01C1772D-4F65-44F4-8FED-7EDE8F6F467F}" dt="2022-11-28T04:11:45.548" v="141"/>
        <pc:sldMkLst>
          <pc:docMk/>
          <pc:sldMk cId="1414369931" sldId="804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8AFD-BCA5-0F40-B12A-03C02F08D0D2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9FDE2-797B-454F-B658-773C4FF1F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7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11988800" y="3175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07434" y="241935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3945C-4688-42C5-9473-681910FE4739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91615F1-B4B7-4D80-A1B0-1505F0207D2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441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1FB32-4C2D-4912-9EFF-798261188EC6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13B6F-B5E3-4ABA-A980-ECC9F8F3315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9439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203200" y="2286000"/>
            <a:ext cx="11777133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7434" y="142875"/>
            <a:ext cx="11777133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2438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12DFA-AE55-41AD-A705-46237C11B599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FCFCC2C-E3E5-4345-8D28-38BCDBC5692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363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6083301" y="1576388"/>
            <a:ext cx="12700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1" y="6410326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4DE70-B72B-47F0-B279-DC8472FCEF7F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40F89-6D29-4C2C-822B-9C415BE8119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60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6096000" y="2200276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2" name="Rectangle 11"/>
          <p:cNvSpPr/>
          <p:nvPr/>
        </p:nvSpPr>
        <p:spPr>
          <a:xfrm>
            <a:off x="203200" y="1371600"/>
            <a:ext cx="11777133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734" y="6391275"/>
            <a:ext cx="11777133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203200" y="1279525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Oval 16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BB37-476A-46B2-A08F-06A04B3AB6B9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10326"/>
            <a:ext cx="4775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989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44BD8E9-E0EE-463A-9F23-DDB791B879A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684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DE605-9A11-48C7-B0FF-01A146EF7C9A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6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8AEE4-18E2-42EF-8702-A5A71BA4281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962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3200" y="15875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FDDBB-B1A3-4381-927E-E7B423ED52D8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1"/>
            <a:ext cx="8128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927428E-EDBD-45A3-A872-B15A753C543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309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152400"/>
            <a:ext cx="11777133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1"/>
            <a:ext cx="12192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82FEEF3-1433-4F7B-83EB-4EE1DCF8C7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6A078-2379-4959-B9CA-F042C94784F5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510617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733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1"/>
            <a:ext cx="11777133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1C9BF-AD39-4F0C-8E2D-C96F98A5287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7717367" y="6405564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291CE-D68F-44DD-B48A-48601FD1D31E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77943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138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11063-2480-4D0E-8F5B-1899FE2A79F7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31C78-2BE9-4A50-A96B-5CA53055B2C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3375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6402388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18600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Oval 11"/>
          <p:cNvSpPr/>
          <p:nvPr/>
        </p:nvSpPr>
        <p:spPr>
          <a:xfrm>
            <a:off x="9245600" y="3021013"/>
            <a:ext cx="560917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220200" y="3009901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549A2-58FC-4B17-9780-2F2780A8D4B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6CD4C-CF45-4376-9F08-BA4FBE0F70E6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757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63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1FD6E8-5945-4864-8B40-D8FAEADCA392}" type="datetimeFigureOut">
              <a:rPr lang="en-AU"/>
              <a:pPr>
                <a:defRPr/>
              </a:pPr>
              <a:t>28/11/2022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350"/>
            <a:ext cx="11777133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Oval 14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39814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accent3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1FDCA9-EE80-4B8B-8C7E-40986091ADA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402167" y="228601"/>
            <a:ext cx="11379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02167" y="1524000"/>
            <a:ext cx="11379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17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5380901"/>
            <a:ext cx="5504297" cy="495918"/>
          </a:xfrm>
        </p:spPr>
        <p:txBody>
          <a:bodyPr/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Ken Wojcikowski</a:t>
            </a:r>
          </a:p>
          <a:p>
            <a:r>
              <a:rPr lang="en-AU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PhD, Pharmacology, UQ School of Medicine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3215055"/>
            <a:ext cx="6545663" cy="573088"/>
          </a:xfrm>
        </p:spPr>
        <p:txBody>
          <a:bodyPr/>
          <a:lstStyle/>
          <a:p>
            <a:r>
              <a:rPr lang="en-AU" dirty="0"/>
              <a:t>Medicines for bone disorders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622298"/>
            <a:ext cx="7224609" cy="573088"/>
          </a:xfrm>
        </p:spPr>
        <p:txBody>
          <a:bodyPr/>
          <a:lstStyle/>
          <a:p>
            <a:r>
              <a:rPr lang="en-AU" sz="4800" dirty="0"/>
              <a:t>The Endocrine System </a:t>
            </a:r>
          </a:p>
        </p:txBody>
      </p:sp>
    </p:spTree>
    <p:extLst>
      <p:ext uri="{BB962C8B-B14F-4D97-AF65-F5344CB8AC3E}">
        <p14:creationId xmlns:p14="http://schemas.microsoft.com/office/powerpoint/2010/main" val="94049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3107" y="513939"/>
            <a:ext cx="7183966" cy="1676805"/>
          </a:xfrm>
        </p:spPr>
        <p:txBody>
          <a:bodyPr/>
          <a:lstStyle/>
          <a:p>
            <a:pPr algn="ctr"/>
            <a:r>
              <a:rPr lang="en-AU" sz="4000" dirty="0"/>
              <a:t>The endocrine system:</a:t>
            </a:r>
          </a:p>
          <a:p>
            <a:pPr algn="ctr"/>
            <a:r>
              <a:rPr lang="en-AU" sz="4000" dirty="0"/>
              <a:t>Medicines for bone disorders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40" t="109" r="231" b="428"/>
          <a:stretch/>
        </p:blipFill>
        <p:spPr>
          <a:xfrm>
            <a:off x="1232945" y="2346961"/>
            <a:ext cx="5284291" cy="4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07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4480" y="503021"/>
            <a:ext cx="6558183" cy="1676805"/>
          </a:xfrm>
        </p:spPr>
        <p:txBody>
          <a:bodyPr/>
          <a:lstStyle/>
          <a:p>
            <a:pPr algn="ctr"/>
            <a:r>
              <a:rPr lang="en-AU" sz="4000" dirty="0"/>
              <a:t>Objectives for Endocrine System: Bone Disorders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799" y="2179826"/>
            <a:ext cx="812430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Explain the effects of parathyroid hormone and calcitonin and their role in bone health.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Explain the process of bone formation and reformation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Using two specific examples (</a:t>
            </a: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bisphosphonates and </a:t>
            </a:r>
            <a:r>
              <a:rPr 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teriparatide</a:t>
            </a: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), explain how pharmaceutical agents can be beneficial for people with bone loss. Explain the main adverse drug reactions of these medications.</a:t>
            </a: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12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2402456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Medications for bone disorders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Bone Health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67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5364" name="Picture 5" descr="devbone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451" y="-1706880"/>
            <a:ext cx="12588548" cy="856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78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96241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GB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Bone health: Key cells and hormones</a:t>
            </a:r>
            <a:endParaRPr lang="en-US" sz="36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680" y="1755775"/>
            <a:ext cx="10241280" cy="4572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The balance between osteoblast and osteoclast activity is important</a:t>
            </a:r>
          </a:p>
          <a:p>
            <a:pPr eaLnBrk="1" hangingPunct="1"/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Osteoclasts</a:t>
            </a:r>
          </a:p>
          <a:p>
            <a:pPr lvl="1" eaLnBrk="1" hangingPunct="1"/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Digests the bone </a:t>
            </a:r>
          </a:p>
          <a:p>
            <a:pPr lvl="1" eaLnBrk="1" hangingPunct="1"/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Secrete cytokines that stimulate resorption</a:t>
            </a:r>
          </a:p>
          <a:p>
            <a:pPr lvl="1" eaLnBrk="1" hangingPunct="1"/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One small section of bone at a time</a:t>
            </a:r>
          </a:p>
          <a:p>
            <a:pPr eaLnBrk="1" hangingPunct="1"/>
            <a:r>
              <a:rPr lang="en-GB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Osteoblasts rebuild the bone</a:t>
            </a:r>
          </a:p>
          <a:p>
            <a:pPr eaLnBrk="1" hangingPunct="1"/>
            <a:r>
              <a:rPr lang="en-AU" alt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Bone formation and breakdown involves participation of the hormones from the parathyroid gland and the hormone commonly referred to as vitamin D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11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677193" y="384830"/>
            <a:ext cx="8836025" cy="758825"/>
          </a:xfrm>
        </p:spPr>
        <p:txBody>
          <a:bodyPr/>
          <a:lstStyle/>
          <a:p>
            <a:r>
              <a:rPr lang="en-AU" altLang="en-US" sz="4000" b="1" dirty="0">
                <a:solidFill>
                  <a:srgbClr val="007298"/>
                </a:solidFill>
              </a:rPr>
              <a:t>Factors that contribute to osteoporosis</a:t>
            </a:r>
          </a:p>
        </p:txBody>
      </p:sp>
      <p:graphicFrame>
        <p:nvGraphicFramePr>
          <p:cNvPr id="5" name="Group 7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2493248"/>
              </p:ext>
            </p:extLst>
          </p:nvPr>
        </p:nvGraphicFramePr>
        <p:xfrm>
          <a:off x="2206625" y="1556793"/>
          <a:ext cx="7777162" cy="5770789"/>
        </p:xfrm>
        <a:graphic>
          <a:graphicData uri="http://schemas.openxmlformats.org/drawingml/2006/table">
            <a:tbl>
              <a:tblPr/>
              <a:tblGrid>
                <a:gridCol w="26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0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1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Constitutional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Disease &amp; drugs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Lifestyle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Female 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hyperthyroidism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Smoking 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Age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hyperparathyroidism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Physical inactivity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Post menopause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Cushing’s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Low calcium and vitamin D intake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Slight body build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Malabsorption syndromes.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298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Late menarche</a:t>
                      </a: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Corticosteroids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Androgen deprivation therapy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Glitazones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Roboto Black" panose="02000000000000000000" pitchFamily="2" charset="0"/>
                        <a:ea typeface="Roboto Black" panose="02000000000000000000" pitchFamily="2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6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Roboto Black" panose="02000000000000000000" pitchFamily="2" charset="0"/>
                          <a:ea typeface="Roboto Black" panose="02000000000000000000" pitchFamily="2" charset="0"/>
                        </a:rPr>
                        <a:t>(Drugs that increase the falls risk)</a:t>
                      </a: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4" marR="91444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508760" y="6431280"/>
            <a:ext cx="9051291" cy="124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21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2402456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Medications for bone disorders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Bone Health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6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B2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4340" name="Picture 5" descr="parathyro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-531813"/>
            <a:ext cx="9144001" cy="739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97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04801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GB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PTH: The hormone of the parathyroid gland</a:t>
            </a:r>
            <a:endParaRPr lang="en-US" sz="36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50688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Parathyroid Hormone</a:t>
            </a:r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(PTH)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Increased release in response to decreased serum calcium levels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Increases </a:t>
            </a:r>
            <a:r>
              <a:rPr lang="en-GB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osteoclastic</a:t>
            </a:r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activity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Liberates free calcium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Decreases excretion of calcium by the kidneys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Calcitonin is released from the thyroid gland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Responds to high serum calcium</a:t>
            </a:r>
          </a:p>
          <a:p>
            <a:pPr eaLnBrk="1" hangingPunct="1"/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Inhibits </a:t>
            </a:r>
            <a:r>
              <a:rPr lang="en-GB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osteoclastic</a:t>
            </a:r>
            <a:r>
              <a:rPr lang="en-GB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activity and formation</a:t>
            </a:r>
            <a:endParaRPr lang="en-US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0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143250" y="0"/>
          <a:ext cx="61991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3" imgW="5172797" imgH="5714286" progId="MSPhotoEd.3">
                  <p:embed/>
                </p:oleObj>
              </mc:Choice>
              <mc:Fallback>
                <p:oleObj name="Photo Editor Photo" r:id="rId3" imgW="5172797" imgH="5714286" progId="MSPhotoEd.3">
                  <p:embed/>
                  <p:pic>
                    <p:nvPicPr>
                      <p:cNvPr id="184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0"/>
                        <a:ext cx="61991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650" y="106364"/>
            <a:ext cx="1676400" cy="663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50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245700"/>
              </p:ext>
            </p:extLst>
          </p:nvPr>
        </p:nvGraphicFramePr>
        <p:xfrm>
          <a:off x="0" y="341583"/>
          <a:ext cx="11780838" cy="1303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Photo Editor Photo" r:id="rId3" imgW="5172797" imgH="5714286" progId="MSPhotoEd.3">
                  <p:embed/>
                </p:oleObj>
              </mc:Choice>
              <mc:Fallback>
                <p:oleObj name="Photo Editor Photo" r:id="rId3" imgW="5172797" imgH="5714286" progId="MSPhotoEd.3">
                  <p:embed/>
                  <p:pic>
                    <p:nvPicPr>
                      <p:cNvPr id="184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1583"/>
                        <a:ext cx="11780838" cy="13032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D030AA2-0DC0-42E4-A71F-D4C3DF7FBDFD}"/>
              </a:ext>
            </a:extLst>
          </p:cNvPr>
          <p:cNvSpPr/>
          <p:nvPr/>
        </p:nvSpPr>
        <p:spPr>
          <a:xfrm>
            <a:off x="10710168" y="4876263"/>
            <a:ext cx="15485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EN et al. Human Anatomy and Physiology 6</a:t>
            </a:r>
            <a:r>
              <a:rPr lang="en-AU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Pearson Education</a:t>
            </a:r>
          </a:p>
        </p:txBody>
      </p:sp>
    </p:spTree>
    <p:extLst>
      <p:ext uri="{BB962C8B-B14F-4D97-AF65-F5344CB8AC3E}">
        <p14:creationId xmlns:p14="http://schemas.microsoft.com/office/powerpoint/2010/main" val="707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060717"/>
              </p:ext>
            </p:extLst>
          </p:nvPr>
        </p:nvGraphicFramePr>
        <p:xfrm>
          <a:off x="0" y="-6242097"/>
          <a:ext cx="11780838" cy="1303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hoto Editor Photo" r:id="rId3" imgW="5172797" imgH="5714286" progId="MSPhotoEd.3">
                  <p:embed/>
                </p:oleObj>
              </mc:Choice>
              <mc:Fallback>
                <p:oleObj name="Photo Editor Photo" r:id="rId3" imgW="5172797" imgH="5714286" progId="MSPhotoEd.3">
                  <p:embed/>
                  <p:pic>
                    <p:nvPicPr>
                      <p:cNvPr id="184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6242097"/>
                        <a:ext cx="11780838" cy="13032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54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9464" y="637898"/>
            <a:ext cx="9845040" cy="758825"/>
          </a:xfrm>
        </p:spPr>
        <p:txBody>
          <a:bodyPr/>
          <a:lstStyle/>
          <a:p>
            <a:pPr eaLnBrk="1" hangingPunct="1"/>
            <a:br>
              <a:rPr lang="en-AU" altLang="en-US" sz="2400" b="1" u="sng" dirty="0"/>
            </a:br>
            <a:br>
              <a:rPr lang="en-AU" altLang="en-US" sz="2400" b="1" u="sng" dirty="0"/>
            </a:br>
            <a:r>
              <a:rPr lang="en-AU" altLang="en-US" sz="2400" b="1" u="sng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Parathyroid gland</a:t>
            </a:r>
            <a:r>
              <a:rPr lang="en-AU" alt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secretes PARATHYROID HORMONE (PTH)</a:t>
            </a:r>
            <a:br>
              <a:rPr lang="en-AU" alt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AU" alt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(Stimulated by low levels of calcium)</a:t>
            </a:r>
            <a:endParaRPr lang="en-US" altLang="en-US" sz="24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9459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475831" y="4354018"/>
            <a:ext cx="3240087" cy="1079500"/>
          </a:xfrm>
        </p:spPr>
        <p:txBody>
          <a:bodyPr/>
          <a:lstStyle/>
          <a:p>
            <a:pPr eaLnBrk="1" hangingPunct="1"/>
            <a:r>
              <a:rPr lang="en-AU" altLang="en-US" sz="2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Increases absorption of calcium in the intestines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5951538" y="47625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407558" name="Rectangle 6"/>
          <p:cNvSpPr>
            <a:spLocks noChangeArrowheads="1"/>
          </p:cNvSpPr>
          <p:nvPr/>
        </p:nvSpPr>
        <p:spPr bwMode="auto">
          <a:xfrm>
            <a:off x="5735638" y="1622426"/>
            <a:ext cx="29527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A3D6"/>
              </a:buClr>
              <a:buSzPct val="80000"/>
              <a:buFont typeface="Wingdings" pitchFamily="2" charset="2"/>
              <a:buChar char="Ø"/>
              <a:defRPr/>
            </a:pPr>
            <a:r>
              <a:rPr lang="en-AU" sz="2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charset="0"/>
              </a:rPr>
              <a:t>Increases the synthesis of vitamin D</a:t>
            </a:r>
          </a:p>
        </p:txBody>
      </p:sp>
      <p:sp>
        <p:nvSpPr>
          <p:cNvPr id="24583" name="Line 8"/>
          <p:cNvSpPr>
            <a:spLocks noChangeShapeType="1"/>
          </p:cNvSpPr>
          <p:nvPr/>
        </p:nvSpPr>
        <p:spPr bwMode="auto">
          <a:xfrm>
            <a:off x="6894513" y="1345188"/>
            <a:ext cx="0" cy="358676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584" name="Line 9"/>
          <p:cNvSpPr>
            <a:spLocks noChangeShapeType="1"/>
          </p:cNvSpPr>
          <p:nvPr/>
        </p:nvSpPr>
        <p:spPr bwMode="auto">
          <a:xfrm>
            <a:off x="2646363" y="1622426"/>
            <a:ext cx="0" cy="7921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8930640" y="1658144"/>
            <a:ext cx="0" cy="7207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7563" name="Rectangle 11"/>
          <p:cNvSpPr>
            <a:spLocks noChangeArrowheads="1"/>
          </p:cNvSpPr>
          <p:nvPr/>
        </p:nvSpPr>
        <p:spPr bwMode="auto">
          <a:xfrm>
            <a:off x="1078265" y="2662774"/>
            <a:ext cx="33778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charset="0"/>
              </a:rPr>
              <a:t>Releases calcium from bone</a:t>
            </a:r>
            <a:endParaRPr lang="en-US" sz="20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  <a:cs typeface="Arial" charset="0"/>
            </a:endParaRPr>
          </a:p>
        </p:txBody>
      </p:sp>
      <p:sp>
        <p:nvSpPr>
          <p:cNvPr id="407564" name="Rectangle 12"/>
          <p:cNvSpPr>
            <a:spLocks noChangeArrowheads="1"/>
          </p:cNvSpPr>
          <p:nvPr/>
        </p:nvSpPr>
        <p:spPr bwMode="auto">
          <a:xfrm>
            <a:off x="6367464" y="2585698"/>
            <a:ext cx="46358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A3D6"/>
              </a:buClr>
              <a:buSzPct val="80000"/>
              <a:buFont typeface="Wingdings" pitchFamily="2" charset="2"/>
              <a:buChar char="Ø"/>
              <a:defRPr/>
            </a:pPr>
            <a:r>
              <a:rPr lang="en-AU" sz="2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charset="0"/>
              </a:rPr>
              <a:t>Decreases renal excretion of calcium</a:t>
            </a:r>
            <a:endParaRPr lang="en-US" sz="20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  <a:cs typeface="Arial" charset="0"/>
            </a:endParaRPr>
          </a:p>
        </p:txBody>
      </p:sp>
      <p:sp>
        <p:nvSpPr>
          <p:cNvPr id="24588" name="Line 14"/>
          <p:cNvSpPr>
            <a:spLocks noChangeShapeType="1"/>
          </p:cNvSpPr>
          <p:nvPr/>
        </p:nvSpPr>
        <p:spPr bwMode="auto">
          <a:xfrm>
            <a:off x="5960368" y="2522538"/>
            <a:ext cx="0" cy="148215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5101590" y="1629792"/>
            <a:ext cx="0" cy="23749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9583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664027" y="864502"/>
            <a:ext cx="6558183" cy="573088"/>
          </a:xfrm>
        </p:spPr>
        <p:txBody>
          <a:bodyPr/>
          <a:lstStyle/>
          <a:p>
            <a:pPr algn="ctr"/>
            <a:r>
              <a:rPr lang="en-AU" sz="4000" dirty="0"/>
              <a:t>Important bone disorders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146014"/>
            <a:ext cx="8434253" cy="1077415"/>
          </a:xfrm>
        </p:spPr>
        <p:txBody>
          <a:bodyPr/>
          <a:lstStyle/>
          <a:p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Osteoporosis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Decreased bone mass and density</a:t>
            </a:r>
          </a:p>
          <a:p>
            <a:r>
              <a:rPr lang="en-AU" sz="24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Osteomalacia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Rickets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Softening of the bones due to decreased mineralisation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Most commonly caused by inadequate Vitamin D</a:t>
            </a:r>
          </a:p>
          <a:p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Osteonecrosis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Cellular death of bone cells due to inadequate blood supply</a:t>
            </a:r>
          </a:p>
          <a:p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Paget’s disease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Abnormal enlargement and weakening of the bone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2357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304801"/>
            <a:ext cx="11379200" cy="758825"/>
          </a:xfrm>
        </p:spPr>
        <p:txBody>
          <a:bodyPr/>
          <a:lstStyle/>
          <a:p>
            <a:pPr>
              <a:defRPr/>
            </a:pPr>
            <a:r>
              <a:rPr lang="en-AU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Glucocorticoid induced bone disease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662988" cy="4572000"/>
          </a:xfrm>
        </p:spPr>
        <p:txBody>
          <a:bodyPr/>
          <a:lstStyle/>
          <a:p>
            <a:pPr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Leading cause of secondary &amp; iatrogenic osteoporosis.</a:t>
            </a:r>
          </a:p>
          <a:p>
            <a:pPr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Lumbar spine &amp; proximal femur.</a:t>
            </a:r>
          </a:p>
          <a:p>
            <a:pPr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2 phases:</a:t>
            </a:r>
          </a:p>
          <a:p>
            <a:pPr lvl="1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6-12% loss in first year.</a:t>
            </a:r>
          </a:p>
          <a:p>
            <a:pPr lvl="1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3% loss pa thereafter.</a:t>
            </a:r>
          </a:p>
          <a:p>
            <a:pPr lvl="1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Rapid increase in risk of hip and vertebral fracture.</a:t>
            </a:r>
          </a:p>
          <a:p>
            <a:pPr lvl="1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Fracture risk increases by 75% in first 3 months of treatment before a decline in BMD.</a:t>
            </a:r>
          </a:p>
          <a:p>
            <a:pPr eaLnBrk="1" hangingPunct="1"/>
            <a:r>
              <a:rPr lang="en-AU" altLang="en-US" sz="24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Osteonecrosis</a:t>
            </a:r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may be as high as 40% of patients</a:t>
            </a:r>
          </a:p>
          <a:p>
            <a:pPr lvl="1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Osteonecrosis is death of bone due to decreased blood supply</a:t>
            </a:r>
          </a:p>
          <a:p>
            <a:pPr eaLnBrk="1" hangingPunct="1"/>
            <a:endParaRPr lang="en-AU" altLang="en-US" dirty="0"/>
          </a:p>
        </p:txBody>
      </p:sp>
      <p:sp>
        <p:nvSpPr>
          <p:cNvPr id="4" name="Footer Placeholder 4"/>
          <p:cNvSpPr txBox="1">
            <a:spLocks noGrp="1"/>
          </p:cNvSpPr>
          <p:nvPr/>
        </p:nvSpPr>
        <p:spPr bwMode="auto">
          <a:xfrm>
            <a:off x="4648200" y="5949951"/>
            <a:ext cx="2895600" cy="4746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600" dirty="0">
                <a:solidFill>
                  <a:prstClr val="black"/>
                </a:solidFill>
                <a:latin typeface="Georgia" pitchFamily="18" charset="0"/>
                <a:cs typeface="Arial" charset="0"/>
              </a:rPr>
              <a:t>NEJM 2011; 365:62-70</a:t>
            </a:r>
          </a:p>
        </p:txBody>
      </p:sp>
    </p:spTree>
    <p:extLst>
      <p:ext uri="{BB962C8B-B14F-4D97-AF65-F5344CB8AC3E}">
        <p14:creationId xmlns:p14="http://schemas.microsoft.com/office/powerpoint/2010/main" val="308728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70707" y="1016902"/>
            <a:ext cx="6558183" cy="573088"/>
          </a:xfrm>
        </p:spPr>
        <p:txBody>
          <a:bodyPr/>
          <a:lstStyle/>
          <a:p>
            <a:pPr algn="ctr"/>
            <a:r>
              <a:rPr lang="en-AU" sz="4000" dirty="0"/>
              <a:t>Prevention of osteoporosis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146014"/>
            <a:ext cx="8434253" cy="1077415"/>
          </a:xfrm>
        </p:spPr>
        <p:txBody>
          <a:bodyPr/>
          <a:lstStyle/>
          <a:p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Calcium and vitamin D supplements.</a:t>
            </a:r>
          </a:p>
          <a:p>
            <a:pPr lvl="1"/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Reduce rate of bone loss.</a:t>
            </a:r>
          </a:p>
          <a:p>
            <a:pPr lvl="1"/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Vitamin D 1000iu/day.</a:t>
            </a:r>
          </a:p>
          <a:p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No calcium supplements after about 50 y/o due to increased risk of MI</a:t>
            </a:r>
          </a:p>
          <a:p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Exercise, especially weight bearing exercise before the age of 30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809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2402456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Medications for bone disorders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Bisphosphonates, Teriparatide and SERMs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726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24987" y="1016902"/>
            <a:ext cx="6558183" cy="573088"/>
          </a:xfrm>
        </p:spPr>
        <p:txBody>
          <a:bodyPr/>
          <a:lstStyle/>
          <a:p>
            <a:pPr algn="ctr"/>
            <a:r>
              <a:rPr lang="en-AU" sz="4000" dirty="0"/>
              <a:t>Treatment of osteoporosis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146014"/>
            <a:ext cx="8434253" cy="1077415"/>
          </a:xfrm>
        </p:spPr>
        <p:txBody>
          <a:bodyPr/>
          <a:lstStyle/>
          <a:p>
            <a:pPr>
              <a:defRPr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First Line:</a:t>
            </a:r>
          </a:p>
          <a:p>
            <a:pPr lvl="1">
              <a:defRPr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Oral Bisphosphonates </a:t>
            </a:r>
          </a:p>
          <a:p>
            <a:pPr lvl="2">
              <a:defRPr/>
            </a:pPr>
            <a:r>
              <a:rPr lang="en-AU" alt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 bone breakdown and resorption</a:t>
            </a:r>
          </a:p>
          <a:p>
            <a:pPr lvl="2">
              <a:defRPr/>
            </a:pPr>
            <a:r>
              <a:rPr lang="en-AU" alt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Selective localisation and prolonged storage in bone</a:t>
            </a:r>
          </a:p>
          <a:p>
            <a:pPr lvl="2">
              <a:defRPr/>
            </a:pPr>
            <a:r>
              <a:rPr lang="en-AU" alt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 BMI in the </a:t>
            </a:r>
            <a:r>
              <a:rPr lang="en-AU" altLang="en-US" sz="2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femoral neck</a:t>
            </a:r>
            <a:r>
              <a:rPr lang="en-AU" alt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</a:t>
            </a:r>
            <a:r>
              <a:rPr lang="en-AU" altLang="en-US" sz="2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lumbar spine.</a:t>
            </a:r>
          </a:p>
          <a:p>
            <a:pPr lvl="1">
              <a:defRPr/>
            </a:pPr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lvl="1">
              <a:defRPr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Osteonecrosis of the jaw.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9124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24987" y="1016902"/>
            <a:ext cx="6558183" cy="573088"/>
          </a:xfrm>
        </p:spPr>
        <p:txBody>
          <a:bodyPr/>
          <a:lstStyle/>
          <a:p>
            <a:pPr algn="ctr"/>
            <a:r>
              <a:rPr lang="en-AU" sz="4000" dirty="0"/>
              <a:t>Oral bisphosphonates</a:t>
            </a:r>
          </a:p>
          <a:p>
            <a:pPr algn="ctr"/>
            <a:r>
              <a:rPr lang="en-AU" sz="2000" dirty="0">
                <a:latin typeface="Roboto Light" panose="02000000000000000000" pitchFamily="2" charset="0"/>
                <a:ea typeface="Roboto Light" panose="02000000000000000000" pitchFamily="2" charset="0"/>
              </a:rPr>
              <a:t>(The first ‘s’ is normally silent)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344134"/>
            <a:ext cx="8434253" cy="1077415"/>
          </a:xfrm>
        </p:spPr>
        <p:txBody>
          <a:bodyPr/>
          <a:lstStyle/>
          <a:p>
            <a:pPr>
              <a:defRPr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Oral bisphosphonates end in …</a:t>
            </a: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dronate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:</a:t>
            </a:r>
          </a:p>
          <a:p>
            <a:pPr>
              <a:defRPr/>
            </a:pPr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Alendronate  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(Fosamax)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Risedronate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(Actonel)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Pamidronate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</a:t>
            </a:r>
            <a:r>
              <a:rPr lang="en-AU" altLang="en-US" sz="2800" i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Aredia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Zoledronate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</a:t>
            </a:r>
            <a:r>
              <a:rPr lang="en-AU" altLang="en-US" sz="2800" i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Zometa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</a:t>
            </a:r>
            <a:r>
              <a:rPr lang="en-AU" altLang="en-US" sz="2800" i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Aclasta</a:t>
            </a:r>
            <a:r>
              <a:rPr lang="en-AU" altLang="en-US" sz="28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)</a:t>
            </a:r>
          </a:p>
          <a:p>
            <a:pPr>
              <a:defRPr/>
            </a:pPr>
            <a:endParaRPr lang="en-AU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endParaRPr lang="en-AU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54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608013"/>
            <a:ext cx="11379200" cy="758825"/>
          </a:xfrm>
        </p:spPr>
        <p:txBody>
          <a:bodyPr/>
          <a:lstStyle/>
          <a:p>
            <a:pPr>
              <a:defRPr/>
            </a:pPr>
            <a:r>
              <a:rPr lang="en-AU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treatments for osteoporosis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1642745" y="2106295"/>
            <a:ext cx="8504238" cy="4572000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Intravenous bisphosphonates</a:t>
            </a:r>
          </a:p>
          <a:p>
            <a:pPr lvl="1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IV Zoledronic acid</a:t>
            </a:r>
          </a:p>
          <a:p>
            <a:pPr lvl="2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Once yearly infusion</a:t>
            </a:r>
          </a:p>
          <a:p>
            <a:pPr lvl="2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Rapid skeletal protection</a:t>
            </a:r>
          </a:p>
          <a:p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25604" name="Picture 4" descr="Once-Yearly Osteoporosis Drug Aclasta Reduces Bone Fractu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775" y="3213101"/>
            <a:ext cx="280193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5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608013"/>
            <a:ext cx="11379200" cy="758825"/>
          </a:xfrm>
        </p:spPr>
        <p:txBody>
          <a:bodyPr/>
          <a:lstStyle/>
          <a:p>
            <a:pPr>
              <a:defRPr/>
            </a:pPr>
            <a:r>
              <a:rPr lang="en-AU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treatments for osteoporosis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1642745" y="2106295"/>
            <a:ext cx="8504238" cy="4572000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Selective oestrogen receptor modulators (SERMs)</a:t>
            </a:r>
          </a:p>
          <a:p>
            <a:pPr lvl="1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…</a:t>
            </a: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oxifene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medications like raloxifene, tamoxifen, and </a:t>
            </a:r>
            <a:r>
              <a:rPr lang="en-AU" alt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lasofoxifene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</a:p>
          <a:p>
            <a:pPr lvl="2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Agonist at the bone (acts like oestrogen at the bone</a:t>
            </a:r>
          </a:p>
          <a:p>
            <a:pPr lvl="2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Antagonist at the breast, ovary  (blocks the oestrogen in the areas associated with oestrogen related cancers) </a:t>
            </a:r>
          </a:p>
          <a:p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335281"/>
            <a:ext cx="11379200" cy="758825"/>
          </a:xfrm>
        </p:spPr>
        <p:txBody>
          <a:bodyPr/>
          <a:lstStyle/>
          <a:p>
            <a:pPr>
              <a:defRPr/>
            </a:pPr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treatments for osteoporosis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pPr lvl="1" eaLnBrk="1" hangingPunct="1"/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Teriparatide, the only anabolic treatment</a:t>
            </a:r>
          </a:p>
          <a:p>
            <a:pPr lvl="2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Recombinant human parathyroid hormone;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identical to a portion of human PTH </a:t>
            </a:r>
          </a:p>
          <a:p>
            <a:pPr lvl="2" eaLnBrk="1" hangingPunct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Intermittent use activates osteoblasts more than osteoclasts </a:t>
            </a:r>
          </a:p>
          <a:p>
            <a:pPr lvl="2" eaLnBrk="1" hangingPunct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It is effective in growing bone (8% increase in bone density in the spine after one year)</a:t>
            </a:r>
            <a:endParaRPr lang="en-AU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lvl="2" eaLnBrk="1" hangingPunct="1"/>
            <a:endParaRPr lang="en-AU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lvl="2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Daily s/c injection</a:t>
            </a:r>
          </a:p>
          <a:p>
            <a:pPr lvl="2" eaLnBrk="1" hangingPunct="1"/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Osteosarcoma??</a:t>
            </a:r>
          </a:p>
          <a:p>
            <a:pPr lvl="2" eaLnBrk="1" hangingPunct="1"/>
            <a:r>
              <a:rPr lang="en-AU" altLang="en-US" sz="24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Hypercalcaemia</a:t>
            </a:r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.</a:t>
            </a:r>
          </a:p>
          <a:p>
            <a:endParaRPr lang="en-AU" altLang="en-US" dirty="0"/>
          </a:p>
        </p:txBody>
      </p:sp>
      <p:pic>
        <p:nvPicPr>
          <p:cNvPr id="26628" name="Picture 4" descr="teriparatide-22553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4293096"/>
            <a:ext cx="2743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6817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304801"/>
            <a:ext cx="11379200" cy="758825"/>
          </a:xfrm>
        </p:spPr>
        <p:txBody>
          <a:bodyPr/>
          <a:lstStyle/>
          <a:p>
            <a:pPr>
              <a:defRPr/>
            </a:pPr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References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63899" y="1527175"/>
            <a:ext cx="9055735" cy="4572000"/>
          </a:xfrm>
        </p:spPr>
        <p:txBody>
          <a:bodyPr/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GA, Patton KT: Anatomy and Physiology 5</a:t>
            </a:r>
            <a:r>
              <a:rPr lang="en-AU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Mosby, St. Louis 2003</a:t>
            </a:r>
          </a:p>
          <a:p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EN et al. Human Anatomy and Physiology 6</a:t>
            </a:r>
            <a:r>
              <a:rPr lang="en-AU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Pearson Education publishing as Benjamin Cummings 2004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Patton KT, Thibodeau GA: Mosby’s Handbook of Anatomy and Physiology Mosby, St. Louis 2006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pPr marL="0" indent="0">
              <a:buNone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3907807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2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ACC404-5CD5-4669-8A77-04C31E1956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6CCDEF-A66B-400F-A8FC-45D74921D6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563F32-D9C3-43B6-835D-7ED5835DC4AB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46a2430f-9ab9-4612-89ab-e74f08578de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SCU PPT Template Final v2 - Copy</Template>
  <TotalTime>8227</TotalTime>
  <Words>807</Words>
  <Application>Microsoft Office PowerPoint</Application>
  <PresentationFormat>Widescreen</PresentationFormat>
  <Paragraphs>137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Calibri</vt:lpstr>
      <vt:lpstr>Georgia</vt:lpstr>
      <vt:lpstr>Roboto</vt:lpstr>
      <vt:lpstr>Roboto Black</vt:lpstr>
      <vt:lpstr>Roboto Light</vt:lpstr>
      <vt:lpstr>Roboto Medium</vt:lpstr>
      <vt:lpstr>Wingdings</vt:lpstr>
      <vt:lpstr>Wingdings 2</vt:lpstr>
      <vt:lpstr>Opening Slide</vt:lpstr>
      <vt:lpstr>Chapter Slides</vt:lpstr>
      <vt:lpstr>Content Slides</vt:lpstr>
      <vt:lpstr>Civic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Bone health: Key cells and hormones</vt:lpstr>
      <vt:lpstr>Factors that contribute to osteoporosis</vt:lpstr>
      <vt:lpstr>PowerPoint Presentation</vt:lpstr>
      <vt:lpstr>PowerPoint Presentation</vt:lpstr>
      <vt:lpstr>PTH: The hormone of the parathyroid gland</vt:lpstr>
      <vt:lpstr>PowerPoint Presentation</vt:lpstr>
      <vt:lpstr>PowerPoint Presentation</vt:lpstr>
      <vt:lpstr>PowerPoint Presentation</vt:lpstr>
      <vt:lpstr>  Parathyroid gland secretes PARATHYROID HORMONE (PTH) (Stimulated by low levels of calcium)</vt:lpstr>
      <vt:lpstr>PowerPoint Presentation</vt:lpstr>
      <vt:lpstr>Glucocorticoid induced bone disease</vt:lpstr>
      <vt:lpstr>PowerPoint Presentation</vt:lpstr>
      <vt:lpstr>PowerPoint Presentation</vt:lpstr>
      <vt:lpstr>PowerPoint Presentation</vt:lpstr>
      <vt:lpstr>PowerPoint Presentation</vt:lpstr>
      <vt:lpstr>Other treatments for osteoporosis</vt:lpstr>
      <vt:lpstr>Other treatments for osteoporosis</vt:lpstr>
      <vt:lpstr>Other treatments for osteoporosis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f</dc:creator>
  <cp:lastModifiedBy>Ken Wojcikowski</cp:lastModifiedBy>
  <cp:revision>149</cp:revision>
  <dcterms:created xsi:type="dcterms:W3CDTF">2017-08-04T08:55:49Z</dcterms:created>
  <dcterms:modified xsi:type="dcterms:W3CDTF">2022-11-28T09:17:56Z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