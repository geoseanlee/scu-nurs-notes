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62" r:id="rId6"/>
  </p:sldMasterIdLst>
  <p:notesMasterIdLst>
    <p:notesMasterId r:id="rId34"/>
  </p:notesMasterIdLst>
  <p:sldIdLst>
    <p:sldId id="268" r:id="rId7"/>
    <p:sldId id="325" r:id="rId8"/>
    <p:sldId id="328" r:id="rId9"/>
    <p:sldId id="503" r:id="rId10"/>
    <p:sldId id="488" r:id="rId11"/>
    <p:sldId id="348" r:id="rId12"/>
    <p:sldId id="489" r:id="rId13"/>
    <p:sldId id="349" r:id="rId14"/>
    <p:sldId id="397" r:id="rId15"/>
    <p:sldId id="504" r:id="rId16"/>
    <p:sldId id="445" r:id="rId17"/>
    <p:sldId id="442" r:id="rId18"/>
    <p:sldId id="484" r:id="rId19"/>
    <p:sldId id="446" r:id="rId20"/>
    <p:sldId id="354" r:id="rId21"/>
    <p:sldId id="505" r:id="rId22"/>
    <p:sldId id="448" r:id="rId23"/>
    <p:sldId id="449" r:id="rId24"/>
    <p:sldId id="519" r:id="rId25"/>
    <p:sldId id="490" r:id="rId26"/>
    <p:sldId id="358" r:id="rId27"/>
    <p:sldId id="359" r:id="rId28"/>
    <p:sldId id="506" r:id="rId29"/>
    <p:sldId id="450" r:id="rId30"/>
    <p:sldId id="451" r:id="rId31"/>
    <p:sldId id="452" r:id="rId32"/>
    <p:sldId id="52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89" d="100"/>
          <a:sy n="89" d="100"/>
        </p:scale>
        <p:origin x="451"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C33C97-28D6-4F4C-84F8-D69D4FAEA4DC}" type="datetimeFigureOut">
              <a:rPr lang="en-AU" smtClean="0"/>
              <a:t>29/10/2022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DC1017-1993-4FE4-A974-C1311C8AB67E}" type="slidenum">
              <a:rPr lang="en-AU" smtClean="0"/>
              <a:t>‹#›</a:t>
            </a:fld>
            <a:endParaRPr lang="en-AU"/>
          </a:p>
        </p:txBody>
      </p:sp>
    </p:spTree>
    <p:extLst>
      <p:ext uri="{BB962C8B-B14F-4D97-AF65-F5344CB8AC3E}">
        <p14:creationId xmlns:p14="http://schemas.microsoft.com/office/powerpoint/2010/main" val="405950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5BB0569-0ACD-4FFA-8FAA-1D71C75506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FE39011D-1001-4B8E-8760-3EA6DD4FA8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a:p>
        </p:txBody>
      </p:sp>
      <p:sp>
        <p:nvSpPr>
          <p:cNvPr id="19460" name="Slide Number Placeholder 3">
            <a:extLst>
              <a:ext uri="{FF2B5EF4-FFF2-40B4-BE49-F238E27FC236}">
                <a16:creationId xmlns:a16="http://schemas.microsoft.com/office/drawing/2014/main" id="{F774629F-D2D0-412D-8660-BB1DB55B37E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0E35340B-1188-4F07-99D5-04C1465909A3}" type="slidenum">
              <a:rPr kumimoji="0" lang="en-AU"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auto" latinLnBrk="0" hangingPunct="1">
                <a:lnSpc>
                  <a:spcPct val="100000"/>
                </a:lnSpc>
                <a:spcBef>
                  <a:spcPct val="0"/>
                </a:spcBef>
                <a:spcAft>
                  <a:spcPts val="0"/>
                </a:spcAft>
                <a:buClrTx/>
                <a:buSzTx/>
                <a:buFontTx/>
                <a:buNone/>
                <a:tabLst/>
                <a:defRPr/>
              </a:pPr>
              <a:t>6</a:t>
            </a:fld>
            <a:endParaRPr kumimoji="0" lang="en-AU"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5BB0569-0ACD-4FFA-8FAA-1D71C75506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FE39011D-1001-4B8E-8760-3EA6DD4FA8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a:p>
        </p:txBody>
      </p:sp>
      <p:sp>
        <p:nvSpPr>
          <p:cNvPr id="19460" name="Slide Number Placeholder 3">
            <a:extLst>
              <a:ext uri="{FF2B5EF4-FFF2-40B4-BE49-F238E27FC236}">
                <a16:creationId xmlns:a16="http://schemas.microsoft.com/office/drawing/2014/main" id="{F774629F-D2D0-412D-8660-BB1DB55B37E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0E35340B-1188-4F07-99D5-04C1465909A3}" type="slidenum">
              <a:rPr kumimoji="0" lang="en-AU"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auto" latinLnBrk="0" hangingPunct="1">
                <a:lnSpc>
                  <a:spcPct val="100000"/>
                </a:lnSpc>
                <a:spcBef>
                  <a:spcPct val="0"/>
                </a:spcBef>
                <a:spcAft>
                  <a:spcPts val="0"/>
                </a:spcAft>
                <a:buClrTx/>
                <a:buSzTx/>
                <a:buFontTx/>
                <a:buNone/>
                <a:tabLst/>
                <a:defRPr/>
              </a:pPr>
              <a:t>7</a:t>
            </a:fld>
            <a:endParaRPr kumimoji="0" lang="en-AU"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604043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2B3E3BB3-A7E8-4E6B-A30C-7A64AD661D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ACD2EC01-FF51-4F95-A5F2-0EE7B4C015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a:p>
        </p:txBody>
      </p:sp>
      <p:sp>
        <p:nvSpPr>
          <p:cNvPr id="21508" name="Slide Number Placeholder 3">
            <a:extLst>
              <a:ext uri="{FF2B5EF4-FFF2-40B4-BE49-F238E27FC236}">
                <a16:creationId xmlns:a16="http://schemas.microsoft.com/office/drawing/2014/main" id="{912EF610-267C-4648-86A1-D7DF3CD6CF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15849580-E12B-48C5-8D21-F77F9B52A56E}" type="slidenum">
              <a:rPr kumimoji="0" lang="en-AU"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auto" latinLnBrk="0" hangingPunct="1">
                <a:lnSpc>
                  <a:spcPct val="100000"/>
                </a:lnSpc>
                <a:spcBef>
                  <a:spcPct val="0"/>
                </a:spcBef>
                <a:spcAft>
                  <a:spcPts val="0"/>
                </a:spcAft>
                <a:buClrTx/>
                <a:buSzTx/>
                <a:buFontTx/>
                <a:buNone/>
                <a:tabLst/>
                <a:defRPr/>
              </a:pPr>
              <a:t>8</a:t>
            </a:fld>
            <a:endParaRPr kumimoji="0" lang="en-AU"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C453B86A-63B1-46D0-9350-E8DFEB1192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008107D6-4856-4DEB-ABCC-1B14BB73F1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a:p>
        </p:txBody>
      </p:sp>
      <p:sp>
        <p:nvSpPr>
          <p:cNvPr id="32772" name="Slide Number Placeholder 3">
            <a:extLst>
              <a:ext uri="{FF2B5EF4-FFF2-40B4-BE49-F238E27FC236}">
                <a16:creationId xmlns:a16="http://schemas.microsoft.com/office/drawing/2014/main" id="{07783787-271A-48AE-822F-5B1E1AED7D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1C03A7B2-352C-4790-9A5D-B45FEA9EA4B5}" type="slidenum">
              <a:rPr kumimoji="0" lang="en-AU"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auto" latinLnBrk="0" hangingPunct="1">
                <a:lnSpc>
                  <a:spcPct val="100000"/>
                </a:lnSpc>
                <a:spcBef>
                  <a:spcPct val="0"/>
                </a:spcBef>
                <a:spcAft>
                  <a:spcPts val="0"/>
                </a:spcAft>
                <a:buClrTx/>
                <a:buSzTx/>
                <a:buFontTx/>
                <a:buNone/>
                <a:tabLst/>
                <a:defRPr/>
              </a:pPr>
              <a:t>15</a:t>
            </a:fld>
            <a:endParaRPr kumimoji="0" lang="en-AU"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2B3E3BB3-A7E8-4E6B-A30C-7A64AD661D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ACD2EC01-FF51-4F95-A5F2-0EE7B4C015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a:p>
        </p:txBody>
      </p:sp>
      <p:sp>
        <p:nvSpPr>
          <p:cNvPr id="21508" name="Slide Number Placeholder 3">
            <a:extLst>
              <a:ext uri="{FF2B5EF4-FFF2-40B4-BE49-F238E27FC236}">
                <a16:creationId xmlns:a16="http://schemas.microsoft.com/office/drawing/2014/main" id="{912EF610-267C-4648-86A1-D7DF3CD6CF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15849580-E12B-48C5-8D21-F77F9B52A56E}" type="slidenum">
              <a:rPr kumimoji="0" lang="en-AU"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auto" latinLnBrk="0" hangingPunct="1">
                <a:lnSpc>
                  <a:spcPct val="100000"/>
                </a:lnSpc>
                <a:spcBef>
                  <a:spcPct val="0"/>
                </a:spcBef>
                <a:spcAft>
                  <a:spcPts val="0"/>
                </a:spcAft>
                <a:buClrTx/>
                <a:buSzTx/>
                <a:buFontTx/>
                <a:buNone/>
                <a:tabLst/>
                <a:defRPr/>
              </a:pPr>
              <a:t>19</a:t>
            </a:fld>
            <a:endParaRPr kumimoji="0" lang="en-AU"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855880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40AD038C-0200-4613-AE55-84B80078AE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E98845BC-5DFE-46A5-BC33-01B47BED83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a:p>
        </p:txBody>
      </p:sp>
      <p:sp>
        <p:nvSpPr>
          <p:cNvPr id="40964" name="Slide Number Placeholder 3">
            <a:extLst>
              <a:ext uri="{FF2B5EF4-FFF2-40B4-BE49-F238E27FC236}">
                <a16:creationId xmlns:a16="http://schemas.microsoft.com/office/drawing/2014/main" id="{5D854342-C889-413A-82F8-3014B217ED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AEBDA051-1182-483B-840D-8B3A0AFEF986}" type="slidenum">
              <a:rPr kumimoji="0" lang="en-AU"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auto" latinLnBrk="0" hangingPunct="1">
                <a:lnSpc>
                  <a:spcPct val="100000"/>
                </a:lnSpc>
                <a:spcBef>
                  <a:spcPct val="0"/>
                </a:spcBef>
                <a:spcAft>
                  <a:spcPts val="0"/>
                </a:spcAft>
                <a:buClrTx/>
                <a:buSzTx/>
                <a:buFontTx/>
                <a:buNone/>
                <a:tabLst/>
                <a:defRPr/>
              </a:pPr>
              <a:t>21</a:t>
            </a:fld>
            <a:endParaRPr kumimoji="0" lang="en-AU"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FEC06BA2-82EB-4133-963D-CE994DAF1C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D3D04A87-021D-4C4D-B12C-5A838832FB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a:p>
        </p:txBody>
      </p:sp>
      <p:sp>
        <p:nvSpPr>
          <p:cNvPr id="43012" name="Slide Number Placeholder 3">
            <a:extLst>
              <a:ext uri="{FF2B5EF4-FFF2-40B4-BE49-F238E27FC236}">
                <a16:creationId xmlns:a16="http://schemas.microsoft.com/office/drawing/2014/main" id="{F77C5A9C-36A4-4CDB-B340-1E45516D4A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CE103283-9463-47E4-AB00-8752E8CE45EC}" type="slidenum">
              <a:rPr kumimoji="0" lang="en-AU"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auto" latinLnBrk="0" hangingPunct="1">
                <a:lnSpc>
                  <a:spcPct val="100000"/>
                </a:lnSpc>
                <a:spcBef>
                  <a:spcPct val="0"/>
                </a:spcBef>
                <a:spcAft>
                  <a:spcPts val="0"/>
                </a:spcAft>
                <a:buClrTx/>
                <a:buSzTx/>
                <a:buFontTx/>
                <a:buNone/>
                <a:tabLst/>
                <a:defRPr/>
              </a:pPr>
              <a:t>22</a:t>
            </a:fld>
            <a:endParaRPr kumimoji="0" lang="en-AU"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D3C2-BB90-47DF-B4FA-06E9359B4F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31F6387B-9956-4EA5-827F-F1B2E7D0B0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51941EB7-7887-4BE9-806D-A323CDCEFD82}"/>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5" name="Footer Placeholder 4">
            <a:extLst>
              <a:ext uri="{FF2B5EF4-FFF2-40B4-BE49-F238E27FC236}">
                <a16:creationId xmlns:a16="http://schemas.microsoft.com/office/drawing/2014/main" id="{03DA3111-5BA8-485E-AF30-4597393D5C1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53D7435-F258-4360-A166-DA48E1829C10}"/>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2904706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83171-3ABD-47C3-9A3A-EB3CED6D146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9820E66-6027-4A49-B2E8-7E1AE35C15D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951FAD3-3738-4E6C-A54E-7065DA963B6C}"/>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5" name="Footer Placeholder 4">
            <a:extLst>
              <a:ext uri="{FF2B5EF4-FFF2-40B4-BE49-F238E27FC236}">
                <a16:creationId xmlns:a16="http://schemas.microsoft.com/office/drawing/2014/main" id="{B29FDA7A-6201-4A0A-80AB-701760A1E04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810FAA-0764-4F9A-A1A1-40466E8B09E0}"/>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3288881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C5F8D-28F0-44F2-9519-655F1FB6B1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8E82550-DE8D-4524-B624-8D7688BB61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E0C1D2-F7C1-4C94-8B1A-61CF95D604D0}"/>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5" name="Footer Placeholder 4">
            <a:extLst>
              <a:ext uri="{FF2B5EF4-FFF2-40B4-BE49-F238E27FC236}">
                <a16:creationId xmlns:a16="http://schemas.microsoft.com/office/drawing/2014/main" id="{0D0E0C88-44DC-4230-B847-2775EB92E72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A174163-54A2-48B2-B7BF-F7BD896FA80A}"/>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1375195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04095-A5EA-4E87-A62B-15EEF018558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35E1B7A-BF3E-4867-AB2C-727FDB42DB0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EB69DE5-9F2C-4FB7-BE19-9CB56F64D29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157FFEC-F17B-4B76-83EA-2D8265ABE362}"/>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6" name="Footer Placeholder 5">
            <a:extLst>
              <a:ext uri="{FF2B5EF4-FFF2-40B4-BE49-F238E27FC236}">
                <a16:creationId xmlns:a16="http://schemas.microsoft.com/office/drawing/2014/main" id="{4CACC13C-A42B-4BBB-B5EB-BB58C4064AA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2BA081E-5679-4523-97CA-60408A67FD31}"/>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3020550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CC9E-0A1C-4CED-B320-2BC85E40BE7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F6BAEB0-8F83-43B0-992A-C626B0C810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B9A748F-9EF7-4445-83C9-350CA0A60C7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3108B20-3C4D-44BA-8A79-B78D72C1AE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CEFE55F-D692-45EC-9DC0-4682DD5DC87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9BE042F-1075-4B33-94BD-A50F42A76696}"/>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8" name="Footer Placeholder 7">
            <a:extLst>
              <a:ext uri="{FF2B5EF4-FFF2-40B4-BE49-F238E27FC236}">
                <a16:creationId xmlns:a16="http://schemas.microsoft.com/office/drawing/2014/main" id="{44BE0C10-4CAD-4B83-A2C8-174EF64BF93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6DCFE3BE-71B0-44C3-AE52-31805C8C09E0}"/>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2340826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1B12-C85A-4BA8-840D-561935E508F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317A4E9-2944-4308-A6DA-A6C6213A57F0}"/>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4" name="Footer Placeholder 3">
            <a:extLst>
              <a:ext uri="{FF2B5EF4-FFF2-40B4-BE49-F238E27FC236}">
                <a16:creationId xmlns:a16="http://schemas.microsoft.com/office/drawing/2014/main" id="{DB666885-4590-416B-B66D-07F0BD3895B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77C923F-1ABC-451B-89ED-B2ABEFF04F58}"/>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3135464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E07E74-5A2B-40DD-BCB5-FDB1CE2065D7}"/>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3" name="Footer Placeholder 2">
            <a:extLst>
              <a:ext uri="{FF2B5EF4-FFF2-40B4-BE49-F238E27FC236}">
                <a16:creationId xmlns:a16="http://schemas.microsoft.com/office/drawing/2014/main" id="{0648C9FD-E23B-47D8-BDBD-B0E107C7A3B8}"/>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E993AB8-C78A-4AF3-A2C0-8094673B5600}"/>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261776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88FE2-81C4-45FF-8174-CD5BC32234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1C6AE0C-71EB-42CF-95B1-EF2E94B144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FD1C2E6-E3AC-49CB-A1E8-48B244E8C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6C0AFA1-3E8B-4A73-BEAB-E50035F515AE}"/>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6" name="Footer Placeholder 5">
            <a:extLst>
              <a:ext uri="{FF2B5EF4-FFF2-40B4-BE49-F238E27FC236}">
                <a16:creationId xmlns:a16="http://schemas.microsoft.com/office/drawing/2014/main" id="{F755569C-2540-4695-81C7-198E4E7A9FB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13316C2-5CAE-49BD-9ED7-9DC1B406C24F}"/>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1486035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1E0A1-3C01-4CFE-93BE-AA7E335DE4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29BCC65C-1121-4F51-85DB-09BA123F4F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65D1E18-C174-420A-A1BB-D7C43B5EB2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5C1B40B-BF08-42C4-9DE5-528C3B76A05F}"/>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6" name="Footer Placeholder 5">
            <a:extLst>
              <a:ext uri="{FF2B5EF4-FFF2-40B4-BE49-F238E27FC236}">
                <a16:creationId xmlns:a16="http://schemas.microsoft.com/office/drawing/2014/main" id="{2C53DD3F-29C5-472E-8E39-6EB7B034BCF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18AFF17-9E10-4564-B637-F2FF1C0C7CDF}"/>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2571496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2098E-E42F-4068-990F-A3E1FD596D6F}"/>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82799DF-B784-4725-9268-6B15C44A400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8893C49-3818-4492-A348-719994F2CC82}"/>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5" name="Footer Placeholder 4">
            <a:extLst>
              <a:ext uri="{FF2B5EF4-FFF2-40B4-BE49-F238E27FC236}">
                <a16:creationId xmlns:a16="http://schemas.microsoft.com/office/drawing/2014/main" id="{1D2DCFE5-E6DB-4AA7-85A3-655FABD8865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9A63991-1FC7-44E4-9079-9F1F7AE4408B}"/>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3313005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166144-1371-4DE3-85D4-F2F3941B6D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4063F1E-B695-4F93-B8F2-5F0B409F3DA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D29F5DF-389E-4BC2-993B-D8C527E3693C}"/>
              </a:ext>
            </a:extLst>
          </p:cNvPr>
          <p:cNvSpPr>
            <a:spLocks noGrp="1"/>
          </p:cNvSpPr>
          <p:nvPr>
            <p:ph type="dt" sz="half" idx="10"/>
          </p:nvPr>
        </p:nvSpPr>
        <p:spPr/>
        <p:txBody>
          <a:bodyPr/>
          <a:lstStyle/>
          <a:p>
            <a:fld id="{21441DB9-4E7F-4438-A99E-6395B166340C}" type="datetimeFigureOut">
              <a:rPr lang="en-AU" smtClean="0"/>
              <a:t>29/10/2022</a:t>
            </a:fld>
            <a:endParaRPr lang="en-AU"/>
          </a:p>
        </p:txBody>
      </p:sp>
      <p:sp>
        <p:nvSpPr>
          <p:cNvPr id="5" name="Footer Placeholder 4">
            <a:extLst>
              <a:ext uri="{FF2B5EF4-FFF2-40B4-BE49-F238E27FC236}">
                <a16:creationId xmlns:a16="http://schemas.microsoft.com/office/drawing/2014/main" id="{413CA699-0D22-4FBE-89EE-37D22D7CFBF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BE81D98-8B3A-4154-9A7B-4F3128D2E7FD}"/>
              </a:ext>
            </a:extLst>
          </p:cNvPr>
          <p:cNvSpPr>
            <a:spLocks noGrp="1"/>
          </p:cNvSpPr>
          <p:nvPr>
            <p:ph type="sldNum" sz="quarter" idx="12"/>
          </p:nvPr>
        </p:nvSpPr>
        <p:spPr/>
        <p:txBody>
          <a:bodyPr/>
          <a:lstStyle/>
          <a:p>
            <a:fld id="{98C43373-BBD4-4658-A3CA-F856B2226D92}" type="slidenum">
              <a:rPr lang="en-AU" smtClean="0"/>
              <a:t>‹#›</a:t>
            </a:fld>
            <a:endParaRPr lang="en-AU"/>
          </a:p>
        </p:txBody>
      </p:sp>
    </p:spTree>
    <p:extLst>
      <p:ext uri="{BB962C8B-B14F-4D97-AF65-F5344CB8AC3E}">
        <p14:creationId xmlns:p14="http://schemas.microsoft.com/office/powerpoint/2010/main" val="2293978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a:t>Insert subtitle</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Presentation title</a:t>
            </a:r>
            <a:endParaRPr lang="en-US" dirty="0"/>
          </a:p>
        </p:txBody>
      </p:sp>
      <p:sp>
        <p:nvSpPr>
          <p:cNvPr id="9" name="Text Placeholder 8"/>
          <p:cNvSpPr>
            <a:spLocks noGrp="1"/>
          </p:cNvSpPr>
          <p:nvPr>
            <p:ph type="body" sz="quarter" idx="18" hasCustomPrompt="1"/>
          </p:nvPr>
        </p:nvSpPr>
        <p:spPr>
          <a:xfrm>
            <a:off x="664028" y="6100990"/>
            <a:ext cx="3024569" cy="315308"/>
          </a:xfrm>
          <a:prstGeom prst="rect">
            <a:avLst/>
          </a:prstGeom>
        </p:spPr>
        <p:txBody>
          <a:bodyPr/>
          <a:lstStyle>
            <a:lvl1pPr marL="0" indent="0">
              <a:buNone/>
              <a:defRPr sz="1200" b="0" i="0">
                <a:solidFill>
                  <a:srgbClr val="007298"/>
                </a:solidFill>
                <a:latin typeface="Roboto Light" charset="0"/>
                <a:ea typeface="Roboto Light" charset="0"/>
                <a:cs typeface="Roboto Light"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 Month 2017</a:t>
            </a:r>
            <a:endParaRPr lang="en-US" dirty="0"/>
          </a:p>
        </p:txBody>
      </p:sp>
    </p:spTree>
    <p:extLst>
      <p:ext uri="{BB962C8B-B14F-4D97-AF65-F5344CB8AC3E}">
        <p14:creationId xmlns:p14="http://schemas.microsoft.com/office/powerpoint/2010/main" val="367129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Full Colou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1" name="Text Placeholder 2"/>
          <p:cNvSpPr>
            <a:spLocks noGrp="1"/>
          </p:cNvSpPr>
          <p:nvPr>
            <p:ph type="body" sz="quarter" idx="16" hasCustomPrompt="1"/>
          </p:nvPr>
        </p:nvSpPr>
        <p:spPr>
          <a:xfrm>
            <a:off x="664029" y="2389855"/>
            <a:ext cx="3164052"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2"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
        <p:nvSpPr>
          <p:cNvPr id="14" name="Text Placeholder 2"/>
          <p:cNvSpPr>
            <a:spLocks noGrp="1"/>
          </p:cNvSpPr>
          <p:nvPr>
            <p:ph type="body" sz="quarter" idx="19" hasCustomPrompt="1"/>
          </p:nvPr>
        </p:nvSpPr>
        <p:spPr>
          <a:xfrm>
            <a:off x="4585099" y="2389854"/>
            <a:ext cx="3164054"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Tree>
    <p:extLst>
      <p:ext uri="{BB962C8B-B14F-4D97-AF65-F5344CB8AC3E}">
        <p14:creationId xmlns:p14="http://schemas.microsoft.com/office/powerpoint/2010/main" val="4239227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Full Colou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0"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1"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7"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20"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4297080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8"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9"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078457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4022942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5173355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746183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5643380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eavy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0" name="Text Placeholder 2"/>
          <p:cNvSpPr>
            <a:spLocks noGrp="1"/>
          </p:cNvSpPr>
          <p:nvPr>
            <p:ph type="body" sz="quarter" idx="21" hasCustomPrompt="1"/>
          </p:nvPr>
        </p:nvSpPr>
        <p:spPr>
          <a:xfrm>
            <a:off x="6328229"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
        <p:nvSpPr>
          <p:cNvPr id="11" name="Text Placeholder 2"/>
          <p:cNvSpPr>
            <a:spLocks noGrp="1"/>
          </p:cNvSpPr>
          <p:nvPr>
            <p:ph type="body" sz="quarter" idx="22" hasCustomPrompt="1"/>
          </p:nvPr>
        </p:nvSpPr>
        <p:spPr>
          <a:xfrm>
            <a:off x="664027"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3</a:t>
            </a:r>
            <a:endParaRPr lang="en-US" dirty="0"/>
          </a:p>
        </p:txBody>
      </p:sp>
      <p:sp>
        <p:nvSpPr>
          <p:cNvPr id="12" name="Text Placeholder 2"/>
          <p:cNvSpPr>
            <a:spLocks noGrp="1"/>
          </p:cNvSpPr>
          <p:nvPr>
            <p:ph type="body" sz="quarter" idx="23" hasCustomPrompt="1"/>
          </p:nvPr>
        </p:nvSpPr>
        <p:spPr>
          <a:xfrm>
            <a:off x="6328229"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4</a:t>
            </a:r>
            <a:endParaRPr lang="en-US" dirty="0"/>
          </a:p>
        </p:txBody>
      </p:sp>
      <p:sp>
        <p:nvSpPr>
          <p:cNvPr id="13"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457596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6E41C5-131C-4408-B484-F5EE13B76F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B0C006B-AAB2-4DE3-8C1F-8FD84083F9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58D4B27-F45A-451A-97DD-5F89A2697B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441DB9-4E7F-4438-A99E-6395B166340C}" type="datetimeFigureOut">
              <a:rPr lang="en-AU" smtClean="0"/>
              <a:t>29/10/2022</a:t>
            </a:fld>
            <a:endParaRPr lang="en-AU"/>
          </a:p>
        </p:txBody>
      </p:sp>
      <p:sp>
        <p:nvSpPr>
          <p:cNvPr id="5" name="Footer Placeholder 4">
            <a:extLst>
              <a:ext uri="{FF2B5EF4-FFF2-40B4-BE49-F238E27FC236}">
                <a16:creationId xmlns:a16="http://schemas.microsoft.com/office/drawing/2014/main" id="{2BD9091C-CE74-4705-841C-65DEA40A54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5811783-5698-4937-A32D-C0939FC49B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C43373-BBD4-4658-A3CA-F856B2226D92}" type="slidenum">
              <a:rPr lang="en-AU" smtClean="0"/>
              <a:t>‹#›</a:t>
            </a:fld>
            <a:endParaRPr lang="en-AU"/>
          </a:p>
        </p:txBody>
      </p:sp>
    </p:spTree>
    <p:extLst>
      <p:ext uri="{BB962C8B-B14F-4D97-AF65-F5344CB8AC3E}">
        <p14:creationId xmlns:p14="http://schemas.microsoft.com/office/powerpoint/2010/main" val="2868560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9615331"/>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3800" b="1" i="0" kern="1200" spc="150" baseline="0">
          <a:solidFill>
            <a:schemeClr val="tx1"/>
          </a:solidFill>
          <a:latin typeface="Roboto Black" charset="0"/>
          <a:ea typeface="Roboto Black" charset="0"/>
          <a:cs typeface="Roboto Black" charset="0"/>
        </a:defRPr>
      </a:lvl1pPr>
    </p:titleStyle>
    <p:bodyStyle>
      <a:lvl1pPr marL="228600" indent="-228600" algn="l" defTabSz="914400" rtl="0" eaLnBrk="1" latinLnBrk="0" hangingPunct="1">
        <a:lnSpc>
          <a:spcPct val="90000"/>
        </a:lnSpc>
        <a:spcBef>
          <a:spcPts val="1000"/>
        </a:spcBef>
        <a:buFont typeface="Arial"/>
        <a:buChar char="•"/>
        <a:defRPr sz="2400" b="0" i="0" kern="1200" baseline="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Roboto Light" charset="0"/>
          <a:ea typeface="Roboto Light" charset="0"/>
          <a:cs typeface="Roboto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793730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pinterest.com.au/pin/217650594465085044/"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hyperlink" Target="https://www.telegraph.co.uk/news/newstopics/howaboutthat"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958000-15F2-4B0B-B482-29A61645F54A}"/>
              </a:ext>
            </a:extLst>
          </p:cNvPr>
          <p:cNvSpPr>
            <a:spLocks noGrp="1"/>
          </p:cNvSpPr>
          <p:nvPr>
            <p:ph type="body" sz="quarter" idx="16"/>
          </p:nvPr>
        </p:nvSpPr>
        <p:spPr/>
        <p:txBody>
          <a:bodyPr/>
          <a:lstStyle/>
          <a:p>
            <a:endParaRPr lang="en-AU"/>
          </a:p>
        </p:txBody>
      </p:sp>
      <p:sp>
        <p:nvSpPr>
          <p:cNvPr id="3"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p:txBody>
          <a:bodyPr/>
          <a:lstStyle/>
          <a:p>
            <a:endParaRPr lang="en-AU"/>
          </a:p>
        </p:txBody>
      </p:sp>
      <p:sp>
        <p:nvSpPr>
          <p:cNvPr id="4" name="Text Placeholder 3">
            <a:extLst>
              <a:ext uri="{FF2B5EF4-FFF2-40B4-BE49-F238E27FC236}">
                <a16:creationId xmlns:a16="http://schemas.microsoft.com/office/drawing/2014/main" id="{4504BBA8-B148-4136-B2F6-6936EA3938AF}"/>
              </a:ext>
            </a:extLst>
          </p:cNvPr>
          <p:cNvSpPr>
            <a:spLocks noGrp="1"/>
          </p:cNvSpPr>
          <p:nvPr>
            <p:ph type="body" sz="quarter" idx="18"/>
          </p:nvPr>
        </p:nvSpPr>
        <p:spPr/>
        <p:txBody>
          <a:bodyPr/>
          <a:lstStyle/>
          <a:p>
            <a:endParaRPr lang="en-AU"/>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008"/>
            <a:ext cx="12192000" cy="6858000"/>
          </a:xfrm>
          <a:prstGeom prst="rect">
            <a:avLst/>
          </a:prstGeom>
        </p:spPr>
      </p:pic>
    </p:spTree>
    <p:extLst>
      <p:ext uri="{BB962C8B-B14F-4D97-AF65-F5344CB8AC3E}">
        <p14:creationId xmlns:p14="http://schemas.microsoft.com/office/powerpoint/2010/main" val="3578228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549994"/>
            <a:ext cx="7224609" cy="573088"/>
          </a:xfrm>
        </p:spPr>
        <p:txBody>
          <a:bodyPr/>
          <a:lstStyle/>
          <a:p>
            <a:r>
              <a:rPr lang="en-AU" altLang="en-US" dirty="0">
                <a:solidFill>
                  <a:srgbClr val="3A7386"/>
                </a:solidFill>
              </a:rPr>
              <a:t>First Part/Chapter of the Autonomic Nervous System (ANS)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Tree>
    <p:extLst>
      <p:ext uri="{BB962C8B-B14F-4D97-AF65-F5344CB8AC3E}">
        <p14:creationId xmlns:p14="http://schemas.microsoft.com/office/powerpoint/2010/main" val="1377272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823D03-F2D8-4ECA-8E62-A483E81FDADD}"/>
              </a:ext>
            </a:extLst>
          </p:cNvPr>
          <p:cNvSpPr>
            <a:spLocks noGrp="1"/>
          </p:cNvSpPr>
          <p:nvPr>
            <p:ph type="body" sz="quarter" idx="17"/>
          </p:nvPr>
        </p:nvSpPr>
        <p:spPr>
          <a:xfrm>
            <a:off x="664027" y="1513291"/>
            <a:ext cx="6558183" cy="573088"/>
          </a:xfrm>
        </p:spPr>
        <p:txBody>
          <a:bodyPr/>
          <a:lstStyle/>
          <a:p>
            <a:r>
              <a:rPr lang="en-AU" altLang="en-US" sz="3600" dirty="0">
                <a:solidFill>
                  <a:srgbClr val="3A7386"/>
                </a:solidFill>
                <a:latin typeface="Roboto Black" panose="02000000000000000000" pitchFamily="2" charset="0"/>
                <a:ea typeface="Roboto Black" panose="02000000000000000000" pitchFamily="2" charset="0"/>
              </a:rPr>
              <a:t>Autonomic Nervous System Pharmacology</a:t>
            </a:r>
            <a:br>
              <a:rPr lang="en-AU" dirty="0">
                <a:solidFill>
                  <a:srgbClr val="3A7386"/>
                </a:solidFill>
                <a:latin typeface="Roboto Black" panose="02000000000000000000" pitchFamily="2" charset="0"/>
                <a:ea typeface="Roboto Black" panose="02000000000000000000" pitchFamily="2" charset="0"/>
              </a:rPr>
            </a:br>
            <a:endParaRPr lang="en-AU" dirty="0"/>
          </a:p>
        </p:txBody>
      </p:sp>
      <p:sp>
        <p:nvSpPr>
          <p:cNvPr id="3" name="Text Placeholder 2">
            <a:extLst>
              <a:ext uri="{FF2B5EF4-FFF2-40B4-BE49-F238E27FC236}">
                <a16:creationId xmlns:a16="http://schemas.microsoft.com/office/drawing/2014/main" id="{CA69BF6E-E26D-4520-8B64-DD47620F1773}"/>
              </a:ext>
            </a:extLst>
          </p:cNvPr>
          <p:cNvSpPr>
            <a:spLocks noGrp="1"/>
          </p:cNvSpPr>
          <p:nvPr>
            <p:ph type="body" sz="quarter" idx="20"/>
          </p:nvPr>
        </p:nvSpPr>
        <p:spPr>
          <a:xfrm>
            <a:off x="664025" y="3195092"/>
            <a:ext cx="6745620" cy="1077415"/>
          </a:xfrm>
        </p:spPr>
        <p:txBody>
          <a:bodyPr/>
          <a:lstStyle/>
          <a:p>
            <a:pPr>
              <a:defRPr/>
            </a:pPr>
            <a:r>
              <a:rPr lang="en-AU" altLang="en-US" sz="3200" dirty="0">
                <a:solidFill>
                  <a:srgbClr val="3A7386"/>
                </a:solidFill>
                <a:latin typeface="Roboto Black" panose="02000000000000000000" pitchFamily="2" charset="0"/>
                <a:ea typeface="Roboto Black" panose="02000000000000000000" pitchFamily="2" charset="0"/>
              </a:rPr>
              <a:t>Chapter Approach for the ANS:</a:t>
            </a:r>
          </a:p>
          <a:p>
            <a:pPr marL="914400" lvl="1" indent="-457200">
              <a:buFont typeface="+mj-lt"/>
              <a:buAutoNum type="arabicPeriod"/>
              <a:defRPr/>
            </a:pPr>
            <a:r>
              <a:rPr lang="en-AU" altLang="en-US" dirty="0">
                <a:solidFill>
                  <a:srgbClr val="3A7386"/>
                </a:solidFill>
                <a:latin typeface="Roboto Black" panose="02000000000000000000" pitchFamily="2" charset="0"/>
                <a:ea typeface="Roboto Black" panose="02000000000000000000" pitchFamily="2" charset="0"/>
              </a:rPr>
              <a:t>Introduction </a:t>
            </a:r>
          </a:p>
          <a:p>
            <a:pPr marL="914400" lvl="1" indent="-457200">
              <a:buFont typeface="+mj-lt"/>
              <a:buAutoNum type="arabicPeriod"/>
              <a:defRPr/>
            </a:pPr>
            <a:r>
              <a:rPr lang="en-AU" altLang="en-US" dirty="0">
                <a:solidFill>
                  <a:srgbClr val="3A7386"/>
                </a:solidFill>
                <a:latin typeface="Roboto Black" panose="02000000000000000000" pitchFamily="2" charset="0"/>
                <a:ea typeface="Roboto Black" panose="02000000000000000000" pitchFamily="2" charset="0"/>
              </a:rPr>
              <a:t>Adrenergic pharmacology (Agonists) </a:t>
            </a:r>
          </a:p>
          <a:p>
            <a:pPr marL="914400" lvl="1" indent="-457200">
              <a:buFont typeface="+mj-lt"/>
              <a:buAutoNum type="arabicPeriod"/>
              <a:defRPr/>
            </a:pPr>
            <a:r>
              <a:rPr lang="en-AU" altLang="en-US" dirty="0">
                <a:solidFill>
                  <a:srgbClr val="3A7386"/>
                </a:solidFill>
                <a:latin typeface="Roboto Black" panose="02000000000000000000" pitchFamily="2" charset="0"/>
                <a:ea typeface="Roboto Black" panose="02000000000000000000" pitchFamily="2" charset="0"/>
              </a:rPr>
              <a:t>Adrenergic pharmacology (Antagonists)</a:t>
            </a:r>
          </a:p>
          <a:p>
            <a:pPr marL="914400" lvl="1" indent="-457200">
              <a:buFont typeface="+mj-lt"/>
              <a:buAutoNum type="arabicPeriod"/>
              <a:defRPr/>
            </a:pPr>
            <a:r>
              <a:rPr lang="en-AU" altLang="en-US" dirty="0">
                <a:solidFill>
                  <a:srgbClr val="3A7386"/>
                </a:solidFill>
                <a:latin typeface="Roboto Black" panose="02000000000000000000" pitchFamily="2" charset="0"/>
                <a:ea typeface="Roboto Black" panose="02000000000000000000" pitchFamily="2" charset="0"/>
              </a:rPr>
              <a:t>Cholinergic pharmacology</a:t>
            </a:r>
          </a:p>
          <a:p>
            <a:endParaRPr lang="en-AU" dirty="0"/>
          </a:p>
        </p:txBody>
      </p:sp>
    </p:spTree>
    <p:extLst>
      <p:ext uri="{BB962C8B-B14F-4D97-AF65-F5344CB8AC3E}">
        <p14:creationId xmlns:p14="http://schemas.microsoft.com/office/powerpoint/2010/main" val="762169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1"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1400692" y="2025538"/>
            <a:ext cx="9535264"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Foundational Information for Understanding Autonomic Nervous System (ANS) Pharmacology</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sz="3600" b="1" i="0" u="none" strike="noStrike" kern="1200" cap="none" spc="0" normalizeH="0" baseline="0" noProof="0" dirty="0">
                <a:ln>
                  <a:noFill/>
                </a:ln>
                <a:solidFill>
                  <a:srgbClr val="06678A"/>
                </a:solidFill>
                <a:effectLst/>
                <a:uLnTx/>
                <a:uFillTx/>
                <a:latin typeface="Roboto Black" charset="0"/>
                <a:ea typeface="Roboto Black" charset="0"/>
              </a:rPr>
              <a:t>Lesson 1:</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sz="3600" b="1" i="0" u="none" strike="noStrike" kern="1200" cap="none" spc="0" normalizeH="0" baseline="0" noProof="0" dirty="0">
                <a:ln>
                  <a:noFill/>
                </a:ln>
                <a:solidFill>
                  <a:srgbClr val="06678A"/>
                </a:solidFill>
                <a:effectLst/>
                <a:uLnTx/>
                <a:uFillTx/>
                <a:latin typeface="Roboto Black" charset="0"/>
                <a:ea typeface="Roboto Black" charset="0"/>
              </a:rPr>
              <a:t>Overview of the autonomic nervous system </a:t>
            </a:r>
            <a:br>
              <a:rPr kumimoji="0" lang="en-AU" sz="3600" b="1"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rPr>
            </a:b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599259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F1075F-206E-4D26-9515-2AFFEB29D620}"/>
              </a:ext>
            </a:extLst>
          </p:cNvPr>
          <p:cNvSpPr/>
          <p:nvPr/>
        </p:nvSpPr>
        <p:spPr>
          <a:xfrm>
            <a:off x="805218" y="1229015"/>
            <a:ext cx="10836322" cy="5632311"/>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rPr>
              <a:t>Describe the general properties of the ANS including the bodily functions it helps regulate, its two neuron nature, the neurotransmitters used, and the enzymes that degrade those neurotransmitters in the synaptic cleft.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rPr>
              <a:t>Give the other names of a sympathomimetic drug (for instance, adrenergic agonist), a sympatholytic drug (for instance, an adrenergic antagonist or blocker), an acetylcholine agonist (for instance, a muscarinic drug) and an acetylcholine antagonist (for instance, an antimuscarinic drug)</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rPr>
              <a:t>Name the structures affected by the alpha 1, the beta 1 and the beta 2 receptors of the sympathetic nervous system, and for each of those structures note the effect of a 1. Sympathomimetic drug, and 2. Sympatholytic drug.</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rPr>
              <a:t>Compare the actions of the sympathetic and parasympathetic nervous systems on the heart, the pupils of the eyes, the entire gastrointestinal system including the amount of saliva that is produced, the lungs, and the urinary bladder</a:t>
            </a:r>
            <a:r>
              <a:rPr kumimoji="0" lang="en-US" sz="24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prstClr val="black"/>
                </a:solidFill>
                <a:effectLst/>
                <a:uLnTx/>
                <a:uFillTx/>
                <a:latin typeface="inherit"/>
                <a:ea typeface="+mn-ea"/>
                <a:cs typeface="+mn-cs"/>
              </a:rPr>
            </a:br>
            <a:endPar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Placeholder 1">
            <a:extLst>
              <a:ext uri="{FF2B5EF4-FFF2-40B4-BE49-F238E27FC236}">
                <a16:creationId xmlns:a16="http://schemas.microsoft.com/office/drawing/2014/main" id="{16297053-9B82-4510-8FBF-C57053750A87}"/>
              </a:ext>
            </a:extLst>
          </p:cNvPr>
          <p:cNvSpPr txBox="1">
            <a:spLocks/>
          </p:cNvSpPr>
          <p:nvPr/>
        </p:nvSpPr>
        <p:spPr>
          <a:xfrm>
            <a:off x="1815070" y="421471"/>
            <a:ext cx="8561860" cy="5730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36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rPr>
              <a:t>Objectives for first ANS chapter</a:t>
            </a:r>
            <a:br>
              <a:rPr kumimoji="0" lang="en-AU" sz="2800" b="0" i="0" u="none" strike="noStrike" kern="1200" cap="none" spc="0" normalizeH="0" baseline="0" noProof="0" dirty="0">
                <a:ln>
                  <a:noFill/>
                </a:ln>
                <a:solidFill>
                  <a:srgbClr val="3A7386"/>
                </a:solidFill>
                <a:effectLst/>
                <a:uLnTx/>
                <a:uFillTx/>
                <a:latin typeface="Roboto Black" panose="02000000000000000000" pitchFamily="2" charset="0"/>
                <a:ea typeface="Roboto Black" panose="02000000000000000000" pitchFamily="2" charset="0"/>
                <a:cs typeface="+mn-cs"/>
              </a:rPr>
            </a:b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4937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2" name="Picture 4" descr="Image result for cns pns flow chart">
            <a:extLst>
              <a:ext uri="{FF2B5EF4-FFF2-40B4-BE49-F238E27FC236}">
                <a16:creationId xmlns:a16="http://schemas.microsoft.com/office/drawing/2014/main" id="{B2EB7911-64C1-4A3B-81EA-573CA4239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0"/>
            <a:ext cx="9847263"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3">
            <a:extLst>
              <a:ext uri="{FF2B5EF4-FFF2-40B4-BE49-F238E27FC236}">
                <a16:creationId xmlns:a16="http://schemas.microsoft.com/office/drawing/2014/main" id="{4A50E740-A3B3-4F83-9A63-3B5BA9F57EB7}"/>
              </a:ext>
            </a:extLst>
          </p:cNvPr>
          <p:cNvSpPr txBox="1">
            <a:spLocks/>
          </p:cNvSpPr>
          <p:nvPr/>
        </p:nvSpPr>
        <p:spPr>
          <a:xfrm>
            <a:off x="794656" y="5825218"/>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0" i="0" u="none" strike="noStrike" kern="1200" cap="none" spc="0" normalizeH="0" baseline="0" noProof="0" dirty="0">
                <a:ln>
                  <a:noFill/>
                </a:ln>
                <a:solidFill>
                  <a:prstClr val="black"/>
                </a:solidFill>
                <a:effectLst/>
                <a:uLnTx/>
                <a:uFillTx/>
                <a:latin typeface="Roboto Black" panose="02000000000000000000" pitchFamily="2" charset="0"/>
                <a:ea typeface="Roboto Black" panose="02000000000000000000" pitchFamily="2" charset="0"/>
                <a:cs typeface="+mn-cs"/>
              </a:rPr>
              <a:t>Pinrest.com </a:t>
            </a: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https://www.pinterest.com.au/pin/217650594465085044/</a:t>
            </a:r>
            <a:endParaRPr kumimoji="0" lang="en-AU" sz="1400" b="0" i="0" u="none" strike="noStrike" kern="1200" cap="none" spc="0" normalizeH="0" baseline="0" noProof="0" dirty="0">
              <a:ln>
                <a:noFill/>
              </a:ln>
              <a:solidFill>
                <a:prstClr val="black"/>
              </a:solidFill>
              <a:effectLst/>
              <a:uLnTx/>
              <a:uFillTx/>
              <a:latin typeface="Roboto Black" panose="02000000000000000000" pitchFamily="2" charset="0"/>
              <a:ea typeface="Roboto Black" panose="02000000000000000000" pitchFamily="2" charset="0"/>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o.quizlet.com/RrOr2mDi0Wo6QBLFQj0jhQ_m.png">
            <a:extLst>
              <a:ext uri="{FF2B5EF4-FFF2-40B4-BE49-F238E27FC236}">
                <a16:creationId xmlns:a16="http://schemas.microsoft.com/office/drawing/2014/main" id="{8C48DDE6-6F74-476E-89BA-9CBB31F8E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226" y="-54716"/>
            <a:ext cx="6972264" cy="6912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1879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59784-725C-498D-A9E2-ED897109F01E}"/>
              </a:ext>
            </a:extLst>
          </p:cNvPr>
          <p:cNvSpPr>
            <a:spLocks noGrp="1"/>
          </p:cNvSpPr>
          <p:nvPr>
            <p:ph type="title"/>
          </p:nvPr>
        </p:nvSpPr>
        <p:spPr/>
        <p:txBody>
          <a:bodyPr/>
          <a:lstStyle/>
          <a:p>
            <a:pPr eaLnBrk="1" hangingPunct="1">
              <a:defRPr/>
            </a:pPr>
            <a:r>
              <a:rPr lang="en-AU" dirty="0"/>
              <a:t>Neurotransmitters of the ANS</a:t>
            </a:r>
          </a:p>
        </p:txBody>
      </p:sp>
      <p:sp>
        <p:nvSpPr>
          <p:cNvPr id="20483" name="Content Placeholder 2">
            <a:extLst>
              <a:ext uri="{FF2B5EF4-FFF2-40B4-BE49-F238E27FC236}">
                <a16:creationId xmlns:a16="http://schemas.microsoft.com/office/drawing/2014/main" id="{C49344E1-E98A-42D4-AB60-53350262414D}"/>
              </a:ext>
            </a:extLst>
          </p:cNvPr>
          <p:cNvSpPr>
            <a:spLocks noGrp="1"/>
          </p:cNvSpPr>
          <p:nvPr>
            <p:ph idx="1"/>
          </p:nvPr>
        </p:nvSpPr>
        <p:spPr>
          <a:xfrm>
            <a:off x="1825625" y="1527175"/>
            <a:ext cx="8504238" cy="4572000"/>
          </a:xfrm>
        </p:spPr>
        <p:txBody>
          <a:bodyPr/>
          <a:lstStyle/>
          <a:p>
            <a:pPr eaLnBrk="1" hangingPunct="1"/>
            <a:endParaRPr lang="en-AU" altLang="en-US"/>
          </a:p>
        </p:txBody>
      </p:sp>
      <p:pic>
        <p:nvPicPr>
          <p:cNvPr id="20484" name="Picture 2" descr="http://www.austincc.edu/rfofi/NursingRvw/NursingPics/PNSefferentPics/Picture1.jpg">
            <a:extLst>
              <a:ext uri="{FF2B5EF4-FFF2-40B4-BE49-F238E27FC236}">
                <a16:creationId xmlns:a16="http://schemas.microsoft.com/office/drawing/2014/main" id="{2644ED7A-CD86-4C84-860B-C890CE0D3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471" y="0"/>
            <a:ext cx="11624546" cy="680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itle 1">
            <a:extLst>
              <a:ext uri="{FF2B5EF4-FFF2-40B4-BE49-F238E27FC236}">
                <a16:creationId xmlns:a16="http://schemas.microsoft.com/office/drawing/2014/main" id="{52A5BC89-58CB-438F-856A-BF6289869AE4}"/>
              </a:ext>
            </a:extLst>
          </p:cNvPr>
          <p:cNvSpPr txBox="1">
            <a:spLocks/>
          </p:cNvSpPr>
          <p:nvPr/>
        </p:nvSpPr>
        <p:spPr bwMode="auto">
          <a:xfrm>
            <a:off x="1774825" y="6021388"/>
            <a:ext cx="92900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altLang="en-US" sz="1300" b="1" i="0" u="none" strike="noStrike" kern="1200" cap="none" spc="0" normalizeH="0" baseline="0" noProof="0">
                <a:ln>
                  <a:noFill/>
                </a:ln>
                <a:solidFill>
                  <a:srgbClr val="C00000"/>
                </a:solidFill>
                <a:effectLst/>
                <a:uLnTx/>
                <a:uFillTx/>
                <a:latin typeface="Georgia" panose="02040502050405020303" pitchFamily="18" charset="0"/>
                <a:ea typeface="+mn-ea"/>
                <a:cs typeface="+mn-cs"/>
              </a:rPr>
              <a:t>(Neurotransmitters are degraded by COMT and MAO in the SNS and Acetylcholinesterase in the PNS)</a:t>
            </a:r>
          </a:p>
        </p:txBody>
      </p:sp>
      <p:sp>
        <p:nvSpPr>
          <p:cNvPr id="6" name="Text Placeholder 3">
            <a:extLst>
              <a:ext uri="{FF2B5EF4-FFF2-40B4-BE49-F238E27FC236}">
                <a16:creationId xmlns:a16="http://schemas.microsoft.com/office/drawing/2014/main" id="{22057B3D-F360-49A0-A8E6-E035E2F5A038}"/>
              </a:ext>
            </a:extLst>
          </p:cNvPr>
          <p:cNvSpPr txBox="1">
            <a:spLocks/>
          </p:cNvSpPr>
          <p:nvPr/>
        </p:nvSpPr>
        <p:spPr>
          <a:xfrm>
            <a:off x="576942" y="53975"/>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0" i="0" u="none" strike="noStrike" kern="1200" cap="none" spc="0" normalizeH="0" baseline="0" noProof="0" dirty="0">
                <a:ln>
                  <a:noFill/>
                </a:ln>
                <a:solidFill>
                  <a:srgbClr val="FF0000"/>
                </a:solidFill>
                <a:effectLst/>
                <a:uLnTx/>
                <a:uFillTx/>
                <a:latin typeface="Roboto Black" panose="02000000000000000000" pitchFamily="2" charset="0"/>
                <a:ea typeface="Roboto Black" panose="02000000000000000000" pitchFamily="2" charset="0"/>
                <a:cs typeface="+mn-cs"/>
              </a:rPr>
              <a:t>From: Pearson Education Inc.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0" i="0" u="none" strike="noStrike" kern="1200" cap="none" spc="0" normalizeH="0" baseline="0" noProof="0" dirty="0">
                <a:ln>
                  <a:noFill/>
                </a:ln>
                <a:solidFill>
                  <a:srgbClr val="FF0000"/>
                </a:solidFill>
                <a:effectLst/>
                <a:uLnTx/>
                <a:uFillTx/>
                <a:latin typeface="Roboto Black" panose="02000000000000000000" pitchFamily="2" charset="0"/>
                <a:ea typeface="Roboto Black" panose="02000000000000000000" pitchFamily="2" charset="0"/>
                <a:cs typeface="+mn-cs"/>
              </a:rPr>
              <a:t>Benjamin Cummings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DFEC3A8-1EEA-4DBB-B7B5-A4FD7FBFA4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1446" y="-580571"/>
            <a:ext cx="10337753" cy="7887767"/>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1"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1400692" y="2025538"/>
            <a:ext cx="9535264"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Foundational Information for Understanding ANS Pharmacology</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sz="3600" b="1" i="0" u="none" strike="noStrike" kern="1200" cap="none" spc="0" normalizeH="0" baseline="0" noProof="0" dirty="0">
                <a:ln>
                  <a:noFill/>
                </a:ln>
                <a:solidFill>
                  <a:srgbClr val="06678A"/>
                </a:solidFill>
                <a:effectLst/>
                <a:uLnTx/>
                <a:uFillTx/>
                <a:latin typeface="Roboto Black" charset="0"/>
                <a:ea typeface="Roboto Black" charset="0"/>
              </a:rPr>
              <a:t>Lesson 2:</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sz="3600" b="1" i="0" u="none" strike="noStrike" kern="1200" cap="none" spc="0" normalizeH="0" baseline="0" noProof="0" dirty="0">
                <a:ln>
                  <a:noFill/>
                </a:ln>
                <a:solidFill>
                  <a:srgbClr val="06678A"/>
                </a:solidFill>
                <a:effectLst/>
                <a:uLnTx/>
                <a:uFillTx/>
                <a:latin typeface="Roboto Black" charset="0"/>
                <a:ea typeface="Roboto Black" charset="0"/>
              </a:rPr>
              <a:t>Using logic to understand the divisions of the ANS</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4243392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0BD6FC-EFDB-4AF0-8465-AD741FF3EDF5}"/>
              </a:ext>
            </a:extLst>
          </p:cNvPr>
          <p:cNvSpPr>
            <a:spLocks noGrp="1"/>
          </p:cNvSpPr>
          <p:nvPr>
            <p:ph type="body" sz="quarter" idx="17"/>
          </p:nvPr>
        </p:nvSpPr>
        <p:spPr>
          <a:xfrm>
            <a:off x="1141107" y="1462175"/>
            <a:ext cx="6558183" cy="573088"/>
          </a:xfrm>
        </p:spPr>
        <p:txBody>
          <a:bodyPr/>
          <a:lstStyle/>
          <a:p>
            <a:r>
              <a:rPr lang="en-AU" sz="3600" dirty="0">
                <a:solidFill>
                  <a:srgbClr val="3A7386"/>
                </a:solidFill>
                <a:latin typeface="Roboto Black" panose="02000000000000000000" pitchFamily="2" charset="0"/>
                <a:ea typeface="Roboto Black" panose="02000000000000000000" pitchFamily="2" charset="0"/>
              </a:rPr>
              <a:t>The sympathetic system</a:t>
            </a:r>
            <a:endParaRPr lang="en-AU" sz="3600" dirty="0"/>
          </a:p>
        </p:txBody>
      </p:sp>
      <p:sp>
        <p:nvSpPr>
          <p:cNvPr id="3" name="Text Placeholder 2">
            <a:extLst>
              <a:ext uri="{FF2B5EF4-FFF2-40B4-BE49-F238E27FC236}">
                <a16:creationId xmlns:a16="http://schemas.microsoft.com/office/drawing/2014/main" id="{744338C3-38F4-4F16-BFA8-99F35142656A}"/>
              </a:ext>
            </a:extLst>
          </p:cNvPr>
          <p:cNvSpPr>
            <a:spLocks noGrp="1"/>
          </p:cNvSpPr>
          <p:nvPr>
            <p:ph type="body" sz="quarter" idx="20"/>
          </p:nvPr>
        </p:nvSpPr>
        <p:spPr>
          <a:xfrm>
            <a:off x="1141105" y="2628393"/>
            <a:ext cx="6558185" cy="1077415"/>
          </a:xfrm>
        </p:spPr>
        <p:txBody>
          <a:bodyPr/>
          <a:lstStyle/>
          <a:p>
            <a:r>
              <a:rPr lang="en-AU" altLang="en-US" sz="2800" i="1" dirty="0">
                <a:solidFill>
                  <a:srgbClr val="3A7386"/>
                </a:solidFill>
                <a:latin typeface="Roboto Black" panose="02000000000000000000" pitchFamily="2" charset="0"/>
                <a:ea typeface="Roboto Black" panose="02000000000000000000" pitchFamily="2" charset="0"/>
              </a:rPr>
              <a:t>‘Fight or flight’ </a:t>
            </a:r>
            <a:r>
              <a:rPr lang="en-AU" altLang="en-US" sz="2800" dirty="0">
                <a:solidFill>
                  <a:srgbClr val="3A7386"/>
                </a:solidFill>
                <a:latin typeface="Roboto Black" panose="02000000000000000000" pitchFamily="2" charset="0"/>
                <a:ea typeface="Roboto Black" panose="02000000000000000000" pitchFamily="2" charset="0"/>
              </a:rPr>
              <a:t>responses</a:t>
            </a:r>
          </a:p>
          <a:p>
            <a:pPr lvl="1"/>
            <a:r>
              <a:rPr lang="en-AU" altLang="en-US" dirty="0">
                <a:solidFill>
                  <a:srgbClr val="3A7386"/>
                </a:solidFill>
                <a:latin typeface="Roboto Black" panose="02000000000000000000" pitchFamily="2" charset="0"/>
                <a:ea typeface="Roboto Black" panose="02000000000000000000" pitchFamily="2" charset="0"/>
              </a:rPr>
              <a:t>Rapid heart rate</a:t>
            </a:r>
          </a:p>
          <a:p>
            <a:pPr lvl="1"/>
            <a:r>
              <a:rPr lang="en-AU" altLang="en-US" dirty="0">
                <a:solidFill>
                  <a:srgbClr val="3A7386"/>
                </a:solidFill>
                <a:latin typeface="Roboto Black" panose="02000000000000000000" pitchFamily="2" charset="0"/>
                <a:ea typeface="Roboto Black" panose="02000000000000000000" pitchFamily="2" charset="0"/>
              </a:rPr>
              <a:t>No need to digest or urinate</a:t>
            </a:r>
          </a:p>
          <a:p>
            <a:pPr lvl="1"/>
            <a:r>
              <a:rPr lang="en-AU" altLang="en-US" dirty="0">
                <a:solidFill>
                  <a:srgbClr val="3A7386"/>
                </a:solidFill>
                <a:latin typeface="Roboto Black" panose="02000000000000000000" pitchFamily="2" charset="0"/>
                <a:ea typeface="Roboto Black" panose="02000000000000000000" pitchFamily="2" charset="0"/>
              </a:rPr>
              <a:t>Need to dilate pupils</a:t>
            </a:r>
          </a:p>
          <a:p>
            <a:endParaRPr lang="en-AU" altLang="en-US" sz="2800" dirty="0">
              <a:solidFill>
                <a:srgbClr val="3A7386"/>
              </a:solidFill>
              <a:latin typeface="Roboto Black" panose="02000000000000000000" pitchFamily="2" charset="0"/>
              <a:ea typeface="Roboto Black" panose="02000000000000000000" pitchFamily="2" charset="0"/>
            </a:endParaRPr>
          </a:p>
          <a:p>
            <a:pPr algn="ctr"/>
            <a:r>
              <a:rPr lang="en-AU" altLang="en-US" sz="2800" dirty="0">
                <a:solidFill>
                  <a:srgbClr val="3A7386"/>
                </a:solidFill>
                <a:latin typeface="Roboto Black" panose="02000000000000000000" pitchFamily="2" charset="0"/>
                <a:ea typeface="Roboto Black" panose="02000000000000000000" pitchFamily="2" charset="0"/>
              </a:rPr>
              <a:t>Think about the last time </a:t>
            </a:r>
          </a:p>
          <a:p>
            <a:pPr algn="ctr"/>
            <a:r>
              <a:rPr lang="en-AU" altLang="en-US" sz="2800" dirty="0">
                <a:solidFill>
                  <a:srgbClr val="3A7386"/>
                </a:solidFill>
                <a:latin typeface="Roboto Black" panose="02000000000000000000" pitchFamily="2" charset="0"/>
                <a:ea typeface="Roboto Black" panose="02000000000000000000" pitchFamily="2" charset="0"/>
              </a:rPr>
              <a:t>a bear chased you…</a:t>
            </a:r>
          </a:p>
          <a:p>
            <a:endParaRPr lang="en-AU" dirty="0"/>
          </a:p>
        </p:txBody>
      </p:sp>
    </p:spTree>
    <p:extLst>
      <p:ext uri="{BB962C8B-B14F-4D97-AF65-F5344CB8AC3E}">
        <p14:creationId xmlns:p14="http://schemas.microsoft.com/office/powerpoint/2010/main" val="1300041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58EE3-771F-432F-B2FF-ADC25DED5DB9}"/>
              </a:ext>
            </a:extLst>
          </p:cNvPr>
          <p:cNvSpPr>
            <a:spLocks noGrp="1"/>
          </p:cNvSpPr>
          <p:nvPr>
            <p:ph type="title"/>
          </p:nvPr>
        </p:nvSpPr>
        <p:spPr/>
        <p:txBody>
          <a:bodyPr/>
          <a:lstStyle/>
          <a:p>
            <a:endParaRPr lang="en-AU" dirty="0"/>
          </a:p>
        </p:txBody>
      </p:sp>
      <p:sp>
        <p:nvSpPr>
          <p:cNvPr id="3" name="Content Placeholder 2">
            <a:extLst>
              <a:ext uri="{FF2B5EF4-FFF2-40B4-BE49-F238E27FC236}">
                <a16:creationId xmlns:a16="http://schemas.microsoft.com/office/drawing/2014/main" id="{995E1884-669C-44D2-933D-3FEF214DCD2F}"/>
              </a:ext>
            </a:extLst>
          </p:cNvPr>
          <p:cNvSpPr>
            <a:spLocks noGrp="1"/>
          </p:cNvSpPr>
          <p:nvPr>
            <p:ph idx="1"/>
          </p:nvPr>
        </p:nvSpPr>
        <p:spPr/>
        <p:txBody>
          <a:bodyPr/>
          <a:lstStyle/>
          <a:p>
            <a:endParaRPr lang="en-AU"/>
          </a:p>
        </p:txBody>
      </p:sp>
      <p:pic>
        <p:nvPicPr>
          <p:cNvPr id="111618" name="Picture 2" descr="Image result for BEAR CHASING">
            <a:extLst>
              <a:ext uri="{FF2B5EF4-FFF2-40B4-BE49-F238E27FC236}">
                <a16:creationId xmlns:a16="http://schemas.microsoft.com/office/drawing/2014/main" id="{E9F654B5-AC2C-4E7C-B59A-BC810AA5E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1495"/>
            <a:ext cx="12192000" cy="763325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0AA3150-59E9-498E-B53B-6B4BB95FFC12}"/>
              </a:ext>
            </a:extLst>
          </p:cNvPr>
          <p:cNvSpPr/>
          <p:nvPr/>
        </p:nvSpPr>
        <p:spPr>
          <a:xfrm>
            <a:off x="8418287" y="56243"/>
            <a:ext cx="3354614"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FF0000"/>
                </a:solidFill>
                <a:effectLst/>
                <a:uLnTx/>
                <a:uFillTx/>
                <a:latin typeface="Calibri" panose="020F0502020204030204"/>
                <a:ea typeface="+mn-ea"/>
                <a:cs typeface="+mn-cs"/>
                <a:hlinkClick r:id="rId3">
                  <a:extLst>
                    <a:ext uri="{A12FA001-AC4F-418D-AE19-62706E023703}">
                      <ahyp:hlinkClr xmlns:ahyp="http://schemas.microsoft.com/office/drawing/2018/hyperlinkcolor" val="tx"/>
                    </a:ext>
                  </a:extLst>
                </a:hlinkClick>
              </a:rPr>
              <a:t>https://www.telegraph.co.uk/news/newstopics/howaboutthat</a:t>
            </a:r>
            <a:endParaRPr kumimoji="0" lang="en-AU"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7970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7BAE-7F0C-44D6-A8DE-97D8A966AAD0}"/>
              </a:ext>
            </a:extLst>
          </p:cNvPr>
          <p:cNvSpPr>
            <a:spLocks noGrp="1"/>
          </p:cNvSpPr>
          <p:nvPr>
            <p:ph type="title"/>
          </p:nvPr>
        </p:nvSpPr>
        <p:spPr/>
        <p:txBody>
          <a:bodyPr/>
          <a:lstStyle/>
          <a:p>
            <a:endParaRPr lang="en-AU"/>
          </a:p>
        </p:txBody>
      </p:sp>
      <p:pic>
        <p:nvPicPr>
          <p:cNvPr id="5" name="Content Placeholder 4">
            <a:extLst>
              <a:ext uri="{FF2B5EF4-FFF2-40B4-BE49-F238E27FC236}">
                <a16:creationId xmlns:a16="http://schemas.microsoft.com/office/drawing/2014/main" id="{E956914F-6783-4E1B-ADE3-877923D633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0"/>
            <a:ext cx="10484645" cy="6989763"/>
          </a:xfrm>
        </p:spPr>
      </p:pic>
      <p:sp>
        <p:nvSpPr>
          <p:cNvPr id="4" name="Text Placeholder 3">
            <a:extLst>
              <a:ext uri="{FF2B5EF4-FFF2-40B4-BE49-F238E27FC236}">
                <a16:creationId xmlns:a16="http://schemas.microsoft.com/office/drawing/2014/main" id="{EE16D58E-F9EC-4AFF-BA1D-EE6CFF7A8046}"/>
              </a:ext>
            </a:extLst>
          </p:cNvPr>
          <p:cNvSpPr txBox="1">
            <a:spLocks/>
          </p:cNvSpPr>
          <p:nvPr/>
        </p:nvSpPr>
        <p:spPr>
          <a:xfrm>
            <a:off x="9385795" y="5882626"/>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Contracts urinary sphincters </a:t>
            </a:r>
          </a:p>
        </p:txBody>
      </p:sp>
      <p:sp>
        <p:nvSpPr>
          <p:cNvPr id="6" name="Text Placeholder 3">
            <a:extLst>
              <a:ext uri="{FF2B5EF4-FFF2-40B4-BE49-F238E27FC236}">
                <a16:creationId xmlns:a16="http://schemas.microsoft.com/office/drawing/2014/main" id="{A814D02C-00FB-49B3-9F29-CC607281B4FC}"/>
              </a:ext>
            </a:extLst>
          </p:cNvPr>
          <p:cNvSpPr txBox="1">
            <a:spLocks/>
          </p:cNvSpPr>
          <p:nvPr/>
        </p:nvSpPr>
        <p:spPr>
          <a:xfrm>
            <a:off x="657032" y="5882626"/>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Relaxes urinary sphincters </a:t>
            </a:r>
          </a:p>
        </p:txBody>
      </p:sp>
    </p:spTree>
    <p:extLst>
      <p:ext uri="{BB962C8B-B14F-4D97-AF65-F5344CB8AC3E}">
        <p14:creationId xmlns:p14="http://schemas.microsoft.com/office/powerpoint/2010/main" val="3940152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0BD6FC-EFDB-4AF0-8465-AD741FF3EDF5}"/>
              </a:ext>
            </a:extLst>
          </p:cNvPr>
          <p:cNvSpPr>
            <a:spLocks noGrp="1"/>
          </p:cNvSpPr>
          <p:nvPr>
            <p:ph type="body" sz="quarter" idx="17"/>
          </p:nvPr>
        </p:nvSpPr>
        <p:spPr/>
        <p:txBody>
          <a:bodyPr/>
          <a:lstStyle/>
          <a:p>
            <a:r>
              <a:rPr lang="en-AU" sz="3600" dirty="0">
                <a:solidFill>
                  <a:srgbClr val="3A7386"/>
                </a:solidFill>
                <a:latin typeface="Roboto Black" panose="02000000000000000000" pitchFamily="2" charset="0"/>
                <a:ea typeface="Roboto Black" panose="02000000000000000000" pitchFamily="2" charset="0"/>
              </a:rPr>
              <a:t>The parasympathetic system</a:t>
            </a:r>
            <a:endParaRPr lang="en-AU" sz="3600" dirty="0"/>
          </a:p>
        </p:txBody>
      </p:sp>
      <p:sp>
        <p:nvSpPr>
          <p:cNvPr id="3" name="Text Placeholder 2">
            <a:extLst>
              <a:ext uri="{FF2B5EF4-FFF2-40B4-BE49-F238E27FC236}">
                <a16:creationId xmlns:a16="http://schemas.microsoft.com/office/drawing/2014/main" id="{744338C3-38F4-4F16-BFA8-99F35142656A}"/>
              </a:ext>
            </a:extLst>
          </p:cNvPr>
          <p:cNvSpPr>
            <a:spLocks noGrp="1"/>
          </p:cNvSpPr>
          <p:nvPr>
            <p:ph type="body" sz="quarter" idx="20"/>
          </p:nvPr>
        </p:nvSpPr>
        <p:spPr/>
        <p:txBody>
          <a:bodyPr/>
          <a:lstStyle/>
          <a:p>
            <a:r>
              <a:rPr lang="en-AU" altLang="en-US" sz="2800" dirty="0">
                <a:solidFill>
                  <a:srgbClr val="3A7386"/>
                </a:solidFill>
                <a:latin typeface="Roboto Black" panose="02000000000000000000" pitchFamily="2" charset="0"/>
                <a:ea typeface="Roboto Black" panose="02000000000000000000" pitchFamily="2" charset="0"/>
              </a:rPr>
              <a:t>The </a:t>
            </a:r>
            <a:r>
              <a:rPr lang="en-AU" altLang="en-US" sz="2800" i="1" dirty="0">
                <a:solidFill>
                  <a:srgbClr val="3A7386"/>
                </a:solidFill>
                <a:latin typeface="Roboto Black" panose="02000000000000000000" pitchFamily="2" charset="0"/>
                <a:ea typeface="Roboto Black" panose="02000000000000000000" pitchFamily="2" charset="0"/>
              </a:rPr>
              <a:t>‘rest and digest’ </a:t>
            </a:r>
            <a:r>
              <a:rPr lang="en-AU" altLang="en-US" sz="2800" dirty="0">
                <a:solidFill>
                  <a:srgbClr val="3A7386"/>
                </a:solidFill>
                <a:latin typeface="Roboto Black" panose="02000000000000000000" pitchFamily="2" charset="0"/>
                <a:ea typeface="Roboto Black" panose="02000000000000000000" pitchFamily="2" charset="0"/>
              </a:rPr>
              <a:t>system</a:t>
            </a:r>
          </a:p>
          <a:p>
            <a:pPr lvl="1"/>
            <a:r>
              <a:rPr lang="en-AU" altLang="en-US" dirty="0">
                <a:solidFill>
                  <a:srgbClr val="3A7386"/>
                </a:solidFill>
                <a:latin typeface="Roboto Black" panose="02000000000000000000" pitchFamily="2" charset="0"/>
                <a:ea typeface="Roboto Black" panose="02000000000000000000" pitchFamily="2" charset="0"/>
              </a:rPr>
              <a:t>Heart rate slows</a:t>
            </a:r>
          </a:p>
          <a:p>
            <a:pPr lvl="1"/>
            <a:r>
              <a:rPr lang="en-AU" altLang="en-US" dirty="0">
                <a:solidFill>
                  <a:srgbClr val="3A7386"/>
                </a:solidFill>
                <a:latin typeface="Roboto Black" panose="02000000000000000000" pitchFamily="2" charset="0"/>
                <a:ea typeface="Roboto Black" panose="02000000000000000000" pitchFamily="2" charset="0"/>
              </a:rPr>
              <a:t>Digestion begins</a:t>
            </a:r>
          </a:p>
          <a:p>
            <a:pPr lvl="1"/>
            <a:r>
              <a:rPr lang="en-AU" altLang="en-US" dirty="0">
                <a:solidFill>
                  <a:srgbClr val="3A7386"/>
                </a:solidFill>
                <a:latin typeface="Roboto Black" panose="02000000000000000000" pitchFamily="2" charset="0"/>
                <a:ea typeface="Roboto Black" panose="02000000000000000000" pitchFamily="2" charset="0"/>
              </a:rPr>
              <a:t>Pupils constrict</a:t>
            </a:r>
          </a:p>
          <a:p>
            <a:endParaRPr lang="en-AU" altLang="en-US" sz="2800" dirty="0">
              <a:solidFill>
                <a:srgbClr val="3A7386"/>
              </a:solidFill>
              <a:latin typeface="Roboto Black" panose="02000000000000000000" pitchFamily="2" charset="0"/>
              <a:ea typeface="Roboto Black" panose="02000000000000000000" pitchFamily="2" charset="0"/>
            </a:endParaRPr>
          </a:p>
          <a:p>
            <a:pPr algn="ctr"/>
            <a:r>
              <a:rPr lang="en-AU" altLang="en-US" sz="2600" dirty="0">
                <a:solidFill>
                  <a:srgbClr val="3A7386"/>
                </a:solidFill>
                <a:latin typeface="Roboto Black" panose="02000000000000000000" pitchFamily="2" charset="0"/>
                <a:ea typeface="Roboto Black" panose="02000000000000000000" pitchFamily="2" charset="0"/>
              </a:rPr>
              <a:t>Think about the last time you were able to chill out (</a:t>
            </a:r>
            <a:r>
              <a:rPr lang="en-AU" altLang="en-US" sz="2600" i="1" dirty="0">
                <a:solidFill>
                  <a:srgbClr val="3A7386"/>
                </a:solidFill>
                <a:latin typeface="Roboto Black" panose="02000000000000000000" pitchFamily="2" charset="0"/>
                <a:ea typeface="Roboto Black" panose="02000000000000000000" pitchFamily="2" charset="0"/>
              </a:rPr>
              <a:t>well, try to remember</a:t>
            </a:r>
            <a:r>
              <a:rPr lang="en-AU" altLang="en-US" sz="2600" dirty="0">
                <a:solidFill>
                  <a:srgbClr val="3A7386"/>
                </a:solidFill>
                <a:latin typeface="Roboto Black" panose="02000000000000000000" pitchFamily="2" charset="0"/>
                <a:ea typeface="Roboto Black" panose="02000000000000000000" pitchFamily="2" charset="0"/>
              </a:rPr>
              <a:t>)</a:t>
            </a:r>
          </a:p>
          <a:p>
            <a:endParaRPr lang="en-AU" dirty="0"/>
          </a:p>
        </p:txBody>
      </p:sp>
    </p:spTree>
    <p:extLst>
      <p:ext uri="{BB962C8B-B14F-4D97-AF65-F5344CB8AC3E}">
        <p14:creationId xmlns:p14="http://schemas.microsoft.com/office/powerpoint/2010/main" val="360169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2E4C2-8879-4FA8-8021-16CED03E4B14}"/>
              </a:ext>
            </a:extLst>
          </p:cNvPr>
          <p:cNvSpPr>
            <a:spLocks noGrp="1"/>
          </p:cNvSpPr>
          <p:nvPr>
            <p:ph type="title"/>
          </p:nvPr>
        </p:nvSpPr>
        <p:spPr>
          <a:xfrm>
            <a:off x="1" y="-315913"/>
            <a:ext cx="3071814" cy="7416801"/>
          </a:xfrm>
          <a:solidFill>
            <a:schemeClr val="bg2"/>
          </a:solidFill>
        </p:spPr>
        <p:txBody>
          <a:bodyPr/>
          <a:lstStyle/>
          <a:p>
            <a:pPr eaLnBrk="1" hangingPunct="1">
              <a:defRPr/>
            </a:pPr>
            <a:endParaRPr lang="en-AU" dirty="0"/>
          </a:p>
        </p:txBody>
      </p:sp>
      <p:pic>
        <p:nvPicPr>
          <p:cNvPr id="31747" name="Picture 4" descr="http://www.yogaworkouthq.com/wp-content/uploads/2011/03/men-yoga1.jpg">
            <a:extLst>
              <a:ext uri="{FF2B5EF4-FFF2-40B4-BE49-F238E27FC236}">
                <a16:creationId xmlns:a16="http://schemas.microsoft.com/office/drawing/2014/main" id="{A1E6258E-BDF4-4BD8-90D5-8050317B6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1813" y="1"/>
            <a:ext cx="6337300" cy="724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2">
            <a:extLst>
              <a:ext uri="{FF2B5EF4-FFF2-40B4-BE49-F238E27FC236}">
                <a16:creationId xmlns:a16="http://schemas.microsoft.com/office/drawing/2014/main" id="{A4316E65-7B7A-4C78-8E0D-DC4C5C4D1F2C}"/>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9336088" y="-26988"/>
            <a:ext cx="3071814" cy="7199313"/>
          </a:xfrm>
          <a:solidFill>
            <a:schemeClr val="bg2"/>
          </a:solidFill>
        </p:spPr>
      </p:pic>
      <p:pic>
        <p:nvPicPr>
          <p:cNvPr id="5" name="Picture 2">
            <a:extLst>
              <a:ext uri="{FF2B5EF4-FFF2-40B4-BE49-F238E27FC236}">
                <a16:creationId xmlns:a16="http://schemas.microsoft.com/office/drawing/2014/main" id="{F7DA67B3-16F4-4873-8CCA-A830CB064A8C}"/>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698501" y="-26988"/>
            <a:ext cx="3770313" cy="7199313"/>
          </a:xfrm>
          <a:solidFill>
            <a:schemeClr val="bg2"/>
          </a:solid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1"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1400692" y="2025538"/>
            <a:ext cx="9535264"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Foundational Information for Understanding ANS Pharmacology</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sz="3600" b="1" i="0" u="none" strike="noStrike" kern="1200" cap="none" spc="0" normalizeH="0" baseline="0" noProof="0" dirty="0">
                <a:ln>
                  <a:noFill/>
                </a:ln>
                <a:solidFill>
                  <a:srgbClr val="06678A"/>
                </a:solidFill>
                <a:effectLst/>
                <a:uLnTx/>
                <a:uFillTx/>
                <a:latin typeface="Roboto Black" charset="0"/>
                <a:ea typeface="Roboto Black" charset="0"/>
              </a:rPr>
              <a:t>Lesson 3:</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sz="3600" b="1" i="0" u="none" strike="noStrike" kern="1200" cap="none" spc="0" normalizeH="0" baseline="0" noProof="0" dirty="0">
                <a:ln>
                  <a:noFill/>
                </a:ln>
                <a:solidFill>
                  <a:srgbClr val="06678A"/>
                </a:solidFill>
                <a:effectLst/>
                <a:uLnTx/>
                <a:uFillTx/>
                <a:latin typeface="Roboto Black" charset="0"/>
                <a:ea typeface="Roboto Black" charset="0"/>
              </a:rPr>
              <a:t>Overview of the drugs of the ANS</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1364162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F14F8D-36C7-4E55-97F9-65DED1D4E1FD}"/>
              </a:ext>
            </a:extLst>
          </p:cNvPr>
          <p:cNvSpPr>
            <a:spLocks noGrp="1"/>
          </p:cNvSpPr>
          <p:nvPr>
            <p:ph type="body" sz="quarter" idx="17"/>
          </p:nvPr>
        </p:nvSpPr>
        <p:spPr>
          <a:xfrm>
            <a:off x="1055078" y="1050303"/>
            <a:ext cx="6558183" cy="573088"/>
          </a:xfrm>
        </p:spPr>
        <p:txBody>
          <a:bodyPr/>
          <a:lstStyle/>
          <a:p>
            <a:r>
              <a:rPr lang="en-AU" dirty="0">
                <a:solidFill>
                  <a:srgbClr val="3A7386"/>
                </a:solidFill>
              </a:rPr>
              <a:t>ANS pharmacology has one simple rule</a:t>
            </a:r>
          </a:p>
        </p:txBody>
      </p:sp>
      <p:sp>
        <p:nvSpPr>
          <p:cNvPr id="3" name="Text Placeholder 2">
            <a:extLst>
              <a:ext uri="{FF2B5EF4-FFF2-40B4-BE49-F238E27FC236}">
                <a16:creationId xmlns:a16="http://schemas.microsoft.com/office/drawing/2014/main" id="{FBB3E3A8-1D6C-41A4-868B-5CAE3B14F99C}"/>
              </a:ext>
            </a:extLst>
          </p:cNvPr>
          <p:cNvSpPr>
            <a:spLocks noGrp="1"/>
          </p:cNvSpPr>
          <p:nvPr>
            <p:ph type="body" sz="quarter" idx="20"/>
          </p:nvPr>
        </p:nvSpPr>
        <p:spPr>
          <a:xfrm>
            <a:off x="968827" y="2416359"/>
            <a:ext cx="6730686" cy="2818250"/>
          </a:xfrm>
        </p:spPr>
        <p:txBody>
          <a:bodyPr/>
          <a:lstStyle/>
          <a:p>
            <a:r>
              <a:rPr lang="en-AU" altLang="en-US" sz="2400" dirty="0">
                <a:solidFill>
                  <a:srgbClr val="3A7386"/>
                </a:solidFill>
                <a:latin typeface="Roboto Black" panose="02000000000000000000" pitchFamily="2" charset="0"/>
                <a:ea typeface="Roboto Black" panose="02000000000000000000" pitchFamily="2" charset="0"/>
              </a:rPr>
              <a:t>Drugs that affect the autonomic nervous system have one of four actions</a:t>
            </a:r>
          </a:p>
          <a:p>
            <a:pPr marL="914400" lvl="1" indent="-457200">
              <a:buFont typeface="+mj-lt"/>
              <a:buAutoNum type="arabicPeriod"/>
            </a:pPr>
            <a:r>
              <a:rPr lang="en-AU" altLang="en-US" sz="2200" b="1" dirty="0">
                <a:solidFill>
                  <a:srgbClr val="3A7386"/>
                </a:solidFill>
                <a:latin typeface="Roboto Black" panose="02000000000000000000" pitchFamily="2" charset="0"/>
                <a:ea typeface="Roboto Black" panose="02000000000000000000" pitchFamily="2" charset="0"/>
              </a:rPr>
              <a:t>They can increase the sympathetic system response</a:t>
            </a:r>
          </a:p>
          <a:p>
            <a:pPr marL="914400" lvl="1" indent="-457200">
              <a:buFont typeface="+mj-lt"/>
              <a:buAutoNum type="arabicPeriod"/>
            </a:pPr>
            <a:r>
              <a:rPr lang="en-AU" altLang="en-US" sz="2200" b="1" dirty="0">
                <a:solidFill>
                  <a:srgbClr val="3A7386"/>
                </a:solidFill>
                <a:latin typeface="Roboto Black" panose="02000000000000000000" pitchFamily="2" charset="0"/>
                <a:ea typeface="Roboto Black" panose="02000000000000000000" pitchFamily="2" charset="0"/>
              </a:rPr>
              <a:t>They can increase the parasympathetic system response</a:t>
            </a:r>
          </a:p>
          <a:p>
            <a:pPr marL="914400" lvl="1" indent="-457200">
              <a:buFont typeface="+mj-lt"/>
              <a:buAutoNum type="arabicPeriod"/>
            </a:pPr>
            <a:r>
              <a:rPr lang="en-AU" altLang="en-US" sz="2200" b="1" dirty="0">
                <a:solidFill>
                  <a:srgbClr val="3A7386"/>
                </a:solidFill>
                <a:latin typeface="Roboto Black" panose="02000000000000000000" pitchFamily="2" charset="0"/>
                <a:ea typeface="Roboto Black" panose="02000000000000000000" pitchFamily="2" charset="0"/>
              </a:rPr>
              <a:t>They can decrease the sympathetic system response</a:t>
            </a:r>
          </a:p>
          <a:p>
            <a:pPr marL="914400" lvl="1" indent="-457200">
              <a:buFont typeface="+mj-lt"/>
              <a:buAutoNum type="arabicPeriod"/>
            </a:pPr>
            <a:r>
              <a:rPr lang="en-AU" altLang="en-US" sz="2200" b="1" dirty="0">
                <a:solidFill>
                  <a:srgbClr val="3A7386"/>
                </a:solidFill>
                <a:latin typeface="Roboto Black" panose="02000000000000000000" pitchFamily="2" charset="0"/>
                <a:ea typeface="Roboto Black" panose="02000000000000000000" pitchFamily="2" charset="0"/>
              </a:rPr>
              <a:t>They can decrease the parasympathetic system response</a:t>
            </a:r>
          </a:p>
          <a:p>
            <a:endParaRPr lang="en-AU" dirty="0"/>
          </a:p>
        </p:txBody>
      </p:sp>
    </p:spTree>
    <p:extLst>
      <p:ext uri="{BB962C8B-B14F-4D97-AF65-F5344CB8AC3E}">
        <p14:creationId xmlns:p14="http://schemas.microsoft.com/office/powerpoint/2010/main" val="303171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F14F8D-36C7-4E55-97F9-65DED1D4E1FD}"/>
              </a:ext>
            </a:extLst>
          </p:cNvPr>
          <p:cNvSpPr>
            <a:spLocks noGrp="1"/>
          </p:cNvSpPr>
          <p:nvPr>
            <p:ph type="body" sz="quarter" idx="17"/>
          </p:nvPr>
        </p:nvSpPr>
        <p:spPr>
          <a:xfrm>
            <a:off x="1055077" y="891282"/>
            <a:ext cx="6558183" cy="573088"/>
          </a:xfrm>
        </p:spPr>
        <p:txBody>
          <a:bodyPr/>
          <a:lstStyle/>
          <a:p>
            <a:r>
              <a:rPr lang="en-AU" dirty="0">
                <a:solidFill>
                  <a:srgbClr val="3A7386"/>
                </a:solidFill>
              </a:rPr>
              <a:t>In medicine, there are always exceptions to the rule…</a:t>
            </a:r>
          </a:p>
        </p:txBody>
      </p:sp>
      <p:sp>
        <p:nvSpPr>
          <p:cNvPr id="3" name="Text Placeholder 2">
            <a:extLst>
              <a:ext uri="{FF2B5EF4-FFF2-40B4-BE49-F238E27FC236}">
                <a16:creationId xmlns:a16="http://schemas.microsoft.com/office/drawing/2014/main" id="{FBB3E3A8-1D6C-41A4-868B-5CAE3B14F99C}"/>
              </a:ext>
            </a:extLst>
          </p:cNvPr>
          <p:cNvSpPr>
            <a:spLocks noGrp="1"/>
          </p:cNvSpPr>
          <p:nvPr>
            <p:ph type="body" sz="quarter" idx="20"/>
          </p:nvPr>
        </p:nvSpPr>
        <p:spPr>
          <a:xfrm>
            <a:off x="968826" y="2217577"/>
            <a:ext cx="6730686" cy="3984441"/>
          </a:xfrm>
        </p:spPr>
        <p:txBody>
          <a:bodyPr/>
          <a:lstStyle/>
          <a:p>
            <a:r>
              <a:rPr lang="en-AU" altLang="en-US" sz="1600" dirty="0">
                <a:solidFill>
                  <a:srgbClr val="3A7386"/>
                </a:solidFill>
                <a:latin typeface="Roboto Black" panose="02000000000000000000" pitchFamily="2" charset="0"/>
                <a:ea typeface="Roboto Black" panose="02000000000000000000" pitchFamily="2" charset="0"/>
              </a:rPr>
              <a:t>Drugs that affect the autonomic nervous system have one of four actions</a:t>
            </a:r>
          </a:p>
          <a:p>
            <a:pPr marL="800100" lvl="1" indent="-342900">
              <a:buFont typeface="+mj-lt"/>
              <a:buAutoNum type="arabicPeriod"/>
            </a:pPr>
            <a:r>
              <a:rPr lang="en-AU" altLang="en-US" sz="1600" b="1" dirty="0">
                <a:solidFill>
                  <a:srgbClr val="3A7386"/>
                </a:solidFill>
                <a:latin typeface="Roboto Black" panose="02000000000000000000" pitchFamily="2" charset="0"/>
                <a:ea typeface="Roboto Black" panose="02000000000000000000" pitchFamily="2" charset="0"/>
              </a:rPr>
              <a:t>They can increase the sympathetic system response</a:t>
            </a:r>
          </a:p>
          <a:p>
            <a:pPr marL="800100" lvl="1" indent="-342900">
              <a:buFont typeface="+mj-lt"/>
              <a:buAutoNum type="arabicPeriod"/>
            </a:pPr>
            <a:r>
              <a:rPr lang="en-AU" altLang="en-US" sz="1600" b="1" dirty="0">
                <a:solidFill>
                  <a:srgbClr val="3A7386"/>
                </a:solidFill>
                <a:latin typeface="Roboto Black" panose="02000000000000000000" pitchFamily="2" charset="0"/>
                <a:ea typeface="Roboto Black" panose="02000000000000000000" pitchFamily="2" charset="0"/>
              </a:rPr>
              <a:t>They can increase the parasympathetic system response</a:t>
            </a:r>
          </a:p>
          <a:p>
            <a:pPr marL="800100" lvl="1" indent="-342900">
              <a:buFont typeface="+mj-lt"/>
              <a:buAutoNum type="arabicPeriod"/>
            </a:pPr>
            <a:r>
              <a:rPr lang="en-AU" altLang="en-US" sz="1600" b="1" dirty="0">
                <a:solidFill>
                  <a:srgbClr val="3A7386"/>
                </a:solidFill>
                <a:latin typeface="Roboto Black" panose="02000000000000000000" pitchFamily="2" charset="0"/>
                <a:ea typeface="Roboto Black" panose="02000000000000000000" pitchFamily="2" charset="0"/>
              </a:rPr>
              <a:t>They can decrease the sympathetic system response</a:t>
            </a:r>
          </a:p>
          <a:p>
            <a:pPr marL="800100" lvl="1" indent="-342900">
              <a:buFont typeface="+mj-lt"/>
              <a:buAutoNum type="arabicPeriod"/>
            </a:pPr>
            <a:r>
              <a:rPr lang="en-AU" altLang="en-US" sz="1600" b="1" dirty="0">
                <a:solidFill>
                  <a:srgbClr val="3A7386"/>
                </a:solidFill>
                <a:latin typeface="Roboto Black" panose="02000000000000000000" pitchFamily="2" charset="0"/>
                <a:ea typeface="Roboto Black" panose="02000000000000000000" pitchFamily="2" charset="0"/>
              </a:rPr>
              <a:t>They can decrease the parasympathetic system response</a:t>
            </a:r>
          </a:p>
          <a:p>
            <a:r>
              <a:rPr lang="en-AU" altLang="en-US" sz="2400" dirty="0">
                <a:solidFill>
                  <a:srgbClr val="3A7386"/>
                </a:solidFill>
                <a:latin typeface="Roboto Black" panose="02000000000000000000" pitchFamily="2" charset="0"/>
                <a:ea typeface="Roboto Black" panose="02000000000000000000" pitchFamily="2" charset="0"/>
              </a:rPr>
              <a:t>EXCEPT:</a:t>
            </a:r>
          </a:p>
          <a:p>
            <a:pPr lvl="1"/>
            <a:r>
              <a:rPr lang="en-AU" altLang="en-US" dirty="0">
                <a:solidFill>
                  <a:srgbClr val="3A7386"/>
                </a:solidFill>
                <a:latin typeface="Roboto Black" panose="02000000000000000000" pitchFamily="2" charset="0"/>
                <a:ea typeface="Roboto Black" panose="02000000000000000000" pitchFamily="2" charset="0"/>
              </a:rPr>
              <a:t>Alpha 2 receptors (sympathetic system)</a:t>
            </a:r>
          </a:p>
          <a:p>
            <a:pPr lvl="1"/>
            <a:r>
              <a:rPr lang="en-AU" altLang="en-US" dirty="0">
                <a:solidFill>
                  <a:srgbClr val="3A7386"/>
                </a:solidFill>
                <a:latin typeface="Roboto Black" panose="02000000000000000000" pitchFamily="2" charset="0"/>
                <a:ea typeface="Roboto Black" panose="02000000000000000000" pitchFamily="2" charset="0"/>
              </a:rPr>
              <a:t>Central nicotinic receptors (parasympathetic system) </a:t>
            </a:r>
          </a:p>
          <a:p>
            <a:pPr algn="ctr"/>
            <a:r>
              <a:rPr lang="en-AU" altLang="en-US" sz="2400" i="1" dirty="0">
                <a:solidFill>
                  <a:srgbClr val="3A7386"/>
                </a:solidFill>
                <a:latin typeface="Roboto Black" panose="02000000000000000000" pitchFamily="2" charset="0"/>
                <a:ea typeface="Roboto Black" panose="02000000000000000000" pitchFamily="2" charset="0"/>
              </a:rPr>
              <a:t>LET’S IGNORE THE EXCEPTIONS UNTIL LATER (postpone readings until the appropriate time)</a:t>
            </a:r>
          </a:p>
          <a:p>
            <a:pPr lvl="1"/>
            <a:endParaRPr lang="en-AU" altLang="en-US" sz="2200" b="1" dirty="0">
              <a:solidFill>
                <a:srgbClr val="3A7386"/>
              </a:solidFill>
              <a:latin typeface="Roboto Black" panose="02000000000000000000" pitchFamily="2" charset="0"/>
              <a:ea typeface="Roboto Black" panose="02000000000000000000" pitchFamily="2" charset="0"/>
            </a:endParaRPr>
          </a:p>
          <a:p>
            <a:endParaRPr lang="en-AU" dirty="0"/>
          </a:p>
        </p:txBody>
      </p:sp>
    </p:spTree>
    <p:extLst>
      <p:ext uri="{BB962C8B-B14F-4D97-AF65-F5344CB8AC3E}">
        <p14:creationId xmlns:p14="http://schemas.microsoft.com/office/powerpoint/2010/main" val="160757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59784-725C-498D-A9E2-ED897109F01E}"/>
              </a:ext>
            </a:extLst>
          </p:cNvPr>
          <p:cNvSpPr>
            <a:spLocks noGrp="1"/>
          </p:cNvSpPr>
          <p:nvPr>
            <p:ph type="title"/>
          </p:nvPr>
        </p:nvSpPr>
        <p:spPr/>
        <p:txBody>
          <a:bodyPr/>
          <a:lstStyle/>
          <a:p>
            <a:pPr eaLnBrk="1" hangingPunct="1">
              <a:defRPr/>
            </a:pPr>
            <a:r>
              <a:rPr lang="en-AU" dirty="0"/>
              <a:t>Neurotransmitters of the ANS</a:t>
            </a:r>
          </a:p>
        </p:txBody>
      </p:sp>
      <p:sp>
        <p:nvSpPr>
          <p:cNvPr id="20483" name="Content Placeholder 2">
            <a:extLst>
              <a:ext uri="{FF2B5EF4-FFF2-40B4-BE49-F238E27FC236}">
                <a16:creationId xmlns:a16="http://schemas.microsoft.com/office/drawing/2014/main" id="{C49344E1-E98A-42D4-AB60-53350262414D}"/>
              </a:ext>
            </a:extLst>
          </p:cNvPr>
          <p:cNvSpPr>
            <a:spLocks noGrp="1"/>
          </p:cNvSpPr>
          <p:nvPr>
            <p:ph idx="1"/>
          </p:nvPr>
        </p:nvSpPr>
        <p:spPr>
          <a:xfrm>
            <a:off x="1825625" y="1527175"/>
            <a:ext cx="8504238" cy="4572000"/>
          </a:xfrm>
        </p:spPr>
        <p:txBody>
          <a:bodyPr/>
          <a:lstStyle/>
          <a:p>
            <a:pPr eaLnBrk="1" hangingPunct="1"/>
            <a:endParaRPr lang="en-AU" altLang="en-US"/>
          </a:p>
        </p:txBody>
      </p:sp>
      <p:pic>
        <p:nvPicPr>
          <p:cNvPr id="20484" name="Picture 2" descr="http://www.austincc.edu/rfofi/NursingRvw/NursingPics/PNSefferentPics/Picture1.jpg">
            <a:extLst>
              <a:ext uri="{FF2B5EF4-FFF2-40B4-BE49-F238E27FC236}">
                <a16:creationId xmlns:a16="http://schemas.microsoft.com/office/drawing/2014/main" id="{2644ED7A-CD86-4C84-860B-C890CE0D3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471" y="0"/>
            <a:ext cx="11624546" cy="680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itle 1">
            <a:extLst>
              <a:ext uri="{FF2B5EF4-FFF2-40B4-BE49-F238E27FC236}">
                <a16:creationId xmlns:a16="http://schemas.microsoft.com/office/drawing/2014/main" id="{52A5BC89-58CB-438F-856A-BF6289869AE4}"/>
              </a:ext>
            </a:extLst>
          </p:cNvPr>
          <p:cNvSpPr txBox="1">
            <a:spLocks/>
          </p:cNvSpPr>
          <p:nvPr/>
        </p:nvSpPr>
        <p:spPr bwMode="auto">
          <a:xfrm>
            <a:off x="1774825" y="6021388"/>
            <a:ext cx="92900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altLang="en-US" sz="1300" b="1" i="0" u="none" strike="noStrike" kern="1200" cap="none" spc="0" normalizeH="0" baseline="0" noProof="0">
                <a:ln>
                  <a:noFill/>
                </a:ln>
                <a:solidFill>
                  <a:srgbClr val="C00000"/>
                </a:solidFill>
                <a:effectLst/>
                <a:uLnTx/>
                <a:uFillTx/>
                <a:latin typeface="Georgia" panose="02040502050405020303" pitchFamily="18" charset="0"/>
                <a:ea typeface="+mn-ea"/>
                <a:cs typeface="+mn-cs"/>
              </a:rPr>
              <a:t>(Neurotransmitters are degraded by COMT and MAO in the SNS and Acetylcholinesterase in the PNS)</a:t>
            </a:r>
          </a:p>
        </p:txBody>
      </p:sp>
      <p:sp>
        <p:nvSpPr>
          <p:cNvPr id="6" name="Text Placeholder 3">
            <a:extLst>
              <a:ext uri="{FF2B5EF4-FFF2-40B4-BE49-F238E27FC236}">
                <a16:creationId xmlns:a16="http://schemas.microsoft.com/office/drawing/2014/main" id="{22057B3D-F360-49A0-A8E6-E035E2F5A038}"/>
              </a:ext>
            </a:extLst>
          </p:cNvPr>
          <p:cNvSpPr txBox="1">
            <a:spLocks/>
          </p:cNvSpPr>
          <p:nvPr/>
        </p:nvSpPr>
        <p:spPr>
          <a:xfrm>
            <a:off x="576942" y="53975"/>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0" i="0" u="none" strike="noStrike" kern="1200" cap="none" spc="0" normalizeH="0" baseline="0" noProof="0" dirty="0">
                <a:ln>
                  <a:noFill/>
                </a:ln>
                <a:solidFill>
                  <a:srgbClr val="FF0000"/>
                </a:solidFill>
                <a:effectLst/>
                <a:uLnTx/>
                <a:uFillTx/>
                <a:latin typeface="Roboto Black" panose="02000000000000000000" pitchFamily="2" charset="0"/>
                <a:ea typeface="Roboto Black" panose="02000000000000000000" pitchFamily="2" charset="0"/>
                <a:cs typeface="+mn-cs"/>
              </a:rPr>
              <a:t>From: Pearson Education Inc.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0" i="0" u="none" strike="noStrike" kern="1200" cap="none" spc="0" normalizeH="0" baseline="0" noProof="0" dirty="0">
                <a:ln>
                  <a:noFill/>
                </a:ln>
                <a:solidFill>
                  <a:srgbClr val="FF0000"/>
                </a:solidFill>
                <a:effectLst/>
                <a:uLnTx/>
                <a:uFillTx/>
                <a:latin typeface="Roboto Black" panose="02000000000000000000" pitchFamily="2" charset="0"/>
                <a:ea typeface="Roboto Black" panose="02000000000000000000" pitchFamily="2" charset="0"/>
                <a:cs typeface="+mn-cs"/>
              </a:rPr>
              <a:t>Benjamin Cummings  </a:t>
            </a:r>
          </a:p>
        </p:txBody>
      </p:sp>
    </p:spTree>
    <p:extLst>
      <p:ext uri="{BB962C8B-B14F-4D97-AF65-F5344CB8AC3E}">
        <p14:creationId xmlns:p14="http://schemas.microsoft.com/office/powerpoint/2010/main" val="406618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7BAE-7F0C-44D6-A8DE-97D8A966AAD0}"/>
              </a:ext>
            </a:extLst>
          </p:cNvPr>
          <p:cNvSpPr>
            <a:spLocks noGrp="1"/>
          </p:cNvSpPr>
          <p:nvPr>
            <p:ph type="title"/>
          </p:nvPr>
        </p:nvSpPr>
        <p:spPr/>
        <p:txBody>
          <a:bodyPr/>
          <a:lstStyle/>
          <a:p>
            <a:endParaRPr lang="en-AU"/>
          </a:p>
        </p:txBody>
      </p:sp>
      <p:pic>
        <p:nvPicPr>
          <p:cNvPr id="5" name="Content Placeholder 4">
            <a:extLst>
              <a:ext uri="{FF2B5EF4-FFF2-40B4-BE49-F238E27FC236}">
                <a16:creationId xmlns:a16="http://schemas.microsoft.com/office/drawing/2014/main" id="{E956914F-6783-4E1B-ADE3-877923D633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0"/>
            <a:ext cx="10484645" cy="6989763"/>
          </a:xfrm>
        </p:spPr>
      </p:pic>
      <p:sp>
        <p:nvSpPr>
          <p:cNvPr id="4" name="Text Placeholder 3">
            <a:extLst>
              <a:ext uri="{FF2B5EF4-FFF2-40B4-BE49-F238E27FC236}">
                <a16:creationId xmlns:a16="http://schemas.microsoft.com/office/drawing/2014/main" id="{EE16D58E-F9EC-4AFF-BA1D-EE6CFF7A8046}"/>
              </a:ext>
            </a:extLst>
          </p:cNvPr>
          <p:cNvSpPr txBox="1">
            <a:spLocks/>
          </p:cNvSpPr>
          <p:nvPr/>
        </p:nvSpPr>
        <p:spPr>
          <a:xfrm>
            <a:off x="9385795" y="5882626"/>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Contracts urinary sphincters </a:t>
            </a:r>
          </a:p>
        </p:txBody>
      </p:sp>
      <p:sp>
        <p:nvSpPr>
          <p:cNvPr id="6" name="Text Placeholder 3">
            <a:extLst>
              <a:ext uri="{FF2B5EF4-FFF2-40B4-BE49-F238E27FC236}">
                <a16:creationId xmlns:a16="http://schemas.microsoft.com/office/drawing/2014/main" id="{A814D02C-00FB-49B3-9F29-CC607281B4FC}"/>
              </a:ext>
            </a:extLst>
          </p:cNvPr>
          <p:cNvSpPr txBox="1">
            <a:spLocks/>
          </p:cNvSpPr>
          <p:nvPr/>
        </p:nvSpPr>
        <p:spPr>
          <a:xfrm>
            <a:off x="657032" y="5882626"/>
            <a:ext cx="3024569" cy="3153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Relaxes urinary sphincters </a:t>
            </a:r>
          </a:p>
        </p:txBody>
      </p:sp>
    </p:spTree>
    <p:extLst>
      <p:ext uri="{BB962C8B-B14F-4D97-AF65-F5344CB8AC3E}">
        <p14:creationId xmlns:p14="http://schemas.microsoft.com/office/powerpoint/2010/main" val="416344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a:extLst>
              <a:ext uri="{FF2B5EF4-FFF2-40B4-BE49-F238E27FC236}">
                <a16:creationId xmlns:a16="http://schemas.microsoft.com/office/drawing/2014/main" id="{B864F7AA-8274-410E-B88B-48A3441766F7}"/>
              </a:ext>
            </a:extLst>
          </p:cNvPr>
          <p:cNvSpPr>
            <a:spLocks noGrp="1"/>
          </p:cNvSpPr>
          <p:nvPr>
            <p:ph idx="1"/>
          </p:nvPr>
        </p:nvSpPr>
        <p:spPr>
          <a:xfrm>
            <a:off x="1825625" y="1527175"/>
            <a:ext cx="8504238" cy="4572000"/>
          </a:xfrm>
        </p:spPr>
        <p:txBody>
          <a:bodyPr/>
          <a:lstStyle/>
          <a:p>
            <a:pPr eaLnBrk="1" hangingPunct="1"/>
            <a:endParaRPr lang="en-AU" altLang="en-US"/>
          </a:p>
        </p:txBody>
      </p:sp>
      <p:pic>
        <p:nvPicPr>
          <p:cNvPr id="39940" name="Picture 2" descr="http://howmed.net/wp-content/uploads/2010/09/functions-of-autonomic-nervous-system.bmp">
            <a:extLst>
              <a:ext uri="{FF2B5EF4-FFF2-40B4-BE49-F238E27FC236}">
                <a16:creationId xmlns:a16="http://schemas.microsoft.com/office/drawing/2014/main" id="{E321B803-F8AB-4C6D-9318-E51BEE04A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4776" y="-19050"/>
            <a:ext cx="9293225" cy="699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3804C-1654-4F88-8C54-FC872BAD951D}"/>
              </a:ext>
            </a:extLst>
          </p:cNvPr>
          <p:cNvSpPr>
            <a:spLocks noGrp="1"/>
          </p:cNvSpPr>
          <p:nvPr>
            <p:ph type="title"/>
          </p:nvPr>
        </p:nvSpPr>
        <p:spPr>
          <a:xfrm>
            <a:off x="1222099" y="235157"/>
            <a:ext cx="9747802" cy="1143000"/>
          </a:xfrm>
        </p:spPr>
        <p:txBody>
          <a:bodyPr>
            <a:normAutofit fontScale="90000"/>
          </a:bodyPr>
          <a:lstStyle/>
          <a:p>
            <a:pPr algn="ctr" eaLnBrk="1" hangingPunct="1">
              <a:lnSpc>
                <a:spcPct val="100000"/>
              </a:lnSpc>
              <a:defRPr/>
            </a:pPr>
            <a:r>
              <a:rPr lang="en-AU" dirty="0">
                <a:solidFill>
                  <a:srgbClr val="3A7386"/>
                </a:solidFill>
                <a:latin typeface="Roboto Black" panose="02000000000000000000" pitchFamily="2" charset="0"/>
                <a:ea typeface="Roboto Black" panose="02000000000000000000" pitchFamily="2" charset="0"/>
              </a:rPr>
              <a:t>Autonomic Nervous System (ANS)</a:t>
            </a:r>
            <a:br>
              <a:rPr lang="en-AU" dirty="0">
                <a:solidFill>
                  <a:srgbClr val="3A7386"/>
                </a:solidFill>
                <a:latin typeface="Roboto Black" panose="02000000000000000000" pitchFamily="2" charset="0"/>
                <a:ea typeface="Roboto Black" panose="02000000000000000000" pitchFamily="2" charset="0"/>
              </a:rPr>
            </a:br>
            <a:r>
              <a:rPr lang="en-AU" dirty="0">
                <a:solidFill>
                  <a:srgbClr val="3A7386"/>
                </a:solidFill>
                <a:latin typeface="Roboto Black" panose="02000000000000000000" pitchFamily="2" charset="0"/>
                <a:ea typeface="Roboto Black" panose="02000000000000000000" pitchFamily="2" charset="0"/>
              </a:rPr>
              <a:t>Sympathetic         vs        Parasympathetic</a:t>
            </a:r>
          </a:p>
        </p:txBody>
      </p:sp>
      <p:pic>
        <p:nvPicPr>
          <p:cNvPr id="41987" name="Picture 2" descr="http://i.dailymail.co.uk/i/pix/2010/01/30/article-1247249-08141165000005DC-1_634x649.jpg">
            <a:extLst>
              <a:ext uri="{FF2B5EF4-FFF2-40B4-BE49-F238E27FC236}">
                <a16:creationId xmlns:a16="http://schemas.microsoft.com/office/drawing/2014/main" id="{6958A480-4878-4AF8-8B51-DDE145B07C6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12847" y="1841500"/>
            <a:ext cx="3681413" cy="3773488"/>
          </a:xfrm>
        </p:spPr>
      </p:pic>
      <p:pic>
        <p:nvPicPr>
          <p:cNvPr id="41988" name="Picture 4" descr="http://www.yogaworkouthq.com/wp-content/uploads/2011/03/men-yoga1.jpg">
            <a:extLst>
              <a:ext uri="{FF2B5EF4-FFF2-40B4-BE49-F238E27FC236}">
                <a16:creationId xmlns:a16="http://schemas.microsoft.com/office/drawing/2014/main" id="{0D967EF4-563B-4B8D-946B-23BAFA2F20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6783" y="1828800"/>
            <a:ext cx="3313113"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1"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1400692" y="2025538"/>
            <a:ext cx="9535264"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Foundational Information for Understanding ANS Pharmacology</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sz="3600" b="1" i="0" u="none" strike="noStrike" kern="1200" cap="none" spc="0" normalizeH="0" baseline="0" noProof="0" dirty="0">
                <a:ln>
                  <a:noFill/>
                </a:ln>
                <a:solidFill>
                  <a:srgbClr val="06678A"/>
                </a:solidFill>
                <a:effectLst/>
                <a:uLnTx/>
                <a:uFillTx/>
                <a:latin typeface="Roboto Black" charset="0"/>
                <a:ea typeface="Roboto Black" charset="0"/>
              </a:rPr>
              <a:t>Lesson 4:</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sz="3600" b="1" i="0" u="none" strike="noStrike" kern="1200" cap="none" spc="0" normalizeH="0" baseline="0" noProof="0" dirty="0">
                <a:ln>
                  <a:noFill/>
                </a:ln>
                <a:solidFill>
                  <a:srgbClr val="06678A"/>
                </a:solidFill>
                <a:effectLst/>
                <a:uLnTx/>
                <a:uFillTx/>
                <a:latin typeface="Roboto Black" charset="0"/>
                <a:ea typeface="Roboto Black" charset="0"/>
              </a:rPr>
              <a:t>The selective nature of ANS receptors</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2184651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F14F8D-36C7-4E55-97F9-65DED1D4E1FD}"/>
              </a:ext>
            </a:extLst>
          </p:cNvPr>
          <p:cNvSpPr>
            <a:spLocks noGrp="1"/>
          </p:cNvSpPr>
          <p:nvPr>
            <p:ph type="body" sz="quarter" idx="17"/>
          </p:nvPr>
        </p:nvSpPr>
        <p:spPr>
          <a:xfrm>
            <a:off x="1055078" y="1288847"/>
            <a:ext cx="5995079" cy="573088"/>
          </a:xfrm>
        </p:spPr>
        <p:txBody>
          <a:bodyPr/>
          <a:lstStyle/>
          <a:p>
            <a:r>
              <a:rPr lang="en-AU" sz="3600" dirty="0">
                <a:solidFill>
                  <a:srgbClr val="3A7386"/>
                </a:solidFill>
              </a:rPr>
              <a:t>‘Selective’ SNS receptors: Alpha 1 receptors</a:t>
            </a:r>
          </a:p>
        </p:txBody>
      </p:sp>
      <p:sp>
        <p:nvSpPr>
          <p:cNvPr id="3" name="Text Placeholder 2">
            <a:extLst>
              <a:ext uri="{FF2B5EF4-FFF2-40B4-BE49-F238E27FC236}">
                <a16:creationId xmlns:a16="http://schemas.microsoft.com/office/drawing/2014/main" id="{FBB3E3A8-1D6C-41A4-868B-5CAE3B14F99C}"/>
              </a:ext>
            </a:extLst>
          </p:cNvPr>
          <p:cNvSpPr>
            <a:spLocks noGrp="1"/>
          </p:cNvSpPr>
          <p:nvPr>
            <p:ph type="body" sz="quarter" idx="20"/>
          </p:nvPr>
        </p:nvSpPr>
        <p:spPr>
          <a:xfrm>
            <a:off x="1055078" y="3065717"/>
            <a:ext cx="7028748" cy="3136302"/>
          </a:xfrm>
        </p:spPr>
        <p:txBody>
          <a:bodyPr/>
          <a:lstStyle/>
          <a:p>
            <a:r>
              <a:rPr lang="en-AU" altLang="en-US" sz="2800" dirty="0">
                <a:solidFill>
                  <a:srgbClr val="3A7386"/>
                </a:solidFill>
                <a:latin typeface="Roboto Black" panose="02000000000000000000" pitchFamily="2" charset="0"/>
                <a:ea typeface="Roboto Black" panose="02000000000000000000" pitchFamily="2" charset="0"/>
              </a:rPr>
              <a:t>Location of receptors:</a:t>
            </a:r>
          </a:p>
          <a:p>
            <a:pPr lvl="1"/>
            <a:r>
              <a:rPr lang="en-AU" altLang="en-US" dirty="0">
                <a:solidFill>
                  <a:srgbClr val="3A7386"/>
                </a:solidFill>
                <a:latin typeface="Roboto Black" panose="02000000000000000000" pitchFamily="2" charset="0"/>
                <a:ea typeface="Roboto Black" panose="02000000000000000000" pitchFamily="2" charset="0"/>
              </a:rPr>
              <a:t>Blood vessels </a:t>
            </a:r>
          </a:p>
          <a:p>
            <a:pPr lvl="1"/>
            <a:r>
              <a:rPr lang="en-AU" altLang="en-US" dirty="0">
                <a:solidFill>
                  <a:srgbClr val="3A7386"/>
                </a:solidFill>
                <a:latin typeface="Roboto Black" panose="02000000000000000000" pitchFamily="2" charset="0"/>
                <a:ea typeface="Roboto Black" panose="02000000000000000000" pitchFamily="2" charset="0"/>
              </a:rPr>
              <a:t>Smooth muscles of the GIT</a:t>
            </a:r>
          </a:p>
          <a:p>
            <a:pPr lvl="1"/>
            <a:r>
              <a:rPr lang="en-AU" altLang="en-US" dirty="0">
                <a:solidFill>
                  <a:srgbClr val="3A7386"/>
                </a:solidFill>
                <a:latin typeface="Roboto Black" panose="02000000000000000000" pitchFamily="2" charset="0"/>
                <a:ea typeface="Roboto Black" panose="02000000000000000000" pitchFamily="2" charset="0"/>
              </a:rPr>
              <a:t>Sweat glands</a:t>
            </a:r>
          </a:p>
          <a:p>
            <a:pPr lvl="1"/>
            <a:r>
              <a:rPr lang="en-AU" altLang="en-US" dirty="0">
                <a:solidFill>
                  <a:srgbClr val="3A7386"/>
                </a:solidFill>
                <a:latin typeface="Roboto Black" panose="02000000000000000000" pitchFamily="2" charset="0"/>
                <a:ea typeface="Roboto Black" panose="02000000000000000000" pitchFamily="2" charset="0"/>
              </a:rPr>
              <a:t>Radial muscles of the eye</a:t>
            </a:r>
          </a:p>
          <a:p>
            <a:pPr lvl="1"/>
            <a:r>
              <a:rPr lang="en-AU" altLang="en-US" dirty="0">
                <a:solidFill>
                  <a:srgbClr val="3A7386"/>
                </a:solidFill>
                <a:latin typeface="Roboto Black" panose="02000000000000000000" pitchFamily="2" charset="0"/>
                <a:ea typeface="Roboto Black" panose="02000000000000000000" pitchFamily="2" charset="0"/>
              </a:rPr>
              <a:t>Sphincters of the bladder</a:t>
            </a:r>
          </a:p>
          <a:p>
            <a:endParaRPr lang="en-AU" dirty="0"/>
          </a:p>
        </p:txBody>
      </p:sp>
    </p:spTree>
    <p:extLst>
      <p:ext uri="{BB962C8B-B14F-4D97-AF65-F5344CB8AC3E}">
        <p14:creationId xmlns:p14="http://schemas.microsoft.com/office/powerpoint/2010/main" val="2307288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F14F8D-36C7-4E55-97F9-65DED1D4E1FD}"/>
              </a:ext>
            </a:extLst>
          </p:cNvPr>
          <p:cNvSpPr>
            <a:spLocks noGrp="1"/>
          </p:cNvSpPr>
          <p:nvPr>
            <p:ph type="body" sz="quarter" idx="17"/>
          </p:nvPr>
        </p:nvSpPr>
        <p:spPr>
          <a:xfrm>
            <a:off x="1055079" y="1288847"/>
            <a:ext cx="5663774" cy="573088"/>
          </a:xfrm>
        </p:spPr>
        <p:txBody>
          <a:bodyPr/>
          <a:lstStyle/>
          <a:p>
            <a:r>
              <a:rPr lang="en-AU" sz="3600" dirty="0">
                <a:solidFill>
                  <a:srgbClr val="3A7386"/>
                </a:solidFill>
              </a:rPr>
              <a:t>‘Selective’ SNS receptors: Beta </a:t>
            </a:r>
            <a:r>
              <a:rPr lang="en-AU" sz="3600" dirty="0">
                <a:solidFill>
                  <a:srgbClr val="FF0000"/>
                </a:solidFill>
              </a:rPr>
              <a:t>1</a:t>
            </a:r>
            <a:r>
              <a:rPr lang="en-AU" sz="3600" dirty="0">
                <a:solidFill>
                  <a:srgbClr val="3A7386"/>
                </a:solidFill>
              </a:rPr>
              <a:t> receptors</a:t>
            </a:r>
          </a:p>
        </p:txBody>
      </p:sp>
      <p:sp>
        <p:nvSpPr>
          <p:cNvPr id="3" name="Text Placeholder 2">
            <a:extLst>
              <a:ext uri="{FF2B5EF4-FFF2-40B4-BE49-F238E27FC236}">
                <a16:creationId xmlns:a16="http://schemas.microsoft.com/office/drawing/2014/main" id="{FBB3E3A8-1D6C-41A4-868B-5CAE3B14F99C}"/>
              </a:ext>
            </a:extLst>
          </p:cNvPr>
          <p:cNvSpPr>
            <a:spLocks noGrp="1"/>
          </p:cNvSpPr>
          <p:nvPr>
            <p:ph type="body" sz="quarter" idx="20"/>
          </p:nvPr>
        </p:nvSpPr>
        <p:spPr>
          <a:xfrm>
            <a:off x="1055078" y="3065717"/>
            <a:ext cx="7028748" cy="3136302"/>
          </a:xfrm>
        </p:spPr>
        <p:txBody>
          <a:bodyPr/>
          <a:lstStyle/>
          <a:p>
            <a:r>
              <a:rPr lang="en-AU" altLang="en-US" sz="2800" dirty="0">
                <a:solidFill>
                  <a:srgbClr val="3A7386"/>
                </a:solidFill>
                <a:latin typeface="Roboto Black" panose="02000000000000000000" pitchFamily="2" charset="0"/>
                <a:ea typeface="Roboto Black" panose="02000000000000000000" pitchFamily="2" charset="0"/>
              </a:rPr>
              <a:t>Location of receptors:</a:t>
            </a:r>
          </a:p>
          <a:p>
            <a:pPr lvl="1"/>
            <a:r>
              <a:rPr lang="en-AU" altLang="en-US" dirty="0">
                <a:solidFill>
                  <a:srgbClr val="3A7386"/>
                </a:solidFill>
                <a:latin typeface="Roboto Black" panose="02000000000000000000" pitchFamily="2" charset="0"/>
                <a:ea typeface="Roboto Black" panose="02000000000000000000" pitchFamily="2" charset="0"/>
              </a:rPr>
              <a:t>Heart </a:t>
            </a:r>
          </a:p>
          <a:p>
            <a:pPr lvl="1"/>
            <a:r>
              <a:rPr lang="en-AU" altLang="en-US" dirty="0">
                <a:solidFill>
                  <a:srgbClr val="3A7386"/>
                </a:solidFill>
                <a:latin typeface="Roboto Black" panose="02000000000000000000" pitchFamily="2" charset="0"/>
                <a:ea typeface="Roboto Black" panose="02000000000000000000" pitchFamily="2" charset="0"/>
              </a:rPr>
              <a:t>Git </a:t>
            </a:r>
          </a:p>
          <a:p>
            <a:pPr lvl="1"/>
            <a:r>
              <a:rPr lang="en-AU" altLang="en-US" dirty="0">
                <a:solidFill>
                  <a:srgbClr val="3A7386"/>
                </a:solidFill>
                <a:latin typeface="Roboto Black" panose="02000000000000000000" pitchFamily="2" charset="0"/>
                <a:ea typeface="Roboto Black" panose="02000000000000000000" pitchFamily="2" charset="0"/>
              </a:rPr>
              <a:t>Kidneys</a:t>
            </a:r>
          </a:p>
          <a:p>
            <a:endParaRPr lang="en-AU" dirty="0"/>
          </a:p>
        </p:txBody>
      </p:sp>
    </p:spTree>
    <p:extLst>
      <p:ext uri="{BB962C8B-B14F-4D97-AF65-F5344CB8AC3E}">
        <p14:creationId xmlns:p14="http://schemas.microsoft.com/office/powerpoint/2010/main" val="693179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F14F8D-36C7-4E55-97F9-65DED1D4E1FD}"/>
              </a:ext>
            </a:extLst>
          </p:cNvPr>
          <p:cNvSpPr>
            <a:spLocks noGrp="1"/>
          </p:cNvSpPr>
          <p:nvPr>
            <p:ph type="body" sz="quarter" idx="17"/>
          </p:nvPr>
        </p:nvSpPr>
        <p:spPr>
          <a:xfrm>
            <a:off x="1055079" y="1288847"/>
            <a:ext cx="5663774" cy="573088"/>
          </a:xfrm>
        </p:spPr>
        <p:txBody>
          <a:bodyPr/>
          <a:lstStyle/>
          <a:p>
            <a:r>
              <a:rPr lang="en-AU" sz="3600" dirty="0">
                <a:solidFill>
                  <a:srgbClr val="3A7386"/>
                </a:solidFill>
              </a:rPr>
              <a:t>‘Selective’ SNS receptors: Beta </a:t>
            </a:r>
            <a:r>
              <a:rPr lang="en-AU" sz="3600" dirty="0">
                <a:solidFill>
                  <a:srgbClr val="FF0000"/>
                </a:solidFill>
              </a:rPr>
              <a:t>2</a:t>
            </a:r>
            <a:r>
              <a:rPr lang="en-AU" sz="3600" dirty="0">
                <a:solidFill>
                  <a:srgbClr val="3A7386"/>
                </a:solidFill>
              </a:rPr>
              <a:t> receptors</a:t>
            </a:r>
          </a:p>
        </p:txBody>
      </p:sp>
      <p:sp>
        <p:nvSpPr>
          <p:cNvPr id="3" name="Text Placeholder 2">
            <a:extLst>
              <a:ext uri="{FF2B5EF4-FFF2-40B4-BE49-F238E27FC236}">
                <a16:creationId xmlns:a16="http://schemas.microsoft.com/office/drawing/2014/main" id="{FBB3E3A8-1D6C-41A4-868B-5CAE3B14F99C}"/>
              </a:ext>
            </a:extLst>
          </p:cNvPr>
          <p:cNvSpPr>
            <a:spLocks noGrp="1"/>
          </p:cNvSpPr>
          <p:nvPr>
            <p:ph type="body" sz="quarter" idx="20"/>
          </p:nvPr>
        </p:nvSpPr>
        <p:spPr>
          <a:xfrm>
            <a:off x="1055078" y="3065717"/>
            <a:ext cx="7028748" cy="3136302"/>
          </a:xfrm>
        </p:spPr>
        <p:txBody>
          <a:bodyPr/>
          <a:lstStyle/>
          <a:p>
            <a:r>
              <a:rPr lang="en-AU" altLang="en-US" sz="2800" dirty="0">
                <a:solidFill>
                  <a:srgbClr val="3A7386"/>
                </a:solidFill>
                <a:latin typeface="Roboto Black" panose="02000000000000000000" pitchFamily="2" charset="0"/>
                <a:ea typeface="Roboto Black" panose="02000000000000000000" pitchFamily="2" charset="0"/>
              </a:rPr>
              <a:t>Location of receptors:</a:t>
            </a:r>
          </a:p>
          <a:p>
            <a:pPr lvl="1"/>
            <a:r>
              <a:rPr lang="en-AU" altLang="en-US" dirty="0">
                <a:solidFill>
                  <a:srgbClr val="3A7386"/>
                </a:solidFill>
                <a:latin typeface="Roboto Black" panose="02000000000000000000" pitchFamily="2" charset="0"/>
                <a:ea typeface="Roboto Black" panose="02000000000000000000" pitchFamily="2" charset="0"/>
              </a:rPr>
              <a:t>Lung</a:t>
            </a:r>
          </a:p>
          <a:p>
            <a:pPr lvl="1"/>
            <a:r>
              <a:rPr lang="en-AU" altLang="en-US" dirty="0">
                <a:solidFill>
                  <a:srgbClr val="3A7386"/>
                </a:solidFill>
                <a:latin typeface="Roboto Black" panose="02000000000000000000" pitchFamily="2" charset="0"/>
                <a:ea typeface="Roboto Black" panose="02000000000000000000" pitchFamily="2" charset="0"/>
              </a:rPr>
              <a:t>Mast cells</a:t>
            </a:r>
          </a:p>
          <a:p>
            <a:pPr lvl="1"/>
            <a:r>
              <a:rPr lang="en-AU" altLang="en-US" dirty="0">
                <a:solidFill>
                  <a:srgbClr val="3A7386"/>
                </a:solidFill>
                <a:latin typeface="Roboto Black" panose="02000000000000000000" pitchFamily="2" charset="0"/>
                <a:ea typeface="Roboto Black" panose="02000000000000000000" pitchFamily="2" charset="0"/>
              </a:rPr>
              <a:t>Uterus</a:t>
            </a:r>
          </a:p>
          <a:p>
            <a:pPr lvl="1"/>
            <a:r>
              <a:rPr lang="en-AU" altLang="en-US" dirty="0">
                <a:solidFill>
                  <a:srgbClr val="3A7386"/>
                </a:solidFill>
                <a:latin typeface="Roboto Black" panose="02000000000000000000" pitchFamily="2" charset="0"/>
                <a:ea typeface="Roboto Black" panose="02000000000000000000" pitchFamily="2" charset="0"/>
              </a:rPr>
              <a:t>Skeletal muscle</a:t>
            </a:r>
          </a:p>
          <a:p>
            <a:endParaRPr lang="en-AU" dirty="0"/>
          </a:p>
        </p:txBody>
      </p:sp>
    </p:spTree>
    <p:extLst>
      <p:ext uri="{BB962C8B-B14F-4D97-AF65-F5344CB8AC3E}">
        <p14:creationId xmlns:p14="http://schemas.microsoft.com/office/powerpoint/2010/main" val="2740893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90EC-4005-4B25-82DF-5F11CF5863AB}"/>
              </a:ext>
            </a:extLst>
          </p:cNvPr>
          <p:cNvSpPr>
            <a:spLocks noGrp="1"/>
          </p:cNvSpPr>
          <p:nvPr>
            <p:ph type="title"/>
          </p:nvPr>
        </p:nvSpPr>
        <p:spPr/>
        <p:txBody>
          <a:bodyPr/>
          <a:lstStyle/>
          <a:p>
            <a:pPr algn="ctr"/>
            <a:r>
              <a:rPr lang="en-AU" dirty="0">
                <a:solidFill>
                  <a:srgbClr val="06678A"/>
                </a:solidFill>
                <a:latin typeface="Roboto Black" panose="02000000000000000000" pitchFamily="2" charset="0"/>
                <a:ea typeface="Roboto Black" panose="02000000000000000000" pitchFamily="2" charset="0"/>
              </a:rPr>
              <a:t>References </a:t>
            </a:r>
          </a:p>
        </p:txBody>
      </p:sp>
      <p:sp>
        <p:nvSpPr>
          <p:cNvPr id="3" name="Content Placeholder 2">
            <a:extLst>
              <a:ext uri="{FF2B5EF4-FFF2-40B4-BE49-F238E27FC236}">
                <a16:creationId xmlns:a16="http://schemas.microsoft.com/office/drawing/2014/main" id="{8ED0240B-7CA5-437D-81EF-30BBF123E6B8}"/>
              </a:ext>
            </a:extLst>
          </p:cNvPr>
          <p:cNvSpPr>
            <a:spLocks noGrp="1"/>
          </p:cNvSpPr>
          <p:nvPr>
            <p:ph idx="1"/>
          </p:nvPr>
        </p:nvSpPr>
        <p:spPr/>
        <p:txBody>
          <a:bodyPr>
            <a:normAutofit fontScale="92500"/>
          </a:bodyPr>
          <a:lstStyle/>
          <a:p>
            <a:pPr lvl="0"/>
            <a:r>
              <a:rPr lang="en-AU" dirty="0" err="1">
                <a:solidFill>
                  <a:srgbClr val="06678A"/>
                </a:solidFill>
                <a:latin typeface="Roboto Black" panose="02000000000000000000" pitchFamily="2" charset="0"/>
                <a:ea typeface="Roboto Black" panose="02000000000000000000" pitchFamily="2" charset="0"/>
              </a:rPr>
              <a:t>Goldsy</a:t>
            </a:r>
            <a:r>
              <a:rPr lang="en-AU" dirty="0">
                <a:solidFill>
                  <a:srgbClr val="06678A"/>
                </a:solidFill>
                <a:latin typeface="Roboto Black" panose="02000000000000000000" pitchFamily="2" charset="0"/>
                <a:ea typeface="Roboto Black" panose="02000000000000000000" pitchFamily="2" charset="0"/>
              </a:rPr>
              <a:t> RA et Al. Immunology 5</a:t>
            </a:r>
            <a:r>
              <a:rPr lang="en-AU" baseline="30000" dirty="0">
                <a:solidFill>
                  <a:srgbClr val="06678A"/>
                </a:solidFill>
                <a:latin typeface="Roboto Black" panose="02000000000000000000" pitchFamily="2" charset="0"/>
                <a:ea typeface="Roboto Black" panose="02000000000000000000" pitchFamily="2" charset="0"/>
              </a:rPr>
              <a:t>th</a:t>
            </a:r>
            <a:r>
              <a:rPr lang="en-AU" dirty="0">
                <a:solidFill>
                  <a:srgbClr val="06678A"/>
                </a:solidFill>
                <a:latin typeface="Roboto Black" panose="02000000000000000000" pitchFamily="2" charset="0"/>
                <a:ea typeface="Roboto Black" panose="02000000000000000000" pitchFamily="2" charset="0"/>
              </a:rPr>
              <a:t> ed. WH Freeman Publishers, 2003</a:t>
            </a:r>
          </a:p>
          <a:p>
            <a:pPr lvl="0"/>
            <a:r>
              <a:rPr lang="en-AU" dirty="0" err="1">
                <a:solidFill>
                  <a:srgbClr val="06678A"/>
                </a:solidFill>
                <a:latin typeface="Roboto Black" panose="02000000000000000000" pitchFamily="2" charset="0"/>
                <a:ea typeface="Roboto Black" panose="02000000000000000000" pitchFamily="2" charset="0"/>
              </a:rPr>
              <a:t>Marieb</a:t>
            </a:r>
            <a:r>
              <a:rPr lang="en-AU" dirty="0">
                <a:solidFill>
                  <a:srgbClr val="06678A"/>
                </a:solidFill>
                <a:latin typeface="Roboto Black" panose="02000000000000000000" pitchFamily="2" charset="0"/>
                <a:ea typeface="Roboto Black" panose="02000000000000000000" pitchFamily="2" charset="0"/>
              </a:rPr>
              <a:t> E. Human Anatomy and Physiology, 5</a:t>
            </a:r>
            <a:r>
              <a:rPr lang="en-AU" baseline="30000" dirty="0">
                <a:solidFill>
                  <a:srgbClr val="06678A"/>
                </a:solidFill>
                <a:latin typeface="Roboto Black" panose="02000000000000000000" pitchFamily="2" charset="0"/>
                <a:ea typeface="Roboto Black" panose="02000000000000000000" pitchFamily="2" charset="0"/>
              </a:rPr>
              <a:t>th</a:t>
            </a:r>
            <a:r>
              <a:rPr lang="en-AU" dirty="0">
                <a:solidFill>
                  <a:srgbClr val="06678A"/>
                </a:solidFill>
                <a:latin typeface="Roboto Black" panose="02000000000000000000" pitchFamily="2" charset="0"/>
                <a:ea typeface="Roboto Black" panose="02000000000000000000" pitchFamily="2" charset="0"/>
              </a:rPr>
              <a:t> ed. Benjamin Cummings, San Francisco, 2001</a:t>
            </a:r>
          </a:p>
          <a:p>
            <a:pPr lvl="0"/>
            <a:r>
              <a:rPr lang="en-AU" dirty="0">
                <a:solidFill>
                  <a:srgbClr val="06678A"/>
                </a:solidFill>
                <a:latin typeface="Roboto Black" panose="02000000000000000000" pitchFamily="2" charset="0"/>
                <a:ea typeface="Roboto Black" panose="02000000000000000000" pitchFamily="2" charset="0"/>
              </a:rPr>
              <a:t>Rad, CC BY-SA 3.0 &lt;http://creativecommons.org/licenses/by-sa/3.0/&gt;, via Wikimedia Commons</a:t>
            </a:r>
          </a:p>
          <a:p>
            <a:pPr lvl="0"/>
            <a:r>
              <a:rPr lang="en-AU" dirty="0">
                <a:solidFill>
                  <a:srgbClr val="06678A"/>
                </a:solidFill>
                <a:latin typeface="Roboto Black" panose="02000000000000000000" pitchFamily="2" charset="0"/>
                <a:ea typeface="Roboto Black" panose="02000000000000000000" pitchFamily="2" charset="0"/>
              </a:rPr>
              <a:t>Martini FH, et al. Visual Anatomy and Physiology 1</a:t>
            </a:r>
            <a:r>
              <a:rPr lang="en-AU" baseline="30000" dirty="0">
                <a:solidFill>
                  <a:srgbClr val="06678A"/>
                </a:solidFill>
                <a:latin typeface="Roboto Black" panose="02000000000000000000" pitchFamily="2" charset="0"/>
                <a:ea typeface="Roboto Black" panose="02000000000000000000" pitchFamily="2" charset="0"/>
              </a:rPr>
              <a:t>st</a:t>
            </a:r>
            <a:r>
              <a:rPr lang="en-AU" dirty="0">
                <a:solidFill>
                  <a:srgbClr val="06678A"/>
                </a:solidFill>
                <a:latin typeface="Roboto Black" panose="02000000000000000000" pitchFamily="2" charset="0"/>
                <a:ea typeface="Roboto Black" panose="02000000000000000000" pitchFamily="2" charset="0"/>
              </a:rPr>
              <a:t> ed. Benjamin Cummings, 2011</a:t>
            </a:r>
          </a:p>
          <a:p>
            <a:pPr lvl="0"/>
            <a:r>
              <a:rPr lang="en-AU" dirty="0">
                <a:solidFill>
                  <a:srgbClr val="06678A"/>
                </a:solidFill>
                <a:latin typeface="Roboto Black" panose="02000000000000000000" pitchFamily="2" charset="0"/>
                <a:ea typeface="Roboto Black" panose="02000000000000000000" pitchFamily="2" charset="0"/>
              </a:rPr>
              <a:t>Royalty free images from Shutterstock</a:t>
            </a:r>
          </a:p>
          <a:p>
            <a:pPr lvl="0"/>
            <a:r>
              <a:rPr lang="en-AU" dirty="0">
                <a:solidFill>
                  <a:srgbClr val="06678A"/>
                </a:solidFill>
                <a:latin typeface="Roboto Black" panose="02000000000000000000" pitchFamily="2" charset="0"/>
                <a:ea typeface="Roboto Black" panose="02000000000000000000" pitchFamily="2" charset="0"/>
              </a:rPr>
              <a:t>The PowerPoint and associated Video were edited and produced by Dr. Ken Wojcikowski</a:t>
            </a:r>
          </a:p>
          <a:p>
            <a:endParaRPr lang="en-AU" dirty="0"/>
          </a:p>
        </p:txBody>
      </p:sp>
    </p:spTree>
    <p:extLst>
      <p:ext uri="{BB962C8B-B14F-4D97-AF65-F5344CB8AC3E}">
        <p14:creationId xmlns:p14="http://schemas.microsoft.com/office/powerpoint/2010/main" val="134283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780923D-96ED-9F4A-BDC2-8B626CD12C8C}"/>
    </a:ext>
  </a:extLst>
</a:theme>
</file>

<file path=ppt/theme/theme3.xml><?xml version="1.0" encoding="utf-8"?>
<a:theme xmlns:a="http://schemas.openxmlformats.org/drawingml/2006/main" name="Content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52AA089-82C5-E441-8C9C-6B5E63BD1A4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F7C384DA1D4A45B6AE690D29401D8C" ma:contentTypeVersion="11" ma:contentTypeDescription="Create a new document." ma:contentTypeScope="" ma:versionID="991042ea8ece25ed42d5e78d787df14a">
  <xsd:schema xmlns:xsd="http://www.w3.org/2001/XMLSchema" xmlns:xs="http://www.w3.org/2001/XMLSchema" xmlns:p="http://schemas.microsoft.com/office/2006/metadata/properties" xmlns:ns3="46a2430f-9ab9-4612-89ab-e74f08578de3" targetNamespace="http://schemas.microsoft.com/office/2006/metadata/properties" ma:root="true" ma:fieldsID="407fd9a13a8af064f5af9d3e1e052ba5" ns3:_="">
    <xsd:import namespace="46a2430f-9ab9-4612-89ab-e74f08578de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2430f-9ab9-4612-89ab-e74f08578d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A861CD3-45FF-44D7-BC20-FDBA0E47FF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a2430f-9ab9-4612-89ab-e74f08578d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C946CFA-6B94-4646-8C43-28434738F396}">
  <ds:schemaRefs>
    <ds:schemaRef ds:uri="http://schemas.microsoft.com/sharepoint/v3/contenttype/forms"/>
  </ds:schemaRefs>
</ds:datastoreItem>
</file>

<file path=customXml/itemProps3.xml><?xml version="1.0" encoding="utf-8"?>
<ds:datastoreItem xmlns:ds="http://schemas.openxmlformats.org/officeDocument/2006/customXml" ds:itemID="{A35A3C35-7570-4259-A020-526E097B3103}">
  <ds:schemaRefs>
    <ds:schemaRef ds:uri="46a2430f-9ab9-4612-89ab-e74f08578de3"/>
    <ds:schemaRef ds:uri="http://purl.org/dc/elements/1.1/"/>
    <ds:schemaRef ds:uri="http://schemas.openxmlformats.org/package/2006/metadata/core-properties"/>
    <ds:schemaRef ds:uri="http://schemas.microsoft.com/office/2006/documentManagement/types"/>
    <ds:schemaRef ds:uri="http://www.w3.org/XML/1998/namespace"/>
    <ds:schemaRef ds:uri="http://purl.org/dc/terms/"/>
    <ds:schemaRef ds:uri="http://schemas.microsoft.com/office/2006/metadata/propertie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TotalTime>
  <Words>802</Words>
  <Application>Microsoft Office PowerPoint</Application>
  <PresentationFormat>Widescreen</PresentationFormat>
  <Paragraphs>120</Paragraphs>
  <Slides>27</Slides>
  <Notes>7</Notes>
  <HiddenSlides>1</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27</vt:i4>
      </vt:variant>
    </vt:vector>
  </HeadingPairs>
  <TitlesOfParts>
    <vt:vector size="38" baseType="lpstr">
      <vt:lpstr>Arial</vt:lpstr>
      <vt:lpstr>Calibri</vt:lpstr>
      <vt:lpstr>Calibri Light</vt:lpstr>
      <vt:lpstr>Georgia</vt:lpstr>
      <vt:lpstr>inherit</vt:lpstr>
      <vt:lpstr>Roboto</vt:lpstr>
      <vt:lpstr>Roboto Black</vt:lpstr>
      <vt:lpstr>Roboto Light</vt:lpstr>
      <vt:lpstr>Office Theme</vt:lpstr>
      <vt:lpstr>Opening Slide</vt:lpstr>
      <vt:lpstr>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Neurotransmitters of the ANS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Neurotransmitters of the ANS</vt:lpstr>
      <vt:lpstr>PowerPoint Presentation</vt:lpstr>
      <vt:lpstr>PowerPoint Presentation</vt:lpstr>
      <vt:lpstr>Autonomic Nervous System (ANS) Sympathetic         vs        Parasympathetic</vt:lpstr>
      <vt:lpstr>PowerPoint Presentation</vt:lpstr>
      <vt:lpstr>PowerPoint Presentation</vt:lpstr>
      <vt:lpstr>PowerPoint Presentation</vt:lpstr>
      <vt:lpstr>PowerPoint Presentation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Wojcikowski</dc:creator>
  <cp:lastModifiedBy>Ken Wojcikowski</cp:lastModifiedBy>
  <cp:revision>1</cp:revision>
  <dcterms:created xsi:type="dcterms:W3CDTF">2022-10-28T20:23:11Z</dcterms:created>
  <dcterms:modified xsi:type="dcterms:W3CDTF">2022-10-28T20:27:34Z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0x0101009EF7C384DA1D4A45B6AE690D29401D8C</vt:lpwstr>
  </property>
</Properties>
</file>