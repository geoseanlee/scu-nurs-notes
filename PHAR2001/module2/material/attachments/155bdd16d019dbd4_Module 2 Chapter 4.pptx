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62" r:id="rId6"/>
  </p:sldMasterIdLst>
  <p:notesMasterIdLst>
    <p:notesMasterId r:id="rId46"/>
  </p:notesMasterIdLst>
  <p:sldIdLst>
    <p:sldId id="476" r:id="rId7"/>
    <p:sldId id="499" r:id="rId8"/>
    <p:sldId id="514" r:id="rId9"/>
    <p:sldId id="541" r:id="rId10"/>
    <p:sldId id="456" r:id="rId11"/>
    <p:sldId id="537" r:id="rId12"/>
    <p:sldId id="535" r:id="rId13"/>
    <p:sldId id="536" r:id="rId14"/>
    <p:sldId id="542" r:id="rId15"/>
    <p:sldId id="534" r:id="rId16"/>
    <p:sldId id="479" r:id="rId17"/>
    <p:sldId id="478" r:id="rId18"/>
    <p:sldId id="543" r:id="rId19"/>
    <p:sldId id="497" r:id="rId20"/>
    <p:sldId id="544" r:id="rId21"/>
    <p:sldId id="480" r:id="rId22"/>
    <p:sldId id="539" r:id="rId23"/>
    <p:sldId id="538" r:id="rId24"/>
    <p:sldId id="433" r:id="rId25"/>
    <p:sldId id="545" r:id="rId26"/>
    <p:sldId id="515" r:id="rId27"/>
    <p:sldId id="434" r:id="rId28"/>
    <p:sldId id="481" r:id="rId29"/>
    <p:sldId id="516" r:id="rId30"/>
    <p:sldId id="436" r:id="rId31"/>
    <p:sldId id="496" r:id="rId32"/>
    <p:sldId id="546" r:id="rId33"/>
    <p:sldId id="437" r:id="rId34"/>
    <p:sldId id="438" r:id="rId35"/>
    <p:sldId id="495" r:id="rId36"/>
    <p:sldId id="439" r:id="rId37"/>
    <p:sldId id="518" r:id="rId38"/>
    <p:sldId id="482" r:id="rId39"/>
    <p:sldId id="547" r:id="rId40"/>
    <p:sldId id="548" r:id="rId41"/>
    <p:sldId id="483" r:id="rId42"/>
    <p:sldId id="549" r:id="rId43"/>
    <p:sldId id="492" r:id="rId44"/>
    <p:sldId id="524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9" d="100"/>
          <a:sy n="89" d="100"/>
        </p:scale>
        <p:origin x="45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1C06B-3772-486B-8E71-796F8D94526E}" type="datetimeFigureOut">
              <a:rPr lang="en-AU" smtClean="0"/>
              <a:t>4/11/2023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6358E-714F-421D-9E6E-57B9DF4F00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151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2B3E3BB3-A7E8-4E6B-A30C-7A64AD661D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ACD2EC01-FF51-4F95-A5F2-0EE7B4C015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912EF610-267C-4648-86A1-D7DF3CD6C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849580-E12B-48C5-8D21-F77F9B52A56E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8128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C453B86A-63B1-46D0-9350-E8DFEB1192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008107D6-4856-4DEB-ABCC-1B14BB73F1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07783787-271A-48AE-822F-5B1E1AED7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03A7B2-352C-4790-9A5D-B45FEA9EA4B5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3862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>
            <a:extLst>
              <a:ext uri="{FF2B5EF4-FFF2-40B4-BE49-F238E27FC236}">
                <a16:creationId xmlns:a16="http://schemas.microsoft.com/office/drawing/2014/main" id="{37ACEE7C-8389-4469-ACB4-2EF50A422E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Notes Placeholder 2">
            <a:extLst>
              <a:ext uri="{FF2B5EF4-FFF2-40B4-BE49-F238E27FC236}">
                <a16:creationId xmlns:a16="http://schemas.microsoft.com/office/drawing/2014/main" id="{B0D455FE-882F-4339-8E76-74B8DC796D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116740" name="Slide Number Placeholder 3">
            <a:extLst>
              <a:ext uri="{FF2B5EF4-FFF2-40B4-BE49-F238E27FC236}">
                <a16:creationId xmlns:a16="http://schemas.microsoft.com/office/drawing/2014/main" id="{961A56AC-0DC7-4E34-B942-662CC2AD8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C6FF9C-27E2-4099-977A-82CE8E976715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>
            <a:extLst>
              <a:ext uri="{FF2B5EF4-FFF2-40B4-BE49-F238E27FC236}">
                <a16:creationId xmlns:a16="http://schemas.microsoft.com/office/drawing/2014/main" id="{5C571896-3A4A-41EF-B7EE-1820B6D9B7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Notes Placeholder 2">
            <a:extLst>
              <a:ext uri="{FF2B5EF4-FFF2-40B4-BE49-F238E27FC236}">
                <a16:creationId xmlns:a16="http://schemas.microsoft.com/office/drawing/2014/main" id="{C1AD9858-D8CE-4FBC-A779-ACFA22B9D2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120836" name="Slide Number Placeholder 3">
            <a:extLst>
              <a:ext uri="{FF2B5EF4-FFF2-40B4-BE49-F238E27FC236}">
                <a16:creationId xmlns:a16="http://schemas.microsoft.com/office/drawing/2014/main" id="{F8D771A6-AF58-40FC-BD36-04039FA78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35A4EF-D327-404E-A278-55BCA0F2D8F5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8453F-428C-4DA6-9FAE-30729CD25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A68F4-EE28-41AC-B1C8-ACA0A9AE4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7AF00-BEBF-44AD-B912-A82049BB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DA27-88F2-4AB9-9601-6758CB860B31}" type="datetimeFigureOut">
              <a:rPr lang="en-AU" smtClean="0"/>
              <a:t>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A0797-B1EB-4304-BF04-D238243D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47927-AF87-4A2D-B852-A3BB2411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0203-58CD-4322-971A-49B273949E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28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97-4C44-4908-B579-B30A43424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62D64-5FED-40F0-AA1C-55AF95872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3FE09-F04B-4D38-907B-8F7AE5B59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DA27-88F2-4AB9-9601-6758CB860B31}" type="datetimeFigureOut">
              <a:rPr lang="en-AU" smtClean="0"/>
              <a:t>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2DC76-7921-4E04-AADD-C2732242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28F97-A6FF-42A0-9120-ABF54F09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0203-58CD-4322-971A-49B273949E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4488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7AB1-9C43-422C-AD5B-34A908EDB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9A7BF-BCF6-48D3-B83E-36E51F9FA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D6419-B884-418E-90AC-752432D57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DA27-88F2-4AB9-9601-6758CB860B31}" type="datetimeFigureOut">
              <a:rPr lang="en-AU" smtClean="0"/>
              <a:t>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668EA-43F6-4AC1-B1C5-2FC508FB3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31452-D191-4050-B6AF-2DB89897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0203-58CD-4322-971A-49B273949E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54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658C3-45F7-43A1-9449-A4FAE87FF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D7DE2-B4F5-43DE-94B9-D77227F23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F34C9-70C9-43BE-919A-B81478A7E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0B395-F7C1-4875-A1A5-2F2756423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DA27-88F2-4AB9-9601-6758CB860B31}" type="datetimeFigureOut">
              <a:rPr lang="en-AU" smtClean="0"/>
              <a:t>4/11/2023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59AA3-0188-4C7D-A054-57807E5B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E15DD-233C-4E4D-851A-9C3E8A56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0203-58CD-4322-971A-49B273949E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650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9BCD-8429-4F5E-A1C1-8318CFBA7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F8B95-A6F4-40A1-9B0E-2F224D638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4055B-B96C-44BA-90B4-BDB2317BF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4423DF-A6DB-410C-838C-29CBEA855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C9B90F-DD4C-444F-94C4-656F50CCD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D739B2-67B4-4F24-A865-F1EAA23C2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DA27-88F2-4AB9-9601-6758CB860B31}" type="datetimeFigureOut">
              <a:rPr lang="en-AU" smtClean="0"/>
              <a:t>4/11/2023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0CE2CA-3D00-4ED7-B4EC-EDB637A4A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5A6544-A719-4EEB-9224-9D0FC5CE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0203-58CD-4322-971A-49B273949E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125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ABFB3-A556-4F6E-B53E-3ABFCC85D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94C6A3-1CD8-48C2-A87D-34BEC1E3A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DA27-88F2-4AB9-9601-6758CB860B31}" type="datetimeFigureOut">
              <a:rPr lang="en-AU" smtClean="0"/>
              <a:t>4/11/2023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783547-1C46-482A-A32D-F6C74FC8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A9EB8-D4AA-4F08-8DD6-6C0B02F80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0203-58CD-4322-971A-49B273949E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5729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451D88-F185-4B3D-B347-3093B6A0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DA27-88F2-4AB9-9601-6758CB860B31}" type="datetimeFigureOut">
              <a:rPr lang="en-AU" smtClean="0"/>
              <a:t>4/11/2023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5DBB7-6DC2-4427-A1CC-004750734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D6A62-23D0-4994-A26B-2702F1A0F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0203-58CD-4322-971A-49B273949E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949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E55D-CCA4-4DEA-8EF6-7A2C76F50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6F962-3AED-4423-A55F-CAC386983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EA7E4-9AD3-4DE0-8FA2-2A3BDEE3F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A2DE8-BB62-497B-ADA9-520553DD3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DA27-88F2-4AB9-9601-6758CB860B31}" type="datetimeFigureOut">
              <a:rPr lang="en-AU" smtClean="0"/>
              <a:t>4/11/2023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13EA8-DE54-4596-9FA2-D40B7CC8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E8D64-A68F-41C7-9594-F073B528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0203-58CD-4322-971A-49B273949E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3823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0542-2CB6-4BD0-95DD-1DCBFB158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006D0-0C94-41E8-8FFB-3FD3642C0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D9E51-DF1F-4650-91D2-C5F8F65A4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47B23-931E-4C9C-BB09-3BA98DA0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DA27-88F2-4AB9-9601-6758CB860B31}" type="datetimeFigureOut">
              <a:rPr lang="en-AU" smtClean="0"/>
              <a:t>4/11/2023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83F45-5E97-4024-8BF0-94432C451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CAE9B-FE17-4F6B-91F0-1FEA134D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0203-58CD-4322-971A-49B273949E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035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8FCA-BE3D-4595-AE25-3987144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11CBA-3FE7-44B4-A44B-FEA506CB2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46124-385C-4F62-92ED-7EF5A954A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DA27-88F2-4AB9-9601-6758CB860B31}" type="datetimeFigureOut">
              <a:rPr lang="en-AU" smtClean="0"/>
              <a:t>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E163A-3CF5-4F7F-BCD9-82618EE21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8ED3-601D-4640-B20F-41966A70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0203-58CD-4322-971A-49B273949E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9968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2443D-1036-4586-983A-FD6E31B795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1D006-6931-466B-85FB-A98E3F156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ECAB7-545C-4ED1-9C31-D41ABDFE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DA27-88F2-4AB9-9601-6758CB860B31}" type="datetimeFigureOut">
              <a:rPr lang="en-AU" smtClean="0"/>
              <a:t>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1E09D-AE5C-472F-9934-52746E1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054E5-93B8-4FBE-A227-22F2A949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10203-58CD-4322-971A-49B273949E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379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/>
              <a:t>Insert subtitle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8" y="6100990"/>
            <a:ext cx="3024569" cy="3153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## Month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071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9" y="2389855"/>
            <a:ext cx="3164052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585099" y="2389854"/>
            <a:ext cx="3164054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410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687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085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3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5641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151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9002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vy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328229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7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3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328229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4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8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D656A2-E1DD-4E8C-8529-D0BDF5FDC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B32D2-206D-4083-A9B7-8A5143AF7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DF32F-D1AE-4F93-A2A6-320CAEEFD1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ADA27-88F2-4AB9-9601-6758CB860B31}" type="datetimeFigureOut">
              <a:rPr lang="en-AU" smtClean="0"/>
              <a:t>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AD2D3-9D38-420D-A812-A5380505A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566EF-5FF4-4F1A-B60E-30C5DD181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10203-58CD-4322-971A-49B273949E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653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14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 baseline="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86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BDF647-ED52-4BB2-9030-3FA2B3E69D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554594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4669C-C763-41F2-B039-88C893F9D0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504116"/>
            <a:ext cx="7224609" cy="573088"/>
          </a:xfrm>
        </p:spPr>
        <p:txBody>
          <a:bodyPr/>
          <a:lstStyle/>
          <a:p>
            <a:r>
              <a:rPr lang="en-AU" altLang="en-US" sz="4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Final part/chapter of the Autonomic Nervous System Pharmacology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9395C-2D07-4DA6-A585-DB530BE9FB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dirty="0"/>
              <a:t>Dr. Ken Wojcikowski</a:t>
            </a:r>
          </a:p>
        </p:txBody>
      </p:sp>
    </p:spTree>
    <p:extLst>
      <p:ext uri="{BB962C8B-B14F-4D97-AF65-F5344CB8AC3E}">
        <p14:creationId xmlns:p14="http://schemas.microsoft.com/office/powerpoint/2010/main" val="143746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3A32F0-ED49-488A-8FE6-3413C44F66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7" y="604740"/>
            <a:ext cx="6558183" cy="573088"/>
          </a:xfrm>
        </p:spPr>
        <p:txBody>
          <a:bodyPr/>
          <a:lstStyle/>
          <a:p>
            <a:pPr algn="ctr"/>
            <a:r>
              <a:rPr lang="en-AU" sz="4000" dirty="0">
                <a:solidFill>
                  <a:srgbClr val="3A7386"/>
                </a:solidFill>
              </a:rPr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9ED9F-743A-47E7-8C4A-41145D8430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4845" y="1366272"/>
            <a:ext cx="7551925" cy="107741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Explain the difference between direct-acting and indirect-acting Parasympathomimetic drugs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Know terms used to describe the parasympathomimetic drugs, for instance, muscarinic drugs, cholinergic agents, </a:t>
            </a:r>
            <a:r>
              <a:rPr lang="en-US" sz="240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acetylcholine agonists.</a:t>
            </a:r>
            <a:endParaRPr lang="en-US" sz="24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Describe the actions interactions and side effects of the: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Direct acting cholinergic agonists bethanechol and pilocarpine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Indirect acting cholinergic agonists neostigmine and donepezil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antimuscarinic agents, using atropine as an example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9745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770147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</a:rPr>
              <a:t>Autonomic Nervous System Pharmacology</a:t>
            </a:r>
            <a:endParaRPr lang="en-AU" dirty="0">
              <a:solidFill>
                <a:srgbClr val="3A738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sz="1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 Ken Wojcikowski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8D6C8-59F8-4F93-AFE9-B39A5FEFD9EB}"/>
              </a:ext>
            </a:extLst>
          </p:cNvPr>
          <p:cNvSpPr/>
          <p:nvPr/>
        </p:nvSpPr>
        <p:spPr>
          <a:xfrm>
            <a:off x="0" y="0"/>
            <a:ext cx="12192000" cy="6903076"/>
          </a:xfrm>
          <a:prstGeom prst="rect">
            <a:avLst/>
          </a:prstGeom>
          <a:solidFill>
            <a:srgbClr val="0667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E5D-5D1C-4BB6-BBDE-CB916DC97CE9}"/>
              </a:ext>
            </a:extLst>
          </p:cNvPr>
          <p:cNvSpPr/>
          <p:nvPr/>
        </p:nvSpPr>
        <p:spPr>
          <a:xfrm>
            <a:off x="1148551" y="789494"/>
            <a:ext cx="10039546" cy="5279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E8622EF-0595-4530-B6E3-1DE92CA2C039}"/>
              </a:ext>
            </a:extLst>
          </p:cNvPr>
          <p:cNvSpPr txBox="1">
            <a:spLocks/>
          </p:cNvSpPr>
          <p:nvPr/>
        </p:nvSpPr>
        <p:spPr>
          <a:xfrm>
            <a:off x="1400692" y="1648678"/>
            <a:ext cx="9535264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b="1" i="0" kern="1200" baseline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Drugs of the Parasympathetic Nervous System (PNS)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Lesson 1: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Understanding Acetylcholine, the neurotransmitter for the PNS (and the muscles – how can that be?) </a:t>
            </a:r>
          </a:p>
        </p:txBody>
      </p:sp>
    </p:spTree>
    <p:extLst>
      <p:ext uri="{BB962C8B-B14F-4D97-AF65-F5344CB8AC3E}">
        <p14:creationId xmlns:p14="http://schemas.microsoft.com/office/powerpoint/2010/main" val="31220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686695-D570-49A5-ABF9-7B8214BDC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10" y="657230"/>
            <a:ext cx="9855180" cy="5543539"/>
          </a:xfrm>
        </p:spPr>
      </p:pic>
    </p:spTree>
    <p:extLst>
      <p:ext uri="{BB962C8B-B14F-4D97-AF65-F5344CB8AC3E}">
        <p14:creationId xmlns:p14="http://schemas.microsoft.com/office/powerpoint/2010/main" val="4147769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59784-725C-498D-A9E2-ED897109F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dirty="0"/>
              <a:t>Neurotransmitters of the ANS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C49344E1-E98A-42D4-AB60-533502624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5625" y="1527175"/>
            <a:ext cx="8504238" cy="4572000"/>
          </a:xfrm>
        </p:spPr>
        <p:txBody>
          <a:bodyPr/>
          <a:lstStyle/>
          <a:p>
            <a:pPr eaLnBrk="1" hangingPunct="1"/>
            <a:endParaRPr lang="en-AU" altLang="en-US"/>
          </a:p>
        </p:txBody>
      </p:sp>
      <p:pic>
        <p:nvPicPr>
          <p:cNvPr id="20484" name="Picture 2" descr="http://www.austincc.edu/rfofi/NursingRvw/NursingPics/PNSefferentPics/Picture1.jpg">
            <a:extLst>
              <a:ext uri="{FF2B5EF4-FFF2-40B4-BE49-F238E27FC236}">
                <a16:creationId xmlns:a16="http://schemas.microsoft.com/office/drawing/2014/main" id="{2644ED7A-CD86-4C84-860B-C890CE0D3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71" y="0"/>
            <a:ext cx="11624546" cy="680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itle 1">
            <a:extLst>
              <a:ext uri="{FF2B5EF4-FFF2-40B4-BE49-F238E27FC236}">
                <a16:creationId xmlns:a16="http://schemas.microsoft.com/office/drawing/2014/main" id="{52A5BC89-58CB-438F-856A-BF6289869AE4}"/>
              </a:ext>
            </a:extLst>
          </p:cNvPr>
          <p:cNvSpPr txBox="1">
            <a:spLocks/>
          </p:cNvSpPr>
          <p:nvPr/>
        </p:nvSpPr>
        <p:spPr bwMode="auto">
          <a:xfrm>
            <a:off x="1774825" y="6021388"/>
            <a:ext cx="92900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47688" indent="-2730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822325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096963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371600" indent="-228600">
              <a:spcBef>
                <a:spcPct val="20000"/>
              </a:spcBef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1828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286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2743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200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(Neurotransmitters are degraded by COMT and MAO in the SNS and Acetylcholinesterase in the PNS)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2057B3D-F360-49A0-A8E6-E035E2F5A038}"/>
              </a:ext>
            </a:extLst>
          </p:cNvPr>
          <p:cNvSpPr txBox="1">
            <a:spLocks/>
          </p:cNvSpPr>
          <p:nvPr/>
        </p:nvSpPr>
        <p:spPr>
          <a:xfrm>
            <a:off x="576942" y="53975"/>
            <a:ext cx="3024569" cy="3153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  <a:cs typeface="+mn-cs"/>
              </a:rPr>
              <a:t>From: Pearson Education Inc.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  <a:cs typeface="+mn-cs"/>
              </a:rPr>
              <a:t>Benjamin Cummings  </a:t>
            </a:r>
          </a:p>
        </p:txBody>
      </p:sp>
    </p:spTree>
    <p:extLst>
      <p:ext uri="{BB962C8B-B14F-4D97-AF65-F5344CB8AC3E}">
        <p14:creationId xmlns:p14="http://schemas.microsoft.com/office/powerpoint/2010/main" val="1255666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30A45-E849-4A3C-BFED-D9B5788E8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150" y="48822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Acetylcholine binding </a:t>
            </a:r>
            <a:b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</a:br>
            <a:r>
              <a:rPr lang="en-AU" sz="36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Skeletal muscle = nicotinic receptors. </a:t>
            </a:r>
            <a:br>
              <a:rPr lang="en-AU" sz="36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</a:br>
            <a:r>
              <a:rPr lang="en-AU" sz="36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PNS= muscarinic receptors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4038B0-3CA1-47AE-A888-B7D48209D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254979"/>
            <a:ext cx="7315200" cy="4114800"/>
          </a:xfrm>
        </p:spPr>
      </p:pic>
    </p:spTree>
    <p:extLst>
      <p:ext uri="{BB962C8B-B14F-4D97-AF65-F5344CB8AC3E}">
        <p14:creationId xmlns:p14="http://schemas.microsoft.com/office/powerpoint/2010/main" val="207960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EE76-C6B3-4034-B7FF-8E3DDEE71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682A0B-B046-4A35-9202-4643CE38E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62314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1F46B-12A7-412E-925C-4C24206E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9E5EE3-BBB0-474A-9627-018274BD5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09988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6982-68E4-48D6-8EE1-DC2FC9122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Anticholinergic agents that break into the brain are associated with dementia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5F2645-6FBA-4AE9-B073-9B04F2115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461" y="1943894"/>
            <a:ext cx="8087077" cy="4548981"/>
          </a:xfrm>
        </p:spPr>
      </p:pic>
    </p:spTree>
    <p:extLst>
      <p:ext uri="{BB962C8B-B14F-4D97-AF65-F5344CB8AC3E}">
        <p14:creationId xmlns:p14="http://schemas.microsoft.com/office/powerpoint/2010/main" val="250090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770147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</a:rPr>
              <a:t>Autonomic Nervous System Pharmacology</a:t>
            </a:r>
            <a:endParaRPr lang="en-AU" dirty="0">
              <a:solidFill>
                <a:srgbClr val="3A738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sz="1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 Ken Wojcikowski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8D6C8-59F8-4F93-AFE9-B39A5FEFD9EB}"/>
              </a:ext>
            </a:extLst>
          </p:cNvPr>
          <p:cNvSpPr/>
          <p:nvPr/>
        </p:nvSpPr>
        <p:spPr>
          <a:xfrm>
            <a:off x="0" y="0"/>
            <a:ext cx="12192000" cy="6903076"/>
          </a:xfrm>
          <a:prstGeom prst="rect">
            <a:avLst/>
          </a:prstGeom>
          <a:solidFill>
            <a:srgbClr val="0667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E5D-5D1C-4BB6-BBDE-CB916DC97CE9}"/>
              </a:ext>
            </a:extLst>
          </p:cNvPr>
          <p:cNvSpPr/>
          <p:nvPr/>
        </p:nvSpPr>
        <p:spPr>
          <a:xfrm>
            <a:off x="1148551" y="789494"/>
            <a:ext cx="10039546" cy="5279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E8622EF-0595-4530-B6E3-1DE92CA2C039}"/>
              </a:ext>
            </a:extLst>
          </p:cNvPr>
          <p:cNvSpPr txBox="1">
            <a:spLocks/>
          </p:cNvSpPr>
          <p:nvPr/>
        </p:nvSpPr>
        <p:spPr>
          <a:xfrm>
            <a:off x="1400692" y="1885884"/>
            <a:ext cx="9535264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b="1" i="0" kern="1200" baseline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Drugs of the Parasympathetic Nervous System (PNS)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Lesson 2: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Important foundational information about the PNS</a:t>
            </a:r>
          </a:p>
        </p:txBody>
      </p:sp>
    </p:spTree>
    <p:extLst>
      <p:ext uri="{BB962C8B-B14F-4D97-AF65-F5344CB8AC3E}">
        <p14:creationId xmlns:p14="http://schemas.microsoft.com/office/powerpoint/2010/main" val="2717421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F14F8D-36C7-4E55-97F9-65DED1D4E1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7784" y="764495"/>
            <a:ext cx="5663774" cy="573088"/>
          </a:xfrm>
        </p:spPr>
        <p:txBody>
          <a:bodyPr/>
          <a:lstStyle/>
          <a:p>
            <a:r>
              <a:rPr lang="en-AU" sz="3600" dirty="0"/>
              <a:t>The parasympathetic nervous system</a:t>
            </a:r>
            <a:endParaRPr lang="en-AU" sz="3600" dirty="0">
              <a:solidFill>
                <a:srgbClr val="3A738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3E3A8-1D6C-41A4-868B-5CAE3B14F99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27784" y="2379464"/>
            <a:ext cx="7161270" cy="3136302"/>
          </a:xfrm>
        </p:spPr>
        <p:txBody>
          <a:bodyPr/>
          <a:lstStyle/>
          <a:p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</a:t>
            </a:r>
            <a:r>
              <a:rPr lang="en-AU" altLang="en-US" sz="2800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‘rest and digest’ </a:t>
            </a:r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system</a:t>
            </a:r>
          </a:p>
          <a:p>
            <a:endParaRPr lang="en-AU" altLang="en-US" sz="28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Heart rate slows down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Digestion begins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Pupils constrict</a:t>
            </a:r>
          </a:p>
          <a:p>
            <a:endParaRPr lang="en-AU" altLang="en-US" sz="2800" i="1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ctr"/>
            <a:r>
              <a:rPr lang="en-AU" altLang="en-US" sz="2800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Think about the last time </a:t>
            </a:r>
          </a:p>
          <a:p>
            <a:pPr algn="ctr"/>
            <a:r>
              <a:rPr lang="en-AU" altLang="en-US" sz="2800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you were able to relax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5222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E4C2-8879-4FA8-8021-16CED03E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315913"/>
            <a:ext cx="3071814" cy="7416801"/>
          </a:xfrm>
          <a:solidFill>
            <a:schemeClr val="bg2"/>
          </a:solidFill>
        </p:spPr>
        <p:txBody>
          <a:bodyPr/>
          <a:lstStyle/>
          <a:p>
            <a:pPr eaLnBrk="1" hangingPunct="1">
              <a:defRPr/>
            </a:pPr>
            <a:endParaRPr lang="en-AU" dirty="0"/>
          </a:p>
        </p:txBody>
      </p:sp>
      <p:pic>
        <p:nvPicPr>
          <p:cNvPr id="31747" name="Picture 4" descr="http://www.yogaworkouthq.com/wp-content/uploads/2011/03/men-yoga1.jpg">
            <a:extLst>
              <a:ext uri="{FF2B5EF4-FFF2-40B4-BE49-F238E27FC236}">
                <a16:creationId xmlns:a16="http://schemas.microsoft.com/office/drawing/2014/main" id="{A1E6258E-BDF4-4BD8-90D5-8050317B6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1"/>
            <a:ext cx="6337300" cy="724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2">
            <a:extLst>
              <a:ext uri="{FF2B5EF4-FFF2-40B4-BE49-F238E27FC236}">
                <a16:creationId xmlns:a16="http://schemas.microsoft.com/office/drawing/2014/main" id="{A4316E65-7B7A-4C78-8E0D-DC4C5C4D1F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36088" y="-26988"/>
            <a:ext cx="3071814" cy="7199313"/>
          </a:xfrm>
          <a:solidFill>
            <a:schemeClr val="bg2"/>
          </a:solidFill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7DA67B3-16F4-4873-8CCA-A830CB064A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698501" y="-26988"/>
            <a:ext cx="3770313" cy="7199313"/>
          </a:xfr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1111475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9000-1AAB-4EEE-A048-399358577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068748-A76E-4BE7-B5FB-B219F77CED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72332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D74C-7A4A-44F4-ABDC-2DFB5DFC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47DBB0-E41C-48A0-9025-3BD34F170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367" y="-286601"/>
            <a:ext cx="12436370" cy="7711660"/>
          </a:xfrm>
        </p:spPr>
      </p:pic>
    </p:spTree>
    <p:extLst>
      <p:ext uri="{BB962C8B-B14F-4D97-AF65-F5344CB8AC3E}">
        <p14:creationId xmlns:p14="http://schemas.microsoft.com/office/powerpoint/2010/main" val="1055439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EC20-610F-46D2-A684-845B3AF5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E45E5C-09AF-4F2C-882A-7D7A710069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24841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F14F8D-36C7-4E55-97F9-65DED1D4E1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55078" y="1023803"/>
            <a:ext cx="5663774" cy="573088"/>
          </a:xfrm>
        </p:spPr>
        <p:txBody>
          <a:bodyPr/>
          <a:lstStyle/>
          <a:p>
            <a:r>
              <a:rPr lang="en-AU" sz="3600" dirty="0">
                <a:solidFill>
                  <a:srgbClr val="3A7386"/>
                </a:solidFill>
              </a:rPr>
              <a:t>Cholinergic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3E3A8-1D6C-41A4-868B-5CAE3B14F99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5896" y="1860849"/>
            <a:ext cx="7161270" cy="3136302"/>
          </a:xfrm>
        </p:spPr>
        <p:txBody>
          <a:bodyPr/>
          <a:lstStyle/>
          <a:p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Direct acting       or      Indirect acting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Can be: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Nicotinic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Muscarinic (5 subsets)</a:t>
            </a:r>
          </a:p>
          <a:p>
            <a:pPr lvl="2"/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M1 brain (decreased in Alzheimer’s disease)</a:t>
            </a:r>
          </a:p>
          <a:p>
            <a:pPr lvl="2"/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M2 heart (cause decreased rate and force of heart beat)</a:t>
            </a:r>
          </a:p>
          <a:p>
            <a:pPr lvl="2"/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M3 relaxation of GIT, lacrimal secretion, pupil constriction, increased micturition and defecation, bronchoconstriction </a:t>
            </a:r>
          </a:p>
          <a:p>
            <a:pPr lvl="2"/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M4 and M5 (not elucidated)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8864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931B-7DD1-4B18-87A5-1981A1CD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40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Direct acting cholinergic agents act on the receptors, acting like acetylcholine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83648B-A508-4BC4-A314-10F4741B04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20" y="2009881"/>
            <a:ext cx="7772560" cy="4372065"/>
          </a:xfrm>
        </p:spPr>
      </p:pic>
    </p:spTree>
    <p:extLst>
      <p:ext uri="{BB962C8B-B14F-4D97-AF65-F5344CB8AC3E}">
        <p14:creationId xmlns:p14="http://schemas.microsoft.com/office/powerpoint/2010/main" val="2448807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2D26-26A4-4782-868C-CC259435E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Indirect acting cholinergic agents act on the enzyme that degrades acetylcholine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F589B0-3A25-4E96-BE10-ECD154074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443" y="1972174"/>
            <a:ext cx="7873113" cy="4428626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2D165E-7EE5-43E8-A3EE-A8707ED04CEF}"/>
              </a:ext>
            </a:extLst>
          </p:cNvPr>
          <p:cNvCxnSpPr>
            <a:cxnSpLocks/>
          </p:cNvCxnSpPr>
          <p:nvPr/>
        </p:nvCxnSpPr>
        <p:spPr>
          <a:xfrm flipV="1">
            <a:off x="4242062" y="4091233"/>
            <a:ext cx="2601798" cy="9898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680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6FB42-502E-48E1-88B6-F392BFCD4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34058"/>
            <a:ext cx="1655763" cy="1423942"/>
          </a:xfrm>
          <a:solidFill>
            <a:schemeClr val="bg1"/>
          </a:solidFill>
        </p:spPr>
        <p:txBody>
          <a:bodyPr/>
          <a:lstStyle/>
          <a:p>
            <a:pPr algn="ctr">
              <a:defRPr/>
            </a:pPr>
            <a:r>
              <a:rPr lang="en-AU" sz="16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Thanks to Pearson Education 2011</a:t>
            </a:r>
          </a:p>
        </p:txBody>
      </p:sp>
      <p:pic>
        <p:nvPicPr>
          <p:cNvPr id="114691" name="Picture 2" descr="http://www.highlands.edu/academics/divisions/scipe/biology/faculty/harnden/2121/images/parasympathetic.jpg">
            <a:extLst>
              <a:ext uri="{FF2B5EF4-FFF2-40B4-BE49-F238E27FC236}">
                <a16:creationId xmlns:a16="http://schemas.microsoft.com/office/drawing/2014/main" id="{B92F9ACA-90FA-4081-8A51-423C00CB9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6" y="1588"/>
            <a:ext cx="6335713" cy="688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4692" name="Picture 3">
            <a:extLst>
              <a:ext uri="{FF2B5EF4-FFF2-40B4-BE49-F238E27FC236}">
                <a16:creationId xmlns:a16="http://schemas.microsoft.com/office/drawing/2014/main" id="{02E1EDDC-9CB3-4219-82BF-F90862EB2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550" y="114301"/>
            <a:ext cx="1652588" cy="665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F14F8D-36C7-4E55-97F9-65DED1D4E1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55078" y="1023803"/>
            <a:ext cx="5663774" cy="573088"/>
          </a:xfrm>
        </p:spPr>
        <p:txBody>
          <a:bodyPr/>
          <a:lstStyle/>
          <a:p>
            <a:r>
              <a:rPr lang="en-AU" sz="3600" dirty="0">
                <a:solidFill>
                  <a:srgbClr val="3A7386"/>
                </a:solidFill>
              </a:rPr>
              <a:t>Cholinergic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3E3A8-1D6C-41A4-868B-5CAE3B14F99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5896" y="1860849"/>
            <a:ext cx="7161270" cy="3136302"/>
          </a:xfrm>
        </p:spPr>
        <p:txBody>
          <a:bodyPr/>
          <a:lstStyle/>
          <a:p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Direct acting       or      Indirect acting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Can be: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Nicotinic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Muscarinic (5 subsets)</a:t>
            </a:r>
          </a:p>
          <a:p>
            <a:pPr lvl="2"/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M1 brain (decreased in Alzheimer’s disease)</a:t>
            </a:r>
          </a:p>
          <a:p>
            <a:pPr lvl="2"/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M2 heart (cause decreased rate and force of heart beat)</a:t>
            </a:r>
          </a:p>
          <a:p>
            <a:pPr lvl="2"/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M3 relaxation of GIT, lacrimal secretion, pupil constriction, increased micturition and defecation, bronchoconstriction </a:t>
            </a:r>
          </a:p>
          <a:p>
            <a:pPr lvl="2"/>
            <a:r>
              <a:rPr lang="en-AU" altLang="en-US" sz="22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M4 and M5 (not elucidated)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9271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770147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</a:rPr>
              <a:t>Autonomic Nervous System Pharmacology</a:t>
            </a:r>
            <a:endParaRPr lang="en-AU" dirty="0">
              <a:solidFill>
                <a:srgbClr val="3A738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sz="1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 Ken Wojcikowski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8D6C8-59F8-4F93-AFE9-B39A5FEFD9EB}"/>
              </a:ext>
            </a:extLst>
          </p:cNvPr>
          <p:cNvSpPr/>
          <p:nvPr/>
        </p:nvSpPr>
        <p:spPr>
          <a:xfrm>
            <a:off x="0" y="0"/>
            <a:ext cx="12192000" cy="6903076"/>
          </a:xfrm>
          <a:prstGeom prst="rect">
            <a:avLst/>
          </a:prstGeom>
          <a:solidFill>
            <a:srgbClr val="0667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E5D-5D1C-4BB6-BBDE-CB916DC97CE9}"/>
              </a:ext>
            </a:extLst>
          </p:cNvPr>
          <p:cNvSpPr/>
          <p:nvPr/>
        </p:nvSpPr>
        <p:spPr>
          <a:xfrm>
            <a:off x="1148551" y="789494"/>
            <a:ext cx="10039546" cy="5279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E8622EF-0595-4530-B6E3-1DE92CA2C039}"/>
              </a:ext>
            </a:extLst>
          </p:cNvPr>
          <p:cNvSpPr txBox="1">
            <a:spLocks/>
          </p:cNvSpPr>
          <p:nvPr/>
        </p:nvSpPr>
        <p:spPr>
          <a:xfrm>
            <a:off x="1400692" y="2025538"/>
            <a:ext cx="9535264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b="1" i="0" kern="1200" baseline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Drugs of the PNS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Lesson 3: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Understanding the difference between direct and indirect acting cholinergic agents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srgbClr val="007298"/>
              </a:solidFill>
              <a:effectLst/>
              <a:uLnTx/>
              <a:uFillTx/>
              <a:latin typeface="Roboto Black" charset="0"/>
              <a:ea typeface="Roboto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650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B02E5-530A-4DEA-9A65-5AB8E7C93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533"/>
            <a:ext cx="105156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AU" sz="40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Cholinergic agonists</a:t>
            </a:r>
          </a:p>
        </p:txBody>
      </p:sp>
      <p:sp>
        <p:nvSpPr>
          <p:cNvPr id="115715" name="Content Placeholder 2">
            <a:extLst>
              <a:ext uri="{FF2B5EF4-FFF2-40B4-BE49-F238E27FC236}">
                <a16:creationId xmlns:a16="http://schemas.microsoft.com/office/drawing/2014/main" id="{98862C19-A5A0-425F-B9F7-C52E0AED8E4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78424" y="1527175"/>
            <a:ext cx="8951439" cy="4965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altLang="en-US" sz="3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Direct acting non-selective agonists include:</a:t>
            </a:r>
          </a:p>
          <a:p>
            <a:pPr marL="0" indent="0">
              <a:buNone/>
            </a:pPr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AU" altLang="en-US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Pilocarpine </a:t>
            </a:r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(know this drug; used to treat glaucoma. While this is a non-selective agonist, pilocarpine is administered topically and has little systemic absorption, therefore the actions are fairly limited to the m3 receptors in the eyes)</a:t>
            </a:r>
          </a:p>
          <a:p>
            <a:pPr lvl="1"/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AU" altLang="en-US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Bethanechol</a:t>
            </a:r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(know this drug; previously used for non-obstructive urinary retention. Adverse effects: bradycardia, hypotension, diarrhoea, all consistent with parasympathetic stimulation.</a:t>
            </a:r>
          </a:p>
          <a:p>
            <a:pPr marL="0" indent="0">
              <a:buNone/>
            </a:pPr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C8A327-3CEA-453C-B716-FC14B6FC26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1574" y="891343"/>
            <a:ext cx="6558183" cy="573088"/>
          </a:xfrm>
        </p:spPr>
        <p:txBody>
          <a:bodyPr/>
          <a:lstStyle/>
          <a:p>
            <a:r>
              <a:rPr lang="en-AU" sz="3600" dirty="0"/>
              <a:t>Direct acting cholinergic agonists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7788E-BFB4-419E-A5C7-A517672801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1574" y="2160516"/>
            <a:ext cx="6855889" cy="1077415"/>
          </a:xfrm>
        </p:spPr>
        <p:txBody>
          <a:bodyPr/>
          <a:lstStyle/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Indications include non-obstructive postoperative and postpartum urinary retention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Topically in eye to reduce intraocular pressure of glaucoma, mydriasis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Adverse effects</a:t>
            </a:r>
          </a:p>
          <a:p>
            <a:pPr lvl="2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Extreme caution, even if used in eye</a:t>
            </a:r>
          </a:p>
          <a:p>
            <a:pPr lvl="2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Bradycardia, </a:t>
            </a:r>
          </a:p>
          <a:p>
            <a:pPr lvl="2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Hypotension, </a:t>
            </a:r>
          </a:p>
          <a:p>
            <a:pPr lvl="2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Nausea, vomiting, </a:t>
            </a:r>
          </a:p>
          <a:p>
            <a:pPr lvl="2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Diarrhoea, dehydration</a:t>
            </a:r>
          </a:p>
          <a:p>
            <a:pPr lvl="2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Bronchoconstriction </a:t>
            </a:r>
          </a:p>
          <a:p>
            <a:pPr>
              <a:defRPr/>
            </a:pPr>
            <a:endParaRPr lang="en-AU" sz="24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9702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770147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</a:rPr>
              <a:t>Autonomic Nervous System Pharmacology</a:t>
            </a:r>
            <a:endParaRPr lang="en-AU" dirty="0">
              <a:solidFill>
                <a:srgbClr val="3A738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sz="1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 Ken Wojcikowski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8D6C8-59F8-4F93-AFE9-B39A5FEFD9EB}"/>
              </a:ext>
            </a:extLst>
          </p:cNvPr>
          <p:cNvSpPr/>
          <p:nvPr/>
        </p:nvSpPr>
        <p:spPr>
          <a:xfrm>
            <a:off x="0" y="0"/>
            <a:ext cx="12192000" cy="6903076"/>
          </a:xfrm>
          <a:prstGeom prst="rect">
            <a:avLst/>
          </a:prstGeom>
          <a:solidFill>
            <a:srgbClr val="0667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E5D-5D1C-4BB6-BBDE-CB916DC97CE9}"/>
              </a:ext>
            </a:extLst>
          </p:cNvPr>
          <p:cNvSpPr/>
          <p:nvPr/>
        </p:nvSpPr>
        <p:spPr>
          <a:xfrm>
            <a:off x="1148551" y="789494"/>
            <a:ext cx="10039546" cy="5279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E8622EF-0595-4530-B6E3-1DE92CA2C039}"/>
              </a:ext>
            </a:extLst>
          </p:cNvPr>
          <p:cNvSpPr txBox="1">
            <a:spLocks/>
          </p:cNvSpPr>
          <p:nvPr/>
        </p:nvSpPr>
        <p:spPr>
          <a:xfrm>
            <a:off x="1400692" y="2025538"/>
            <a:ext cx="9535264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b="1" i="0" kern="1200" baseline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Drugs of the PNS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Lesson 4: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Indirect acting acetylcholine inhibitors for Myasthenia gravis and Alzheimer’s disease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srgbClr val="007298"/>
              </a:solidFill>
              <a:effectLst/>
              <a:uLnTx/>
              <a:uFillTx/>
              <a:latin typeface="Roboto Black" charset="0"/>
              <a:ea typeface="Roboto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874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2639-C5DF-4EB2-B12D-B0ED9969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AU" sz="40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Indirect acting cholinergic agonists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0B4B2-8402-4ABC-85AB-565A2216F79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76728" y="1581766"/>
            <a:ext cx="9838544" cy="45720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Act on </a:t>
            </a:r>
            <a:r>
              <a:rPr lang="en-AU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acetylcholinesterase</a:t>
            </a: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at the post synaptic cleft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Prevents the breakdown of acetylcholine</a:t>
            </a:r>
          </a:p>
          <a:p>
            <a:pPr lvl="2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More acetylcholine remains longer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Drugs cause a reversible bond; </a:t>
            </a:r>
            <a:r>
              <a:rPr lang="en-AU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nerve gas is irreversible </a:t>
            </a:r>
          </a:p>
          <a:p>
            <a:pPr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Used for patients with: 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Myasthenia gravis </a:t>
            </a:r>
          </a:p>
          <a:p>
            <a:pPr lvl="2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(Edrophonium is used to diagnose myasthenia gravis)</a:t>
            </a:r>
          </a:p>
          <a:p>
            <a:pPr lvl="2">
              <a:defRPr/>
            </a:pPr>
            <a:r>
              <a:rPr lang="en-AU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Neo</a:t>
            </a:r>
            <a:r>
              <a:rPr lang="en-AU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stigmine</a:t>
            </a:r>
            <a:r>
              <a:rPr lang="en-AU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(know this drug) and pyrido</a:t>
            </a:r>
            <a:r>
              <a:rPr lang="en-AU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stigmine </a:t>
            </a: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are used to treat MG 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Alzheimer’s disease</a:t>
            </a:r>
          </a:p>
          <a:p>
            <a:pPr lvl="2">
              <a:defRPr/>
            </a:pPr>
            <a:r>
              <a:rPr lang="en-AU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Donepezil </a:t>
            </a: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(know this drug)</a:t>
            </a:r>
          </a:p>
          <a:p>
            <a:pPr lvl="2">
              <a:defRPr/>
            </a:pPr>
            <a:r>
              <a:rPr lang="en-AU" b="1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Galantamine</a:t>
            </a:r>
            <a:r>
              <a:rPr lang="en-AU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(know this drug)</a:t>
            </a:r>
          </a:p>
          <a:p>
            <a:pPr lvl="2">
              <a:defRPr/>
            </a:pPr>
            <a:r>
              <a:rPr lang="en-AU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Riva</a:t>
            </a:r>
            <a:r>
              <a:rPr lang="en-AU" dirty="0" err="1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stigmine</a:t>
            </a: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lvl="1"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A58439-ADBD-4FF4-B30E-2336C88B8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89" y="-398971"/>
            <a:ext cx="10515599" cy="7435744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840AD1F-0CC8-4BB8-AF62-24DD1C94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4382" y="365125"/>
            <a:ext cx="3929418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AU" sz="40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Myasthenia </a:t>
            </a:r>
            <a:br>
              <a:rPr lang="en-AU" sz="40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</a:br>
            <a:r>
              <a:rPr lang="en-AU" sz="40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gravis</a:t>
            </a:r>
          </a:p>
        </p:txBody>
      </p:sp>
    </p:spTree>
    <p:extLst>
      <p:ext uri="{BB962C8B-B14F-4D97-AF65-F5344CB8AC3E}">
        <p14:creationId xmlns:p14="http://schemas.microsoft.com/office/powerpoint/2010/main" val="1221007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6A78-4CCE-414F-8B3D-AB05EC1B6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6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Myasthenia Gravis often affects facial muscles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7C8875-0096-4550-871E-81F05A337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943894"/>
            <a:ext cx="7315200" cy="4114800"/>
          </a:xfrm>
        </p:spPr>
      </p:pic>
    </p:spTree>
    <p:extLst>
      <p:ext uri="{BB962C8B-B14F-4D97-AF65-F5344CB8AC3E}">
        <p14:creationId xmlns:p14="http://schemas.microsoft.com/office/powerpoint/2010/main" val="1447770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DEA3F-7A8D-4EB5-9216-3311D6BF6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AU" sz="40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Myasthenia Gravis</a:t>
            </a:r>
            <a:endParaRPr lang="en-AU" sz="40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1859" name="Content Placeholder 2">
            <a:extLst>
              <a:ext uri="{FF2B5EF4-FFF2-40B4-BE49-F238E27FC236}">
                <a16:creationId xmlns:a16="http://schemas.microsoft.com/office/drawing/2014/main" id="{7260FB15-A99B-46D3-B3AC-674D7E65842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690688"/>
            <a:ext cx="8504238" cy="4572000"/>
          </a:xfrm>
        </p:spPr>
        <p:txBody>
          <a:bodyPr>
            <a:normAutofit fontScale="92500" lnSpcReduction="10000"/>
          </a:bodyPr>
          <a:lstStyle/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Myasthenia gravis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Autoimmune disorder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Destruction of </a:t>
            </a:r>
            <a:r>
              <a:rPr lang="en-AU" altLang="en-US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ACh</a:t>
            </a:r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receptors</a:t>
            </a:r>
          </a:p>
          <a:p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Neostigmine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Prevents breakdown of </a:t>
            </a:r>
            <a:r>
              <a:rPr lang="en-AU" altLang="en-US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ACh</a:t>
            </a:r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Side effects: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Bradycardia</a:t>
            </a:r>
          </a:p>
          <a:p>
            <a:pPr lvl="2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Normally taken with a parasympatholytic such as atropine.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Anorexia, nausea, vomiting, abdominal cramps, and diarrhoea</a:t>
            </a:r>
          </a:p>
          <a:p>
            <a:pPr lvl="1"/>
            <a:endParaRPr lang="en-AU" altLang="en-US" dirty="0"/>
          </a:p>
        </p:txBody>
      </p:sp>
      <p:pic>
        <p:nvPicPr>
          <p:cNvPr id="121860" name="Picture 2" descr="http://2.bp.blogspot.com/_qeNNQ5Qtcgk/TTTP2_Jg3lI/AAAAAAAAADo/3ldMur1QTeM/s1600/neuron-synapse.png">
            <a:extLst>
              <a:ext uri="{FF2B5EF4-FFF2-40B4-BE49-F238E27FC236}">
                <a16:creationId xmlns:a16="http://schemas.microsoft.com/office/drawing/2014/main" id="{3CB4EECA-7D9F-449F-A4AC-53E94F2A7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58825"/>
            <a:ext cx="5509196" cy="4046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0A63-CCE6-4468-84ED-90D595E69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AU" sz="40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Alzheimer’s disease</a:t>
            </a:r>
          </a:p>
        </p:txBody>
      </p:sp>
      <p:sp>
        <p:nvSpPr>
          <p:cNvPr id="122883" name="Content Placeholder 2">
            <a:extLst>
              <a:ext uri="{FF2B5EF4-FFF2-40B4-BE49-F238E27FC236}">
                <a16:creationId xmlns:a16="http://schemas.microsoft.com/office/drawing/2014/main" id="{F3535CF1-DF4F-4AD1-B5C5-4B6018CDAF0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1" y="1527175"/>
            <a:ext cx="9369426" cy="4572000"/>
          </a:xfrm>
        </p:spPr>
        <p:txBody>
          <a:bodyPr/>
          <a:lstStyle/>
          <a:p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Progressive loss of </a:t>
            </a:r>
            <a:r>
              <a:rPr lang="en-AU" altLang="en-US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ACh</a:t>
            </a:r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neurons</a:t>
            </a:r>
          </a:p>
          <a:p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Galantamine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Acetylcholinesterase inhibitor</a:t>
            </a:r>
          </a:p>
          <a:p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Git complaints </a:t>
            </a:r>
          </a:p>
        </p:txBody>
      </p:sp>
      <p:pic>
        <p:nvPicPr>
          <p:cNvPr id="122884" name="Picture 2" descr="http://fbresearch.org/wp-content/uploads/2013/11/brain_custom-7dc8b13482809aa284fab1625375caecd883ccd7-s6-c30.jpg">
            <a:extLst>
              <a:ext uri="{FF2B5EF4-FFF2-40B4-BE49-F238E27FC236}">
                <a16:creationId xmlns:a16="http://schemas.microsoft.com/office/drawing/2014/main" id="{42F1DBAB-4667-480D-B31C-58C7BBF0D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850" y="198436"/>
            <a:ext cx="4744381" cy="6659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4143BF-1C7E-478E-97B9-D1D762633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919" y="-1312775"/>
            <a:ext cx="12524638" cy="918807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AD4E155-906A-4FCB-B9F7-C06462D749BC}"/>
              </a:ext>
            </a:extLst>
          </p:cNvPr>
          <p:cNvSpPr txBox="1">
            <a:spLocks/>
          </p:cNvSpPr>
          <p:nvPr/>
        </p:nvSpPr>
        <p:spPr>
          <a:xfrm>
            <a:off x="4169691" y="118267"/>
            <a:ext cx="39294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rgbClr val="3A7386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  <a:cs typeface="+mj-cs"/>
              </a:rPr>
              <a:t>Alzheimer’s disease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0A63-CCE6-4468-84ED-90D595E69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AU" sz="40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Alzheimer’s disease</a:t>
            </a:r>
          </a:p>
        </p:txBody>
      </p:sp>
      <p:sp>
        <p:nvSpPr>
          <p:cNvPr id="122883" name="Content Placeholder 2">
            <a:extLst>
              <a:ext uri="{FF2B5EF4-FFF2-40B4-BE49-F238E27FC236}">
                <a16:creationId xmlns:a16="http://schemas.microsoft.com/office/drawing/2014/main" id="{F3535CF1-DF4F-4AD1-B5C5-4B6018CDAF0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1" y="1527175"/>
            <a:ext cx="9369426" cy="4572000"/>
          </a:xfrm>
        </p:spPr>
        <p:txBody>
          <a:bodyPr/>
          <a:lstStyle/>
          <a:p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Progressive loss of </a:t>
            </a:r>
            <a:r>
              <a:rPr lang="en-AU" altLang="en-US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ACh</a:t>
            </a:r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neurons</a:t>
            </a:r>
          </a:p>
          <a:p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Galantamine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Acetylcholinesterase inhibitor</a:t>
            </a:r>
          </a:p>
          <a:p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Git complaints </a:t>
            </a:r>
          </a:p>
        </p:txBody>
      </p:sp>
      <p:pic>
        <p:nvPicPr>
          <p:cNvPr id="122884" name="Picture 2" descr="http://fbresearch.org/wp-content/uploads/2013/11/brain_custom-7dc8b13482809aa284fab1625375caecd883ccd7-s6-c30.jpg">
            <a:extLst>
              <a:ext uri="{FF2B5EF4-FFF2-40B4-BE49-F238E27FC236}">
                <a16:creationId xmlns:a16="http://schemas.microsoft.com/office/drawing/2014/main" id="{42F1DBAB-4667-480D-B31C-58C7BBF0D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850" y="198436"/>
            <a:ext cx="4744381" cy="6659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9955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8A650-16C0-440C-8688-6950540F0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AU" sz="4000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Advanced Alzheimer’s disease</a:t>
            </a:r>
          </a:p>
        </p:txBody>
      </p:sp>
      <p:sp>
        <p:nvSpPr>
          <p:cNvPr id="123907" name="Content Placeholder 2">
            <a:extLst>
              <a:ext uri="{FF2B5EF4-FFF2-40B4-BE49-F238E27FC236}">
                <a16:creationId xmlns:a16="http://schemas.microsoft.com/office/drawing/2014/main" id="{E1C71BBC-1B2E-4E5B-9378-0E4FFF95BEE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33015" y="1690688"/>
            <a:ext cx="8896848" cy="4859977"/>
          </a:xfrm>
        </p:spPr>
        <p:txBody>
          <a:bodyPr>
            <a:normAutofit/>
          </a:bodyPr>
          <a:lstStyle/>
          <a:p>
            <a:r>
              <a:rPr lang="en-AU" altLang="en-US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Donepezil</a:t>
            </a:r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(Aricept; know this drug) </a:t>
            </a:r>
          </a:p>
          <a:p>
            <a:pPr lvl="1"/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Reversible acetylcholinesterase inhibitor that is 100% bioavailable and crosses the BB barrier</a:t>
            </a:r>
          </a:p>
          <a:p>
            <a:pPr lvl="1"/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Two clinical trials indicate it may be effective for moderate to severe Alzheimer’s disease</a:t>
            </a: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Should be used with caution in patients with cardiac disease, cardiac conduction disturbances, chronic obstructive pulmonary disease, asthma</a:t>
            </a: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Patients with gastrointestinal disorders should use caution because nausea or vomiting may occur.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770147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</a:rPr>
              <a:t>Autonomic Nervous System Pharmacology</a:t>
            </a:r>
            <a:endParaRPr lang="en-AU" dirty="0">
              <a:solidFill>
                <a:srgbClr val="3A738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sz="1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 Ken Wojcikowski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8D6C8-59F8-4F93-AFE9-B39A5FEFD9EB}"/>
              </a:ext>
            </a:extLst>
          </p:cNvPr>
          <p:cNvSpPr/>
          <p:nvPr/>
        </p:nvSpPr>
        <p:spPr>
          <a:xfrm>
            <a:off x="0" y="0"/>
            <a:ext cx="12192000" cy="6903076"/>
          </a:xfrm>
          <a:prstGeom prst="rect">
            <a:avLst/>
          </a:prstGeom>
          <a:solidFill>
            <a:srgbClr val="0667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E5D-5D1C-4BB6-BBDE-CB916DC97CE9}"/>
              </a:ext>
            </a:extLst>
          </p:cNvPr>
          <p:cNvSpPr/>
          <p:nvPr/>
        </p:nvSpPr>
        <p:spPr>
          <a:xfrm>
            <a:off x="1148551" y="789494"/>
            <a:ext cx="10039546" cy="5279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E8622EF-0595-4530-B6E3-1DE92CA2C039}"/>
              </a:ext>
            </a:extLst>
          </p:cNvPr>
          <p:cNvSpPr txBox="1">
            <a:spLocks/>
          </p:cNvSpPr>
          <p:nvPr/>
        </p:nvSpPr>
        <p:spPr>
          <a:xfrm>
            <a:off x="1400692" y="2362488"/>
            <a:ext cx="9535264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b="1" i="0" kern="1200" baseline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Drugs of the PNS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Lesson 5: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Anticholinergic agents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srgbClr val="007298"/>
              </a:solidFill>
              <a:effectLst/>
              <a:uLnTx/>
              <a:uFillTx/>
              <a:latin typeface="Roboto Black" charset="0"/>
              <a:ea typeface="Roboto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7830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C8A327-3CEA-453C-B716-FC14B6FC26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1574" y="1259832"/>
            <a:ext cx="6558183" cy="573088"/>
          </a:xfrm>
        </p:spPr>
        <p:txBody>
          <a:bodyPr/>
          <a:lstStyle/>
          <a:p>
            <a:r>
              <a:rPr lang="en-AU" sz="3600" dirty="0"/>
              <a:t>Anticholinergic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7788E-BFB4-419E-A5C7-A517672801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1574" y="2351585"/>
            <a:ext cx="6558185" cy="1077415"/>
          </a:xfrm>
        </p:spPr>
        <p:txBody>
          <a:bodyPr/>
          <a:lstStyle/>
          <a:p>
            <a:pPr>
              <a:defRPr/>
            </a:pPr>
            <a:r>
              <a:rPr lang="en-AU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Other terms used: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Anticholinergics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AU" sz="2400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Parasympatholytics</a:t>
            </a:r>
            <a:endParaRPr lang="en-AU" sz="24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Muscarinic antagonists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Antimuscarinic agents </a:t>
            </a:r>
          </a:p>
          <a:p>
            <a:pPr>
              <a:defRPr/>
            </a:pPr>
            <a:endParaRPr lang="en-AU" sz="24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defRPr/>
            </a:pP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Allows the sympathetic system to dominate</a:t>
            </a:r>
          </a:p>
          <a:p>
            <a:pPr>
              <a:defRPr/>
            </a:pPr>
            <a:endParaRPr lang="en-AU" sz="24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90296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B134B-6B4B-45C2-A681-4F269BE5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36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Many of our medications inadvertently bind to and block the acetylcholine muscarinic receptor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1C4EFC-7B60-47A7-B1D2-6833C59A5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4"/>
          <a:stretch/>
        </p:blipFill>
        <p:spPr>
          <a:xfrm>
            <a:off x="2507530" y="1934467"/>
            <a:ext cx="7490461" cy="4654869"/>
          </a:xfrm>
        </p:spPr>
      </p:pic>
    </p:spTree>
    <p:extLst>
      <p:ext uri="{BB962C8B-B14F-4D97-AF65-F5344CB8AC3E}">
        <p14:creationId xmlns:p14="http://schemas.microsoft.com/office/powerpoint/2010/main" val="34605553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EE43E-CA3E-42FF-AD8A-ACF1F59B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Anticholinergic agents allow the sympathetic nervous system to dominate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9C51D5-4EAC-4B08-AAFE-F0B938808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442" y="1934466"/>
            <a:ext cx="8359116" cy="4702003"/>
          </a:xfrm>
        </p:spPr>
      </p:pic>
    </p:spTree>
    <p:extLst>
      <p:ext uri="{BB962C8B-B14F-4D97-AF65-F5344CB8AC3E}">
        <p14:creationId xmlns:p14="http://schemas.microsoft.com/office/powerpoint/2010/main" val="2068520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C8A327-3CEA-453C-B716-FC14B6FC26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1574" y="918638"/>
            <a:ext cx="6558183" cy="573088"/>
          </a:xfrm>
        </p:spPr>
        <p:txBody>
          <a:bodyPr/>
          <a:lstStyle/>
          <a:p>
            <a:r>
              <a:rPr lang="en-AU" sz="3600" dirty="0"/>
              <a:t>Muscarinic antagonists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7788E-BFB4-419E-A5C7-A517672801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1574" y="1955800"/>
            <a:ext cx="6558185" cy="1077415"/>
          </a:xfrm>
        </p:spPr>
        <p:txBody>
          <a:bodyPr/>
          <a:lstStyle/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Include </a:t>
            </a:r>
          </a:p>
          <a:p>
            <a:pPr lvl="1"/>
            <a:r>
              <a:rPr lang="en-AU" altLang="en-US" b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Atropine (know this drug)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Hyoscine</a:t>
            </a:r>
          </a:p>
          <a:p>
            <a:pPr lvl="1"/>
            <a:r>
              <a:rPr lang="en-AU" altLang="en-US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Hyoscamine</a:t>
            </a:r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Cyclopentolate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Indications: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Antispasmodics in GIT spasm,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Counterbalance bradycardia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Antiemetic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Antiasthma agent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Treatment of urinary frequency</a:t>
            </a:r>
          </a:p>
          <a:p>
            <a:pPr>
              <a:defRPr/>
            </a:pPr>
            <a:endParaRPr lang="en-AU" sz="24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53812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8142F-0AA4-4BEC-95CB-A12C1C85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Deadly nightshade contains atropine that is an anticholinergic agent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75DF02-96D6-462F-A06C-3CFC254CE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685" y="1943893"/>
            <a:ext cx="7906629" cy="4447479"/>
          </a:xfrm>
        </p:spPr>
      </p:pic>
    </p:spTree>
    <p:extLst>
      <p:ext uri="{BB962C8B-B14F-4D97-AF65-F5344CB8AC3E}">
        <p14:creationId xmlns:p14="http://schemas.microsoft.com/office/powerpoint/2010/main" val="1848770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0A608-A754-4454-8EDC-7E4C0843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This is a common mnemonic for anticholinergic overdose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D6AA-C96E-4642-B78F-3718FE660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649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To describe the physiologic manifestations of atropine overdose: </a:t>
            </a:r>
          </a:p>
          <a:p>
            <a:pPr marL="0" indent="0">
              <a:buNone/>
            </a:pPr>
            <a:endParaRPr 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“Hot as a hare, blind as a bat, dry as a bone, red as a beet, and mad as a hatter“ describing </a:t>
            </a:r>
          </a:p>
          <a:p>
            <a:r>
              <a:rPr 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warm, dry skin from decreased sweating, </a:t>
            </a:r>
          </a:p>
          <a:p>
            <a:r>
              <a:rPr 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blurry vision, decreased lacrimation, </a:t>
            </a:r>
          </a:p>
          <a:p>
            <a:r>
              <a:rPr 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vasodilation, and </a:t>
            </a:r>
          </a:p>
          <a:p>
            <a:r>
              <a:rPr 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central nervous system effects on muscarinic receptors</a:t>
            </a:r>
          </a:p>
          <a:p>
            <a:endParaRPr 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This set of symptoms is known as anticholinergic toxidrome, and may also be caused by other drugs with anticholinergic effects, such as hyoscine hydrobromide (scopolamine), diphenhydramine, phenothiazine antipsychotics and benztropine</a:t>
            </a:r>
            <a:endParaRPr lang="en-AU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6327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90EC-4005-4B25-82DF-5F11CF58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0240B-7CA5-437D-81EF-30BBF123E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AU" dirty="0" err="1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Goldsy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RA et Al. Immunology 5</a:t>
            </a:r>
            <a:r>
              <a:rPr lang="en-AU" baseline="300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WH Freeman Publishers, 2003</a:t>
            </a:r>
          </a:p>
          <a:p>
            <a:pPr lvl="0"/>
            <a:r>
              <a:rPr lang="en-AU" dirty="0" err="1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Marieb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E. Human Anatomy and Physiology, 5</a:t>
            </a:r>
            <a:r>
              <a:rPr lang="en-AU" baseline="300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Benjamin Cummings, San Francisco, 2001</a:t>
            </a:r>
          </a:p>
          <a:p>
            <a:pPr lvl="0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Rad, CC BY-SA 3.0 &lt;http://creativecommons.org/licenses/by-sa/3.0/&gt;, via Wikimedia Commons</a:t>
            </a:r>
          </a:p>
          <a:p>
            <a:pPr lvl="0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Martini FH, et al. Visual Anatomy and Physiology 1</a:t>
            </a:r>
            <a:r>
              <a:rPr lang="en-AU" baseline="300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Benjamin Cummings, 2011</a:t>
            </a:r>
          </a:p>
          <a:p>
            <a:pPr lvl="0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Royalty free images from Shutterstock</a:t>
            </a:r>
          </a:p>
          <a:p>
            <a:pPr lvl="0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PowerPoint and associated Video were edited and produced by Dr. Ken Wojcikowski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283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780923D-96ED-9F4A-BDC2-8B626CD12C8C}"/>
    </a:ext>
  </a:extLst>
</a:theme>
</file>

<file path=ppt/theme/theme3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52AA089-82C5-E441-8C9C-6B5E63BD1A4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a2430f-9ab9-4612-89ab-e74f08578de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F7C384DA1D4A45B6AE690D29401D8C" ma:contentTypeVersion="14" ma:contentTypeDescription="Create a new document." ma:contentTypeScope="" ma:versionID="3c17996ca2198a9611c2af4e03ebb319">
  <xsd:schema xmlns:xsd="http://www.w3.org/2001/XMLSchema" xmlns:xs="http://www.w3.org/2001/XMLSchema" xmlns:p="http://schemas.microsoft.com/office/2006/metadata/properties" xmlns:ns3="46a2430f-9ab9-4612-89ab-e74f08578de3" targetNamespace="http://schemas.microsoft.com/office/2006/metadata/properties" ma:root="true" ma:fieldsID="271071b29de865c011525a8db56f0a07" ns3:_="">
    <xsd:import namespace="46a2430f-9ab9-4612-89ab-e74f08578d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2430f-9ab9-4612-89ab-e74f08578d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F98358-6BC4-427D-8A5E-2D7E5FC909FD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46a2430f-9ab9-4612-89ab-e74f08578de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E6426C0-6B3E-4DB5-80C4-3B3A13EF21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84D84A-9C87-473F-8825-6B09E703F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a2430f-9ab9-4612-89ab-e74f08578d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1074</Words>
  <Application>Microsoft Office PowerPoint</Application>
  <PresentationFormat>Widescreen</PresentationFormat>
  <Paragraphs>186</Paragraphs>
  <Slides>39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Calibri</vt:lpstr>
      <vt:lpstr>Calibri Light</vt:lpstr>
      <vt:lpstr>Georgia</vt:lpstr>
      <vt:lpstr>Roboto</vt:lpstr>
      <vt:lpstr>Roboto Black</vt:lpstr>
      <vt:lpstr>Roboto Light</vt:lpstr>
      <vt:lpstr>Office Theme</vt:lpstr>
      <vt:lpstr>Opening Slide</vt:lpstr>
      <vt:lpstr>Content Slides</vt:lpstr>
      <vt:lpstr>PowerPoint Presentation</vt:lpstr>
      <vt:lpstr>PowerPoint Presentation</vt:lpstr>
      <vt:lpstr>PowerPoint Presentation</vt:lpstr>
      <vt:lpstr>PowerPoint Presentation</vt:lpstr>
      <vt:lpstr>Neurotransmitters of the ANS</vt:lpstr>
      <vt:lpstr>Acetylcholine binding  Skeletal muscle = nicotinic receptors.  PNS= muscarinic receptors</vt:lpstr>
      <vt:lpstr>PowerPoint Presentation</vt:lpstr>
      <vt:lpstr>PowerPoint Presentation</vt:lpstr>
      <vt:lpstr>Anticholinergic agents that break into the brain are associated with dementia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Direct acting cholinergic agents act on the receptors, acting like acetylcholine</vt:lpstr>
      <vt:lpstr>Indirect acting cholinergic agents act on the enzyme that degrades acetylcholine </vt:lpstr>
      <vt:lpstr>Thanks to Pearson Education 2011</vt:lpstr>
      <vt:lpstr>PowerPoint Presentation</vt:lpstr>
      <vt:lpstr>PowerPoint Presentation</vt:lpstr>
      <vt:lpstr>Cholinergic agonists</vt:lpstr>
      <vt:lpstr>PowerPoint Presentation</vt:lpstr>
      <vt:lpstr>PowerPoint Presentation</vt:lpstr>
      <vt:lpstr>Indirect acting cholinergic agonists</vt:lpstr>
      <vt:lpstr>Myasthenia  gravis</vt:lpstr>
      <vt:lpstr>Myasthenia Gravis often affects facial muscles</vt:lpstr>
      <vt:lpstr>Myasthenia Gravis</vt:lpstr>
      <vt:lpstr>Alzheimer’s disease</vt:lpstr>
      <vt:lpstr>Alzheimer’s disease</vt:lpstr>
      <vt:lpstr>Advanced Alzheimer’s disease</vt:lpstr>
      <vt:lpstr>PowerPoint Presentation</vt:lpstr>
      <vt:lpstr>PowerPoint Presentation</vt:lpstr>
      <vt:lpstr>Many of our medications inadvertently bind to and block the acetylcholine muscarinic receptor</vt:lpstr>
      <vt:lpstr>Anticholinergic agents allow the sympathetic nervous system to dominate</vt:lpstr>
      <vt:lpstr>PowerPoint Presentation</vt:lpstr>
      <vt:lpstr>Deadly nightshade contains atropine that is an anticholinergic agent</vt:lpstr>
      <vt:lpstr>This is a common mnemonic for anticholinergic overdose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Wojcikowski</dc:creator>
  <cp:lastModifiedBy>Ken Wojcikowski</cp:lastModifiedBy>
  <cp:revision>2</cp:revision>
  <dcterms:created xsi:type="dcterms:W3CDTF">2022-10-28T20:49:48Z</dcterms:created>
  <dcterms:modified xsi:type="dcterms:W3CDTF">2023-11-03T19:12:07Z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0x0101009EF7C384DA1D4A45B6AE690D29401D8C</vt:lpwstr>
  </property>
</Properties>
</file>