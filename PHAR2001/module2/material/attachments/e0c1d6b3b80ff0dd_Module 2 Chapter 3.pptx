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62" r:id="rId6"/>
  </p:sldMasterIdLst>
  <p:notesMasterIdLst>
    <p:notesMasterId r:id="rId28"/>
  </p:notesMasterIdLst>
  <p:sldIdLst>
    <p:sldId id="475" r:id="rId7"/>
    <p:sldId id="465" r:id="rId8"/>
    <p:sldId id="511" r:id="rId9"/>
    <p:sldId id="551" r:id="rId10"/>
    <p:sldId id="417" r:id="rId11"/>
    <p:sldId id="513" r:id="rId12"/>
    <p:sldId id="467" r:id="rId13"/>
    <p:sldId id="552" r:id="rId14"/>
    <p:sldId id="468" r:id="rId15"/>
    <p:sldId id="469" r:id="rId16"/>
    <p:sldId id="522" r:id="rId17"/>
    <p:sldId id="470" r:id="rId18"/>
    <p:sldId id="553" r:id="rId19"/>
    <p:sldId id="523" r:id="rId20"/>
    <p:sldId id="550" r:id="rId21"/>
    <p:sldId id="471" r:id="rId22"/>
    <p:sldId id="472" r:id="rId23"/>
    <p:sldId id="473" r:id="rId24"/>
    <p:sldId id="425" r:id="rId25"/>
    <p:sldId id="457" r:id="rId26"/>
    <p:sldId id="52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9" d="100"/>
          <a:sy n="89" d="100"/>
        </p:scale>
        <p:origin x="451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2CC69A-F148-4044-859C-985EE9E7DB84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378B8-5D3C-4161-993C-4524399A9B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5196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>
            <a:extLst>
              <a:ext uri="{FF2B5EF4-FFF2-40B4-BE49-F238E27FC236}">
                <a16:creationId xmlns:a16="http://schemas.microsoft.com/office/drawing/2014/main" id="{E41A8AFA-0438-4F56-B37C-8F0D04F4886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>
            <a:extLst>
              <a:ext uri="{FF2B5EF4-FFF2-40B4-BE49-F238E27FC236}">
                <a16:creationId xmlns:a16="http://schemas.microsoft.com/office/drawing/2014/main" id="{275851DD-D8E3-4D01-8E20-9129289A91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/>
          </a:p>
        </p:txBody>
      </p:sp>
      <p:sp>
        <p:nvSpPr>
          <p:cNvPr id="87044" name="Slide Number Placeholder 3">
            <a:extLst>
              <a:ext uri="{FF2B5EF4-FFF2-40B4-BE49-F238E27FC236}">
                <a16:creationId xmlns:a16="http://schemas.microsoft.com/office/drawing/2014/main" id="{66823970-1EE5-4E61-8CDD-222EB8DD8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78C71-9DC1-40DF-B9B5-CE1DBE4899AE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1CD4-437F-438B-AD58-FA72E33E4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7454A-BE7C-403E-87AE-7341D24434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D3385-95D9-434C-BCBA-020240A3E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238A-0371-4D2A-9125-F1C43532E971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7CCF1-35FC-4BFE-991A-74F0B1896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12F6F-7F21-4AEC-8888-F7822920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F2A9-A7E1-4A0A-860A-BD302824AC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283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E50C5-25EE-4676-8B03-D8C3D1405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29066-64A8-4A52-9415-1AE56EA30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908F1-7B7D-480C-9D8B-3D8A45D7A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238A-0371-4D2A-9125-F1C43532E971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8F4CD-5428-4DCB-8A3B-4B922DC71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0A5F2-1310-4E2B-B057-D19CE5E6D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F2A9-A7E1-4A0A-860A-BD302824AC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529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5BBE8-EC7A-4C3C-900D-D38A8EAE4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DE757-F0F9-4813-A23A-6A946FB04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A7B28-97B8-4467-9B97-B897BAF0D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238A-0371-4D2A-9125-F1C43532E971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EB27E-2E0D-4B66-B083-2D40A45B8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551D7-6A61-4D04-A5F3-D98A1B205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F2A9-A7E1-4A0A-860A-BD302824AC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1528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2C4E8-AD12-404B-A211-908CCDFE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2A351-44BF-411D-8429-9854885FE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2EED8-78AF-4D37-B019-D75CE76EF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B32B6-62AF-4BDF-AB15-C67FD839E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238A-0371-4D2A-9125-F1C43532E971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1A42D-87C4-47BC-8865-11598B3C4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D67ED-E16A-4223-98A8-FFC26E7EF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F2A9-A7E1-4A0A-860A-BD302824AC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870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53175-B3C9-4CD5-A850-0F57F1170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61C53-3C46-4273-B126-D6131CF5F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1CCB5-BE01-420C-9EBB-3B5D87EDE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2DEE77-7D5E-45CF-A6DA-645C0191DB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CB9F30-D5BB-4442-9F12-F237DA0966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956E3F-0609-4184-A8A2-B027D54EA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238A-0371-4D2A-9125-F1C43532E971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BD07C6-D839-439A-9708-DE19E7E87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78C8A9-3BFD-4BC1-A366-6970D4DED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F2A9-A7E1-4A0A-860A-BD302824AC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4064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34E84-9249-4417-82F8-32AE6A0E5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28714-EB9F-422C-B8B8-37BFC295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238A-0371-4D2A-9125-F1C43532E971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CD6BF-14B1-4A16-93C2-24DBCE673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DE080-023D-42F4-BD5B-772DBA52B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F2A9-A7E1-4A0A-860A-BD302824AC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7888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CE1D2B-CDE2-4EF0-B801-027F6A19D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238A-0371-4D2A-9125-F1C43532E971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5DF6C4-9FC1-4495-93AF-635E09B50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F5FBA-76E6-4F46-BBF3-86EBDA76C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F2A9-A7E1-4A0A-860A-BD302824AC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8623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88194-8044-4517-BB82-175442487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4E290-9B51-4F7D-B1CA-BFD59D8C2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00295-2B4A-4F6E-BD83-52192CD9F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C5F87-7DC3-4CCC-AC32-DFDC8E51F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238A-0371-4D2A-9125-F1C43532E971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82CA5-29D6-4B23-9CB6-90DA4B1A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20032-CED0-4B77-8AAF-90E0D634A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F2A9-A7E1-4A0A-860A-BD302824AC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427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EDEF5-D8F5-40CC-B595-E9080D74A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1AC39D-D021-4CAD-8201-844B2C716B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9425B-0E89-4AF9-9B69-A0F4AEB2A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A422B-2A9E-4177-AD67-23C91BDF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238A-0371-4D2A-9125-F1C43532E971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FA3D5-431C-479F-BFC4-A38ECDAD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F5884-3AEB-4F0D-94C5-FC798DB67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F2A9-A7E1-4A0A-860A-BD302824AC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615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1710D-D994-48C0-A0D6-8D4E1B173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B90FC-2C00-4186-9BC6-9B62FDE5E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D26F2-18CE-46B7-85EE-F4FF99D15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238A-0371-4D2A-9125-F1C43532E971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7C178-0240-4AF1-943E-E1C3080E8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6F22B-3F9C-4B1D-BE10-DAC91EEDE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F2A9-A7E1-4A0A-860A-BD302824AC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3794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82EC8C-FA14-4DE4-AC84-04EBFC07E8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8860C-7179-4F45-8358-11503BBE5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9C27F-DEAA-42B7-A10E-749491B2E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238A-0371-4D2A-9125-F1C43532E971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EFB33-7FAE-49A4-AF3F-01E648491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1D5ED-007C-44E5-817B-2CBEAE26F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F2A9-A7E1-4A0A-860A-BD302824AC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1755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/>
              <a:t>Insert subtitle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8" y="6100990"/>
            <a:ext cx="3024569" cy="3153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## Month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258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9" y="2389855"/>
            <a:ext cx="3164052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4585099" y="2389854"/>
            <a:ext cx="3164054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691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700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996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634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714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833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3785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vy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328229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7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3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6328229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4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53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1226A3-D1A2-4181-A2AB-EA944C4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55B42-A08B-46A4-B9E9-6C628C644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4365D-6681-45A4-925B-1A97D4FF08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C238A-0371-4D2A-9125-F1C43532E971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D938B-9E2D-43F8-B88A-1EE562390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C14E3-A0A5-430F-BD9C-4925B5577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2F2A9-A7E1-4A0A-860A-BD302824AC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901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789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i="0" kern="1200" spc="150" baseline="0">
          <a:solidFill>
            <a:schemeClr val="tx1"/>
          </a:solidFill>
          <a:latin typeface="Roboto Black" charset="0"/>
          <a:ea typeface="Roboto Black" charset="0"/>
          <a:cs typeface="Robot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b="0" i="0" kern="1200" baseline="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112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au/url?sa=i&amp;rct=j&amp;q=&amp;esrc=s&amp;frm=1&amp;source=images&amp;cd=&amp;cad=rja&amp;docid=H7N9-Xu51sDOMM&amp;tbnid=ATkBQupB0Ho7QM:&amp;ved=0CAUQjRw&amp;url=http://www.uky.edu/~mtp/OBI836AR.html&amp;ei=pwZcUo6cO4rqrAHo4YC4Bg&amp;psig=AFQjCNE1le0iavf-sInkoMEcn-eDMIi47g&amp;ust=138184909828467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www.google.com.au/url?sa=i&amp;rct=j&amp;q=&amp;esrc=s&amp;frm=1&amp;source=images&amp;cd=&amp;cad=rja&amp;docid=2OJU7UxJB8LGhM&amp;tbnid=MlpSzDH_TxcffM:&amp;ved=0CAUQjRw&amp;url=http://en.wikipedia.org/wiki/Renin%E2%80%93angiotensin_system&amp;ei=2rheUpyuLY34rAHar4CQDQ&amp;bvm=bv.54176721,d.aWc&amp;psig=AFQjCNGLhx0YlzKzCsNllPuCKwFhC5njPQ&amp;ust=1382025803749349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BDF647-ED52-4BB2-9030-3FA2B3E69D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3554594"/>
            <a:ext cx="5504297" cy="495918"/>
          </a:xfrm>
        </p:spPr>
        <p:txBody>
          <a:bodyPr/>
          <a:lstStyle/>
          <a:p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Introductory Pharmacology PHAR2001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4669C-C763-41F2-B039-88C893F9D0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323218"/>
            <a:ext cx="7224609" cy="573088"/>
          </a:xfrm>
        </p:spPr>
        <p:txBody>
          <a:bodyPr/>
          <a:lstStyle/>
          <a:p>
            <a:r>
              <a:rPr lang="en-AU" altLang="en-US" sz="4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Third Part/Chapter of the Autonomic Nervous System (ANS) Pharmacology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9395C-2D07-4DA6-A585-DB530BE9FB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AU" dirty="0"/>
              <a:t>Dr. Ken Wojcikowski</a:t>
            </a:r>
          </a:p>
        </p:txBody>
      </p:sp>
    </p:spTree>
    <p:extLst>
      <p:ext uri="{BB962C8B-B14F-4D97-AF65-F5344CB8AC3E}">
        <p14:creationId xmlns:p14="http://schemas.microsoft.com/office/powerpoint/2010/main" val="2118340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3A32F0-ED49-488A-8FE6-3413C44F66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sz="4000" dirty="0">
                <a:solidFill>
                  <a:srgbClr val="3A7386"/>
                </a:solidFill>
              </a:rPr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9ED9F-743A-47E7-8C4A-41145D8430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4027" y="2389854"/>
            <a:ext cx="7551925" cy="1077415"/>
          </a:xfrm>
        </p:spPr>
        <p:txBody>
          <a:bodyPr/>
          <a:lstStyle/>
          <a:p>
            <a:r>
              <a:rPr lang="en-AU" altLang="en-US" sz="2400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Describe the actions interactions and side effects of the following adrenergic antagonists:</a:t>
            </a:r>
            <a:endParaRPr lang="en-AU" altLang="en-US" sz="24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r>
              <a:rPr lang="en-AU" altLang="en-US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Phentolamine and labetalol (non-selective antagonist)</a:t>
            </a:r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r>
              <a:rPr lang="en-AU" altLang="en-US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Prazosin and doxazosin (an alpha 1 selective antagonist)</a:t>
            </a:r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r>
              <a:rPr lang="en-AU" altLang="en-US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Metoprolol and atenolol (a beta 1 selective adrenergic antagonist)</a:t>
            </a:r>
          </a:p>
          <a:p>
            <a:pPr marL="457200" lvl="1" indent="0" algn="ctr">
              <a:buNone/>
            </a:pPr>
            <a:r>
              <a:rPr lang="en-AU" altLang="en-US" b="1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These medications will be taken again at a later time. It is most important right now to understand why the actions and side effects occur.</a:t>
            </a:r>
          </a:p>
        </p:txBody>
      </p:sp>
    </p:spTree>
    <p:extLst>
      <p:ext uri="{BB962C8B-B14F-4D97-AF65-F5344CB8AC3E}">
        <p14:creationId xmlns:p14="http://schemas.microsoft.com/office/powerpoint/2010/main" val="1636664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D4BBE-C836-45FE-B91A-A4F4EFDB7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3770147"/>
            <a:ext cx="5504297" cy="495918"/>
          </a:xfrm>
        </p:spPr>
        <p:txBody>
          <a:bodyPr/>
          <a:lstStyle/>
          <a:p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Introductory Pharmacology PHAR2001</a:t>
            </a:r>
          </a:p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0B708-458D-46A5-B22B-72B13CB67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993053"/>
            <a:ext cx="7224609" cy="573088"/>
          </a:xfrm>
        </p:spPr>
        <p:txBody>
          <a:bodyPr/>
          <a:lstStyle/>
          <a:p>
            <a:r>
              <a:rPr lang="en-AU" altLang="en-US" dirty="0">
                <a:solidFill>
                  <a:srgbClr val="3A7386"/>
                </a:solidFill>
              </a:rPr>
              <a:t>Autonomic Nervous System Pharmacology</a:t>
            </a:r>
            <a:endParaRPr lang="en-AU" dirty="0">
              <a:solidFill>
                <a:srgbClr val="3A738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38FD6-D3C0-47AA-B8A4-4AC2507C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AU" sz="1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Dr Ken Wojcikowski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8D6C8-59F8-4F93-AFE9-B39A5FEFD9EB}"/>
              </a:ext>
            </a:extLst>
          </p:cNvPr>
          <p:cNvSpPr/>
          <p:nvPr/>
        </p:nvSpPr>
        <p:spPr>
          <a:xfrm>
            <a:off x="0" y="0"/>
            <a:ext cx="12192000" cy="6903076"/>
          </a:xfrm>
          <a:prstGeom prst="rect">
            <a:avLst/>
          </a:prstGeom>
          <a:solidFill>
            <a:srgbClr val="0667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2AE5D-5D1C-4BB6-BBDE-CB916DC97CE9}"/>
              </a:ext>
            </a:extLst>
          </p:cNvPr>
          <p:cNvSpPr/>
          <p:nvPr/>
        </p:nvSpPr>
        <p:spPr>
          <a:xfrm>
            <a:off x="1148551" y="789494"/>
            <a:ext cx="10039546" cy="5279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E8622EF-0595-4530-B6E3-1DE92CA2C039}"/>
              </a:ext>
            </a:extLst>
          </p:cNvPr>
          <p:cNvSpPr txBox="1">
            <a:spLocks/>
          </p:cNvSpPr>
          <p:nvPr/>
        </p:nvSpPr>
        <p:spPr>
          <a:xfrm>
            <a:off x="1400692" y="2362488"/>
            <a:ext cx="9535264" cy="5730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b="1" i="0" kern="1200" baseline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alt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</a:rPr>
              <a:t>Sympatholytics</a:t>
            </a:r>
            <a:r>
              <a:rPr kumimoji="0" lang="en-AU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</a:rPr>
              <a:t> (drugs that block the SNS)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Lesson 1: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Understanding drugs that block the SNS</a:t>
            </a:r>
            <a:endParaRPr kumimoji="0" lang="en-AU" sz="3600" b="1" i="0" u="none" strike="noStrike" kern="1200" cap="none" spc="0" normalizeH="0" baseline="0" noProof="0" dirty="0">
              <a:ln>
                <a:noFill/>
              </a:ln>
              <a:solidFill>
                <a:srgbClr val="007298"/>
              </a:solidFill>
              <a:effectLst/>
              <a:uLnTx/>
              <a:uFillTx/>
              <a:latin typeface="Roboto Black" charset="0"/>
              <a:ea typeface="Roboto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86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3AA40-25DB-4E6B-85CD-A688058D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Sympatholytic agents allow the parasympathetic nervous system dominate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1CCDB85-CDDC-4DBC-8E32-67EEF5B55A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461" y="1943894"/>
            <a:ext cx="8087077" cy="4548981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7822481-37D4-40E7-8145-A8298C63B519}"/>
              </a:ext>
            </a:extLst>
          </p:cNvPr>
          <p:cNvSpPr/>
          <p:nvPr/>
        </p:nvSpPr>
        <p:spPr>
          <a:xfrm>
            <a:off x="3714161" y="2384981"/>
            <a:ext cx="999241" cy="42609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6098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>
            <a:extLst>
              <a:ext uri="{FF2B5EF4-FFF2-40B4-BE49-F238E27FC236}">
                <a16:creationId xmlns:a16="http://schemas.microsoft.com/office/drawing/2014/main" id="{DB86B43C-9099-4EE4-921D-7F6E5794E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altLang="en-US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Sympatholytic drugs</a:t>
            </a:r>
          </a:p>
        </p:txBody>
      </p:sp>
      <p:sp>
        <p:nvSpPr>
          <p:cNvPr id="86019" name="Content Placeholder 2">
            <a:extLst>
              <a:ext uri="{FF2B5EF4-FFF2-40B4-BE49-F238E27FC236}">
                <a16:creationId xmlns:a16="http://schemas.microsoft.com/office/drawing/2014/main" id="{5563DBC1-9F49-4D04-BBF6-DCEE4199814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825625" y="1527175"/>
            <a:ext cx="8504238" cy="4572000"/>
          </a:xfrm>
        </p:spPr>
        <p:txBody>
          <a:bodyPr/>
          <a:lstStyle/>
          <a:p>
            <a:pPr marL="514350" indent="-514350">
              <a:buFont typeface="Georgia" panose="02040502050405020303" pitchFamily="18" charset="0"/>
              <a:buAutoNum type="arabicPeriod"/>
            </a:pPr>
            <a:r>
              <a:rPr lang="en-AU" altLang="en-US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Block</a:t>
            </a:r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adrenoreceptors on the surface of an effector or</a:t>
            </a:r>
          </a:p>
          <a:p>
            <a:pPr marL="514350" indent="-514350">
              <a:buFont typeface="Georgia" panose="02040502050405020303" pitchFamily="18" charset="0"/>
              <a:buAutoNum type="arabicPeriod"/>
            </a:pPr>
            <a:r>
              <a:rPr lang="en-AU" altLang="en-US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Prevent</a:t>
            </a:r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transmission by adrenergic nerves </a:t>
            </a:r>
          </a:p>
        </p:txBody>
      </p:sp>
      <p:pic>
        <p:nvPicPr>
          <p:cNvPr id="86020" name="Picture 2" descr="http://www.uky.edu/~mtp/nervterm.jpg">
            <a:hlinkClick r:id="rId3"/>
            <a:extLst>
              <a:ext uri="{FF2B5EF4-FFF2-40B4-BE49-F238E27FC236}">
                <a16:creationId xmlns:a16="http://schemas.microsoft.com/office/drawing/2014/main" id="{E28EC51E-FE3A-40AA-9903-52A85D6A9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2924176"/>
            <a:ext cx="6457950" cy="3743325"/>
          </a:xfrm>
          <a:prstGeom prst="rect">
            <a:avLst/>
          </a:prstGeom>
          <a:solidFill>
            <a:srgbClr val="7030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own Arrow 3">
            <a:extLst>
              <a:ext uri="{FF2B5EF4-FFF2-40B4-BE49-F238E27FC236}">
                <a16:creationId xmlns:a16="http://schemas.microsoft.com/office/drawing/2014/main" id="{2DF28A4B-D56F-44F1-B2F8-9C5341D2D83D}"/>
              </a:ext>
            </a:extLst>
          </p:cNvPr>
          <p:cNvSpPr/>
          <p:nvPr/>
        </p:nvSpPr>
        <p:spPr>
          <a:xfrm>
            <a:off x="4197350" y="5300664"/>
            <a:ext cx="484188" cy="49053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022" name="TextBox 4">
            <a:extLst>
              <a:ext uri="{FF2B5EF4-FFF2-40B4-BE49-F238E27FC236}">
                <a16:creationId xmlns:a16="http://schemas.microsoft.com/office/drawing/2014/main" id="{582FC2DC-831F-4647-8EE2-EF182F07D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8075" y="5589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86023" name="TextBox 5">
            <a:extLst>
              <a:ext uri="{FF2B5EF4-FFF2-40B4-BE49-F238E27FC236}">
                <a16:creationId xmlns:a16="http://schemas.microsoft.com/office/drawing/2014/main" id="{E7A754D8-8714-40E7-82E6-535A5A6C5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288" y="5562600"/>
            <a:ext cx="1008062" cy="36988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1. block</a:t>
            </a:r>
          </a:p>
        </p:txBody>
      </p:sp>
      <p:sp>
        <p:nvSpPr>
          <p:cNvPr id="86024" name="TextBox 6">
            <a:extLst>
              <a:ext uri="{FF2B5EF4-FFF2-40B4-BE49-F238E27FC236}">
                <a16:creationId xmlns:a16="http://schemas.microsoft.com/office/drawing/2014/main" id="{421A1FC2-DD28-48E5-80C6-FB8041F35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476" y="6362700"/>
            <a:ext cx="1368425" cy="368300"/>
          </a:xfrm>
          <a:prstGeom prst="rect">
            <a:avLst/>
          </a:prstGeom>
          <a:solidFill>
            <a:srgbClr val="7030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2.prevent</a:t>
            </a:r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638D4461-70D7-4211-A21B-D05695F57AED}"/>
              </a:ext>
            </a:extLst>
          </p:cNvPr>
          <p:cNvSpPr/>
          <p:nvPr/>
        </p:nvSpPr>
        <p:spPr>
          <a:xfrm>
            <a:off x="6816725" y="6303964"/>
            <a:ext cx="977900" cy="485775"/>
          </a:xfrm>
          <a:prstGeom prst="lef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D4BBE-C836-45FE-B91A-A4F4EFDB7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3770147"/>
            <a:ext cx="5504297" cy="495918"/>
          </a:xfrm>
        </p:spPr>
        <p:txBody>
          <a:bodyPr/>
          <a:lstStyle/>
          <a:p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Introductory Pharmacology PHAR2001</a:t>
            </a:r>
          </a:p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0B708-458D-46A5-B22B-72B13CB67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993053"/>
            <a:ext cx="7224609" cy="573088"/>
          </a:xfrm>
        </p:spPr>
        <p:txBody>
          <a:bodyPr/>
          <a:lstStyle/>
          <a:p>
            <a:r>
              <a:rPr lang="en-AU" altLang="en-US" dirty="0">
                <a:solidFill>
                  <a:srgbClr val="3A7386"/>
                </a:solidFill>
              </a:rPr>
              <a:t>Autonomic Nervous System Pharmacology</a:t>
            </a:r>
            <a:endParaRPr lang="en-AU" dirty="0">
              <a:solidFill>
                <a:srgbClr val="3A738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38FD6-D3C0-47AA-B8A4-4AC2507C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AU" sz="1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Dr Ken Wojcikowski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8D6C8-59F8-4F93-AFE9-B39A5FEFD9EB}"/>
              </a:ext>
            </a:extLst>
          </p:cNvPr>
          <p:cNvSpPr/>
          <p:nvPr/>
        </p:nvSpPr>
        <p:spPr>
          <a:xfrm>
            <a:off x="0" y="0"/>
            <a:ext cx="12192000" cy="6903076"/>
          </a:xfrm>
          <a:prstGeom prst="rect">
            <a:avLst/>
          </a:prstGeom>
          <a:solidFill>
            <a:srgbClr val="0667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2AE5D-5D1C-4BB6-BBDE-CB916DC97CE9}"/>
              </a:ext>
            </a:extLst>
          </p:cNvPr>
          <p:cNvSpPr/>
          <p:nvPr/>
        </p:nvSpPr>
        <p:spPr>
          <a:xfrm>
            <a:off x="1148552" y="789494"/>
            <a:ext cx="10039546" cy="5279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E8622EF-0595-4530-B6E3-1DE92CA2C039}"/>
              </a:ext>
            </a:extLst>
          </p:cNvPr>
          <p:cNvSpPr txBox="1">
            <a:spLocks/>
          </p:cNvSpPr>
          <p:nvPr/>
        </p:nvSpPr>
        <p:spPr>
          <a:xfrm>
            <a:off x="1400692" y="2312082"/>
            <a:ext cx="9535264" cy="5730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b="1" i="0" kern="1200" baseline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alt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</a:rPr>
              <a:t>Sympatholytics</a:t>
            </a:r>
            <a:r>
              <a:rPr kumimoji="0" lang="en-AU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Lesson 2: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Non-selective adrenergic blockers</a:t>
            </a:r>
            <a:endParaRPr kumimoji="0" lang="en-AU" sz="3600" b="1" i="0" u="none" strike="noStrike" kern="1200" cap="none" spc="0" normalizeH="0" baseline="0" noProof="0" dirty="0">
              <a:ln>
                <a:noFill/>
              </a:ln>
              <a:solidFill>
                <a:srgbClr val="007298"/>
              </a:solidFill>
              <a:effectLst/>
              <a:uLnTx/>
              <a:uFillTx/>
              <a:latin typeface="Roboto Black" charset="0"/>
              <a:ea typeface="Roboto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096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D87063-5A4C-4373-8235-D629D45DA2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7" y="667044"/>
            <a:ext cx="6558183" cy="573088"/>
          </a:xfrm>
        </p:spPr>
        <p:txBody>
          <a:bodyPr/>
          <a:lstStyle/>
          <a:p>
            <a:r>
              <a:rPr lang="en-AU" dirty="0"/>
              <a:t>Non-selective sympatholytic drugs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E92FB-F79A-4F52-82F4-FB02E9B48F6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4025" y="1920624"/>
            <a:ext cx="8084190" cy="1077415"/>
          </a:xfrm>
        </p:spPr>
        <p:txBody>
          <a:bodyPr/>
          <a:lstStyle/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Mostly used to treat hypertension</a:t>
            </a: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Labetalol (know this drug; used to treat pre-eclampsia)</a:t>
            </a:r>
          </a:p>
          <a:p>
            <a:endParaRPr lang="en-AU" altLang="en-US" sz="24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Adverse effects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Postural hypotension 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Blurred vision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Bronchospasm (dyspnoea; contraindicated in asthma)</a:t>
            </a:r>
            <a:endParaRPr lang="en-AU" altLang="en-US" dirty="0">
              <a:solidFill>
                <a:srgbClr val="FF0000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Swollen ankles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Nasal congestion</a:t>
            </a:r>
            <a:endParaRPr lang="en-AU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037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0B520-326A-4DD5-A6BF-7718F4BD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4000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Pre-eclampsia can advance to life threatening eclampsia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A68454-D0DA-4131-85BB-9A484F6D4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773" y="2370456"/>
            <a:ext cx="6724454" cy="3782505"/>
          </a:xfrm>
          <a:ln w="19050">
            <a:solidFill>
              <a:srgbClr val="3A7386"/>
            </a:solidFill>
          </a:ln>
        </p:spPr>
      </p:pic>
    </p:spTree>
    <p:extLst>
      <p:ext uri="{BB962C8B-B14F-4D97-AF65-F5344CB8AC3E}">
        <p14:creationId xmlns:p14="http://schemas.microsoft.com/office/powerpoint/2010/main" val="506546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D87063-5A4C-4373-8235-D629D45DA2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7" y="667044"/>
            <a:ext cx="6558183" cy="573088"/>
          </a:xfrm>
        </p:spPr>
        <p:txBody>
          <a:bodyPr/>
          <a:lstStyle/>
          <a:p>
            <a:r>
              <a:rPr lang="en-AU" sz="3600" dirty="0"/>
              <a:t>Alpha antagonists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E92FB-F79A-4F52-82F4-FB02E9B48F6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4025" y="1708590"/>
            <a:ext cx="6558185" cy="1077415"/>
          </a:xfrm>
        </p:spPr>
        <p:txBody>
          <a:bodyPr/>
          <a:lstStyle/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Recall the location of receptors: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Blood vessels 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Smooth muscles of the GIT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Radial muscles of the eye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Sphincters of the bladder</a:t>
            </a:r>
          </a:p>
          <a:p>
            <a:pPr lvl="1"/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If you block the adrenergic activity of these, 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Vasodilation = decreased blood pressure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Increased GI motility and secretions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Pupil constriction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Increased micturition</a:t>
            </a:r>
          </a:p>
          <a:p>
            <a:pPr lvl="1"/>
            <a:endParaRPr lang="en-AU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457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D87063-5A4C-4373-8235-D629D45DA2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7" y="1038103"/>
            <a:ext cx="6558183" cy="573088"/>
          </a:xfrm>
        </p:spPr>
        <p:txBody>
          <a:bodyPr/>
          <a:lstStyle/>
          <a:p>
            <a:r>
              <a:rPr lang="en-AU" dirty="0"/>
              <a:t> Non-selective </a:t>
            </a:r>
            <a:r>
              <a:rPr lang="en-AU" i="1" dirty="0"/>
              <a:t>Alpha</a:t>
            </a:r>
            <a:r>
              <a:rPr lang="en-AU" dirty="0"/>
              <a:t> antagonists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E92FB-F79A-4F52-82F4-FB02E9B48F6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4025" y="2132655"/>
            <a:ext cx="6558185" cy="1077415"/>
          </a:xfrm>
        </p:spPr>
        <p:txBody>
          <a:bodyPr/>
          <a:lstStyle/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Phentolamine (</a:t>
            </a:r>
            <a:r>
              <a:rPr lang="en-AU" altLang="en-US" sz="2400" dirty="0" err="1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Regitine</a:t>
            </a:r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; know this drug)</a:t>
            </a: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Used to: 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Control hypertensive emergencies,  cocaine overdose, and adrenaline overdose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Locally to increase blood flow for instance in the location of an injection of adrenaline</a:t>
            </a: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Side effects: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Nasal congestion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Postural (orthostatic) hypotension</a:t>
            </a:r>
            <a:endParaRPr lang="en-AU" altLang="en-US" dirty="0"/>
          </a:p>
          <a:p>
            <a:pPr lvl="1"/>
            <a:endParaRPr lang="en-AU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819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D4BBE-C836-45FE-B91A-A4F4EFDB7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3770147"/>
            <a:ext cx="5504297" cy="495918"/>
          </a:xfrm>
        </p:spPr>
        <p:txBody>
          <a:bodyPr/>
          <a:lstStyle/>
          <a:p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Introductory Pharmacology PHAR2001</a:t>
            </a:r>
          </a:p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0B708-458D-46A5-B22B-72B13CB67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993053"/>
            <a:ext cx="7224609" cy="573088"/>
          </a:xfrm>
        </p:spPr>
        <p:txBody>
          <a:bodyPr/>
          <a:lstStyle/>
          <a:p>
            <a:r>
              <a:rPr lang="en-AU" altLang="en-US" dirty="0">
                <a:solidFill>
                  <a:srgbClr val="3A7386"/>
                </a:solidFill>
              </a:rPr>
              <a:t>Autonomic Nervous System Pharmacology</a:t>
            </a:r>
            <a:endParaRPr lang="en-AU" dirty="0">
              <a:solidFill>
                <a:srgbClr val="3A738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38FD6-D3C0-47AA-B8A4-4AC2507C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AU" sz="1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Dr Ken Wojcikowski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8D6C8-59F8-4F93-AFE9-B39A5FEFD9EB}"/>
              </a:ext>
            </a:extLst>
          </p:cNvPr>
          <p:cNvSpPr/>
          <p:nvPr/>
        </p:nvSpPr>
        <p:spPr>
          <a:xfrm>
            <a:off x="0" y="0"/>
            <a:ext cx="12192000" cy="6903076"/>
          </a:xfrm>
          <a:prstGeom prst="rect">
            <a:avLst/>
          </a:prstGeom>
          <a:solidFill>
            <a:srgbClr val="0667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2AE5D-5D1C-4BB6-BBDE-CB916DC97CE9}"/>
              </a:ext>
            </a:extLst>
          </p:cNvPr>
          <p:cNvSpPr/>
          <p:nvPr/>
        </p:nvSpPr>
        <p:spPr>
          <a:xfrm>
            <a:off x="1148552" y="789494"/>
            <a:ext cx="10039546" cy="5279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E8622EF-0595-4530-B6E3-1DE92CA2C039}"/>
              </a:ext>
            </a:extLst>
          </p:cNvPr>
          <p:cNvSpPr txBox="1">
            <a:spLocks/>
          </p:cNvSpPr>
          <p:nvPr/>
        </p:nvSpPr>
        <p:spPr>
          <a:xfrm>
            <a:off x="1400692" y="2312082"/>
            <a:ext cx="9535264" cy="5730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b="1" i="0" kern="1200" baseline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alt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</a:rPr>
              <a:t>Sympatholytics</a:t>
            </a:r>
            <a:r>
              <a:rPr kumimoji="0" lang="en-AU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Lesson 3: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Selective adrenergic blockers                     (Part 1: Alpha 1 blockers)</a:t>
            </a:r>
            <a:endParaRPr kumimoji="0" lang="en-AU" sz="3600" b="1" i="0" u="none" strike="noStrike" kern="1200" cap="none" spc="0" normalizeH="0" baseline="0" noProof="0" dirty="0">
              <a:ln>
                <a:noFill/>
              </a:ln>
              <a:solidFill>
                <a:srgbClr val="007298"/>
              </a:solidFill>
              <a:effectLst/>
              <a:uLnTx/>
              <a:uFillTx/>
              <a:latin typeface="Roboto Black" charset="0"/>
              <a:ea typeface="Roboto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065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D87063-5A4C-4373-8235-D629D45DA2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7" y="1038103"/>
            <a:ext cx="6558183" cy="573088"/>
          </a:xfrm>
        </p:spPr>
        <p:txBody>
          <a:bodyPr/>
          <a:lstStyle/>
          <a:p>
            <a:r>
              <a:rPr lang="en-AU" sz="3600" dirty="0"/>
              <a:t>Alpha 1 antagonists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E92FB-F79A-4F52-82F4-FB02E9B48F6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4025" y="2132655"/>
            <a:ext cx="6558185" cy="4950533"/>
          </a:xfrm>
        </p:spPr>
        <p:txBody>
          <a:bodyPr/>
          <a:lstStyle/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Receptors in the blood vessels and prostate</a:t>
            </a:r>
          </a:p>
          <a:p>
            <a:endParaRPr lang="en-AU" altLang="en-US" sz="24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Drugs end in ‘…</a:t>
            </a:r>
            <a:r>
              <a:rPr lang="en-AU" altLang="en-US" sz="2400" dirty="0" err="1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osin</a:t>
            </a:r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’ alfuz</a:t>
            </a:r>
            <a:r>
              <a:rPr lang="en-AU" altLang="en-US" sz="24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osin</a:t>
            </a:r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, praz</a:t>
            </a:r>
            <a:r>
              <a:rPr lang="en-AU" altLang="en-US" sz="24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osin</a:t>
            </a:r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…</a:t>
            </a:r>
          </a:p>
          <a:p>
            <a:endParaRPr lang="en-AU" altLang="en-US" sz="24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Treatment of 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Hypertension  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Benign prostatic hyperplasia</a:t>
            </a:r>
          </a:p>
          <a:p>
            <a:pPr lvl="1"/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May result in hypotension!!</a:t>
            </a:r>
          </a:p>
          <a:p>
            <a:pPr lvl="1"/>
            <a:endParaRPr lang="en-AU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445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EBDFFC-8390-46BE-BFEC-CEB871449A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0C834-B3C2-43F1-87A6-81B4E68B805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F5E4D-141B-4EE2-848C-BBEDC6C0CCA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130A7B-E1EA-4CEA-946F-9422CB2F24F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C8FBDE-0B8F-4A33-8E7E-36077952AD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25A44A-D629-4A53-801D-D889C4671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694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D4BBE-C836-45FE-B91A-A4F4EFDB7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3770147"/>
            <a:ext cx="5504297" cy="495918"/>
          </a:xfrm>
        </p:spPr>
        <p:txBody>
          <a:bodyPr/>
          <a:lstStyle/>
          <a:p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Introductory Pharmacology PHAR2001</a:t>
            </a:r>
          </a:p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0B708-458D-46A5-B22B-72B13CB67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993053"/>
            <a:ext cx="7224609" cy="573088"/>
          </a:xfrm>
        </p:spPr>
        <p:txBody>
          <a:bodyPr/>
          <a:lstStyle/>
          <a:p>
            <a:r>
              <a:rPr lang="en-AU" altLang="en-US" dirty="0">
                <a:solidFill>
                  <a:srgbClr val="3A7386"/>
                </a:solidFill>
              </a:rPr>
              <a:t>Autonomic Nervous System Pharmacology</a:t>
            </a:r>
            <a:endParaRPr lang="en-AU" dirty="0">
              <a:solidFill>
                <a:srgbClr val="3A738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38FD6-D3C0-47AA-B8A4-4AC2507C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AU" sz="1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Dr Ken Wojcikowski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8D6C8-59F8-4F93-AFE9-B39A5FEFD9EB}"/>
              </a:ext>
            </a:extLst>
          </p:cNvPr>
          <p:cNvSpPr/>
          <p:nvPr/>
        </p:nvSpPr>
        <p:spPr>
          <a:xfrm>
            <a:off x="0" y="0"/>
            <a:ext cx="12192000" cy="6903076"/>
          </a:xfrm>
          <a:prstGeom prst="rect">
            <a:avLst/>
          </a:prstGeom>
          <a:solidFill>
            <a:srgbClr val="0667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2AE5D-5D1C-4BB6-BBDE-CB916DC97CE9}"/>
              </a:ext>
            </a:extLst>
          </p:cNvPr>
          <p:cNvSpPr/>
          <p:nvPr/>
        </p:nvSpPr>
        <p:spPr>
          <a:xfrm>
            <a:off x="1148552" y="789494"/>
            <a:ext cx="10039546" cy="5279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E8622EF-0595-4530-B6E3-1DE92CA2C039}"/>
              </a:ext>
            </a:extLst>
          </p:cNvPr>
          <p:cNvSpPr txBox="1">
            <a:spLocks/>
          </p:cNvSpPr>
          <p:nvPr/>
        </p:nvSpPr>
        <p:spPr>
          <a:xfrm>
            <a:off x="1400692" y="2312082"/>
            <a:ext cx="9535264" cy="5730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b="1" i="0" kern="1200" baseline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alt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</a:rPr>
              <a:t>Sympatholytics</a:t>
            </a:r>
            <a:r>
              <a:rPr kumimoji="0" lang="en-AU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Lesson 4: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Selective adrenergic blockers                      (Part 2: Beta blockers)</a:t>
            </a:r>
            <a:endParaRPr kumimoji="0" lang="en-AU" sz="3600" b="1" i="0" u="none" strike="noStrike" kern="1200" cap="none" spc="0" normalizeH="0" baseline="0" noProof="0" dirty="0">
              <a:ln>
                <a:noFill/>
              </a:ln>
              <a:solidFill>
                <a:srgbClr val="007298"/>
              </a:solidFill>
              <a:effectLst/>
              <a:uLnTx/>
              <a:uFillTx/>
              <a:latin typeface="Roboto Black" charset="0"/>
              <a:ea typeface="Roboto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171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951D5-7A8D-4E7D-AF52-466509E9D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Beta blockers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EC472F-8703-40C7-94E4-0D96D99AF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8444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D87063-5A4C-4373-8235-D629D45DA2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7" y="696909"/>
            <a:ext cx="6558183" cy="573088"/>
          </a:xfrm>
        </p:spPr>
        <p:txBody>
          <a:bodyPr/>
          <a:lstStyle/>
          <a:p>
            <a:r>
              <a:rPr lang="en-AU" sz="3600" dirty="0"/>
              <a:t>Beta antagonists (…</a:t>
            </a:r>
            <a:r>
              <a:rPr lang="en-AU" sz="3600" dirty="0" err="1">
                <a:solidFill>
                  <a:srgbClr val="FF0000"/>
                </a:solidFill>
              </a:rPr>
              <a:t>olol</a:t>
            </a:r>
            <a:r>
              <a:rPr lang="en-AU" sz="3600" dirty="0"/>
              <a:t> drugs)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E92FB-F79A-4F52-82F4-FB02E9B48F6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4027" y="1641334"/>
            <a:ext cx="7060608" cy="1077415"/>
          </a:xfrm>
        </p:spPr>
        <p:txBody>
          <a:bodyPr/>
          <a:lstStyle/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Can be non-selective:</a:t>
            </a:r>
          </a:p>
          <a:p>
            <a:pPr lvl="1"/>
            <a:r>
              <a:rPr lang="en-AU" altLang="en-US" sz="22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Propran</a:t>
            </a:r>
            <a:r>
              <a:rPr lang="en-AU" altLang="en-US" sz="22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olol</a:t>
            </a:r>
            <a:r>
              <a:rPr lang="en-AU" altLang="en-US" sz="22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(</a:t>
            </a:r>
            <a:r>
              <a:rPr lang="en-AU" altLang="en-US" sz="2200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know</a:t>
            </a:r>
            <a:r>
              <a:rPr lang="en-AU" altLang="en-US" sz="22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this drug; first of this class, but crosses blood brain barrier)</a:t>
            </a:r>
          </a:p>
          <a:p>
            <a:pPr lvl="1"/>
            <a:r>
              <a:rPr lang="en-AU" altLang="en-US" sz="22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Tim</a:t>
            </a:r>
            <a:r>
              <a:rPr lang="en-AU" altLang="en-US" sz="22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olol</a:t>
            </a:r>
            <a:r>
              <a:rPr lang="en-AU" altLang="en-US" sz="22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(</a:t>
            </a:r>
            <a:r>
              <a:rPr lang="en-AU" altLang="en-US" sz="2200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know</a:t>
            </a:r>
            <a:r>
              <a:rPr lang="en-AU" altLang="en-US" sz="22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this drug; treatment of choice in the patient with hypertension and angina)</a:t>
            </a:r>
          </a:p>
          <a:p>
            <a:pPr lvl="1"/>
            <a:r>
              <a:rPr lang="en-AU" altLang="en-US" sz="22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Acebut</a:t>
            </a:r>
            <a:r>
              <a:rPr lang="en-AU" altLang="en-US" sz="22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olol</a:t>
            </a:r>
            <a:r>
              <a:rPr lang="en-AU" altLang="en-US" sz="22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… (other examples)</a:t>
            </a:r>
          </a:p>
          <a:p>
            <a:pPr lvl="1"/>
            <a:endParaRPr lang="en-AU" altLang="en-US" sz="12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Or selective for Beta 1 or Beta 2 receptors, but there are no clinical applications for Beta 2 antagonists</a:t>
            </a: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Selective Beta 1 antagonists were developed to reduce bronchospasm</a:t>
            </a:r>
          </a:p>
          <a:p>
            <a:pPr lvl="1"/>
            <a:r>
              <a:rPr lang="en-AU" altLang="en-US" sz="22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Contraindicated for those with asthma, COPD, allergies</a:t>
            </a:r>
          </a:p>
          <a:p>
            <a:pPr lvl="1"/>
            <a:endParaRPr lang="en-AU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585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D87063-5A4C-4373-8235-D629D45DA2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7" y="696909"/>
            <a:ext cx="6558183" cy="573088"/>
          </a:xfrm>
        </p:spPr>
        <p:txBody>
          <a:bodyPr/>
          <a:lstStyle/>
          <a:p>
            <a:r>
              <a:rPr lang="en-AU" sz="3600" dirty="0"/>
              <a:t>Beta 1 antagonists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E92FB-F79A-4F52-82F4-FB02E9B48F6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4027" y="1641334"/>
            <a:ext cx="7060608" cy="1077415"/>
          </a:xfrm>
        </p:spPr>
        <p:txBody>
          <a:bodyPr/>
          <a:lstStyle/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blockage of the beta 1 receptors in the heart 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Decreased chronotropic effects 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Decreased inotropic effects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Together, these have the effect of </a:t>
            </a:r>
          </a:p>
          <a:p>
            <a:pPr lvl="2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stabilising the rhythm and </a:t>
            </a:r>
          </a:p>
          <a:p>
            <a:pPr lvl="2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leading to decrease in arrhythmias, </a:t>
            </a:r>
          </a:p>
          <a:p>
            <a:pPr lvl="2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decreased cardiac workload </a:t>
            </a:r>
          </a:p>
          <a:p>
            <a:pPr lvl="2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decreased oxygen consumption</a:t>
            </a: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blockage of the beta 1 receptors in the kidneys 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Renin- angiotensin-aldosterone mechanism decreased 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Decreased blood pressure </a:t>
            </a:r>
          </a:p>
          <a:p>
            <a:pPr lvl="1"/>
            <a:endParaRPr lang="en-AU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75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D87063-5A4C-4373-8235-D629D45DA2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7" y="696909"/>
            <a:ext cx="6558183" cy="573088"/>
          </a:xfrm>
        </p:spPr>
        <p:txBody>
          <a:bodyPr/>
          <a:lstStyle/>
          <a:p>
            <a:r>
              <a:rPr lang="en-AU" sz="3600" dirty="0"/>
              <a:t>Beta 1 antagonists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E92FB-F79A-4F52-82F4-FB02E9B48F6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4027" y="1641334"/>
            <a:ext cx="7060608" cy="1077415"/>
          </a:xfrm>
        </p:spPr>
        <p:txBody>
          <a:bodyPr/>
          <a:lstStyle/>
          <a:p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Metoprolol (</a:t>
            </a:r>
            <a:r>
              <a:rPr lang="en-AU" altLang="en-US" sz="2800" dirty="0" err="1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lopressor</a:t>
            </a:r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; know this drug)</a:t>
            </a:r>
          </a:p>
          <a:p>
            <a:r>
              <a:rPr lang="en-AU" altLang="en-US" sz="2800" dirty="0" err="1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Betaxolol</a:t>
            </a:r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, Atenolol </a:t>
            </a:r>
          </a:p>
          <a:p>
            <a:endParaRPr lang="en-AU" altLang="en-US" sz="28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Adverse reactions: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Dizziness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Bradycardia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Orthostatic hypotension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Bronchospasm </a:t>
            </a:r>
          </a:p>
          <a:p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Never stop this drug abruptly!</a:t>
            </a:r>
          </a:p>
          <a:p>
            <a:pPr lvl="1"/>
            <a:endParaRPr lang="en-AU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845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Content Placeholder 2">
            <a:extLst>
              <a:ext uri="{FF2B5EF4-FFF2-40B4-BE49-F238E27FC236}">
                <a16:creationId xmlns:a16="http://schemas.microsoft.com/office/drawing/2014/main" id="{EF6BDF77-DD37-4944-88D1-6397E8B0538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825625" y="1527175"/>
            <a:ext cx="8504238" cy="4572000"/>
          </a:xfrm>
        </p:spPr>
        <p:txBody>
          <a:bodyPr/>
          <a:lstStyle/>
          <a:p>
            <a:endParaRPr lang="en-AU" altLang="en-US"/>
          </a:p>
        </p:txBody>
      </p:sp>
      <p:pic>
        <p:nvPicPr>
          <p:cNvPr id="101379" name="Picture 2" descr="http://upload.wikimedia.org/wikipedia/commons/thumb/a/a2/Renin-angiotensin-aldosterone_system.png/700px-Renin-angiotensin-aldosterone_system.png">
            <a:hlinkClick r:id="rId2"/>
            <a:extLst>
              <a:ext uri="{FF2B5EF4-FFF2-40B4-BE49-F238E27FC236}">
                <a16:creationId xmlns:a16="http://schemas.microsoft.com/office/drawing/2014/main" id="{9E2B8D5A-4E90-40A6-B098-CB20909B8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661" y="735013"/>
            <a:ext cx="11020425" cy="613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0" name="Title 1">
            <a:extLst>
              <a:ext uri="{FF2B5EF4-FFF2-40B4-BE49-F238E27FC236}">
                <a16:creationId xmlns:a16="http://schemas.microsoft.com/office/drawing/2014/main" id="{EF3B8444-3EEB-488C-9F3C-6E1BC9A9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2192000" cy="1196975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pPr algn="ctr"/>
            <a:r>
              <a:rPr lang="en-AU" altLang="en-US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renin angiotensin aldosterone system increases water and salt retention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E0132A-5BFF-4B8C-AC14-A559CB62A4C8}"/>
              </a:ext>
            </a:extLst>
          </p:cNvPr>
          <p:cNvSpPr/>
          <p:nvPr/>
        </p:nvSpPr>
        <p:spPr>
          <a:xfrm>
            <a:off x="314873" y="5661322"/>
            <a:ext cx="41062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A. Rad (me), CC BY-SA 3.0 &lt;http://creativecommons.org/licenses/by-sa/3.0/&gt;, via Wikimedia Commons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F14F8D-36C7-4E55-97F9-65DED1D4E1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55077" y="1023803"/>
            <a:ext cx="6451191" cy="573088"/>
          </a:xfrm>
        </p:spPr>
        <p:txBody>
          <a:bodyPr/>
          <a:lstStyle/>
          <a:p>
            <a:r>
              <a:rPr lang="en-AU" sz="3600" dirty="0">
                <a:solidFill>
                  <a:srgbClr val="3A7386"/>
                </a:solidFill>
              </a:rPr>
              <a:t>There is no clinical use for Beta 2 antagonists in humans</a:t>
            </a:r>
          </a:p>
          <a:p>
            <a:pPr algn="ctr"/>
            <a:r>
              <a:rPr lang="en-AU" sz="2400" i="1" dirty="0">
                <a:solidFill>
                  <a:srgbClr val="FF0000"/>
                </a:solidFill>
              </a:rPr>
              <a:t>Why?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3E3A8-1D6C-41A4-868B-5CAE3B14F99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55078" y="2806409"/>
            <a:ext cx="7161270" cy="3136302"/>
          </a:xfrm>
        </p:spPr>
        <p:txBody>
          <a:bodyPr/>
          <a:lstStyle/>
          <a:p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Recall the location of the receptors: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Lung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Mast cells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Skeletal muscle</a:t>
            </a:r>
          </a:p>
          <a:p>
            <a:pPr lvl="1"/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457200" lvl="1" indent="0" algn="ctr">
              <a:buNone/>
            </a:pPr>
            <a:r>
              <a:rPr lang="en-AU" altLang="en-US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(These would constrict the bronchioles and make mast cells more sensitive, so there is no clinical application for this type of drug)</a:t>
            </a:r>
          </a:p>
          <a:p>
            <a:pPr marL="457200" lvl="1" indent="0">
              <a:buNone/>
            </a:pPr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3158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B90EC-4005-4B25-82DF-5F11CF58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0240B-7CA5-437D-81EF-30BBF123E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AU" dirty="0" err="1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Goldsy</a:t>
            </a:r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RA et Al. Immunology 5</a:t>
            </a:r>
            <a:r>
              <a:rPr lang="en-AU" baseline="30000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</a:t>
            </a:r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ed. WH Freeman Publishers, 2003</a:t>
            </a:r>
          </a:p>
          <a:p>
            <a:pPr lvl="0"/>
            <a:r>
              <a:rPr lang="en-AU" dirty="0" err="1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Marieb</a:t>
            </a:r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E. Human Anatomy and Physiology, 5</a:t>
            </a:r>
            <a:r>
              <a:rPr lang="en-AU" baseline="30000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</a:t>
            </a:r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ed. Benjamin Cummings, San Francisco, 2001</a:t>
            </a:r>
          </a:p>
          <a:p>
            <a:pPr lvl="0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Rad, CC BY-SA 3.0 &lt;http://creativecommons.org/licenses/by-sa/3.0/&gt;, via Wikimedia Commons</a:t>
            </a:r>
          </a:p>
          <a:p>
            <a:pPr lvl="0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Martini FH, et al. Visual Anatomy and Physiology 1</a:t>
            </a:r>
            <a:r>
              <a:rPr lang="en-AU" baseline="30000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</a:t>
            </a:r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ed. Benjamin Cummings, 2011</a:t>
            </a:r>
          </a:p>
          <a:p>
            <a:pPr lvl="0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Royalty free images from Shutterstock</a:t>
            </a:r>
          </a:p>
          <a:p>
            <a:pPr lvl="0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PowerPoint and associated Video were edited and produced by Dr. Ken Wojcikowski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283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pen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780923D-96ED-9F4A-BDC2-8B626CD12C8C}"/>
    </a:ext>
  </a:extLst>
</a:theme>
</file>

<file path=ppt/theme/theme3.xml><?xml version="1.0" encoding="utf-8"?>
<a:theme xmlns:a="http://schemas.openxmlformats.org/drawingml/2006/main" name="Conten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52AA089-82C5-E441-8C9C-6B5E63BD1A49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F7C384DA1D4A45B6AE690D29401D8C" ma:contentTypeVersion="11" ma:contentTypeDescription="Create a new document." ma:contentTypeScope="" ma:versionID="991042ea8ece25ed42d5e78d787df14a">
  <xsd:schema xmlns:xsd="http://www.w3.org/2001/XMLSchema" xmlns:xs="http://www.w3.org/2001/XMLSchema" xmlns:p="http://schemas.microsoft.com/office/2006/metadata/properties" xmlns:ns3="46a2430f-9ab9-4612-89ab-e74f08578de3" targetNamespace="http://schemas.microsoft.com/office/2006/metadata/properties" ma:root="true" ma:fieldsID="407fd9a13a8af064f5af9d3e1e052ba5" ns3:_="">
    <xsd:import namespace="46a2430f-9ab9-4612-89ab-e74f08578de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2430f-9ab9-4612-89ab-e74f08578d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FAF7B00-8255-4A1F-8E6E-FD8AC2AE0C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a2430f-9ab9-4612-89ab-e74f08578d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D0C65B-1775-4F65-AA34-D3BF167361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567776-251C-42AA-BC80-2596A561844C}">
  <ds:schemaRefs>
    <ds:schemaRef ds:uri="http://schemas.microsoft.com/office/infopath/2007/PartnerControls"/>
    <ds:schemaRef ds:uri="http://purl.org/dc/elements/1.1/"/>
    <ds:schemaRef ds:uri="46a2430f-9ab9-4612-89ab-e74f08578de3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737</Words>
  <Application>Microsoft Office PowerPoint</Application>
  <PresentationFormat>Widescreen</PresentationFormat>
  <Paragraphs>130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Calibri</vt:lpstr>
      <vt:lpstr>Calibri Light</vt:lpstr>
      <vt:lpstr>Georgia</vt:lpstr>
      <vt:lpstr>Roboto</vt:lpstr>
      <vt:lpstr>Roboto Black</vt:lpstr>
      <vt:lpstr>Roboto Light</vt:lpstr>
      <vt:lpstr>Office Theme</vt:lpstr>
      <vt:lpstr>Opening Slide</vt:lpstr>
      <vt:lpstr>Content Slides</vt:lpstr>
      <vt:lpstr>PowerPoint Presentation</vt:lpstr>
      <vt:lpstr>PowerPoint Presentation</vt:lpstr>
      <vt:lpstr>PowerPoint Presentation</vt:lpstr>
      <vt:lpstr>Sympatholytic agents allow the parasympathetic nervous system dominate</vt:lpstr>
      <vt:lpstr>Sympatholytic drugs</vt:lpstr>
      <vt:lpstr>PowerPoint Presentation</vt:lpstr>
      <vt:lpstr>PowerPoint Presentation</vt:lpstr>
      <vt:lpstr>Pre-eclampsia can advance to life threatening eclampsia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Beta blockers</vt:lpstr>
      <vt:lpstr>PowerPoint Presentation</vt:lpstr>
      <vt:lpstr>PowerPoint Presentation</vt:lpstr>
      <vt:lpstr>PowerPoint Presentation</vt:lpstr>
      <vt:lpstr>The renin angiotensin aldosterone system increases water and salt retention</vt:lpstr>
      <vt:lpstr>PowerPoint Presentation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Wojcikowski</dc:creator>
  <cp:lastModifiedBy>Ken Wojcikowski</cp:lastModifiedBy>
  <cp:revision>1</cp:revision>
  <dcterms:created xsi:type="dcterms:W3CDTF">2022-10-28T20:43:34Z</dcterms:created>
  <dcterms:modified xsi:type="dcterms:W3CDTF">2022-10-28T20:45:19Z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0x0101009EF7C384DA1D4A45B6AE690D29401D8C</vt:lpwstr>
  </property>
</Properties>
</file>