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3" r:id="rId5"/>
    <p:sldMasterId id="2147483666" r:id="rId6"/>
  </p:sldMasterIdLst>
  <p:notesMasterIdLst>
    <p:notesMasterId r:id="rId51"/>
  </p:notesMasterIdLst>
  <p:sldIdLst>
    <p:sldId id="268" r:id="rId7"/>
    <p:sldId id="434" r:id="rId8"/>
    <p:sldId id="437" r:id="rId9"/>
    <p:sldId id="444" r:id="rId10"/>
    <p:sldId id="287" r:id="rId11"/>
    <p:sldId id="379" r:id="rId12"/>
    <p:sldId id="285" r:id="rId13"/>
    <p:sldId id="288" r:id="rId14"/>
    <p:sldId id="328" r:id="rId15"/>
    <p:sldId id="305" r:id="rId16"/>
    <p:sldId id="306" r:id="rId17"/>
    <p:sldId id="534" r:id="rId18"/>
    <p:sldId id="307" r:id="rId19"/>
    <p:sldId id="439" r:id="rId20"/>
    <p:sldId id="445" r:id="rId21"/>
    <p:sldId id="381" r:id="rId22"/>
    <p:sldId id="530" r:id="rId23"/>
    <p:sldId id="383" r:id="rId24"/>
    <p:sldId id="380" r:id="rId25"/>
    <p:sldId id="527" r:id="rId26"/>
    <p:sldId id="387" r:id="rId27"/>
    <p:sldId id="443" r:id="rId28"/>
    <p:sldId id="382" r:id="rId29"/>
    <p:sldId id="531" r:id="rId30"/>
    <p:sldId id="532" r:id="rId31"/>
    <p:sldId id="384" r:id="rId32"/>
    <p:sldId id="440" r:id="rId33"/>
    <p:sldId id="446" r:id="rId34"/>
    <p:sldId id="419" r:id="rId35"/>
    <p:sldId id="442" r:id="rId36"/>
    <p:sldId id="263" r:id="rId37"/>
    <p:sldId id="399" r:id="rId38"/>
    <p:sldId id="400" r:id="rId39"/>
    <p:sldId id="385" r:id="rId40"/>
    <p:sldId id="525" r:id="rId41"/>
    <p:sldId id="270" r:id="rId42"/>
    <p:sldId id="426" r:id="rId43"/>
    <p:sldId id="272" r:id="rId44"/>
    <p:sldId id="533" r:id="rId45"/>
    <p:sldId id="273" r:id="rId46"/>
    <p:sldId id="271" r:id="rId47"/>
    <p:sldId id="275" r:id="rId48"/>
    <p:sldId id="276" r:id="rId49"/>
    <p:sldId id="524" r:id="rId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796"/>
    <a:srgbClr val="01618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9" autoAdjust="0"/>
    <p:restoredTop sz="94660"/>
  </p:normalViewPr>
  <p:slideViewPr>
    <p:cSldViewPr snapToGrid="0">
      <p:cViewPr varScale="1">
        <p:scale>
          <a:sx n="68" d="100"/>
          <a:sy n="68" d="100"/>
        </p:scale>
        <p:origin x="50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slide" Target="slides/slide41.xml"/><Relationship Id="rId50" Type="http://schemas.openxmlformats.org/officeDocument/2006/relationships/slide" Target="slides/slide44.xml"/><Relationship Id="rId55"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microsoft.com/office/2016/11/relationships/changesInfo" Target="changesInfos/changesInfo1.xml"/><Relationship Id="rId8" Type="http://schemas.openxmlformats.org/officeDocument/2006/relationships/slide" Target="slides/slide2.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Wojcikowski" userId="3d9dd381-bb96-4ff2-a8e3-dc2a625deaa7" providerId="ADAL" clId="{954F9884-36CB-409F-8AA3-8A5422EBDEB2}"/>
    <pc:docChg chg="custSel addSld delSld modSld">
      <pc:chgData name="Ken Wojcikowski" userId="3d9dd381-bb96-4ff2-a8e3-dc2a625deaa7" providerId="ADAL" clId="{954F9884-36CB-409F-8AA3-8A5422EBDEB2}" dt="2022-11-11T19:58:23.381" v="21" actId="1076"/>
      <pc:docMkLst>
        <pc:docMk/>
      </pc:docMkLst>
      <pc:sldChg chg="del">
        <pc:chgData name="Ken Wojcikowski" userId="3d9dd381-bb96-4ff2-a8e3-dc2a625deaa7" providerId="ADAL" clId="{954F9884-36CB-409F-8AA3-8A5422EBDEB2}" dt="2022-11-11T19:26:00.013" v="3" actId="2696"/>
        <pc:sldMkLst>
          <pc:docMk/>
          <pc:sldMk cId="2210342811" sldId="261"/>
        </pc:sldMkLst>
      </pc:sldChg>
      <pc:sldChg chg="del">
        <pc:chgData name="Ken Wojcikowski" userId="3d9dd381-bb96-4ff2-a8e3-dc2a625deaa7" providerId="ADAL" clId="{954F9884-36CB-409F-8AA3-8A5422EBDEB2}" dt="2022-11-11T19:26:22.631" v="11" actId="2696"/>
        <pc:sldMkLst>
          <pc:docMk/>
          <pc:sldMk cId="2502722632" sldId="274"/>
        </pc:sldMkLst>
      </pc:sldChg>
      <pc:sldChg chg="del">
        <pc:chgData name="Ken Wojcikowski" userId="3d9dd381-bb96-4ff2-a8e3-dc2a625deaa7" providerId="ADAL" clId="{954F9884-36CB-409F-8AA3-8A5422EBDEB2}" dt="2022-11-11T19:26:05.113" v="5" actId="2696"/>
        <pc:sldMkLst>
          <pc:docMk/>
          <pc:sldMk cId="1095957076" sldId="416"/>
        </pc:sldMkLst>
      </pc:sldChg>
      <pc:sldChg chg="del">
        <pc:chgData name="Ken Wojcikowski" userId="3d9dd381-bb96-4ff2-a8e3-dc2a625deaa7" providerId="ADAL" clId="{954F9884-36CB-409F-8AA3-8A5422EBDEB2}" dt="2022-11-11T19:26:02.547" v="4" actId="2696"/>
        <pc:sldMkLst>
          <pc:docMk/>
          <pc:sldMk cId="1313026237" sldId="417"/>
        </pc:sldMkLst>
      </pc:sldChg>
      <pc:sldChg chg="del">
        <pc:chgData name="Ken Wojcikowski" userId="3d9dd381-bb96-4ff2-a8e3-dc2a625deaa7" providerId="ADAL" clId="{954F9884-36CB-409F-8AA3-8A5422EBDEB2}" dt="2022-11-11T19:26:09.363" v="7" actId="2696"/>
        <pc:sldMkLst>
          <pc:docMk/>
          <pc:sldMk cId="535099054" sldId="420"/>
        </pc:sldMkLst>
      </pc:sldChg>
      <pc:sldChg chg="del">
        <pc:chgData name="Ken Wojcikowski" userId="3d9dd381-bb96-4ff2-a8e3-dc2a625deaa7" providerId="ADAL" clId="{954F9884-36CB-409F-8AA3-8A5422EBDEB2}" dt="2022-11-11T19:26:06.230" v="6" actId="2696"/>
        <pc:sldMkLst>
          <pc:docMk/>
          <pc:sldMk cId="3850515399" sldId="422"/>
        </pc:sldMkLst>
      </pc:sldChg>
      <pc:sldChg chg="del">
        <pc:chgData name="Ken Wojcikowski" userId="3d9dd381-bb96-4ff2-a8e3-dc2a625deaa7" providerId="ADAL" clId="{954F9884-36CB-409F-8AA3-8A5422EBDEB2}" dt="2022-11-11T19:26:12.113" v="9" actId="2696"/>
        <pc:sldMkLst>
          <pc:docMk/>
          <pc:sldMk cId="303707836" sldId="424"/>
        </pc:sldMkLst>
      </pc:sldChg>
      <pc:sldChg chg="del">
        <pc:chgData name="Ken Wojcikowski" userId="3d9dd381-bb96-4ff2-a8e3-dc2a625deaa7" providerId="ADAL" clId="{954F9884-36CB-409F-8AA3-8A5422EBDEB2}" dt="2022-11-11T19:26:10.197" v="8" actId="2696"/>
        <pc:sldMkLst>
          <pc:docMk/>
          <pc:sldMk cId="1463361595" sldId="425"/>
        </pc:sldMkLst>
      </pc:sldChg>
      <pc:sldChg chg="del">
        <pc:chgData name="Ken Wojcikowski" userId="3d9dd381-bb96-4ff2-a8e3-dc2a625deaa7" providerId="ADAL" clId="{954F9884-36CB-409F-8AA3-8A5422EBDEB2}" dt="2022-11-11T19:45:42.263" v="12" actId="2696"/>
        <pc:sldMkLst>
          <pc:docMk/>
          <pc:sldMk cId="1946284112" sldId="427"/>
        </pc:sldMkLst>
      </pc:sldChg>
      <pc:sldChg chg="del">
        <pc:chgData name="Ken Wojcikowski" userId="3d9dd381-bb96-4ff2-a8e3-dc2a625deaa7" providerId="ADAL" clId="{954F9884-36CB-409F-8AA3-8A5422EBDEB2}" dt="2022-11-11T19:25:59.351" v="2" actId="2696"/>
        <pc:sldMkLst>
          <pc:docMk/>
          <pc:sldMk cId="3908410626" sldId="438"/>
        </pc:sldMkLst>
      </pc:sldChg>
      <pc:sldChg chg="del">
        <pc:chgData name="Ken Wojcikowski" userId="3d9dd381-bb96-4ff2-a8e3-dc2a625deaa7" providerId="ADAL" clId="{954F9884-36CB-409F-8AA3-8A5422EBDEB2}" dt="2022-11-11T19:26:13.147" v="10" actId="2696"/>
        <pc:sldMkLst>
          <pc:docMk/>
          <pc:sldMk cId="1064038698" sldId="441"/>
        </pc:sldMkLst>
      </pc:sldChg>
      <pc:sldChg chg="del">
        <pc:chgData name="Ken Wojcikowski" userId="3d9dd381-bb96-4ff2-a8e3-dc2a625deaa7" providerId="ADAL" clId="{954F9884-36CB-409F-8AA3-8A5422EBDEB2}" dt="2022-11-11T19:25:57.646" v="0" actId="2696"/>
        <pc:sldMkLst>
          <pc:docMk/>
          <pc:sldMk cId="1236907153" sldId="528"/>
        </pc:sldMkLst>
      </pc:sldChg>
      <pc:sldChg chg="del">
        <pc:chgData name="Ken Wojcikowski" userId="3d9dd381-bb96-4ff2-a8e3-dc2a625deaa7" providerId="ADAL" clId="{954F9884-36CB-409F-8AA3-8A5422EBDEB2}" dt="2022-11-11T19:25:57.813" v="1" actId="2696"/>
        <pc:sldMkLst>
          <pc:docMk/>
          <pc:sldMk cId="1675670252" sldId="529"/>
        </pc:sldMkLst>
      </pc:sldChg>
      <pc:sldChg chg="addSp delSp modSp add">
        <pc:chgData name="Ken Wojcikowski" userId="3d9dd381-bb96-4ff2-a8e3-dc2a625deaa7" providerId="ADAL" clId="{954F9884-36CB-409F-8AA3-8A5422EBDEB2}" dt="2022-11-11T19:58:23.381" v="21" actId="1076"/>
        <pc:sldMkLst>
          <pc:docMk/>
          <pc:sldMk cId="1375324079" sldId="534"/>
        </pc:sldMkLst>
        <pc:spChg chg="add del mod">
          <ac:chgData name="Ken Wojcikowski" userId="3d9dd381-bb96-4ff2-a8e3-dc2a625deaa7" providerId="ADAL" clId="{954F9884-36CB-409F-8AA3-8A5422EBDEB2}" dt="2022-11-11T19:57:56.945" v="17" actId="478"/>
          <ac:spMkLst>
            <pc:docMk/>
            <pc:sldMk cId="1375324079" sldId="534"/>
            <ac:spMk id="3" creationId="{17607849-8945-4A4D-A5FA-83E269960B74}"/>
          </ac:spMkLst>
        </pc:spChg>
        <pc:spChg chg="del">
          <ac:chgData name="Ken Wojcikowski" userId="3d9dd381-bb96-4ff2-a8e3-dc2a625deaa7" providerId="ADAL" clId="{954F9884-36CB-409F-8AA3-8A5422EBDEB2}" dt="2022-11-11T19:57:50.756" v="15" actId="478"/>
          <ac:spMkLst>
            <pc:docMk/>
            <pc:sldMk cId="1375324079" sldId="534"/>
            <ac:spMk id="5" creationId="{00000000-0000-0000-0000-000000000000}"/>
          </ac:spMkLst>
        </pc:spChg>
        <pc:spChg chg="del">
          <ac:chgData name="Ken Wojcikowski" userId="3d9dd381-bb96-4ff2-a8e3-dc2a625deaa7" providerId="ADAL" clId="{954F9884-36CB-409F-8AA3-8A5422EBDEB2}" dt="2022-11-11T19:57:54.174" v="16" actId="478"/>
          <ac:spMkLst>
            <pc:docMk/>
            <pc:sldMk cId="1375324079" sldId="534"/>
            <ac:spMk id="10242" creationId="{00000000-0000-0000-0000-000000000000}"/>
          </ac:spMkLst>
        </pc:spChg>
        <pc:picChg chg="mod">
          <ac:chgData name="Ken Wojcikowski" userId="3d9dd381-bb96-4ff2-a8e3-dc2a625deaa7" providerId="ADAL" clId="{954F9884-36CB-409F-8AA3-8A5422EBDEB2}" dt="2022-11-11T19:58:23.381" v="21" actId="1076"/>
          <ac:picMkLst>
            <pc:docMk/>
            <pc:sldMk cId="1375324079" sldId="534"/>
            <ac:picMk id="32772" creationId="{00000000-0000-0000-0000-000000000000}"/>
          </ac:picMkLst>
        </pc:picChg>
      </pc:sldChg>
      <pc:sldChg chg="del">
        <pc:chgData name="Ken Wojcikowski" userId="3d9dd381-bb96-4ff2-a8e3-dc2a625deaa7" providerId="ADAL" clId="{954F9884-36CB-409F-8AA3-8A5422EBDEB2}" dt="2022-11-11T19:45:45.696" v="13" actId="2696"/>
        <pc:sldMkLst>
          <pc:docMk/>
          <pc:sldMk cId="1991911611" sldId="53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051E32F-B4A5-4B21-AFCB-4569A6D4A94B}" type="datetimeFigureOut">
              <a:rPr lang="en-AU" smtClean="0"/>
              <a:t>12/11/2022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F98385-B91A-496A-A912-41140F9F95F5}" type="slidenum">
              <a:rPr lang="en-AU" smtClean="0"/>
              <a:t>‹#›</a:t>
            </a:fld>
            <a:endParaRPr lang="en-AU"/>
          </a:p>
        </p:txBody>
      </p:sp>
    </p:spTree>
    <p:extLst>
      <p:ext uri="{BB962C8B-B14F-4D97-AF65-F5344CB8AC3E}">
        <p14:creationId xmlns:p14="http://schemas.microsoft.com/office/powerpoint/2010/main" val="2749624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5</a:t>
            </a:fld>
            <a:endParaRPr lang="en-AU"/>
          </a:p>
        </p:txBody>
      </p:sp>
    </p:spTree>
    <p:extLst>
      <p:ext uri="{BB962C8B-B14F-4D97-AF65-F5344CB8AC3E}">
        <p14:creationId xmlns:p14="http://schemas.microsoft.com/office/powerpoint/2010/main" val="300060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a:p>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6</a:t>
            </a:fld>
            <a:endParaRPr lang="en-AU"/>
          </a:p>
        </p:txBody>
      </p:sp>
    </p:spTree>
    <p:extLst>
      <p:ext uri="{BB962C8B-B14F-4D97-AF65-F5344CB8AC3E}">
        <p14:creationId xmlns:p14="http://schemas.microsoft.com/office/powerpoint/2010/main" val="37663443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68953" indent="-295751" eaLnBrk="0" hangingPunct="0">
              <a:defRPr>
                <a:solidFill>
                  <a:schemeClr val="tx1"/>
                </a:solidFill>
                <a:latin typeface="Arial" charset="0"/>
              </a:defRPr>
            </a:lvl2pPr>
            <a:lvl3pPr marL="1183005" indent="-236601" eaLnBrk="0" hangingPunct="0">
              <a:defRPr>
                <a:solidFill>
                  <a:schemeClr val="tx1"/>
                </a:solidFill>
                <a:latin typeface="Arial" charset="0"/>
              </a:defRPr>
            </a:lvl3pPr>
            <a:lvl4pPr marL="1656207" indent="-236601" eaLnBrk="0" hangingPunct="0">
              <a:defRPr>
                <a:solidFill>
                  <a:schemeClr val="tx1"/>
                </a:solidFill>
                <a:latin typeface="Arial" charset="0"/>
              </a:defRPr>
            </a:lvl4pPr>
            <a:lvl5pPr marL="2129409" indent="-236601" eaLnBrk="0" hangingPunct="0">
              <a:defRPr>
                <a:solidFill>
                  <a:schemeClr val="tx1"/>
                </a:solidFill>
                <a:latin typeface="Arial" charset="0"/>
              </a:defRPr>
            </a:lvl5pPr>
            <a:lvl6pPr marL="2602611" indent="-236601" eaLnBrk="0" fontAlgn="base" hangingPunct="0">
              <a:spcBef>
                <a:spcPct val="0"/>
              </a:spcBef>
              <a:spcAft>
                <a:spcPct val="0"/>
              </a:spcAft>
              <a:defRPr>
                <a:solidFill>
                  <a:schemeClr val="tx1"/>
                </a:solidFill>
                <a:latin typeface="Arial" charset="0"/>
              </a:defRPr>
            </a:lvl6pPr>
            <a:lvl7pPr marL="3075813" indent="-236601" eaLnBrk="0" fontAlgn="base" hangingPunct="0">
              <a:spcBef>
                <a:spcPct val="0"/>
              </a:spcBef>
              <a:spcAft>
                <a:spcPct val="0"/>
              </a:spcAft>
              <a:defRPr>
                <a:solidFill>
                  <a:schemeClr val="tx1"/>
                </a:solidFill>
                <a:latin typeface="Arial" charset="0"/>
              </a:defRPr>
            </a:lvl7pPr>
            <a:lvl8pPr marL="3549015" indent="-236601" eaLnBrk="0" fontAlgn="base" hangingPunct="0">
              <a:spcBef>
                <a:spcPct val="0"/>
              </a:spcBef>
              <a:spcAft>
                <a:spcPct val="0"/>
              </a:spcAft>
              <a:defRPr>
                <a:solidFill>
                  <a:schemeClr val="tx1"/>
                </a:solidFill>
                <a:latin typeface="Arial" charset="0"/>
              </a:defRPr>
            </a:lvl8pPr>
            <a:lvl9pPr marL="4022217" indent="-236601" eaLnBrk="0" fontAlgn="base" hangingPunct="0">
              <a:spcBef>
                <a:spcPct val="0"/>
              </a:spcBef>
              <a:spcAft>
                <a:spcPct val="0"/>
              </a:spcAft>
              <a:defRPr>
                <a:solidFill>
                  <a:schemeClr val="tx1"/>
                </a:solidFill>
                <a:latin typeface="Arial" charset="0"/>
              </a:defRPr>
            </a:lvl9pPr>
          </a:lstStyle>
          <a:p>
            <a:pPr eaLnBrk="1" hangingPunct="1"/>
            <a:fld id="{66E0288C-C1A6-4A59-967C-FE5E3C1FEB70}" type="slidenum">
              <a:rPr lang="en-US" smtClean="0"/>
              <a:pPr eaLnBrk="1" hangingPunct="1"/>
              <a:t>7</a:t>
            </a:fld>
            <a:endParaRPr lang="en-US" dirty="0"/>
          </a:p>
        </p:txBody>
      </p:sp>
      <p:sp>
        <p:nvSpPr>
          <p:cNvPr id="13107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107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When you add up all the surface area for diffusion it is between</a:t>
            </a:r>
            <a:r>
              <a:rPr lang="en-AU" baseline="0" dirty="0"/>
              <a:t> the size of a tennis court and a football field. </a:t>
            </a:r>
          </a:p>
          <a:p>
            <a:r>
              <a:rPr lang="en-AU" baseline="0" dirty="0"/>
              <a:t>One of the important things to consider when we are trying to understand about pulmonary embolisms versus blockage of blood to other portions of the body is that the lungs have two sources of blood. One source is the pulmonary circulation, and that is the deoxygenated blood coming from the right side of the heart. But we also have the circulation that takes fresh blood from the left side of the heart and supplies the oxygen to the cells. A person with a small pulmonary embolism for instance, will have the flow of the pulmonary artery blocked, but will still be getting fresh blood to the cells for their oxygen and energy needs, so there will not be as much damage to the cellular structures, as long as the problem is resolved within a few months. </a:t>
            </a:r>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8</a:t>
            </a:fld>
            <a:endParaRPr lang="en-AU"/>
          </a:p>
        </p:txBody>
      </p:sp>
    </p:spTree>
    <p:extLst>
      <p:ext uri="{BB962C8B-B14F-4D97-AF65-F5344CB8AC3E}">
        <p14:creationId xmlns:p14="http://schemas.microsoft.com/office/powerpoint/2010/main" val="593417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68953" indent="-295751" eaLnBrk="0" hangingPunct="0">
              <a:defRPr>
                <a:solidFill>
                  <a:schemeClr val="tx1"/>
                </a:solidFill>
                <a:latin typeface="Arial" charset="0"/>
              </a:defRPr>
            </a:lvl2pPr>
            <a:lvl3pPr marL="1183005" indent="-236601" eaLnBrk="0" hangingPunct="0">
              <a:defRPr>
                <a:solidFill>
                  <a:schemeClr val="tx1"/>
                </a:solidFill>
                <a:latin typeface="Arial" charset="0"/>
              </a:defRPr>
            </a:lvl3pPr>
            <a:lvl4pPr marL="1656207" indent="-236601" eaLnBrk="0" hangingPunct="0">
              <a:defRPr>
                <a:solidFill>
                  <a:schemeClr val="tx1"/>
                </a:solidFill>
                <a:latin typeface="Arial" charset="0"/>
              </a:defRPr>
            </a:lvl4pPr>
            <a:lvl5pPr marL="2129409" indent="-236601" eaLnBrk="0" hangingPunct="0">
              <a:defRPr>
                <a:solidFill>
                  <a:schemeClr val="tx1"/>
                </a:solidFill>
                <a:latin typeface="Arial" charset="0"/>
              </a:defRPr>
            </a:lvl5pPr>
            <a:lvl6pPr marL="2602611" indent="-236601" eaLnBrk="0" fontAlgn="base" hangingPunct="0">
              <a:spcBef>
                <a:spcPct val="0"/>
              </a:spcBef>
              <a:spcAft>
                <a:spcPct val="0"/>
              </a:spcAft>
              <a:defRPr>
                <a:solidFill>
                  <a:schemeClr val="tx1"/>
                </a:solidFill>
                <a:latin typeface="Arial" charset="0"/>
              </a:defRPr>
            </a:lvl6pPr>
            <a:lvl7pPr marL="3075813" indent="-236601" eaLnBrk="0" fontAlgn="base" hangingPunct="0">
              <a:spcBef>
                <a:spcPct val="0"/>
              </a:spcBef>
              <a:spcAft>
                <a:spcPct val="0"/>
              </a:spcAft>
              <a:defRPr>
                <a:solidFill>
                  <a:schemeClr val="tx1"/>
                </a:solidFill>
                <a:latin typeface="Arial" charset="0"/>
              </a:defRPr>
            </a:lvl7pPr>
            <a:lvl8pPr marL="3549015" indent="-236601" eaLnBrk="0" fontAlgn="base" hangingPunct="0">
              <a:spcBef>
                <a:spcPct val="0"/>
              </a:spcBef>
              <a:spcAft>
                <a:spcPct val="0"/>
              </a:spcAft>
              <a:defRPr>
                <a:solidFill>
                  <a:schemeClr val="tx1"/>
                </a:solidFill>
                <a:latin typeface="Arial" charset="0"/>
              </a:defRPr>
            </a:lvl8pPr>
            <a:lvl9pPr marL="4022217" indent="-236601" eaLnBrk="0" fontAlgn="base" hangingPunct="0">
              <a:spcBef>
                <a:spcPct val="0"/>
              </a:spcBef>
              <a:spcAft>
                <a:spcPct val="0"/>
              </a:spcAft>
              <a:defRPr>
                <a:solidFill>
                  <a:schemeClr val="tx1"/>
                </a:solidFill>
                <a:latin typeface="Arial" charset="0"/>
              </a:defRPr>
            </a:lvl9pPr>
          </a:lstStyle>
          <a:p>
            <a:pPr eaLnBrk="1" hangingPunct="1"/>
            <a:fld id="{F837DDC9-A3DB-4E9C-B238-D5C6004698AF}" type="slidenum">
              <a:rPr lang="en-US" smtClean="0"/>
              <a:pPr eaLnBrk="1" hangingPunct="1"/>
              <a:t>9</a:t>
            </a:fld>
            <a:endParaRPr lang="en-US"/>
          </a:p>
        </p:txBody>
      </p:sp>
      <p:sp>
        <p:nvSpPr>
          <p:cNvPr id="1402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02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defRPr/>
            </a:pPr>
            <a:r>
              <a:rPr lang="en-AU" baseline="0" dirty="0"/>
              <a:t>One of the important things to consider when we are trying to understand about pulmonary embolisms versus blockage of blood to other portions of the body is that the lungs have two sources of blood. One source is the pulmonary circulation, and that is the deoxygenated blood coming from the right side of the heart. But we also have the circulation that takes fresh blood from the left side of the heart and supplies the oxygen to the cells. A person with a small pulmonary embolism for instance, will have the flow of the pulmonary artery blocked, but will still be getting fresh blood to the cells for their oxygen and energy needs, so there will not be as much damage to the cellular structures, as long as the problem is resolved within a few months. </a:t>
            </a:r>
            <a:endParaRPr lang="en-AU" dirty="0"/>
          </a:p>
          <a:p>
            <a:pPr eaLnBrk="1" hangingPunct="1">
              <a:spcBef>
                <a:spcPct val="0"/>
              </a:spcBef>
            </a:pP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 this picture and associated diagram, the apices of the lungs are pictured</a:t>
            </a:r>
            <a:r>
              <a:rPr lang="en-AU" baseline="0" dirty="0"/>
              <a:t> just about right – possibly a bit lower than they should be. Compare the drawing to the X-ray and you would find that there is a bit of the lung missing from the drawing. </a:t>
            </a:r>
          </a:p>
          <a:p>
            <a:r>
              <a:rPr lang="en-AU" baseline="0" dirty="0"/>
              <a:t>The drawing over this young man depicts that pleural space which is well endowed with pain receptors and can fill with fluid from a number of problems. This would be called pleural effusion if not infected or </a:t>
            </a:r>
            <a:r>
              <a:rPr lang="en-AU" baseline="0" dirty="0" err="1"/>
              <a:t>pleuritis</a:t>
            </a:r>
            <a:r>
              <a:rPr lang="en-AU" baseline="0" dirty="0"/>
              <a:t> if there is an associated infection. Fluid from the pleural space does not drain into the lungs. It is taken out of the lungs by the lymphatic system. An infection in the pleural space just like an infection in the meninges, the pericardium, or the peritoneum is likely to be or turn into a clinical emergency for a number of reasons. The bacteria proliferate rapidly in these areas and the toxins can are transported all through the system very quickly. </a:t>
            </a:r>
          </a:p>
          <a:p>
            <a:r>
              <a:rPr lang="en-AU" baseline="0" dirty="0"/>
              <a:t>I would like to reiterate the fact that </a:t>
            </a:r>
            <a:r>
              <a:rPr lang="en-AU" baseline="0" dirty="0" err="1"/>
              <a:t>pleuritis</a:t>
            </a:r>
            <a:r>
              <a:rPr lang="en-AU" baseline="0" dirty="0"/>
              <a:t> is the same as pleurisy, which is the same thing as an infection in the pleural cavity, which is the same thing as an infected pleural effusion. The space there is separate from the alveoli. If the alveoli fill up with fluid, it is called pulmonary oedema or if infected, pneumonia. </a:t>
            </a:r>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10</a:t>
            </a:fld>
            <a:endParaRPr lang="en-AU"/>
          </a:p>
        </p:txBody>
      </p:sp>
    </p:spTree>
    <p:extLst>
      <p:ext uri="{BB962C8B-B14F-4D97-AF65-F5344CB8AC3E}">
        <p14:creationId xmlns:p14="http://schemas.microsoft.com/office/powerpoint/2010/main" val="39293290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68953" indent="-295751" eaLnBrk="0" hangingPunct="0">
              <a:defRPr>
                <a:solidFill>
                  <a:schemeClr val="tx1"/>
                </a:solidFill>
                <a:latin typeface="Arial" charset="0"/>
              </a:defRPr>
            </a:lvl2pPr>
            <a:lvl3pPr marL="1183005" indent="-236601" eaLnBrk="0" hangingPunct="0">
              <a:defRPr>
                <a:solidFill>
                  <a:schemeClr val="tx1"/>
                </a:solidFill>
                <a:latin typeface="Arial" charset="0"/>
              </a:defRPr>
            </a:lvl3pPr>
            <a:lvl4pPr marL="1656207" indent="-236601" eaLnBrk="0" hangingPunct="0">
              <a:defRPr>
                <a:solidFill>
                  <a:schemeClr val="tx1"/>
                </a:solidFill>
                <a:latin typeface="Arial" charset="0"/>
              </a:defRPr>
            </a:lvl4pPr>
            <a:lvl5pPr marL="2129409" indent="-236601" eaLnBrk="0" hangingPunct="0">
              <a:defRPr>
                <a:solidFill>
                  <a:schemeClr val="tx1"/>
                </a:solidFill>
                <a:latin typeface="Arial" charset="0"/>
              </a:defRPr>
            </a:lvl5pPr>
            <a:lvl6pPr marL="2602611" indent="-236601" eaLnBrk="0" fontAlgn="base" hangingPunct="0">
              <a:spcBef>
                <a:spcPct val="0"/>
              </a:spcBef>
              <a:spcAft>
                <a:spcPct val="0"/>
              </a:spcAft>
              <a:defRPr>
                <a:solidFill>
                  <a:schemeClr val="tx1"/>
                </a:solidFill>
                <a:latin typeface="Arial" charset="0"/>
              </a:defRPr>
            </a:lvl6pPr>
            <a:lvl7pPr marL="3075813" indent="-236601" eaLnBrk="0" fontAlgn="base" hangingPunct="0">
              <a:spcBef>
                <a:spcPct val="0"/>
              </a:spcBef>
              <a:spcAft>
                <a:spcPct val="0"/>
              </a:spcAft>
              <a:defRPr>
                <a:solidFill>
                  <a:schemeClr val="tx1"/>
                </a:solidFill>
                <a:latin typeface="Arial" charset="0"/>
              </a:defRPr>
            </a:lvl7pPr>
            <a:lvl8pPr marL="3549015" indent="-236601" eaLnBrk="0" fontAlgn="base" hangingPunct="0">
              <a:spcBef>
                <a:spcPct val="0"/>
              </a:spcBef>
              <a:spcAft>
                <a:spcPct val="0"/>
              </a:spcAft>
              <a:defRPr>
                <a:solidFill>
                  <a:schemeClr val="tx1"/>
                </a:solidFill>
                <a:latin typeface="Arial" charset="0"/>
              </a:defRPr>
            </a:lvl8pPr>
            <a:lvl9pPr marL="4022217" indent="-236601" eaLnBrk="0" fontAlgn="base" hangingPunct="0">
              <a:spcBef>
                <a:spcPct val="0"/>
              </a:spcBef>
              <a:spcAft>
                <a:spcPct val="0"/>
              </a:spcAft>
              <a:defRPr>
                <a:solidFill>
                  <a:schemeClr val="tx1"/>
                </a:solidFill>
                <a:latin typeface="Arial" charset="0"/>
              </a:defRPr>
            </a:lvl9pPr>
          </a:lstStyle>
          <a:p>
            <a:pPr eaLnBrk="1" hangingPunct="1"/>
            <a:fld id="{C77D590B-7E89-4EFD-81CD-1C9992D1979F}" type="slidenum">
              <a:rPr lang="en-US" smtClean="0"/>
              <a:pPr eaLnBrk="1" hangingPunct="1"/>
              <a:t>11</a:t>
            </a:fld>
            <a:endParaRPr lang="en-US"/>
          </a:p>
        </p:txBody>
      </p:sp>
      <p:sp>
        <p:nvSpPr>
          <p:cNvPr id="1382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t>Ventilation is </a:t>
            </a:r>
            <a:r>
              <a:rPr lang="en-US" baseline="0" dirty="0"/>
              <a:t>bulk flow of air. You ventilate a room by opening a window. If the breeze remains constant the ventilation increases the larger the window gets. </a:t>
            </a:r>
          </a:p>
          <a:p>
            <a:pPr eaLnBrk="1" hangingPunct="1">
              <a:spcBef>
                <a:spcPct val="0"/>
              </a:spcBef>
            </a:pPr>
            <a:endParaRPr lang="en-US" baseline="0" dirty="0"/>
          </a:p>
          <a:p>
            <a:pPr eaLnBrk="1" hangingPunct="1">
              <a:spcBef>
                <a:spcPct val="0"/>
              </a:spcBef>
            </a:pPr>
            <a:r>
              <a:rPr lang="en-US" baseline="0" dirty="0"/>
              <a:t>Obstructive disorders decrease ventilation, like closing the window. Obstructive disorders include asthma which decreases the diameter of the lumen of the airways because of the constriction of the airways and the excess mucus. </a:t>
            </a:r>
          </a:p>
          <a:p>
            <a:pPr eaLnBrk="1" hangingPunct="1">
              <a:spcBef>
                <a:spcPct val="0"/>
              </a:spcBef>
            </a:pPr>
            <a:r>
              <a:rPr lang="en-US" baseline="0" dirty="0"/>
              <a:t>Obstructive disorders include chronic bronchitis which decreases airway diameter because of the remodeling that occurs due to chronic insult. </a:t>
            </a:r>
          </a:p>
          <a:p>
            <a:pPr eaLnBrk="1" hangingPunct="1">
              <a:spcBef>
                <a:spcPct val="0"/>
              </a:spcBef>
            </a:pPr>
            <a:r>
              <a:rPr lang="en-US" baseline="0" dirty="0"/>
              <a:t>Obstructive disorders include emphysema which decreases our ability to exhale</a:t>
            </a:r>
          </a:p>
          <a:p>
            <a:pPr eaLnBrk="1" hangingPunct="1">
              <a:spcBef>
                <a:spcPct val="0"/>
              </a:spcBef>
            </a:pPr>
            <a:r>
              <a:rPr lang="en-US" baseline="0" dirty="0"/>
              <a:t>So obstructive disorders decrease our ability to get air in and or out of the lungs. </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68953" indent="-295751" eaLnBrk="0" hangingPunct="0">
              <a:defRPr>
                <a:solidFill>
                  <a:schemeClr val="tx1"/>
                </a:solidFill>
                <a:latin typeface="Arial" charset="0"/>
              </a:defRPr>
            </a:lvl2pPr>
            <a:lvl3pPr marL="1183005" indent="-236601" eaLnBrk="0" hangingPunct="0">
              <a:defRPr>
                <a:solidFill>
                  <a:schemeClr val="tx1"/>
                </a:solidFill>
                <a:latin typeface="Arial" charset="0"/>
              </a:defRPr>
            </a:lvl3pPr>
            <a:lvl4pPr marL="1656207" indent="-236601" eaLnBrk="0" hangingPunct="0">
              <a:defRPr>
                <a:solidFill>
                  <a:schemeClr val="tx1"/>
                </a:solidFill>
                <a:latin typeface="Arial" charset="0"/>
              </a:defRPr>
            </a:lvl4pPr>
            <a:lvl5pPr marL="2129409" indent="-236601" eaLnBrk="0" hangingPunct="0">
              <a:defRPr>
                <a:solidFill>
                  <a:schemeClr val="tx1"/>
                </a:solidFill>
                <a:latin typeface="Arial" charset="0"/>
              </a:defRPr>
            </a:lvl5pPr>
            <a:lvl6pPr marL="2602611" indent="-236601" eaLnBrk="0" fontAlgn="base" hangingPunct="0">
              <a:spcBef>
                <a:spcPct val="0"/>
              </a:spcBef>
              <a:spcAft>
                <a:spcPct val="0"/>
              </a:spcAft>
              <a:defRPr>
                <a:solidFill>
                  <a:schemeClr val="tx1"/>
                </a:solidFill>
                <a:latin typeface="Arial" charset="0"/>
              </a:defRPr>
            </a:lvl6pPr>
            <a:lvl7pPr marL="3075813" indent="-236601" eaLnBrk="0" fontAlgn="base" hangingPunct="0">
              <a:spcBef>
                <a:spcPct val="0"/>
              </a:spcBef>
              <a:spcAft>
                <a:spcPct val="0"/>
              </a:spcAft>
              <a:defRPr>
                <a:solidFill>
                  <a:schemeClr val="tx1"/>
                </a:solidFill>
                <a:latin typeface="Arial" charset="0"/>
              </a:defRPr>
            </a:lvl7pPr>
            <a:lvl8pPr marL="3549015" indent="-236601" eaLnBrk="0" fontAlgn="base" hangingPunct="0">
              <a:spcBef>
                <a:spcPct val="0"/>
              </a:spcBef>
              <a:spcAft>
                <a:spcPct val="0"/>
              </a:spcAft>
              <a:defRPr>
                <a:solidFill>
                  <a:schemeClr val="tx1"/>
                </a:solidFill>
                <a:latin typeface="Arial" charset="0"/>
              </a:defRPr>
            </a:lvl8pPr>
            <a:lvl9pPr marL="4022217" indent="-236601" eaLnBrk="0" fontAlgn="base" hangingPunct="0">
              <a:spcBef>
                <a:spcPct val="0"/>
              </a:spcBef>
              <a:spcAft>
                <a:spcPct val="0"/>
              </a:spcAft>
              <a:defRPr>
                <a:solidFill>
                  <a:schemeClr val="tx1"/>
                </a:solidFill>
                <a:latin typeface="Arial" charset="0"/>
              </a:defRPr>
            </a:lvl9pPr>
          </a:lstStyle>
          <a:p>
            <a:pPr eaLnBrk="1" hangingPunct="1"/>
            <a:fld id="{C77D590B-7E89-4EFD-81CD-1C9992D1979F}" type="slidenum">
              <a:rPr lang="en-US" smtClean="0"/>
              <a:pPr eaLnBrk="1" hangingPunct="1"/>
              <a:t>12</a:t>
            </a:fld>
            <a:endParaRPr lang="en-US"/>
          </a:p>
        </p:txBody>
      </p:sp>
      <p:sp>
        <p:nvSpPr>
          <p:cNvPr id="13824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t>Ventilation is </a:t>
            </a:r>
            <a:r>
              <a:rPr lang="en-US" baseline="0" dirty="0"/>
              <a:t>bulk flow of air. You ventilate a room by opening a window. If the breeze remains constant the ventilation increases the larger the window gets. </a:t>
            </a:r>
          </a:p>
          <a:p>
            <a:pPr eaLnBrk="1" hangingPunct="1">
              <a:spcBef>
                <a:spcPct val="0"/>
              </a:spcBef>
            </a:pPr>
            <a:endParaRPr lang="en-US" baseline="0" dirty="0"/>
          </a:p>
          <a:p>
            <a:pPr eaLnBrk="1" hangingPunct="1">
              <a:spcBef>
                <a:spcPct val="0"/>
              </a:spcBef>
            </a:pPr>
            <a:r>
              <a:rPr lang="en-US" baseline="0" dirty="0"/>
              <a:t>Obstructive disorders decrease ventilation, like closing the window. Obstructive disorders include asthma which decreases the diameter of the lumen of the airways because of the constriction of the airways and the excess mucus. </a:t>
            </a:r>
          </a:p>
          <a:p>
            <a:pPr eaLnBrk="1" hangingPunct="1">
              <a:spcBef>
                <a:spcPct val="0"/>
              </a:spcBef>
            </a:pPr>
            <a:r>
              <a:rPr lang="en-US" baseline="0" dirty="0"/>
              <a:t>Obstructive disorders include chronic bronchitis which decreases airway diameter because of the remodeling that occurs due to chronic insult. </a:t>
            </a:r>
          </a:p>
          <a:p>
            <a:pPr eaLnBrk="1" hangingPunct="1">
              <a:spcBef>
                <a:spcPct val="0"/>
              </a:spcBef>
            </a:pPr>
            <a:r>
              <a:rPr lang="en-US" baseline="0" dirty="0"/>
              <a:t>Obstructive disorders include emphysema which decreases our ability to exhale</a:t>
            </a:r>
          </a:p>
          <a:p>
            <a:pPr eaLnBrk="1" hangingPunct="1">
              <a:spcBef>
                <a:spcPct val="0"/>
              </a:spcBef>
            </a:pPr>
            <a:r>
              <a:rPr lang="en-US" baseline="0" dirty="0"/>
              <a:t>So obstructive disorders decrease our ability to get air in and or out of the lungs. </a:t>
            </a:r>
            <a:endParaRPr lang="en-US" dirty="0"/>
          </a:p>
        </p:txBody>
      </p:sp>
    </p:spTree>
    <p:extLst>
      <p:ext uri="{BB962C8B-B14F-4D97-AF65-F5344CB8AC3E}">
        <p14:creationId xmlns:p14="http://schemas.microsoft.com/office/powerpoint/2010/main" val="4013586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68953" indent="-295751" eaLnBrk="0" hangingPunct="0">
              <a:defRPr>
                <a:solidFill>
                  <a:schemeClr val="tx1"/>
                </a:solidFill>
                <a:latin typeface="Arial" charset="0"/>
              </a:defRPr>
            </a:lvl2pPr>
            <a:lvl3pPr marL="1183005" indent="-236601" eaLnBrk="0" hangingPunct="0">
              <a:defRPr>
                <a:solidFill>
                  <a:schemeClr val="tx1"/>
                </a:solidFill>
                <a:latin typeface="Arial" charset="0"/>
              </a:defRPr>
            </a:lvl3pPr>
            <a:lvl4pPr marL="1656207" indent="-236601" eaLnBrk="0" hangingPunct="0">
              <a:defRPr>
                <a:solidFill>
                  <a:schemeClr val="tx1"/>
                </a:solidFill>
                <a:latin typeface="Arial" charset="0"/>
              </a:defRPr>
            </a:lvl4pPr>
            <a:lvl5pPr marL="2129409" indent="-236601" eaLnBrk="0" hangingPunct="0">
              <a:defRPr>
                <a:solidFill>
                  <a:schemeClr val="tx1"/>
                </a:solidFill>
                <a:latin typeface="Arial" charset="0"/>
              </a:defRPr>
            </a:lvl5pPr>
            <a:lvl6pPr marL="2602611" indent="-236601" eaLnBrk="0" fontAlgn="base" hangingPunct="0">
              <a:spcBef>
                <a:spcPct val="0"/>
              </a:spcBef>
              <a:spcAft>
                <a:spcPct val="0"/>
              </a:spcAft>
              <a:defRPr>
                <a:solidFill>
                  <a:schemeClr val="tx1"/>
                </a:solidFill>
                <a:latin typeface="Arial" charset="0"/>
              </a:defRPr>
            </a:lvl6pPr>
            <a:lvl7pPr marL="3075813" indent="-236601" eaLnBrk="0" fontAlgn="base" hangingPunct="0">
              <a:spcBef>
                <a:spcPct val="0"/>
              </a:spcBef>
              <a:spcAft>
                <a:spcPct val="0"/>
              </a:spcAft>
              <a:defRPr>
                <a:solidFill>
                  <a:schemeClr val="tx1"/>
                </a:solidFill>
                <a:latin typeface="Arial" charset="0"/>
              </a:defRPr>
            </a:lvl7pPr>
            <a:lvl8pPr marL="3549015" indent="-236601" eaLnBrk="0" fontAlgn="base" hangingPunct="0">
              <a:spcBef>
                <a:spcPct val="0"/>
              </a:spcBef>
              <a:spcAft>
                <a:spcPct val="0"/>
              </a:spcAft>
              <a:defRPr>
                <a:solidFill>
                  <a:schemeClr val="tx1"/>
                </a:solidFill>
                <a:latin typeface="Arial" charset="0"/>
              </a:defRPr>
            </a:lvl8pPr>
            <a:lvl9pPr marL="4022217" indent="-236601" eaLnBrk="0" fontAlgn="base" hangingPunct="0">
              <a:spcBef>
                <a:spcPct val="0"/>
              </a:spcBef>
              <a:spcAft>
                <a:spcPct val="0"/>
              </a:spcAft>
              <a:defRPr>
                <a:solidFill>
                  <a:schemeClr val="tx1"/>
                </a:solidFill>
                <a:latin typeface="Arial" charset="0"/>
              </a:defRPr>
            </a:lvl9pPr>
          </a:lstStyle>
          <a:p>
            <a:pPr eaLnBrk="1" hangingPunct="1"/>
            <a:fld id="{3A5325E8-A21F-41A8-9F63-E998C291A0A4}" type="slidenum">
              <a:rPr lang="en-US" smtClean="0"/>
              <a:pPr eaLnBrk="1" hangingPunct="1"/>
              <a:t>13</a:t>
            </a:fld>
            <a:endParaRPr lang="en-US"/>
          </a:p>
        </p:txBody>
      </p:sp>
      <p:sp>
        <p:nvSpPr>
          <p:cNvPr id="1392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92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dirty="0"/>
              <a:t>External Respiration is the other function of the respiratory system.</a:t>
            </a:r>
            <a:r>
              <a:rPr lang="en-US" baseline="0" dirty="0"/>
              <a:t> Respiration originally meant the </a:t>
            </a:r>
            <a:r>
              <a:rPr lang="en-AU" sz="1200" dirty="0">
                <a:effectLst/>
              </a:rPr>
              <a:t>process by which organisms exchange gases, especially oxygen and carbon dioxide, with the environment. The term respiration is now becoming used to explain both functions of the lungs (ventilation</a:t>
            </a:r>
            <a:r>
              <a:rPr lang="en-AU" sz="1200" baseline="0" dirty="0">
                <a:effectLst/>
              </a:rPr>
              <a:t> and external respiration) or even confused with ventilation. So perhaps we should start using the term gas exchange. </a:t>
            </a:r>
          </a:p>
          <a:p>
            <a:pPr eaLnBrk="1" hangingPunct="1">
              <a:spcBef>
                <a:spcPct val="0"/>
              </a:spcBef>
            </a:pPr>
            <a:r>
              <a:rPr lang="en-AU" sz="1200" baseline="0" dirty="0">
                <a:effectLst/>
              </a:rPr>
              <a:t>The main factors in gas exchange include the distance for diffusion of gases and a decreased surface area for gas exchange</a:t>
            </a:r>
          </a:p>
          <a:p>
            <a:pPr eaLnBrk="1" hangingPunct="1">
              <a:spcBef>
                <a:spcPct val="0"/>
              </a:spcBef>
            </a:pPr>
            <a:r>
              <a:rPr lang="en-AU" sz="1200" baseline="0" dirty="0">
                <a:effectLst/>
              </a:rPr>
              <a:t>For instance, the reason that a large pulmonary embolism or multiple small pulmonary emboli are problematic is because there is less surface area available for gas exchange. </a:t>
            </a:r>
          </a:p>
          <a:p>
            <a:pPr eaLnBrk="1" hangingPunct="1">
              <a:spcBef>
                <a:spcPct val="0"/>
              </a:spcBef>
            </a:pPr>
            <a:r>
              <a:rPr lang="en-AU" sz="1200" baseline="0" dirty="0">
                <a:effectLst/>
              </a:rPr>
              <a:t>Some of the occupational lung disorders adversely affect gas exchange because they make the surface area thicker, which decreases gas exchange </a:t>
            </a:r>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16</a:t>
            </a:fld>
            <a:endParaRPr lang="en-AU"/>
          </a:p>
        </p:txBody>
      </p:sp>
    </p:spTree>
    <p:extLst>
      <p:ext uri="{BB962C8B-B14F-4D97-AF65-F5344CB8AC3E}">
        <p14:creationId xmlns:p14="http://schemas.microsoft.com/office/powerpoint/2010/main" val="20244322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17</a:t>
            </a:fld>
            <a:endParaRPr lang="en-AU"/>
          </a:p>
        </p:txBody>
      </p:sp>
    </p:spTree>
    <p:extLst>
      <p:ext uri="{BB962C8B-B14F-4D97-AF65-F5344CB8AC3E}">
        <p14:creationId xmlns:p14="http://schemas.microsoft.com/office/powerpoint/2010/main" val="38064676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18</a:t>
            </a:fld>
            <a:endParaRPr lang="en-AU"/>
          </a:p>
        </p:txBody>
      </p:sp>
    </p:spTree>
    <p:extLst>
      <p:ext uri="{BB962C8B-B14F-4D97-AF65-F5344CB8AC3E}">
        <p14:creationId xmlns:p14="http://schemas.microsoft.com/office/powerpoint/2010/main" val="11643924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19</a:t>
            </a:fld>
            <a:endParaRPr lang="en-AU"/>
          </a:p>
        </p:txBody>
      </p:sp>
    </p:spTree>
    <p:extLst>
      <p:ext uri="{BB962C8B-B14F-4D97-AF65-F5344CB8AC3E}">
        <p14:creationId xmlns:p14="http://schemas.microsoft.com/office/powerpoint/2010/main" val="2111359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21</a:t>
            </a:fld>
            <a:endParaRPr lang="en-AU"/>
          </a:p>
        </p:txBody>
      </p:sp>
    </p:spTree>
    <p:extLst>
      <p:ext uri="{BB962C8B-B14F-4D97-AF65-F5344CB8AC3E}">
        <p14:creationId xmlns:p14="http://schemas.microsoft.com/office/powerpoint/2010/main" val="26079322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23</a:t>
            </a:fld>
            <a:endParaRPr lang="en-AU"/>
          </a:p>
        </p:txBody>
      </p:sp>
    </p:spTree>
    <p:extLst>
      <p:ext uri="{BB962C8B-B14F-4D97-AF65-F5344CB8AC3E}">
        <p14:creationId xmlns:p14="http://schemas.microsoft.com/office/powerpoint/2010/main" val="871625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24</a:t>
            </a:fld>
            <a:endParaRPr lang="en-AU"/>
          </a:p>
        </p:txBody>
      </p:sp>
    </p:spTree>
    <p:extLst>
      <p:ext uri="{BB962C8B-B14F-4D97-AF65-F5344CB8AC3E}">
        <p14:creationId xmlns:p14="http://schemas.microsoft.com/office/powerpoint/2010/main" val="1053610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a:p>
            <a:endParaRPr lang="en-AU" baseline="0" dirty="0"/>
          </a:p>
          <a:p>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25</a:t>
            </a:fld>
            <a:endParaRPr lang="en-AU"/>
          </a:p>
        </p:txBody>
      </p:sp>
    </p:spTree>
    <p:extLst>
      <p:ext uri="{BB962C8B-B14F-4D97-AF65-F5344CB8AC3E}">
        <p14:creationId xmlns:p14="http://schemas.microsoft.com/office/powerpoint/2010/main" val="5727139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a:p>
            <a:endParaRPr lang="en-AU" baseline="0" dirty="0"/>
          </a:p>
          <a:p>
            <a:endParaRPr lang="en-AU" dirty="0"/>
          </a:p>
        </p:txBody>
      </p:sp>
      <p:sp>
        <p:nvSpPr>
          <p:cNvPr id="4" name="Slide Number Placeholder 3"/>
          <p:cNvSpPr>
            <a:spLocks noGrp="1"/>
          </p:cNvSpPr>
          <p:nvPr>
            <p:ph type="sldNum" sz="quarter" idx="10"/>
          </p:nvPr>
        </p:nvSpPr>
        <p:spPr/>
        <p:txBody>
          <a:bodyPr/>
          <a:lstStyle/>
          <a:p>
            <a:pPr>
              <a:defRPr/>
            </a:pPr>
            <a:fld id="{7707DC61-C479-4089-93D4-99ECE54A14B3}" type="slidenum">
              <a:rPr lang="en-AU" smtClean="0"/>
              <a:pPr>
                <a:defRPr/>
              </a:pPr>
              <a:t>26</a:t>
            </a:fld>
            <a:endParaRPr lang="en-AU"/>
          </a:p>
        </p:txBody>
      </p:sp>
    </p:spTree>
    <p:extLst>
      <p:ext uri="{BB962C8B-B14F-4D97-AF65-F5344CB8AC3E}">
        <p14:creationId xmlns:p14="http://schemas.microsoft.com/office/powerpoint/2010/main" val="37846871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9FA1AD0-C7B9-4E66-BB59-36D77A28EBC6}" type="slidenum">
              <a:rPr lang="en-AU" smtClean="0"/>
              <a:t>31</a:t>
            </a:fld>
            <a:endParaRPr lang="en-AU"/>
          </a:p>
        </p:txBody>
      </p:sp>
    </p:spTree>
    <p:extLst>
      <p:ext uri="{BB962C8B-B14F-4D97-AF65-F5344CB8AC3E}">
        <p14:creationId xmlns:p14="http://schemas.microsoft.com/office/powerpoint/2010/main" val="40491607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36</a:t>
            </a:fld>
            <a:endParaRPr lang="en-AU"/>
          </a:p>
        </p:txBody>
      </p:sp>
    </p:spTree>
    <p:extLst>
      <p:ext uri="{BB962C8B-B14F-4D97-AF65-F5344CB8AC3E}">
        <p14:creationId xmlns:p14="http://schemas.microsoft.com/office/powerpoint/2010/main" val="13131177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37</a:t>
            </a:fld>
            <a:endParaRPr lang="en-AU"/>
          </a:p>
        </p:txBody>
      </p:sp>
    </p:spTree>
    <p:extLst>
      <p:ext uri="{BB962C8B-B14F-4D97-AF65-F5344CB8AC3E}">
        <p14:creationId xmlns:p14="http://schemas.microsoft.com/office/powerpoint/2010/main" val="13131177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fld id="{89FA1AD0-C7B9-4E66-BB59-36D77A28EBC6}" type="slidenum">
              <a:rPr lang="en-AU" smtClean="0"/>
              <a:t>38</a:t>
            </a:fld>
            <a:endParaRPr lang="en-AU"/>
          </a:p>
        </p:txBody>
      </p:sp>
    </p:spTree>
    <p:extLst>
      <p:ext uri="{BB962C8B-B14F-4D97-AF65-F5344CB8AC3E}">
        <p14:creationId xmlns:p14="http://schemas.microsoft.com/office/powerpoint/2010/main" val="20265191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aseline="0" dirty="0"/>
          </a:p>
        </p:txBody>
      </p:sp>
      <p:sp>
        <p:nvSpPr>
          <p:cNvPr id="4" name="Slide Number Placeholder 3"/>
          <p:cNvSpPr>
            <a:spLocks noGrp="1"/>
          </p:cNvSpPr>
          <p:nvPr>
            <p:ph type="sldNum" sz="quarter" idx="10"/>
          </p:nvPr>
        </p:nvSpPr>
        <p:spPr/>
        <p:txBody>
          <a:bodyPr/>
          <a:lstStyle/>
          <a:p>
            <a:fld id="{89FA1AD0-C7B9-4E66-BB59-36D77A28EBC6}" type="slidenum">
              <a:rPr lang="en-AU" smtClean="0"/>
              <a:t>39</a:t>
            </a:fld>
            <a:endParaRPr lang="en-AU"/>
          </a:p>
        </p:txBody>
      </p:sp>
    </p:spTree>
    <p:extLst>
      <p:ext uri="{BB962C8B-B14F-4D97-AF65-F5344CB8AC3E}">
        <p14:creationId xmlns:p14="http://schemas.microsoft.com/office/powerpoint/2010/main" val="6363423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89FA1AD0-C7B9-4E66-BB59-36D77A28EBC6}" type="slidenum">
              <a:rPr lang="en-AU" smtClean="0"/>
              <a:t>40</a:t>
            </a:fld>
            <a:endParaRPr lang="en-AU"/>
          </a:p>
        </p:txBody>
      </p:sp>
    </p:spTree>
    <p:extLst>
      <p:ext uri="{BB962C8B-B14F-4D97-AF65-F5344CB8AC3E}">
        <p14:creationId xmlns:p14="http://schemas.microsoft.com/office/powerpoint/2010/main" val="17590407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41</a:t>
            </a:fld>
            <a:endParaRPr lang="en-AU"/>
          </a:p>
        </p:txBody>
      </p:sp>
    </p:spTree>
    <p:extLst>
      <p:ext uri="{BB962C8B-B14F-4D97-AF65-F5344CB8AC3E}">
        <p14:creationId xmlns:p14="http://schemas.microsoft.com/office/powerpoint/2010/main" val="19716977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42</a:t>
            </a:fld>
            <a:endParaRPr lang="en-AU"/>
          </a:p>
        </p:txBody>
      </p:sp>
    </p:spTree>
    <p:extLst>
      <p:ext uri="{BB962C8B-B14F-4D97-AF65-F5344CB8AC3E}">
        <p14:creationId xmlns:p14="http://schemas.microsoft.com/office/powerpoint/2010/main" val="2678017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9FA1AD0-C7B9-4E66-BB59-36D77A28EBC6}" type="slidenum">
              <a:rPr lang="en-AU" smtClean="0"/>
              <a:t>43</a:t>
            </a:fld>
            <a:endParaRPr lang="en-AU"/>
          </a:p>
        </p:txBody>
      </p:sp>
    </p:spTree>
    <p:extLst>
      <p:ext uri="{BB962C8B-B14F-4D97-AF65-F5344CB8AC3E}">
        <p14:creationId xmlns:p14="http://schemas.microsoft.com/office/powerpoint/2010/main" val="1087356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5C9729-AB14-4DFB-9CFC-668BA6DF35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45885F2E-442A-4243-8FBF-F4555B0CC7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C3536875-A75B-4FE3-B6EF-0A8D84DAF71B}"/>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5" name="Footer Placeholder 4">
            <a:extLst>
              <a:ext uri="{FF2B5EF4-FFF2-40B4-BE49-F238E27FC236}">
                <a16:creationId xmlns:a16="http://schemas.microsoft.com/office/drawing/2014/main" id="{3B0A694F-61C4-4037-A49B-E85C0FA41B8A}"/>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A28582B-600E-4921-8E98-9DE0B40A8E50}"/>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3268004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6738C-BD5F-48C7-803C-E472B8A1FE7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AD986D3F-B9CB-4815-B789-F5320B733B3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0343B55-CE92-4051-858C-14B359D9717F}"/>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5" name="Footer Placeholder 4">
            <a:extLst>
              <a:ext uri="{FF2B5EF4-FFF2-40B4-BE49-F238E27FC236}">
                <a16:creationId xmlns:a16="http://schemas.microsoft.com/office/drawing/2014/main" id="{2930A774-419F-49B4-BA37-6641F50229A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8CD20C64-658E-44AC-804C-6380D3CA5696}"/>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1060938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CFF1A-61DA-45EB-945E-067B0EDE1B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643E5629-8C41-40E5-83F2-0F6089560B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51F41344-1D90-475D-8AE9-E1CBC1031369}"/>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5" name="Footer Placeholder 4">
            <a:extLst>
              <a:ext uri="{FF2B5EF4-FFF2-40B4-BE49-F238E27FC236}">
                <a16:creationId xmlns:a16="http://schemas.microsoft.com/office/drawing/2014/main" id="{7FEF851A-944E-4853-B9BC-A095DE3DDB2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A2B229E-6327-4207-9333-AADD6BACCE1A}"/>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4118254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18064-4A0F-496E-8F3D-89555F113A2A}"/>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D6524B4F-E46F-4090-B20A-755BE45690B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1DC03F0-0C67-4721-9359-FBEC37B57DF6}"/>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EC494D4A-B900-47AB-BF08-C671B4B36995}"/>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6" name="Footer Placeholder 5">
            <a:extLst>
              <a:ext uri="{FF2B5EF4-FFF2-40B4-BE49-F238E27FC236}">
                <a16:creationId xmlns:a16="http://schemas.microsoft.com/office/drawing/2014/main" id="{DA6F2C8C-5E51-4E98-BFCE-01E6952A038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63AB1F2-3C8E-4143-B4D2-17B776EF02EF}"/>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1523386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D5DD5-2788-4608-8E6B-535F0509B5EB}"/>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BABB3DD-BD83-4568-B2F7-9EF1470ECF9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D031296-A3CE-4E26-B30B-23A4C733ABD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125D45B-A88E-4FF5-8E80-F201A46738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AB1234E-C8EC-4D32-BC15-6409DD0DD5BA}"/>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516C928-BA63-4784-BE80-4F039F43CBE6}"/>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8" name="Footer Placeholder 7">
            <a:extLst>
              <a:ext uri="{FF2B5EF4-FFF2-40B4-BE49-F238E27FC236}">
                <a16:creationId xmlns:a16="http://schemas.microsoft.com/office/drawing/2014/main" id="{897766AC-9C85-4C69-8C28-E9275FBEBD1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0735E409-8E86-4759-9752-C9CE0B6FE6FA}"/>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13993162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4580CD-EC31-4718-9E57-8609C7276EDE}"/>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968F4D2-C3BE-46D5-B173-40081B5BEEFA}"/>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4" name="Footer Placeholder 3">
            <a:extLst>
              <a:ext uri="{FF2B5EF4-FFF2-40B4-BE49-F238E27FC236}">
                <a16:creationId xmlns:a16="http://schemas.microsoft.com/office/drawing/2014/main" id="{665A0F7D-BF0E-4B12-830A-29EB80B0919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C9BCF714-AFE1-4788-A45F-8DE2C87DFD5C}"/>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38758882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C7D96E-DF00-4486-9168-543C36613EB1}"/>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3" name="Footer Placeholder 2">
            <a:extLst>
              <a:ext uri="{FF2B5EF4-FFF2-40B4-BE49-F238E27FC236}">
                <a16:creationId xmlns:a16="http://schemas.microsoft.com/office/drawing/2014/main" id="{22C6A167-38C5-435C-A051-A362BA7F1665}"/>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8A2910E-82A5-4EB5-B544-8F984E54CD9F}"/>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4288348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F6C30-BE45-4AC1-A410-449FAB6C24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3B2EF3D-BFCF-4863-965E-EE3C89A22A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AC4EFC1-D8ED-4EFB-A2D0-33B7B9D825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A7295D7-83F5-40ED-9550-563CFBD7C61C}"/>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6" name="Footer Placeholder 5">
            <a:extLst>
              <a:ext uri="{FF2B5EF4-FFF2-40B4-BE49-F238E27FC236}">
                <a16:creationId xmlns:a16="http://schemas.microsoft.com/office/drawing/2014/main" id="{2A9902B7-9573-46C6-96BB-68FF2E5ECCF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EDD9F575-A8B3-4380-8F7F-BBC7AA7E5FDF}"/>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1418369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97E5A5-4F5D-48C2-A856-A5BA8AB0F7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B113E95D-DB31-4E8C-BFEF-68937DCF5D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F9686F3-D237-43C3-AD70-716E3034D2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A79EABCA-A72C-4D88-BE4C-2B803EE55EB9}"/>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6" name="Footer Placeholder 5">
            <a:extLst>
              <a:ext uri="{FF2B5EF4-FFF2-40B4-BE49-F238E27FC236}">
                <a16:creationId xmlns:a16="http://schemas.microsoft.com/office/drawing/2014/main" id="{19A2E195-BEEA-486C-9FA4-772B4331DFFC}"/>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D411FE6E-A05F-4F82-A7D3-7BD5FD299FBF}"/>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966974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FED6F-ADE5-40C1-890E-A237C8F4D8C5}"/>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BA84E4C4-973A-496A-8650-A7B8631F24B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771CA3A-2E6F-4EC6-95CD-CA8BEC2387AF}"/>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5" name="Footer Placeholder 4">
            <a:extLst>
              <a:ext uri="{FF2B5EF4-FFF2-40B4-BE49-F238E27FC236}">
                <a16:creationId xmlns:a16="http://schemas.microsoft.com/office/drawing/2014/main" id="{25753EF0-E1BD-4395-93AB-9D7F31C70E0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030BE6F-BE5B-4069-9F72-2612BC69120B}"/>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9689842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95AE828-AADD-4E1A-ADEC-28215CE30A2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849F094-97B7-40AA-A8E7-E162A6EF5AC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4C6450D-C126-48A6-94A9-F177B9D4CA71}"/>
              </a:ext>
            </a:extLst>
          </p:cNvPr>
          <p:cNvSpPr>
            <a:spLocks noGrp="1"/>
          </p:cNvSpPr>
          <p:nvPr>
            <p:ph type="dt" sz="half" idx="10"/>
          </p:nvPr>
        </p:nvSpPr>
        <p:spPr/>
        <p:txBody>
          <a:bodyPr/>
          <a:lstStyle/>
          <a:p>
            <a:fld id="{581D7D6D-9F53-4E4F-96CB-664D046BB7CD}" type="datetimeFigureOut">
              <a:rPr lang="en-AU" smtClean="0"/>
              <a:t>12/11/2022</a:t>
            </a:fld>
            <a:endParaRPr lang="en-AU"/>
          </a:p>
        </p:txBody>
      </p:sp>
      <p:sp>
        <p:nvSpPr>
          <p:cNvPr id="5" name="Footer Placeholder 4">
            <a:extLst>
              <a:ext uri="{FF2B5EF4-FFF2-40B4-BE49-F238E27FC236}">
                <a16:creationId xmlns:a16="http://schemas.microsoft.com/office/drawing/2014/main" id="{7010DA5F-36A9-432C-BC1E-17E78FD1D81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CF278B36-6BA7-4B6A-B822-1A0193C29C95}"/>
              </a:ext>
            </a:extLst>
          </p:cNvPr>
          <p:cNvSpPr>
            <a:spLocks noGrp="1"/>
          </p:cNvSpPr>
          <p:nvPr>
            <p:ph type="sldNum" sz="quarter" idx="12"/>
          </p:nvPr>
        </p:nvSpPr>
        <p:spPr/>
        <p:txBody>
          <a:bodyPr/>
          <a:lstStyle/>
          <a:p>
            <a:fld id="{84EB51D5-B22C-4A38-B03E-6F323994D384}" type="slidenum">
              <a:rPr lang="en-AU" smtClean="0"/>
              <a:t>‹#›</a:t>
            </a:fld>
            <a:endParaRPr lang="en-AU"/>
          </a:p>
        </p:txBody>
      </p:sp>
    </p:spTree>
    <p:extLst>
      <p:ext uri="{BB962C8B-B14F-4D97-AF65-F5344CB8AC3E}">
        <p14:creationId xmlns:p14="http://schemas.microsoft.com/office/powerpoint/2010/main" val="245294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9965746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Text Placeholder 2"/>
          <p:cNvSpPr>
            <a:spLocks noGrp="1"/>
          </p:cNvSpPr>
          <p:nvPr>
            <p:ph type="body" sz="quarter" idx="16" hasCustomPrompt="1"/>
          </p:nvPr>
        </p:nvSpPr>
        <p:spPr>
          <a:xfrm>
            <a:off x="664028" y="3418114"/>
            <a:ext cx="5504297" cy="495918"/>
          </a:xfrm>
          <a:prstGeom prst="rect">
            <a:avLst/>
          </a:prstGeom>
        </p:spPr>
        <p:txBody>
          <a:bodyPr/>
          <a:lstStyle>
            <a:lvl1pPr marL="0" indent="0">
              <a:buNone/>
              <a:defRPr sz="24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a:t>Insert subtitle</a:t>
            </a:r>
            <a:endParaRPr lang="en-US" dirty="0"/>
          </a:p>
        </p:txBody>
      </p:sp>
      <p:sp>
        <p:nvSpPr>
          <p:cNvPr id="7" name="Text Placeholder 6"/>
          <p:cNvSpPr>
            <a:spLocks noGrp="1"/>
          </p:cNvSpPr>
          <p:nvPr>
            <p:ph type="body" sz="quarter" idx="17" hasCustomPrompt="1"/>
          </p:nvPr>
        </p:nvSpPr>
        <p:spPr>
          <a:xfrm>
            <a:off x="664028" y="2731752"/>
            <a:ext cx="7224609" cy="573088"/>
          </a:xfrm>
          <a:prstGeom prst="rect">
            <a:avLst/>
          </a:prstGeom>
        </p:spPr>
        <p:txBody>
          <a:bodyPr/>
          <a:lstStyle>
            <a:lvl1pPr marL="0" indent="0">
              <a:buNone/>
              <a:defRPr sz="38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dirty="0"/>
              <a:t>Presentation title</a:t>
            </a:r>
            <a:endParaRPr lang="en-US" dirty="0"/>
          </a:p>
        </p:txBody>
      </p:sp>
      <p:sp>
        <p:nvSpPr>
          <p:cNvPr id="9" name="Text Placeholder 8"/>
          <p:cNvSpPr>
            <a:spLocks noGrp="1"/>
          </p:cNvSpPr>
          <p:nvPr>
            <p:ph type="body" sz="quarter" idx="18" hasCustomPrompt="1"/>
          </p:nvPr>
        </p:nvSpPr>
        <p:spPr>
          <a:xfrm>
            <a:off x="664028" y="6100990"/>
            <a:ext cx="3024569" cy="315308"/>
          </a:xfrm>
          <a:prstGeom prst="rect">
            <a:avLst/>
          </a:prstGeom>
        </p:spPr>
        <p:txBody>
          <a:bodyPr/>
          <a:lstStyle>
            <a:lvl1pPr marL="0" indent="0">
              <a:buNone/>
              <a:defRPr sz="1200" b="0" i="0">
                <a:solidFill>
                  <a:srgbClr val="007298"/>
                </a:solidFill>
                <a:latin typeface="Roboto Light" charset="0"/>
                <a:ea typeface="Roboto Light" charset="0"/>
                <a:cs typeface="Roboto Light" charset="0"/>
              </a:defRPr>
            </a:lvl1pPr>
            <a:lvl2pPr marL="457200" indent="0">
              <a:buNone/>
              <a:defRPr/>
            </a:lvl2pPr>
            <a:lvl3pPr marL="914400" indent="0">
              <a:buNone/>
              <a:defRPr/>
            </a:lvl3pPr>
            <a:lvl4pPr marL="1371600" indent="0">
              <a:buNone/>
              <a:defRPr/>
            </a:lvl4pPr>
            <a:lvl5pPr marL="1828800" indent="0">
              <a:buNone/>
              <a:defRPr/>
            </a:lvl5pPr>
          </a:lstStyle>
          <a:p>
            <a:pPr lvl="0"/>
            <a:r>
              <a:rPr lang="en-GB" dirty="0"/>
              <a:t>## Month 2017</a:t>
            </a:r>
            <a:endParaRPr lang="en-US" dirty="0"/>
          </a:p>
        </p:txBody>
      </p:sp>
    </p:spTree>
    <p:extLst>
      <p:ext uri="{BB962C8B-B14F-4D97-AF65-F5344CB8AC3E}">
        <p14:creationId xmlns:p14="http://schemas.microsoft.com/office/powerpoint/2010/main" val="9373496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821717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Full Colour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1" name="Text Placeholder 2"/>
          <p:cNvSpPr>
            <a:spLocks noGrp="1"/>
          </p:cNvSpPr>
          <p:nvPr>
            <p:ph type="body" sz="quarter" idx="16" hasCustomPrompt="1"/>
          </p:nvPr>
        </p:nvSpPr>
        <p:spPr>
          <a:xfrm>
            <a:off x="664029" y="2389855"/>
            <a:ext cx="3164052"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2"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
        <p:nvSpPr>
          <p:cNvPr id="14" name="Text Placeholder 2"/>
          <p:cNvSpPr>
            <a:spLocks noGrp="1"/>
          </p:cNvSpPr>
          <p:nvPr>
            <p:ph type="body" sz="quarter" idx="19" hasCustomPrompt="1"/>
          </p:nvPr>
        </p:nvSpPr>
        <p:spPr>
          <a:xfrm>
            <a:off x="4585099" y="2389854"/>
            <a:ext cx="3164054" cy="3261643"/>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Tree>
    <p:extLst>
      <p:ext uri="{BB962C8B-B14F-4D97-AF65-F5344CB8AC3E}">
        <p14:creationId xmlns:p14="http://schemas.microsoft.com/office/powerpoint/2010/main" val="1464692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Full Colour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10"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1"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7"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20"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5684624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8"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9"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213785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613985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510652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2107648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6558185" cy="1077415"/>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4" name="Text Placeholder 2"/>
          <p:cNvSpPr>
            <a:spLocks noGrp="1"/>
          </p:cNvSpPr>
          <p:nvPr>
            <p:ph type="body" sz="quarter" idx="21" hasCustomPrompt="1"/>
          </p:nvPr>
        </p:nvSpPr>
        <p:spPr>
          <a:xfrm>
            <a:off x="664025" y="3822055"/>
            <a:ext cx="6558185" cy="446706"/>
          </a:xfrm>
          <a:prstGeom prst="rect">
            <a:avLst/>
          </a:prstGeom>
        </p:spPr>
        <p:txBody>
          <a:bodyPr/>
          <a:lstStyle>
            <a:lvl1pPr marL="0" indent="0">
              <a:buNone/>
              <a:defRPr sz="1800" b="0" i="0" baseline="0">
                <a:solidFill>
                  <a:srgbClr val="00A6B6"/>
                </a:solidFill>
                <a:latin typeface="Roboto" charset="0"/>
                <a:ea typeface="Roboto" charset="0"/>
                <a:cs typeface="Roboto"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Subtitle:</a:t>
            </a:r>
            <a:endParaRPr lang="en-US" dirty="0"/>
          </a:p>
        </p:txBody>
      </p:sp>
      <p:sp>
        <p:nvSpPr>
          <p:cNvPr id="15" name="Text Placeholder 2"/>
          <p:cNvSpPr>
            <a:spLocks noGrp="1"/>
          </p:cNvSpPr>
          <p:nvPr>
            <p:ph type="body" sz="quarter" idx="22" hasCustomPrompt="1"/>
          </p:nvPr>
        </p:nvSpPr>
        <p:spPr>
          <a:xfrm>
            <a:off x="664024" y="4268761"/>
            <a:ext cx="6558185" cy="1077415"/>
          </a:xfrm>
          <a:prstGeom prst="rect">
            <a:avLst/>
          </a:prstGeom>
        </p:spPr>
        <p:txBody>
          <a:bodyPr/>
          <a:lstStyle>
            <a:lvl1pPr marL="285750" indent="-285750">
              <a:buFont typeface="Arial" charset="0"/>
              <a:buChar char="•"/>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Bullet 1</a:t>
            </a:r>
          </a:p>
          <a:p>
            <a:pPr lvl="0"/>
            <a:r>
              <a:rPr lang="en-GB" dirty="0"/>
              <a:t>Bullet 2</a:t>
            </a:r>
          </a:p>
          <a:p>
            <a:pPr lvl="0"/>
            <a:r>
              <a:rPr lang="en-GB" dirty="0"/>
              <a:t>Bullet 3</a:t>
            </a:r>
            <a:endParaRPr lang="en-US" dirty="0"/>
          </a:p>
        </p:txBody>
      </p:sp>
      <p:sp>
        <p:nvSpPr>
          <p:cNvPr id="16"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11660863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vy 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6"/>
          <p:cNvSpPr>
            <a:spLocks noGrp="1"/>
          </p:cNvSpPr>
          <p:nvPr>
            <p:ph type="body" sz="quarter" idx="17" hasCustomPrompt="1"/>
          </p:nvPr>
        </p:nvSpPr>
        <p:spPr>
          <a:xfrm>
            <a:off x="664027" y="1382662"/>
            <a:ext cx="6558183" cy="573088"/>
          </a:xfrm>
          <a:prstGeom prst="rect">
            <a:avLst/>
          </a:prstGeom>
        </p:spPr>
        <p:txBody>
          <a:bodyPr/>
          <a:lstStyle>
            <a:lvl1pPr marL="0" indent="0">
              <a:buNone/>
              <a:defRPr sz="3200" b="1" i="0">
                <a:solidFill>
                  <a:srgbClr val="007298"/>
                </a:solidFill>
                <a:latin typeface="Roboto Black" charset="0"/>
                <a:ea typeface="Roboto Black" charset="0"/>
                <a:cs typeface="Roboto Black" charset="0"/>
              </a:defRPr>
            </a:lvl1pPr>
            <a:lvl2pPr marL="457200" indent="0">
              <a:buNone/>
              <a:defRPr sz="3800" b="1" i="0">
                <a:latin typeface="Roboto Black" charset="0"/>
                <a:ea typeface="Roboto Black" charset="0"/>
                <a:cs typeface="Roboto Black" charset="0"/>
              </a:defRPr>
            </a:lvl2pPr>
            <a:lvl3pPr marL="914400" indent="0">
              <a:buNone/>
              <a:defRPr sz="3800" b="1" i="0">
                <a:latin typeface="Roboto Black" charset="0"/>
                <a:ea typeface="Roboto Black" charset="0"/>
                <a:cs typeface="Roboto Black" charset="0"/>
              </a:defRPr>
            </a:lvl3pPr>
            <a:lvl4pPr marL="1371600" indent="0">
              <a:buNone/>
              <a:defRPr sz="3800" b="1" i="0">
                <a:latin typeface="Roboto Black" charset="0"/>
                <a:ea typeface="Roboto Black" charset="0"/>
                <a:cs typeface="Roboto Black" charset="0"/>
              </a:defRPr>
            </a:lvl4pPr>
            <a:lvl5pPr marL="1828800" indent="0">
              <a:buNone/>
              <a:defRPr sz="3800" b="1" i="0">
                <a:latin typeface="Roboto Black" charset="0"/>
                <a:ea typeface="Roboto Black" charset="0"/>
                <a:cs typeface="Roboto Black" charset="0"/>
              </a:defRPr>
            </a:lvl5pPr>
          </a:lstStyle>
          <a:p>
            <a:pPr lvl="0"/>
            <a:r>
              <a:rPr lang="en-GB"/>
              <a:t>Insert </a:t>
            </a:r>
            <a:r>
              <a:rPr lang="en-GB" dirty="0"/>
              <a:t>title</a:t>
            </a:r>
            <a:endParaRPr lang="en-US" dirty="0"/>
          </a:p>
        </p:txBody>
      </p:sp>
      <p:sp>
        <p:nvSpPr>
          <p:cNvPr id="9" name="Text Placeholder 2"/>
          <p:cNvSpPr>
            <a:spLocks noGrp="1"/>
          </p:cNvSpPr>
          <p:nvPr>
            <p:ph type="body" sz="quarter" idx="20" hasCustomPrompt="1"/>
          </p:nvPr>
        </p:nvSpPr>
        <p:spPr>
          <a:xfrm>
            <a:off x="664027"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1</a:t>
            </a:r>
            <a:endParaRPr lang="en-US" dirty="0"/>
          </a:p>
        </p:txBody>
      </p:sp>
      <p:sp>
        <p:nvSpPr>
          <p:cNvPr id="10" name="Text Placeholder 2"/>
          <p:cNvSpPr>
            <a:spLocks noGrp="1"/>
          </p:cNvSpPr>
          <p:nvPr>
            <p:ph type="body" sz="quarter" idx="21" hasCustomPrompt="1"/>
          </p:nvPr>
        </p:nvSpPr>
        <p:spPr>
          <a:xfrm>
            <a:off x="6328229" y="2389854"/>
            <a:ext cx="5241473" cy="1314241"/>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2</a:t>
            </a:r>
            <a:endParaRPr lang="en-US" dirty="0"/>
          </a:p>
        </p:txBody>
      </p:sp>
      <p:sp>
        <p:nvSpPr>
          <p:cNvPr id="11" name="Text Placeholder 2"/>
          <p:cNvSpPr>
            <a:spLocks noGrp="1"/>
          </p:cNvSpPr>
          <p:nvPr>
            <p:ph type="body" sz="quarter" idx="22" hasCustomPrompt="1"/>
          </p:nvPr>
        </p:nvSpPr>
        <p:spPr>
          <a:xfrm>
            <a:off x="664027"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3</a:t>
            </a:r>
            <a:endParaRPr lang="en-US" dirty="0"/>
          </a:p>
        </p:txBody>
      </p:sp>
      <p:sp>
        <p:nvSpPr>
          <p:cNvPr id="12" name="Text Placeholder 2"/>
          <p:cNvSpPr>
            <a:spLocks noGrp="1"/>
          </p:cNvSpPr>
          <p:nvPr>
            <p:ph type="body" sz="quarter" idx="23" hasCustomPrompt="1"/>
          </p:nvPr>
        </p:nvSpPr>
        <p:spPr>
          <a:xfrm>
            <a:off x="6328229" y="3993194"/>
            <a:ext cx="5241473" cy="1314242"/>
          </a:xfrm>
          <a:prstGeom prst="rect">
            <a:avLst/>
          </a:prstGeom>
        </p:spPr>
        <p:txBody>
          <a:bodyPr/>
          <a:lstStyle>
            <a:lvl1pPr marL="0" indent="0">
              <a:buNone/>
              <a:defRPr sz="1800" b="0" i="0" baseline="0">
                <a:solidFill>
                  <a:schemeClr val="tx1"/>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Text 4</a:t>
            </a:r>
            <a:endParaRPr lang="en-US" dirty="0"/>
          </a:p>
        </p:txBody>
      </p:sp>
      <p:sp>
        <p:nvSpPr>
          <p:cNvPr id="13" name="Text Placeholder 2"/>
          <p:cNvSpPr>
            <a:spLocks noGrp="1"/>
          </p:cNvSpPr>
          <p:nvPr>
            <p:ph type="body" sz="quarter" idx="18" hasCustomPrompt="1"/>
          </p:nvPr>
        </p:nvSpPr>
        <p:spPr>
          <a:xfrm>
            <a:off x="664027" y="6100990"/>
            <a:ext cx="5302820" cy="299810"/>
          </a:xfrm>
          <a:prstGeom prst="rect">
            <a:avLst/>
          </a:prstGeom>
        </p:spPr>
        <p:txBody>
          <a:bodyPr/>
          <a:lstStyle>
            <a:lvl1pPr marL="0" indent="0">
              <a:buNone/>
              <a:defRPr sz="1200" b="0" i="0" baseline="0">
                <a:solidFill>
                  <a:srgbClr val="007298"/>
                </a:solidFill>
                <a:latin typeface="Roboto Light" charset="0"/>
                <a:ea typeface="Roboto Light" charset="0"/>
                <a:cs typeface="Roboto Light" charset="0"/>
              </a:defRPr>
            </a:lvl1pPr>
            <a:lvl2pPr>
              <a:defRPr sz="2400" b="0" i="0">
                <a:latin typeface="Roboto Light" charset="0"/>
                <a:ea typeface="Roboto Light" charset="0"/>
                <a:cs typeface="Roboto Light" charset="0"/>
              </a:defRPr>
            </a:lvl2pPr>
            <a:lvl3pPr>
              <a:defRPr sz="2400" b="0" i="0">
                <a:latin typeface="Roboto Light" charset="0"/>
                <a:ea typeface="Roboto Light" charset="0"/>
                <a:cs typeface="Roboto Light" charset="0"/>
              </a:defRPr>
            </a:lvl3pPr>
            <a:lvl4pPr>
              <a:defRPr sz="2400" b="0" i="0">
                <a:latin typeface="Roboto Light" charset="0"/>
                <a:ea typeface="Roboto Light" charset="0"/>
                <a:cs typeface="Roboto Light" charset="0"/>
              </a:defRPr>
            </a:lvl4pPr>
            <a:lvl5pPr>
              <a:defRPr sz="2400" b="0" i="0">
                <a:latin typeface="Roboto Light" charset="0"/>
                <a:ea typeface="Roboto Light" charset="0"/>
                <a:cs typeface="Roboto Light" charset="0"/>
              </a:defRPr>
            </a:lvl5pPr>
          </a:lstStyle>
          <a:p>
            <a:pPr lvl="0"/>
            <a:r>
              <a:rPr lang="en-GB" dirty="0"/>
              <a:t>1 | Presentation name</a:t>
            </a:r>
            <a:endParaRPr lang="en-US" dirty="0"/>
          </a:p>
        </p:txBody>
      </p:sp>
    </p:spTree>
    <p:extLst>
      <p:ext uri="{BB962C8B-B14F-4D97-AF65-F5344CB8AC3E}">
        <p14:creationId xmlns:p14="http://schemas.microsoft.com/office/powerpoint/2010/main" val="5757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9"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453149-1198-499A-B205-5CD51F083D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BAC4E06-91B5-4B01-B7E4-3D765F284C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B2CA46B-655D-4189-9336-DABEF93227A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D7D6D-9F53-4E4F-96CB-664D046BB7CD}" type="datetimeFigureOut">
              <a:rPr lang="en-AU" smtClean="0"/>
              <a:t>12/11/2022</a:t>
            </a:fld>
            <a:endParaRPr lang="en-AU"/>
          </a:p>
        </p:txBody>
      </p:sp>
      <p:sp>
        <p:nvSpPr>
          <p:cNvPr id="5" name="Footer Placeholder 4">
            <a:extLst>
              <a:ext uri="{FF2B5EF4-FFF2-40B4-BE49-F238E27FC236}">
                <a16:creationId xmlns:a16="http://schemas.microsoft.com/office/drawing/2014/main" id="{D1CE9616-465D-4D4A-8714-6F6921EB4C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19CDFD2-9A0A-46DE-B913-A44E950FE7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EB51D5-B22C-4A38-B03E-6F323994D384}" type="slidenum">
              <a:rPr lang="en-AU" smtClean="0"/>
              <a:t>‹#›</a:t>
            </a:fld>
            <a:endParaRPr lang="en-AU"/>
          </a:p>
        </p:txBody>
      </p:sp>
    </p:spTree>
    <p:extLst>
      <p:ext uri="{BB962C8B-B14F-4D97-AF65-F5344CB8AC3E}">
        <p14:creationId xmlns:p14="http://schemas.microsoft.com/office/powerpoint/2010/main" val="3784899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709685"/>
      </p:ext>
    </p:extLst>
  </p:cSld>
  <p:clrMap bg1="lt1" tx1="dk1" bg2="lt2" tx2="dk2" accent1="accent1" accent2="accent2" accent3="accent3" accent4="accent4" accent5="accent5" accent6="accent6" hlink="hlink" folHlink="folHlink"/>
  <p:sldLayoutIdLst>
    <p:sldLayoutId id="2147483664" r:id="rId1"/>
    <p:sldLayoutId id="2147483665" r:id="rId2"/>
  </p:sldLayoutIdLst>
  <p:txStyles>
    <p:titleStyle>
      <a:lvl1pPr algn="l" defTabSz="914400" rtl="0" eaLnBrk="1" latinLnBrk="0" hangingPunct="1">
        <a:lnSpc>
          <a:spcPct val="90000"/>
        </a:lnSpc>
        <a:spcBef>
          <a:spcPct val="0"/>
        </a:spcBef>
        <a:buNone/>
        <a:defRPr sz="3800" b="1" i="0" kern="1200" spc="150" baseline="0">
          <a:solidFill>
            <a:schemeClr val="tx1"/>
          </a:solidFill>
          <a:latin typeface="Roboto Black" charset="0"/>
          <a:ea typeface="Roboto Black" charset="0"/>
          <a:cs typeface="Roboto Black" charset="0"/>
        </a:defRPr>
      </a:lvl1pPr>
    </p:titleStyle>
    <p:body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2628692"/>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2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1958000-15F2-4B0B-B482-29A61645F54A}"/>
              </a:ext>
            </a:extLst>
          </p:cNvPr>
          <p:cNvSpPr>
            <a:spLocks noGrp="1"/>
          </p:cNvSpPr>
          <p:nvPr>
            <p:ph type="body" sz="quarter" idx="16"/>
          </p:nvPr>
        </p:nvSpPr>
        <p:spPr/>
        <p:txBody>
          <a:bodyPr/>
          <a:lstStyle/>
          <a:p>
            <a:endParaRPr lang="en-AU"/>
          </a:p>
        </p:txBody>
      </p:sp>
      <p:sp>
        <p:nvSpPr>
          <p:cNvPr id="3" name="Text Placeholder 2">
            <a:extLst>
              <a:ext uri="{FF2B5EF4-FFF2-40B4-BE49-F238E27FC236}">
                <a16:creationId xmlns:a16="http://schemas.microsoft.com/office/drawing/2014/main" id="{2ECBCCCF-A46F-40CE-87D1-0578C4EBFA68}"/>
              </a:ext>
            </a:extLst>
          </p:cNvPr>
          <p:cNvSpPr>
            <a:spLocks noGrp="1"/>
          </p:cNvSpPr>
          <p:nvPr>
            <p:ph type="body" sz="quarter" idx="17"/>
          </p:nvPr>
        </p:nvSpPr>
        <p:spPr/>
        <p:txBody>
          <a:bodyPr>
            <a:normAutofit lnSpcReduction="10000"/>
          </a:bodyPr>
          <a:lstStyle/>
          <a:p>
            <a:endParaRPr lang="en-AU"/>
          </a:p>
        </p:txBody>
      </p:sp>
      <p:sp>
        <p:nvSpPr>
          <p:cNvPr id="4" name="Text Placeholder 3">
            <a:extLst>
              <a:ext uri="{FF2B5EF4-FFF2-40B4-BE49-F238E27FC236}">
                <a16:creationId xmlns:a16="http://schemas.microsoft.com/office/drawing/2014/main" id="{4504BBA8-B148-4136-B2F6-6936EA3938AF}"/>
              </a:ext>
            </a:extLst>
          </p:cNvPr>
          <p:cNvSpPr>
            <a:spLocks noGrp="1"/>
          </p:cNvSpPr>
          <p:nvPr>
            <p:ph type="body" sz="quarter" idx="18"/>
          </p:nvPr>
        </p:nvSpPr>
        <p:spPr/>
        <p:txBody>
          <a:bodyPr/>
          <a:lstStyle/>
          <a:p>
            <a:endParaRPr lang="en-AU"/>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ext Placeholder 3"/>
          <p:cNvSpPr txBox="1">
            <a:spLocks/>
          </p:cNvSpPr>
          <p:nvPr/>
        </p:nvSpPr>
        <p:spPr>
          <a:xfrm>
            <a:off x="3416176" y="5878938"/>
            <a:ext cx="3605151" cy="315308"/>
          </a:xfrm>
          <a:prstGeom prst="rect">
            <a:avLst/>
          </a:prstGeom>
        </p:spPr>
        <p:txBody>
          <a:bodyPr/>
          <a:lstStyle>
            <a:lvl1pPr marL="0" indent="0" algn="l" defTabSz="914400" rtl="0" eaLnBrk="1" latinLnBrk="0" hangingPunct="1">
              <a:lnSpc>
                <a:spcPct val="90000"/>
              </a:lnSpc>
              <a:spcBef>
                <a:spcPts val="1000"/>
              </a:spcBef>
              <a:buFont typeface="Arial"/>
              <a:buNone/>
              <a:defRPr sz="1200" b="0" i="0" kern="1200" baseline="0">
                <a:solidFill>
                  <a:srgbClr val="007298"/>
                </a:solidFill>
                <a:latin typeface="Roboto Light" charset="0"/>
                <a:ea typeface="Roboto Light" charset="0"/>
                <a:cs typeface="Roboto Light" charset="0"/>
              </a:defRPr>
            </a:lvl1pPr>
            <a:lvl2pPr marL="457200" indent="0" algn="l" defTabSz="914400" rtl="0" eaLnBrk="1" latinLnBrk="0" hangingPunct="1">
              <a:lnSpc>
                <a:spcPct val="90000"/>
              </a:lnSpc>
              <a:spcBef>
                <a:spcPts val="500"/>
              </a:spcBef>
              <a:buFont typeface="Arial"/>
              <a:buNone/>
              <a:defRPr sz="2400" b="0" i="0" kern="1200">
                <a:solidFill>
                  <a:schemeClr val="tx1"/>
                </a:solidFill>
                <a:latin typeface="Roboto Light" charset="0"/>
                <a:ea typeface="Roboto Light" charset="0"/>
                <a:cs typeface="Roboto Light" charset="0"/>
              </a:defRPr>
            </a:lvl2pPr>
            <a:lvl3pPr marL="914400" indent="0" algn="l" defTabSz="914400" rtl="0" eaLnBrk="1" latinLnBrk="0" hangingPunct="1">
              <a:lnSpc>
                <a:spcPct val="90000"/>
              </a:lnSpc>
              <a:spcBef>
                <a:spcPts val="500"/>
              </a:spcBef>
              <a:buFont typeface="Arial"/>
              <a:buNone/>
              <a:defRPr sz="2000" b="0" i="0" kern="1200">
                <a:solidFill>
                  <a:schemeClr val="tx1"/>
                </a:solidFill>
                <a:latin typeface="Roboto Light" charset="0"/>
                <a:ea typeface="Roboto Light" charset="0"/>
                <a:cs typeface="Roboto Light" charset="0"/>
              </a:defRPr>
            </a:lvl3pPr>
            <a:lvl4pPr marL="1371600" indent="0" algn="l" defTabSz="914400" rtl="0" eaLnBrk="1" latinLnBrk="0" hangingPunct="1">
              <a:lnSpc>
                <a:spcPct val="90000"/>
              </a:lnSpc>
              <a:spcBef>
                <a:spcPts val="500"/>
              </a:spcBef>
              <a:buFont typeface="Arial"/>
              <a:buNone/>
              <a:defRPr sz="1800" b="0" i="0" kern="1200">
                <a:solidFill>
                  <a:schemeClr val="tx1"/>
                </a:solidFill>
                <a:latin typeface="Roboto Light" charset="0"/>
                <a:ea typeface="Roboto Light" charset="0"/>
                <a:cs typeface="Roboto Light" charset="0"/>
              </a:defRPr>
            </a:lvl4pPr>
            <a:lvl5pPr marL="1828800" indent="0" algn="l" defTabSz="914400" rtl="0" eaLnBrk="1" latinLnBrk="0" hangingPunct="1">
              <a:lnSpc>
                <a:spcPct val="90000"/>
              </a:lnSpc>
              <a:spcBef>
                <a:spcPts val="500"/>
              </a:spcBef>
              <a:buFont typeface="Arial"/>
              <a:buNone/>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AU" sz="2000" b="1" dirty="0"/>
              <a:t>Please</a:t>
            </a:r>
          </a:p>
        </p:txBody>
      </p:sp>
    </p:spTree>
    <p:extLst>
      <p:ext uri="{BB962C8B-B14F-4D97-AF65-F5344CB8AC3E}">
        <p14:creationId xmlns:p14="http://schemas.microsoft.com/office/powerpoint/2010/main" val="3578228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F57F95-84DF-43BF-AFEA-1B033AEF767B}"/>
              </a:ext>
            </a:extLst>
          </p:cNvPr>
          <p:cNvSpPr>
            <a:spLocks noGrp="1"/>
          </p:cNvSpPr>
          <p:nvPr>
            <p:ph type="body" sz="quarter" idx="16"/>
          </p:nvPr>
        </p:nvSpPr>
        <p:spPr>
          <a:xfrm>
            <a:off x="664028" y="3960289"/>
            <a:ext cx="5504297" cy="495918"/>
          </a:xfrm>
        </p:spPr>
        <p:txBody>
          <a:bodyPr/>
          <a:lstStyle/>
          <a:p>
            <a:r>
              <a:rPr lang="en-AU" dirty="0">
                <a:solidFill>
                  <a:srgbClr val="007796"/>
                </a:solidFill>
                <a:latin typeface="Roboto Black" panose="02000000000000000000" pitchFamily="2" charset="0"/>
                <a:ea typeface="Roboto Black" panose="02000000000000000000" pitchFamily="2" charset="0"/>
              </a:rPr>
              <a:t>Introductory Pharmacology</a:t>
            </a:r>
          </a:p>
          <a:p>
            <a:r>
              <a:rPr lang="en-AU" dirty="0">
                <a:solidFill>
                  <a:srgbClr val="007796"/>
                </a:solidFill>
                <a:latin typeface="Roboto Black" panose="02000000000000000000" pitchFamily="2" charset="0"/>
                <a:ea typeface="Roboto Black" panose="02000000000000000000" pitchFamily="2" charset="0"/>
              </a:rPr>
              <a:t>PHAR2001</a:t>
            </a:r>
          </a:p>
        </p:txBody>
      </p:sp>
      <p:sp>
        <p:nvSpPr>
          <p:cNvPr id="3" name="Text Placeholder 2">
            <a:extLst>
              <a:ext uri="{FF2B5EF4-FFF2-40B4-BE49-F238E27FC236}">
                <a16:creationId xmlns:a16="http://schemas.microsoft.com/office/drawing/2014/main" id="{2FC070E2-1568-4000-8D85-D031CA6743A0}"/>
              </a:ext>
            </a:extLst>
          </p:cNvPr>
          <p:cNvSpPr>
            <a:spLocks noGrp="1"/>
          </p:cNvSpPr>
          <p:nvPr>
            <p:ph type="body" sz="quarter" idx="17"/>
          </p:nvPr>
        </p:nvSpPr>
        <p:spPr>
          <a:xfrm>
            <a:off x="664028" y="1834739"/>
            <a:ext cx="7224609" cy="573088"/>
          </a:xfrm>
        </p:spPr>
        <p:txBody>
          <a:bodyPr/>
          <a:lstStyle/>
          <a:p>
            <a:r>
              <a:rPr lang="en-AU" sz="4000" dirty="0">
                <a:solidFill>
                  <a:srgbClr val="007796"/>
                </a:solidFill>
              </a:rPr>
              <a:t>Pharmacology of the Respiratory System </a:t>
            </a:r>
          </a:p>
        </p:txBody>
      </p:sp>
      <p:sp>
        <p:nvSpPr>
          <p:cNvPr id="4" name="Text Placeholder 3">
            <a:extLst>
              <a:ext uri="{FF2B5EF4-FFF2-40B4-BE49-F238E27FC236}">
                <a16:creationId xmlns:a16="http://schemas.microsoft.com/office/drawing/2014/main" id="{806B0CD2-D498-4292-BB75-70C9483D7FD4}"/>
              </a:ext>
            </a:extLst>
          </p:cNvPr>
          <p:cNvSpPr>
            <a:spLocks noGrp="1"/>
          </p:cNvSpPr>
          <p:nvPr>
            <p:ph type="body" sz="quarter" idx="18"/>
          </p:nvPr>
        </p:nvSpPr>
        <p:spPr/>
        <p:txBody>
          <a:bodyPr/>
          <a:lstStyle/>
          <a:p>
            <a:r>
              <a:rPr lang="en-AU" dirty="0">
                <a:solidFill>
                  <a:srgbClr val="007796"/>
                </a:solidFill>
                <a:latin typeface="Roboto Black" panose="02000000000000000000" pitchFamily="2" charset="0"/>
                <a:ea typeface="Roboto Black" panose="02000000000000000000" pitchFamily="2" charset="0"/>
              </a:rPr>
              <a:t>Dr Ken Wojcikowski</a:t>
            </a:r>
          </a:p>
        </p:txBody>
      </p:sp>
    </p:spTree>
    <p:extLst>
      <p:ext uri="{BB962C8B-B14F-4D97-AF65-F5344CB8AC3E}">
        <p14:creationId xmlns:p14="http://schemas.microsoft.com/office/powerpoint/2010/main" val="27801760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FABB40-FD3E-4580-8105-9E9B191A3F0A}"/>
              </a:ext>
            </a:extLst>
          </p:cNvPr>
          <p:cNvSpPr>
            <a:spLocks noGrp="1"/>
          </p:cNvSpPr>
          <p:nvPr>
            <p:ph type="body" sz="quarter" idx="17"/>
          </p:nvPr>
        </p:nvSpPr>
        <p:spPr>
          <a:xfrm>
            <a:off x="664027" y="879079"/>
            <a:ext cx="6915124" cy="573088"/>
          </a:xfrm>
        </p:spPr>
        <p:txBody>
          <a:bodyPr/>
          <a:lstStyle/>
          <a:p>
            <a:r>
              <a:rPr lang="en-AU" sz="3600" dirty="0">
                <a:solidFill>
                  <a:srgbClr val="016187"/>
                </a:solidFill>
                <a:latin typeface="Roboto Black" panose="02000000000000000000" pitchFamily="2" charset="0"/>
                <a:ea typeface="Roboto Black" panose="02000000000000000000" pitchFamily="2" charset="0"/>
              </a:rPr>
              <a:t>Objectives for the whole system</a:t>
            </a:r>
            <a:endParaRPr lang="en-AU" sz="3600" dirty="0"/>
          </a:p>
        </p:txBody>
      </p:sp>
      <p:sp>
        <p:nvSpPr>
          <p:cNvPr id="3" name="Text Placeholder 2">
            <a:extLst>
              <a:ext uri="{FF2B5EF4-FFF2-40B4-BE49-F238E27FC236}">
                <a16:creationId xmlns:a16="http://schemas.microsoft.com/office/drawing/2014/main" id="{63FB596E-F86D-4FD3-9B1E-FD3D6007BFC4}"/>
              </a:ext>
            </a:extLst>
          </p:cNvPr>
          <p:cNvSpPr>
            <a:spLocks noGrp="1"/>
          </p:cNvSpPr>
          <p:nvPr>
            <p:ph type="body" sz="quarter" idx="20"/>
          </p:nvPr>
        </p:nvSpPr>
        <p:spPr>
          <a:xfrm>
            <a:off x="664027" y="1900390"/>
            <a:ext cx="7936634" cy="1077415"/>
          </a:xfrm>
        </p:spPr>
        <p:txBody>
          <a:bodyPr/>
          <a:lstStyle/>
          <a:p>
            <a:pPr marL="342900" indent="-342900">
              <a:buFont typeface="Arial" panose="020B0604020202020204" pitchFamily="34" charset="0"/>
              <a:buChar char="•"/>
            </a:pPr>
            <a:r>
              <a:rPr lang="en-AU" sz="2400" b="1" dirty="0">
                <a:solidFill>
                  <a:srgbClr val="016187"/>
                </a:solidFill>
                <a:latin typeface="Roboto Black" panose="02000000000000000000" pitchFamily="2" charset="0"/>
                <a:ea typeface="Roboto Black" panose="02000000000000000000" pitchFamily="2" charset="0"/>
              </a:rPr>
              <a:t>Briefly describe the structure and function of the lungs including the immune system response in the lungs</a:t>
            </a:r>
          </a:p>
          <a:p>
            <a:pPr marL="342900" indent="-342900">
              <a:buFont typeface="Arial" panose="020B0604020202020204" pitchFamily="34" charset="0"/>
              <a:buChar char="•"/>
            </a:pPr>
            <a:r>
              <a:rPr lang="en-AU" sz="2400" b="1" dirty="0">
                <a:solidFill>
                  <a:srgbClr val="016187"/>
                </a:solidFill>
                <a:latin typeface="Roboto Black" panose="02000000000000000000" pitchFamily="2" charset="0"/>
                <a:ea typeface="Roboto Black" panose="02000000000000000000" pitchFamily="2" charset="0"/>
              </a:rPr>
              <a:t>Briefly describe the pathophysiology of important lung disorders, with an emphasis on:</a:t>
            </a:r>
          </a:p>
          <a:p>
            <a:pPr marL="1028700" lvl="1" indent="-342900">
              <a:buFont typeface="Arial" panose="020B0604020202020204" pitchFamily="34" charset="0"/>
              <a:buChar char="•"/>
            </a:pPr>
            <a:r>
              <a:rPr lang="en-AU" b="1" dirty="0">
                <a:solidFill>
                  <a:srgbClr val="016187"/>
                </a:solidFill>
                <a:latin typeface="Roboto Black" panose="02000000000000000000" pitchFamily="2" charset="0"/>
                <a:ea typeface="Roboto Black" panose="02000000000000000000" pitchFamily="2" charset="0"/>
              </a:rPr>
              <a:t>allergic rhinitis and </a:t>
            </a:r>
          </a:p>
          <a:p>
            <a:pPr marL="1028700" lvl="1" indent="-342900">
              <a:buFont typeface="Arial" panose="020B0604020202020204" pitchFamily="34" charset="0"/>
              <a:buChar char="•"/>
            </a:pPr>
            <a:r>
              <a:rPr lang="en-AU" b="1" dirty="0">
                <a:solidFill>
                  <a:srgbClr val="016187"/>
                </a:solidFill>
                <a:latin typeface="Roboto Black" panose="02000000000000000000" pitchFamily="2" charset="0"/>
                <a:ea typeface="Roboto Black" panose="02000000000000000000" pitchFamily="2" charset="0"/>
              </a:rPr>
              <a:t>asthma</a:t>
            </a:r>
            <a:r>
              <a:rPr lang="en-AU" sz="3000" b="1" dirty="0">
                <a:solidFill>
                  <a:srgbClr val="016187"/>
                </a:solidFill>
                <a:latin typeface="Roboto Black" panose="02000000000000000000" pitchFamily="2" charset="0"/>
                <a:ea typeface="Roboto Black" panose="02000000000000000000" pitchFamily="2" charset="0"/>
              </a:rPr>
              <a:t> </a:t>
            </a:r>
          </a:p>
          <a:p>
            <a:pPr marL="342900" indent="-342900">
              <a:buFont typeface="Arial" panose="020B0604020202020204" pitchFamily="34" charset="0"/>
              <a:buChar char="•"/>
            </a:pPr>
            <a:r>
              <a:rPr lang="en-AU" sz="2400" b="1" dirty="0">
                <a:solidFill>
                  <a:srgbClr val="016187"/>
                </a:solidFill>
                <a:latin typeface="Roboto Black" panose="02000000000000000000" pitchFamily="2" charset="0"/>
                <a:ea typeface="Roboto Black" panose="02000000000000000000" pitchFamily="2" charset="0"/>
              </a:rPr>
              <a:t>…and for those two disorders, briefly identify and describe the actions of common pharmacological agents used in their treatment</a:t>
            </a:r>
          </a:p>
          <a:p>
            <a:pPr marL="342900" indent="-342900">
              <a:buFont typeface="Arial" panose="020B0604020202020204" pitchFamily="34" charset="0"/>
              <a:buChar char="•"/>
            </a:pPr>
            <a:r>
              <a:rPr lang="en-AU" sz="2400" dirty="0">
                <a:solidFill>
                  <a:srgbClr val="016187"/>
                </a:solidFill>
                <a:latin typeface="Roboto Black" panose="02000000000000000000" pitchFamily="2" charset="0"/>
                <a:ea typeface="Roboto Black" panose="02000000000000000000" pitchFamily="2" charset="0"/>
              </a:rPr>
              <a:t>Compare the difference between mucolytic agents and expectorants, citing examples of each. </a:t>
            </a:r>
          </a:p>
          <a:p>
            <a:pPr marL="342900" indent="-342900">
              <a:buFont typeface="Arial" panose="020B0604020202020204" pitchFamily="34" charset="0"/>
              <a:buChar char="•"/>
            </a:pPr>
            <a:endParaRPr lang="en-AU" sz="2400" b="1" dirty="0">
              <a:solidFill>
                <a:srgbClr val="016187"/>
              </a:solidFill>
              <a:latin typeface="Roboto Black" panose="02000000000000000000" pitchFamily="2" charset="0"/>
              <a:ea typeface="Roboto Black" panose="02000000000000000000" pitchFamily="2" charset="0"/>
            </a:endParaRPr>
          </a:p>
          <a:p>
            <a:pPr marL="342900" indent="-342900">
              <a:buFont typeface="Arial" panose="020B0604020202020204" pitchFamily="34" charset="0"/>
              <a:buChar char="•"/>
            </a:pPr>
            <a:endParaRPr lang="en-AU" b="1" dirty="0">
              <a:solidFill>
                <a:srgbClr val="016187"/>
              </a:solidFill>
              <a:latin typeface="Roboto Black" panose="02000000000000000000" pitchFamily="2" charset="0"/>
              <a:ea typeface="Roboto Black" panose="02000000000000000000" pitchFamily="2" charset="0"/>
            </a:endParaRPr>
          </a:p>
          <a:p>
            <a:endParaRPr lang="en-AU" b="1" dirty="0">
              <a:solidFill>
                <a:srgbClr val="016187"/>
              </a:solidFill>
              <a:latin typeface="Roboto Black" panose="02000000000000000000" pitchFamily="2" charset="0"/>
              <a:ea typeface="Roboto Black" panose="02000000000000000000" pitchFamily="2" charset="0"/>
            </a:endParaRPr>
          </a:p>
          <a:p>
            <a:endParaRPr lang="en-AU" b="1" dirty="0">
              <a:solidFill>
                <a:srgbClr val="016187"/>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40857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16279"/>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2273431" y="2402456"/>
            <a:ext cx="7645138"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Respiratory System:</a:t>
            </a:r>
          </a:p>
          <a:p>
            <a:pPr algn="ctr"/>
            <a:r>
              <a:rPr lang="en-AU" sz="3200" dirty="0">
                <a:solidFill>
                  <a:srgbClr val="007796"/>
                </a:solidFill>
                <a:latin typeface="Roboto Black" panose="02000000000000000000" pitchFamily="2" charset="0"/>
                <a:ea typeface="Roboto Black" panose="02000000000000000000" pitchFamily="2" charset="0"/>
              </a:rPr>
              <a:t>Lesson 1</a:t>
            </a:r>
          </a:p>
          <a:p>
            <a:pPr algn="ctr"/>
            <a:r>
              <a:rPr lang="en-AU" sz="3200" dirty="0">
                <a:solidFill>
                  <a:srgbClr val="007796"/>
                </a:solidFill>
                <a:latin typeface="Roboto Black" panose="02000000000000000000" pitchFamily="2" charset="0"/>
                <a:ea typeface="Roboto Black" panose="02000000000000000000" pitchFamily="2" charset="0"/>
              </a:rPr>
              <a:t>Review of the Respiratory System</a:t>
            </a:r>
          </a:p>
          <a:p>
            <a:pPr algn="ctr"/>
            <a:endParaRPr lang="en-AU" sz="3200" dirty="0">
              <a:solidFill>
                <a:srgbClr val="00779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1002673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355862" y="2067740"/>
            <a:ext cx="3621517" cy="2032920"/>
          </a:xfrm>
        </p:spPr>
        <p:txBody>
          <a:bodyPr>
            <a:normAutofit/>
          </a:bodyPr>
          <a:lstStyle/>
          <a:p>
            <a:pPr algn="ctr">
              <a:defRPr/>
            </a:pPr>
            <a:r>
              <a:rPr lang="en-AU" sz="3200" dirty="0">
                <a:solidFill>
                  <a:srgbClr val="007796"/>
                </a:solidFill>
                <a:latin typeface="Roboto Black" panose="02000000000000000000" pitchFamily="2" charset="0"/>
                <a:ea typeface="Roboto Black" panose="02000000000000000000" pitchFamily="2" charset="0"/>
              </a:rPr>
              <a:t>Structure of the pulmonary system</a:t>
            </a:r>
            <a:endParaRPr lang="en-US" sz="3200" dirty="0">
              <a:solidFill>
                <a:srgbClr val="007796"/>
              </a:solidFill>
              <a:latin typeface="Roboto Black" panose="02000000000000000000" pitchFamily="2" charset="0"/>
              <a:ea typeface="Roboto Black" panose="02000000000000000000" pitchFamily="2" charset="0"/>
            </a:endParaRPr>
          </a:p>
        </p:txBody>
      </p:sp>
      <p:sp>
        <p:nvSpPr>
          <p:cNvPr id="4" name="AutoShape 8" descr="data:image/jpeg;base64,/9j/4AAQSkZJRgABAQAAAQABAAD/2wCEAAkGBhQSEBQUExQWFRUWFhcYGBgYGBgXGBcXGhcYFxcaGhoXHSYfFxojGRgXHy8gIycpLCwsFx4xNTAqNSYrLCkBCQoKDgwOGg8PGikgHCQpLCwqKSwpLCwpKSwpLCksKSkpLCkpKSwpLCksKSkpKSwsLCwsLCkpLCwpKSwpLCksKf/AABEIAPIA0QMBIgACEQEDEQH/xAAbAAABBQEBAAAAAAAAAAAAAAAAAgMEBQYBB//EAD4QAAEDAgMFBwMCBQMDBQEAAAEAAhEDIQQSMQVBUWFxBiKBkaGx8BPB0TLhBxQjQvEzUmJygrJDY5Ki0iT/xAAZAQEAAwEBAAAAAAAAAAAAAAAAAQIDBAX/xAAhEQEBAAIDAQACAwEAAAAAAAAAAQIREiExAyJBEzJRYf/aAAwDAQACEQMRAD8A9xQhCAQhCAQhCAQiUIBC5mRKDqEKBtvagw+HqVSJ+m2YmJ4CdyBvbHaGjhh/UcMx0YILz0b91ksb/E1zP/SYzgHOcXHwaBCwlHatSrXdUL2tc90ucd0nQe3QKVhMGa+LdMFjRJIBObQDfckkCJWdyaTFoT/EXFVTFNjGDjlJ/wDIqywXb6rTI/mGMc3e6nZw5lpMHwhSdndk6YEvEm0NJMDyiT6ddU3ieyjfqWMMO69jyBVef7W4bbDBY9lVjXscHNcJHTpqFJXmO0dluwv9TDuLIdNjGU77aFptIK2vZftC3F0Q8QHiA9v+13LkdR+yvjnyUywuK5QuSiVdR1CEIBCEIBCEIBCEIBCEzVaJnf8APJAqpUjdZcp1ZJ+bvnkmy4xrEmw+bkprL3PJA5nvC45+4WKaJO/Ua+fzzXXO+dCgH8/zHp7pupVy3Ity18AlVqjRLju8eipq2ILuQny8YlRaJb8X3pHLx3e/upeFxOYTv6a81Ug8Zmd/24FT8BXabTcmfRRPUJgqcd2/eqD+IFMnZ2IGpyj0e0rQkKv29SzYaqHHuljwbA7joOKmrR4ZgYB0mNeHlvXpmwcO2xaA1upP9zjeCek+pWTwvZZ1Ml366TySwjcZ/S4G4IW1wjDTaIEmwAB/Ngsc7udNsZZe16XCI5KLWfNhwnwmAqDa/a6phzl+iSbauHs0n2Sava5rWfWDHEO7rQBqRPsqVpjKd2xiQWEHiY8Imekpv+F2G7td8a1AwEm0NBNhx7yqa21W1WFwpuAP9xgwSRY8LrU/w9LRgw0C4e8u6udP/jlT5f20fafjtqnRpwTcX/zbnfwXGE6+vU/gLtNv29r9V1OQtz5b78jqul9gfNNNcCDwPulM9/mnzRB17r9UplS3n7wmMsRPMDp/j3S20jbUDkSgdbUBMBLSKeiWgEIQgEjKNfFLTDxCBeUakpqpVnTyMD91xrjEnj4SEsVDpG43QIDTl1kT4jpK7YdDPj+/5Smv7u/ikPr5fLwn90ETaWKAaBbwIVYao8lzF1875nlzHEclym2Ty9SqK2njVG+w5z8K5SqAOGmo008lz6hjw/b3SWMk8/bgg0Dult/zfZNbTZNFwEfpKj4THgN7xM8Ym26VIkEEbjNuMiPG0q3q0ZOsXAP0De7EbhpdKwrRVEO48Y0Stsf0GGWkhzgwOMTDjv3j7lQ9m1oceB19R86Lks1lp3S8ps8/sxRbLoABIcQBBJmAOlz6KNtLDsZQENEMdmjloella1yXtLmkSyC0E2c6Lj2VO/bLvpupVKOV4mDIc2+txr0U26hjN1C2tsym0Z6bchNyBG/33rSdhmAUHkiMz/Zrd46rLYyoar6bBdzogD511XoHZ/AGlRawjvam41Nz1iw4WT5T8tp+9kw0sSSd2m790ku8T4H2XXOIBmPt7rhdOnvb1K63A6CDflztyt8uuF321ty+FBmJAHghpAvrzQDaJJmb8OR9l2Ljkfx+UNdDeZ8zZcDpi2nzcNED1FtrpxIY48IS0AhCEAkfTvKWmxXCBJM8AN6RU08N9t3HelF5Lo0Hv+En6fCPsEHC6R13fuouNBawwDpofnMqW11r9PnFRtqU4pO6W8+G5BnnCRKcGlxfcdQuhsjj9+CUD3d88t/hoq6ZlAEXNvUJDtoNaRfykk+A+XS9nUvquMiw4GJ+xVhUwbWt0HIxHTpdZbv6dGOH+qyhjydGHcLwFMr7QqAd1rQAN8ut6JTmjlKaoYmSWmxGiruteGLL7SxVV9Wn9R/cLzAjK2QNYGuuplKpPgwYBb42+4Vl2jw7RkMQJGm4yZFlC21hZpseJDgYJN+gPKVnN73XR11pMwzXhpPdHCZ9wFWbQq1Ig02BuYknMT03W6G5Vhsra1J7CypGbgf31UbaT8PTbMNkAm1ri4058Va3cMZ33B2QwIfijUI/022Fh3nW9Bm8wt3ki5yiT19SvLtlVm1GkuIzlxMzBGkQrCltfEMcA2s4iZh0PHS948U+f0mM1VPt8rldyvQXSN0+g8tEuo3mb7v2Cy2E7UVrB9Jp5tMcv0mb+KtMJ2hY5wa4FhNhm/SSf+QJvPFdE+mNcl+eU9iyndEftcLjX+nufslG89R5yft9l2g2LEb1dQqo07z7fhIePPTUnyXM5JHv1v8AslFl+vP7oHW1Alpul4eCcQCEIQCZqkTz46ec2TyQaY1gIGADYxaRr1+eaKgEWj08QlC9+dvt4JLxyF56m/ogA4+B/wAcExjnf03AnhHmE46mI3/ZRdov7gETcdfnRRaIFKmLg/L6piuyQQ3XQa8FMYyxkHrp8/dNYIS9x4WsCR86KMrqJwx3XNlUyyxsLD7exU+vigR1HnFlDx9RrQTbwifngsu/bd76aDksN66dPHfbSV8WGix6fi6ba/OJjLUaJH/IC6zTcW6u8MbpIi0RdaLbLDTLHCzm6c/yo/6vrvSPjKhr1BTLSIMukaRp+PJIxFHuPpO/2TfcDpCdw/aBpJziHEb/ACUoYVrnOqEzLY9NyTtPjEUGsxA73dqM7pI/ujfHFRa2zRmDf1OOl5jmeCmba2PUpvzsbm3Oy3B4EjcU5gMIW63c8gGL5W6lZa7dUs0gYBoFQtiwOtgJCt2WBefATqUj+VAlzjlB1A3wnMM0VHBxHdboICj1GUk7XWycK57QXddRvVhi8NLItERAvu4myhYHGXgAeIUjG40NYb7tLK2OpHNlLtM7M4kupua65puyzraAWzJ4Wnkrh1PeCbfLLOdin5vrki2dsb/7T+QtM8GBefv14Lrwu8Y5PpNZWEUQNxM+/mEppMm/TRcAn5v4pLgOM/Le59VdQ+xw6HnqnEwCRGpHnb7FPoBCEIBBCEIOObITD2GLrrnyXch6oB5bwPHigi7QcWU5G8ge+gVRVrEgDW++/wDhW21Hj6Znc6OUqpDZAFolQrfT9TEZKelyO7a6bw9QU2+Hr904z+pf/tb4a+oUE4V7nQBAI+XWWV3XThNRB2kXVnR6qE/s+DoSF3tBjDh2nLct1PGdE92UqF7c73TaAN3VZton7I2KKJkieau3BrhDxI8/P8qNnm3DROMngkLNo+K2GwwYBHH8qDVwb6c5bj2V6Hx0Ovjv5KM+jHnp9uqmzfiJbPVdh6BnvamLeKRtBsNIEDp8up1SgcxJNt3p+VA2iALT91W3S+PrOfypfUgkkb9fgU+p3bDhw4KTRpBog6k6qK91zw3LKyyNtzKmsrjdoXK9Ukd434Jp20n5stNpc4wOQneT80SsUCC3NE8k10b700fYemctY2vUA8mxqtYTA4Kl7K4Mtw076hLvDQegnxV6Qu359Yx530u86ZDdPms/gLjqcGY/c/5T5auPbI8vdXZm6YOblHhNh+U8uALqAQhCAXHOhdTNbUcLkoEvpGSRv5rgnQylsdIkQAuNiZJ9ICCJtZsUzpBt5rPuxwaMt83CxPupfbnbP0aIa39bzbkBqetwB15LO9nsKYzOBJcbceZvr+yzyy10vjhvtqBYAAcNePQLlfEQDrbW/wDhPsZYFZ7be0xTBG7U9Bu6rGumRku1WID35RxzHjwE+p8lZ9kK8NykRF/ArNteatQuOpM9OS1+DwmT6Zj+y8Hofyqbba1Ggw1bvDxCsHO7qqadYcvOU87GAb9VbbOxKr1LHiouLqkNJ9FHrVY1PHT5dV+Lx5ixsVFyTMUuvtBzgQNfgnxUCjTc4ydR6ruEqhxubj05Kc+7Ta1uvoq72mTiYdpdVGPxEAkAwAT4BScbiw0ZZT+wsB9bD4p/+6m+mzrllx8y0eaScrpPLjNq7s3XzBxIvMz85QEraT5fG4aKP2ZYfpEj+5x9AFKw9AuxVNp3vB8AZ9gnv4pn7yemYJoFNoFgGgeQhPqPgzb5v+FSF3PNCEIQCEIQCEIQCbrU5CcQghiW7vNPNZImSfbySX1CSRu+C6bokkHh83/sgxfajCOrY1rP7RTbHIElx+dFdYbC5G3G4ack7Xpt/mCbZoAPKB/hTTT7uk/Oa5r3k6p1jFPjNrfTBA1PkfwVgNtbRNZ8D9IMuI3n7q17UYl4e9hBabdIPDlYqlptBaFntvMZ6e2Rs4/UaY7votdi8G5oEC0W+FM7JwYfTAG4brSVoKNVr6Qa/WPVTO0ZZMlT2k8OgtiDE+yeO0dxB3qZjdlwZDpUCthTNoVNWVpuWFHEkgmfm5QMdUgGZsrKhhQNb/IKTisM2o4ACxN+gS9k6RdlUc0HcrKvjcjSD8ClVg2nTAaItrAVBjGGblL10jXLtEqB1R4a273H4TwC9Dw+BGHwTmCDkpuJOkwCXHzus12SwgdVBiwOY+GnrC0famqf5KvFu67ym/nMLf5TUtcv2y3lIw/ZoxQaTz9/2Vp2aGfFucf7WmPGB7Eqm2VhSaYGY8gOKssA2ph6zHuaYJg/9Jt+/gscf7bdGf8AWx6FhTc3mw+6kqBg3d7qCp67nnBCEIBCEIBCEIBR8QyS3gpCadRk+IPOyBp+FA09SnqUZRAhLITGKdAAG8hRRkq+Ky4yu11u8COYIBV9hcTLY3rE9tcXlxroMOys8soUzZO3Q4ATfquO/jlXZj+WMXW3dltxFItdGYfpdvB/B3heeUMMWPLXCMroI4GYXplOvICqNr7JDn/UaJOjhxG49Ql7XwuuqZwNUUgCTDeO5XgwbX348FX7NoDLuc02j8hO08Fk/wBNxaP9p0HTkpx0ZdlV9lncVGfgMuqfq4l8ahV9UuP6n+AUWyLY7RcXWizRwUfBE5zvPzgpj2i0fLJOFaA1x5+ij2rW6mk3ENDgdLfCs3jagc8QOCs8fjco7vAHxhUbHgS42An91GXZj1Fz2e2wynimsJ1GU/8AU6C0eYjxWm7XuJwVWNSGttzqMH3Xj7K2aoXneSfP8L0HZ3aQYjDVKVS7wwEOH92VwcMw1BtroV0Y3U05M5beUSdi4RrBcCRv/HBL2pULmuHL/CbwtcADmAfO/sndqMLWHTTVY3qNvbtoNnPkUzxaPZWqqtlmW0o0yD/xVquyeOK+hCEKUBCEIBCEIBCEIBQcZiBIvoppVHXPe8VXI2yX8RtnNMYlpIdZjhuiLHkbCyzm06bqTs0FptINtRII4WWv7du//ma3/dUaPcrznauOc+oZJImw6WWFm3R87qNfsntQ7utfeYgrT0trNkA7/JeStx0ACNPZajsptAVqgY4zAN98ahU42NplK2/8sCXOY4jNqNWk8RvCq8Rs3FEnJUa//iTlMcQTY+ivtm0GxE5o8PRScRhGmC3uniE477Oerph8Vsyuy7qbxzEOH/1lNUsYG6681pto9pBhXAVpAdo6JB4iRoRwKl0trYeqJDmOkaWn1Ufx7W/lvljHVtriNR58ikO2mC0AHThf2Wjxmz6WcEsb+oHQDnqF3FPpsafZV1pPPbJMJfucfCAOpK02yeyNLEYZ31HEl5juGMkG0cToYO7cs5ittXJyy1pjKNXncOQ3k8lqOwTqjjVf3RTcGiG3BeCZgzDoBgkcuC1+WPfbL659ajN7R/hfiKcmi5tUbhOR3r3T5rN47Y+KpHv0areeUx/8myPVe8hySB3/APt+5W9wjn52PL+y+JNSm0ON2+drCfCFoNrvlmuseFoUrbWzycXRe0WOYPPmRPW4ULaOFjujdN+q5s5qurCyyVadlNpNq02BurBkcOBAMdZF1pF5v/DrO3G4ik6wawOjnmAHo4r0hdWHjk+k1lQhCFZQIQhAIQhAIQhBwqkr/rd1KuyqKqbuPMquSGA7XbRe7EQTLWXa3gdJ5kkLGVXd4kq97TV5xNWNA8jyN/WVQVni/FYzuunyG3Su4fGOpva9hhzTrKkYfCDLLrk6N+5/CRUwGSHHQ7vmi1Z/t6VsLbwcxtRpi9xw4ieq1VDGb9WnzBXj/ZzaYZUym7H2I+4XpOxy4RN2mx58D5LDuXTqurNrXaGzaeIpOp1Bma7TkdxB3FeTY3ZbaFZ9Mk5mki4IDhuIcNLcvFeu1YY28ws52j2IzEtztgvaDcakcOcK/jPWzGx67H4drnVO80d5sgERoZPLeqfam3GkkUxnaNSSRyA5knluVXW2QRApg52g5hm1vaB0sUYHZlW/9F07iSAPGdfBTJP8Utv+qvaOKzut3ROkk9Tfy8F6H2A2vQoYenTdWb9So5zst7SYAcdAYA81mqWyKosRSHmfeFBdsesyo0NBIc4AGZi/H7qZ0re3tArA3kj5vTwN5ncPuq6m02Hw/IRjKhY0N3n2kD54rS3UU1tymc7i7cBb7k/hVe0q4n5xU/8Am8lo1iPZZ/bhLXmNGiesBc2Xbowiz7K4SKuJrGCXOawHg1o//RjwWmY++8ql2HR+lh6bSO9GZ/NzpJ9T6KzZX5fv4roxmo58rupRKaOI+EwmyRu0i8EfcpTGiNT5eukqyp1tSePklptrb8oTiAQhCAQShJeyRBQNOrCdRA6KhxFcNa50ggS4+Fz1V3Wwbcp10O/ksr2ka1mEqETcBvmR9pVM/CevLcbWlxM3JJPUlQ8GA55nd7qfVwwMu4H57KPRwwpznsTu9Vng2z8iZRbmdu5aeqmYsMIyzJIuRp7XVOcQNw81NwtIuEuMDhv/AGV1Z2gVMG5j8zAYBBB10WxwXaw1KYbo5s93rwjgVSfRbuR/JNmbzxBgqMseTTHLjW62dtlxLW1HZmES0nUHe02Sa2IOFqTmzUnGx1LSdx+aLN0a0NImQdJ3HiIS9obWczDwWBwnvEOJjgYIkD7wsuOTbljV7tfDMeG16QaRMkt3cdNx3qoxGMflidTFtw3KP2f22ymx2Y9w6zx0McZG5QKu0873MwzCASe8dQJ3T+la49esctexMFMg953mRKfZWBsDpzUSngQ1pkl7zvJskswUMyj9Tj5BTpDT7M7VVaQDao+ozc4HvAeXe8fNXX8+Kjg8zlFxO8Rb1JWPZTbTaBGbICY1BOuiuzbCsdVkPqEd0f2tOg8G+pVcrdL44rGhigQ57rAuIYJFwLTHX2VZiBnqAHe9jXX0BdJF9ZEDxU+k6kf6l20qdhO87vL3hNfRGV7xLjVc0MA1zSYHsZ68FmtrUaVsW09vZcc8C0gbhcSTG6YPFPGg1rczrQJN1VUsJQqYn63ezUmvYQTZv6HEgbjlfcrqcawiRu+6VTqEaG3MhUWH7QCoHlrWhodYuc4QwktY4iNS6O6L+yvdn4ZrqbTn+pInMIAM8ANBujzQO4dkg6fjkpTQk06QboloBCEIBcIXUIIrS4lwnTkFku2dEswzQSf9Vu4aAGfda2i+Hu68J3rMdvsQAymB/wA3acGjiqZ+Jx9ZXaX0TTqBjMpkuBjVwki3P7rDvrF7iSZJKm05ee+93WSfcqA6mWvcPhWePTbKbP0sO/UBSMxbdxUNrnEwJPIJOSdVozixo4tvEnopmGxUm4cBzCq8JiQyxHipzMUTpdFlrktZ1inPoHSZBsRAghRaeHeQCQRforanSMXB8ihpm9pYECqBGVpaCI01vHDopGGBbDW2bxtdXWPwYfSM6tGYfcfOCzFfaEgBpmOAUaRtocPSzXzQOO9PVC1g7pudTqqHC42qRanPjA9U9RFao4gubTHKCecJtaLXCg/UDpsCLmIUg7ZNSuJJcGmLC0bxMaqtOyf9zs3Mu/CThMBa0RO5Vs21xz4xc7UxNSrAaBTpN0Gs+AsPNaPss2mQ3vvL2tsHZYA35QB+6ylNhawwpuExpblIkOG8AqZjJ2plnbNNb2gxZZTi7pLe6GyXDO0RawmYk9FU4vCVhVqVaUsFQS7MBlBbUbmzG4H9MQf+iFKwzP5yi/vlry9k8g1zXWA0kN13FWWKwALSy/05L3g3zEmzebZueNhxWrCxVbI2IKtNuVzxQywQ5oBrmf1u35SA0DQ2JGq0eFOXuQAALQIEdF3D1AGi4812m2X5t27miEhCEIBCEIBCFx07kEfD/rf1+5WV/iKJYzk2r7NWrZQIJMi/L91l/wCJDg3CZnEZpytt/uF9+4CfBVz8Wx9eRVK5BEK0OAbVp5m3jhrz8VT5NN61A7OvouAbLHPElrxaCJ3LGt9s9TpfTOcOaY3Ew69rA6+Eq3pCnXFxJ9fMKDtin9N2R0EgC453UbZWL+nU1sbdN4Pmpl2rcdeL87KpNbLg0Dnr6qJh8eS/6VBobf8AVAmN5Vfjcc+oZKtNkUBSpZv7n3J5bgtN6UnawxmM+mAJzQbk71w7TLt9iqPaFUuOuik0qvcZ83qJV7EuvtQsi6q9rYVoioyGh2onR2+OW+Ey+pmLyeJhJcc1NzdYGYdR+0qFUZue8SRyTtJp0kqJQxDmmQp1PaIP6m+IROqssIAW6EkcypGB5Wuu4DCFxDqThfjorWhgHN/U9vg38lWQbY90FWWFHdE8FT7R201vcpwXbzub14nkoeH2g67yZaBv3lEtpsbaTaddozAZzlIPPT1WxrnuFeHY3GudlcbdLL1ns1tM4nDNJPeADXmNXDf4qcarVtSpgsE8F3C1IOU7tEulTIETK7UoZr6Eb1ZSnkJNOd8eCUiAhCEAhCEHCvLv4nbQ+rXbSB7tIXH/ADdBPkI8yvUlm8V2Bw1R7nu+oXPJJOc6m5VcpbOlsbJe3mPZPZX1sW2R3Wd89G/kwPFei9o6w/l8zrnO0A7xIMxwVlsjsjQwwd9MO78SS6TAMgDgpOP2BSrU8j82XMHWMGQCNfFV49Fy3XiW33TWf4ewSdn9lMVVaH06D3Ndo4CxvGp5r1av/DTCPcXEVJP/ALhVhs6vSo0hSptcG03CmJI3zcnXcdb3HFRjhYvc/wDHkNbs3Xp1WsrUzTkZjJB7oMGC0kTu8VKxeJkwNF6RtTD0K7gXh5zNbEOAABMRbSCbqsqdlMHP6K2/+/hMjqC0jwVrFZlp5q4yTyUktllMDfPuvQz2KwQpg5K3edlIDzmBkjf0T2C7HYN4DgKgygQM8mI4C/8AkHenGrc48oqUiwuB1lLwAlwXqGO7J4IVCXU6pJDf7iGmQG+BEieqML2TwlCoKgpPlrpE1JEh4YJEaSQfBONRyiow/wDCIEAuxBEiYFPTl+tZ7aXZimyoW06hc1sgvcAATvytE2HEm69XqbcY3Vj9ToOAJGvEiBzI5xQ1Ng4QZnEVjJdq88zadxF55jilxObDUcZ9MBtMWbqTqePRR9qbZcGwDd3oF6E3srg792oCCB/qWuJmTYD9uKh1uxWBdUALKxJIAipb9QbB4ESSRqADylqo5R5rgaZcfUlSMRXzEMboLL1dn8NMGGkAVIP/ADK5S/hlg2ukCpPN5U6OUeYY2nDmN4Ae69X7FbJdQwwDxD3nMRwsAAecD1TuD7E4alWFZocXjTM6QLRMcYV59MJJ+zk4lNRlXQFZXbqEIRAQhCAQhCAQhCAQhCASCUIQdBXChCAXQhCAK5KEICUAoQgJRKEIFoQhAIQhAIQhAIQhAIQhB//Z"/>
          <p:cNvSpPr>
            <a:spLocks noChangeAspect="1" noChangeArrowheads="1"/>
          </p:cNvSpPr>
          <p:nvPr/>
        </p:nvSpPr>
        <p:spPr bwMode="auto">
          <a:xfrm>
            <a:off x="1911351" y="-1485900"/>
            <a:ext cx="3228975" cy="37433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AU"/>
          </a:p>
        </p:txBody>
      </p:sp>
      <p:pic>
        <p:nvPicPr>
          <p:cNvPr id="2" name="Picture 1">
            <a:extLst>
              <a:ext uri="{FF2B5EF4-FFF2-40B4-BE49-F238E27FC236}">
                <a16:creationId xmlns:a16="http://schemas.microsoft.com/office/drawing/2014/main" id="{102875FA-FFF6-47DD-B33B-B80C58A45A47}"/>
              </a:ext>
            </a:extLst>
          </p:cNvPr>
          <p:cNvPicPr>
            <a:picLocks noChangeAspect="1"/>
          </p:cNvPicPr>
          <p:nvPr/>
        </p:nvPicPr>
        <p:blipFill>
          <a:blip r:embed="rId3"/>
          <a:stretch>
            <a:fillRect/>
          </a:stretch>
        </p:blipFill>
        <p:spPr>
          <a:xfrm>
            <a:off x="4175342" y="0"/>
            <a:ext cx="8016658" cy="6858000"/>
          </a:xfrm>
          <a:prstGeom prst="rect">
            <a:avLst/>
          </a:prstGeom>
        </p:spPr>
      </p:pic>
    </p:spTree>
    <p:extLst>
      <p:ext uri="{BB962C8B-B14F-4D97-AF65-F5344CB8AC3E}">
        <p14:creationId xmlns:p14="http://schemas.microsoft.com/office/powerpoint/2010/main" val="3732294741"/>
      </p:ext>
    </p:extLst>
  </p:cSld>
  <p:clrMapOvr>
    <a:masterClrMapping/>
  </p:clrMapOvr>
  <p:transition advTm="28605"/>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AU" b="1" dirty="0">
                <a:solidFill>
                  <a:srgbClr val="016187"/>
                </a:solidFill>
                <a:latin typeface="Roboto Black" panose="02000000000000000000" pitchFamily="2" charset="0"/>
                <a:ea typeface="Roboto Black" panose="02000000000000000000" pitchFamily="2" charset="0"/>
              </a:rPr>
              <a:t>Actual size of lungs</a:t>
            </a:r>
          </a:p>
        </p:txBody>
      </p:sp>
      <p:sp>
        <p:nvSpPr>
          <p:cNvPr id="3" name="Content Placeholder 2"/>
          <p:cNvSpPr>
            <a:spLocks noGrp="1"/>
          </p:cNvSpPr>
          <p:nvPr>
            <p:ph sz="quarter" idx="1"/>
          </p:nvPr>
        </p:nvSpPr>
        <p:spPr/>
        <p:txBody>
          <a:bodyPr/>
          <a:lstStyle/>
          <a:p>
            <a:endParaRPr lang="en-AU" dirty="0"/>
          </a:p>
          <a:p>
            <a:endParaRPr lang="en-AU" dirty="0"/>
          </a:p>
        </p:txBody>
      </p:sp>
      <p:pic>
        <p:nvPicPr>
          <p:cNvPr id="1028" name="Picture 4" descr="File:Normal posteroanterior (PA) chest radiograph (X-ray).jpg">
            <a:extLst>
              <a:ext uri="{FF2B5EF4-FFF2-40B4-BE49-F238E27FC236}">
                <a16:creationId xmlns:a16="http://schemas.microsoft.com/office/drawing/2014/main" id="{ACD80D7E-FAE2-4555-83D4-5E1A498963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450" y="1152525"/>
            <a:ext cx="4991100" cy="5705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424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838200" y="365125"/>
            <a:ext cx="10515600" cy="1325563"/>
          </a:xfrm>
        </p:spPr>
        <p:txBody>
          <a:bodyPr>
            <a:normAutofit/>
          </a:bodyPr>
          <a:lstStyle/>
          <a:p>
            <a:pPr algn="ctr">
              <a:defRPr/>
            </a:pPr>
            <a:r>
              <a:rPr lang="en-US" sz="4000" b="1" dirty="0">
                <a:solidFill>
                  <a:srgbClr val="007796"/>
                </a:solidFill>
                <a:latin typeface="Roboto Black" panose="02000000000000000000" pitchFamily="2" charset="0"/>
                <a:ea typeface="Roboto Black" panose="02000000000000000000" pitchFamily="2" charset="0"/>
              </a:rPr>
              <a:t>Structure of the Respiratory System</a:t>
            </a:r>
          </a:p>
        </p:txBody>
      </p:sp>
      <p:sp>
        <p:nvSpPr>
          <p:cNvPr id="11267" name="Rectangle 3"/>
          <p:cNvSpPr>
            <a:spLocks noGrp="1" noChangeArrowheads="1"/>
          </p:cNvSpPr>
          <p:nvPr>
            <p:ph sz="quarter" idx="1"/>
          </p:nvPr>
        </p:nvSpPr>
        <p:spPr>
          <a:xfrm>
            <a:off x="623877" y="1983477"/>
            <a:ext cx="7467600" cy="4873625"/>
          </a:xfrm>
        </p:spPr>
        <p:txBody>
          <a:bodyPr/>
          <a:lstStyle/>
          <a:p>
            <a:pPr eaLnBrk="1" hangingPunct="1"/>
            <a:r>
              <a:rPr lang="en-US" dirty="0">
                <a:solidFill>
                  <a:srgbClr val="007796"/>
                </a:solidFill>
                <a:latin typeface="Roboto Black" panose="02000000000000000000" pitchFamily="2" charset="0"/>
                <a:ea typeface="Roboto Black" panose="02000000000000000000" pitchFamily="2" charset="0"/>
                <a:cs typeface="Times New Roman" pitchFamily="18" charset="0"/>
              </a:rPr>
              <a:t>Consists of the air passages and the lungs</a:t>
            </a:r>
          </a:p>
          <a:p>
            <a:pPr eaLnBrk="1" hangingPunct="1"/>
            <a:r>
              <a:rPr lang="en-US" dirty="0">
                <a:solidFill>
                  <a:srgbClr val="007796"/>
                </a:solidFill>
                <a:latin typeface="Roboto Black" panose="02000000000000000000" pitchFamily="2" charset="0"/>
                <a:ea typeface="Roboto Black" panose="02000000000000000000" pitchFamily="2" charset="0"/>
                <a:cs typeface="Times New Roman" pitchFamily="18" charset="0"/>
              </a:rPr>
              <a:t>Divided into two parts by function: </a:t>
            </a:r>
          </a:p>
          <a:p>
            <a:pPr lvl="1" eaLnBrk="1" hangingPunct="1"/>
            <a:r>
              <a:rPr lang="en-US" b="1" dirty="0">
                <a:solidFill>
                  <a:srgbClr val="007796"/>
                </a:solidFill>
                <a:latin typeface="Roboto Black" panose="02000000000000000000" pitchFamily="2" charset="0"/>
                <a:ea typeface="Roboto Black" panose="02000000000000000000" pitchFamily="2" charset="0"/>
                <a:cs typeface="Times New Roman" pitchFamily="18" charset="0"/>
              </a:rPr>
              <a:t>Conducting airways,</a:t>
            </a:r>
            <a:r>
              <a:rPr lang="en-US" dirty="0">
                <a:solidFill>
                  <a:srgbClr val="007796"/>
                </a:solidFill>
                <a:latin typeface="Roboto Black" panose="02000000000000000000" pitchFamily="2" charset="0"/>
                <a:ea typeface="Roboto Black" panose="02000000000000000000" pitchFamily="2" charset="0"/>
                <a:cs typeface="Times New Roman" pitchFamily="18" charset="0"/>
              </a:rPr>
              <a:t> through which air moves as it passes between the atmosphere and the lungs</a:t>
            </a:r>
          </a:p>
          <a:p>
            <a:pPr lvl="1" eaLnBrk="1" hangingPunct="1"/>
            <a:r>
              <a:rPr lang="en-US" b="1" dirty="0">
                <a:solidFill>
                  <a:srgbClr val="007796"/>
                </a:solidFill>
                <a:latin typeface="Roboto Black" panose="02000000000000000000" pitchFamily="2" charset="0"/>
                <a:ea typeface="Roboto Black" panose="02000000000000000000" pitchFamily="2" charset="0"/>
                <a:cs typeface="Times New Roman" pitchFamily="18" charset="0"/>
              </a:rPr>
              <a:t>Respiratory tissues of the lungs,</a:t>
            </a:r>
            <a:r>
              <a:rPr lang="en-US" dirty="0">
                <a:solidFill>
                  <a:srgbClr val="007796"/>
                </a:solidFill>
                <a:latin typeface="Roboto Black" panose="02000000000000000000" pitchFamily="2" charset="0"/>
                <a:ea typeface="Roboto Black" panose="02000000000000000000" pitchFamily="2" charset="0"/>
                <a:cs typeface="Times New Roman" pitchFamily="18" charset="0"/>
              </a:rPr>
              <a:t> where gas exchange takes place</a:t>
            </a:r>
          </a:p>
          <a:p>
            <a:pPr eaLnBrk="1" hangingPunct="1"/>
            <a:endParaRPr lang="en-US" dirty="0"/>
          </a:p>
        </p:txBody>
      </p:sp>
      <p:pic>
        <p:nvPicPr>
          <p:cNvPr id="11269"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8994" y="3219456"/>
            <a:ext cx="4434225" cy="3596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52290596"/>
      </p:ext>
    </p:extLst>
  </p:cSld>
  <p:clrMapOvr>
    <a:masterClrMapping/>
  </p:clrMapOvr>
  <p:transition advTm="8086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10344150" y="0"/>
            <a:ext cx="597967" cy="6872808"/>
          </a:xfrm>
          <a:solidFill>
            <a:schemeClr val="bg1"/>
          </a:solidFill>
        </p:spPr>
        <p:txBody>
          <a:bodyPr/>
          <a:lstStyle/>
          <a:p>
            <a:pPr>
              <a:defRPr/>
            </a:pPr>
            <a:endParaRPr lang="en-US" dirty="0">
              <a:solidFill>
                <a:schemeClr val="bg1"/>
              </a:solidFill>
            </a:endParaRPr>
          </a:p>
        </p:txBody>
      </p:sp>
      <p:sp>
        <p:nvSpPr>
          <p:cNvPr id="14339" name="Rectangle 3"/>
          <p:cNvSpPr>
            <a:spLocks noGrp="1" noChangeArrowheads="1"/>
          </p:cNvSpPr>
          <p:nvPr>
            <p:ph sz="quarter" idx="1"/>
          </p:nvPr>
        </p:nvSpPr>
        <p:spPr>
          <a:xfrm>
            <a:off x="1981200" y="1600201"/>
            <a:ext cx="7467600" cy="4873625"/>
          </a:xfrm>
        </p:spPr>
        <p:txBody>
          <a:bodyPr/>
          <a:lstStyle/>
          <a:p>
            <a:pPr eaLnBrk="1" hangingPunct="1"/>
            <a:endParaRPr lang="en-US" dirty="0"/>
          </a:p>
        </p:txBody>
      </p:sp>
      <p:pic>
        <p:nvPicPr>
          <p:cNvPr id="143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0" y="1"/>
            <a:ext cx="8388350" cy="680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3472" y="-30616"/>
            <a:ext cx="596900" cy="6870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5492858"/>
      </p:ext>
    </p:extLst>
  </p:cSld>
  <p:clrMapOvr>
    <a:masterClrMapping/>
  </p:clrMapOvr>
  <p:transition advTm="100722"/>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833562" y="666027"/>
            <a:ext cx="8524875" cy="193675"/>
          </a:xfrm>
        </p:spPr>
        <p:txBody>
          <a:bodyPr>
            <a:noAutofit/>
          </a:bodyPr>
          <a:lstStyle/>
          <a:p>
            <a:pPr algn="ctr">
              <a:defRPr/>
            </a:pPr>
            <a:r>
              <a:rPr lang="en-US" sz="3400" b="1" dirty="0">
                <a:solidFill>
                  <a:srgbClr val="007796"/>
                </a:solidFill>
                <a:latin typeface="Roboto Black" panose="02000000000000000000" pitchFamily="2" charset="0"/>
                <a:ea typeface="Roboto Black" panose="02000000000000000000" pitchFamily="2" charset="0"/>
              </a:rPr>
              <a:t>Lung Circulation Involves </a:t>
            </a:r>
            <a:br>
              <a:rPr lang="en-US" sz="3400" b="1" dirty="0">
                <a:solidFill>
                  <a:srgbClr val="007796"/>
                </a:solidFill>
                <a:latin typeface="Roboto Black" panose="02000000000000000000" pitchFamily="2" charset="0"/>
                <a:ea typeface="Roboto Black" panose="02000000000000000000" pitchFamily="2" charset="0"/>
              </a:rPr>
            </a:br>
            <a:r>
              <a:rPr lang="en-US" sz="3400" b="1" dirty="0">
                <a:solidFill>
                  <a:srgbClr val="007796"/>
                </a:solidFill>
                <a:latin typeface="Roboto Black" panose="02000000000000000000" pitchFamily="2" charset="0"/>
                <a:ea typeface="Roboto Black" panose="02000000000000000000" pitchFamily="2" charset="0"/>
              </a:rPr>
              <a:t>Two Separate Circulations </a:t>
            </a:r>
          </a:p>
        </p:txBody>
      </p:sp>
      <p:pic>
        <p:nvPicPr>
          <p:cNvPr id="5529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8367" y="1431235"/>
            <a:ext cx="10719948" cy="5426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88208036"/>
      </p:ext>
    </p:extLst>
  </p:cSld>
  <p:clrMapOvr>
    <a:masterClrMapping/>
  </p:clrMapOvr>
  <p:transition advTm="91093"/>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a:defRPr/>
            </a:pPr>
            <a:endParaRPr lang="en-US" dirty="0"/>
          </a:p>
        </p:txBody>
      </p:sp>
      <p:sp>
        <p:nvSpPr>
          <p:cNvPr id="31747" name="Rectangle 3"/>
          <p:cNvSpPr>
            <a:spLocks noGrp="1" noChangeArrowheads="1"/>
          </p:cNvSpPr>
          <p:nvPr>
            <p:ph sz="quarter" idx="1"/>
          </p:nvPr>
        </p:nvSpPr>
        <p:spPr>
          <a:xfrm>
            <a:off x="1981200" y="1600201"/>
            <a:ext cx="7467600" cy="4873625"/>
          </a:xfrm>
        </p:spPr>
        <p:txBody>
          <a:bodyPr/>
          <a:lstStyle/>
          <a:p>
            <a:pPr eaLnBrk="1" hangingPunct="1"/>
            <a:endParaRPr lang="en-US" dirty="0"/>
          </a:p>
        </p:txBody>
      </p:sp>
      <p:pic>
        <p:nvPicPr>
          <p:cNvPr id="3174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82" y="-50645"/>
            <a:ext cx="10270435" cy="695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35488" y="7064155"/>
            <a:ext cx="9433048" cy="6447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7381090"/>
      </p:ext>
    </p:extLst>
  </p:cSld>
  <p:clrMapOvr>
    <a:masterClrMapping/>
  </p:clrMapOvr>
  <p:transition advTm="117743"/>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833562" y="720793"/>
            <a:ext cx="8524875" cy="193675"/>
          </a:xfrm>
        </p:spPr>
        <p:txBody>
          <a:bodyPr>
            <a:noAutofit/>
          </a:bodyPr>
          <a:lstStyle/>
          <a:p>
            <a:pPr algn="ctr">
              <a:defRPr/>
            </a:pPr>
            <a:r>
              <a:rPr lang="en-US" sz="4000" b="1" dirty="0">
                <a:solidFill>
                  <a:srgbClr val="007796"/>
                </a:solidFill>
                <a:latin typeface="Roboto Black" panose="02000000000000000000" pitchFamily="2" charset="0"/>
                <a:ea typeface="Roboto Black" panose="02000000000000000000" pitchFamily="2" charset="0"/>
              </a:rPr>
              <a:t>Ventilation</a:t>
            </a:r>
          </a:p>
        </p:txBody>
      </p:sp>
      <p:pic>
        <p:nvPicPr>
          <p:cNvPr id="32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70823" y="1563757"/>
            <a:ext cx="5868929" cy="51427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3"/>
          <p:cNvSpPr txBox="1">
            <a:spLocks noChangeArrowheads="1"/>
          </p:cNvSpPr>
          <p:nvPr/>
        </p:nvSpPr>
        <p:spPr bwMode="auto">
          <a:xfrm>
            <a:off x="749355" y="1755337"/>
            <a:ext cx="468052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73050" indent="-273050" algn="l" rtl="0" eaLnBrk="0" fontAlgn="base" hangingPunct="0">
              <a:spcBef>
                <a:spcPct val="20000"/>
              </a:spcBef>
              <a:spcAft>
                <a:spcPct val="0"/>
              </a:spcAft>
              <a:buClr>
                <a:schemeClr val="accent1"/>
              </a:buClr>
              <a:buSzPct val="85000"/>
              <a:buFont typeface="Wingdings 2" pitchFamily="18" charset="2"/>
              <a:buChar char=""/>
              <a:defRPr sz="2700" kern="1200">
                <a:solidFill>
                  <a:schemeClr val="tx1"/>
                </a:solidFill>
                <a:latin typeface="+mn-lt"/>
                <a:ea typeface="+mn-ea"/>
                <a:cs typeface="+mn-cs"/>
              </a:defRPr>
            </a:lvl1pPr>
            <a:lvl2pPr marL="547688" indent="-273050" algn="l" rtl="0" eaLnBrk="0" fontAlgn="base" hangingPunct="0">
              <a:spcBef>
                <a:spcPct val="20000"/>
              </a:spcBef>
              <a:spcAft>
                <a:spcPct val="0"/>
              </a:spcAft>
              <a:buClr>
                <a:schemeClr val="accent2"/>
              </a:buClr>
              <a:buSzPct val="70000"/>
              <a:buFont typeface="Wingdings" pitchFamily="2" charset="2"/>
              <a:buChar char=""/>
              <a:defRPr sz="2200" kern="1200">
                <a:solidFill>
                  <a:schemeClr val="tx2"/>
                </a:solidFill>
                <a:latin typeface="+mn-lt"/>
                <a:ea typeface="+mn-ea"/>
                <a:cs typeface="+mn-cs"/>
              </a:defRPr>
            </a:lvl2pPr>
            <a:lvl3pPr marL="822325" indent="-228600" algn="l" rtl="0" eaLnBrk="0" fontAlgn="base" hangingPunct="0">
              <a:spcBef>
                <a:spcPct val="20000"/>
              </a:spcBef>
              <a:spcAft>
                <a:spcPct val="0"/>
              </a:spcAft>
              <a:buClr>
                <a:srgbClr val="8CADAE"/>
              </a:buClr>
              <a:buSzPct val="75000"/>
              <a:buFont typeface="Wingdings 2" pitchFamily="18" charset="2"/>
              <a:buChar char=""/>
              <a:defRPr sz="2000" kern="1200">
                <a:solidFill>
                  <a:schemeClr val="tx1"/>
                </a:solidFill>
                <a:latin typeface="+mn-lt"/>
                <a:ea typeface="+mn-ea"/>
                <a:cs typeface="+mn-cs"/>
              </a:defRPr>
            </a:lvl3pPr>
            <a:lvl4pPr marL="1096963" indent="-228600" algn="l" rtl="0" eaLnBrk="0" fontAlgn="base" hangingPunct="0">
              <a:spcBef>
                <a:spcPct val="20000"/>
              </a:spcBef>
              <a:spcAft>
                <a:spcPct val="0"/>
              </a:spcAft>
              <a:buClr>
                <a:srgbClr val="8C7B70"/>
              </a:buClr>
              <a:buSzPct val="70000"/>
              <a:buFont typeface="Wingdings" pitchFamily="2" charset="2"/>
              <a:buChar char=""/>
              <a:defRPr sz="2000" kern="1200">
                <a:solidFill>
                  <a:schemeClr val="tx2"/>
                </a:solidFill>
                <a:latin typeface="+mn-lt"/>
                <a:ea typeface="+mn-ea"/>
                <a:cs typeface="+mn-cs"/>
              </a:defRPr>
            </a:lvl4pPr>
            <a:lvl5pPr marL="1371600" indent="-228600" algn="l" rtl="0" eaLnBrk="0" fontAlgn="base" hangingPunct="0">
              <a:spcBef>
                <a:spcPct val="20000"/>
              </a:spcBef>
              <a:spcAft>
                <a:spcPct val="0"/>
              </a:spcAft>
              <a:buClr>
                <a:srgbClr val="8FB08C"/>
              </a:buClr>
              <a:buChar char="•"/>
              <a:defRPr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a:lstStyle>
          <a:p>
            <a:pPr eaLnBrk="1" hangingPunct="1"/>
            <a:r>
              <a:rPr lang="en-US" sz="2800" b="1" dirty="0">
                <a:solidFill>
                  <a:srgbClr val="007796"/>
                </a:solidFill>
                <a:latin typeface="Roboto Black" panose="02000000000000000000" pitchFamily="2" charset="0"/>
                <a:ea typeface="Roboto Black" panose="02000000000000000000" pitchFamily="2" charset="0"/>
              </a:rPr>
              <a:t>Bulk flow of air</a:t>
            </a:r>
          </a:p>
          <a:p>
            <a:pPr eaLnBrk="1" hangingPunct="1"/>
            <a:r>
              <a:rPr lang="en-US" sz="2800" b="1" dirty="0">
                <a:solidFill>
                  <a:srgbClr val="007796"/>
                </a:solidFill>
                <a:latin typeface="Roboto Black" panose="02000000000000000000" pitchFamily="2" charset="0"/>
                <a:ea typeface="Roboto Black" panose="02000000000000000000" pitchFamily="2" charset="0"/>
              </a:rPr>
              <a:t>Disorders that obstruct ventilation are called obstructive disorders</a:t>
            </a:r>
          </a:p>
          <a:p>
            <a:pPr lvl="1" eaLnBrk="1" hangingPunct="1"/>
            <a:r>
              <a:rPr lang="en-US" b="1" dirty="0">
                <a:solidFill>
                  <a:srgbClr val="007796"/>
                </a:solidFill>
                <a:latin typeface="Roboto Black" panose="02000000000000000000" pitchFamily="2" charset="0"/>
                <a:ea typeface="Roboto Black" panose="02000000000000000000" pitchFamily="2" charset="0"/>
              </a:rPr>
              <a:t>Asthma, COPD, others</a:t>
            </a:r>
            <a:endParaRPr lang="en-US" dirty="0">
              <a:solidFill>
                <a:srgbClr val="007796"/>
              </a:solidFill>
              <a:latin typeface="Roboto Black" panose="02000000000000000000" pitchFamily="2" charset="0"/>
              <a:ea typeface="Roboto Black" panose="02000000000000000000" pitchFamily="2" charset="0"/>
            </a:endParaRPr>
          </a:p>
          <a:p>
            <a:pPr eaLnBrk="1" hangingPunct="1"/>
            <a:r>
              <a:rPr lang="en-US" sz="2800" b="1" dirty="0">
                <a:solidFill>
                  <a:srgbClr val="007796"/>
                </a:solidFill>
                <a:latin typeface="Roboto Black" panose="02000000000000000000" pitchFamily="2" charset="0"/>
                <a:ea typeface="Roboto Black" panose="02000000000000000000" pitchFamily="2" charset="0"/>
              </a:rPr>
              <a:t>Function</a:t>
            </a:r>
          </a:p>
          <a:p>
            <a:pPr lvl="1" eaLnBrk="1" hangingPunct="1"/>
            <a:r>
              <a:rPr lang="en-US" dirty="0">
                <a:solidFill>
                  <a:srgbClr val="007796"/>
                </a:solidFill>
                <a:latin typeface="Roboto Black" panose="02000000000000000000" pitchFamily="2" charset="0"/>
                <a:ea typeface="Roboto Black" panose="02000000000000000000" pitchFamily="2" charset="0"/>
              </a:rPr>
              <a:t>Moves air out of the lungs but does not participate in gas exchange</a:t>
            </a:r>
          </a:p>
        </p:txBody>
      </p:sp>
    </p:spTree>
    <p:extLst>
      <p:ext uri="{BB962C8B-B14F-4D97-AF65-F5344CB8AC3E}">
        <p14:creationId xmlns:p14="http://schemas.microsoft.com/office/powerpoint/2010/main" val="2576590977"/>
      </p:ext>
    </p:extLst>
  </p:cSld>
  <p:clrMapOvr>
    <a:masterClrMapping/>
  </p:clrMapOvr>
  <p:transition advTm="71169"/>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3398" y="216910"/>
            <a:ext cx="7578837" cy="6641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75324079"/>
      </p:ext>
    </p:extLst>
  </p:cSld>
  <p:clrMapOvr>
    <a:masterClrMapping/>
  </p:clrMapOvr>
  <p:transition advTm="71169"/>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1929731" y="818371"/>
            <a:ext cx="8524875" cy="193675"/>
          </a:xfrm>
        </p:spPr>
        <p:txBody>
          <a:bodyPr>
            <a:noAutofit/>
          </a:bodyPr>
          <a:lstStyle/>
          <a:p>
            <a:pPr algn="ctr">
              <a:defRPr/>
            </a:pPr>
            <a:r>
              <a:rPr lang="en-US" sz="3600" b="1" dirty="0">
                <a:solidFill>
                  <a:srgbClr val="007796"/>
                </a:solidFill>
                <a:latin typeface="Roboto Black" panose="02000000000000000000" pitchFamily="2" charset="0"/>
                <a:ea typeface="Roboto Black" panose="02000000000000000000" pitchFamily="2" charset="0"/>
              </a:rPr>
              <a:t>External Respiration </a:t>
            </a:r>
            <a:br>
              <a:rPr lang="en-US" sz="3600" b="1" dirty="0">
                <a:solidFill>
                  <a:srgbClr val="007796"/>
                </a:solidFill>
                <a:latin typeface="Roboto Black" panose="02000000000000000000" pitchFamily="2" charset="0"/>
                <a:ea typeface="Roboto Black" panose="02000000000000000000" pitchFamily="2" charset="0"/>
              </a:rPr>
            </a:br>
            <a:r>
              <a:rPr lang="en-US" sz="3600" b="1" dirty="0">
                <a:solidFill>
                  <a:srgbClr val="007796"/>
                </a:solidFill>
                <a:latin typeface="Roboto Black" panose="02000000000000000000" pitchFamily="2" charset="0"/>
                <a:ea typeface="Roboto Black" panose="02000000000000000000" pitchFamily="2" charset="0"/>
              </a:rPr>
              <a:t>(Also referred to as gas exchange)</a:t>
            </a:r>
          </a:p>
        </p:txBody>
      </p:sp>
      <p:sp>
        <p:nvSpPr>
          <p:cNvPr id="33795" name="Rectangle 3"/>
          <p:cNvSpPr>
            <a:spLocks noGrp="1" noChangeArrowheads="1"/>
          </p:cNvSpPr>
          <p:nvPr>
            <p:ph sz="quarter" idx="1"/>
          </p:nvPr>
        </p:nvSpPr>
        <p:spPr>
          <a:xfrm>
            <a:off x="700336" y="1771223"/>
            <a:ext cx="5018856" cy="4893101"/>
          </a:xfrm>
        </p:spPr>
        <p:txBody>
          <a:bodyPr>
            <a:normAutofit/>
          </a:bodyPr>
          <a:lstStyle/>
          <a:p>
            <a:pPr eaLnBrk="1" hangingPunct="1"/>
            <a:r>
              <a:rPr lang="en-US" dirty="0">
                <a:solidFill>
                  <a:srgbClr val="007796"/>
                </a:solidFill>
                <a:latin typeface="Roboto Black" panose="02000000000000000000" pitchFamily="2" charset="0"/>
                <a:ea typeface="Roboto Black" panose="02000000000000000000" pitchFamily="2" charset="0"/>
              </a:rPr>
              <a:t>Exchange of gases from an area of high concentration to an area of lower concentration</a:t>
            </a:r>
          </a:p>
          <a:p>
            <a:pPr eaLnBrk="1" hangingPunct="1"/>
            <a:r>
              <a:rPr lang="en-US" dirty="0">
                <a:solidFill>
                  <a:srgbClr val="007796"/>
                </a:solidFill>
                <a:latin typeface="Roboto Black" panose="02000000000000000000" pitchFamily="2" charset="0"/>
                <a:ea typeface="Roboto Black" panose="02000000000000000000" pitchFamily="2" charset="0"/>
              </a:rPr>
              <a:t>Takes place in the terminal respiratory bronchioles and the alveolar ducts and sacs</a:t>
            </a:r>
          </a:p>
          <a:p>
            <a:pPr eaLnBrk="1" hangingPunct="1"/>
            <a:r>
              <a:rPr lang="en-US" dirty="0">
                <a:solidFill>
                  <a:srgbClr val="007796"/>
                </a:solidFill>
                <a:latin typeface="Roboto Black" panose="02000000000000000000" pitchFamily="2" charset="0"/>
                <a:ea typeface="Roboto Black" panose="02000000000000000000" pitchFamily="2" charset="0"/>
              </a:rPr>
              <a:t>Can be reduced with inflammation, fibrosis, or decreased area</a:t>
            </a:r>
          </a:p>
        </p:txBody>
      </p:sp>
      <p:pic>
        <p:nvPicPr>
          <p:cNvPr id="337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8009" y="1771223"/>
            <a:ext cx="5323655" cy="4318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33668829"/>
      </p:ext>
    </p:extLst>
  </p:cSld>
  <p:clrMapOvr>
    <a:masterClrMapping/>
  </p:clrMapOvr>
  <p:transition advTm="9469"/>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DCCDFE-7082-43B0-9F72-0815C2741933}"/>
              </a:ext>
            </a:extLst>
          </p:cNvPr>
          <p:cNvSpPr>
            <a:spLocks noGrp="1"/>
          </p:cNvSpPr>
          <p:nvPr>
            <p:ph type="body" sz="quarter" idx="17"/>
          </p:nvPr>
        </p:nvSpPr>
        <p:spPr>
          <a:xfrm>
            <a:off x="589705" y="450462"/>
            <a:ext cx="6558183" cy="573088"/>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How can pharmaceutical </a:t>
            </a:r>
          </a:p>
          <a:p>
            <a:pPr algn="ctr"/>
            <a:r>
              <a:rPr lang="en-AU" sz="3600" dirty="0">
                <a:solidFill>
                  <a:srgbClr val="007796"/>
                </a:solidFill>
                <a:latin typeface="Roboto Black" panose="02000000000000000000" pitchFamily="2" charset="0"/>
                <a:ea typeface="Roboto Black" panose="02000000000000000000" pitchFamily="2" charset="0"/>
              </a:rPr>
              <a:t>agents help?</a:t>
            </a:r>
            <a:endParaRPr lang="en-AU" sz="3600" dirty="0">
              <a:solidFill>
                <a:srgbClr val="007796"/>
              </a:solidFill>
            </a:endParaRPr>
          </a:p>
        </p:txBody>
      </p:sp>
      <p:sp>
        <p:nvSpPr>
          <p:cNvPr id="7" name="Content Placeholder 2">
            <a:extLst>
              <a:ext uri="{FF2B5EF4-FFF2-40B4-BE49-F238E27FC236}">
                <a16:creationId xmlns:a16="http://schemas.microsoft.com/office/drawing/2014/main" id="{F4D74423-09B6-40B6-A514-F417F5C5ABB5}"/>
              </a:ext>
            </a:extLst>
          </p:cNvPr>
          <p:cNvSpPr txBox="1">
            <a:spLocks/>
          </p:cNvSpPr>
          <p:nvPr/>
        </p:nvSpPr>
        <p:spPr>
          <a:xfrm>
            <a:off x="717035" y="1943606"/>
            <a:ext cx="8858680" cy="4572000"/>
          </a:xfrm>
          <a:prstGeom prst="rect">
            <a:avLst/>
          </a:prstGeom>
        </p:spPr>
        <p:txBody>
          <a:bodyPr>
            <a:normAutofit/>
          </a:bodyPr>
          <a:lstStyle>
            <a:lvl1pPr marL="228600" indent="-228600" algn="l" defTabSz="914400" rtl="0" eaLnBrk="1" latinLnBrk="0" hangingPunct="1">
              <a:lnSpc>
                <a:spcPct val="90000"/>
              </a:lnSpc>
              <a:spcBef>
                <a:spcPts val="1000"/>
              </a:spcBef>
              <a:buFont typeface="Arial"/>
              <a:buChar char="•"/>
              <a:defRPr sz="2400" b="0" i="0" kern="1200" baseline="0">
                <a:solidFill>
                  <a:schemeClr val="tx1"/>
                </a:solidFill>
                <a:latin typeface="Roboto Light" charset="0"/>
                <a:ea typeface="Roboto Light" charset="0"/>
                <a:cs typeface="Roboto Light" charset="0"/>
              </a:defRPr>
            </a:lvl1pPr>
            <a:lvl2pPr marL="685800" indent="-228600" algn="l" defTabSz="914400" rtl="0" eaLnBrk="1" latinLnBrk="0" hangingPunct="1">
              <a:lnSpc>
                <a:spcPct val="90000"/>
              </a:lnSpc>
              <a:spcBef>
                <a:spcPts val="500"/>
              </a:spcBef>
              <a:buFont typeface="Arial"/>
              <a:buChar char="•"/>
              <a:defRPr sz="2400" b="0" i="0" kern="1200">
                <a:solidFill>
                  <a:schemeClr val="tx1"/>
                </a:solidFill>
                <a:latin typeface="Roboto Light" charset="0"/>
                <a:ea typeface="Roboto Light" charset="0"/>
                <a:cs typeface="Roboto Light" charset="0"/>
              </a:defRPr>
            </a:lvl2pPr>
            <a:lvl3pPr marL="1143000" indent="-228600" algn="l" defTabSz="914400" rtl="0" eaLnBrk="1" latinLnBrk="0" hangingPunct="1">
              <a:lnSpc>
                <a:spcPct val="90000"/>
              </a:lnSpc>
              <a:spcBef>
                <a:spcPts val="500"/>
              </a:spcBef>
              <a:buFont typeface="Arial"/>
              <a:buChar char="•"/>
              <a:defRPr sz="2000" b="0" i="0" kern="1200">
                <a:solidFill>
                  <a:schemeClr val="tx1"/>
                </a:solidFill>
                <a:latin typeface="Roboto Light" charset="0"/>
                <a:ea typeface="Roboto Light" charset="0"/>
                <a:cs typeface="Roboto Light" charset="0"/>
              </a:defRPr>
            </a:lvl3pPr>
            <a:lvl4pPr marL="16002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4pPr>
            <a:lvl5pPr marL="2057400" indent="-228600" algn="l" defTabSz="914400" rtl="0" eaLnBrk="1" latinLnBrk="0" hangingPunct="1">
              <a:lnSpc>
                <a:spcPct val="90000"/>
              </a:lnSpc>
              <a:spcBef>
                <a:spcPts val="500"/>
              </a:spcBef>
              <a:buFont typeface="Arial"/>
              <a:buChar char="•"/>
              <a:defRPr sz="1800" b="0" i="0" kern="1200">
                <a:solidFill>
                  <a:schemeClr val="tx1"/>
                </a:solidFill>
                <a:latin typeface="Roboto Light" charset="0"/>
                <a:ea typeface="Roboto Light" charset="0"/>
                <a:cs typeface="Roboto Light"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AU" dirty="0">
                <a:solidFill>
                  <a:srgbClr val="007796"/>
                </a:solidFill>
                <a:latin typeface="Roboto Black" panose="02000000000000000000" pitchFamily="2" charset="0"/>
                <a:ea typeface="Roboto Black" panose="02000000000000000000" pitchFamily="2" charset="0"/>
              </a:rPr>
              <a:t>Fighting infection</a:t>
            </a:r>
          </a:p>
          <a:p>
            <a:pPr lvl="1"/>
            <a:r>
              <a:rPr lang="en-AU" dirty="0">
                <a:solidFill>
                  <a:srgbClr val="007796"/>
                </a:solidFill>
                <a:latin typeface="Roboto Black" panose="02000000000000000000" pitchFamily="2" charset="0"/>
                <a:ea typeface="Roboto Black" panose="02000000000000000000" pitchFamily="2" charset="0"/>
              </a:rPr>
              <a:t>Antibiotics, antifungal agents</a:t>
            </a:r>
          </a:p>
          <a:p>
            <a:r>
              <a:rPr lang="en-AU" dirty="0">
                <a:solidFill>
                  <a:srgbClr val="007796"/>
                </a:solidFill>
                <a:latin typeface="Roboto Black" panose="02000000000000000000" pitchFamily="2" charset="0"/>
                <a:ea typeface="Roboto Black" panose="02000000000000000000" pitchFamily="2" charset="0"/>
              </a:rPr>
              <a:t>Preventing excess mucus production</a:t>
            </a:r>
          </a:p>
          <a:p>
            <a:r>
              <a:rPr lang="en-AU" dirty="0">
                <a:solidFill>
                  <a:srgbClr val="007796"/>
                </a:solidFill>
                <a:latin typeface="Roboto Black" panose="02000000000000000000" pitchFamily="2" charset="0"/>
                <a:ea typeface="Roboto Black" panose="02000000000000000000" pitchFamily="2" charset="0"/>
              </a:rPr>
              <a:t>Decreasing cough</a:t>
            </a:r>
          </a:p>
          <a:p>
            <a:r>
              <a:rPr lang="en-AU" dirty="0">
                <a:solidFill>
                  <a:srgbClr val="007796"/>
                </a:solidFill>
                <a:latin typeface="Roboto Black" panose="02000000000000000000" pitchFamily="2" charset="0"/>
                <a:ea typeface="Roboto Black" panose="02000000000000000000" pitchFamily="2" charset="0"/>
              </a:rPr>
              <a:t>Expelling mucus</a:t>
            </a:r>
          </a:p>
          <a:p>
            <a:r>
              <a:rPr lang="en-AU" dirty="0">
                <a:solidFill>
                  <a:srgbClr val="007796"/>
                </a:solidFill>
                <a:latin typeface="Roboto Black" panose="02000000000000000000" pitchFamily="2" charset="0"/>
                <a:ea typeface="Roboto Black" panose="02000000000000000000" pitchFamily="2" charset="0"/>
              </a:rPr>
              <a:t>Promoting ventilation or ‘bulk flow of air’ </a:t>
            </a:r>
          </a:p>
          <a:p>
            <a:pPr lvl="1"/>
            <a:r>
              <a:rPr lang="en-AU" dirty="0">
                <a:solidFill>
                  <a:srgbClr val="007796"/>
                </a:solidFill>
                <a:latin typeface="Roboto Black" panose="02000000000000000000" pitchFamily="2" charset="0"/>
                <a:ea typeface="Roboto Black" panose="02000000000000000000" pitchFamily="2" charset="0"/>
              </a:rPr>
              <a:t>Promote airway adequacy by dilating airways or reducing excess mucus</a:t>
            </a:r>
          </a:p>
          <a:p>
            <a:r>
              <a:rPr lang="en-AU" dirty="0">
                <a:solidFill>
                  <a:srgbClr val="007796"/>
                </a:solidFill>
                <a:latin typeface="Roboto Black" panose="02000000000000000000" pitchFamily="2" charset="0"/>
                <a:ea typeface="Roboto Black" panose="02000000000000000000" pitchFamily="2" charset="0"/>
              </a:rPr>
              <a:t>Reducing inflammation </a:t>
            </a:r>
          </a:p>
          <a:p>
            <a:pPr lvl="1"/>
            <a:r>
              <a:rPr lang="en-AU" dirty="0">
                <a:solidFill>
                  <a:srgbClr val="007796"/>
                </a:solidFill>
                <a:latin typeface="Roboto Black" panose="02000000000000000000" pitchFamily="2" charset="0"/>
                <a:ea typeface="Roboto Black" panose="02000000000000000000" pitchFamily="2" charset="0"/>
              </a:rPr>
              <a:t>Inflammation can affect both ventilation (bulk flow) and respiration (exchange of gasses). </a:t>
            </a:r>
          </a:p>
        </p:txBody>
      </p:sp>
    </p:spTree>
    <p:extLst>
      <p:ext uri="{BB962C8B-B14F-4D97-AF65-F5344CB8AC3E}">
        <p14:creationId xmlns:p14="http://schemas.microsoft.com/office/powerpoint/2010/main" val="1484624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16279"/>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2273431" y="2351470"/>
            <a:ext cx="7645138"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Respiratory System:</a:t>
            </a:r>
          </a:p>
          <a:p>
            <a:pPr algn="ctr"/>
            <a:r>
              <a:rPr lang="en-AU" sz="3200" dirty="0">
                <a:solidFill>
                  <a:srgbClr val="007796"/>
                </a:solidFill>
                <a:latin typeface="Roboto Black" panose="02000000000000000000" pitchFamily="2" charset="0"/>
                <a:ea typeface="Roboto Black" panose="02000000000000000000" pitchFamily="2" charset="0"/>
              </a:rPr>
              <a:t>Lesson 2</a:t>
            </a:r>
          </a:p>
          <a:p>
            <a:pPr algn="ctr"/>
            <a:r>
              <a:rPr lang="en-AU" sz="3200" dirty="0">
                <a:solidFill>
                  <a:srgbClr val="007796"/>
                </a:solidFill>
                <a:latin typeface="Roboto Black" panose="02000000000000000000" pitchFamily="2" charset="0"/>
                <a:ea typeface="Roboto Black" panose="02000000000000000000" pitchFamily="2" charset="0"/>
              </a:rPr>
              <a:t>Antitussives, expectorants and mucolytic agents</a:t>
            </a:r>
          </a:p>
          <a:p>
            <a:pPr algn="ctr"/>
            <a:endParaRPr lang="en-AU" sz="3200" dirty="0">
              <a:solidFill>
                <a:srgbClr val="00779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24625371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1873"/>
            <a:ext cx="10515600" cy="1325563"/>
          </a:xfrm>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Antitussives (suppress cough reflex)</a:t>
            </a:r>
          </a:p>
        </p:txBody>
      </p:sp>
      <p:sp>
        <p:nvSpPr>
          <p:cNvPr id="3" name="Content Placeholder 2"/>
          <p:cNvSpPr>
            <a:spLocks noGrp="1"/>
          </p:cNvSpPr>
          <p:nvPr>
            <p:ph sz="quarter" idx="1"/>
          </p:nvPr>
        </p:nvSpPr>
        <p:spPr>
          <a:xfrm>
            <a:off x="838200" y="1825625"/>
            <a:ext cx="10515600" cy="4680502"/>
          </a:xfrm>
        </p:spPr>
        <p:txBody>
          <a:bodyPr>
            <a:normAutofit/>
          </a:bodyPr>
          <a:lstStyle/>
          <a:p>
            <a:pPr marL="0" indent="0">
              <a:buNone/>
            </a:pPr>
            <a:r>
              <a:rPr lang="en-AU" sz="3200" dirty="0">
                <a:solidFill>
                  <a:srgbClr val="007796"/>
                </a:solidFill>
                <a:latin typeface="Roboto Black" panose="02000000000000000000" pitchFamily="2" charset="0"/>
                <a:ea typeface="Roboto Black" panose="02000000000000000000" pitchFamily="2" charset="0"/>
              </a:rPr>
              <a:t>Cough suppressants</a:t>
            </a:r>
          </a:p>
          <a:p>
            <a:endParaRPr lang="en-AU" sz="1400" dirty="0">
              <a:solidFill>
                <a:srgbClr val="007796"/>
              </a:solidFill>
              <a:latin typeface="Roboto Black" panose="02000000000000000000" pitchFamily="2" charset="0"/>
              <a:ea typeface="Roboto Black" panose="02000000000000000000" pitchFamily="2" charset="0"/>
            </a:endParaRPr>
          </a:p>
          <a:p>
            <a:pPr lvl="1"/>
            <a:r>
              <a:rPr lang="en-AU" dirty="0">
                <a:solidFill>
                  <a:srgbClr val="FF0000"/>
                </a:solidFill>
                <a:latin typeface="Roboto Black" panose="02000000000000000000" pitchFamily="2" charset="0"/>
                <a:ea typeface="Roboto Black" panose="02000000000000000000" pitchFamily="2" charset="0"/>
              </a:rPr>
              <a:t>For Non-productive cough only </a:t>
            </a:r>
          </a:p>
          <a:p>
            <a:pPr lvl="2"/>
            <a:r>
              <a:rPr lang="en-AU" dirty="0">
                <a:solidFill>
                  <a:srgbClr val="007796"/>
                </a:solidFill>
                <a:latin typeface="Roboto Black" panose="02000000000000000000" pitchFamily="2" charset="0"/>
                <a:ea typeface="Roboto Black" panose="02000000000000000000" pitchFamily="2" charset="0"/>
              </a:rPr>
              <a:t>Depress the cough reflex located in the medullary cough centre (centrally acting)</a:t>
            </a:r>
          </a:p>
          <a:p>
            <a:pPr lvl="2"/>
            <a:r>
              <a:rPr lang="en-AU" dirty="0">
                <a:solidFill>
                  <a:srgbClr val="007796"/>
                </a:solidFill>
                <a:latin typeface="Roboto Black" panose="02000000000000000000" pitchFamily="2" charset="0"/>
                <a:ea typeface="Roboto Black" panose="02000000000000000000" pitchFamily="2" charset="0"/>
              </a:rPr>
              <a:t>Codeine (this is an opioid narcotic), </a:t>
            </a:r>
          </a:p>
          <a:p>
            <a:pPr lvl="2"/>
            <a:r>
              <a:rPr lang="en-AU" dirty="0">
                <a:solidFill>
                  <a:srgbClr val="007796"/>
                </a:solidFill>
                <a:latin typeface="Roboto Black" panose="02000000000000000000" pitchFamily="2" charset="0"/>
                <a:ea typeface="Roboto Black" panose="02000000000000000000" pitchFamily="2" charset="0"/>
              </a:rPr>
              <a:t>Dextromethorphan (this is a morphine derivative but not considered an opioid)</a:t>
            </a:r>
          </a:p>
          <a:p>
            <a:pPr marL="914400" lvl="2" indent="0">
              <a:buNone/>
            </a:pPr>
            <a:endParaRPr lang="en-AU" dirty="0"/>
          </a:p>
          <a:p>
            <a:pPr lvl="1"/>
            <a:endParaRPr lang="en-AU" dirty="0"/>
          </a:p>
        </p:txBody>
      </p:sp>
    </p:spTree>
    <p:extLst>
      <p:ext uri="{BB962C8B-B14F-4D97-AF65-F5344CB8AC3E}">
        <p14:creationId xmlns:p14="http://schemas.microsoft.com/office/powerpoint/2010/main" val="298796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51873"/>
            <a:ext cx="10515600" cy="1325563"/>
          </a:xfrm>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Antitussives (suppress cough reflex)</a:t>
            </a:r>
          </a:p>
        </p:txBody>
      </p:sp>
      <p:sp>
        <p:nvSpPr>
          <p:cNvPr id="3" name="Content Placeholder 2"/>
          <p:cNvSpPr>
            <a:spLocks noGrp="1"/>
          </p:cNvSpPr>
          <p:nvPr>
            <p:ph sz="quarter" idx="1"/>
          </p:nvPr>
        </p:nvSpPr>
        <p:spPr>
          <a:xfrm>
            <a:off x="838200" y="1825625"/>
            <a:ext cx="10515600" cy="4680502"/>
          </a:xfrm>
        </p:spPr>
        <p:txBody>
          <a:bodyPr>
            <a:normAutofit/>
          </a:bodyPr>
          <a:lstStyle/>
          <a:p>
            <a:pPr marL="0" indent="0">
              <a:buNone/>
            </a:pPr>
            <a:r>
              <a:rPr lang="en-AU" dirty="0">
                <a:solidFill>
                  <a:srgbClr val="007796"/>
                </a:solidFill>
                <a:latin typeface="Roboto Black" panose="02000000000000000000" pitchFamily="2" charset="0"/>
                <a:ea typeface="Roboto Black" panose="02000000000000000000" pitchFamily="2" charset="0"/>
              </a:rPr>
              <a:t>Cough suppressants</a:t>
            </a:r>
          </a:p>
          <a:p>
            <a:endParaRPr lang="en-AU" sz="1400" dirty="0">
              <a:solidFill>
                <a:srgbClr val="007796"/>
              </a:solidFill>
              <a:latin typeface="Roboto Black" panose="02000000000000000000" pitchFamily="2" charset="0"/>
              <a:ea typeface="Roboto Black" panose="02000000000000000000" pitchFamily="2" charset="0"/>
            </a:endParaRPr>
          </a:p>
          <a:p>
            <a:pPr lvl="1"/>
            <a:r>
              <a:rPr lang="en-AU" dirty="0">
                <a:solidFill>
                  <a:srgbClr val="007796"/>
                </a:solidFill>
                <a:latin typeface="Roboto Black" panose="02000000000000000000" pitchFamily="2" charset="0"/>
                <a:ea typeface="Roboto Black" panose="02000000000000000000" pitchFamily="2" charset="0"/>
              </a:rPr>
              <a:t>Codeine: Adverse effects:</a:t>
            </a:r>
          </a:p>
          <a:p>
            <a:pPr lvl="2"/>
            <a:r>
              <a:rPr lang="en-AU" dirty="0">
                <a:solidFill>
                  <a:srgbClr val="007796"/>
                </a:solidFill>
                <a:latin typeface="Roboto Black" panose="02000000000000000000" pitchFamily="2" charset="0"/>
                <a:ea typeface="Roboto Black" panose="02000000000000000000" pitchFamily="2" charset="0"/>
              </a:rPr>
              <a:t>Drowsiness, sedation (CNS depression), respiratory depression</a:t>
            </a:r>
          </a:p>
          <a:p>
            <a:pPr lvl="1"/>
            <a:r>
              <a:rPr lang="en-AU" dirty="0">
                <a:solidFill>
                  <a:srgbClr val="007796"/>
                </a:solidFill>
                <a:latin typeface="Roboto Black" panose="02000000000000000000" pitchFamily="2" charset="0"/>
                <a:ea typeface="Roboto Black" panose="02000000000000000000" pitchFamily="2" charset="0"/>
              </a:rPr>
              <a:t>Dextromethorphan: Adverse effects:</a:t>
            </a:r>
          </a:p>
          <a:p>
            <a:pPr lvl="2"/>
            <a:r>
              <a:rPr lang="en-AU" dirty="0">
                <a:solidFill>
                  <a:srgbClr val="007796"/>
                </a:solidFill>
                <a:latin typeface="Roboto Black" panose="02000000000000000000" pitchFamily="2" charset="0"/>
                <a:ea typeface="Roboto Black" panose="02000000000000000000" pitchFamily="2" charset="0"/>
              </a:rPr>
              <a:t>Allergic reactions, GIT complaints</a:t>
            </a:r>
          </a:p>
          <a:p>
            <a:pPr lvl="2"/>
            <a:endParaRPr lang="en-AU" dirty="0">
              <a:solidFill>
                <a:srgbClr val="007796"/>
              </a:solidFill>
              <a:latin typeface="Roboto Black" panose="02000000000000000000" pitchFamily="2" charset="0"/>
              <a:ea typeface="Roboto Black" panose="02000000000000000000" pitchFamily="2" charset="0"/>
            </a:endParaRPr>
          </a:p>
          <a:p>
            <a:pPr lvl="1"/>
            <a:r>
              <a:rPr lang="en-AU" dirty="0">
                <a:solidFill>
                  <a:srgbClr val="007796"/>
                </a:solidFill>
                <a:latin typeface="Roboto Black" panose="02000000000000000000" pitchFamily="2" charset="0"/>
                <a:ea typeface="Roboto Black" panose="02000000000000000000" pitchFamily="2" charset="0"/>
              </a:rPr>
              <a:t>Contraindications for </a:t>
            </a:r>
            <a:r>
              <a:rPr lang="en-AU" dirty="0">
                <a:solidFill>
                  <a:srgbClr val="FF0000"/>
                </a:solidFill>
                <a:latin typeface="Roboto Black" panose="02000000000000000000" pitchFamily="2" charset="0"/>
                <a:ea typeface="Roboto Black" panose="02000000000000000000" pitchFamily="2" charset="0"/>
              </a:rPr>
              <a:t>codeine</a:t>
            </a:r>
            <a:r>
              <a:rPr lang="en-AU" dirty="0">
                <a:solidFill>
                  <a:srgbClr val="007796"/>
                </a:solidFill>
                <a:latin typeface="Roboto Black" panose="02000000000000000000" pitchFamily="2" charset="0"/>
                <a:ea typeface="Roboto Black" panose="02000000000000000000" pitchFamily="2" charset="0"/>
              </a:rPr>
              <a:t>: </a:t>
            </a:r>
          </a:p>
          <a:p>
            <a:pPr lvl="2"/>
            <a:r>
              <a:rPr lang="en-AU" dirty="0">
                <a:solidFill>
                  <a:srgbClr val="007796"/>
                </a:solidFill>
                <a:latin typeface="Roboto Black" panose="02000000000000000000" pitchFamily="2" charset="0"/>
                <a:ea typeface="Roboto Black" panose="02000000000000000000" pitchFamily="2" charset="0"/>
              </a:rPr>
              <a:t>Pregnancy,  young children, especially under 2</a:t>
            </a:r>
          </a:p>
          <a:p>
            <a:pPr marL="914400" lvl="2" indent="0">
              <a:buNone/>
            </a:pPr>
            <a:endParaRPr lang="en-AU" dirty="0"/>
          </a:p>
          <a:p>
            <a:pPr lvl="1"/>
            <a:r>
              <a:rPr lang="en-AU" dirty="0">
                <a:solidFill>
                  <a:srgbClr val="007796"/>
                </a:solidFill>
                <a:latin typeface="Roboto Black" panose="02000000000000000000" pitchFamily="2" charset="0"/>
                <a:ea typeface="Roboto Black" panose="02000000000000000000" pitchFamily="2" charset="0"/>
              </a:rPr>
              <a:t>Dextromethorphan is a pregnancy category A drug</a:t>
            </a:r>
          </a:p>
        </p:txBody>
      </p:sp>
    </p:spTree>
    <p:extLst>
      <p:ext uri="{BB962C8B-B14F-4D97-AF65-F5344CB8AC3E}">
        <p14:creationId xmlns:p14="http://schemas.microsoft.com/office/powerpoint/2010/main" val="37862349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912" y="312116"/>
            <a:ext cx="10515600" cy="1325563"/>
          </a:xfrm>
        </p:spPr>
        <p:txBody>
          <a:bodyPr/>
          <a:lstStyle/>
          <a:p>
            <a:pPr algn="ctr"/>
            <a:r>
              <a:rPr lang="en-AU" sz="4000" b="1" dirty="0">
                <a:solidFill>
                  <a:srgbClr val="007796"/>
                </a:solidFill>
                <a:latin typeface="Roboto Black" panose="02000000000000000000" pitchFamily="2" charset="0"/>
                <a:ea typeface="Roboto Black" panose="02000000000000000000" pitchFamily="2" charset="0"/>
              </a:rPr>
              <a:t>Expectorants</a:t>
            </a:r>
            <a:r>
              <a:rPr lang="en-AU" sz="4000" b="1" dirty="0">
                <a:solidFill>
                  <a:srgbClr val="016187"/>
                </a:solidFill>
                <a:latin typeface="Roboto Black" panose="02000000000000000000" pitchFamily="2" charset="0"/>
                <a:ea typeface="Roboto Black" panose="02000000000000000000" pitchFamily="2" charset="0"/>
              </a:rPr>
              <a:t> </a:t>
            </a:r>
          </a:p>
        </p:txBody>
      </p:sp>
      <p:sp>
        <p:nvSpPr>
          <p:cNvPr id="3" name="Content Placeholder 2"/>
          <p:cNvSpPr>
            <a:spLocks noGrp="1"/>
          </p:cNvSpPr>
          <p:nvPr>
            <p:ph sz="quarter" idx="1"/>
          </p:nvPr>
        </p:nvSpPr>
        <p:spPr>
          <a:xfrm>
            <a:off x="1825752" y="1737320"/>
            <a:ext cx="8503920" cy="4572000"/>
          </a:xfrm>
        </p:spPr>
        <p:txBody>
          <a:bodyPr/>
          <a:lstStyle/>
          <a:p>
            <a:r>
              <a:rPr lang="en-AU" dirty="0">
                <a:solidFill>
                  <a:srgbClr val="007796"/>
                </a:solidFill>
                <a:latin typeface="Roboto Black" panose="02000000000000000000" pitchFamily="2" charset="0"/>
                <a:ea typeface="Roboto Black" panose="02000000000000000000" pitchFamily="2" charset="0"/>
              </a:rPr>
              <a:t>Stimulate mucus secretion</a:t>
            </a:r>
          </a:p>
          <a:p>
            <a:endParaRPr lang="en-AU" dirty="0">
              <a:solidFill>
                <a:srgbClr val="007796"/>
              </a:solidFill>
              <a:latin typeface="Roboto Black" panose="02000000000000000000" pitchFamily="2" charset="0"/>
              <a:ea typeface="Roboto Black" panose="02000000000000000000" pitchFamily="2" charset="0"/>
            </a:endParaRPr>
          </a:p>
          <a:p>
            <a:r>
              <a:rPr lang="en-AU" dirty="0">
                <a:solidFill>
                  <a:srgbClr val="007796"/>
                </a:solidFill>
                <a:latin typeface="Roboto Black" panose="02000000000000000000" pitchFamily="2" charset="0"/>
                <a:ea typeface="Roboto Black" panose="02000000000000000000" pitchFamily="2" charset="0"/>
              </a:rPr>
              <a:t>Reduce the viscosity of thick tenacious</a:t>
            </a:r>
          </a:p>
          <a:p>
            <a:endParaRPr lang="en-AU" dirty="0">
              <a:solidFill>
                <a:srgbClr val="007796"/>
              </a:solidFill>
              <a:latin typeface="Roboto Black" panose="02000000000000000000" pitchFamily="2" charset="0"/>
              <a:ea typeface="Roboto Black" panose="02000000000000000000" pitchFamily="2" charset="0"/>
            </a:endParaRPr>
          </a:p>
          <a:p>
            <a:r>
              <a:rPr lang="en-AU" dirty="0">
                <a:solidFill>
                  <a:srgbClr val="007796"/>
                </a:solidFill>
                <a:latin typeface="Roboto Black" panose="02000000000000000000" pitchFamily="2" charset="0"/>
                <a:ea typeface="Roboto Black" panose="02000000000000000000" pitchFamily="2" charset="0"/>
              </a:rPr>
              <a:t>Guaifenesin (in Benadryl) PO</a:t>
            </a:r>
          </a:p>
          <a:p>
            <a:endParaRPr lang="en-AU" dirty="0">
              <a:solidFill>
                <a:srgbClr val="007796"/>
              </a:solidFill>
              <a:latin typeface="Roboto Black" panose="02000000000000000000" pitchFamily="2" charset="0"/>
              <a:ea typeface="Roboto Black" panose="02000000000000000000" pitchFamily="2" charset="0"/>
            </a:endParaRPr>
          </a:p>
          <a:p>
            <a:r>
              <a:rPr lang="en-AU" dirty="0">
                <a:solidFill>
                  <a:srgbClr val="007796"/>
                </a:solidFill>
                <a:latin typeface="Roboto Black" panose="02000000000000000000" pitchFamily="2" charset="0"/>
                <a:ea typeface="Roboto Black" panose="02000000000000000000" pitchFamily="2" charset="0"/>
              </a:rPr>
              <a:t>May result in some GI symptoms</a:t>
            </a:r>
          </a:p>
          <a:p>
            <a:endParaRPr lang="en-AU" dirty="0"/>
          </a:p>
          <a:p>
            <a:endParaRPr lang="en-AU" dirty="0"/>
          </a:p>
          <a:p>
            <a:endParaRPr lang="en-AU" dirty="0"/>
          </a:p>
          <a:p>
            <a:endParaRPr lang="en-AU" dirty="0"/>
          </a:p>
          <a:p>
            <a:endParaRPr lang="en-AU" dirty="0"/>
          </a:p>
        </p:txBody>
      </p:sp>
    </p:spTree>
    <p:extLst>
      <p:ext uri="{BB962C8B-B14F-4D97-AF65-F5344CB8AC3E}">
        <p14:creationId xmlns:p14="http://schemas.microsoft.com/office/powerpoint/2010/main" val="2933991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sz="3600" b="1" dirty="0">
                <a:solidFill>
                  <a:srgbClr val="007796"/>
                </a:solidFill>
                <a:latin typeface="Roboto Black" panose="02000000000000000000" pitchFamily="2" charset="0"/>
                <a:ea typeface="Roboto Black" panose="02000000000000000000" pitchFamily="2" charset="0"/>
              </a:rPr>
              <a:t>Mucolytic agents</a:t>
            </a:r>
          </a:p>
        </p:txBody>
      </p:sp>
      <p:sp>
        <p:nvSpPr>
          <p:cNvPr id="3" name="Content Placeholder 2"/>
          <p:cNvSpPr>
            <a:spLocks noGrp="1"/>
          </p:cNvSpPr>
          <p:nvPr>
            <p:ph sz="quarter" idx="1"/>
          </p:nvPr>
        </p:nvSpPr>
        <p:spPr>
          <a:xfrm>
            <a:off x="1825752" y="1527048"/>
            <a:ext cx="8662736" cy="4572000"/>
          </a:xfrm>
        </p:spPr>
        <p:txBody>
          <a:bodyPr>
            <a:normAutofit fontScale="92500" lnSpcReduction="10000"/>
          </a:bodyPr>
          <a:lstStyle/>
          <a:p>
            <a:r>
              <a:rPr lang="en-AU" dirty="0">
                <a:solidFill>
                  <a:srgbClr val="007796"/>
                </a:solidFill>
                <a:latin typeface="Roboto Black" panose="02000000000000000000" pitchFamily="2" charset="0"/>
                <a:ea typeface="Roboto Black" panose="02000000000000000000" pitchFamily="2" charset="0"/>
              </a:rPr>
              <a:t>For productive coughs </a:t>
            </a:r>
          </a:p>
          <a:p>
            <a:pPr lvl="1"/>
            <a:r>
              <a:rPr lang="en-AU" dirty="0">
                <a:solidFill>
                  <a:srgbClr val="007796"/>
                </a:solidFill>
                <a:latin typeface="Roboto Black" panose="02000000000000000000" pitchFamily="2" charset="0"/>
                <a:ea typeface="Roboto Black" panose="02000000000000000000" pitchFamily="2" charset="0"/>
              </a:rPr>
              <a:t>Chronic bronchitis, pneumonia, cystic fibrosis</a:t>
            </a:r>
          </a:p>
          <a:p>
            <a:r>
              <a:rPr lang="en-AU" dirty="0">
                <a:solidFill>
                  <a:srgbClr val="007796"/>
                </a:solidFill>
                <a:latin typeface="Roboto Black" panose="02000000000000000000" pitchFamily="2" charset="0"/>
                <a:ea typeface="Roboto Black" panose="02000000000000000000" pitchFamily="2" charset="0"/>
              </a:rPr>
              <a:t>Decreases mucus viscosity/ liquefies secretions</a:t>
            </a:r>
          </a:p>
          <a:p>
            <a:pPr lvl="1"/>
            <a:r>
              <a:rPr lang="en-AU" dirty="0">
                <a:solidFill>
                  <a:srgbClr val="007796"/>
                </a:solidFill>
                <a:latin typeface="Roboto Black" panose="02000000000000000000" pitchFamily="2" charset="0"/>
                <a:ea typeface="Roboto Black" panose="02000000000000000000" pitchFamily="2" charset="0"/>
              </a:rPr>
              <a:t>Facilitates airway and secretion clearance </a:t>
            </a:r>
          </a:p>
          <a:p>
            <a:r>
              <a:rPr lang="en-AU" dirty="0">
                <a:solidFill>
                  <a:srgbClr val="007796"/>
                </a:solidFill>
                <a:latin typeface="Roboto Black" panose="02000000000000000000" pitchFamily="2" charset="0"/>
                <a:ea typeface="Roboto Black" panose="02000000000000000000" pitchFamily="2" charset="0"/>
              </a:rPr>
              <a:t>Acetylcysteine (know this drug)</a:t>
            </a:r>
          </a:p>
          <a:p>
            <a:pPr lvl="1"/>
            <a:r>
              <a:rPr lang="en-AU" dirty="0">
                <a:solidFill>
                  <a:srgbClr val="007796"/>
                </a:solidFill>
                <a:latin typeface="Roboto Black" panose="02000000000000000000" pitchFamily="2" charset="0"/>
                <a:ea typeface="Roboto Black" panose="02000000000000000000" pitchFamily="2" charset="0"/>
              </a:rPr>
              <a:t>Breaks down mucoproteins</a:t>
            </a:r>
          </a:p>
          <a:p>
            <a:pPr lvl="1"/>
            <a:r>
              <a:rPr lang="en-AU" dirty="0">
                <a:solidFill>
                  <a:srgbClr val="007796"/>
                </a:solidFill>
                <a:latin typeface="Roboto Black" panose="02000000000000000000" pitchFamily="2" charset="0"/>
                <a:ea typeface="Roboto Black" panose="02000000000000000000" pitchFamily="2" charset="0"/>
              </a:rPr>
              <a:t>Acetylcysteine is also the antidote for paracetamol toxicity</a:t>
            </a:r>
          </a:p>
          <a:p>
            <a:r>
              <a:rPr lang="en-AU" dirty="0" err="1">
                <a:solidFill>
                  <a:srgbClr val="007796"/>
                </a:solidFill>
                <a:latin typeface="Roboto Black" panose="02000000000000000000" pitchFamily="2" charset="0"/>
                <a:ea typeface="Roboto Black" panose="02000000000000000000" pitchFamily="2" charset="0"/>
              </a:rPr>
              <a:t>Dornase</a:t>
            </a:r>
            <a:r>
              <a:rPr lang="en-AU" dirty="0">
                <a:solidFill>
                  <a:srgbClr val="007796"/>
                </a:solidFill>
                <a:latin typeface="Roboto Black" panose="02000000000000000000" pitchFamily="2" charset="0"/>
                <a:ea typeface="Roboto Black" panose="02000000000000000000" pitchFamily="2" charset="0"/>
              </a:rPr>
              <a:t> </a:t>
            </a:r>
            <a:r>
              <a:rPr lang="en-AU" dirty="0" err="1">
                <a:solidFill>
                  <a:srgbClr val="007796"/>
                </a:solidFill>
                <a:latin typeface="Roboto Black" panose="02000000000000000000" pitchFamily="2" charset="0"/>
                <a:ea typeface="Roboto Black" panose="02000000000000000000" pitchFamily="2" charset="0"/>
              </a:rPr>
              <a:t>alfa</a:t>
            </a:r>
            <a:endParaRPr lang="en-AU" dirty="0">
              <a:solidFill>
                <a:srgbClr val="007796"/>
              </a:solidFill>
              <a:latin typeface="Roboto Black" panose="02000000000000000000" pitchFamily="2" charset="0"/>
              <a:ea typeface="Roboto Black" panose="02000000000000000000" pitchFamily="2" charset="0"/>
            </a:endParaRPr>
          </a:p>
          <a:p>
            <a:pPr lvl="1"/>
            <a:r>
              <a:rPr lang="en-AU" dirty="0">
                <a:solidFill>
                  <a:srgbClr val="007796"/>
                </a:solidFill>
                <a:latin typeface="Roboto Black" panose="02000000000000000000" pitchFamily="2" charset="0"/>
                <a:ea typeface="Roboto Black" panose="02000000000000000000" pitchFamily="2" charset="0"/>
              </a:rPr>
              <a:t>Breaks down DNA from proteins (specifically for cystic fibrosis)</a:t>
            </a:r>
          </a:p>
          <a:p>
            <a:r>
              <a:rPr lang="en-AU" dirty="0">
                <a:solidFill>
                  <a:srgbClr val="007796"/>
                </a:solidFill>
                <a:latin typeface="Roboto Black" panose="02000000000000000000" pitchFamily="2" charset="0"/>
                <a:ea typeface="Roboto Black" panose="02000000000000000000" pitchFamily="2" charset="0"/>
              </a:rPr>
              <a:t>Adverse effects </a:t>
            </a:r>
          </a:p>
          <a:p>
            <a:pPr lvl="1"/>
            <a:r>
              <a:rPr lang="en-AU" dirty="0">
                <a:solidFill>
                  <a:srgbClr val="007796"/>
                </a:solidFill>
                <a:latin typeface="Roboto Black" panose="02000000000000000000" pitchFamily="2" charset="0"/>
                <a:ea typeface="Roboto Black" panose="02000000000000000000" pitchFamily="2" charset="0"/>
              </a:rPr>
              <a:t>Pharyngitis, GI disturbances</a:t>
            </a:r>
          </a:p>
          <a:p>
            <a:pPr lvl="2"/>
            <a:endParaRPr lang="en-AU" dirty="0"/>
          </a:p>
          <a:p>
            <a:pPr lvl="1"/>
            <a:endParaRPr lang="en-AU" dirty="0"/>
          </a:p>
        </p:txBody>
      </p:sp>
    </p:spTree>
    <p:extLst>
      <p:ext uri="{BB962C8B-B14F-4D97-AF65-F5344CB8AC3E}">
        <p14:creationId xmlns:p14="http://schemas.microsoft.com/office/powerpoint/2010/main" val="30875107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16279"/>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2273431" y="2351470"/>
            <a:ext cx="7645138"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Respiratory System:</a:t>
            </a:r>
          </a:p>
          <a:p>
            <a:pPr algn="ctr"/>
            <a:r>
              <a:rPr lang="en-AU" sz="3200" dirty="0">
                <a:solidFill>
                  <a:srgbClr val="007796"/>
                </a:solidFill>
                <a:latin typeface="Roboto Black" panose="02000000000000000000" pitchFamily="2" charset="0"/>
                <a:ea typeface="Roboto Black" panose="02000000000000000000" pitchFamily="2" charset="0"/>
              </a:rPr>
              <a:t>Lesson 3</a:t>
            </a:r>
          </a:p>
          <a:p>
            <a:pPr algn="ctr"/>
            <a:r>
              <a:rPr lang="en-AU" sz="3200" dirty="0">
                <a:solidFill>
                  <a:srgbClr val="007796"/>
                </a:solidFill>
                <a:latin typeface="Roboto Black" panose="02000000000000000000" pitchFamily="2" charset="0"/>
                <a:ea typeface="Roboto Black" panose="02000000000000000000" pitchFamily="2" charset="0"/>
              </a:rPr>
              <a:t>Decongestants and Antihistamines</a:t>
            </a:r>
          </a:p>
        </p:txBody>
      </p:sp>
    </p:spTree>
    <p:extLst>
      <p:ext uri="{BB962C8B-B14F-4D97-AF65-F5344CB8AC3E}">
        <p14:creationId xmlns:p14="http://schemas.microsoft.com/office/powerpoint/2010/main" val="40341143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3644" y="1332533"/>
            <a:ext cx="4171122" cy="4233380"/>
          </a:xfrm>
        </p:spPr>
        <p:txBody>
          <a:bodyPr>
            <a:noAutofit/>
          </a:bodyPr>
          <a:lstStyle/>
          <a:p>
            <a:pPr algn="ctr"/>
            <a:r>
              <a:rPr lang="en-AU" sz="3200" dirty="0">
                <a:solidFill>
                  <a:srgbClr val="016187"/>
                </a:solidFill>
                <a:latin typeface="Roboto Black" panose="02000000000000000000" pitchFamily="2" charset="0"/>
                <a:ea typeface="Roboto Black" panose="02000000000000000000" pitchFamily="2" charset="0"/>
              </a:rPr>
              <a:t>In allergic rhinitis, histamine dilates the blood vessels of the sinuses.</a:t>
            </a:r>
            <a:br>
              <a:rPr lang="en-AU" sz="3200" dirty="0">
                <a:solidFill>
                  <a:srgbClr val="016187"/>
                </a:solidFill>
                <a:latin typeface="Roboto Black" panose="02000000000000000000" pitchFamily="2" charset="0"/>
                <a:ea typeface="Roboto Black" panose="02000000000000000000" pitchFamily="2" charset="0"/>
              </a:rPr>
            </a:br>
            <a:br>
              <a:rPr lang="en-AU" sz="3200" dirty="0">
                <a:solidFill>
                  <a:srgbClr val="016187"/>
                </a:solidFill>
                <a:latin typeface="Roboto Black" panose="02000000000000000000" pitchFamily="2" charset="0"/>
                <a:ea typeface="Roboto Black" panose="02000000000000000000" pitchFamily="2" charset="0"/>
              </a:rPr>
            </a:br>
            <a:r>
              <a:rPr lang="en-AU" sz="3200" dirty="0">
                <a:solidFill>
                  <a:srgbClr val="016187"/>
                </a:solidFill>
                <a:latin typeface="Roboto Black" panose="02000000000000000000" pitchFamily="2" charset="0"/>
                <a:ea typeface="Roboto Black" panose="02000000000000000000" pitchFamily="2" charset="0"/>
              </a:rPr>
              <a:t>Decongestants constrict those blood vessels by acting on the alpha 1 adrenergic receptors.</a:t>
            </a:r>
            <a:endParaRPr lang="en-AU" sz="3200" dirty="0"/>
          </a:p>
        </p:txBody>
      </p:sp>
      <p:pic>
        <p:nvPicPr>
          <p:cNvPr id="5" name="Content Placeholder 4">
            <a:extLst>
              <a:ext uri="{FF2B5EF4-FFF2-40B4-BE49-F238E27FC236}">
                <a16:creationId xmlns:a16="http://schemas.microsoft.com/office/drawing/2014/main" id="{299F5955-7F5F-4281-9414-7CCBC47B66C5}"/>
              </a:ext>
            </a:extLst>
          </p:cNvPr>
          <p:cNvPicPr>
            <a:picLocks noGrp="1" noChangeAspect="1"/>
          </p:cNvPicPr>
          <p:nvPr>
            <p:ph sz="quarter" idx="1"/>
          </p:nvPr>
        </p:nvPicPr>
        <p:blipFill>
          <a:blip r:embed="rId3">
            <a:extLst>
              <a:ext uri="{28A0092B-C50C-407E-A947-70E740481C1C}">
                <a14:useLocalDpi xmlns:a14="http://schemas.microsoft.com/office/drawing/2010/main" val="0"/>
              </a:ext>
            </a:extLst>
          </a:blip>
          <a:stretch>
            <a:fillRect/>
          </a:stretch>
        </p:blipFill>
        <p:spPr>
          <a:xfrm>
            <a:off x="4896350" y="0"/>
            <a:ext cx="7414919" cy="6857300"/>
          </a:xfrm>
        </p:spPr>
      </p:pic>
      <p:sp>
        <p:nvSpPr>
          <p:cNvPr id="3" name="Rectangle 2">
            <a:extLst>
              <a:ext uri="{FF2B5EF4-FFF2-40B4-BE49-F238E27FC236}">
                <a16:creationId xmlns:a16="http://schemas.microsoft.com/office/drawing/2014/main" id="{51468C3E-CB13-4C05-930B-B15044575930}"/>
              </a:ext>
            </a:extLst>
          </p:cNvPr>
          <p:cNvSpPr/>
          <p:nvPr/>
        </p:nvSpPr>
        <p:spPr>
          <a:xfrm>
            <a:off x="9346179" y="188394"/>
            <a:ext cx="2845821" cy="20401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 name="Rectangle 3">
            <a:extLst>
              <a:ext uri="{FF2B5EF4-FFF2-40B4-BE49-F238E27FC236}">
                <a16:creationId xmlns:a16="http://schemas.microsoft.com/office/drawing/2014/main" id="{626977BD-3D96-4F4C-9DD1-C6083E5D014E}"/>
              </a:ext>
            </a:extLst>
          </p:cNvPr>
          <p:cNvSpPr/>
          <p:nvPr/>
        </p:nvSpPr>
        <p:spPr>
          <a:xfrm>
            <a:off x="7894167" y="992515"/>
            <a:ext cx="1599051" cy="183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4719865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C6E3D97-2A89-48DF-A235-3FFF581DEA7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34470" y="338649"/>
            <a:ext cx="12192000" cy="6154225"/>
          </a:xfrm>
        </p:spPr>
      </p:pic>
      <p:sp>
        <p:nvSpPr>
          <p:cNvPr id="6" name="Rectangle 2">
            <a:extLst>
              <a:ext uri="{FF2B5EF4-FFF2-40B4-BE49-F238E27FC236}">
                <a16:creationId xmlns:a16="http://schemas.microsoft.com/office/drawing/2014/main" id="{84D0524A-EF76-4496-BFEC-14FF602E6C4E}"/>
              </a:ext>
            </a:extLst>
          </p:cNvPr>
          <p:cNvSpPr txBox="1">
            <a:spLocks noChangeArrowheads="1"/>
          </p:cNvSpPr>
          <p:nvPr/>
        </p:nvSpPr>
        <p:spPr>
          <a:xfrm>
            <a:off x="639983" y="988360"/>
            <a:ext cx="4715759" cy="485480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4000" dirty="0">
                <a:solidFill>
                  <a:srgbClr val="007796"/>
                </a:solidFill>
                <a:latin typeface="Roboto Black" panose="02000000000000000000" pitchFamily="2" charset="0"/>
                <a:ea typeface="Roboto Black" panose="02000000000000000000" pitchFamily="2" charset="0"/>
              </a:rPr>
              <a:t>The sinuses</a:t>
            </a:r>
          </a:p>
          <a:p>
            <a:endParaRPr lang="en-AU" sz="4000" dirty="0">
              <a:solidFill>
                <a:srgbClr val="016187"/>
              </a:solidFill>
              <a:latin typeface="Roboto Black" panose="02000000000000000000" pitchFamily="2" charset="0"/>
              <a:ea typeface="Roboto Black" panose="02000000000000000000" pitchFamily="2" charset="0"/>
            </a:endParaRPr>
          </a:p>
          <a:p>
            <a:r>
              <a:rPr lang="en-AU" sz="2800" dirty="0">
                <a:solidFill>
                  <a:srgbClr val="007796"/>
                </a:solidFill>
                <a:latin typeface="Roboto Black" panose="02000000000000000000" pitchFamily="2" charset="0"/>
                <a:ea typeface="Roboto Black" panose="02000000000000000000" pitchFamily="2" charset="0"/>
              </a:rPr>
              <a:t>Normally, the sinuses are empty except for a thin layer of mucus.</a:t>
            </a:r>
          </a:p>
          <a:p>
            <a:endParaRPr lang="en-AU" sz="2800" dirty="0">
              <a:solidFill>
                <a:srgbClr val="007796"/>
              </a:solidFill>
              <a:latin typeface="Roboto Black" panose="02000000000000000000" pitchFamily="2" charset="0"/>
              <a:ea typeface="Roboto Black" panose="02000000000000000000" pitchFamily="2" charset="0"/>
            </a:endParaRPr>
          </a:p>
          <a:p>
            <a:r>
              <a:rPr lang="en-AU" sz="2800" dirty="0">
                <a:solidFill>
                  <a:srgbClr val="007796"/>
                </a:solidFill>
                <a:latin typeface="Roboto Black" panose="02000000000000000000" pitchFamily="2" charset="0"/>
                <a:ea typeface="Roboto Black" panose="02000000000000000000" pitchFamily="2" charset="0"/>
              </a:rPr>
              <a:t>We probably have sinuses to humidify the air</a:t>
            </a:r>
            <a:endParaRPr lang="en-US" sz="2800" dirty="0">
              <a:solidFill>
                <a:srgbClr val="00779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37584288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82181"/>
            <a:ext cx="9144000" cy="758825"/>
          </a:xfrm>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Decongestants </a:t>
            </a:r>
          </a:p>
        </p:txBody>
      </p:sp>
      <p:sp>
        <p:nvSpPr>
          <p:cNvPr id="3" name="Content Placeholder 2"/>
          <p:cNvSpPr>
            <a:spLocks noGrp="1"/>
          </p:cNvSpPr>
          <p:nvPr>
            <p:ph sz="quarter" idx="1"/>
          </p:nvPr>
        </p:nvSpPr>
        <p:spPr>
          <a:xfrm>
            <a:off x="533400" y="1350677"/>
            <a:ext cx="6671521" cy="5315166"/>
          </a:xfrm>
        </p:spPr>
        <p:txBody>
          <a:bodyPr>
            <a:normAutofit/>
          </a:bodyPr>
          <a:lstStyle/>
          <a:p>
            <a:r>
              <a:rPr lang="en-AU" dirty="0">
                <a:solidFill>
                  <a:srgbClr val="007796"/>
                </a:solidFill>
                <a:latin typeface="Roboto Black" panose="02000000000000000000" pitchFamily="2" charset="0"/>
                <a:ea typeface="Roboto Black" panose="02000000000000000000" pitchFamily="2" charset="0"/>
              </a:rPr>
              <a:t>Decongestants</a:t>
            </a:r>
          </a:p>
          <a:p>
            <a:pPr lvl="1"/>
            <a:r>
              <a:rPr lang="en-AU" dirty="0">
                <a:solidFill>
                  <a:srgbClr val="007796"/>
                </a:solidFill>
                <a:latin typeface="Roboto Black" panose="02000000000000000000" pitchFamily="2" charset="0"/>
                <a:ea typeface="Roboto Black" panose="02000000000000000000" pitchFamily="2" charset="0"/>
              </a:rPr>
              <a:t>Help stop ‘runny nose’</a:t>
            </a:r>
          </a:p>
          <a:p>
            <a:pPr lvl="1"/>
            <a:r>
              <a:rPr lang="en-AU" dirty="0">
                <a:solidFill>
                  <a:srgbClr val="007796"/>
                </a:solidFill>
                <a:latin typeface="Roboto Black" panose="02000000000000000000" pitchFamily="2" charset="0"/>
                <a:ea typeface="Roboto Black" panose="02000000000000000000" pitchFamily="2" charset="0"/>
              </a:rPr>
              <a:t>Alpha agonists (act like adrenaline on the alpha 1 receptors)</a:t>
            </a:r>
          </a:p>
          <a:p>
            <a:pPr lvl="2"/>
            <a:r>
              <a:rPr lang="en-AU" dirty="0">
                <a:solidFill>
                  <a:srgbClr val="007796"/>
                </a:solidFill>
                <a:latin typeface="Roboto Black" panose="02000000000000000000" pitchFamily="2" charset="0"/>
                <a:ea typeface="Roboto Black" panose="02000000000000000000" pitchFamily="2" charset="0"/>
              </a:rPr>
              <a:t>Vasoconstriction = decrease  in secretions, reduction in swelling of mucus membranes and oedema , opening of nasal passage</a:t>
            </a:r>
          </a:p>
          <a:p>
            <a:pPr lvl="2"/>
            <a:endParaRPr lang="en-AU" dirty="0">
              <a:solidFill>
                <a:srgbClr val="016187"/>
              </a:solidFill>
              <a:latin typeface="Roboto Black" panose="02000000000000000000" pitchFamily="2" charset="0"/>
              <a:ea typeface="Roboto Black" panose="02000000000000000000" pitchFamily="2" charset="0"/>
            </a:endParaRPr>
          </a:p>
          <a:p>
            <a:pPr marL="593725" lvl="2" indent="0">
              <a:buNone/>
            </a:pPr>
            <a:endParaRPr lang="en-AU" dirty="0"/>
          </a:p>
          <a:p>
            <a:pPr lvl="1"/>
            <a:endParaRPr lang="en-AU" dirty="0"/>
          </a:p>
          <a:p>
            <a:endParaRPr lang="en-AU" dirty="0"/>
          </a:p>
        </p:txBody>
      </p:sp>
      <p:pic>
        <p:nvPicPr>
          <p:cNvPr id="5" name="Content Placeholder 4">
            <a:extLst>
              <a:ext uri="{FF2B5EF4-FFF2-40B4-BE49-F238E27FC236}">
                <a16:creationId xmlns:a16="http://schemas.microsoft.com/office/drawing/2014/main" id="{1B91482E-B00A-4F7B-8D1D-13F998F82D60}"/>
              </a:ext>
            </a:extLst>
          </p:cNvPr>
          <p:cNvPicPr>
            <a:picLocks noChangeAspect="1"/>
          </p:cNvPicPr>
          <p:nvPr/>
        </p:nvPicPr>
        <p:blipFill rotWithShape="1">
          <a:blip r:embed="rId3">
            <a:extLst>
              <a:ext uri="{28A0092B-C50C-407E-A947-70E740481C1C}">
                <a14:useLocalDpi xmlns:a14="http://schemas.microsoft.com/office/drawing/2010/main" val="0"/>
              </a:ext>
            </a:extLst>
          </a:blip>
          <a:srcRect l="29991" r="7161"/>
          <a:stretch/>
        </p:blipFill>
        <p:spPr>
          <a:xfrm>
            <a:off x="7993626" y="3349100"/>
            <a:ext cx="4021393" cy="3229806"/>
          </a:xfrm>
          <a:prstGeom prst="rect">
            <a:avLst/>
          </a:prstGeom>
        </p:spPr>
      </p:pic>
      <p:pic>
        <p:nvPicPr>
          <p:cNvPr id="6" name="Content Placeholder 4">
            <a:extLst>
              <a:ext uri="{FF2B5EF4-FFF2-40B4-BE49-F238E27FC236}">
                <a16:creationId xmlns:a16="http://schemas.microsoft.com/office/drawing/2014/main" id="{5C68146E-337F-457C-88BC-B5DB91A18A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9283" y="3869669"/>
            <a:ext cx="3176680" cy="2937786"/>
          </a:xfrm>
          <a:prstGeom prst="rect">
            <a:avLst/>
          </a:prstGeom>
        </p:spPr>
      </p:pic>
      <p:sp>
        <p:nvSpPr>
          <p:cNvPr id="4" name="Oval 3">
            <a:extLst>
              <a:ext uri="{FF2B5EF4-FFF2-40B4-BE49-F238E27FC236}">
                <a16:creationId xmlns:a16="http://schemas.microsoft.com/office/drawing/2014/main" id="{13F73778-7916-47FD-AD6E-702597C4CF10}"/>
              </a:ext>
            </a:extLst>
          </p:cNvPr>
          <p:cNvSpPr/>
          <p:nvPr/>
        </p:nvSpPr>
        <p:spPr>
          <a:xfrm>
            <a:off x="3014304" y="4764989"/>
            <a:ext cx="1667975" cy="1047654"/>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8" name="Straight Arrow Connector 7">
            <a:extLst>
              <a:ext uri="{FF2B5EF4-FFF2-40B4-BE49-F238E27FC236}">
                <a16:creationId xmlns:a16="http://schemas.microsoft.com/office/drawing/2014/main" id="{EA85162C-7620-462E-8083-AFF268ABBA6C}"/>
              </a:ext>
            </a:extLst>
          </p:cNvPr>
          <p:cNvCxnSpPr>
            <a:cxnSpLocks/>
          </p:cNvCxnSpPr>
          <p:nvPr/>
        </p:nvCxnSpPr>
        <p:spPr>
          <a:xfrm flipH="1">
            <a:off x="4158452" y="4884458"/>
            <a:ext cx="1001705" cy="390573"/>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A54826E-0F05-4C34-9537-58BF4F60F559}"/>
              </a:ext>
            </a:extLst>
          </p:cNvPr>
          <p:cNvCxnSpPr>
            <a:cxnSpLocks/>
          </p:cNvCxnSpPr>
          <p:nvPr/>
        </p:nvCxnSpPr>
        <p:spPr>
          <a:xfrm>
            <a:off x="7848217" y="4764989"/>
            <a:ext cx="2890239" cy="510042"/>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6" name="Rectangle 2">
            <a:extLst>
              <a:ext uri="{FF2B5EF4-FFF2-40B4-BE49-F238E27FC236}">
                <a16:creationId xmlns:a16="http://schemas.microsoft.com/office/drawing/2014/main" id="{0CF8D93F-0B95-49F1-9120-0008630A7718}"/>
              </a:ext>
            </a:extLst>
          </p:cNvPr>
          <p:cNvSpPr txBox="1">
            <a:spLocks noChangeArrowheads="1"/>
          </p:cNvSpPr>
          <p:nvPr/>
        </p:nvSpPr>
        <p:spPr>
          <a:xfrm>
            <a:off x="5084668" y="3349099"/>
            <a:ext cx="2763549" cy="22672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2000" dirty="0">
                <a:solidFill>
                  <a:srgbClr val="FF0000"/>
                </a:solidFill>
                <a:latin typeface="Roboto Black" panose="02000000000000000000" pitchFamily="2" charset="0"/>
                <a:ea typeface="Roboto Black" panose="02000000000000000000" pitchFamily="2" charset="0"/>
              </a:rPr>
              <a:t>Constrict the blood vessels that had been dilated by histamine</a:t>
            </a:r>
            <a:endParaRPr lang="en-US" sz="2000" dirty="0">
              <a:solidFill>
                <a:srgbClr val="FF0000"/>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840428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382181"/>
            <a:ext cx="9144000" cy="758825"/>
          </a:xfrm>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Decongestants </a:t>
            </a:r>
          </a:p>
        </p:txBody>
      </p:sp>
      <p:sp>
        <p:nvSpPr>
          <p:cNvPr id="3" name="Content Placeholder 2"/>
          <p:cNvSpPr>
            <a:spLocks noGrp="1"/>
          </p:cNvSpPr>
          <p:nvPr>
            <p:ph sz="quarter" idx="1"/>
          </p:nvPr>
        </p:nvSpPr>
        <p:spPr>
          <a:xfrm>
            <a:off x="533400" y="1350677"/>
            <a:ext cx="10515600" cy="5315166"/>
          </a:xfrm>
        </p:spPr>
        <p:txBody>
          <a:bodyPr>
            <a:normAutofit/>
          </a:bodyPr>
          <a:lstStyle/>
          <a:p>
            <a:pPr marL="0" indent="0">
              <a:buNone/>
            </a:pPr>
            <a:endParaRPr lang="en-AU" dirty="0">
              <a:solidFill>
                <a:srgbClr val="007796"/>
              </a:solidFill>
              <a:latin typeface="Roboto Black" panose="02000000000000000000" pitchFamily="2" charset="0"/>
              <a:ea typeface="Roboto Black" panose="02000000000000000000" pitchFamily="2" charset="0"/>
            </a:endParaRPr>
          </a:p>
          <a:p>
            <a:pPr lvl="1"/>
            <a:r>
              <a:rPr lang="en-AU" dirty="0">
                <a:solidFill>
                  <a:srgbClr val="007796"/>
                </a:solidFill>
                <a:latin typeface="Roboto Black" panose="02000000000000000000" pitchFamily="2" charset="0"/>
                <a:ea typeface="Roboto Black" panose="02000000000000000000" pitchFamily="2" charset="0"/>
              </a:rPr>
              <a:t>Nasal sprays</a:t>
            </a:r>
          </a:p>
          <a:p>
            <a:pPr lvl="2"/>
            <a:r>
              <a:rPr lang="en-AU" dirty="0">
                <a:solidFill>
                  <a:srgbClr val="007796"/>
                </a:solidFill>
                <a:latin typeface="Roboto Black" panose="02000000000000000000" pitchFamily="2" charset="0"/>
                <a:ea typeface="Roboto Black" panose="02000000000000000000" pitchFamily="2" charset="0"/>
              </a:rPr>
              <a:t>Oxymetazoline (</a:t>
            </a:r>
            <a:r>
              <a:rPr lang="en-AU" dirty="0" err="1">
                <a:solidFill>
                  <a:srgbClr val="007796"/>
                </a:solidFill>
                <a:latin typeface="Roboto Black" panose="02000000000000000000" pitchFamily="2" charset="0"/>
                <a:ea typeface="Roboto Black" panose="02000000000000000000" pitchFamily="2" charset="0"/>
              </a:rPr>
              <a:t>Drixine</a:t>
            </a:r>
            <a:r>
              <a:rPr lang="en-AU" dirty="0">
                <a:solidFill>
                  <a:srgbClr val="007796"/>
                </a:solidFill>
                <a:latin typeface="Roboto Black" panose="02000000000000000000" pitchFamily="2" charset="0"/>
                <a:ea typeface="Roboto Black" panose="02000000000000000000" pitchFamily="2" charset="0"/>
              </a:rPr>
              <a:t>)</a:t>
            </a:r>
          </a:p>
          <a:p>
            <a:pPr lvl="1"/>
            <a:r>
              <a:rPr lang="en-AU" dirty="0">
                <a:solidFill>
                  <a:srgbClr val="007796"/>
                </a:solidFill>
                <a:latin typeface="Roboto Black" panose="02000000000000000000" pitchFamily="2" charset="0"/>
                <a:ea typeface="Roboto Black" panose="02000000000000000000" pitchFamily="2" charset="0"/>
              </a:rPr>
              <a:t>Oral medications</a:t>
            </a:r>
          </a:p>
          <a:p>
            <a:pPr lvl="2"/>
            <a:r>
              <a:rPr lang="en-AU" dirty="0">
                <a:solidFill>
                  <a:srgbClr val="007796"/>
                </a:solidFill>
                <a:latin typeface="Roboto Black" panose="02000000000000000000" pitchFamily="2" charset="0"/>
                <a:ea typeface="Roboto Black" panose="02000000000000000000" pitchFamily="2" charset="0"/>
              </a:rPr>
              <a:t>Pseudoephedrine (sale is restricted)</a:t>
            </a:r>
          </a:p>
          <a:p>
            <a:pPr lvl="2"/>
            <a:r>
              <a:rPr lang="en-AU" dirty="0">
                <a:solidFill>
                  <a:srgbClr val="007796"/>
                </a:solidFill>
                <a:latin typeface="Roboto Black" panose="02000000000000000000" pitchFamily="2" charset="0"/>
                <a:ea typeface="Roboto Black" panose="02000000000000000000" pitchFamily="2" charset="0"/>
              </a:rPr>
              <a:t>Phenylephrine (no better than placebo in most trials)</a:t>
            </a:r>
          </a:p>
          <a:p>
            <a:pPr lvl="2"/>
            <a:endParaRPr lang="en-AU" dirty="0">
              <a:solidFill>
                <a:srgbClr val="016187"/>
              </a:solidFill>
              <a:latin typeface="Roboto Black" panose="02000000000000000000" pitchFamily="2" charset="0"/>
              <a:ea typeface="Roboto Black" panose="02000000000000000000" pitchFamily="2" charset="0"/>
            </a:endParaRPr>
          </a:p>
          <a:p>
            <a:pPr lvl="1"/>
            <a:r>
              <a:rPr lang="en-AU" dirty="0">
                <a:solidFill>
                  <a:srgbClr val="007796"/>
                </a:solidFill>
                <a:latin typeface="Roboto Black" panose="02000000000000000000" pitchFamily="2" charset="0"/>
                <a:ea typeface="Roboto Black" panose="02000000000000000000" pitchFamily="2" charset="0"/>
              </a:rPr>
              <a:t>Adverse effects</a:t>
            </a:r>
          </a:p>
          <a:p>
            <a:pPr lvl="2"/>
            <a:r>
              <a:rPr lang="en-AU" dirty="0">
                <a:solidFill>
                  <a:srgbClr val="007796"/>
                </a:solidFill>
                <a:latin typeface="Roboto Black" panose="02000000000000000000" pitchFamily="2" charset="0"/>
                <a:ea typeface="Roboto Black" panose="02000000000000000000" pitchFamily="2" charset="0"/>
              </a:rPr>
              <a:t>Rebound congestion (!: Don’t use long-term)</a:t>
            </a:r>
          </a:p>
          <a:p>
            <a:pPr lvl="2"/>
            <a:r>
              <a:rPr lang="en-AU" dirty="0">
                <a:solidFill>
                  <a:srgbClr val="007796"/>
                </a:solidFill>
                <a:latin typeface="Roboto Black" panose="02000000000000000000" pitchFamily="2" charset="0"/>
                <a:ea typeface="Roboto Black" panose="02000000000000000000" pitchFamily="2" charset="0"/>
              </a:rPr>
              <a:t>Hypertension (other blood vessels are constricted)</a:t>
            </a:r>
          </a:p>
          <a:p>
            <a:pPr lvl="2"/>
            <a:r>
              <a:rPr lang="en-AU" dirty="0">
                <a:solidFill>
                  <a:srgbClr val="007796"/>
                </a:solidFill>
                <a:latin typeface="Roboto Black" panose="02000000000000000000" pitchFamily="2" charset="0"/>
                <a:ea typeface="Roboto Black" panose="02000000000000000000" pitchFamily="2" charset="0"/>
              </a:rPr>
              <a:t>Insomnia </a:t>
            </a:r>
          </a:p>
          <a:p>
            <a:pPr marL="593725" lvl="2" indent="0">
              <a:buNone/>
            </a:pPr>
            <a:endParaRPr lang="en-AU" dirty="0"/>
          </a:p>
          <a:p>
            <a:pPr lvl="1"/>
            <a:endParaRPr lang="en-AU" dirty="0"/>
          </a:p>
          <a:p>
            <a:endParaRPr lang="en-AU" dirty="0"/>
          </a:p>
        </p:txBody>
      </p:sp>
      <p:pic>
        <p:nvPicPr>
          <p:cNvPr id="5" name="Content Placeholder 4">
            <a:extLst>
              <a:ext uri="{FF2B5EF4-FFF2-40B4-BE49-F238E27FC236}">
                <a16:creationId xmlns:a16="http://schemas.microsoft.com/office/drawing/2014/main" id="{1B91482E-B00A-4F7B-8D1D-13F998F82D60}"/>
              </a:ext>
            </a:extLst>
          </p:cNvPr>
          <p:cNvPicPr>
            <a:picLocks noChangeAspect="1"/>
          </p:cNvPicPr>
          <p:nvPr/>
        </p:nvPicPr>
        <p:blipFill rotWithShape="1">
          <a:blip r:embed="rId3">
            <a:extLst>
              <a:ext uri="{28A0092B-C50C-407E-A947-70E740481C1C}">
                <a14:useLocalDpi xmlns:a14="http://schemas.microsoft.com/office/drawing/2010/main" val="0"/>
              </a:ext>
            </a:extLst>
          </a:blip>
          <a:srcRect l="29991" r="7161"/>
          <a:stretch/>
        </p:blipFill>
        <p:spPr>
          <a:xfrm>
            <a:off x="7993626" y="3349100"/>
            <a:ext cx="4021393" cy="3229806"/>
          </a:xfrm>
          <a:prstGeom prst="rect">
            <a:avLst/>
          </a:prstGeom>
        </p:spPr>
      </p:pic>
    </p:spTree>
    <p:extLst>
      <p:ext uri="{BB962C8B-B14F-4D97-AF65-F5344CB8AC3E}">
        <p14:creationId xmlns:p14="http://schemas.microsoft.com/office/powerpoint/2010/main" val="36354763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16187"/>
                </a:solidFill>
                <a:latin typeface="Roboto Black" panose="02000000000000000000" pitchFamily="2" charset="0"/>
                <a:ea typeface="Roboto Black" panose="02000000000000000000" pitchFamily="2" charset="0"/>
              </a:rPr>
              <a:t>Antihistamines (H1 antagonists) </a:t>
            </a:r>
            <a:br>
              <a:rPr lang="en-AU" sz="4000" b="1" dirty="0">
                <a:solidFill>
                  <a:srgbClr val="016187"/>
                </a:solidFill>
                <a:latin typeface="Roboto Black" panose="02000000000000000000" pitchFamily="2" charset="0"/>
                <a:ea typeface="Roboto Black" panose="02000000000000000000" pitchFamily="2" charset="0"/>
              </a:rPr>
            </a:br>
            <a:r>
              <a:rPr lang="en-AU" sz="4000" b="1" i="1" dirty="0">
                <a:solidFill>
                  <a:srgbClr val="016187"/>
                </a:solidFill>
                <a:latin typeface="Roboto Black" panose="02000000000000000000" pitchFamily="2" charset="0"/>
                <a:ea typeface="Roboto Black" panose="02000000000000000000" pitchFamily="2" charset="0"/>
              </a:rPr>
              <a:t>Discussed in the tutorial</a:t>
            </a:r>
          </a:p>
        </p:txBody>
      </p:sp>
      <p:sp>
        <p:nvSpPr>
          <p:cNvPr id="3" name="Content Placeholder 2"/>
          <p:cNvSpPr>
            <a:spLocks noGrp="1"/>
          </p:cNvSpPr>
          <p:nvPr>
            <p:ph sz="quarter" idx="1"/>
          </p:nvPr>
        </p:nvSpPr>
        <p:spPr>
          <a:xfrm>
            <a:off x="1181100" y="1920875"/>
            <a:ext cx="9829800" cy="4572000"/>
          </a:xfrm>
        </p:spPr>
        <p:txBody>
          <a:bodyPr>
            <a:normAutofit/>
          </a:bodyPr>
          <a:lstStyle/>
          <a:p>
            <a:r>
              <a:rPr lang="en-AU" dirty="0">
                <a:solidFill>
                  <a:srgbClr val="016187"/>
                </a:solidFill>
                <a:latin typeface="Roboto Black" panose="02000000000000000000" pitchFamily="2" charset="0"/>
                <a:ea typeface="Roboto Black" panose="02000000000000000000" pitchFamily="2" charset="0"/>
              </a:rPr>
              <a:t>H1 antagonists (</a:t>
            </a:r>
            <a:r>
              <a:rPr lang="en-AU" dirty="0">
                <a:solidFill>
                  <a:srgbClr val="FF0000"/>
                </a:solidFill>
                <a:latin typeface="Roboto Black" panose="02000000000000000000" pitchFamily="2" charset="0"/>
                <a:ea typeface="Roboto Black" panose="02000000000000000000" pitchFamily="2" charset="0"/>
              </a:rPr>
              <a:t>NOT the H2 antagonists in gut</a:t>
            </a:r>
            <a:r>
              <a:rPr lang="en-AU" dirty="0">
                <a:solidFill>
                  <a:srgbClr val="016187"/>
                </a:solidFill>
                <a:latin typeface="Roboto Black" panose="02000000000000000000" pitchFamily="2" charset="0"/>
                <a:ea typeface="Roboto Black" panose="02000000000000000000" pitchFamily="2" charset="0"/>
              </a:rPr>
              <a:t>)</a:t>
            </a:r>
          </a:p>
        </p:txBody>
      </p:sp>
      <p:pic>
        <p:nvPicPr>
          <p:cNvPr id="4" name="Content Placeholder 4">
            <a:extLst>
              <a:ext uri="{FF2B5EF4-FFF2-40B4-BE49-F238E27FC236}">
                <a16:creationId xmlns:a16="http://schemas.microsoft.com/office/drawing/2014/main" id="{8A49816A-429F-438C-B226-2A9F55957B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59309" y="2610646"/>
            <a:ext cx="4592739" cy="4247354"/>
          </a:xfrm>
          <a:prstGeom prst="rect">
            <a:avLst/>
          </a:prstGeom>
        </p:spPr>
      </p:pic>
      <p:sp>
        <p:nvSpPr>
          <p:cNvPr id="5" name="Rectangle 2">
            <a:extLst>
              <a:ext uri="{FF2B5EF4-FFF2-40B4-BE49-F238E27FC236}">
                <a16:creationId xmlns:a16="http://schemas.microsoft.com/office/drawing/2014/main" id="{517F1F99-D249-4E0E-8DD7-897CD5B46FE4}"/>
              </a:ext>
            </a:extLst>
          </p:cNvPr>
          <p:cNvSpPr txBox="1">
            <a:spLocks noChangeArrowheads="1"/>
          </p:cNvSpPr>
          <p:nvPr/>
        </p:nvSpPr>
        <p:spPr>
          <a:xfrm>
            <a:off x="7092672" y="3073226"/>
            <a:ext cx="2763549" cy="226729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AU" sz="2000" dirty="0">
                <a:solidFill>
                  <a:srgbClr val="FF0000"/>
                </a:solidFill>
                <a:latin typeface="Roboto Black" panose="02000000000000000000" pitchFamily="2" charset="0"/>
                <a:ea typeface="Roboto Black" panose="02000000000000000000" pitchFamily="2" charset="0"/>
              </a:rPr>
              <a:t>Help stop this entire cascade</a:t>
            </a:r>
            <a:endParaRPr lang="en-US" sz="2000" dirty="0">
              <a:solidFill>
                <a:srgbClr val="FF0000"/>
              </a:solidFill>
              <a:latin typeface="Roboto Black" panose="02000000000000000000" pitchFamily="2" charset="0"/>
              <a:ea typeface="Roboto Black" panose="02000000000000000000" pitchFamily="2" charset="0"/>
            </a:endParaRPr>
          </a:p>
        </p:txBody>
      </p:sp>
      <p:cxnSp>
        <p:nvCxnSpPr>
          <p:cNvPr id="7" name="Straight Arrow Connector 6">
            <a:extLst>
              <a:ext uri="{FF2B5EF4-FFF2-40B4-BE49-F238E27FC236}">
                <a16:creationId xmlns:a16="http://schemas.microsoft.com/office/drawing/2014/main" id="{A070980F-D5B5-430F-B3FB-34F172DA8249}"/>
              </a:ext>
            </a:extLst>
          </p:cNvPr>
          <p:cNvCxnSpPr>
            <a:endCxn id="4" idx="3"/>
          </p:cNvCxnSpPr>
          <p:nvPr/>
        </p:nvCxnSpPr>
        <p:spPr>
          <a:xfrm flipH="1">
            <a:off x="6052048" y="4075743"/>
            <a:ext cx="1139088" cy="658580"/>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422FDE9-F288-43EE-B3C8-F385986D7D63}"/>
              </a:ext>
            </a:extLst>
          </p:cNvPr>
          <p:cNvCxnSpPr>
            <a:cxnSpLocks/>
          </p:cNvCxnSpPr>
          <p:nvPr/>
        </p:nvCxnSpPr>
        <p:spPr>
          <a:xfrm flipH="1">
            <a:off x="5394501" y="4372813"/>
            <a:ext cx="2036340" cy="1508697"/>
          </a:xfrm>
          <a:prstGeom prst="straightConnector1">
            <a:avLst/>
          </a:prstGeom>
          <a:ln w="5715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C946339-ACBD-4421-B019-DA5C4920C730}"/>
              </a:ext>
            </a:extLst>
          </p:cNvPr>
          <p:cNvSpPr/>
          <p:nvPr/>
        </p:nvSpPr>
        <p:spPr>
          <a:xfrm>
            <a:off x="4062393" y="2834336"/>
            <a:ext cx="2059015" cy="117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15FB8D31-351F-41B7-AED2-7E66577EE739}"/>
              </a:ext>
            </a:extLst>
          </p:cNvPr>
          <p:cNvSpPr/>
          <p:nvPr/>
        </p:nvSpPr>
        <p:spPr>
          <a:xfrm>
            <a:off x="3299192" y="3207292"/>
            <a:ext cx="831690" cy="1056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42869823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16187"/>
                </a:solidFill>
                <a:latin typeface="Roboto Black" panose="02000000000000000000" pitchFamily="2" charset="0"/>
                <a:ea typeface="Roboto Black" panose="02000000000000000000" pitchFamily="2" charset="0"/>
              </a:rPr>
              <a:t>Antihistamines (H1 antagonists) </a:t>
            </a:r>
            <a:br>
              <a:rPr lang="en-AU" sz="4000" b="1" dirty="0">
                <a:solidFill>
                  <a:srgbClr val="016187"/>
                </a:solidFill>
                <a:latin typeface="Roboto Black" panose="02000000000000000000" pitchFamily="2" charset="0"/>
                <a:ea typeface="Roboto Black" panose="02000000000000000000" pitchFamily="2" charset="0"/>
              </a:rPr>
            </a:br>
            <a:r>
              <a:rPr lang="en-AU" sz="4000" b="1" i="1" dirty="0">
                <a:solidFill>
                  <a:srgbClr val="016187"/>
                </a:solidFill>
                <a:latin typeface="Roboto Black" panose="02000000000000000000" pitchFamily="2" charset="0"/>
                <a:ea typeface="Roboto Black" panose="02000000000000000000" pitchFamily="2" charset="0"/>
              </a:rPr>
              <a:t>Discussed in the tutorial</a:t>
            </a:r>
          </a:p>
        </p:txBody>
      </p:sp>
      <p:sp>
        <p:nvSpPr>
          <p:cNvPr id="3" name="Content Placeholder 2"/>
          <p:cNvSpPr>
            <a:spLocks noGrp="1"/>
          </p:cNvSpPr>
          <p:nvPr>
            <p:ph sz="quarter" idx="1"/>
          </p:nvPr>
        </p:nvSpPr>
        <p:spPr>
          <a:xfrm>
            <a:off x="1181100" y="1920875"/>
            <a:ext cx="9829800" cy="4572000"/>
          </a:xfrm>
        </p:spPr>
        <p:txBody>
          <a:bodyPr>
            <a:normAutofit lnSpcReduction="10000"/>
          </a:bodyPr>
          <a:lstStyle/>
          <a:p>
            <a:r>
              <a:rPr lang="en-AU" dirty="0">
                <a:solidFill>
                  <a:srgbClr val="016187"/>
                </a:solidFill>
                <a:latin typeface="Roboto Black" panose="02000000000000000000" pitchFamily="2" charset="0"/>
                <a:ea typeface="Roboto Black" panose="02000000000000000000" pitchFamily="2" charset="0"/>
              </a:rPr>
              <a:t>H1 are first generation (cross BBB; Dimenhydrinate)</a:t>
            </a:r>
          </a:p>
          <a:p>
            <a:pPr lvl="1"/>
            <a:r>
              <a:rPr lang="en-AU" dirty="0">
                <a:solidFill>
                  <a:srgbClr val="016187"/>
                </a:solidFill>
                <a:latin typeface="Roboto Black" panose="02000000000000000000" pitchFamily="2" charset="0"/>
                <a:ea typeface="Roboto Black" panose="02000000000000000000" pitchFamily="2" charset="0"/>
              </a:rPr>
              <a:t>Side effects include drowsiness and decreased motion sickness</a:t>
            </a:r>
          </a:p>
          <a:p>
            <a:pPr lvl="2"/>
            <a:r>
              <a:rPr lang="en-AU" dirty="0">
                <a:solidFill>
                  <a:srgbClr val="016187"/>
                </a:solidFill>
                <a:latin typeface="Roboto Black" panose="02000000000000000000" pitchFamily="2" charset="0"/>
                <a:ea typeface="Roboto Black" panose="02000000000000000000" pitchFamily="2" charset="0"/>
              </a:rPr>
              <a:t>These are often used for their ‘side effects’</a:t>
            </a:r>
          </a:p>
          <a:p>
            <a:pPr lvl="1"/>
            <a:r>
              <a:rPr lang="en-AU" dirty="0">
                <a:solidFill>
                  <a:srgbClr val="016187"/>
                </a:solidFill>
                <a:latin typeface="Roboto Black" panose="02000000000000000000" pitchFamily="2" charset="0"/>
                <a:ea typeface="Roboto Black" panose="02000000000000000000" pitchFamily="2" charset="0"/>
              </a:rPr>
              <a:t>These are associated with higher risk of Alzheimer’s disease </a:t>
            </a:r>
          </a:p>
          <a:p>
            <a:r>
              <a:rPr lang="en-AU" dirty="0">
                <a:solidFill>
                  <a:srgbClr val="016187"/>
                </a:solidFill>
                <a:latin typeface="Roboto Black" panose="02000000000000000000" pitchFamily="2" charset="0"/>
                <a:ea typeface="Roboto Black" panose="02000000000000000000" pitchFamily="2" charset="0"/>
              </a:rPr>
              <a:t>H1 can be second generation </a:t>
            </a:r>
          </a:p>
          <a:p>
            <a:pPr lvl="1"/>
            <a:r>
              <a:rPr lang="en-AU" dirty="0">
                <a:solidFill>
                  <a:srgbClr val="016187"/>
                </a:solidFill>
                <a:latin typeface="Roboto Black" panose="02000000000000000000" pitchFamily="2" charset="0"/>
                <a:ea typeface="Roboto Black" panose="02000000000000000000" pitchFamily="2" charset="0"/>
              </a:rPr>
              <a:t>do not cross BBB to the same degree, so less drowsiness</a:t>
            </a:r>
          </a:p>
          <a:p>
            <a:pPr lvl="1"/>
            <a:r>
              <a:rPr lang="en-AU" dirty="0">
                <a:solidFill>
                  <a:srgbClr val="016187"/>
                </a:solidFill>
                <a:latin typeface="Roboto Black" panose="02000000000000000000" pitchFamily="2" charset="0"/>
                <a:ea typeface="Roboto Black" panose="02000000000000000000" pitchFamily="2" charset="0"/>
              </a:rPr>
              <a:t>Loratadine and fexofenadine</a:t>
            </a:r>
          </a:p>
          <a:p>
            <a:r>
              <a:rPr lang="en-AU" dirty="0">
                <a:solidFill>
                  <a:srgbClr val="016187"/>
                </a:solidFill>
                <a:latin typeface="Roboto Black" panose="02000000000000000000" pitchFamily="2" charset="0"/>
                <a:ea typeface="Roboto Black" panose="02000000000000000000" pitchFamily="2" charset="0"/>
              </a:rPr>
              <a:t>Decrease the vasodilation effects of histamine</a:t>
            </a:r>
          </a:p>
          <a:p>
            <a:r>
              <a:rPr lang="en-AU" dirty="0">
                <a:solidFill>
                  <a:srgbClr val="016187"/>
                </a:solidFill>
                <a:latin typeface="Roboto Black" panose="02000000000000000000" pitchFamily="2" charset="0"/>
                <a:ea typeface="Roboto Black" panose="02000000000000000000" pitchFamily="2" charset="0"/>
              </a:rPr>
              <a:t>Antihistamines have varying amounts of secondary antimuscarinic actions </a:t>
            </a:r>
          </a:p>
          <a:p>
            <a:pPr lvl="1"/>
            <a:r>
              <a:rPr lang="en-AU" dirty="0">
                <a:solidFill>
                  <a:srgbClr val="016187"/>
                </a:solidFill>
                <a:latin typeface="Roboto Black" panose="02000000000000000000" pitchFamily="2" charset="0"/>
                <a:ea typeface="Roboto Black" panose="02000000000000000000" pitchFamily="2" charset="0"/>
              </a:rPr>
              <a:t>This is usually more profound with the first generation medications: dry mouth, difficulty urinating, eye pain</a:t>
            </a:r>
          </a:p>
        </p:txBody>
      </p:sp>
    </p:spTree>
    <p:extLst>
      <p:ext uri="{BB962C8B-B14F-4D97-AF65-F5344CB8AC3E}">
        <p14:creationId xmlns:p14="http://schemas.microsoft.com/office/powerpoint/2010/main" val="8861414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FD7ED3E-F1E4-4859-B5CB-65B5A7A3EE5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930" y="-5555702"/>
            <a:ext cx="18761338" cy="13728168"/>
          </a:xfrm>
        </p:spPr>
      </p:pic>
      <p:sp>
        <p:nvSpPr>
          <p:cNvPr id="6" name="Rectangle 5">
            <a:extLst>
              <a:ext uri="{FF2B5EF4-FFF2-40B4-BE49-F238E27FC236}">
                <a16:creationId xmlns:a16="http://schemas.microsoft.com/office/drawing/2014/main" id="{4537381D-49A4-4198-9050-8EB228FE0AC6}"/>
              </a:ext>
            </a:extLst>
          </p:cNvPr>
          <p:cNvSpPr/>
          <p:nvPr/>
        </p:nvSpPr>
        <p:spPr>
          <a:xfrm>
            <a:off x="985838" y="-514350"/>
            <a:ext cx="10615612" cy="10572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sz="3600" dirty="0">
              <a:solidFill>
                <a:srgbClr val="016187"/>
              </a:solidFill>
              <a:latin typeface="Roboto Black" panose="02000000000000000000" pitchFamily="2" charset="0"/>
              <a:ea typeface="Roboto Black" panose="02000000000000000000" pitchFamily="2" charset="0"/>
            </a:endParaRPr>
          </a:p>
          <a:p>
            <a:pPr algn="ctr"/>
            <a:r>
              <a:rPr lang="en-AU" sz="3600" dirty="0">
                <a:solidFill>
                  <a:srgbClr val="007796"/>
                </a:solidFill>
                <a:latin typeface="Roboto Black" panose="02000000000000000000" pitchFamily="2" charset="0"/>
                <a:ea typeface="Roboto Black" panose="02000000000000000000" pitchFamily="2" charset="0"/>
              </a:rPr>
              <a:t>The histamine receptors</a:t>
            </a:r>
            <a:endParaRPr lang="en-AU" dirty="0">
              <a:solidFill>
                <a:srgbClr val="00779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19120842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16279"/>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2273431" y="2510316"/>
            <a:ext cx="7645138"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Respiratory System:</a:t>
            </a:r>
          </a:p>
          <a:p>
            <a:pPr algn="ctr"/>
            <a:r>
              <a:rPr lang="en-AU" sz="3200" dirty="0">
                <a:solidFill>
                  <a:srgbClr val="007796"/>
                </a:solidFill>
                <a:latin typeface="Roboto Black" panose="02000000000000000000" pitchFamily="2" charset="0"/>
                <a:ea typeface="Roboto Black" panose="02000000000000000000" pitchFamily="2" charset="0"/>
              </a:rPr>
              <a:t>Lesson 4</a:t>
            </a:r>
          </a:p>
          <a:p>
            <a:pPr algn="ctr"/>
            <a:r>
              <a:rPr lang="en-AU" sz="3200" dirty="0">
                <a:solidFill>
                  <a:srgbClr val="007796"/>
                </a:solidFill>
                <a:latin typeface="Roboto Black" panose="02000000000000000000" pitchFamily="2" charset="0"/>
                <a:ea typeface="Roboto Black" panose="02000000000000000000" pitchFamily="2" charset="0"/>
              </a:rPr>
              <a:t>Overview of Lower Respiratory System Disorders</a:t>
            </a:r>
          </a:p>
          <a:p>
            <a:pPr algn="ctr"/>
            <a:endParaRPr lang="en-AU" sz="3200" dirty="0">
              <a:solidFill>
                <a:srgbClr val="00779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42938610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9912" y="338621"/>
            <a:ext cx="10515600" cy="1325563"/>
          </a:xfrm>
        </p:spPr>
        <p:txBody>
          <a:bodyPr/>
          <a:lstStyle/>
          <a:p>
            <a:pPr algn="ctr"/>
            <a:r>
              <a:rPr lang="en-AU" sz="4000" b="1" dirty="0">
                <a:solidFill>
                  <a:srgbClr val="016187"/>
                </a:solidFill>
                <a:latin typeface="Roboto Black" panose="02000000000000000000" pitchFamily="2" charset="0"/>
                <a:ea typeface="Roboto Black" panose="02000000000000000000" pitchFamily="2" charset="0"/>
              </a:rPr>
              <a:t>Ventilation (obstructive) disorders</a:t>
            </a:r>
          </a:p>
        </p:txBody>
      </p:sp>
      <p:sp>
        <p:nvSpPr>
          <p:cNvPr id="3" name="Content Placeholder 2"/>
          <p:cNvSpPr>
            <a:spLocks noGrp="1"/>
          </p:cNvSpPr>
          <p:nvPr>
            <p:ph sz="quarter" idx="1"/>
          </p:nvPr>
        </p:nvSpPr>
        <p:spPr>
          <a:xfrm>
            <a:off x="1825752" y="1606560"/>
            <a:ext cx="8503920" cy="4854280"/>
          </a:xfrm>
        </p:spPr>
        <p:txBody>
          <a:bodyPr>
            <a:normAutofit lnSpcReduction="10000"/>
          </a:bodyPr>
          <a:lstStyle/>
          <a:p>
            <a:r>
              <a:rPr lang="en-AU" dirty="0">
                <a:solidFill>
                  <a:srgbClr val="016187"/>
                </a:solidFill>
                <a:latin typeface="Roboto Black" panose="02000000000000000000" pitchFamily="2" charset="0"/>
                <a:ea typeface="Roboto Black" panose="02000000000000000000" pitchFamily="2" charset="0"/>
              </a:rPr>
              <a:t>COPD (emphysema </a:t>
            </a:r>
            <a:r>
              <a:rPr lang="en-AU" b="1" dirty="0">
                <a:solidFill>
                  <a:srgbClr val="016187"/>
                </a:solidFill>
                <a:latin typeface="Roboto Black" panose="02000000000000000000" pitchFamily="2" charset="0"/>
                <a:ea typeface="Roboto Black" panose="02000000000000000000" pitchFamily="2" charset="0"/>
              </a:rPr>
              <a:t>and</a:t>
            </a:r>
            <a:r>
              <a:rPr lang="en-AU" dirty="0">
                <a:solidFill>
                  <a:srgbClr val="016187"/>
                </a:solidFill>
                <a:latin typeface="Roboto Black" panose="02000000000000000000" pitchFamily="2" charset="0"/>
                <a:ea typeface="Roboto Black" panose="02000000000000000000" pitchFamily="2" charset="0"/>
              </a:rPr>
              <a:t> chronic bronchitis)</a:t>
            </a:r>
          </a:p>
          <a:p>
            <a:pPr lvl="1"/>
            <a:r>
              <a:rPr lang="en-AU" dirty="0">
                <a:solidFill>
                  <a:srgbClr val="016187"/>
                </a:solidFill>
                <a:latin typeface="Roboto Black" panose="02000000000000000000" pitchFamily="2" charset="0"/>
                <a:ea typeface="Roboto Black" panose="02000000000000000000" pitchFamily="2" charset="0"/>
              </a:rPr>
              <a:t>Other disorders chronically obstruct but are not COPD</a:t>
            </a:r>
          </a:p>
          <a:p>
            <a:pPr marL="0" indent="0">
              <a:buNone/>
            </a:pPr>
            <a:endParaRPr lang="en-AU" dirty="0">
              <a:solidFill>
                <a:srgbClr val="016187"/>
              </a:solidFill>
              <a:latin typeface="Roboto Black" panose="02000000000000000000" pitchFamily="2" charset="0"/>
              <a:ea typeface="Roboto Black" panose="02000000000000000000" pitchFamily="2" charset="0"/>
            </a:endParaRPr>
          </a:p>
          <a:p>
            <a:r>
              <a:rPr lang="en-AU" dirty="0">
                <a:solidFill>
                  <a:srgbClr val="016187"/>
                </a:solidFill>
                <a:latin typeface="Roboto Black" panose="02000000000000000000" pitchFamily="2" charset="0"/>
                <a:ea typeface="Roboto Black" panose="02000000000000000000" pitchFamily="2" charset="0"/>
              </a:rPr>
              <a:t>Chronic bronchitis (only)</a:t>
            </a:r>
          </a:p>
          <a:p>
            <a:endParaRPr lang="en-AU" dirty="0">
              <a:solidFill>
                <a:srgbClr val="016187"/>
              </a:solidFill>
              <a:latin typeface="Roboto Black" panose="02000000000000000000" pitchFamily="2" charset="0"/>
              <a:ea typeface="Roboto Black" panose="02000000000000000000" pitchFamily="2" charset="0"/>
            </a:endParaRPr>
          </a:p>
          <a:p>
            <a:r>
              <a:rPr lang="en-AU" dirty="0">
                <a:solidFill>
                  <a:srgbClr val="016187"/>
                </a:solidFill>
                <a:latin typeface="Roboto Black" panose="02000000000000000000" pitchFamily="2" charset="0"/>
                <a:ea typeface="Roboto Black" panose="02000000000000000000" pitchFamily="2" charset="0"/>
              </a:rPr>
              <a:t>Emphysema (only)</a:t>
            </a:r>
          </a:p>
          <a:p>
            <a:endParaRPr lang="en-AU" dirty="0">
              <a:solidFill>
                <a:srgbClr val="016187"/>
              </a:solidFill>
              <a:latin typeface="Roboto Black" panose="02000000000000000000" pitchFamily="2" charset="0"/>
              <a:ea typeface="Roboto Black" panose="02000000000000000000" pitchFamily="2" charset="0"/>
            </a:endParaRPr>
          </a:p>
          <a:p>
            <a:r>
              <a:rPr lang="en-AU" dirty="0">
                <a:solidFill>
                  <a:srgbClr val="016187"/>
                </a:solidFill>
                <a:latin typeface="Roboto Black" panose="02000000000000000000" pitchFamily="2" charset="0"/>
                <a:ea typeface="Roboto Black" panose="02000000000000000000" pitchFamily="2" charset="0"/>
              </a:rPr>
              <a:t>Asthma (10% of Australians have asthma)</a:t>
            </a:r>
          </a:p>
          <a:p>
            <a:endParaRPr lang="en-AU" dirty="0">
              <a:solidFill>
                <a:srgbClr val="016187"/>
              </a:solidFill>
              <a:latin typeface="Roboto Black" panose="02000000000000000000" pitchFamily="2" charset="0"/>
              <a:ea typeface="Roboto Black" panose="02000000000000000000" pitchFamily="2" charset="0"/>
            </a:endParaRPr>
          </a:p>
          <a:p>
            <a:r>
              <a:rPr lang="en-AU" dirty="0">
                <a:solidFill>
                  <a:srgbClr val="016187"/>
                </a:solidFill>
                <a:latin typeface="Roboto Black" panose="02000000000000000000" pitchFamily="2" charset="0"/>
                <a:ea typeface="Roboto Black" panose="02000000000000000000" pitchFamily="2" charset="0"/>
              </a:rPr>
              <a:t>Cystic fibrosis (a fairly common genetic disorder)</a:t>
            </a:r>
          </a:p>
        </p:txBody>
      </p:sp>
    </p:spTree>
    <p:extLst>
      <p:ext uri="{BB962C8B-B14F-4D97-AF65-F5344CB8AC3E}">
        <p14:creationId xmlns:p14="http://schemas.microsoft.com/office/powerpoint/2010/main" val="27208245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4B5C343-85D4-4E8A-9A88-E458ACB8E5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9043" y="0"/>
            <a:ext cx="8422027" cy="6400740"/>
          </a:xfrm>
        </p:spPr>
      </p:pic>
      <p:sp>
        <p:nvSpPr>
          <p:cNvPr id="2" name="Title 1">
            <a:extLst>
              <a:ext uri="{FF2B5EF4-FFF2-40B4-BE49-F238E27FC236}">
                <a16:creationId xmlns:a16="http://schemas.microsoft.com/office/drawing/2014/main" id="{A123F7F1-EDED-421D-9D1D-0C756E83005B}"/>
              </a:ext>
            </a:extLst>
          </p:cNvPr>
          <p:cNvSpPr>
            <a:spLocks noGrp="1"/>
          </p:cNvSpPr>
          <p:nvPr>
            <p:ph type="title"/>
          </p:nvPr>
        </p:nvSpPr>
        <p:spPr>
          <a:xfrm>
            <a:off x="626165" y="5957542"/>
            <a:ext cx="10515600" cy="1325563"/>
          </a:xfrm>
        </p:spPr>
        <p:txBody>
          <a:bodyPr>
            <a:normAutofit/>
          </a:bodyPr>
          <a:lstStyle/>
          <a:p>
            <a:pPr algn="ctr"/>
            <a:r>
              <a:rPr lang="en-AU" sz="2800" dirty="0">
                <a:solidFill>
                  <a:srgbClr val="016187"/>
                </a:solidFill>
                <a:latin typeface="Roboto Black" panose="02000000000000000000" pitchFamily="2" charset="0"/>
                <a:ea typeface="Roboto Black" panose="02000000000000000000" pitchFamily="2" charset="0"/>
              </a:rPr>
              <a:t>Decreasing the lumen’s diameter by ½ = 1/16</a:t>
            </a:r>
            <a:r>
              <a:rPr lang="en-AU" sz="2800" baseline="30000" dirty="0">
                <a:solidFill>
                  <a:srgbClr val="016187"/>
                </a:solidFill>
                <a:latin typeface="Roboto Black" panose="02000000000000000000" pitchFamily="2" charset="0"/>
                <a:ea typeface="Roboto Black" panose="02000000000000000000" pitchFamily="2" charset="0"/>
              </a:rPr>
              <a:t>th</a:t>
            </a:r>
            <a:r>
              <a:rPr lang="en-AU" sz="2800" dirty="0">
                <a:solidFill>
                  <a:srgbClr val="016187"/>
                </a:solidFill>
                <a:latin typeface="Roboto Black" panose="02000000000000000000" pitchFamily="2" charset="0"/>
                <a:ea typeface="Roboto Black" panose="02000000000000000000" pitchFamily="2" charset="0"/>
              </a:rPr>
              <a:t> the flow of air</a:t>
            </a:r>
          </a:p>
        </p:txBody>
      </p:sp>
    </p:spTree>
    <p:extLst>
      <p:ext uri="{BB962C8B-B14F-4D97-AF65-F5344CB8AC3E}">
        <p14:creationId xmlns:p14="http://schemas.microsoft.com/office/powerpoint/2010/main" val="11094327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98696"/>
            <a:ext cx="10515600" cy="1325563"/>
          </a:xfrm>
        </p:spPr>
        <p:txBody>
          <a:bodyPr>
            <a:normAutofit/>
          </a:bodyPr>
          <a:lstStyle/>
          <a:p>
            <a:pPr algn="ctr"/>
            <a:r>
              <a:rPr lang="en-AU" sz="4000" b="1" dirty="0">
                <a:solidFill>
                  <a:srgbClr val="016187"/>
                </a:solidFill>
                <a:latin typeface="Roboto Black" panose="02000000000000000000" pitchFamily="2" charset="0"/>
                <a:ea typeface="Roboto Black" panose="02000000000000000000" pitchFamily="2" charset="0"/>
              </a:rPr>
              <a:t>Asthma</a:t>
            </a:r>
          </a:p>
        </p:txBody>
      </p:sp>
      <p:sp>
        <p:nvSpPr>
          <p:cNvPr id="3" name="Content Placeholder 2"/>
          <p:cNvSpPr>
            <a:spLocks noGrp="1"/>
          </p:cNvSpPr>
          <p:nvPr>
            <p:ph sz="quarter" idx="1"/>
          </p:nvPr>
        </p:nvSpPr>
        <p:spPr>
          <a:xfrm>
            <a:off x="838200" y="1060174"/>
            <a:ext cx="10515600" cy="5579680"/>
          </a:xfrm>
        </p:spPr>
        <p:txBody>
          <a:bodyPr>
            <a:normAutofit lnSpcReduction="10000"/>
          </a:bodyPr>
          <a:lstStyle/>
          <a:p>
            <a:r>
              <a:rPr lang="en-AU" dirty="0">
                <a:solidFill>
                  <a:srgbClr val="016187"/>
                </a:solidFill>
                <a:latin typeface="Roboto Black" panose="02000000000000000000" pitchFamily="2" charset="0"/>
                <a:ea typeface="Roboto Black" panose="02000000000000000000" pitchFamily="2" charset="0"/>
              </a:rPr>
              <a:t>A condition characterised by:</a:t>
            </a:r>
          </a:p>
          <a:p>
            <a:pPr lvl="1"/>
            <a:r>
              <a:rPr lang="en-AU" dirty="0">
                <a:solidFill>
                  <a:srgbClr val="016187"/>
                </a:solidFill>
                <a:latin typeface="Roboto Black" panose="02000000000000000000" pitchFamily="2" charset="0"/>
                <a:ea typeface="Roboto Black" panose="02000000000000000000" pitchFamily="2" charset="0"/>
              </a:rPr>
              <a:t>Bronchospasm</a:t>
            </a:r>
          </a:p>
          <a:p>
            <a:pPr lvl="1"/>
            <a:r>
              <a:rPr lang="en-AU" dirty="0">
                <a:solidFill>
                  <a:srgbClr val="016187"/>
                </a:solidFill>
                <a:latin typeface="Roboto Black" panose="02000000000000000000" pitchFamily="2" charset="0"/>
                <a:ea typeface="Roboto Black" panose="02000000000000000000" pitchFamily="2" charset="0"/>
              </a:rPr>
              <a:t>Inflammation</a:t>
            </a:r>
          </a:p>
          <a:p>
            <a:pPr lvl="1"/>
            <a:r>
              <a:rPr lang="en-AU" dirty="0">
                <a:solidFill>
                  <a:srgbClr val="016187"/>
                </a:solidFill>
                <a:latin typeface="Roboto Black" panose="02000000000000000000" pitchFamily="2" charset="0"/>
                <a:ea typeface="Roboto Black" panose="02000000000000000000" pitchFamily="2" charset="0"/>
              </a:rPr>
              <a:t>Hyperactive airways</a:t>
            </a:r>
          </a:p>
          <a:p>
            <a:pPr lvl="2"/>
            <a:r>
              <a:rPr lang="en-AU" dirty="0">
                <a:solidFill>
                  <a:srgbClr val="016187"/>
                </a:solidFill>
                <a:latin typeface="Roboto Black" panose="02000000000000000000" pitchFamily="2" charset="0"/>
                <a:ea typeface="Roboto Black" panose="02000000000000000000" pitchFamily="2" charset="0"/>
              </a:rPr>
              <a:t>Mucus hyper secretion</a:t>
            </a:r>
          </a:p>
          <a:p>
            <a:pPr lvl="2"/>
            <a:r>
              <a:rPr lang="en-AU" dirty="0">
                <a:solidFill>
                  <a:srgbClr val="016187"/>
                </a:solidFill>
                <a:latin typeface="Roboto Black" panose="02000000000000000000" pitchFamily="2" charset="0"/>
                <a:ea typeface="Roboto Black" panose="02000000000000000000" pitchFamily="2" charset="0"/>
              </a:rPr>
              <a:t>Oedema</a:t>
            </a:r>
          </a:p>
          <a:p>
            <a:r>
              <a:rPr lang="en-AU" dirty="0">
                <a:solidFill>
                  <a:srgbClr val="016187"/>
                </a:solidFill>
                <a:latin typeface="Roboto Black" panose="02000000000000000000" pitchFamily="2" charset="0"/>
                <a:ea typeface="Roboto Black" panose="02000000000000000000" pitchFamily="2" charset="0"/>
              </a:rPr>
              <a:t>Extrinsic</a:t>
            </a:r>
          </a:p>
          <a:p>
            <a:pPr lvl="1"/>
            <a:r>
              <a:rPr lang="en-AU" dirty="0">
                <a:solidFill>
                  <a:srgbClr val="016187"/>
                </a:solidFill>
                <a:latin typeface="Roboto Black" panose="02000000000000000000" pitchFamily="2" charset="0"/>
                <a:ea typeface="Roboto Black" panose="02000000000000000000" pitchFamily="2" charset="0"/>
              </a:rPr>
              <a:t>Allergens</a:t>
            </a:r>
          </a:p>
          <a:p>
            <a:r>
              <a:rPr lang="en-AU" dirty="0">
                <a:solidFill>
                  <a:srgbClr val="016187"/>
                </a:solidFill>
                <a:latin typeface="Roboto Black" panose="02000000000000000000" pitchFamily="2" charset="0"/>
                <a:ea typeface="Roboto Black" panose="02000000000000000000" pitchFamily="2" charset="0"/>
              </a:rPr>
              <a:t>Intrinsic</a:t>
            </a:r>
          </a:p>
          <a:p>
            <a:pPr lvl="1"/>
            <a:r>
              <a:rPr lang="en-AU" dirty="0">
                <a:solidFill>
                  <a:srgbClr val="016187"/>
                </a:solidFill>
                <a:latin typeface="Roboto Black" panose="02000000000000000000" pitchFamily="2" charset="0"/>
                <a:ea typeface="Roboto Black" panose="02000000000000000000" pitchFamily="2" charset="0"/>
              </a:rPr>
              <a:t>Non-allergic: anxiety, exercise</a:t>
            </a:r>
          </a:p>
          <a:p>
            <a:pPr marL="457200" lvl="1" indent="0" algn="ctr">
              <a:buNone/>
            </a:pPr>
            <a:endParaRPr lang="en-AU" i="1" dirty="0">
              <a:solidFill>
                <a:srgbClr val="FF0000"/>
              </a:solidFill>
              <a:latin typeface="Roboto Black" panose="02000000000000000000" pitchFamily="2" charset="0"/>
              <a:ea typeface="Roboto Black" panose="02000000000000000000" pitchFamily="2" charset="0"/>
            </a:endParaRPr>
          </a:p>
          <a:p>
            <a:pPr marL="457200" lvl="1" indent="0" algn="ctr">
              <a:buNone/>
            </a:pPr>
            <a:r>
              <a:rPr lang="en-AU" i="1" dirty="0">
                <a:solidFill>
                  <a:srgbClr val="FF0000"/>
                </a:solidFill>
                <a:latin typeface="Roboto Black" panose="02000000000000000000" pitchFamily="2" charset="0"/>
                <a:ea typeface="Roboto Black" panose="02000000000000000000" pitchFamily="2" charset="0"/>
              </a:rPr>
              <a:t>It may be best to consider an asthmatic to have a cup. Everything that irritates THEIR asthma fills up the cup. When the cup overflows, they have an asthmatic attack. </a:t>
            </a:r>
          </a:p>
          <a:p>
            <a:pPr marL="457200" lvl="1" indent="0" algn="ctr">
              <a:buNone/>
            </a:pPr>
            <a:r>
              <a:rPr lang="en-AU" i="1" dirty="0">
                <a:solidFill>
                  <a:srgbClr val="FF0000"/>
                </a:solidFill>
                <a:latin typeface="Roboto Black" panose="02000000000000000000" pitchFamily="2" charset="0"/>
                <a:ea typeface="Roboto Black" panose="02000000000000000000" pitchFamily="2" charset="0"/>
              </a:rPr>
              <a:t>Try to get them to eliminate anything that contributes to their asthma. </a:t>
            </a:r>
          </a:p>
        </p:txBody>
      </p:sp>
      <p:pic>
        <p:nvPicPr>
          <p:cNvPr id="1026" name="Picture 2" descr="https://encrypted-tbn3.gstatic.com/images?q=tbn:ANd9GcTPi8uFDrPA4jR8jaAef7gPz29pxDhZ3xCOHEc0x5DIZ8y_zNjL1Bwj4zq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7718" y="1597749"/>
            <a:ext cx="4734592" cy="2660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57683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p:txBody>
          <a:bodyPr/>
          <a:lstStyle/>
          <a:p>
            <a:pPr>
              <a:defRPr/>
            </a:pPr>
            <a:endParaRPr lang="en-US"/>
          </a:p>
        </p:txBody>
      </p:sp>
      <p:sp>
        <p:nvSpPr>
          <p:cNvPr id="56323" name="Rectangle 3"/>
          <p:cNvSpPr>
            <a:spLocks noGrp="1" noChangeArrowheads="1"/>
          </p:cNvSpPr>
          <p:nvPr>
            <p:ph sz="quarter" idx="1"/>
          </p:nvPr>
        </p:nvSpPr>
        <p:spPr>
          <a:xfrm>
            <a:off x="1981200" y="1600201"/>
            <a:ext cx="7467600" cy="4873625"/>
          </a:xfrm>
        </p:spPr>
        <p:txBody>
          <a:bodyPr/>
          <a:lstStyle/>
          <a:p>
            <a:pPr eaLnBrk="1" hangingPunct="1"/>
            <a:endParaRPr lang="en-US"/>
          </a:p>
        </p:txBody>
      </p:sp>
      <p:pic>
        <p:nvPicPr>
          <p:cNvPr id="5632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1" y="-603448"/>
            <a:ext cx="9144000" cy="741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14726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p:txBody>
          <a:bodyPr/>
          <a:lstStyle/>
          <a:p>
            <a:pPr>
              <a:defRPr/>
            </a:pPr>
            <a:endParaRPr lang="en-US"/>
          </a:p>
        </p:txBody>
      </p:sp>
      <p:sp>
        <p:nvSpPr>
          <p:cNvPr id="57347" name="Rectangle 3"/>
          <p:cNvSpPr>
            <a:spLocks noGrp="1" noChangeArrowheads="1"/>
          </p:cNvSpPr>
          <p:nvPr>
            <p:ph sz="quarter" idx="1"/>
          </p:nvPr>
        </p:nvSpPr>
        <p:spPr>
          <a:xfrm>
            <a:off x="1981200" y="1600201"/>
            <a:ext cx="7467600" cy="4873625"/>
          </a:xfrm>
        </p:spPr>
        <p:txBody>
          <a:bodyPr/>
          <a:lstStyle/>
          <a:p>
            <a:pPr eaLnBrk="1" hangingPunct="1"/>
            <a:endParaRPr lang="en-US"/>
          </a:p>
        </p:txBody>
      </p:sp>
      <p:pic>
        <p:nvPicPr>
          <p:cNvPr id="573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9057" y="-1364973"/>
            <a:ext cx="11017111" cy="893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94035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pic>
        <p:nvPicPr>
          <p:cNvPr id="5" name="Content Placeholder 4">
            <a:extLst>
              <a:ext uri="{FF2B5EF4-FFF2-40B4-BE49-F238E27FC236}">
                <a16:creationId xmlns:a16="http://schemas.microsoft.com/office/drawing/2014/main" id="{185ECEF5-8E83-47A5-A824-258DF162E23C}"/>
              </a:ext>
            </a:extLst>
          </p:cNvPr>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7732" y="0"/>
            <a:ext cx="12259396" cy="6858000"/>
          </a:xfrm>
        </p:spPr>
      </p:pic>
    </p:spTree>
    <p:extLst>
      <p:ext uri="{BB962C8B-B14F-4D97-AF65-F5344CB8AC3E}">
        <p14:creationId xmlns:p14="http://schemas.microsoft.com/office/powerpoint/2010/main" val="17079722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A7456-E2A9-46A8-9A18-93D26352BE8A}"/>
              </a:ext>
            </a:extLst>
          </p:cNvPr>
          <p:cNvSpPr>
            <a:spLocks noGrp="1"/>
          </p:cNvSpPr>
          <p:nvPr>
            <p:ph type="body" sz="quarter" idx="17"/>
          </p:nvPr>
        </p:nvSpPr>
        <p:spPr/>
        <p:txBody>
          <a:bodyPr/>
          <a:lstStyle/>
          <a:p>
            <a:r>
              <a:rPr lang="en-AU" dirty="0" err="1">
                <a:solidFill>
                  <a:srgbClr val="007796"/>
                </a:solidFill>
              </a:rPr>
              <a:t>kjhkjhlkdfs</a:t>
            </a:r>
            <a:endParaRPr lang="en-AU" dirty="0">
              <a:solidFill>
                <a:srgbClr val="007796"/>
              </a:solidFill>
            </a:endParaRPr>
          </a:p>
        </p:txBody>
      </p:sp>
      <p:sp>
        <p:nvSpPr>
          <p:cNvPr id="4" name="Text Placeholder 3">
            <a:extLst>
              <a:ext uri="{FF2B5EF4-FFF2-40B4-BE49-F238E27FC236}">
                <a16:creationId xmlns:a16="http://schemas.microsoft.com/office/drawing/2014/main" id="{66AF63A5-E77F-4F26-A574-DDAEFBEE39CF}"/>
              </a:ext>
            </a:extLst>
          </p:cNvPr>
          <p:cNvSpPr>
            <a:spLocks noGrp="1"/>
          </p:cNvSpPr>
          <p:nvPr>
            <p:ph type="body" sz="quarter" idx="21"/>
          </p:nvPr>
        </p:nvSpPr>
        <p:spPr/>
        <p:txBody>
          <a:bodyPr/>
          <a:lstStyle/>
          <a:p>
            <a:endParaRPr lang="en-AU"/>
          </a:p>
        </p:txBody>
      </p:sp>
      <p:sp>
        <p:nvSpPr>
          <p:cNvPr id="5" name="Text Placeholder 4">
            <a:extLst>
              <a:ext uri="{FF2B5EF4-FFF2-40B4-BE49-F238E27FC236}">
                <a16:creationId xmlns:a16="http://schemas.microsoft.com/office/drawing/2014/main" id="{3362E11A-F760-4031-B984-A6833D6EDD43}"/>
              </a:ext>
            </a:extLst>
          </p:cNvPr>
          <p:cNvSpPr>
            <a:spLocks noGrp="1"/>
          </p:cNvSpPr>
          <p:nvPr>
            <p:ph type="body" sz="quarter" idx="22"/>
          </p:nvPr>
        </p:nvSpPr>
        <p:spPr/>
        <p:txBody>
          <a:bodyPr/>
          <a:lstStyle/>
          <a:p>
            <a:endParaRPr lang="en-AU"/>
          </a:p>
        </p:txBody>
      </p:sp>
      <p:sp>
        <p:nvSpPr>
          <p:cNvPr id="6" name="Text Placeholder 5">
            <a:extLst>
              <a:ext uri="{FF2B5EF4-FFF2-40B4-BE49-F238E27FC236}">
                <a16:creationId xmlns:a16="http://schemas.microsoft.com/office/drawing/2014/main" id="{1F62B28D-42B4-413B-A0D6-386E895AC737}"/>
              </a:ext>
            </a:extLst>
          </p:cNvPr>
          <p:cNvSpPr>
            <a:spLocks noGrp="1"/>
          </p:cNvSpPr>
          <p:nvPr>
            <p:ph type="body" sz="quarter" idx="18"/>
          </p:nvPr>
        </p:nvSpPr>
        <p:spPr/>
        <p:txBody>
          <a:bodyPr/>
          <a:lstStyle/>
          <a:p>
            <a:endParaRPr lang="en-AU"/>
          </a:p>
        </p:txBody>
      </p:sp>
      <p:sp>
        <p:nvSpPr>
          <p:cNvPr id="7" name="Rectangle 6">
            <a:extLst>
              <a:ext uri="{FF2B5EF4-FFF2-40B4-BE49-F238E27FC236}">
                <a16:creationId xmlns:a16="http://schemas.microsoft.com/office/drawing/2014/main" id="{7E19700E-B7C8-4875-B10E-DCC67DD0410E}"/>
              </a:ext>
            </a:extLst>
          </p:cNvPr>
          <p:cNvSpPr/>
          <p:nvPr/>
        </p:nvSpPr>
        <p:spPr>
          <a:xfrm>
            <a:off x="0" y="-16279"/>
            <a:ext cx="12192000" cy="6858000"/>
          </a:xfrm>
          <a:prstGeom prst="rect">
            <a:avLst/>
          </a:prstGeom>
          <a:solidFill>
            <a:srgbClr val="00779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rgbClr val="007796"/>
              </a:solidFill>
            </a:endParaRPr>
          </a:p>
        </p:txBody>
      </p:sp>
      <p:sp>
        <p:nvSpPr>
          <p:cNvPr id="8" name="Rectangle 7">
            <a:extLst>
              <a:ext uri="{FF2B5EF4-FFF2-40B4-BE49-F238E27FC236}">
                <a16:creationId xmlns:a16="http://schemas.microsoft.com/office/drawing/2014/main" id="{9A52971A-8847-4430-8BB5-FD027F7B3335}"/>
              </a:ext>
            </a:extLst>
          </p:cNvPr>
          <p:cNvSpPr/>
          <p:nvPr/>
        </p:nvSpPr>
        <p:spPr>
          <a:xfrm>
            <a:off x="1074335" y="853056"/>
            <a:ext cx="9785023" cy="530729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nSpc>
                <a:spcPct val="90000"/>
              </a:lnSpc>
              <a:spcBef>
                <a:spcPts val="1000"/>
              </a:spcBef>
            </a:pPr>
            <a:r>
              <a:rPr lang="en-AU" b="1" dirty="0"/>
              <a:t>PHAR2001_2_5_1</a:t>
            </a:r>
            <a:endParaRPr lang="en-AU" dirty="0"/>
          </a:p>
        </p:txBody>
      </p:sp>
      <p:sp>
        <p:nvSpPr>
          <p:cNvPr id="3" name="Text Placeholder 2">
            <a:extLst>
              <a:ext uri="{FF2B5EF4-FFF2-40B4-BE49-F238E27FC236}">
                <a16:creationId xmlns:a16="http://schemas.microsoft.com/office/drawing/2014/main" id="{9FBE544B-D75D-491B-A4AD-0406D551A9E6}"/>
              </a:ext>
            </a:extLst>
          </p:cNvPr>
          <p:cNvSpPr>
            <a:spLocks noGrp="1"/>
          </p:cNvSpPr>
          <p:nvPr>
            <p:ph type="body" sz="quarter" idx="20"/>
          </p:nvPr>
        </p:nvSpPr>
        <p:spPr>
          <a:xfrm>
            <a:off x="2273431" y="2510316"/>
            <a:ext cx="7645138" cy="1874571"/>
          </a:xfrm>
        </p:spPr>
        <p:txBody>
          <a:bodyPr/>
          <a:lstStyle/>
          <a:p>
            <a:pPr algn="ctr"/>
            <a:r>
              <a:rPr lang="en-AU" sz="3600" dirty="0">
                <a:solidFill>
                  <a:srgbClr val="007796"/>
                </a:solidFill>
                <a:latin typeface="Roboto Black" panose="02000000000000000000" pitchFamily="2" charset="0"/>
                <a:ea typeface="Roboto Black" panose="02000000000000000000" pitchFamily="2" charset="0"/>
              </a:rPr>
              <a:t>Medications of the Respiratory System:</a:t>
            </a:r>
          </a:p>
          <a:p>
            <a:pPr algn="ctr"/>
            <a:r>
              <a:rPr lang="en-AU" sz="3200" dirty="0">
                <a:solidFill>
                  <a:srgbClr val="007796"/>
                </a:solidFill>
                <a:latin typeface="Roboto Black" panose="02000000000000000000" pitchFamily="2" charset="0"/>
                <a:ea typeface="Roboto Black" panose="02000000000000000000" pitchFamily="2" charset="0"/>
              </a:rPr>
              <a:t>Lesson 5</a:t>
            </a:r>
          </a:p>
          <a:p>
            <a:pPr algn="ctr"/>
            <a:r>
              <a:rPr lang="en-AU" sz="3200" dirty="0">
                <a:solidFill>
                  <a:srgbClr val="007796"/>
                </a:solidFill>
                <a:latin typeface="Roboto Black" panose="02000000000000000000" pitchFamily="2" charset="0"/>
                <a:ea typeface="Roboto Black" panose="02000000000000000000" pitchFamily="2" charset="0"/>
              </a:rPr>
              <a:t>Treatment of Asthma (and other ventilation disorders)</a:t>
            </a:r>
          </a:p>
          <a:p>
            <a:pPr algn="ctr"/>
            <a:endParaRPr lang="en-AU" sz="3200" dirty="0">
              <a:solidFill>
                <a:srgbClr val="007796"/>
              </a:solidFill>
              <a:latin typeface="Roboto Black" panose="02000000000000000000" pitchFamily="2" charset="0"/>
              <a:ea typeface="Roboto Black" panose="02000000000000000000" pitchFamily="2" charset="0"/>
            </a:endParaRPr>
          </a:p>
        </p:txBody>
      </p:sp>
    </p:spTree>
    <p:extLst>
      <p:ext uri="{BB962C8B-B14F-4D97-AF65-F5344CB8AC3E}">
        <p14:creationId xmlns:p14="http://schemas.microsoft.com/office/powerpoint/2010/main" val="484139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Treatment of Asthma </a:t>
            </a:r>
          </a:p>
        </p:txBody>
      </p:sp>
      <p:sp>
        <p:nvSpPr>
          <p:cNvPr id="3" name="Content Placeholder 2"/>
          <p:cNvSpPr>
            <a:spLocks noGrp="1"/>
          </p:cNvSpPr>
          <p:nvPr>
            <p:ph sz="quarter" idx="1"/>
          </p:nvPr>
        </p:nvSpPr>
        <p:spPr/>
        <p:txBody>
          <a:bodyPr/>
          <a:lstStyle/>
          <a:p>
            <a:r>
              <a:rPr lang="en-AU" dirty="0">
                <a:solidFill>
                  <a:srgbClr val="007796"/>
                </a:solidFill>
                <a:latin typeface="Roboto Black" panose="02000000000000000000" pitchFamily="2" charset="0"/>
                <a:ea typeface="Roboto Black" panose="02000000000000000000" pitchFamily="2" charset="0"/>
              </a:rPr>
              <a:t>Antihistamines (PO; oral; </a:t>
            </a:r>
            <a:r>
              <a:rPr lang="en-AU" dirty="0">
                <a:solidFill>
                  <a:srgbClr val="FF0000"/>
                </a:solidFill>
                <a:latin typeface="Roboto Black" panose="02000000000000000000" pitchFamily="2" charset="0"/>
                <a:ea typeface="Roboto Black" panose="02000000000000000000" pitchFamily="2" charset="0"/>
              </a:rPr>
              <a:t>efficacy is questioned</a:t>
            </a:r>
            <a:r>
              <a:rPr lang="en-AU" dirty="0">
                <a:solidFill>
                  <a:srgbClr val="007796"/>
                </a:solidFill>
                <a:latin typeface="Roboto Black" panose="02000000000000000000" pitchFamily="2" charset="0"/>
                <a:ea typeface="Roboto Black" panose="02000000000000000000" pitchFamily="2" charset="0"/>
              </a:rPr>
              <a:t>)</a:t>
            </a:r>
          </a:p>
          <a:p>
            <a:r>
              <a:rPr lang="en-AU" dirty="0">
                <a:solidFill>
                  <a:srgbClr val="007796"/>
                </a:solidFill>
                <a:latin typeface="Roboto Black" panose="02000000000000000000" pitchFamily="2" charset="0"/>
                <a:ea typeface="Roboto Black" panose="02000000000000000000" pitchFamily="2" charset="0"/>
              </a:rPr>
              <a:t>Bronchodilators (MDI; metred-dose inhaler)</a:t>
            </a:r>
          </a:p>
          <a:p>
            <a:pPr lvl="1"/>
            <a:r>
              <a:rPr lang="en-AU" dirty="0">
                <a:solidFill>
                  <a:srgbClr val="007796"/>
                </a:solidFill>
                <a:latin typeface="Roboto Black" panose="02000000000000000000" pitchFamily="2" charset="0"/>
                <a:ea typeface="Roboto Black" panose="02000000000000000000" pitchFamily="2" charset="0"/>
              </a:rPr>
              <a:t>Beta 2 agonists</a:t>
            </a:r>
          </a:p>
          <a:p>
            <a:pPr lvl="1"/>
            <a:r>
              <a:rPr lang="en-AU" dirty="0">
                <a:solidFill>
                  <a:srgbClr val="007796"/>
                </a:solidFill>
                <a:latin typeface="Roboto Black" panose="02000000000000000000" pitchFamily="2" charset="0"/>
                <a:ea typeface="Roboto Black" panose="02000000000000000000" pitchFamily="2" charset="0"/>
              </a:rPr>
              <a:t>Anticholinergic drugs</a:t>
            </a:r>
          </a:p>
          <a:p>
            <a:pPr lvl="1"/>
            <a:r>
              <a:rPr lang="en-AU" dirty="0">
                <a:solidFill>
                  <a:srgbClr val="007796"/>
                </a:solidFill>
                <a:latin typeface="Roboto Black" panose="02000000000000000000" pitchFamily="2" charset="0"/>
                <a:ea typeface="Roboto Black" panose="02000000000000000000" pitchFamily="2" charset="0"/>
              </a:rPr>
              <a:t>Others, for instance </a:t>
            </a:r>
            <a:r>
              <a:rPr lang="en-AU" dirty="0" err="1">
                <a:solidFill>
                  <a:srgbClr val="007796"/>
                </a:solidFill>
                <a:latin typeface="Roboto Black" panose="02000000000000000000" pitchFamily="2" charset="0"/>
                <a:ea typeface="Roboto Black" panose="02000000000000000000" pitchFamily="2" charset="0"/>
              </a:rPr>
              <a:t>xanthines</a:t>
            </a:r>
            <a:r>
              <a:rPr lang="en-AU" dirty="0">
                <a:solidFill>
                  <a:srgbClr val="007796"/>
                </a:solidFill>
                <a:latin typeface="Roboto Black" panose="02000000000000000000" pitchFamily="2" charset="0"/>
                <a:ea typeface="Roboto Black" panose="02000000000000000000" pitchFamily="2" charset="0"/>
              </a:rPr>
              <a:t> (oral)</a:t>
            </a:r>
          </a:p>
          <a:p>
            <a:r>
              <a:rPr lang="en-AU" dirty="0">
                <a:solidFill>
                  <a:srgbClr val="007796"/>
                </a:solidFill>
                <a:latin typeface="Roboto Black" panose="02000000000000000000" pitchFamily="2" charset="0"/>
                <a:ea typeface="Roboto Black" panose="02000000000000000000" pitchFamily="2" charset="0"/>
              </a:rPr>
              <a:t>Corticosteroids (MDI)</a:t>
            </a:r>
          </a:p>
          <a:p>
            <a:r>
              <a:rPr lang="en-AU" dirty="0">
                <a:solidFill>
                  <a:srgbClr val="007796"/>
                </a:solidFill>
                <a:latin typeface="Roboto Black" panose="02000000000000000000" pitchFamily="2" charset="0"/>
                <a:ea typeface="Roboto Black" panose="02000000000000000000" pitchFamily="2" charset="0"/>
              </a:rPr>
              <a:t>Leukotriene inhibitors (PO)</a:t>
            </a:r>
          </a:p>
          <a:p>
            <a:r>
              <a:rPr lang="en-AU" dirty="0">
                <a:solidFill>
                  <a:srgbClr val="007796"/>
                </a:solidFill>
                <a:latin typeface="Roboto Black" panose="02000000000000000000" pitchFamily="2" charset="0"/>
                <a:ea typeface="Roboto Black" panose="02000000000000000000" pitchFamily="2" charset="0"/>
              </a:rPr>
              <a:t>Corticosteroids (PO)</a:t>
            </a:r>
          </a:p>
          <a:p>
            <a:endParaRPr lang="en-AU" dirty="0">
              <a:latin typeface="Roboto Black" panose="02000000000000000000" pitchFamily="2" charset="0"/>
              <a:ea typeface="Roboto Black" panose="02000000000000000000" pitchFamily="2" charset="0"/>
            </a:endParaRPr>
          </a:p>
          <a:p>
            <a:pPr lvl="2"/>
            <a:endParaRPr lang="en-AU" dirty="0"/>
          </a:p>
          <a:p>
            <a:pPr marL="594360" lvl="2" indent="0">
              <a:buNone/>
            </a:pPr>
            <a:endParaRPr lang="en-AU" dirty="0"/>
          </a:p>
          <a:p>
            <a:pPr lvl="3"/>
            <a:endParaRPr lang="en-AU" dirty="0"/>
          </a:p>
          <a:p>
            <a:pPr lvl="1"/>
            <a:endParaRPr lang="en-AU" dirty="0"/>
          </a:p>
          <a:p>
            <a:pPr lvl="1"/>
            <a:endParaRPr lang="en-AU" dirty="0"/>
          </a:p>
        </p:txBody>
      </p:sp>
    </p:spTree>
    <p:extLst>
      <p:ext uri="{BB962C8B-B14F-4D97-AF65-F5344CB8AC3E}">
        <p14:creationId xmlns:p14="http://schemas.microsoft.com/office/powerpoint/2010/main" val="3859267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Antihistamines in asthma</a:t>
            </a:r>
          </a:p>
        </p:txBody>
      </p:sp>
      <p:sp>
        <p:nvSpPr>
          <p:cNvPr id="3" name="Content Placeholder 2"/>
          <p:cNvSpPr>
            <a:spLocks noGrp="1"/>
          </p:cNvSpPr>
          <p:nvPr>
            <p:ph sz="quarter" idx="1"/>
          </p:nvPr>
        </p:nvSpPr>
        <p:spPr>
          <a:xfrm>
            <a:off x="1113183" y="1527047"/>
            <a:ext cx="9939130" cy="4965827"/>
          </a:xfrm>
        </p:spPr>
        <p:txBody>
          <a:bodyPr>
            <a:normAutofit/>
          </a:bodyPr>
          <a:lstStyle/>
          <a:p>
            <a:r>
              <a:rPr lang="en-AU" dirty="0">
                <a:solidFill>
                  <a:srgbClr val="007796"/>
                </a:solidFill>
                <a:latin typeface="Roboto Black" panose="02000000000000000000" pitchFamily="2" charset="0"/>
                <a:ea typeface="Roboto Black" panose="02000000000000000000" pitchFamily="2" charset="0"/>
              </a:rPr>
              <a:t>Antihistamines</a:t>
            </a:r>
          </a:p>
          <a:p>
            <a:pPr lvl="1"/>
            <a:r>
              <a:rPr lang="en-AU" dirty="0">
                <a:solidFill>
                  <a:srgbClr val="007796"/>
                </a:solidFill>
                <a:latin typeface="Roboto Black" panose="02000000000000000000" pitchFamily="2" charset="0"/>
                <a:ea typeface="Roboto Black" panose="02000000000000000000" pitchFamily="2" charset="0"/>
              </a:rPr>
              <a:t>Block the release of histamine</a:t>
            </a:r>
          </a:p>
          <a:p>
            <a:pPr lvl="2"/>
            <a:r>
              <a:rPr lang="en-AU" dirty="0">
                <a:solidFill>
                  <a:srgbClr val="007796"/>
                </a:solidFill>
                <a:latin typeface="Roboto Black" panose="02000000000000000000" pitchFamily="2" charset="0"/>
                <a:ea typeface="Roboto Black" panose="02000000000000000000" pitchFamily="2" charset="0"/>
              </a:rPr>
              <a:t>Reduces one mediator in the inflammatory and allergic response</a:t>
            </a:r>
          </a:p>
          <a:p>
            <a:pPr lvl="2"/>
            <a:r>
              <a:rPr lang="en-AU" b="1" dirty="0">
                <a:solidFill>
                  <a:srgbClr val="FF0000"/>
                </a:solidFill>
                <a:latin typeface="Roboto Black" panose="02000000000000000000" pitchFamily="2" charset="0"/>
                <a:ea typeface="Roboto Black" panose="02000000000000000000" pitchFamily="2" charset="0"/>
              </a:rPr>
              <a:t>Limited use in asthma because the mast cell that releases histamine also releases other stronger mediators of inflammation and the asthmatic is normally more sensitive to those.    But some asthmatics respond. </a:t>
            </a:r>
            <a:r>
              <a:rPr lang="en-AU" dirty="0">
                <a:solidFill>
                  <a:srgbClr val="FF0000"/>
                </a:solidFill>
                <a:latin typeface="Roboto Black" panose="02000000000000000000" pitchFamily="2" charset="0"/>
                <a:ea typeface="Roboto Black" panose="02000000000000000000" pitchFamily="2" charset="0"/>
              </a:rPr>
              <a:t> </a:t>
            </a:r>
          </a:p>
          <a:p>
            <a:pPr lvl="1"/>
            <a:r>
              <a:rPr lang="en-AU" dirty="0">
                <a:solidFill>
                  <a:srgbClr val="007796"/>
                </a:solidFill>
                <a:latin typeface="Roboto Black" panose="02000000000000000000" pitchFamily="2" charset="0"/>
                <a:ea typeface="Roboto Black" panose="02000000000000000000" pitchFamily="2" charset="0"/>
              </a:rPr>
              <a:t> Adverse effects mainly seen with first generation </a:t>
            </a:r>
            <a:r>
              <a:rPr lang="en-AU" dirty="0" err="1">
                <a:solidFill>
                  <a:srgbClr val="007796"/>
                </a:solidFill>
                <a:latin typeface="Roboto Black" panose="02000000000000000000" pitchFamily="2" charset="0"/>
                <a:ea typeface="Roboto Black" panose="02000000000000000000" pitchFamily="2" charset="0"/>
              </a:rPr>
              <a:t>antihistimines</a:t>
            </a:r>
            <a:r>
              <a:rPr lang="en-AU" dirty="0">
                <a:solidFill>
                  <a:srgbClr val="007796"/>
                </a:solidFill>
                <a:latin typeface="Roboto Black" panose="02000000000000000000" pitchFamily="2" charset="0"/>
                <a:ea typeface="Roboto Black" panose="02000000000000000000" pitchFamily="2" charset="0"/>
              </a:rPr>
              <a:t> (the ones that cause drowsiness)</a:t>
            </a:r>
          </a:p>
          <a:p>
            <a:pPr lvl="2"/>
            <a:r>
              <a:rPr lang="en-AU" dirty="0">
                <a:solidFill>
                  <a:srgbClr val="007796"/>
                </a:solidFill>
                <a:latin typeface="Roboto Black" panose="02000000000000000000" pitchFamily="2" charset="0"/>
                <a:ea typeface="Roboto Black" panose="02000000000000000000" pitchFamily="2" charset="0"/>
              </a:rPr>
              <a:t>Anticholinergic effects if using first generation: don’t!</a:t>
            </a:r>
          </a:p>
          <a:p>
            <a:pPr lvl="2"/>
            <a:r>
              <a:rPr lang="en-AU" dirty="0">
                <a:solidFill>
                  <a:srgbClr val="007796"/>
                </a:solidFill>
                <a:latin typeface="Roboto Black" panose="02000000000000000000" pitchFamily="2" charset="0"/>
                <a:ea typeface="Roboto Black" panose="02000000000000000000" pitchFamily="2" charset="0"/>
              </a:rPr>
              <a:t>Dry mouth and drowsiness if using first generation: don’t!</a:t>
            </a:r>
          </a:p>
          <a:p>
            <a:pPr lvl="2"/>
            <a:r>
              <a:rPr lang="en-AU" dirty="0">
                <a:solidFill>
                  <a:srgbClr val="007796"/>
                </a:solidFill>
                <a:latin typeface="Roboto Black" panose="02000000000000000000" pitchFamily="2" charset="0"/>
                <a:ea typeface="Roboto Black" panose="02000000000000000000" pitchFamily="2" charset="0"/>
              </a:rPr>
              <a:t>CNS depressants if using first generation: don’t! </a:t>
            </a:r>
          </a:p>
          <a:p>
            <a:pPr lvl="1"/>
            <a:r>
              <a:rPr lang="en-AU" dirty="0">
                <a:solidFill>
                  <a:srgbClr val="007796"/>
                </a:solidFill>
                <a:latin typeface="Roboto Black" panose="02000000000000000000" pitchFamily="2" charset="0"/>
                <a:ea typeface="Roboto Black" panose="02000000000000000000" pitchFamily="2" charset="0"/>
              </a:rPr>
              <a:t>Use second generation antihistamines: Loratadine and fexofenadine and discontinue if no effect. </a:t>
            </a:r>
          </a:p>
          <a:p>
            <a:pPr lvl="1"/>
            <a:endParaRPr lang="en-AU" dirty="0"/>
          </a:p>
          <a:p>
            <a:pPr lvl="2"/>
            <a:endParaRPr lang="en-AU" dirty="0"/>
          </a:p>
          <a:p>
            <a:pPr marL="594360" lvl="2" indent="0">
              <a:buNone/>
            </a:pPr>
            <a:endParaRPr lang="en-AU" dirty="0"/>
          </a:p>
          <a:p>
            <a:pPr lvl="3"/>
            <a:endParaRPr lang="en-AU" dirty="0"/>
          </a:p>
          <a:p>
            <a:pPr lvl="1"/>
            <a:endParaRPr lang="en-AU" dirty="0"/>
          </a:p>
          <a:p>
            <a:pPr lvl="1"/>
            <a:endParaRPr lang="en-AU" dirty="0"/>
          </a:p>
        </p:txBody>
      </p:sp>
    </p:spTree>
    <p:extLst>
      <p:ext uri="{BB962C8B-B14F-4D97-AF65-F5344CB8AC3E}">
        <p14:creationId xmlns:p14="http://schemas.microsoft.com/office/powerpoint/2010/main" val="3307191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Bronchodilators: inhaled</a:t>
            </a:r>
          </a:p>
        </p:txBody>
      </p:sp>
      <p:sp>
        <p:nvSpPr>
          <p:cNvPr id="3" name="Content Placeholder 2"/>
          <p:cNvSpPr>
            <a:spLocks noGrp="1"/>
          </p:cNvSpPr>
          <p:nvPr>
            <p:ph sz="quarter" idx="1"/>
          </p:nvPr>
        </p:nvSpPr>
        <p:spPr>
          <a:xfrm>
            <a:off x="1128361" y="1931112"/>
            <a:ext cx="10225439" cy="5094998"/>
          </a:xfrm>
        </p:spPr>
        <p:txBody>
          <a:bodyPr>
            <a:normAutofit/>
          </a:bodyPr>
          <a:lstStyle/>
          <a:p>
            <a:pPr marL="0" indent="0" algn="ctr">
              <a:buNone/>
            </a:pPr>
            <a:r>
              <a:rPr lang="en-AU" dirty="0">
                <a:solidFill>
                  <a:srgbClr val="007796"/>
                </a:solidFill>
                <a:latin typeface="Roboto Black" panose="02000000000000000000" pitchFamily="2" charset="0"/>
                <a:ea typeface="Roboto Black" panose="02000000000000000000" pitchFamily="2" charset="0"/>
              </a:rPr>
              <a:t>Dilate the airways, either mimicking the SNS (fight or flight) or blocking the PNS (rest and digest) in lungs</a:t>
            </a:r>
          </a:p>
          <a:p>
            <a:endParaRPr lang="en-AU" sz="1600" dirty="0">
              <a:solidFill>
                <a:srgbClr val="016187"/>
              </a:solidFill>
              <a:latin typeface="Roboto Black" panose="02000000000000000000" pitchFamily="2" charset="0"/>
              <a:ea typeface="Roboto Black" panose="02000000000000000000" pitchFamily="2" charset="0"/>
            </a:endParaRPr>
          </a:p>
          <a:p>
            <a:pPr marL="274320" lvl="1" indent="0">
              <a:buNone/>
            </a:pPr>
            <a:endParaRPr lang="en-AU" dirty="0">
              <a:solidFill>
                <a:srgbClr val="016187"/>
              </a:solidFill>
              <a:latin typeface="Roboto Black" panose="02000000000000000000" pitchFamily="2" charset="0"/>
              <a:ea typeface="Roboto Black" panose="02000000000000000000" pitchFamily="2" charset="0"/>
            </a:endParaRPr>
          </a:p>
          <a:p>
            <a:pPr lvl="1"/>
            <a:endParaRPr lang="en-AU" dirty="0"/>
          </a:p>
        </p:txBody>
      </p:sp>
      <p:pic>
        <p:nvPicPr>
          <p:cNvPr id="4098" name="Picture 2" descr="C:\Users\least\AppData\Local\Microsoft\Windows\Temporary Internet Files\Content.IE5\COMC5PRL\MP90032112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0785" y="3107189"/>
            <a:ext cx="2510341" cy="3519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80064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Bronchodilators: inhaled</a:t>
            </a:r>
          </a:p>
        </p:txBody>
      </p:sp>
      <p:sp>
        <p:nvSpPr>
          <p:cNvPr id="3" name="Content Placeholder 2"/>
          <p:cNvSpPr>
            <a:spLocks noGrp="1"/>
          </p:cNvSpPr>
          <p:nvPr>
            <p:ph sz="quarter" idx="1"/>
          </p:nvPr>
        </p:nvSpPr>
        <p:spPr>
          <a:xfrm>
            <a:off x="1128361" y="1610601"/>
            <a:ext cx="8626069" cy="5094998"/>
          </a:xfrm>
        </p:spPr>
        <p:txBody>
          <a:bodyPr>
            <a:normAutofit/>
          </a:bodyPr>
          <a:lstStyle/>
          <a:p>
            <a:r>
              <a:rPr lang="en-AU" dirty="0">
                <a:solidFill>
                  <a:srgbClr val="FF0000"/>
                </a:solidFill>
                <a:latin typeface="Roboto Black" panose="02000000000000000000" pitchFamily="2" charset="0"/>
                <a:ea typeface="Roboto Black" panose="02000000000000000000" pitchFamily="2" charset="0"/>
              </a:rPr>
              <a:t>Beta</a:t>
            </a:r>
            <a:r>
              <a:rPr lang="en-AU" baseline="-25000" dirty="0">
                <a:solidFill>
                  <a:srgbClr val="FF0000"/>
                </a:solidFill>
                <a:latin typeface="Roboto Black" panose="02000000000000000000" pitchFamily="2" charset="0"/>
                <a:ea typeface="Roboto Black" panose="02000000000000000000" pitchFamily="2" charset="0"/>
              </a:rPr>
              <a:t> 2</a:t>
            </a:r>
            <a:r>
              <a:rPr lang="en-AU" dirty="0">
                <a:solidFill>
                  <a:srgbClr val="FF0000"/>
                </a:solidFill>
                <a:latin typeface="Roboto Black" panose="02000000000000000000" pitchFamily="2" charset="0"/>
                <a:ea typeface="Roboto Black" panose="02000000000000000000" pitchFamily="2" charset="0"/>
              </a:rPr>
              <a:t> agonist (mimics the adrenaline on the Beta</a:t>
            </a:r>
            <a:r>
              <a:rPr lang="en-AU" baseline="-25000" dirty="0">
                <a:solidFill>
                  <a:srgbClr val="FF0000"/>
                </a:solidFill>
                <a:latin typeface="Roboto Black" panose="02000000000000000000" pitchFamily="2" charset="0"/>
                <a:ea typeface="Roboto Black" panose="02000000000000000000" pitchFamily="2" charset="0"/>
              </a:rPr>
              <a:t> 2</a:t>
            </a:r>
            <a:r>
              <a:rPr lang="en-AU" dirty="0">
                <a:solidFill>
                  <a:srgbClr val="FF0000"/>
                </a:solidFill>
                <a:latin typeface="Roboto Black" panose="02000000000000000000" pitchFamily="2" charset="0"/>
                <a:ea typeface="Roboto Black" panose="02000000000000000000" pitchFamily="2" charset="0"/>
              </a:rPr>
              <a:t> receptor on lungs)</a:t>
            </a:r>
          </a:p>
          <a:p>
            <a:pPr lvl="1"/>
            <a:r>
              <a:rPr lang="en-AU" dirty="0">
                <a:solidFill>
                  <a:srgbClr val="007796"/>
                </a:solidFill>
                <a:latin typeface="Roboto Black" panose="02000000000000000000" pitchFamily="2" charset="0"/>
                <a:ea typeface="Roboto Black" panose="02000000000000000000" pitchFamily="2" charset="0"/>
              </a:rPr>
              <a:t>Beta</a:t>
            </a:r>
            <a:r>
              <a:rPr lang="en-AU" baseline="-25000" dirty="0">
                <a:solidFill>
                  <a:srgbClr val="007796"/>
                </a:solidFill>
                <a:latin typeface="Roboto Black" panose="02000000000000000000" pitchFamily="2" charset="0"/>
                <a:ea typeface="Roboto Black" panose="02000000000000000000" pitchFamily="2" charset="0"/>
              </a:rPr>
              <a:t> 2</a:t>
            </a:r>
            <a:r>
              <a:rPr lang="en-AU" dirty="0">
                <a:solidFill>
                  <a:srgbClr val="007796"/>
                </a:solidFill>
                <a:latin typeface="Roboto Black" panose="02000000000000000000" pitchFamily="2" charset="0"/>
                <a:ea typeface="Roboto Black" panose="02000000000000000000" pitchFamily="2" charset="0"/>
              </a:rPr>
              <a:t> receptors are located on the smooth muscle of blood vessels, bronchi </a:t>
            </a:r>
            <a:r>
              <a:rPr lang="en-AU" dirty="0">
                <a:solidFill>
                  <a:srgbClr val="007796"/>
                </a:solidFill>
                <a:highlight>
                  <a:srgbClr val="FFFF00"/>
                </a:highlight>
                <a:latin typeface="Roboto Black" panose="02000000000000000000" pitchFamily="2" charset="0"/>
                <a:ea typeface="Roboto Black" panose="02000000000000000000" pitchFamily="2" charset="0"/>
              </a:rPr>
              <a:t>and MAST cells</a:t>
            </a:r>
          </a:p>
          <a:p>
            <a:pPr lvl="1"/>
            <a:endParaRPr lang="en-AU" dirty="0">
              <a:solidFill>
                <a:srgbClr val="007796"/>
              </a:solidFill>
              <a:highlight>
                <a:srgbClr val="FFFF00"/>
              </a:highlight>
              <a:latin typeface="Roboto Black" panose="02000000000000000000" pitchFamily="2" charset="0"/>
              <a:ea typeface="Roboto Black" panose="02000000000000000000" pitchFamily="2" charset="0"/>
            </a:endParaRPr>
          </a:p>
          <a:p>
            <a:pPr lvl="1"/>
            <a:r>
              <a:rPr lang="en-AU" dirty="0">
                <a:solidFill>
                  <a:srgbClr val="007796"/>
                </a:solidFill>
                <a:latin typeface="Roboto Black" panose="02000000000000000000" pitchFamily="2" charset="0"/>
                <a:ea typeface="Roboto Black" panose="02000000000000000000" pitchFamily="2" charset="0"/>
              </a:rPr>
              <a:t>Adverse effects</a:t>
            </a:r>
          </a:p>
          <a:p>
            <a:pPr lvl="2"/>
            <a:r>
              <a:rPr lang="en-AU" dirty="0">
                <a:solidFill>
                  <a:srgbClr val="007796"/>
                </a:solidFill>
                <a:latin typeface="Roboto Black" panose="02000000000000000000" pitchFamily="2" charset="0"/>
                <a:ea typeface="Roboto Black" panose="02000000000000000000" pitchFamily="2" charset="0"/>
              </a:rPr>
              <a:t>Headache, Tachycardia after large systemic doses</a:t>
            </a:r>
          </a:p>
          <a:p>
            <a:pPr lvl="2"/>
            <a:endParaRPr lang="en-AU" dirty="0">
              <a:solidFill>
                <a:srgbClr val="007796"/>
              </a:solidFill>
              <a:latin typeface="Roboto Black" panose="02000000000000000000" pitchFamily="2" charset="0"/>
              <a:ea typeface="Roboto Black" panose="02000000000000000000" pitchFamily="2" charset="0"/>
            </a:endParaRPr>
          </a:p>
          <a:p>
            <a:pPr lvl="1"/>
            <a:r>
              <a:rPr lang="en-AU" dirty="0">
                <a:solidFill>
                  <a:srgbClr val="007796"/>
                </a:solidFill>
                <a:latin typeface="Roboto Black" panose="02000000000000000000" pitchFamily="2" charset="0"/>
                <a:ea typeface="Roboto Black" panose="02000000000000000000" pitchFamily="2" charset="0"/>
              </a:rPr>
              <a:t>Beta</a:t>
            </a:r>
            <a:r>
              <a:rPr lang="en-AU" baseline="-25000" dirty="0">
                <a:solidFill>
                  <a:srgbClr val="007796"/>
                </a:solidFill>
                <a:latin typeface="Roboto Black" panose="02000000000000000000" pitchFamily="2" charset="0"/>
                <a:ea typeface="Roboto Black" panose="02000000000000000000" pitchFamily="2" charset="0"/>
              </a:rPr>
              <a:t> 2</a:t>
            </a:r>
            <a:r>
              <a:rPr lang="en-AU" dirty="0">
                <a:solidFill>
                  <a:srgbClr val="007796"/>
                </a:solidFill>
                <a:latin typeface="Roboto Black" panose="02000000000000000000" pitchFamily="2" charset="0"/>
                <a:ea typeface="Roboto Black" panose="02000000000000000000" pitchFamily="2" charset="0"/>
              </a:rPr>
              <a:t> selective agonists are long acting or short:</a:t>
            </a:r>
          </a:p>
          <a:p>
            <a:pPr lvl="2"/>
            <a:r>
              <a:rPr lang="en-AU" dirty="0">
                <a:solidFill>
                  <a:srgbClr val="007796"/>
                </a:solidFill>
                <a:latin typeface="Roboto Black" panose="02000000000000000000" pitchFamily="2" charset="0"/>
                <a:ea typeface="Roboto Black" panose="02000000000000000000" pitchFamily="2" charset="0"/>
              </a:rPr>
              <a:t>Salbutamol (Ventolin) (short acting rescue remedy)</a:t>
            </a:r>
          </a:p>
          <a:p>
            <a:pPr lvl="2"/>
            <a:r>
              <a:rPr lang="en-AU" dirty="0" err="1">
                <a:solidFill>
                  <a:srgbClr val="007796"/>
                </a:solidFill>
                <a:latin typeface="Roboto Black" panose="02000000000000000000" pitchFamily="2" charset="0"/>
                <a:ea typeface="Roboto Black" panose="02000000000000000000" pitchFamily="2" charset="0"/>
              </a:rPr>
              <a:t>Sal</a:t>
            </a:r>
            <a:r>
              <a:rPr lang="en-AU" dirty="0" err="1">
                <a:solidFill>
                  <a:srgbClr val="FF0000"/>
                </a:solidFill>
                <a:latin typeface="Roboto Black" panose="02000000000000000000" pitchFamily="2" charset="0"/>
                <a:ea typeface="Roboto Black" panose="02000000000000000000" pitchFamily="2" charset="0"/>
              </a:rPr>
              <a:t>meter</a:t>
            </a:r>
            <a:r>
              <a:rPr lang="en-AU" dirty="0" err="1">
                <a:solidFill>
                  <a:srgbClr val="007796"/>
                </a:solidFill>
                <a:latin typeface="Roboto Black" panose="02000000000000000000" pitchFamily="2" charset="0"/>
                <a:ea typeface="Roboto Black" panose="02000000000000000000" pitchFamily="2" charset="0"/>
              </a:rPr>
              <a:t>ol</a:t>
            </a:r>
            <a:r>
              <a:rPr lang="en-AU" dirty="0">
                <a:solidFill>
                  <a:srgbClr val="007796"/>
                </a:solidFill>
                <a:latin typeface="Roboto Black" panose="02000000000000000000" pitchFamily="2" charset="0"/>
                <a:ea typeface="Roboto Black" panose="02000000000000000000" pitchFamily="2" charset="0"/>
              </a:rPr>
              <a:t> (long acting, take with inhaled corticosteroid)</a:t>
            </a:r>
          </a:p>
          <a:p>
            <a:pPr marL="274320" lvl="1" indent="0">
              <a:buNone/>
            </a:pPr>
            <a:endParaRPr lang="en-AU" dirty="0">
              <a:solidFill>
                <a:srgbClr val="016187"/>
              </a:solidFill>
              <a:latin typeface="Roboto Black" panose="02000000000000000000" pitchFamily="2" charset="0"/>
              <a:ea typeface="Roboto Black" panose="02000000000000000000" pitchFamily="2" charset="0"/>
            </a:endParaRPr>
          </a:p>
          <a:p>
            <a:pPr lvl="1"/>
            <a:endParaRPr lang="en-AU" dirty="0"/>
          </a:p>
        </p:txBody>
      </p:sp>
      <p:pic>
        <p:nvPicPr>
          <p:cNvPr id="4098" name="Picture 2" descr="C:\Users\least\AppData\Local\Microsoft\Windows\Temporary Internet Files\Content.IE5\COMC5PRL\MP900321121[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4430" y="3775633"/>
            <a:ext cx="2080589" cy="29167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616924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16187"/>
                </a:solidFill>
                <a:latin typeface="Roboto Black" panose="02000000000000000000" pitchFamily="2" charset="0"/>
                <a:ea typeface="Roboto Black" panose="02000000000000000000" pitchFamily="2" charset="0"/>
              </a:rPr>
              <a:t>Bronchodilators</a:t>
            </a:r>
          </a:p>
        </p:txBody>
      </p:sp>
      <p:sp>
        <p:nvSpPr>
          <p:cNvPr id="3" name="Content Placeholder 2"/>
          <p:cNvSpPr>
            <a:spLocks noGrp="1"/>
          </p:cNvSpPr>
          <p:nvPr>
            <p:ph sz="quarter" idx="1"/>
          </p:nvPr>
        </p:nvSpPr>
        <p:spPr>
          <a:xfrm>
            <a:off x="838200" y="1759365"/>
            <a:ext cx="10515600" cy="4667250"/>
          </a:xfrm>
        </p:spPr>
        <p:txBody>
          <a:bodyPr/>
          <a:lstStyle/>
          <a:p>
            <a:r>
              <a:rPr lang="en-AU" dirty="0">
                <a:solidFill>
                  <a:srgbClr val="016187"/>
                </a:solidFill>
                <a:latin typeface="Roboto Black" panose="02000000000000000000" pitchFamily="2" charset="0"/>
                <a:ea typeface="Roboto Black" panose="02000000000000000000" pitchFamily="2" charset="0"/>
              </a:rPr>
              <a:t>Anti</a:t>
            </a:r>
            <a:r>
              <a:rPr lang="en-AU" dirty="0">
                <a:solidFill>
                  <a:srgbClr val="016187"/>
                </a:solidFill>
                <a:highlight>
                  <a:srgbClr val="FFFF00"/>
                </a:highlight>
                <a:latin typeface="Roboto Black" panose="02000000000000000000" pitchFamily="2" charset="0"/>
                <a:ea typeface="Roboto Black" panose="02000000000000000000" pitchFamily="2" charset="0"/>
              </a:rPr>
              <a:t>chol</a:t>
            </a:r>
            <a:r>
              <a:rPr lang="en-AU" dirty="0">
                <a:solidFill>
                  <a:srgbClr val="016187"/>
                </a:solidFill>
                <a:latin typeface="Roboto Black" panose="02000000000000000000" pitchFamily="2" charset="0"/>
                <a:ea typeface="Roboto Black" panose="02000000000000000000" pitchFamily="2" charset="0"/>
              </a:rPr>
              <a:t>inergics/ anti</a:t>
            </a:r>
            <a:r>
              <a:rPr lang="en-AU" dirty="0">
                <a:solidFill>
                  <a:srgbClr val="016187"/>
                </a:solidFill>
                <a:highlight>
                  <a:srgbClr val="FFFF00"/>
                </a:highlight>
                <a:latin typeface="Roboto Black" panose="02000000000000000000" pitchFamily="2" charset="0"/>
                <a:ea typeface="Roboto Black" panose="02000000000000000000" pitchFamily="2" charset="0"/>
              </a:rPr>
              <a:t>muscarinic</a:t>
            </a:r>
            <a:r>
              <a:rPr lang="en-AU" dirty="0">
                <a:solidFill>
                  <a:srgbClr val="016187"/>
                </a:solidFill>
                <a:latin typeface="Roboto Black" panose="02000000000000000000" pitchFamily="2" charset="0"/>
                <a:ea typeface="Roboto Black" panose="02000000000000000000" pitchFamily="2" charset="0"/>
              </a:rPr>
              <a:t> (against the parasympathetic nervous system’s main neurotransmitter, acetylcholine)</a:t>
            </a:r>
          </a:p>
          <a:p>
            <a:pPr lvl="1"/>
            <a:r>
              <a:rPr lang="en-AU" dirty="0">
                <a:solidFill>
                  <a:srgbClr val="016187"/>
                </a:solidFill>
                <a:latin typeface="Roboto Black" panose="02000000000000000000" pitchFamily="2" charset="0"/>
                <a:ea typeface="Roboto Black" panose="02000000000000000000" pitchFamily="2" charset="0"/>
              </a:rPr>
              <a:t>Block acetylcholine (muscarinic) receptors responsible for causing bronchoconstriction: allows the SNS to dominate</a:t>
            </a:r>
          </a:p>
          <a:p>
            <a:pPr lvl="2"/>
            <a:r>
              <a:rPr lang="en-AU" dirty="0">
                <a:solidFill>
                  <a:srgbClr val="016187"/>
                </a:solidFill>
                <a:latin typeface="Roboto Black" panose="02000000000000000000" pitchFamily="2" charset="0"/>
                <a:ea typeface="Roboto Black" panose="02000000000000000000" pitchFamily="2" charset="0"/>
              </a:rPr>
              <a:t>Bronchodilation</a:t>
            </a:r>
          </a:p>
          <a:p>
            <a:pPr lvl="1"/>
            <a:r>
              <a:rPr lang="en-AU" dirty="0">
                <a:solidFill>
                  <a:srgbClr val="016187"/>
                </a:solidFill>
                <a:latin typeface="Roboto Black" panose="02000000000000000000" pitchFamily="2" charset="0"/>
                <a:ea typeface="Roboto Black" panose="02000000000000000000" pitchFamily="2" charset="0"/>
              </a:rPr>
              <a:t>Adverse effects</a:t>
            </a:r>
          </a:p>
          <a:p>
            <a:pPr lvl="2"/>
            <a:r>
              <a:rPr lang="en-AU" dirty="0">
                <a:solidFill>
                  <a:srgbClr val="016187"/>
                </a:solidFill>
                <a:latin typeface="Roboto Black" panose="02000000000000000000" pitchFamily="2" charset="0"/>
                <a:ea typeface="Roboto Black" panose="02000000000000000000" pitchFamily="2" charset="0"/>
              </a:rPr>
              <a:t>Anticholinergic effects</a:t>
            </a:r>
          </a:p>
          <a:p>
            <a:pPr lvl="3"/>
            <a:r>
              <a:rPr lang="en-AU" dirty="0">
                <a:solidFill>
                  <a:srgbClr val="016187"/>
                </a:solidFill>
                <a:latin typeface="Roboto Black" panose="02000000000000000000" pitchFamily="2" charset="0"/>
                <a:ea typeface="Roboto Black" panose="02000000000000000000" pitchFamily="2" charset="0"/>
              </a:rPr>
              <a:t>Dry mouth, dizziness</a:t>
            </a:r>
          </a:p>
          <a:p>
            <a:pPr lvl="1"/>
            <a:r>
              <a:rPr lang="en-AU" dirty="0">
                <a:solidFill>
                  <a:srgbClr val="016187"/>
                </a:solidFill>
                <a:latin typeface="Roboto Black" panose="02000000000000000000" pitchFamily="2" charset="0"/>
                <a:ea typeface="Roboto Black" panose="02000000000000000000" pitchFamily="2" charset="0"/>
              </a:rPr>
              <a:t>Ipratropium bromide (Atrovent) (inhaler, nebuliser)</a:t>
            </a:r>
          </a:p>
          <a:p>
            <a:pPr lvl="1"/>
            <a:r>
              <a:rPr lang="en-AU" dirty="0">
                <a:solidFill>
                  <a:srgbClr val="016187"/>
                </a:solidFill>
                <a:latin typeface="Roboto Black" panose="02000000000000000000" pitchFamily="2" charset="0"/>
                <a:ea typeface="Roboto Black" panose="02000000000000000000" pitchFamily="2" charset="0"/>
              </a:rPr>
              <a:t>Interactions</a:t>
            </a:r>
          </a:p>
          <a:p>
            <a:pPr lvl="2"/>
            <a:r>
              <a:rPr lang="en-AU" dirty="0">
                <a:solidFill>
                  <a:srgbClr val="016187"/>
                </a:solidFill>
                <a:latin typeface="Roboto Black" panose="02000000000000000000" pitchFamily="2" charset="0"/>
                <a:ea typeface="Roboto Black" panose="02000000000000000000" pitchFamily="2" charset="0"/>
              </a:rPr>
              <a:t>Other anticholinergic drugs</a:t>
            </a:r>
          </a:p>
          <a:p>
            <a:pPr marL="274320" lvl="1" indent="0">
              <a:buNone/>
            </a:pPr>
            <a:endParaRPr lang="en-AU" dirty="0"/>
          </a:p>
          <a:p>
            <a:pPr lvl="2"/>
            <a:endParaRPr lang="en-AU" dirty="0"/>
          </a:p>
          <a:p>
            <a:pPr lvl="2"/>
            <a:endParaRPr lang="en-AU" dirty="0"/>
          </a:p>
        </p:txBody>
      </p:sp>
    </p:spTree>
    <p:extLst>
      <p:ext uri="{BB962C8B-B14F-4D97-AF65-F5344CB8AC3E}">
        <p14:creationId xmlns:p14="http://schemas.microsoft.com/office/powerpoint/2010/main" val="3877576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07796"/>
                </a:solidFill>
                <a:latin typeface="Roboto Black" panose="02000000000000000000" pitchFamily="2" charset="0"/>
                <a:ea typeface="Roboto Black" panose="02000000000000000000" pitchFamily="2" charset="0"/>
              </a:rPr>
              <a:t>Leukotriene receptor antagonists</a:t>
            </a:r>
          </a:p>
        </p:txBody>
      </p:sp>
      <p:sp>
        <p:nvSpPr>
          <p:cNvPr id="3" name="Content Placeholder 2"/>
          <p:cNvSpPr>
            <a:spLocks noGrp="1"/>
          </p:cNvSpPr>
          <p:nvPr>
            <p:ph sz="quarter" idx="1"/>
          </p:nvPr>
        </p:nvSpPr>
        <p:spPr>
          <a:xfrm>
            <a:off x="838200" y="1825624"/>
            <a:ext cx="10515600" cy="4866723"/>
          </a:xfrm>
        </p:spPr>
        <p:txBody>
          <a:bodyPr>
            <a:normAutofit lnSpcReduction="10000"/>
          </a:bodyPr>
          <a:lstStyle/>
          <a:p>
            <a:r>
              <a:rPr lang="en-AU" dirty="0">
                <a:solidFill>
                  <a:srgbClr val="016187"/>
                </a:solidFill>
                <a:latin typeface="Roboto Black" panose="02000000000000000000" pitchFamily="2" charset="0"/>
                <a:ea typeface="Roboto Black" panose="02000000000000000000" pitchFamily="2" charset="0"/>
              </a:rPr>
              <a:t>Leukotrienes are inflammatory mediators</a:t>
            </a:r>
          </a:p>
          <a:p>
            <a:r>
              <a:rPr lang="en-AU" dirty="0">
                <a:solidFill>
                  <a:srgbClr val="016187"/>
                </a:solidFill>
                <a:latin typeface="Roboto Black" panose="02000000000000000000" pitchFamily="2" charset="0"/>
                <a:ea typeface="Roboto Black" panose="02000000000000000000" pitchFamily="2" charset="0"/>
              </a:rPr>
              <a:t>Oral dose (PO; (means PER OS; Oral)) normally in addition to inhaled corticosteroids</a:t>
            </a:r>
          </a:p>
          <a:p>
            <a:r>
              <a:rPr lang="en-AU" dirty="0">
                <a:solidFill>
                  <a:srgbClr val="016187"/>
                </a:solidFill>
                <a:latin typeface="Roboto Black" panose="02000000000000000000" pitchFamily="2" charset="0"/>
                <a:ea typeface="Roboto Black" panose="02000000000000000000" pitchFamily="2" charset="0"/>
              </a:rPr>
              <a:t>Antagonists</a:t>
            </a:r>
          </a:p>
          <a:p>
            <a:pPr lvl="1"/>
            <a:r>
              <a:rPr lang="en-AU" dirty="0">
                <a:solidFill>
                  <a:srgbClr val="016187"/>
                </a:solidFill>
                <a:latin typeface="Roboto Black" panose="02000000000000000000" pitchFamily="2" charset="0"/>
                <a:ea typeface="Roboto Black" panose="02000000000000000000" pitchFamily="2" charset="0"/>
              </a:rPr>
              <a:t>Block leukotriene action</a:t>
            </a:r>
          </a:p>
          <a:p>
            <a:pPr lvl="2"/>
            <a:r>
              <a:rPr lang="en-AU" dirty="0">
                <a:solidFill>
                  <a:srgbClr val="016187"/>
                </a:solidFill>
                <a:latin typeface="Roboto Black" panose="02000000000000000000" pitchFamily="2" charset="0"/>
                <a:ea typeface="Roboto Black" panose="02000000000000000000" pitchFamily="2" charset="0"/>
              </a:rPr>
              <a:t>Reduced inflammatory response</a:t>
            </a:r>
          </a:p>
          <a:p>
            <a:pPr lvl="2"/>
            <a:r>
              <a:rPr lang="en-AU" dirty="0">
                <a:solidFill>
                  <a:srgbClr val="016187"/>
                </a:solidFill>
                <a:latin typeface="Roboto Black" panose="02000000000000000000" pitchFamily="2" charset="0"/>
                <a:ea typeface="Roboto Black" panose="02000000000000000000" pitchFamily="2" charset="0"/>
              </a:rPr>
              <a:t>Reduction in oedema, mucus secretion, smooth muscle contraction </a:t>
            </a:r>
          </a:p>
          <a:p>
            <a:pPr lvl="1"/>
            <a:r>
              <a:rPr lang="en-AU" dirty="0">
                <a:solidFill>
                  <a:srgbClr val="016187"/>
                </a:solidFill>
                <a:latin typeface="Roboto Black" panose="02000000000000000000" pitchFamily="2" charset="0"/>
                <a:ea typeface="Roboto Black" panose="02000000000000000000" pitchFamily="2" charset="0"/>
              </a:rPr>
              <a:t>Contraindication</a:t>
            </a:r>
          </a:p>
          <a:p>
            <a:pPr lvl="2"/>
            <a:r>
              <a:rPr lang="en-AU" dirty="0">
                <a:solidFill>
                  <a:srgbClr val="016187"/>
                </a:solidFill>
                <a:latin typeface="Roboto Black" panose="02000000000000000000" pitchFamily="2" charset="0"/>
                <a:ea typeface="Roboto Black" panose="02000000000000000000" pitchFamily="2" charset="0"/>
              </a:rPr>
              <a:t>Liver impairment (metabolised by the liver)</a:t>
            </a:r>
          </a:p>
          <a:p>
            <a:pPr lvl="2"/>
            <a:r>
              <a:rPr lang="en-AU" dirty="0">
                <a:solidFill>
                  <a:srgbClr val="016187"/>
                </a:solidFill>
                <a:latin typeface="Roboto Black" panose="02000000000000000000" pitchFamily="2" charset="0"/>
                <a:ea typeface="Roboto Black" panose="02000000000000000000" pitchFamily="2" charset="0"/>
              </a:rPr>
              <a:t>Pregnancy</a:t>
            </a:r>
          </a:p>
          <a:p>
            <a:pPr lvl="1"/>
            <a:r>
              <a:rPr lang="en-AU" dirty="0">
                <a:solidFill>
                  <a:srgbClr val="016187"/>
                </a:solidFill>
                <a:latin typeface="Roboto Black" panose="02000000000000000000" pitchFamily="2" charset="0"/>
                <a:ea typeface="Roboto Black" panose="02000000000000000000" pitchFamily="2" charset="0"/>
              </a:rPr>
              <a:t>Adverse effects:</a:t>
            </a:r>
          </a:p>
          <a:p>
            <a:pPr lvl="2"/>
            <a:r>
              <a:rPr lang="en-AU" dirty="0">
                <a:solidFill>
                  <a:srgbClr val="016187"/>
                </a:solidFill>
                <a:latin typeface="Roboto Black" panose="02000000000000000000" pitchFamily="2" charset="0"/>
                <a:ea typeface="Roboto Black" panose="02000000000000000000" pitchFamily="2" charset="0"/>
              </a:rPr>
              <a:t> Diarrhoea, nausea (Absorbed rapidly in the GI tract)</a:t>
            </a:r>
          </a:p>
          <a:p>
            <a:pPr lvl="1"/>
            <a:r>
              <a:rPr lang="en-AU" dirty="0" err="1">
                <a:solidFill>
                  <a:srgbClr val="016187"/>
                </a:solidFill>
                <a:latin typeface="Roboto Black" panose="02000000000000000000" pitchFamily="2" charset="0"/>
                <a:ea typeface="Roboto Black" panose="02000000000000000000" pitchFamily="2" charset="0"/>
              </a:rPr>
              <a:t>Zafir</a:t>
            </a:r>
            <a:r>
              <a:rPr lang="en-AU" dirty="0" err="1">
                <a:solidFill>
                  <a:srgbClr val="FF0000"/>
                </a:solidFill>
                <a:latin typeface="Roboto Black" panose="02000000000000000000" pitchFamily="2" charset="0"/>
                <a:ea typeface="Roboto Black" panose="02000000000000000000" pitchFamily="2" charset="0"/>
              </a:rPr>
              <a:t>lukast</a:t>
            </a:r>
            <a:r>
              <a:rPr lang="en-AU" dirty="0">
                <a:solidFill>
                  <a:srgbClr val="016187"/>
                </a:solidFill>
                <a:latin typeface="Roboto Black" panose="02000000000000000000" pitchFamily="2" charset="0"/>
                <a:ea typeface="Roboto Black" panose="02000000000000000000" pitchFamily="2" charset="0"/>
              </a:rPr>
              <a:t> (</a:t>
            </a:r>
            <a:r>
              <a:rPr lang="en-AU" dirty="0" err="1">
                <a:solidFill>
                  <a:srgbClr val="016187"/>
                </a:solidFill>
                <a:latin typeface="Roboto Black" panose="02000000000000000000" pitchFamily="2" charset="0"/>
                <a:ea typeface="Roboto Black" panose="02000000000000000000" pitchFamily="2" charset="0"/>
              </a:rPr>
              <a:t>Accolate</a:t>
            </a:r>
            <a:r>
              <a:rPr lang="en-AU" dirty="0">
                <a:solidFill>
                  <a:srgbClr val="016187"/>
                </a:solidFill>
                <a:latin typeface="Roboto Black" panose="02000000000000000000" pitchFamily="2" charset="0"/>
                <a:ea typeface="Roboto Black" panose="02000000000000000000" pitchFamily="2" charset="0"/>
              </a:rPr>
              <a:t>) and </a:t>
            </a:r>
            <a:r>
              <a:rPr lang="en-AU" dirty="0" err="1">
                <a:solidFill>
                  <a:srgbClr val="016187"/>
                </a:solidFill>
                <a:latin typeface="Roboto Black" panose="02000000000000000000" pitchFamily="2" charset="0"/>
                <a:ea typeface="Roboto Black" panose="02000000000000000000" pitchFamily="2" charset="0"/>
              </a:rPr>
              <a:t>Monte</a:t>
            </a:r>
            <a:r>
              <a:rPr lang="en-AU" dirty="0" err="1">
                <a:solidFill>
                  <a:srgbClr val="FF0000"/>
                </a:solidFill>
                <a:latin typeface="Roboto Black" panose="02000000000000000000" pitchFamily="2" charset="0"/>
                <a:ea typeface="Roboto Black" panose="02000000000000000000" pitchFamily="2" charset="0"/>
              </a:rPr>
              <a:t>lukast</a:t>
            </a:r>
            <a:endParaRPr lang="en-AU" dirty="0">
              <a:solidFill>
                <a:srgbClr val="FF0000"/>
              </a:solidFill>
              <a:latin typeface="Roboto Black" panose="02000000000000000000" pitchFamily="2" charset="0"/>
              <a:ea typeface="Roboto Black" panose="02000000000000000000" pitchFamily="2" charset="0"/>
            </a:endParaRPr>
          </a:p>
          <a:p>
            <a:pPr lvl="1"/>
            <a:endParaRPr lang="en-AU" dirty="0"/>
          </a:p>
          <a:p>
            <a:pPr lvl="1"/>
            <a:endParaRPr lang="en-AU" dirty="0"/>
          </a:p>
          <a:p>
            <a:pPr lvl="1"/>
            <a:endParaRPr lang="en-AU" dirty="0"/>
          </a:p>
          <a:p>
            <a:pPr lvl="1"/>
            <a:endParaRPr lang="en-AU" dirty="0"/>
          </a:p>
          <a:p>
            <a:pPr lvl="2"/>
            <a:endParaRPr lang="en-AU" dirty="0"/>
          </a:p>
          <a:p>
            <a:pPr lvl="2"/>
            <a:endParaRPr lang="en-AU" dirty="0"/>
          </a:p>
        </p:txBody>
      </p:sp>
    </p:spTree>
    <p:extLst>
      <p:ext uri="{BB962C8B-B14F-4D97-AF65-F5344CB8AC3E}">
        <p14:creationId xmlns:p14="http://schemas.microsoft.com/office/powerpoint/2010/main" val="6769129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16187"/>
                </a:solidFill>
                <a:latin typeface="Roboto Black" panose="02000000000000000000" pitchFamily="2" charset="0"/>
                <a:ea typeface="Roboto Black" panose="02000000000000000000" pitchFamily="2" charset="0"/>
              </a:rPr>
              <a:t>Corticosteroids</a:t>
            </a:r>
          </a:p>
        </p:txBody>
      </p:sp>
      <p:sp>
        <p:nvSpPr>
          <p:cNvPr id="3" name="Content Placeholder 2"/>
          <p:cNvSpPr>
            <a:spLocks noGrp="1"/>
          </p:cNvSpPr>
          <p:nvPr>
            <p:ph sz="quarter" idx="1"/>
          </p:nvPr>
        </p:nvSpPr>
        <p:spPr>
          <a:xfrm>
            <a:off x="838200" y="1690688"/>
            <a:ext cx="10515600" cy="4667250"/>
          </a:xfrm>
        </p:spPr>
        <p:txBody>
          <a:bodyPr>
            <a:normAutofit/>
          </a:bodyPr>
          <a:lstStyle/>
          <a:p>
            <a:pPr marL="0" indent="0">
              <a:buNone/>
            </a:pPr>
            <a:r>
              <a:rPr lang="en-AU" sz="3200" dirty="0">
                <a:solidFill>
                  <a:srgbClr val="016187"/>
                </a:solidFill>
                <a:latin typeface="Roboto Black" panose="02000000000000000000" pitchFamily="2" charset="0"/>
                <a:ea typeface="Roboto Black" panose="02000000000000000000" pitchFamily="2" charset="0"/>
              </a:rPr>
              <a:t>Inhaled corticosteroids</a:t>
            </a:r>
          </a:p>
          <a:p>
            <a:r>
              <a:rPr lang="en-AU" dirty="0">
                <a:solidFill>
                  <a:srgbClr val="016187"/>
                </a:solidFill>
                <a:latin typeface="Roboto Black" panose="02000000000000000000" pitchFamily="2" charset="0"/>
                <a:ea typeface="Roboto Black" panose="02000000000000000000" pitchFamily="2" charset="0"/>
              </a:rPr>
              <a:t>Should be taken when the asthmatic starts reaching for their rescue inhaler more than 3 times per week</a:t>
            </a:r>
          </a:p>
          <a:p>
            <a:pPr lvl="1"/>
            <a:r>
              <a:rPr lang="en-AU" dirty="0">
                <a:solidFill>
                  <a:srgbClr val="016187"/>
                </a:solidFill>
                <a:latin typeface="Roboto Black" panose="02000000000000000000" pitchFamily="2" charset="0"/>
                <a:ea typeface="Roboto Black" panose="02000000000000000000" pitchFamily="2" charset="0"/>
              </a:rPr>
              <a:t>Decrease the inflammatory response</a:t>
            </a:r>
          </a:p>
          <a:p>
            <a:pPr lvl="2"/>
            <a:r>
              <a:rPr lang="en-AU" dirty="0">
                <a:solidFill>
                  <a:srgbClr val="016187"/>
                </a:solidFill>
                <a:latin typeface="Roboto Black" panose="02000000000000000000" pitchFamily="2" charset="0"/>
                <a:ea typeface="Roboto Black" panose="02000000000000000000" pitchFamily="2" charset="0"/>
              </a:rPr>
              <a:t>Prevent the rupture of mast cells &gt; decreased chemical mediator response &gt; reduced inflammatory and immune response = reduction in oedema, bronchoconstriction, mucus production = increased airflow</a:t>
            </a:r>
          </a:p>
          <a:p>
            <a:pPr lvl="1"/>
            <a:r>
              <a:rPr lang="en-AU" dirty="0">
                <a:solidFill>
                  <a:srgbClr val="016187"/>
                </a:solidFill>
                <a:latin typeface="Roboto Black" panose="02000000000000000000" pitchFamily="2" charset="0"/>
                <a:ea typeface="Roboto Black" panose="02000000000000000000" pitchFamily="2" charset="0"/>
              </a:rPr>
              <a:t>Adverse effects</a:t>
            </a:r>
          </a:p>
          <a:p>
            <a:pPr lvl="2"/>
            <a:r>
              <a:rPr lang="en-AU" dirty="0">
                <a:solidFill>
                  <a:srgbClr val="016187"/>
                </a:solidFill>
                <a:latin typeface="Roboto Black" panose="02000000000000000000" pitchFamily="2" charset="0"/>
                <a:ea typeface="Roboto Black" panose="02000000000000000000" pitchFamily="2" charset="0"/>
              </a:rPr>
              <a:t>Pharyngeal, laryngeal fungal infections (thrush)</a:t>
            </a:r>
          </a:p>
          <a:p>
            <a:pPr lvl="1"/>
            <a:r>
              <a:rPr lang="en-AU" dirty="0">
                <a:solidFill>
                  <a:srgbClr val="016187"/>
                </a:solidFill>
                <a:latin typeface="Roboto Black" panose="02000000000000000000" pitchFamily="2" charset="0"/>
                <a:ea typeface="Roboto Black" panose="02000000000000000000" pitchFamily="2" charset="0"/>
              </a:rPr>
              <a:t>Budesonide (</a:t>
            </a:r>
            <a:r>
              <a:rPr lang="en-AU" dirty="0" err="1">
                <a:solidFill>
                  <a:srgbClr val="016187"/>
                </a:solidFill>
                <a:latin typeface="Roboto Black" panose="02000000000000000000" pitchFamily="2" charset="0"/>
                <a:ea typeface="Roboto Black" panose="02000000000000000000" pitchFamily="2" charset="0"/>
              </a:rPr>
              <a:t>Pulmicort</a:t>
            </a:r>
            <a:r>
              <a:rPr lang="en-AU" dirty="0">
                <a:solidFill>
                  <a:srgbClr val="016187"/>
                </a:solidFill>
                <a:latin typeface="Roboto Black" panose="02000000000000000000" pitchFamily="2" charset="0"/>
                <a:ea typeface="Roboto Black" panose="02000000000000000000" pitchFamily="2" charset="0"/>
              </a:rPr>
              <a:t>)</a:t>
            </a:r>
          </a:p>
          <a:p>
            <a:pPr lvl="1"/>
            <a:r>
              <a:rPr lang="en-AU" dirty="0">
                <a:solidFill>
                  <a:srgbClr val="016187"/>
                </a:solidFill>
                <a:latin typeface="Roboto Black" panose="02000000000000000000" pitchFamily="2" charset="0"/>
                <a:ea typeface="Roboto Black" panose="02000000000000000000" pitchFamily="2" charset="0"/>
              </a:rPr>
              <a:t>Fluticasone (</a:t>
            </a:r>
            <a:r>
              <a:rPr lang="en-AU" dirty="0" err="1">
                <a:solidFill>
                  <a:srgbClr val="016187"/>
                </a:solidFill>
                <a:latin typeface="Roboto Black" panose="02000000000000000000" pitchFamily="2" charset="0"/>
                <a:ea typeface="Roboto Black" panose="02000000000000000000" pitchFamily="2" charset="0"/>
              </a:rPr>
              <a:t>Seretide</a:t>
            </a:r>
            <a:r>
              <a:rPr lang="en-AU" dirty="0">
                <a:solidFill>
                  <a:srgbClr val="016187"/>
                </a:solidFill>
                <a:latin typeface="Roboto Black" panose="02000000000000000000" pitchFamily="2" charset="0"/>
                <a:ea typeface="Roboto Black" panose="02000000000000000000" pitchFamily="2" charset="0"/>
              </a:rPr>
              <a:t>)</a:t>
            </a:r>
          </a:p>
          <a:p>
            <a:pPr marL="457200" lvl="1" indent="0">
              <a:buNone/>
            </a:pPr>
            <a:endParaRPr lang="en-AU" dirty="0">
              <a:solidFill>
                <a:srgbClr val="016187"/>
              </a:solidFill>
              <a:latin typeface="Roboto Black" panose="02000000000000000000" pitchFamily="2" charset="0"/>
              <a:ea typeface="Roboto Black" panose="02000000000000000000" pitchFamily="2" charset="0"/>
            </a:endParaRPr>
          </a:p>
          <a:p>
            <a:pPr lvl="2"/>
            <a:endParaRPr lang="en-AU" dirty="0"/>
          </a:p>
          <a:p>
            <a:pPr lvl="2"/>
            <a:endParaRPr lang="en-AU" dirty="0"/>
          </a:p>
        </p:txBody>
      </p:sp>
    </p:spTree>
    <p:extLst>
      <p:ext uri="{BB962C8B-B14F-4D97-AF65-F5344CB8AC3E}">
        <p14:creationId xmlns:p14="http://schemas.microsoft.com/office/powerpoint/2010/main" val="12945806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AU" sz="4000" b="1" dirty="0">
                <a:solidFill>
                  <a:srgbClr val="016187"/>
                </a:solidFill>
                <a:latin typeface="Roboto Black" panose="02000000000000000000" pitchFamily="2" charset="0"/>
                <a:ea typeface="Roboto Black" panose="02000000000000000000" pitchFamily="2" charset="0"/>
              </a:rPr>
              <a:t>Corticosteroids</a:t>
            </a:r>
          </a:p>
        </p:txBody>
      </p:sp>
      <p:sp>
        <p:nvSpPr>
          <p:cNvPr id="3" name="Content Placeholder 2"/>
          <p:cNvSpPr>
            <a:spLocks noGrp="1"/>
          </p:cNvSpPr>
          <p:nvPr>
            <p:ph sz="quarter" idx="1"/>
          </p:nvPr>
        </p:nvSpPr>
        <p:spPr>
          <a:xfrm>
            <a:off x="838200" y="1825625"/>
            <a:ext cx="10515600" cy="4667250"/>
          </a:xfrm>
        </p:spPr>
        <p:txBody>
          <a:bodyPr/>
          <a:lstStyle/>
          <a:p>
            <a:r>
              <a:rPr lang="en-AU" dirty="0">
                <a:solidFill>
                  <a:srgbClr val="016187"/>
                </a:solidFill>
                <a:latin typeface="Roboto Black" panose="02000000000000000000" pitchFamily="2" charset="0"/>
                <a:ea typeface="Roboto Black" panose="02000000000000000000" pitchFamily="2" charset="0"/>
              </a:rPr>
              <a:t>Oral corticosteroids </a:t>
            </a:r>
          </a:p>
          <a:p>
            <a:pPr lvl="1"/>
            <a:r>
              <a:rPr lang="en-AU" dirty="0">
                <a:solidFill>
                  <a:srgbClr val="016187"/>
                </a:solidFill>
                <a:latin typeface="Roboto Black" panose="02000000000000000000" pitchFamily="2" charset="0"/>
                <a:ea typeface="Roboto Black" panose="02000000000000000000" pitchFamily="2" charset="0"/>
              </a:rPr>
              <a:t>Suppress immune and inflammatory response</a:t>
            </a:r>
          </a:p>
          <a:p>
            <a:pPr lvl="2"/>
            <a:r>
              <a:rPr lang="en-AU" dirty="0">
                <a:solidFill>
                  <a:srgbClr val="016187"/>
                </a:solidFill>
                <a:latin typeface="Roboto Black" panose="02000000000000000000" pitchFamily="2" charset="0"/>
                <a:ea typeface="Roboto Black" panose="02000000000000000000" pitchFamily="2" charset="0"/>
              </a:rPr>
              <a:t>Reducing the formation of prostaglandins and leukotrienes (required for inflammatory response)</a:t>
            </a:r>
          </a:p>
          <a:p>
            <a:pPr lvl="2"/>
            <a:r>
              <a:rPr lang="en-AU" dirty="0">
                <a:solidFill>
                  <a:srgbClr val="016187"/>
                </a:solidFill>
                <a:latin typeface="Roboto Black" panose="02000000000000000000" pitchFamily="2" charset="0"/>
                <a:ea typeface="Roboto Black" panose="02000000000000000000" pitchFamily="2" charset="0"/>
              </a:rPr>
              <a:t>Inhibit and impair the function of WBCs </a:t>
            </a:r>
          </a:p>
          <a:p>
            <a:pPr lvl="1"/>
            <a:r>
              <a:rPr lang="en-AU" dirty="0">
                <a:solidFill>
                  <a:srgbClr val="016187"/>
                </a:solidFill>
                <a:latin typeface="Roboto Black" panose="02000000000000000000" pitchFamily="2" charset="0"/>
                <a:ea typeface="Roboto Black" panose="02000000000000000000" pitchFamily="2" charset="0"/>
              </a:rPr>
              <a:t>Adverse effects</a:t>
            </a:r>
          </a:p>
          <a:p>
            <a:pPr lvl="2"/>
            <a:r>
              <a:rPr lang="en-AU" dirty="0">
                <a:solidFill>
                  <a:srgbClr val="016187"/>
                </a:solidFill>
                <a:latin typeface="Roboto Black" panose="02000000000000000000" pitchFamily="2" charset="0"/>
                <a:ea typeface="Roboto Black" panose="02000000000000000000" pitchFamily="2" charset="0"/>
              </a:rPr>
              <a:t>Infection, hyperglycaemia</a:t>
            </a:r>
          </a:p>
          <a:p>
            <a:pPr lvl="1"/>
            <a:r>
              <a:rPr lang="en-AU" dirty="0">
                <a:solidFill>
                  <a:srgbClr val="016187"/>
                </a:solidFill>
                <a:latin typeface="Roboto Black" panose="02000000000000000000" pitchFamily="2" charset="0"/>
                <a:ea typeface="Roboto Black" panose="02000000000000000000" pitchFamily="2" charset="0"/>
              </a:rPr>
              <a:t>Prednisone (PO)</a:t>
            </a:r>
          </a:p>
          <a:p>
            <a:pPr lvl="1"/>
            <a:endParaRPr lang="en-AU" dirty="0">
              <a:solidFill>
                <a:srgbClr val="016187"/>
              </a:solidFill>
              <a:latin typeface="Roboto Black" panose="02000000000000000000" pitchFamily="2" charset="0"/>
              <a:ea typeface="Roboto Black" panose="02000000000000000000" pitchFamily="2" charset="0"/>
            </a:endParaRPr>
          </a:p>
          <a:p>
            <a:pPr lvl="1"/>
            <a:r>
              <a:rPr lang="en-AU" i="1" dirty="0">
                <a:solidFill>
                  <a:srgbClr val="016187"/>
                </a:solidFill>
                <a:latin typeface="Roboto Black" panose="02000000000000000000" pitchFamily="2" charset="0"/>
                <a:ea typeface="Roboto Black" panose="02000000000000000000" pitchFamily="2" charset="0"/>
              </a:rPr>
              <a:t>Discussed in the endocrine system</a:t>
            </a:r>
          </a:p>
          <a:p>
            <a:pPr lvl="1"/>
            <a:endParaRPr lang="en-AU" dirty="0"/>
          </a:p>
        </p:txBody>
      </p:sp>
      <p:pic>
        <p:nvPicPr>
          <p:cNvPr id="5122" name="Picture 2" descr="C:\Users\least\AppData\Local\Microsoft\Windows\Temporary Internet Files\Content.IE5\GW4HO1CB\MC900441806[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71509" y="3463815"/>
            <a:ext cx="2743200" cy="2743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81769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B90EC-4005-4B25-82DF-5F11CF5863AB}"/>
              </a:ext>
            </a:extLst>
          </p:cNvPr>
          <p:cNvSpPr>
            <a:spLocks noGrp="1"/>
          </p:cNvSpPr>
          <p:nvPr>
            <p:ph type="title"/>
          </p:nvPr>
        </p:nvSpPr>
        <p:spPr/>
        <p:txBody>
          <a:bodyPr/>
          <a:lstStyle/>
          <a:p>
            <a:pPr algn="ctr"/>
            <a:r>
              <a:rPr lang="en-AU" dirty="0">
                <a:solidFill>
                  <a:srgbClr val="007796"/>
                </a:solidFill>
                <a:latin typeface="Roboto Black" panose="02000000000000000000" pitchFamily="2" charset="0"/>
                <a:ea typeface="Roboto Black" panose="02000000000000000000" pitchFamily="2" charset="0"/>
              </a:rPr>
              <a:t>References </a:t>
            </a:r>
          </a:p>
        </p:txBody>
      </p:sp>
      <p:sp>
        <p:nvSpPr>
          <p:cNvPr id="3" name="Content Placeholder 2">
            <a:extLst>
              <a:ext uri="{FF2B5EF4-FFF2-40B4-BE49-F238E27FC236}">
                <a16:creationId xmlns:a16="http://schemas.microsoft.com/office/drawing/2014/main" id="{8ED0240B-7CA5-437D-81EF-30BBF123E6B8}"/>
              </a:ext>
            </a:extLst>
          </p:cNvPr>
          <p:cNvSpPr>
            <a:spLocks noGrp="1"/>
          </p:cNvSpPr>
          <p:nvPr>
            <p:ph idx="1"/>
          </p:nvPr>
        </p:nvSpPr>
        <p:spPr/>
        <p:txBody>
          <a:bodyPr>
            <a:normAutofit/>
          </a:bodyPr>
          <a:lstStyle/>
          <a:p>
            <a:pPr lvl="0"/>
            <a:r>
              <a:rPr lang="en-AU" dirty="0">
                <a:solidFill>
                  <a:srgbClr val="007796"/>
                </a:solidFill>
                <a:latin typeface="Roboto Black" panose="02000000000000000000" pitchFamily="2" charset="0"/>
                <a:ea typeface="Roboto Black" panose="02000000000000000000" pitchFamily="2" charset="0"/>
              </a:rPr>
              <a:t>Haslett C, et al. Davidson’s Principles and Practice of Medicine, 19</a:t>
            </a:r>
            <a:r>
              <a:rPr lang="en-AU" baseline="30000" dirty="0">
                <a:solidFill>
                  <a:srgbClr val="007796"/>
                </a:solidFill>
                <a:latin typeface="Roboto Black" panose="02000000000000000000" pitchFamily="2" charset="0"/>
                <a:ea typeface="Roboto Black" panose="02000000000000000000" pitchFamily="2" charset="0"/>
              </a:rPr>
              <a:t>th</a:t>
            </a:r>
            <a:r>
              <a:rPr lang="en-AU" dirty="0">
                <a:solidFill>
                  <a:srgbClr val="007796"/>
                </a:solidFill>
                <a:latin typeface="Roboto Black" panose="02000000000000000000" pitchFamily="2" charset="0"/>
                <a:ea typeface="Roboto Black" panose="02000000000000000000" pitchFamily="2" charset="0"/>
              </a:rPr>
              <a:t> ed. Churchill Livingstone, 2003</a:t>
            </a:r>
          </a:p>
          <a:p>
            <a:pPr lvl="0"/>
            <a:r>
              <a:rPr lang="en-AU" dirty="0" err="1">
                <a:solidFill>
                  <a:srgbClr val="007796"/>
                </a:solidFill>
                <a:latin typeface="Roboto Black" panose="02000000000000000000" pitchFamily="2" charset="0"/>
                <a:ea typeface="Roboto Black" panose="02000000000000000000" pitchFamily="2" charset="0"/>
              </a:rPr>
              <a:t>Marieb</a:t>
            </a:r>
            <a:r>
              <a:rPr lang="en-AU" dirty="0">
                <a:solidFill>
                  <a:srgbClr val="007796"/>
                </a:solidFill>
                <a:latin typeface="Roboto Black" panose="02000000000000000000" pitchFamily="2" charset="0"/>
                <a:ea typeface="Roboto Black" panose="02000000000000000000" pitchFamily="2" charset="0"/>
              </a:rPr>
              <a:t> E. Human Anatomy and Physiology, 5</a:t>
            </a:r>
            <a:r>
              <a:rPr lang="en-AU" baseline="30000" dirty="0">
                <a:solidFill>
                  <a:srgbClr val="007796"/>
                </a:solidFill>
                <a:latin typeface="Roboto Black" panose="02000000000000000000" pitchFamily="2" charset="0"/>
                <a:ea typeface="Roboto Black" panose="02000000000000000000" pitchFamily="2" charset="0"/>
              </a:rPr>
              <a:t>th</a:t>
            </a:r>
            <a:r>
              <a:rPr lang="en-AU" dirty="0">
                <a:solidFill>
                  <a:srgbClr val="007796"/>
                </a:solidFill>
                <a:latin typeface="Roboto Black" panose="02000000000000000000" pitchFamily="2" charset="0"/>
                <a:ea typeface="Roboto Black" panose="02000000000000000000" pitchFamily="2" charset="0"/>
              </a:rPr>
              <a:t> ed. Benjamin Cummings, San Francisco, 2001</a:t>
            </a:r>
          </a:p>
          <a:p>
            <a:pPr lvl="0"/>
            <a:r>
              <a:rPr lang="en-AU" dirty="0">
                <a:solidFill>
                  <a:srgbClr val="007796"/>
                </a:solidFill>
                <a:latin typeface="Roboto Black" panose="02000000000000000000" pitchFamily="2" charset="0"/>
                <a:ea typeface="Roboto Black" panose="02000000000000000000" pitchFamily="2" charset="0"/>
              </a:rPr>
              <a:t>Martini FH, et al. Visual Anatomy and Physiology 1</a:t>
            </a:r>
            <a:r>
              <a:rPr lang="en-AU" baseline="30000" dirty="0">
                <a:solidFill>
                  <a:srgbClr val="007796"/>
                </a:solidFill>
                <a:latin typeface="Roboto Black" panose="02000000000000000000" pitchFamily="2" charset="0"/>
                <a:ea typeface="Roboto Black" panose="02000000000000000000" pitchFamily="2" charset="0"/>
              </a:rPr>
              <a:t>st</a:t>
            </a:r>
            <a:r>
              <a:rPr lang="en-AU" dirty="0">
                <a:solidFill>
                  <a:srgbClr val="007796"/>
                </a:solidFill>
                <a:latin typeface="Roboto Black" panose="02000000000000000000" pitchFamily="2" charset="0"/>
                <a:ea typeface="Roboto Black" panose="02000000000000000000" pitchFamily="2" charset="0"/>
              </a:rPr>
              <a:t> ed. Benjamin Cummings, 2011</a:t>
            </a:r>
          </a:p>
          <a:p>
            <a:pPr lvl="0"/>
            <a:r>
              <a:rPr lang="en-AU" dirty="0">
                <a:solidFill>
                  <a:srgbClr val="007796"/>
                </a:solidFill>
                <a:latin typeface="Roboto Black" panose="02000000000000000000" pitchFamily="2" charset="0"/>
                <a:ea typeface="Roboto Black" panose="02000000000000000000" pitchFamily="2" charset="0"/>
              </a:rPr>
              <a:t>Royalty free images from Shutterstock</a:t>
            </a:r>
          </a:p>
          <a:p>
            <a:pPr lvl="0"/>
            <a:r>
              <a:rPr lang="en-AU" dirty="0">
                <a:solidFill>
                  <a:srgbClr val="007796"/>
                </a:solidFill>
                <a:latin typeface="Roboto Black" panose="02000000000000000000" pitchFamily="2" charset="0"/>
                <a:ea typeface="Roboto Black" panose="02000000000000000000" pitchFamily="2" charset="0"/>
              </a:rPr>
              <a:t>The PowerPoint and associated Video were edited and produced by Dr. Ken Wojcikowski</a:t>
            </a:r>
          </a:p>
          <a:p>
            <a:endParaRPr lang="en-AU" dirty="0"/>
          </a:p>
        </p:txBody>
      </p:sp>
    </p:spTree>
    <p:extLst>
      <p:ext uri="{BB962C8B-B14F-4D97-AF65-F5344CB8AC3E}">
        <p14:creationId xmlns:p14="http://schemas.microsoft.com/office/powerpoint/2010/main" val="134283067"/>
      </p:ext>
    </p:extLst>
  </p:cSld>
  <p:clrMapOvr>
    <a:masterClrMapping/>
  </p:clrMapOvr>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pening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780923D-96ED-9F4A-BDC2-8B626CD12C8C}"/>
    </a:ext>
  </a:extLst>
</a:theme>
</file>

<file path=ppt/theme/theme3.xml><?xml version="1.0" encoding="utf-8"?>
<a:theme xmlns:a="http://schemas.openxmlformats.org/drawingml/2006/main" name="Content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8844ECF-5D84-2D4F-BD6C-159B28CC5448}" vid="{852AA089-82C5-E441-8C9C-6B5E63BD1A49}"/>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EF7C384DA1D4A45B6AE690D29401D8C" ma:contentTypeVersion="11" ma:contentTypeDescription="Create a new document." ma:contentTypeScope="" ma:versionID="991042ea8ece25ed42d5e78d787df14a">
  <xsd:schema xmlns:xsd="http://www.w3.org/2001/XMLSchema" xmlns:xs="http://www.w3.org/2001/XMLSchema" xmlns:p="http://schemas.microsoft.com/office/2006/metadata/properties" xmlns:ns3="46a2430f-9ab9-4612-89ab-e74f08578de3" targetNamespace="http://schemas.microsoft.com/office/2006/metadata/properties" ma:root="true" ma:fieldsID="407fd9a13a8af064f5af9d3e1e052ba5" ns3:_="">
    <xsd:import namespace="46a2430f-9ab9-4612-89ab-e74f08578de3"/>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LengthInSeconds"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2430f-9ab9-4612-89ab-e74f08578de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C241E51-5573-4925-B3A4-66790ECBD8F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6a2430f-9ab9-4612-89ab-e74f08578de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893469F-D4AA-420F-B7C0-0B62A94BDF3C}">
  <ds:schemaRefs>
    <ds:schemaRef ds:uri="http://schemas.microsoft.com/sharepoint/v3/contenttype/forms"/>
  </ds:schemaRefs>
</ds:datastoreItem>
</file>

<file path=customXml/itemProps3.xml><?xml version="1.0" encoding="utf-8"?>
<ds:datastoreItem xmlns:ds="http://schemas.openxmlformats.org/officeDocument/2006/customXml" ds:itemID="{1B07E049-F826-476F-AF12-64FDE580CC57}">
  <ds:schemaRefs>
    <ds:schemaRef ds:uri="http://schemas.microsoft.com/office/2006/metadata/properties"/>
    <ds:schemaRef ds:uri="http://schemas.openxmlformats.org/package/2006/metadata/core-properties"/>
    <ds:schemaRef ds:uri="http://www.w3.org/XML/1998/namespace"/>
    <ds:schemaRef ds:uri="http://purl.org/dc/terms/"/>
    <ds:schemaRef ds:uri="46a2430f-9ab9-4612-89ab-e74f08578de3"/>
    <ds:schemaRef ds:uri="http://purl.org/dc/elements/1.1/"/>
    <ds:schemaRef ds:uri="http://schemas.microsoft.com/office/2006/documentManagement/type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8638</TotalTime>
  <Words>2472</Words>
  <Application>Microsoft Office PowerPoint</Application>
  <PresentationFormat>Widescreen</PresentationFormat>
  <Paragraphs>324</Paragraphs>
  <Slides>44</Slides>
  <Notes>27</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44</vt:i4>
      </vt:variant>
    </vt:vector>
  </HeadingPairs>
  <TitlesOfParts>
    <vt:vector size="56" baseType="lpstr">
      <vt:lpstr>Arial</vt:lpstr>
      <vt:lpstr>Calibri</vt:lpstr>
      <vt:lpstr>Candara</vt:lpstr>
      <vt:lpstr>Roboto</vt:lpstr>
      <vt:lpstr>Roboto Black</vt:lpstr>
      <vt:lpstr>Roboto Light</vt:lpstr>
      <vt:lpstr>Times New Roman</vt:lpstr>
      <vt:lpstr>Wingdings</vt:lpstr>
      <vt:lpstr>Wingdings 2</vt:lpstr>
      <vt:lpstr>Office Theme</vt:lpstr>
      <vt:lpstr>Opening Slide</vt:lpstr>
      <vt:lpstr>Content Slides</vt:lpstr>
      <vt:lpstr>PowerPoint Presentation</vt:lpstr>
      <vt:lpstr>PowerPoint Presentation</vt:lpstr>
      <vt:lpstr>PowerPoint Presentation</vt:lpstr>
      <vt:lpstr>PowerPoint Presentation</vt:lpstr>
      <vt:lpstr>Structure of the pulmonary system</vt:lpstr>
      <vt:lpstr>Actual size of lungs</vt:lpstr>
      <vt:lpstr>Structure of the Respiratory System</vt:lpstr>
      <vt:lpstr>PowerPoint Presentation</vt:lpstr>
      <vt:lpstr>Lung Circulation Involves  Two Separate Circulations </vt:lpstr>
      <vt:lpstr>PowerPoint Presentation</vt:lpstr>
      <vt:lpstr>Ventilation</vt:lpstr>
      <vt:lpstr>PowerPoint Presentation</vt:lpstr>
      <vt:lpstr>External Respiration  (Also referred to as gas exchange)</vt:lpstr>
      <vt:lpstr>PowerPoint Presentation</vt:lpstr>
      <vt:lpstr>PowerPoint Presentation</vt:lpstr>
      <vt:lpstr>Antitussives (suppress cough reflex)</vt:lpstr>
      <vt:lpstr>Antitussives (suppress cough reflex)</vt:lpstr>
      <vt:lpstr>Expectorants </vt:lpstr>
      <vt:lpstr>Mucolytic agents</vt:lpstr>
      <vt:lpstr>PowerPoint Presentation</vt:lpstr>
      <vt:lpstr>In allergic rhinitis, histamine dilates the blood vessels of the sinuses.  Decongestants constrict those blood vessels by acting on the alpha 1 adrenergic receptors.</vt:lpstr>
      <vt:lpstr>PowerPoint Presentation</vt:lpstr>
      <vt:lpstr>Decongestants </vt:lpstr>
      <vt:lpstr>Decongestants </vt:lpstr>
      <vt:lpstr>Antihistamines (H1 antagonists)  Discussed in the tutorial</vt:lpstr>
      <vt:lpstr>Antihistamines (H1 antagonists)  Discussed in the tutorial</vt:lpstr>
      <vt:lpstr>PowerPoint Presentation</vt:lpstr>
      <vt:lpstr>PowerPoint Presentation</vt:lpstr>
      <vt:lpstr>Ventilation (obstructive) disorders</vt:lpstr>
      <vt:lpstr>Decreasing the lumen’s diameter by ½ = 1/16th the flow of air</vt:lpstr>
      <vt:lpstr>Asthma</vt:lpstr>
      <vt:lpstr>PowerPoint Presentation</vt:lpstr>
      <vt:lpstr>PowerPoint Presentation</vt:lpstr>
      <vt:lpstr>PowerPoint Presentation</vt:lpstr>
      <vt:lpstr>PowerPoint Presentation</vt:lpstr>
      <vt:lpstr>Treatment of Asthma </vt:lpstr>
      <vt:lpstr>Antihistamines in asthma</vt:lpstr>
      <vt:lpstr>Bronchodilators: inhaled</vt:lpstr>
      <vt:lpstr>Bronchodilators: inhaled</vt:lpstr>
      <vt:lpstr>Bronchodilators</vt:lpstr>
      <vt:lpstr>Leukotriene receptor antagonists</vt:lpstr>
      <vt:lpstr>Corticosteroids</vt:lpstr>
      <vt:lpstr>Corticosteroids</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 Wojcikowski</dc:creator>
  <cp:lastModifiedBy>Ken Wojcikowski</cp:lastModifiedBy>
  <cp:revision>51</cp:revision>
  <dcterms:created xsi:type="dcterms:W3CDTF">2019-10-07T20:28:21Z</dcterms:created>
  <dcterms:modified xsi:type="dcterms:W3CDTF">2022-11-11T19:58:29Z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0x0101009EF7C384DA1D4A45B6AE690D29401D8C</vt:lpwstr>
  </property>
</Properties>
</file>