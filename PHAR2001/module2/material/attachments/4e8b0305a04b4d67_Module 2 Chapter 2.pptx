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  <p:sldMasterId id="2147483662" r:id="rId6"/>
  </p:sldMasterIdLst>
  <p:notesMasterIdLst>
    <p:notesMasterId r:id="rId39"/>
  </p:notesMasterIdLst>
  <p:sldIdLst>
    <p:sldId id="477" r:id="rId7"/>
    <p:sldId id="458" r:id="rId8"/>
    <p:sldId id="507" r:id="rId9"/>
    <p:sldId id="459" r:id="rId10"/>
    <p:sldId id="401" r:id="rId11"/>
    <p:sldId id="402" r:id="rId12"/>
    <p:sldId id="525" r:id="rId13"/>
    <p:sldId id="526" r:id="rId14"/>
    <p:sldId id="527" r:id="rId15"/>
    <p:sldId id="528" r:id="rId16"/>
    <p:sldId id="529" r:id="rId17"/>
    <p:sldId id="530" r:id="rId18"/>
    <p:sldId id="531" r:id="rId19"/>
    <p:sldId id="532" r:id="rId20"/>
    <p:sldId id="533" r:id="rId21"/>
    <p:sldId id="403" r:id="rId22"/>
    <p:sldId id="508" r:id="rId23"/>
    <p:sldId id="520" r:id="rId24"/>
    <p:sldId id="404" r:id="rId25"/>
    <p:sldId id="509" r:id="rId26"/>
    <p:sldId id="521" r:id="rId27"/>
    <p:sldId id="405" r:id="rId28"/>
    <p:sldId id="461" r:id="rId29"/>
    <p:sldId id="406" r:id="rId30"/>
    <p:sldId id="462" r:id="rId31"/>
    <p:sldId id="463" r:id="rId32"/>
    <p:sldId id="510" r:id="rId33"/>
    <p:sldId id="460" r:id="rId34"/>
    <p:sldId id="411" r:id="rId35"/>
    <p:sldId id="464" r:id="rId36"/>
    <p:sldId id="413" r:id="rId37"/>
    <p:sldId id="524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7" autoAdjust="0"/>
    <p:restoredTop sz="94660"/>
  </p:normalViewPr>
  <p:slideViewPr>
    <p:cSldViewPr snapToGrid="0">
      <p:cViewPr varScale="1">
        <p:scale>
          <a:sx n="89" d="100"/>
          <a:sy n="89" d="100"/>
        </p:scale>
        <p:origin x="451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theme" Target="theme/theme1.xml"/><Relationship Id="rId7" Type="http://schemas.openxmlformats.org/officeDocument/2006/relationships/slide" Target="slides/slide1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4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tableStyles" Target="tableStyles.xml"/><Relationship Id="rId8" Type="http://schemas.openxmlformats.org/officeDocument/2006/relationships/slide" Target="slides/slide2.xml"/><Relationship Id="rId3" Type="http://schemas.openxmlformats.org/officeDocument/2006/relationships/customXml" Target="../customXml/item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03AA23-9923-4FEA-B341-F06A75ECE6BB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0AE629-D222-44CC-8927-3B997E10F65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1443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A0DF1D7A-86B2-4F02-984E-B99E43066B1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23752216-5D32-48CA-A9B1-D96A67E21D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72A95955-5DEE-4FB4-85A9-D5FA566ABB1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342FFE2-BAE1-4868-8CE6-E7C39064ADB2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BEE15675-5CE9-4CD9-BCBA-270EDFC223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1A940605-C4B5-4F36-8826-24B3D491F8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0E9A6CA-B5E5-47AF-B460-26031C938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2E3D68-8EE7-469D-B8A0-A7BF9295CC4A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Image Placeholder 1">
            <a:extLst>
              <a:ext uri="{FF2B5EF4-FFF2-40B4-BE49-F238E27FC236}">
                <a16:creationId xmlns:a16="http://schemas.microsoft.com/office/drawing/2014/main" id="{BEE15675-5CE9-4CD9-BCBA-270EDFC223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8371" name="Notes Placeholder 2">
            <a:extLst>
              <a:ext uri="{FF2B5EF4-FFF2-40B4-BE49-F238E27FC236}">
                <a16:creationId xmlns:a16="http://schemas.microsoft.com/office/drawing/2014/main" id="{1A940605-C4B5-4F36-8826-24B3D491F8C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58372" name="Slide Number Placeholder 3">
            <a:extLst>
              <a:ext uri="{FF2B5EF4-FFF2-40B4-BE49-F238E27FC236}">
                <a16:creationId xmlns:a16="http://schemas.microsoft.com/office/drawing/2014/main" id="{40E9A6CA-B5E5-47AF-B460-26031C938E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02E3D68-8EE7-469D-B8A0-A7BF9295CC4A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55006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A7378477-AA51-4713-AC11-5B2EB3B891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E2D4C68B-38E9-4510-803D-8EED9146B6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5970F8DE-7814-4EC2-B15A-C395F9FD8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D3F1A-6D07-433C-9F58-AACD45F55581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Image Placeholder 1">
            <a:extLst>
              <a:ext uri="{FF2B5EF4-FFF2-40B4-BE49-F238E27FC236}">
                <a16:creationId xmlns:a16="http://schemas.microsoft.com/office/drawing/2014/main" id="{A7378477-AA51-4713-AC11-5B2EB3B891E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43" name="Notes Placeholder 2">
            <a:extLst>
              <a:ext uri="{FF2B5EF4-FFF2-40B4-BE49-F238E27FC236}">
                <a16:creationId xmlns:a16="http://schemas.microsoft.com/office/drawing/2014/main" id="{E2D4C68B-38E9-4510-803D-8EED9146B6F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61444" name="Slide Number Placeholder 3">
            <a:extLst>
              <a:ext uri="{FF2B5EF4-FFF2-40B4-BE49-F238E27FC236}">
                <a16:creationId xmlns:a16="http://schemas.microsoft.com/office/drawing/2014/main" id="{5970F8DE-7814-4EC2-B15A-C395F9FD89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0D3F1A-6D07-433C-9F58-AACD45F55581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7544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>
            <a:extLst>
              <a:ext uri="{FF2B5EF4-FFF2-40B4-BE49-F238E27FC236}">
                <a16:creationId xmlns:a16="http://schemas.microsoft.com/office/drawing/2014/main" id="{8C25D3EC-AA6A-455B-87D9-48DBA3A0FB2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3491" name="Notes Placeholder 2">
            <a:extLst>
              <a:ext uri="{FF2B5EF4-FFF2-40B4-BE49-F238E27FC236}">
                <a16:creationId xmlns:a16="http://schemas.microsoft.com/office/drawing/2014/main" id="{16C657B0-3534-45DB-BB29-881F58B5C71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63492" name="Slide Number Placeholder 3">
            <a:extLst>
              <a:ext uri="{FF2B5EF4-FFF2-40B4-BE49-F238E27FC236}">
                <a16:creationId xmlns:a16="http://schemas.microsoft.com/office/drawing/2014/main" id="{2129996B-6611-4A30-96F2-AB00D35E5A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7CFE751-86F3-4464-9FB3-A6C0B3CADBEB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Image Placeholder 1">
            <a:extLst>
              <a:ext uri="{FF2B5EF4-FFF2-40B4-BE49-F238E27FC236}">
                <a16:creationId xmlns:a16="http://schemas.microsoft.com/office/drawing/2014/main" id="{9A693C31-B164-49BB-849D-FA301B8C02F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5539" name="Notes Placeholder 2">
            <a:extLst>
              <a:ext uri="{FF2B5EF4-FFF2-40B4-BE49-F238E27FC236}">
                <a16:creationId xmlns:a16="http://schemas.microsoft.com/office/drawing/2014/main" id="{870735C1-7F77-4458-A388-CF3D4B259E9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65540" name="Slide Number Placeholder 3">
            <a:extLst>
              <a:ext uri="{FF2B5EF4-FFF2-40B4-BE49-F238E27FC236}">
                <a16:creationId xmlns:a16="http://schemas.microsoft.com/office/drawing/2014/main" id="{F6FAC338-0151-4F20-B045-E0A6BAA27E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3A9E05-5736-4B2C-AADD-DB25DBF9FBF9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>
            <a:extLst>
              <a:ext uri="{FF2B5EF4-FFF2-40B4-BE49-F238E27FC236}">
                <a16:creationId xmlns:a16="http://schemas.microsoft.com/office/drawing/2014/main" id="{FE87457C-5949-41B7-96B1-7265CE3D0F70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>
            <a:extLst>
              <a:ext uri="{FF2B5EF4-FFF2-40B4-BE49-F238E27FC236}">
                <a16:creationId xmlns:a16="http://schemas.microsoft.com/office/drawing/2014/main" id="{4EA098C6-46BD-400B-9BF2-F607049135C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75780" name="Slide Number Placeholder 3">
            <a:extLst>
              <a:ext uri="{FF2B5EF4-FFF2-40B4-BE49-F238E27FC236}">
                <a16:creationId xmlns:a16="http://schemas.microsoft.com/office/drawing/2014/main" id="{53FD01DC-2973-477D-B3C9-CD08827958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C02D905-F26B-4D16-9463-B415BD11CCD9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>
            <a:extLst>
              <a:ext uri="{FF2B5EF4-FFF2-40B4-BE49-F238E27FC236}">
                <a16:creationId xmlns:a16="http://schemas.microsoft.com/office/drawing/2014/main" id="{26B74B61-598D-4106-A28D-172B79CAA64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>
            <a:extLst>
              <a:ext uri="{FF2B5EF4-FFF2-40B4-BE49-F238E27FC236}">
                <a16:creationId xmlns:a16="http://schemas.microsoft.com/office/drawing/2014/main" id="{3A312780-4BD8-437C-A073-5AEF0D6AC54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AU" altLang="en-US"/>
          </a:p>
        </p:txBody>
      </p:sp>
      <p:sp>
        <p:nvSpPr>
          <p:cNvPr id="79876" name="Slide Number Placeholder 3">
            <a:extLst>
              <a:ext uri="{FF2B5EF4-FFF2-40B4-BE49-F238E27FC236}">
                <a16:creationId xmlns:a16="http://schemas.microsoft.com/office/drawing/2014/main" id="{77112D71-7DB7-4EC3-9386-05A8DE89B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FD21CF-EBE9-41D9-9110-2932C01BE69C}" type="slidenum">
              <a:rPr kumimoji="0" lang="en-AU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AU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2AFD51-951C-4910-8764-0A37DC1E22A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897C640-D830-4F5C-B927-2C66342DF2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65F36D-9992-422E-95B1-DF901C427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6CA48-CB4D-4BAF-92EB-FF397BC0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0A80A1-BA8C-4C03-9195-A0021CCA4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05526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42DFCF-B8B7-4344-84E3-EC83C3A9E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75451F-F498-4A2E-8068-593F5A8ACF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6485DF-83E4-4358-A605-08670AB06D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D83D4-FB09-49E9-91C1-582A5D754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C35BD-98B1-41D4-BB77-94F62F83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081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655BEC-BCB5-491A-B261-A550962FB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3E0D2D-91F6-4947-B8A4-8689C4AA7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D8FB08-15D7-40D2-B66C-2D3DB4FF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C29063-4401-4FE8-8A0F-96AA3FDD2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007AC1-DF23-4C0B-8638-9A630BB31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850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033C2-12F3-4E38-A8F9-2AEEA761C1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3FC413-F21C-441B-970B-BA1625AE74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5B3E70-A62E-4402-A18E-FAEE091C5F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FF89472-5E9C-4F72-A00D-9452756D0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50F103-6C41-49BF-9A24-7BF5F0A8B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E4BF04-7C63-4467-BC7A-8A3EFC13A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723020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8ABD7-F74F-4783-A842-0C0CE18FD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1221B0-E94A-4123-9789-29061C5902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6A4C1-304F-45C4-9905-FC3B332BAD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DC3921-AD44-46B8-9743-532A230EBC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C52CE24-05AF-4633-91A1-0162D9733A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07668-C5F6-481F-8391-7AC4839D33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371285-40BA-4191-B0F0-9C73485E0C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3BB2B5-C40F-453E-BF79-F84087229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7443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61262-F1EF-4C43-B532-EEB5379C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B1378E-B17E-4A5C-9CA5-59AF511D5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8FBA4F-12E3-4C0C-B1BA-4C78C41CB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103EDD-D941-45C3-B431-54292B643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8713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6B752A-2263-478F-BDB5-597C9CFC24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F77600D-A10A-4A84-97D3-0679A70D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C22F96-9C03-4CBA-B9A1-81E3C2418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283476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CC9D6-5F61-4132-9193-C23925D39D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76F894-114B-41D1-8AC6-992774EACA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93DD03-E17B-4446-82D6-E6F1F61F1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0368C-AE2B-457F-8DA4-EC2CF1E3A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05CA7A-15C3-44B3-832D-93245369B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8BBFCA-BC7F-4B63-B0CA-F832ADE7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32314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705CEF-8D44-451A-B32C-45C926C11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E19CAE-09AC-497B-B62D-4E3C4D9F2E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D3D945-1531-4A1A-B464-28A6DD236B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0F9D5A-F6CA-489F-ABAA-FE2A0FCAD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F9AB3-FEC4-4BB4-9A38-CD7DED40CD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1526C9-DF01-4E59-BDEE-CB06A548E3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8928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C20EB-5012-40C9-BD83-77BBEB9E4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5E9432-A9EE-4434-A1F8-F907276C9D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B4E630-8FD5-46F9-8263-57F09DD97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467C9-90F1-44F0-830D-2766BEB7E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682DCE-9472-4C95-8676-32892B151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33881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7575B1-16B4-4780-8B88-FCC01D8711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F10877-6857-4877-97B8-C690EECEBD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2D6A3-2622-4787-8F05-66765411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6F1714-A1A9-411A-9052-97720A23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B16142-0AE0-4738-9226-884CD1AF1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40779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8" y="3418114"/>
            <a:ext cx="5504297" cy="4959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/>
              <a:t>Insert subtitle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8" y="2731752"/>
            <a:ext cx="7224609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8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 dirty="0"/>
              <a:t>Presentation title</a:t>
            </a:r>
            <a:endParaRPr lang="en-US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8" y="6100990"/>
            <a:ext cx="3024569" cy="31530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GB" dirty="0"/>
              <a:t>## Month 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268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A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16" hasCustomPrompt="1"/>
          </p:nvPr>
        </p:nvSpPr>
        <p:spPr>
          <a:xfrm>
            <a:off x="664029" y="2389855"/>
            <a:ext cx="3164052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4585099" y="2389854"/>
            <a:ext cx="3164054" cy="326164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7675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Full Colour B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7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3554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8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49733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086820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523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618269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6558185" cy="107741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64025" y="3822055"/>
            <a:ext cx="6558185" cy="44670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rgbClr val="00A6B6"/>
                </a:solidFill>
                <a:latin typeface="Roboto" charset="0"/>
                <a:ea typeface="Roboto" charset="0"/>
                <a:cs typeface="Roboto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Subtitle:</a:t>
            </a:r>
            <a:endParaRPr lang="en-US" dirty="0"/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4" y="4268761"/>
            <a:ext cx="6558185" cy="1077415"/>
          </a:xfrm>
          <a:prstGeom prst="rect">
            <a:avLst/>
          </a:prstGeom>
        </p:spPr>
        <p:txBody>
          <a:bodyPr/>
          <a:lstStyle>
            <a:lvl1pPr marL="285750" indent="-285750">
              <a:buFont typeface="Arial" charset="0"/>
              <a:buChar char="•"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Bullet 1</a:t>
            </a:r>
          </a:p>
          <a:p>
            <a:pPr lvl="0"/>
            <a:r>
              <a:rPr lang="en-GB" dirty="0"/>
              <a:t>Bullet 2</a:t>
            </a:r>
          </a:p>
          <a:p>
            <a:pPr lvl="0"/>
            <a:r>
              <a:rPr lang="en-GB" dirty="0"/>
              <a:t>Bullet 3</a:t>
            </a:r>
            <a:endParaRPr lang="en-US" dirty="0"/>
          </a:p>
        </p:txBody>
      </p:sp>
      <p:sp>
        <p:nvSpPr>
          <p:cNvPr id="16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48763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avy 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664027" y="1382662"/>
            <a:ext cx="6558183" cy="573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 b="1" i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>
              <a:buNone/>
              <a:defRPr sz="3800" b="1" i="0">
                <a:latin typeface="Roboto Black" charset="0"/>
                <a:ea typeface="Roboto Black" charset="0"/>
                <a:cs typeface="Roboto Black" charset="0"/>
              </a:defRPr>
            </a:lvl5pPr>
          </a:lstStyle>
          <a:p>
            <a:pPr lvl="0"/>
            <a:r>
              <a:rPr lang="en-GB"/>
              <a:t>Insert </a:t>
            </a:r>
            <a:r>
              <a:rPr lang="en-GB" dirty="0"/>
              <a:t>title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sz="quarter" idx="20" hasCustomPrompt="1"/>
          </p:nvPr>
        </p:nvSpPr>
        <p:spPr>
          <a:xfrm>
            <a:off x="664027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1</a:t>
            </a:r>
            <a:endParaRPr lang="en-US" dirty="0"/>
          </a:p>
        </p:txBody>
      </p:sp>
      <p:sp>
        <p:nvSpPr>
          <p:cNvPr id="10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6328229" y="2389854"/>
            <a:ext cx="5241473" cy="131424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2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664027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3</a:t>
            </a:r>
            <a:endParaRPr lang="en-US" dirty="0"/>
          </a:p>
        </p:txBody>
      </p:sp>
      <p:sp>
        <p:nvSpPr>
          <p:cNvPr id="12" name="Text Placeholder 2"/>
          <p:cNvSpPr>
            <a:spLocks noGrp="1"/>
          </p:cNvSpPr>
          <p:nvPr>
            <p:ph type="body" sz="quarter" idx="23" hasCustomPrompt="1"/>
          </p:nvPr>
        </p:nvSpPr>
        <p:spPr>
          <a:xfrm>
            <a:off x="6328229" y="3993194"/>
            <a:ext cx="5241473" cy="1314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0" i="0" baseline="0">
                <a:solidFill>
                  <a:schemeClr val="tx1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Text 4</a:t>
            </a:r>
            <a:endParaRPr lang="en-US" dirty="0"/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664027" y="6100990"/>
            <a:ext cx="5302820" cy="2998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 b="0" i="0" baseline="0">
                <a:solidFill>
                  <a:srgbClr val="007298"/>
                </a:solidFill>
                <a:latin typeface="Roboto Light" charset="0"/>
                <a:ea typeface="Roboto Light" charset="0"/>
                <a:cs typeface="Roboto Light" charset="0"/>
              </a:defRPr>
            </a:lvl1pPr>
            <a:lvl2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2pPr>
            <a:lvl3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3pPr>
            <a:lvl4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4pPr>
            <a:lvl5pPr>
              <a:defRPr sz="2400" b="0" i="0">
                <a:latin typeface="Roboto Light" charset="0"/>
                <a:ea typeface="Roboto Light" charset="0"/>
                <a:cs typeface="Roboto Light" charset="0"/>
              </a:defRPr>
            </a:lvl5pPr>
          </a:lstStyle>
          <a:p>
            <a:pPr lvl="0"/>
            <a:r>
              <a:rPr lang="en-GB" dirty="0"/>
              <a:t>1 | Presentation name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92274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675DD7-EBEB-4361-B607-406E8A228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5351D4-647E-4202-992A-A1C3D2499E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93F7D0-63FA-4ABB-91E2-4823D6651A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408EA1-C490-4DCA-A081-1675BC8644F8}" type="datetimeFigureOut">
              <a:rPr lang="en-AU" smtClean="0"/>
              <a:t>29/10/2022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DC1A11-7C2C-469F-922E-8219EDA71B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18A2A-A427-42EC-995E-47F468AA2B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8372ED-0E4D-420F-A35E-0A1ADD15D31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801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734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b="1" i="0" kern="1200" spc="150" baseline="0">
          <a:solidFill>
            <a:schemeClr val="tx1"/>
          </a:solidFill>
          <a:latin typeface="Roboto Black" charset="0"/>
          <a:ea typeface="Roboto Black" charset="0"/>
          <a:cs typeface="Roboto Black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400" b="0" i="0" kern="1200" baseline="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tx1"/>
          </a:solidFill>
          <a:latin typeface="Roboto Light" charset="0"/>
          <a:ea typeface="Roboto Light" charset="0"/>
          <a:cs typeface="Roboto Light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49794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EBDF647-ED52-4BB2-9030-3FA2B3E69D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554594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54669C-C763-41F2-B039-88C893F9D0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417487"/>
            <a:ext cx="7443024" cy="573088"/>
          </a:xfrm>
        </p:spPr>
        <p:txBody>
          <a:bodyPr/>
          <a:lstStyle/>
          <a:p>
            <a:r>
              <a:rPr lang="en-AU" altLang="en-US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Second Part/Chapter  of the Autonomic Nervous System (ANS) Pharmacology</a:t>
            </a:r>
            <a:endParaRPr lang="en-A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19395C-2D07-4DA6-A585-DB530BE9FB1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dirty="0"/>
              <a:t>Dr. Ken Wojcikowski</a:t>
            </a:r>
          </a:p>
        </p:txBody>
      </p:sp>
    </p:spTree>
    <p:extLst>
      <p:ext uri="{BB962C8B-B14F-4D97-AF65-F5344CB8AC3E}">
        <p14:creationId xmlns:p14="http://schemas.microsoft.com/office/powerpoint/2010/main" val="3838713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94F7791-E05A-4C1F-915B-8CD1232035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41097" y="736723"/>
            <a:ext cx="6302383" cy="573088"/>
          </a:xfrm>
        </p:spPr>
        <p:txBody>
          <a:bodyPr/>
          <a:lstStyle/>
          <a:p>
            <a:r>
              <a:rPr lang="en-AU" sz="3600" dirty="0">
                <a:solidFill>
                  <a:srgbClr val="3A7386"/>
                </a:solidFill>
              </a:rPr>
              <a:t>Objectives for second chapter on the ANS drugs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B82591E-BBB9-4D49-8EA2-E0AF917403C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64025" y="2226365"/>
            <a:ext cx="7401802" cy="2801759"/>
          </a:xfrm>
        </p:spPr>
        <p:txBody>
          <a:bodyPr/>
          <a:lstStyle/>
          <a:p>
            <a:pPr marL="0" indent="0">
              <a:buNone/>
            </a:pP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Describe the actions, interactions and side effects of the following adrenergic agonists: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Adrenaline (non-selective agonist)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Phenylephrine (an alpha 1 selective agonist)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Dobutamine (a beta 1 adrenergic agonist)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Salbutamol (a beta 2 adrenergic agonist)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Dopamine</a:t>
            </a:r>
          </a:p>
          <a:p>
            <a:pPr marL="457200" lvl="1" indent="0">
              <a:buNone/>
            </a:pPr>
            <a:r>
              <a:rPr lang="en-AU" altLang="en-US" b="1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These medications will be taken again at a later time. It is most important right now to </a:t>
            </a:r>
            <a:r>
              <a:rPr lang="en-AU" altLang="en-US" b="1" i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understand</a:t>
            </a:r>
            <a:r>
              <a:rPr lang="en-AU" altLang="en-US" b="1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why the actions and side effects occur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89870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025538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Sympathomimetics (Drugs that mimic the sympathetic nervous system (SNS)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1: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Understanding Anaphylaxis and the Role of Adrenaline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6497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F14F8D-36C7-4E55-97F9-65DED1D4E1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055078" y="1076813"/>
            <a:ext cx="5995079" cy="573088"/>
          </a:xfrm>
        </p:spPr>
        <p:txBody>
          <a:bodyPr/>
          <a:lstStyle/>
          <a:p>
            <a:r>
              <a:rPr lang="en-AU" sz="3600" dirty="0">
                <a:solidFill>
                  <a:srgbClr val="3A7386"/>
                </a:solidFill>
              </a:rPr>
              <a:t>Sympathomimetic drugs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B3E3A8-1D6C-41A4-868B-5CAE3B14F99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55077" y="2058552"/>
            <a:ext cx="7386557" cy="3136302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Sympathomimetics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Adrenergic agonists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agonist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agonist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Adrenergic receptor stimulators</a:t>
            </a:r>
          </a:p>
          <a:p>
            <a:endParaRPr lang="en-AU" altLang="en-US" sz="28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algn="ctr"/>
            <a:r>
              <a:rPr lang="en-AU" altLang="en-US" sz="28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These terms are often used interchangeably and therefore should all be known as drugs that increase the sympathetic response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618968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299" name="Picture 2" descr="http://drugster.info/img/term/system-sympathetic-nervous-14642_3.jpg">
            <a:extLst>
              <a:ext uri="{FF2B5EF4-FFF2-40B4-BE49-F238E27FC236}">
                <a16:creationId xmlns:a16="http://schemas.microsoft.com/office/drawing/2014/main" id="{A478BB7A-91CE-457F-B99F-F53A78FB4B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-1979613"/>
            <a:ext cx="7224712" cy="90805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0" name="Picture 2" descr="http://i.dailymail.co.uk/i/pix/2010/01/30/article-1247249-08141165000005DC-1_634x649.jpg">
            <a:extLst>
              <a:ext uri="{FF2B5EF4-FFF2-40B4-BE49-F238E27FC236}">
                <a16:creationId xmlns:a16="http://schemas.microsoft.com/office/drawing/2014/main" id="{AE05C4CB-47BC-434F-B18B-57DC8C401B9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38262" y="1"/>
            <a:ext cx="2219326" cy="2276475"/>
          </a:xfrm>
        </p:spPr>
      </p:pic>
      <p:pic>
        <p:nvPicPr>
          <p:cNvPr id="55301" name="Picture 2" descr="http://i.dailymail.co.uk/i/pix/2010/01/30/article-1247249-08141165000005DC-1_634x649.jpg">
            <a:extLst>
              <a:ext uri="{FF2B5EF4-FFF2-40B4-BE49-F238E27FC236}">
                <a16:creationId xmlns:a16="http://schemas.microsoft.com/office/drawing/2014/main" id="{4BF850BD-C197-4337-BB19-5351A410B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3026" y="2309813"/>
            <a:ext cx="2214563" cy="2271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5302" name="Picture 2" descr="http://i.dailymail.co.uk/i/pix/2010/01/30/article-1247249-08141165000005DC-1_634x649.jpg">
            <a:extLst>
              <a:ext uri="{FF2B5EF4-FFF2-40B4-BE49-F238E27FC236}">
                <a16:creationId xmlns:a16="http://schemas.microsoft.com/office/drawing/2014/main" id="{5D17B315-73CB-4EB9-A777-B4AA13488E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6666" y="4614380"/>
            <a:ext cx="2212976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FB86A76-113E-4C30-8873-67FA3E22267D}"/>
              </a:ext>
            </a:extLst>
          </p:cNvPr>
          <p:cNvSpPr/>
          <p:nvPr/>
        </p:nvSpPr>
        <p:spPr>
          <a:xfrm>
            <a:off x="1180994" y="6585230"/>
            <a:ext cx="2451312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  <a:cs typeface="+mn-cs"/>
              </a:rPr>
              <a:t>From: Daily </a:t>
            </a:r>
            <a:r>
              <a:rPr kumimoji="0" lang="en-AU" sz="17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  <a:cs typeface="+mn-cs"/>
              </a:rPr>
              <a:t>Mail.Co</a:t>
            </a:r>
            <a:r>
              <a:rPr kumimoji="0" lang="en-AU" sz="17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  <a:cs typeface="+mn-cs"/>
              </a:rPr>
              <a:t> UK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8D797BCF-1FFA-4986-A63C-FDF8FCE945E4}"/>
              </a:ext>
            </a:extLst>
          </p:cNvPr>
          <p:cNvSpPr txBox="1">
            <a:spLocks/>
          </p:cNvSpPr>
          <p:nvPr/>
        </p:nvSpPr>
        <p:spPr>
          <a:xfrm>
            <a:off x="9030953" y="6637513"/>
            <a:ext cx="3024569" cy="31530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AU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Contraction of urinary sphincters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D3D3-6DFE-4FDC-85A0-3F9115668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Non-selective sympathomimetic 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DEB659B5-A057-40A5-9B64-468092BB70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25217" y="1527176"/>
            <a:ext cx="9554818" cy="5330825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Specific drugs: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Adrenaline (know this drug)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Noradrenaline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Metaraminol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Ephedrine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Dopamine (know this drug)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Pseudoephedrine (Know; combined with antihistamines and analgesics)</a:t>
            </a: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These have limited use due to their effect on a wide range of organs, but are still used for treatment of hypotension and anaphylactic shock. 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After intravenous administration of adrenaline, an Alpha-adrenergic antagonist should be administered locally to offset the vasoconstricting effects of adrenaline. </a:t>
            </a:r>
          </a:p>
          <a:p>
            <a:pPr lvl="1"/>
            <a:endParaRPr lang="en-AU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1B14F8-1FBA-4614-A0AF-E6C8D893B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EDEC0A-291B-4F63-9615-FA56EBD7BF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389" y="0"/>
            <a:ext cx="10515600" cy="5915025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2E60649-CEDB-4B76-BB86-ED2FEC551D9B}"/>
              </a:ext>
            </a:extLst>
          </p:cNvPr>
          <p:cNvSpPr/>
          <p:nvPr/>
        </p:nvSpPr>
        <p:spPr>
          <a:xfrm>
            <a:off x="275493" y="5633819"/>
            <a:ext cx="117968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3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  <a:cs typeface="+mn-cs"/>
              </a:rPr>
              <a:t>Only a Type I hypersensitivity reaction is a true allergy!</a:t>
            </a:r>
          </a:p>
        </p:txBody>
      </p:sp>
    </p:spTree>
    <p:extLst>
      <p:ext uri="{BB962C8B-B14F-4D97-AF65-F5344CB8AC3E}">
        <p14:creationId xmlns:p14="http://schemas.microsoft.com/office/powerpoint/2010/main" val="4277684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27F5F-C46E-4A3D-9CED-7C72F2AAB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31C755-6E44-4238-A4BF-BC9A5F6AFD2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2207914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5B490-0753-4623-8D23-D5E77FB893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08E86D-BFA7-4DC9-A110-7630C31B4B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149652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4C604-E5A8-47FB-836B-DF9F161F2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3190A1-CF78-490E-98DA-B93F4D4CD7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421043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FFBBB-5AD2-4F94-8D23-9622AC478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3BE29B2-CD02-4E6D-9236-5F4059C8F4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39532974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BF2E5-37A2-4145-A70E-BAF88C6D31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3A6B11B-6ECE-447A-8447-376DAB759C2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747860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2F454-B3E1-4123-90EA-CD27443DC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8051223-1A2B-438A-9596-C3D4DF2697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024894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C08D2-F452-4C17-B45E-0A373E9B8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F845876-78F3-45E0-A4DF-B28A3CCF73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258508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9EED1-420D-4ABC-9262-21B2545BF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264A3BB-C7C1-4C22-B109-D4059229CA8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</p:spPr>
      </p:pic>
    </p:spTree>
    <p:extLst>
      <p:ext uri="{BB962C8B-B14F-4D97-AF65-F5344CB8AC3E}">
        <p14:creationId xmlns:p14="http://schemas.microsoft.com/office/powerpoint/2010/main" val="1284676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96267-6EF2-4F30-9BBF-138E061AE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7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Anaphylaxis (Anaphylactic shock)</a:t>
            </a:r>
          </a:p>
        </p:txBody>
      </p:sp>
      <p:sp>
        <p:nvSpPr>
          <p:cNvPr id="59395" name="Content Placeholder 2">
            <a:extLst>
              <a:ext uri="{FF2B5EF4-FFF2-40B4-BE49-F238E27FC236}">
                <a16:creationId xmlns:a16="http://schemas.microsoft.com/office/drawing/2014/main" id="{05F01746-9D02-4545-A764-7AE3AB8E2C1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5625" y="1527175"/>
            <a:ext cx="8504238" cy="4572000"/>
          </a:xfrm>
        </p:spPr>
        <p:txBody>
          <a:bodyPr/>
          <a:lstStyle/>
          <a:p>
            <a:endParaRPr lang="en-AU" altLang="en-US"/>
          </a:p>
        </p:txBody>
      </p:sp>
      <p:pic>
        <p:nvPicPr>
          <p:cNvPr id="59396" name="Picture 2" descr="http://nfs.unipv.it/nfs/minf/dispense/immunology/lectures/files/images/type1_hypersensitivity.jpg">
            <a:extLst>
              <a:ext uri="{FF2B5EF4-FFF2-40B4-BE49-F238E27FC236}">
                <a16:creationId xmlns:a16="http://schemas.microsoft.com/office/drawing/2014/main" id="{3308346A-3D2D-4885-8295-62E8BB2E0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797" y="1404730"/>
            <a:ext cx="9236378" cy="4865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025538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Sympathomimetics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2: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Non-selective adrenergic agonists other than adrenaline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376791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9D3D3-6DFE-4FDC-85A0-3F9115668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Non-selective sympathomimetic </a:t>
            </a:r>
          </a:p>
        </p:txBody>
      </p:sp>
      <p:sp>
        <p:nvSpPr>
          <p:cNvPr id="57347" name="Content Placeholder 2">
            <a:extLst>
              <a:ext uri="{FF2B5EF4-FFF2-40B4-BE49-F238E27FC236}">
                <a16:creationId xmlns:a16="http://schemas.microsoft.com/office/drawing/2014/main" id="{DEB659B5-A057-40A5-9B64-468092BB708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25217" y="1527176"/>
            <a:ext cx="9554818" cy="5330825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Specific drugs: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Adrenaline (know this drug)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Noradrenaline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Metaraminol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Ephedrine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Dopamine (know this drug)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Pseudoephedrine (Know; combined with antihistamines and analgesics)</a:t>
            </a: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These have limited use due to their effect on a wide range of organs, but are still used for treatment of hypotension and anaphylactic shock. </a:t>
            </a:r>
          </a:p>
          <a:p>
            <a:pPr lvl="1"/>
            <a:r>
              <a:rPr lang="en-AU" altLang="en-US" sz="2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After intravenous administration of adrenaline, an Alpha-adrenergic antagonist should be administered locally to offset the vasoconstricting effects of adrenaline. </a:t>
            </a:r>
          </a:p>
          <a:p>
            <a:pPr lvl="1"/>
            <a:endParaRPr lang="en-AU" altLang="en-US" dirty="0"/>
          </a:p>
        </p:txBody>
      </p:sp>
    </p:spTree>
    <p:extLst>
      <p:ext uri="{BB962C8B-B14F-4D97-AF65-F5344CB8AC3E}">
        <p14:creationId xmlns:p14="http://schemas.microsoft.com/office/powerpoint/2010/main" val="35199615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8C56-8361-4AE0-9E3C-79CD098B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AU" sz="3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‘Selective’ adrenergic receptor stimulation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6545-9B34-473A-9D40-C33E259B851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5625" y="1686199"/>
            <a:ext cx="8504238" cy="49657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Subtypes of adrenergic receptors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1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2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1 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Beta2</a:t>
            </a:r>
          </a:p>
          <a:p>
            <a:pPr lvl="1">
              <a:defRPr/>
            </a:pPr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 algn="ctr">
              <a:buNone/>
              <a:defRPr/>
            </a:pPr>
            <a:r>
              <a:rPr lang="en-AU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While drugs that target these ‘selective’ receptors have more selectivity, they still result in some stimulation to the       other receptors, especially in high doses. </a:t>
            </a:r>
          </a:p>
          <a:p>
            <a:pPr marL="274638" lvl="1" indent="0">
              <a:buNone/>
              <a:defRPr/>
            </a:pPr>
            <a:endParaRPr lang="en-AU" b="1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279597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Sympathomimetics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3: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Selective alpha adrenergic agonists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09828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08C56-8361-4AE0-9E3C-79CD098B5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AU" sz="3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‘Selective’ adrenergic receptor stimulation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06545-9B34-473A-9D40-C33E259B8511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825625" y="1686199"/>
            <a:ext cx="8504238" cy="496570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Subtypes of adrenergic receptors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1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2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 1 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Beta2</a:t>
            </a:r>
          </a:p>
          <a:p>
            <a:pPr lvl="1">
              <a:defRPr/>
            </a:pPr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 algn="ctr">
              <a:buNone/>
              <a:defRPr/>
            </a:pPr>
            <a:r>
              <a:rPr lang="en-AU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While drugs that target these ‘selective’ receptors have more selectivity, they still result in some stimulation to the       other receptors, especially in high doses. </a:t>
            </a:r>
          </a:p>
          <a:p>
            <a:pPr marL="274638" lvl="1" indent="0">
              <a:buNone/>
              <a:defRPr/>
            </a:pP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134527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7ED37-8EA7-4AA6-8899-58FB4A49E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1 receptors</a:t>
            </a:r>
          </a:p>
        </p:txBody>
      </p:sp>
      <p:sp>
        <p:nvSpPr>
          <p:cNvPr id="62467" name="Content Placeholder 2">
            <a:extLst>
              <a:ext uri="{FF2B5EF4-FFF2-40B4-BE49-F238E27FC236}">
                <a16:creationId xmlns:a16="http://schemas.microsoft.com/office/drawing/2014/main" id="{D70A6639-4F59-4E55-A35E-A812E8AAC45F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72764" y="1690688"/>
            <a:ext cx="9446471" cy="4572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AU" altLang="en-US" sz="3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Location of receptors:</a:t>
            </a:r>
            <a:endParaRPr lang="en-AU" altLang="en-US" sz="8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endParaRPr lang="en-AU" altLang="en-US" sz="8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‘Peripheral’ blood vessels (including those in the nasal passages; large muscles do not have this constriction to ensure they get enough blood to move quickly)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Smooth muscles of the GIT (less effect than Beta 1 stimulation)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Sphincters of the bladder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Radial muscles of the eye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buFont typeface="Wingdings 2" panose="05020102010507070707" pitchFamily="18" charset="2"/>
              <a:buChar char=""/>
            </a:pPr>
            <a:r>
              <a:rPr lang="en-AU" altLang="en-US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Given the location of the receptors, hypothesise the uses and side effects of Alpha 1 sympathomimetics</a:t>
            </a:r>
          </a:p>
          <a:p>
            <a:pPr lvl="1"/>
            <a:endParaRPr lang="en-AU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20439D9-2145-4E60-9A5E-D7D911AE300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Alpha 1 agonists: side effects</a:t>
            </a:r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CF2FEC-2149-490C-9E2A-615669BBBCB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2389854"/>
            <a:ext cx="6558185" cy="4050703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Any sympathetic nervous system actions can be increased, but the most common adverse effects include: 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Hypertension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Constipation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Urinary retention</a:t>
            </a:r>
          </a:p>
          <a:p>
            <a:pPr lvl="1"/>
            <a:endParaRPr lang="en-AU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(eye pain is possible)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23607624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C16F7-CF37-46C4-9626-E012970C6F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5857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Actions: Alpha 1 agonists</a:t>
            </a:r>
          </a:p>
        </p:txBody>
      </p:sp>
      <p:sp>
        <p:nvSpPr>
          <p:cNvPr id="64515" name="Content Placeholder 2">
            <a:extLst>
              <a:ext uri="{FF2B5EF4-FFF2-40B4-BE49-F238E27FC236}">
                <a16:creationId xmlns:a16="http://schemas.microsoft.com/office/drawing/2014/main" id="{694D8ABE-5603-437E-9A15-7BDC0382CA22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64974" y="1558167"/>
            <a:ext cx="9607826" cy="5412476"/>
          </a:xfrm>
        </p:spPr>
        <p:txBody>
          <a:bodyPr>
            <a:normAutofit/>
          </a:bodyPr>
          <a:lstStyle/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Nasal passages and eyes: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constrictive effects of Alpha 1 adrenergic agonists can counteract the vasodilation that leads to nasal congestion and the ‘red eye’.</a:t>
            </a: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Systemically: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Increase in blood pressure (through a constriction of blood vessels).</a:t>
            </a: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Dilate the pupils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Allows as much light in as possible but can also lead to eye pain when too much light is being allowed in. </a:t>
            </a:r>
          </a:p>
          <a:p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 minor surgery	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Local administration constricts blood vessels for less bleeding and decreased systemic absorption of local anaesthesia</a:t>
            </a:r>
          </a:p>
          <a:p>
            <a:endParaRPr lang="en-AU" altLang="en-US" dirty="0"/>
          </a:p>
          <a:p>
            <a:pPr lvl="1"/>
            <a:endParaRPr lang="en-AU" altLang="en-US" dirty="0"/>
          </a:p>
          <a:p>
            <a:endParaRPr lang="en-AU" altLang="en-US" dirty="0"/>
          </a:p>
          <a:p>
            <a:endParaRPr lang="en-AU" altLang="en-US" dirty="0"/>
          </a:p>
          <a:p>
            <a:endParaRPr lang="en-AU" altLang="en-US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46542F-B044-4E62-80C3-A300C3F694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/>
              <a:t>Alpha 1 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558C4-80F2-4515-A96D-47DBC9936A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6" y="2389854"/>
            <a:ext cx="8602803" cy="1077415"/>
          </a:xfrm>
        </p:spPr>
        <p:txBody>
          <a:bodyPr/>
          <a:lstStyle/>
          <a:p>
            <a:r>
              <a:rPr lang="en-AU" altLang="en-US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(Most end in -</a:t>
            </a:r>
            <a:r>
              <a:rPr lang="en-AU" altLang="en-US" sz="2400" i="1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ine</a:t>
            </a:r>
            <a:r>
              <a:rPr lang="en-AU" altLang="en-US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like epinephrine but that is not a formal suffix)</a:t>
            </a:r>
          </a:p>
          <a:p>
            <a:endParaRPr lang="en-AU" altLang="en-US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Phenylephrine (know this one; used primarily as a decongestant, as an agent to dilate the pupils, and to increase blood pressure. )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Midodrine (oral decongestant)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Naphazoline (intranasal decongestant)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Oxymetazoline (know this drug; intranasal decongestant)</a:t>
            </a:r>
          </a:p>
          <a:p>
            <a:r>
              <a:rPr lang="en-AU" altLang="en-US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Xylometazoline (intranasal decongestant)</a:t>
            </a:r>
            <a:endParaRPr lang="en-AU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18183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46542F-B044-4E62-80C3-A300C3F694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/>
              <a:t>Alpha 2 agonists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558C4-80F2-4515-A96D-47DBC9936A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2389854"/>
            <a:ext cx="7525816" cy="1077415"/>
          </a:xfrm>
        </p:spPr>
        <p:txBody>
          <a:bodyPr/>
          <a:lstStyle/>
          <a:p>
            <a:r>
              <a:rPr lang="en-AU" altLang="en-US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This is the exception to the rule so ignore for now. </a:t>
            </a:r>
          </a:p>
          <a:p>
            <a:endParaRPr lang="en-AU" sz="2400" i="1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Explanation: the Alpha 2 receptor exists to make sure that the adrenaline response does not result in so much stimulation that it can do harm. It is a ‘negative feedback’ type of receptor and does exactly opposite to that which one would expect. </a:t>
            </a:r>
            <a:endParaRPr lang="en-AU" sz="24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12010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AD4BBE-C836-45FE-B91A-A4F4EFDB757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64028" y="3770147"/>
            <a:ext cx="5504297" cy="495918"/>
          </a:xfrm>
        </p:spPr>
        <p:txBody>
          <a:bodyPr/>
          <a:lstStyle/>
          <a:p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Introductory Pharmacology PHAR2001</a:t>
            </a:r>
          </a:p>
          <a:p>
            <a:endParaRPr lang="en-A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0B708-458D-46A5-B22B-72B13CB674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8" y="1993053"/>
            <a:ext cx="7224609" cy="573088"/>
          </a:xfrm>
        </p:spPr>
        <p:txBody>
          <a:bodyPr/>
          <a:lstStyle/>
          <a:p>
            <a:r>
              <a:rPr lang="en-AU" altLang="en-US" dirty="0">
                <a:solidFill>
                  <a:srgbClr val="3A7386"/>
                </a:solidFill>
              </a:rPr>
              <a:t>Autonomic Nervous System Pharmacology</a:t>
            </a:r>
            <a:endParaRPr lang="en-AU" dirty="0">
              <a:solidFill>
                <a:srgbClr val="3A7386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A38FD6-D3C0-47AA-B8A4-4AC2507C115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AU" sz="1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Dr Ken Wojcikowski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58D6C8-59F8-4F93-AFE9-B39A5FEFD9EB}"/>
              </a:ext>
            </a:extLst>
          </p:cNvPr>
          <p:cNvSpPr/>
          <p:nvPr/>
        </p:nvSpPr>
        <p:spPr>
          <a:xfrm>
            <a:off x="0" y="0"/>
            <a:ext cx="12192000" cy="6903076"/>
          </a:xfrm>
          <a:prstGeom prst="rect">
            <a:avLst/>
          </a:prstGeom>
          <a:solidFill>
            <a:srgbClr val="06678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62AE5D-5D1C-4BB6-BBDE-CB916DC97CE9}"/>
              </a:ext>
            </a:extLst>
          </p:cNvPr>
          <p:cNvSpPr/>
          <p:nvPr/>
        </p:nvSpPr>
        <p:spPr>
          <a:xfrm>
            <a:off x="1148551" y="789494"/>
            <a:ext cx="10039546" cy="527901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 Placeholder 1">
            <a:extLst>
              <a:ext uri="{FF2B5EF4-FFF2-40B4-BE49-F238E27FC236}">
                <a16:creationId xmlns:a16="http://schemas.microsoft.com/office/drawing/2014/main" id="{3E8622EF-0595-4530-B6E3-1DE92CA2C039}"/>
              </a:ext>
            </a:extLst>
          </p:cNvPr>
          <p:cNvSpPr txBox="1">
            <a:spLocks/>
          </p:cNvSpPr>
          <p:nvPr/>
        </p:nvSpPr>
        <p:spPr>
          <a:xfrm>
            <a:off x="1400692" y="2319351"/>
            <a:ext cx="9535264" cy="573088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3800" b="1" i="0" kern="1200" baseline="0">
                <a:solidFill>
                  <a:srgbClr val="007298"/>
                </a:solidFill>
                <a:latin typeface="Roboto Black" charset="0"/>
                <a:ea typeface="Roboto Black" charset="0"/>
                <a:cs typeface="Roboto Black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3800" b="1" i="0" kern="1200">
                <a:solidFill>
                  <a:schemeClr val="tx1"/>
                </a:solidFill>
                <a:latin typeface="Roboto Black" charset="0"/>
                <a:ea typeface="Roboto Black" charset="0"/>
                <a:cs typeface="Roboto Black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alt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panose="02000000000000000000" pitchFamily="2" charset="0"/>
                <a:ea typeface="Roboto Black" panose="02000000000000000000" pitchFamily="2" charset="0"/>
              </a:rPr>
              <a:t>Sympathomimetics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Lesson 4: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AU" sz="3600" b="1" i="0" u="none" strike="noStrike" kern="1200" cap="none" spc="0" normalizeH="0" baseline="0" noProof="0" dirty="0">
                <a:ln>
                  <a:noFill/>
                </a:ln>
                <a:solidFill>
                  <a:srgbClr val="06678A"/>
                </a:solidFill>
                <a:effectLst/>
                <a:uLnTx/>
                <a:uFillTx/>
                <a:latin typeface="Roboto Black" charset="0"/>
                <a:ea typeface="Roboto Black" charset="0"/>
              </a:rPr>
              <a:t>Selective beta adrenergic agonists</a:t>
            </a:r>
            <a:endParaRPr kumimoji="0" lang="en-AU" sz="3600" b="1" i="0" u="none" strike="noStrike" kern="1200" cap="none" spc="0" normalizeH="0" baseline="0" noProof="0" dirty="0">
              <a:ln>
                <a:noFill/>
              </a:ln>
              <a:solidFill>
                <a:srgbClr val="007298"/>
              </a:solidFill>
              <a:effectLst/>
              <a:uLnTx/>
              <a:uFillTx/>
              <a:latin typeface="Roboto Black" charset="0"/>
              <a:ea typeface="Roboto Black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278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301E367-7901-4E52-9F32-0395E2C2DFE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sz="3600" dirty="0"/>
              <a:t>Beta 1 adrenergic receptors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879D56-B689-4BF8-A1F9-927193D799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2389854"/>
            <a:ext cx="8016147" cy="1077415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Location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Heart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Git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Kidneys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buFont typeface="Wingdings 2" panose="05020102010507070707" pitchFamily="18" charset="2"/>
              <a:buChar char=""/>
            </a:pPr>
            <a:r>
              <a:rPr lang="en-AU" altLang="en-US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Given the location of the receptors, hypothesise the uses and side effects of Beta 1 agonists (selective Beta 1 sympathomimetics)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88880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C4568-59BD-4549-A252-998088D38F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69589"/>
            <a:ext cx="10515600" cy="1325563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Actions: Beta 1 adrenergic agonists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6B3F52-EB4A-4BB5-9BC3-FFAEE8A13B4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392072" y="1472582"/>
            <a:ext cx="9335068" cy="5078341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Positive </a:t>
            </a:r>
            <a:r>
              <a:rPr lang="en-AU" sz="2400" i="1" dirty="0" err="1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chronotropic</a:t>
            </a: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effects (increased heart rate)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Positive </a:t>
            </a:r>
            <a:r>
              <a:rPr lang="en-AU" sz="2400" i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inotropic</a:t>
            </a: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effect (increase in the contractile force of the heart)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K</a:t>
            </a:r>
            <a:r>
              <a:rPr lang="en-AU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now these terms – chrono=time (beats/min)  </a:t>
            </a:r>
            <a:r>
              <a:rPr lang="en-AU" i="1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inos</a:t>
            </a:r>
            <a:r>
              <a:rPr lang="en-AU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=fibre (how much stretch 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Therefore these drugs are useful in circulatory shock, hypotension and cardiac arrest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Adverse effects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GIT – constipation</a:t>
            </a:r>
          </a:p>
          <a:p>
            <a:pPr lvl="1">
              <a:defRPr/>
            </a:pPr>
            <a:r>
              <a:rPr lang="en-AU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Kidneys – decreased blood flow = increased systemic blood pressure via the renin angiotensin aldosterone mechanism</a:t>
            </a:r>
          </a:p>
          <a:p>
            <a:pPr>
              <a:defRPr/>
            </a:pP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Example: </a:t>
            </a:r>
            <a:r>
              <a:rPr lang="en-AU" sz="2400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Dobutamine</a:t>
            </a:r>
            <a:r>
              <a:rPr lang="en-AU" sz="24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(know this drug; used to treat acute but potentially reversible heart failure)</a:t>
            </a:r>
          </a:p>
          <a:p>
            <a:pPr marL="274638" lvl="1" indent="0">
              <a:buNone/>
              <a:defRPr/>
            </a:pPr>
            <a:endParaRPr lang="en-A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046542F-B044-4E62-80C3-A300C3F6946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64027" y="1123353"/>
            <a:ext cx="6558183" cy="573088"/>
          </a:xfrm>
        </p:spPr>
        <p:txBody>
          <a:bodyPr/>
          <a:lstStyle/>
          <a:p>
            <a:r>
              <a:rPr lang="en-AU" sz="4000" dirty="0">
                <a:solidFill>
                  <a:srgbClr val="3A7386"/>
                </a:solidFill>
              </a:rPr>
              <a:t>Beta 2 receptors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0558C4-80F2-4515-A96D-47DBC9936A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64027" y="2389854"/>
            <a:ext cx="7525816" cy="2512397"/>
          </a:xfrm>
        </p:spPr>
        <p:txBody>
          <a:bodyPr/>
          <a:lstStyle/>
          <a:p>
            <a:r>
              <a:rPr lang="en-AU" altLang="en-US" sz="28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Location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Lung 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Mast cells</a:t>
            </a:r>
          </a:p>
          <a:p>
            <a:pPr lvl="1"/>
            <a:r>
              <a:rPr lang="en-AU" altLang="en-US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Skeletal muscle</a:t>
            </a: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lvl="1"/>
            <a:endParaRPr lang="en-AU" altLang="en-US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buFont typeface="Wingdings 2" panose="05020102010507070707" pitchFamily="18" charset="2"/>
              <a:buChar char=""/>
            </a:pPr>
            <a:r>
              <a:rPr lang="en-AU" altLang="en-US" sz="2400" i="1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Given the location of the receptors, hypothesise the uses and side effects of Beta 2 agonists (selective Beta 2 sympathomimetics)</a:t>
            </a:r>
          </a:p>
        </p:txBody>
      </p:sp>
    </p:spTree>
    <p:extLst>
      <p:ext uri="{BB962C8B-B14F-4D97-AF65-F5344CB8AC3E}">
        <p14:creationId xmlns:p14="http://schemas.microsoft.com/office/powerpoint/2010/main" val="359695053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5F7E2-D197-456C-A9D8-166E1489A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>
              <a:defRPr/>
            </a:pPr>
            <a:r>
              <a:rPr lang="en-AU" sz="40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Actions: Beta 2 agonists</a:t>
            </a:r>
          </a:p>
        </p:txBody>
      </p:sp>
      <p:sp>
        <p:nvSpPr>
          <p:cNvPr id="78851" name="Content Placeholder 2">
            <a:extLst>
              <a:ext uri="{FF2B5EF4-FFF2-40B4-BE49-F238E27FC236}">
                <a16:creationId xmlns:a16="http://schemas.microsoft.com/office/drawing/2014/main" id="{ADA0E9FE-8C74-4B2D-9A51-464CCED0D5BB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1258957" y="1690688"/>
            <a:ext cx="9070906" cy="4572000"/>
          </a:xfrm>
        </p:spPr>
        <p:txBody>
          <a:bodyPr>
            <a:normAutofit/>
          </a:bodyPr>
          <a:lstStyle/>
          <a:p>
            <a:r>
              <a:rPr lang="en-AU" altLang="en-US" sz="26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Bronchodilation</a:t>
            </a:r>
          </a:p>
          <a:p>
            <a:r>
              <a:rPr lang="en-AU" altLang="en-US" sz="26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Mast cell stabilisation </a:t>
            </a:r>
          </a:p>
          <a:p>
            <a:r>
              <a:rPr lang="en-AU" altLang="en-US" sz="26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(Side effect: often associated with muscle tremor)</a:t>
            </a:r>
          </a:p>
          <a:p>
            <a:endParaRPr lang="en-AU" altLang="en-US" sz="2600" dirty="0">
              <a:solidFill>
                <a:srgbClr val="3A738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r>
              <a:rPr lang="en-AU" altLang="en-US" sz="26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Used in chronic obstructive pulmonary disease, acute asthma and premature labour</a:t>
            </a:r>
          </a:p>
          <a:p>
            <a:r>
              <a:rPr lang="en-AU" altLang="en-US" sz="2600" dirty="0" err="1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Eformoterol</a:t>
            </a:r>
            <a:r>
              <a:rPr lang="en-AU" altLang="en-US" sz="26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, indacaterol, salmeterol</a:t>
            </a:r>
          </a:p>
          <a:p>
            <a:r>
              <a:rPr lang="en-AU" altLang="en-US" sz="2600" dirty="0">
                <a:solidFill>
                  <a:srgbClr val="3A738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Salbutamol (know this drug; used for the relief of bronchospasm in conditions such as asthma and COPD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B90EC-4005-4B25-82DF-5F11CF5863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References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0240B-7CA5-437D-81EF-30BBF123E6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AU" dirty="0" err="1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Goldsy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RA et Al. Immunology 5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WH Freeman Publishers, 2003</a:t>
            </a:r>
          </a:p>
          <a:p>
            <a:pPr lvl="0"/>
            <a:r>
              <a:rPr lang="en-AU" dirty="0" err="1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Marieb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E. Human Anatomy and Physiology, 5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Benjamin Cummings, San Francisco, 2001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Rad, CC BY-SA 3.0 &lt;http://creativecommons.org/licenses/by-sa/3.0/&gt;, via Wikimedia Commons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Martini FH, et al. Visual Anatomy and Physiology 1</a:t>
            </a:r>
            <a:r>
              <a:rPr lang="en-AU" baseline="30000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</a:t>
            </a:r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ed. Benjamin Cummings, 2011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Royalty free images from Shutterstock</a:t>
            </a:r>
          </a:p>
          <a:p>
            <a:pPr lvl="0"/>
            <a:r>
              <a:rPr lang="en-AU" dirty="0">
                <a:solidFill>
                  <a:srgbClr val="06678A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The PowerPoint and associated Video were edited and produced by Dr. Ken Wojcikowski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42830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pening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780923D-96ED-9F4A-BDC2-8B626CD12C8C}"/>
    </a:ext>
  </a:extLst>
</a:theme>
</file>

<file path=ppt/theme/theme3.xml><?xml version="1.0" encoding="utf-8"?>
<a:theme xmlns:a="http://schemas.openxmlformats.org/drawingml/2006/main" name="Content Slide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8844ECF-5D84-2D4F-BD6C-159B28CC5448}" vid="{852AA089-82C5-E441-8C9C-6B5E63BD1A49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F7C384DA1D4A45B6AE690D29401D8C" ma:contentTypeVersion="11" ma:contentTypeDescription="Create a new document." ma:contentTypeScope="" ma:versionID="991042ea8ece25ed42d5e78d787df14a">
  <xsd:schema xmlns:xsd="http://www.w3.org/2001/XMLSchema" xmlns:xs="http://www.w3.org/2001/XMLSchema" xmlns:p="http://schemas.microsoft.com/office/2006/metadata/properties" xmlns:ns3="46a2430f-9ab9-4612-89ab-e74f08578de3" targetNamespace="http://schemas.microsoft.com/office/2006/metadata/properties" ma:root="true" ma:fieldsID="407fd9a13a8af064f5af9d3e1e052ba5" ns3:_="">
    <xsd:import namespace="46a2430f-9ab9-4612-89ab-e74f08578de3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a2430f-9ab9-4612-89ab-e74f08578de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OCR" ma:index="12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DD81063-CED4-4E2D-9037-FB528C2338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a2430f-9ab9-4612-89ab-e74f08578de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7A895B8B-B804-4629-8A92-7EA78CC60FD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11BA455-4486-4A10-9FA4-7DF9BDACA3FD}">
  <ds:schemaRefs>
    <ds:schemaRef ds:uri="http://purl.org/dc/dcmitype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46a2430f-9ab9-4612-89ab-e74f08578de3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1147</Words>
  <Application>Microsoft Office PowerPoint</Application>
  <PresentationFormat>Widescreen</PresentationFormat>
  <Paragraphs>177</Paragraphs>
  <Slides>32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Calibri</vt:lpstr>
      <vt:lpstr>Calibri Light</vt:lpstr>
      <vt:lpstr>Roboto</vt:lpstr>
      <vt:lpstr>Roboto Black</vt:lpstr>
      <vt:lpstr>Roboto Light</vt:lpstr>
      <vt:lpstr>Wingdings 2</vt:lpstr>
      <vt:lpstr>Office Theme</vt:lpstr>
      <vt:lpstr>Opening Slide</vt:lpstr>
      <vt:lpstr>Content Slides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Non-selective sympathomimetic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Anaphylaxis (Anaphylactic shock)</vt:lpstr>
      <vt:lpstr>PowerPoint Presentation</vt:lpstr>
      <vt:lpstr>Non-selective sympathomimetic </vt:lpstr>
      <vt:lpstr>‘Selective’ adrenergic receptor stimulation</vt:lpstr>
      <vt:lpstr>PowerPoint Presentation</vt:lpstr>
      <vt:lpstr>‘Selective’ adrenergic receptor stimulation</vt:lpstr>
      <vt:lpstr>Alpha 1 receptors</vt:lpstr>
      <vt:lpstr>PowerPoint Presentation</vt:lpstr>
      <vt:lpstr>Actions: Alpha 1 agonists</vt:lpstr>
      <vt:lpstr>PowerPoint Presentation</vt:lpstr>
      <vt:lpstr>PowerPoint Presentation</vt:lpstr>
      <vt:lpstr>PowerPoint Presentation</vt:lpstr>
      <vt:lpstr>PowerPoint Presentation</vt:lpstr>
      <vt:lpstr>Actions: Beta 1 adrenergic agonists</vt:lpstr>
      <vt:lpstr>PowerPoint Presentation</vt:lpstr>
      <vt:lpstr>Actions: Beta 2 agonists</vt:lpstr>
      <vt:lpstr>References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Ken Wojcikowski</dc:creator>
  <cp:lastModifiedBy>Ken Wojcikowski</cp:lastModifiedBy>
  <cp:revision>1</cp:revision>
  <dcterms:created xsi:type="dcterms:W3CDTF">2022-10-28T20:34:10Z</dcterms:created>
  <dcterms:modified xsi:type="dcterms:W3CDTF">2022-10-28T20:36:13Z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0x0101009EF7C384DA1D4A45B6AE690D29401D8C</vt:lpwstr>
  </property>
</Properties>
</file>