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 id="2147483673" r:id="rId5"/>
    <p:sldMasterId id="2147483677" r:id="rId6"/>
  </p:sldMasterIdLst>
  <p:notesMasterIdLst>
    <p:notesMasterId r:id="rId100"/>
  </p:notesMasterIdLst>
  <p:sldIdLst>
    <p:sldId id="912" r:id="rId7"/>
    <p:sldId id="507" r:id="rId8"/>
    <p:sldId id="868" r:id="rId9"/>
    <p:sldId id="259" r:id="rId10"/>
    <p:sldId id="861" r:id="rId11"/>
    <p:sldId id="860" r:id="rId12"/>
    <p:sldId id="866" r:id="rId13"/>
    <p:sldId id="852" r:id="rId14"/>
    <p:sldId id="862" r:id="rId15"/>
    <p:sldId id="867" r:id="rId16"/>
    <p:sldId id="938" r:id="rId17"/>
    <p:sldId id="859" r:id="rId18"/>
    <p:sldId id="858" r:id="rId19"/>
    <p:sldId id="897" r:id="rId20"/>
    <p:sldId id="865" r:id="rId21"/>
    <p:sldId id="914" r:id="rId22"/>
    <p:sldId id="939" r:id="rId23"/>
    <p:sldId id="928" r:id="rId24"/>
    <p:sldId id="935" r:id="rId25"/>
    <p:sldId id="911" r:id="rId26"/>
    <p:sldId id="881" r:id="rId27"/>
    <p:sldId id="921" r:id="rId28"/>
    <p:sldId id="950" r:id="rId29"/>
    <p:sldId id="879" r:id="rId30"/>
    <p:sldId id="871" r:id="rId31"/>
    <p:sldId id="949" r:id="rId32"/>
    <p:sldId id="878" r:id="rId33"/>
    <p:sldId id="951" r:id="rId34"/>
    <p:sldId id="932" r:id="rId35"/>
    <p:sldId id="922" r:id="rId36"/>
    <p:sldId id="923" r:id="rId37"/>
    <p:sldId id="927" r:id="rId38"/>
    <p:sldId id="885" r:id="rId39"/>
    <p:sldId id="952" r:id="rId40"/>
    <p:sldId id="905" r:id="rId41"/>
    <p:sldId id="931" r:id="rId42"/>
    <p:sldId id="933" r:id="rId43"/>
    <p:sldId id="782" r:id="rId44"/>
    <p:sldId id="886" r:id="rId45"/>
    <p:sldId id="924" r:id="rId46"/>
    <p:sldId id="890" r:id="rId47"/>
    <p:sldId id="893" r:id="rId48"/>
    <p:sldId id="925" r:id="rId49"/>
    <p:sldId id="795" r:id="rId50"/>
    <p:sldId id="926" r:id="rId51"/>
    <p:sldId id="804" r:id="rId52"/>
    <p:sldId id="805" r:id="rId53"/>
    <p:sldId id="887" r:id="rId54"/>
    <p:sldId id="770" r:id="rId55"/>
    <p:sldId id="827" r:id="rId56"/>
    <p:sldId id="919" r:id="rId57"/>
    <p:sldId id="766" r:id="rId58"/>
    <p:sldId id="768" r:id="rId59"/>
    <p:sldId id="783" r:id="rId60"/>
    <p:sldId id="773" r:id="rId61"/>
    <p:sldId id="774" r:id="rId62"/>
    <p:sldId id="777" r:id="rId63"/>
    <p:sldId id="778" r:id="rId64"/>
    <p:sldId id="779" r:id="rId65"/>
    <p:sldId id="780" r:id="rId66"/>
    <p:sldId id="776" r:id="rId67"/>
    <p:sldId id="806" r:id="rId68"/>
    <p:sldId id="775" r:id="rId69"/>
    <p:sldId id="788" r:id="rId70"/>
    <p:sldId id="811" r:id="rId71"/>
    <p:sldId id="822" r:id="rId72"/>
    <p:sldId id="824" r:id="rId73"/>
    <p:sldId id="790" r:id="rId74"/>
    <p:sldId id="791" r:id="rId75"/>
    <p:sldId id="761" r:id="rId76"/>
    <p:sldId id="916" r:id="rId77"/>
    <p:sldId id="917" r:id="rId78"/>
    <p:sldId id="740" r:id="rId79"/>
    <p:sldId id="742" r:id="rId80"/>
    <p:sldId id="743" r:id="rId81"/>
    <p:sldId id="744" r:id="rId82"/>
    <p:sldId id="748" r:id="rId83"/>
    <p:sldId id="746" r:id="rId84"/>
    <p:sldId id="751" r:id="rId85"/>
    <p:sldId id="752" r:id="rId86"/>
    <p:sldId id="736" r:id="rId87"/>
    <p:sldId id="781" r:id="rId88"/>
    <p:sldId id="786" r:id="rId89"/>
    <p:sldId id="785" r:id="rId90"/>
    <p:sldId id="787" r:id="rId91"/>
    <p:sldId id="918" r:id="rId92"/>
    <p:sldId id="892" r:id="rId93"/>
    <p:sldId id="895" r:id="rId94"/>
    <p:sldId id="896" r:id="rId95"/>
    <p:sldId id="889" r:id="rId96"/>
    <p:sldId id="888" r:id="rId97"/>
    <p:sldId id="894" r:id="rId98"/>
    <p:sldId id="799"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E00C5C-C45E-48C3-9978-093F31974D9F}">
          <p14:sldIdLst>
            <p14:sldId id="912"/>
            <p14:sldId id="507"/>
            <p14:sldId id="868"/>
            <p14:sldId id="259"/>
            <p14:sldId id="861"/>
            <p14:sldId id="860"/>
            <p14:sldId id="866"/>
            <p14:sldId id="852"/>
            <p14:sldId id="862"/>
            <p14:sldId id="867"/>
            <p14:sldId id="938"/>
            <p14:sldId id="859"/>
            <p14:sldId id="858"/>
            <p14:sldId id="897"/>
            <p14:sldId id="865"/>
            <p14:sldId id="914"/>
            <p14:sldId id="939"/>
            <p14:sldId id="928"/>
            <p14:sldId id="935"/>
            <p14:sldId id="911"/>
            <p14:sldId id="881"/>
            <p14:sldId id="921"/>
            <p14:sldId id="950"/>
            <p14:sldId id="879"/>
            <p14:sldId id="871"/>
            <p14:sldId id="949"/>
            <p14:sldId id="878"/>
            <p14:sldId id="951"/>
            <p14:sldId id="932"/>
            <p14:sldId id="922"/>
            <p14:sldId id="923"/>
            <p14:sldId id="927"/>
            <p14:sldId id="885"/>
            <p14:sldId id="952"/>
            <p14:sldId id="905"/>
            <p14:sldId id="931"/>
            <p14:sldId id="933"/>
            <p14:sldId id="782"/>
            <p14:sldId id="886"/>
            <p14:sldId id="924"/>
            <p14:sldId id="890"/>
            <p14:sldId id="893"/>
          </p14:sldIdLst>
        </p14:section>
        <p14:section name="Untitled Section" id="{95048681-5C57-40C9-9E01-26490BA50B66}">
          <p14:sldIdLst>
            <p14:sldId id="925"/>
            <p14:sldId id="795"/>
            <p14:sldId id="926"/>
            <p14:sldId id="804"/>
            <p14:sldId id="805"/>
            <p14:sldId id="887"/>
            <p14:sldId id="770"/>
            <p14:sldId id="827"/>
            <p14:sldId id="919"/>
            <p14:sldId id="766"/>
            <p14:sldId id="768"/>
            <p14:sldId id="783"/>
            <p14:sldId id="773"/>
            <p14:sldId id="774"/>
            <p14:sldId id="777"/>
            <p14:sldId id="778"/>
            <p14:sldId id="779"/>
            <p14:sldId id="780"/>
            <p14:sldId id="776"/>
            <p14:sldId id="806"/>
            <p14:sldId id="775"/>
            <p14:sldId id="788"/>
            <p14:sldId id="811"/>
            <p14:sldId id="822"/>
            <p14:sldId id="824"/>
            <p14:sldId id="790"/>
            <p14:sldId id="791"/>
            <p14:sldId id="761"/>
            <p14:sldId id="916"/>
            <p14:sldId id="917"/>
            <p14:sldId id="740"/>
            <p14:sldId id="742"/>
            <p14:sldId id="743"/>
            <p14:sldId id="744"/>
            <p14:sldId id="748"/>
            <p14:sldId id="746"/>
            <p14:sldId id="751"/>
            <p14:sldId id="752"/>
            <p14:sldId id="736"/>
            <p14:sldId id="781"/>
            <p14:sldId id="786"/>
            <p14:sldId id="785"/>
            <p14:sldId id="787"/>
            <p14:sldId id="918"/>
            <p14:sldId id="892"/>
            <p14:sldId id="895"/>
            <p14:sldId id="896"/>
            <p14:sldId id="889"/>
            <p14:sldId id="888"/>
            <p14:sldId id="894"/>
            <p14:sldId id="7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90B"/>
    <a:srgbClr val="2E2E2E"/>
    <a:srgbClr val="3C97B4"/>
    <a:srgbClr val="00B0F0"/>
    <a:srgbClr val="ECECEC"/>
    <a:srgbClr val="EBDECE"/>
    <a:srgbClr val="EADFCD"/>
    <a:srgbClr val="FFFFFF"/>
    <a:srgbClr val="00A6B6"/>
    <a:srgbClr val="EB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07355-5B95-40C5-BC27-ED63ED30DA73}" v="1" dt="2026-10-22T05:01:02.8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6" autoAdjust="0"/>
    <p:restoredTop sz="65617" autoAdjust="0"/>
  </p:normalViewPr>
  <p:slideViewPr>
    <p:cSldViewPr snapToGrid="0">
      <p:cViewPr varScale="1">
        <p:scale>
          <a:sx n="78" d="100"/>
          <a:sy n="78" d="100"/>
        </p:scale>
        <p:origin x="1641" y="5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viewProps" Target="viewProps.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microsoft.com/office/2015/10/relationships/revisionInfo" Target="revisionInfo.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tableStyles" Target="tableStyle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notesMaster" Target="notesMasters/notesMaster1.xml"/><Relationship Id="rId105"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Wojcikowski" userId="3d9dd381-bb96-4ff2-a8e3-dc2a625deaa7" providerId="ADAL" clId="{4E1048DA-686E-48D1-9218-F229F8DC74BE}"/>
    <pc:docChg chg="modSld sldOrd">
      <pc:chgData name="Ken Wojcikowski" userId="3d9dd381-bb96-4ff2-a8e3-dc2a625deaa7" providerId="ADAL" clId="{4E1048DA-686E-48D1-9218-F229F8DC74BE}" dt="2026-10-22T05:05:57.699" v="20"/>
      <pc:docMkLst>
        <pc:docMk/>
      </pc:docMkLst>
      <pc:sldChg chg="modSp">
        <pc:chgData name="Ken Wojcikowski" userId="3d9dd381-bb96-4ff2-a8e3-dc2a625deaa7" providerId="ADAL" clId="{4E1048DA-686E-48D1-9218-F229F8DC74BE}" dt="2026-10-22T05:01:02.837" v="0" actId="14100"/>
        <pc:sldMkLst>
          <pc:docMk/>
          <pc:sldMk cId="770483882" sldId="935"/>
        </pc:sldMkLst>
        <pc:graphicFrameChg chg="mod">
          <ac:chgData name="Ken Wojcikowski" userId="3d9dd381-bb96-4ff2-a8e3-dc2a625deaa7" providerId="ADAL" clId="{4E1048DA-686E-48D1-9218-F229F8DC74BE}" dt="2026-10-22T05:01:02.837" v="0" actId="14100"/>
          <ac:graphicFrameMkLst>
            <pc:docMk/>
            <pc:sldMk cId="770483882" sldId="935"/>
            <ac:graphicFrameMk id="8" creationId="{C5DE3466-2B89-23A9-BC07-2D4035C079DA}"/>
          </ac:graphicFrameMkLst>
        </pc:graphicFrameChg>
      </pc:sldChg>
      <pc:sldChg chg="ord">
        <pc:chgData name="Ken Wojcikowski" userId="3d9dd381-bb96-4ff2-a8e3-dc2a625deaa7" providerId="ADAL" clId="{4E1048DA-686E-48D1-9218-F229F8DC74BE}" dt="2026-10-22T05:03:02.043" v="3"/>
        <pc:sldMkLst>
          <pc:docMk/>
          <pc:sldMk cId="1682639691" sldId="948"/>
        </pc:sldMkLst>
      </pc:sldChg>
      <pc:sldChg chg="ord">
        <pc:chgData name="Ken Wojcikowski" userId="3d9dd381-bb96-4ff2-a8e3-dc2a625deaa7" providerId="ADAL" clId="{4E1048DA-686E-48D1-9218-F229F8DC74BE}" dt="2026-10-22T05:02:32.147" v="2"/>
        <pc:sldMkLst>
          <pc:docMk/>
          <pc:sldMk cId="3408489077" sldId="948"/>
        </pc:sldMkLst>
      </pc:sldChg>
      <pc:sldChg chg="ord">
        <pc:chgData name="Ken Wojcikowski" userId="3d9dd381-bb96-4ff2-a8e3-dc2a625deaa7" providerId="ADAL" clId="{4E1048DA-686E-48D1-9218-F229F8DC74BE}" dt="2026-10-22T05:05:39.163" v="16"/>
        <pc:sldMkLst>
          <pc:docMk/>
          <pc:sldMk cId="2974209267" sldId="949"/>
        </pc:sldMkLst>
      </pc:sldChg>
      <pc:sldChg chg="ord">
        <pc:chgData name="Ken Wojcikowski" userId="3d9dd381-bb96-4ff2-a8e3-dc2a625deaa7" providerId="ADAL" clId="{4E1048DA-686E-48D1-9218-F229F8DC74BE}" dt="2026-10-22T05:05:33.743" v="15"/>
        <pc:sldMkLst>
          <pc:docMk/>
          <pc:sldMk cId="711335890" sldId="950"/>
        </pc:sldMkLst>
      </pc:sldChg>
      <pc:sldChg chg="ord">
        <pc:chgData name="Ken Wojcikowski" userId="3d9dd381-bb96-4ff2-a8e3-dc2a625deaa7" providerId="ADAL" clId="{4E1048DA-686E-48D1-9218-F229F8DC74BE}" dt="2026-10-22T05:05:45.082" v="17"/>
        <pc:sldMkLst>
          <pc:docMk/>
          <pc:sldMk cId="2184708958" sldId="951"/>
        </pc:sldMkLst>
      </pc:sldChg>
      <pc:sldChg chg="ord">
        <pc:chgData name="Ken Wojcikowski" userId="3d9dd381-bb96-4ff2-a8e3-dc2a625deaa7" providerId="ADAL" clId="{4E1048DA-686E-48D1-9218-F229F8DC74BE}" dt="2026-10-22T05:05:57.699" v="20"/>
        <pc:sldMkLst>
          <pc:docMk/>
          <pc:sldMk cId="4247923687" sldId="95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50CF4E-2342-48CC-AF8E-53A6A3DE0A0F}" type="datetimeFigureOut">
              <a:rPr lang="en-AU" smtClean="0"/>
              <a:t>22/10/2026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5679C-F05B-4758-84D6-B5B45DD32474}" type="slidenum">
              <a:rPr lang="en-AU" smtClean="0"/>
              <a:t>‹#›</a:t>
            </a:fld>
            <a:endParaRPr lang="en-AU"/>
          </a:p>
        </p:txBody>
      </p:sp>
    </p:spTree>
    <p:extLst>
      <p:ext uri="{BB962C8B-B14F-4D97-AF65-F5344CB8AC3E}">
        <p14:creationId xmlns:p14="http://schemas.microsoft.com/office/powerpoint/2010/main" val="1845205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s://pubmed.ncbi.nlm.nih.gov/" TargetMode="External"/><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3" Type="http://schemas.openxmlformats.org/officeDocument/2006/relationships/hyperlink" Target="https://pubmed.ncbi.nlm.nih.gov/"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pubmed.ncbi.nlm.nih.gov/"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s://pubmed.ncbi.nlm.nih.gov/" TargetMode="External"/><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C60A9-FD34-52E5-E415-0D7457C59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E3E5D-DDB2-DF7B-AB96-3CDBAC620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D70FE4-CCA3-30B5-EBBA-5BF64F7D046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200943B-F714-8133-B63C-E34F966FD4AB}"/>
              </a:ext>
            </a:extLst>
          </p:cNvPr>
          <p:cNvSpPr>
            <a:spLocks noGrp="1"/>
          </p:cNvSpPr>
          <p:nvPr>
            <p:ph type="sldNum" sz="quarter" idx="5"/>
          </p:nvPr>
        </p:nvSpPr>
        <p:spPr/>
        <p:txBody>
          <a:bodyPr/>
          <a:lstStyle/>
          <a:p>
            <a:fld id="{7535679C-F05B-4758-84D6-B5B45DD32474}" type="slidenum">
              <a:rPr lang="en-AU" smtClean="0"/>
              <a:t>1</a:t>
            </a:fld>
            <a:endParaRPr lang="en-AU"/>
          </a:p>
        </p:txBody>
      </p:sp>
    </p:spTree>
    <p:extLst>
      <p:ext uri="{BB962C8B-B14F-4D97-AF65-F5344CB8AC3E}">
        <p14:creationId xmlns:p14="http://schemas.microsoft.com/office/powerpoint/2010/main" val="1579575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2</a:t>
            </a:fld>
            <a:endParaRPr lang="en-AU"/>
          </a:p>
        </p:txBody>
      </p:sp>
    </p:spTree>
    <p:extLst>
      <p:ext uri="{BB962C8B-B14F-4D97-AF65-F5344CB8AC3E}">
        <p14:creationId xmlns:p14="http://schemas.microsoft.com/office/powerpoint/2010/main" val="3574284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3</a:t>
            </a:fld>
            <a:endParaRPr lang="en-AU"/>
          </a:p>
        </p:txBody>
      </p:sp>
    </p:spTree>
    <p:extLst>
      <p:ext uri="{BB962C8B-B14F-4D97-AF65-F5344CB8AC3E}">
        <p14:creationId xmlns:p14="http://schemas.microsoft.com/office/powerpoint/2010/main" val="4243688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4</a:t>
            </a:fld>
            <a:endParaRPr lang="en-AU"/>
          </a:p>
        </p:txBody>
      </p:sp>
    </p:spTree>
    <p:extLst>
      <p:ext uri="{BB962C8B-B14F-4D97-AF65-F5344CB8AC3E}">
        <p14:creationId xmlns:p14="http://schemas.microsoft.com/office/powerpoint/2010/main" val="76096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5</a:t>
            </a:fld>
            <a:endParaRPr lang="en-AU"/>
          </a:p>
        </p:txBody>
      </p:sp>
    </p:spTree>
    <p:extLst>
      <p:ext uri="{BB962C8B-B14F-4D97-AF65-F5344CB8AC3E}">
        <p14:creationId xmlns:p14="http://schemas.microsoft.com/office/powerpoint/2010/main" val="565657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6</a:t>
            </a:fld>
            <a:endParaRPr lang="en-AU"/>
          </a:p>
        </p:txBody>
      </p:sp>
    </p:spTree>
    <p:extLst>
      <p:ext uri="{BB962C8B-B14F-4D97-AF65-F5344CB8AC3E}">
        <p14:creationId xmlns:p14="http://schemas.microsoft.com/office/powerpoint/2010/main" val="532162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7</a:t>
            </a:fld>
            <a:endParaRPr lang="en-AU"/>
          </a:p>
        </p:txBody>
      </p:sp>
    </p:spTree>
    <p:extLst>
      <p:ext uri="{BB962C8B-B14F-4D97-AF65-F5344CB8AC3E}">
        <p14:creationId xmlns:p14="http://schemas.microsoft.com/office/powerpoint/2010/main" val="3792732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8</a:t>
            </a:fld>
            <a:endParaRPr lang="en-AU"/>
          </a:p>
        </p:txBody>
      </p:sp>
    </p:spTree>
    <p:extLst>
      <p:ext uri="{BB962C8B-B14F-4D97-AF65-F5344CB8AC3E}">
        <p14:creationId xmlns:p14="http://schemas.microsoft.com/office/powerpoint/2010/main" val="1020943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9</a:t>
            </a:fld>
            <a:endParaRPr lang="en-AU"/>
          </a:p>
        </p:txBody>
      </p:sp>
    </p:spTree>
    <p:extLst>
      <p:ext uri="{BB962C8B-B14F-4D97-AF65-F5344CB8AC3E}">
        <p14:creationId xmlns:p14="http://schemas.microsoft.com/office/powerpoint/2010/main" val="1438087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10</a:t>
            </a:fld>
            <a:endParaRPr lang="en-AU"/>
          </a:p>
        </p:txBody>
      </p:sp>
    </p:spTree>
    <p:extLst>
      <p:ext uri="{BB962C8B-B14F-4D97-AF65-F5344CB8AC3E}">
        <p14:creationId xmlns:p14="http://schemas.microsoft.com/office/powerpoint/2010/main" val="100618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E4801-5CD2-9C93-BC8A-A02DF78B6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3C81E-951D-314D-A6A0-04C13EA89B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11ABC-81DB-A9AA-0C97-CEF1B827D51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BC5B975-A543-696B-043B-EF7B73504585}"/>
              </a:ext>
            </a:extLst>
          </p:cNvPr>
          <p:cNvSpPr>
            <a:spLocks noGrp="1"/>
          </p:cNvSpPr>
          <p:nvPr>
            <p:ph type="sldNum" sz="quarter" idx="5"/>
          </p:nvPr>
        </p:nvSpPr>
        <p:spPr/>
        <p:txBody>
          <a:bodyPr/>
          <a:lstStyle/>
          <a:p>
            <a:fld id="{7535679C-F05B-4758-84D6-B5B45DD32474}" type="slidenum">
              <a:rPr lang="en-AU" smtClean="0"/>
              <a:t>11</a:t>
            </a:fld>
            <a:endParaRPr lang="en-AU"/>
          </a:p>
        </p:txBody>
      </p:sp>
    </p:spTree>
    <p:extLst>
      <p:ext uri="{BB962C8B-B14F-4D97-AF65-F5344CB8AC3E}">
        <p14:creationId xmlns:p14="http://schemas.microsoft.com/office/powerpoint/2010/main" val="2364544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12</a:t>
            </a:fld>
            <a:endParaRPr lang="en-AU"/>
          </a:p>
        </p:txBody>
      </p:sp>
    </p:spTree>
    <p:extLst>
      <p:ext uri="{BB962C8B-B14F-4D97-AF65-F5344CB8AC3E}">
        <p14:creationId xmlns:p14="http://schemas.microsoft.com/office/powerpoint/2010/main" val="1937845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13</a:t>
            </a:fld>
            <a:endParaRPr lang="en-AU"/>
          </a:p>
        </p:txBody>
      </p:sp>
    </p:spTree>
    <p:extLst>
      <p:ext uri="{BB962C8B-B14F-4D97-AF65-F5344CB8AC3E}">
        <p14:creationId xmlns:p14="http://schemas.microsoft.com/office/powerpoint/2010/main" val="1243181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14</a:t>
            </a:fld>
            <a:endParaRPr lang="en-AU"/>
          </a:p>
        </p:txBody>
      </p:sp>
    </p:spTree>
    <p:extLst>
      <p:ext uri="{BB962C8B-B14F-4D97-AF65-F5344CB8AC3E}">
        <p14:creationId xmlns:p14="http://schemas.microsoft.com/office/powerpoint/2010/main" val="759836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15</a:t>
            </a:fld>
            <a:endParaRPr lang="en-AU"/>
          </a:p>
        </p:txBody>
      </p:sp>
    </p:spTree>
    <p:extLst>
      <p:ext uri="{BB962C8B-B14F-4D97-AF65-F5344CB8AC3E}">
        <p14:creationId xmlns:p14="http://schemas.microsoft.com/office/powerpoint/2010/main" val="3895709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ED07F-54A4-2C35-2E38-18AEE580C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D401F-CF72-DE6F-D462-34995D119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B97EB-41BB-2C64-FFB5-A645D3D5C92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65A38CC-60B6-34C8-1D2E-29AC16FF9901}"/>
              </a:ext>
            </a:extLst>
          </p:cNvPr>
          <p:cNvSpPr>
            <a:spLocks noGrp="1"/>
          </p:cNvSpPr>
          <p:nvPr>
            <p:ph type="sldNum" sz="quarter" idx="5"/>
          </p:nvPr>
        </p:nvSpPr>
        <p:spPr/>
        <p:txBody>
          <a:bodyPr/>
          <a:lstStyle/>
          <a:p>
            <a:fld id="{7535679C-F05B-4758-84D6-B5B45DD32474}" type="slidenum">
              <a:rPr lang="en-AU" smtClean="0"/>
              <a:t>16</a:t>
            </a:fld>
            <a:endParaRPr lang="en-AU"/>
          </a:p>
        </p:txBody>
      </p:sp>
    </p:spTree>
    <p:extLst>
      <p:ext uri="{BB962C8B-B14F-4D97-AF65-F5344CB8AC3E}">
        <p14:creationId xmlns:p14="http://schemas.microsoft.com/office/powerpoint/2010/main" val="3718498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8C114-BAA1-4441-9E3B-60119E40E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6EC91-C3CD-4095-0D65-B4F0BB628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CCD04-9215-2625-D5AF-FF946766FC5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80F7E3B5-3938-CEA1-3560-EF3743A84EFC}"/>
              </a:ext>
            </a:extLst>
          </p:cNvPr>
          <p:cNvSpPr>
            <a:spLocks noGrp="1"/>
          </p:cNvSpPr>
          <p:nvPr>
            <p:ph type="sldNum" sz="quarter" idx="5"/>
          </p:nvPr>
        </p:nvSpPr>
        <p:spPr/>
        <p:txBody>
          <a:bodyPr/>
          <a:lstStyle/>
          <a:p>
            <a:fld id="{7535679C-F05B-4758-84D6-B5B45DD32474}" type="slidenum">
              <a:rPr lang="en-AU" smtClean="0"/>
              <a:t>17</a:t>
            </a:fld>
            <a:endParaRPr lang="en-AU"/>
          </a:p>
        </p:txBody>
      </p:sp>
    </p:spTree>
    <p:extLst>
      <p:ext uri="{BB962C8B-B14F-4D97-AF65-F5344CB8AC3E}">
        <p14:creationId xmlns:p14="http://schemas.microsoft.com/office/powerpoint/2010/main" val="15056474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18</a:t>
            </a:fld>
            <a:endParaRPr lang="en-AU"/>
          </a:p>
        </p:txBody>
      </p:sp>
    </p:spTree>
    <p:extLst>
      <p:ext uri="{BB962C8B-B14F-4D97-AF65-F5344CB8AC3E}">
        <p14:creationId xmlns:p14="http://schemas.microsoft.com/office/powerpoint/2010/main" val="3453233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41E9C-9147-F1CE-AE3E-E5E95DCF5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CD737-D938-048F-7EF0-D3197CCD3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D850F-E64A-DA9D-AFA5-1E29842E977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C715AC62-AD90-C42E-4A4D-AC52D38903E8}"/>
              </a:ext>
            </a:extLst>
          </p:cNvPr>
          <p:cNvSpPr>
            <a:spLocks noGrp="1"/>
          </p:cNvSpPr>
          <p:nvPr>
            <p:ph type="sldNum" sz="quarter" idx="5"/>
          </p:nvPr>
        </p:nvSpPr>
        <p:spPr/>
        <p:txBody>
          <a:bodyPr/>
          <a:lstStyle/>
          <a:p>
            <a:fld id="{7535679C-F05B-4758-84D6-B5B45DD32474}" type="slidenum">
              <a:rPr lang="en-AU" smtClean="0"/>
              <a:t>19</a:t>
            </a:fld>
            <a:endParaRPr lang="en-AU"/>
          </a:p>
        </p:txBody>
      </p:sp>
    </p:spTree>
    <p:extLst>
      <p:ext uri="{BB962C8B-B14F-4D97-AF65-F5344CB8AC3E}">
        <p14:creationId xmlns:p14="http://schemas.microsoft.com/office/powerpoint/2010/main" val="1214065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284E4-69A5-884E-6DDB-D03D0F5BF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46687-4FDB-55F0-C132-4DE776FBB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66AC5-E3CF-4775-04EE-C77AA325748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64B0024-98EE-4E4E-E31E-97001345456B}"/>
              </a:ext>
            </a:extLst>
          </p:cNvPr>
          <p:cNvSpPr>
            <a:spLocks noGrp="1"/>
          </p:cNvSpPr>
          <p:nvPr>
            <p:ph type="sldNum" sz="quarter" idx="5"/>
          </p:nvPr>
        </p:nvSpPr>
        <p:spPr/>
        <p:txBody>
          <a:bodyPr/>
          <a:lstStyle/>
          <a:p>
            <a:fld id="{7535679C-F05B-4758-84D6-B5B45DD32474}" type="slidenum">
              <a:rPr lang="en-AU" smtClean="0"/>
              <a:t>20</a:t>
            </a:fld>
            <a:endParaRPr lang="en-AU"/>
          </a:p>
        </p:txBody>
      </p:sp>
    </p:spTree>
    <p:extLst>
      <p:ext uri="{BB962C8B-B14F-4D97-AF65-F5344CB8AC3E}">
        <p14:creationId xmlns:p14="http://schemas.microsoft.com/office/powerpoint/2010/main" val="2594313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21</a:t>
            </a:fld>
            <a:endParaRPr lang="en-AU"/>
          </a:p>
        </p:txBody>
      </p:sp>
    </p:spTree>
    <p:extLst>
      <p:ext uri="{BB962C8B-B14F-4D97-AF65-F5344CB8AC3E}">
        <p14:creationId xmlns:p14="http://schemas.microsoft.com/office/powerpoint/2010/main" val="85424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88528-9382-73B4-CED6-FFC297C7B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43288-9EDA-907B-9CE2-DA01D55A65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EBDF5-6CEE-493B-8B99-0A206B44B0B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EC824EA-7436-AF68-20C9-028559853357}"/>
              </a:ext>
            </a:extLst>
          </p:cNvPr>
          <p:cNvSpPr>
            <a:spLocks noGrp="1"/>
          </p:cNvSpPr>
          <p:nvPr>
            <p:ph type="sldNum" sz="quarter" idx="5"/>
          </p:nvPr>
        </p:nvSpPr>
        <p:spPr/>
        <p:txBody>
          <a:bodyPr/>
          <a:lstStyle/>
          <a:p>
            <a:fld id="{7535679C-F05B-4758-84D6-B5B45DD32474}" type="slidenum">
              <a:rPr lang="en-AU" smtClean="0"/>
              <a:t>22</a:t>
            </a:fld>
            <a:endParaRPr lang="en-AU"/>
          </a:p>
        </p:txBody>
      </p:sp>
    </p:spTree>
    <p:extLst>
      <p:ext uri="{BB962C8B-B14F-4D97-AF65-F5344CB8AC3E}">
        <p14:creationId xmlns:p14="http://schemas.microsoft.com/office/powerpoint/2010/main" val="3315216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9A16B-496E-222E-A438-22CA03E98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35281-F0FC-69B7-3D4F-EB3C5E9B3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0863E-96A9-BA28-7582-B6B8B9E7D91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A0DCF08-8FAB-A462-168D-916F8B5EE40A}"/>
              </a:ext>
            </a:extLst>
          </p:cNvPr>
          <p:cNvSpPr>
            <a:spLocks noGrp="1"/>
          </p:cNvSpPr>
          <p:nvPr>
            <p:ph type="sldNum" sz="quarter" idx="5"/>
          </p:nvPr>
        </p:nvSpPr>
        <p:spPr/>
        <p:txBody>
          <a:bodyPr/>
          <a:lstStyle/>
          <a:p>
            <a:fld id="{7535679C-F05B-4758-84D6-B5B45DD32474}" type="slidenum">
              <a:rPr lang="en-AU" smtClean="0"/>
              <a:t>23</a:t>
            </a:fld>
            <a:endParaRPr lang="en-AU"/>
          </a:p>
        </p:txBody>
      </p:sp>
    </p:spTree>
    <p:extLst>
      <p:ext uri="{BB962C8B-B14F-4D97-AF65-F5344CB8AC3E}">
        <p14:creationId xmlns:p14="http://schemas.microsoft.com/office/powerpoint/2010/main" val="2867626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24</a:t>
            </a:fld>
            <a:endParaRPr lang="en-AU"/>
          </a:p>
        </p:txBody>
      </p:sp>
    </p:spTree>
    <p:extLst>
      <p:ext uri="{BB962C8B-B14F-4D97-AF65-F5344CB8AC3E}">
        <p14:creationId xmlns:p14="http://schemas.microsoft.com/office/powerpoint/2010/main" val="3922439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25</a:t>
            </a:fld>
            <a:endParaRPr lang="en-AU"/>
          </a:p>
        </p:txBody>
      </p:sp>
    </p:spTree>
    <p:extLst>
      <p:ext uri="{BB962C8B-B14F-4D97-AF65-F5344CB8AC3E}">
        <p14:creationId xmlns:p14="http://schemas.microsoft.com/office/powerpoint/2010/main" val="1845842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53EB1-195F-C50B-CBBC-B76892B74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3532C-9298-1297-DA18-F5A1CD4F0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058ED-9CB1-3DE8-57BF-A84776238E0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3D5036D7-4142-199C-36F3-F875F1455757}"/>
              </a:ext>
            </a:extLst>
          </p:cNvPr>
          <p:cNvSpPr>
            <a:spLocks noGrp="1"/>
          </p:cNvSpPr>
          <p:nvPr>
            <p:ph type="sldNum" sz="quarter" idx="5"/>
          </p:nvPr>
        </p:nvSpPr>
        <p:spPr/>
        <p:txBody>
          <a:bodyPr/>
          <a:lstStyle/>
          <a:p>
            <a:fld id="{7535679C-F05B-4758-84D6-B5B45DD32474}" type="slidenum">
              <a:rPr lang="en-AU" smtClean="0"/>
              <a:t>26</a:t>
            </a:fld>
            <a:endParaRPr lang="en-AU"/>
          </a:p>
        </p:txBody>
      </p:sp>
    </p:spTree>
    <p:extLst>
      <p:ext uri="{BB962C8B-B14F-4D97-AF65-F5344CB8AC3E}">
        <p14:creationId xmlns:p14="http://schemas.microsoft.com/office/powerpoint/2010/main" val="3066586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27</a:t>
            </a:fld>
            <a:endParaRPr lang="en-AU"/>
          </a:p>
        </p:txBody>
      </p:sp>
    </p:spTree>
    <p:extLst>
      <p:ext uri="{BB962C8B-B14F-4D97-AF65-F5344CB8AC3E}">
        <p14:creationId xmlns:p14="http://schemas.microsoft.com/office/powerpoint/2010/main" val="1181205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D05F4-8F0F-786A-1232-2C98571C4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C5C41-837C-E118-FB22-408282349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16942-909E-D170-E1A7-6D8AA97B6DB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F43F84D6-8732-1934-FE5E-CF2A03868DF4}"/>
              </a:ext>
            </a:extLst>
          </p:cNvPr>
          <p:cNvSpPr>
            <a:spLocks noGrp="1"/>
          </p:cNvSpPr>
          <p:nvPr>
            <p:ph type="sldNum" sz="quarter" idx="5"/>
          </p:nvPr>
        </p:nvSpPr>
        <p:spPr/>
        <p:txBody>
          <a:bodyPr/>
          <a:lstStyle/>
          <a:p>
            <a:fld id="{7535679C-F05B-4758-84D6-B5B45DD32474}" type="slidenum">
              <a:rPr lang="en-AU" smtClean="0"/>
              <a:t>28</a:t>
            </a:fld>
            <a:endParaRPr lang="en-AU"/>
          </a:p>
        </p:txBody>
      </p:sp>
    </p:spTree>
    <p:extLst>
      <p:ext uri="{BB962C8B-B14F-4D97-AF65-F5344CB8AC3E}">
        <p14:creationId xmlns:p14="http://schemas.microsoft.com/office/powerpoint/2010/main" val="1533151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ACE38-1F9B-394F-8D28-338246633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F670E-F575-7D9E-3656-AF975AA80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4700D-AE3E-DCEC-C66A-5C518A0B046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275ED08-D2BB-C9E3-805E-53997620A0DC}"/>
              </a:ext>
            </a:extLst>
          </p:cNvPr>
          <p:cNvSpPr>
            <a:spLocks noGrp="1"/>
          </p:cNvSpPr>
          <p:nvPr>
            <p:ph type="sldNum" sz="quarter" idx="5"/>
          </p:nvPr>
        </p:nvSpPr>
        <p:spPr/>
        <p:txBody>
          <a:bodyPr/>
          <a:lstStyle/>
          <a:p>
            <a:fld id="{7535679C-F05B-4758-84D6-B5B45DD32474}" type="slidenum">
              <a:rPr lang="en-AU" smtClean="0"/>
              <a:t>29</a:t>
            </a:fld>
            <a:endParaRPr lang="en-AU"/>
          </a:p>
        </p:txBody>
      </p:sp>
    </p:spTree>
    <p:extLst>
      <p:ext uri="{BB962C8B-B14F-4D97-AF65-F5344CB8AC3E}">
        <p14:creationId xmlns:p14="http://schemas.microsoft.com/office/powerpoint/2010/main" val="3354679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5C789-6DE2-60F7-F7AF-5D8C9D60C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98275-FA7E-4E4E-C02F-4C7185073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C37D3-D86E-E0E4-AF5B-2F6A558A867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1C7FA6B-DE37-2F38-50C5-80B644C5C68E}"/>
              </a:ext>
            </a:extLst>
          </p:cNvPr>
          <p:cNvSpPr>
            <a:spLocks noGrp="1"/>
          </p:cNvSpPr>
          <p:nvPr>
            <p:ph type="sldNum" sz="quarter" idx="5"/>
          </p:nvPr>
        </p:nvSpPr>
        <p:spPr/>
        <p:txBody>
          <a:bodyPr/>
          <a:lstStyle/>
          <a:p>
            <a:fld id="{7535679C-F05B-4758-84D6-B5B45DD32474}" type="slidenum">
              <a:rPr lang="en-AU" smtClean="0"/>
              <a:t>30</a:t>
            </a:fld>
            <a:endParaRPr lang="en-AU"/>
          </a:p>
        </p:txBody>
      </p:sp>
    </p:spTree>
    <p:extLst>
      <p:ext uri="{BB962C8B-B14F-4D97-AF65-F5344CB8AC3E}">
        <p14:creationId xmlns:p14="http://schemas.microsoft.com/office/powerpoint/2010/main" val="8737771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4D93E-4982-9CC4-CB17-9661FA939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F0D1C-0A6D-440D-BBEE-7691D2DD8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C48F1-8B10-F4BC-066F-32D98C7CA72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74C457C-A6BF-8790-914A-0D9D29867E06}"/>
              </a:ext>
            </a:extLst>
          </p:cNvPr>
          <p:cNvSpPr>
            <a:spLocks noGrp="1"/>
          </p:cNvSpPr>
          <p:nvPr>
            <p:ph type="sldNum" sz="quarter" idx="5"/>
          </p:nvPr>
        </p:nvSpPr>
        <p:spPr/>
        <p:txBody>
          <a:bodyPr/>
          <a:lstStyle/>
          <a:p>
            <a:fld id="{7535679C-F05B-4758-84D6-B5B45DD32474}" type="slidenum">
              <a:rPr lang="en-AU" smtClean="0"/>
              <a:t>31</a:t>
            </a:fld>
            <a:endParaRPr lang="en-AU"/>
          </a:p>
        </p:txBody>
      </p:sp>
    </p:spTree>
    <p:extLst>
      <p:ext uri="{BB962C8B-B14F-4D97-AF65-F5344CB8AC3E}">
        <p14:creationId xmlns:p14="http://schemas.microsoft.com/office/powerpoint/2010/main" val="28176841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75EC1-C47E-0015-C210-BD0F322DB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AB82C-286E-431B-3897-D6363C9FB4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41038-08D5-A7B5-A0A2-3624D5413A1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FDB59C7-F7E5-D4D0-C513-864B87E56F5E}"/>
              </a:ext>
            </a:extLst>
          </p:cNvPr>
          <p:cNvSpPr>
            <a:spLocks noGrp="1"/>
          </p:cNvSpPr>
          <p:nvPr>
            <p:ph type="sldNum" sz="quarter" idx="5"/>
          </p:nvPr>
        </p:nvSpPr>
        <p:spPr/>
        <p:txBody>
          <a:bodyPr/>
          <a:lstStyle/>
          <a:p>
            <a:fld id="{7535679C-F05B-4758-84D6-B5B45DD32474}" type="slidenum">
              <a:rPr lang="en-AU" smtClean="0"/>
              <a:t>32</a:t>
            </a:fld>
            <a:endParaRPr lang="en-AU"/>
          </a:p>
        </p:txBody>
      </p:sp>
    </p:spTree>
    <p:extLst>
      <p:ext uri="{BB962C8B-B14F-4D97-AF65-F5344CB8AC3E}">
        <p14:creationId xmlns:p14="http://schemas.microsoft.com/office/powerpoint/2010/main" val="984102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33</a:t>
            </a:fld>
            <a:endParaRPr lang="en-AU"/>
          </a:p>
        </p:txBody>
      </p:sp>
    </p:spTree>
    <p:extLst>
      <p:ext uri="{BB962C8B-B14F-4D97-AF65-F5344CB8AC3E}">
        <p14:creationId xmlns:p14="http://schemas.microsoft.com/office/powerpoint/2010/main" val="3474430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9E9E-B116-214C-C706-C3976626D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96AB6-9378-926A-03A4-6E67DFE4A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C732F-6937-74A1-BF64-9947E72A7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EDFD23-E311-C864-A051-1E47F09B0EED}"/>
              </a:ext>
            </a:extLst>
          </p:cNvPr>
          <p:cNvSpPr>
            <a:spLocks noGrp="1"/>
          </p:cNvSpPr>
          <p:nvPr>
            <p:ph type="sldNum" sz="quarter" idx="5"/>
          </p:nvPr>
        </p:nvSpPr>
        <p:spPr/>
        <p:txBody>
          <a:bodyPr/>
          <a:lstStyle/>
          <a:p>
            <a:fld id="{7535679C-F05B-4758-84D6-B5B45DD32474}" type="slidenum">
              <a:rPr lang="en-AU" smtClean="0"/>
              <a:t>34</a:t>
            </a:fld>
            <a:endParaRPr lang="en-AU"/>
          </a:p>
        </p:txBody>
      </p:sp>
    </p:spTree>
    <p:extLst>
      <p:ext uri="{BB962C8B-B14F-4D97-AF65-F5344CB8AC3E}">
        <p14:creationId xmlns:p14="http://schemas.microsoft.com/office/powerpoint/2010/main" val="26709071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7019C-E841-46C9-DE0F-47565EDEE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9FC3E-00A4-708D-8A31-A2CD62161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AC157-7162-F480-C93A-6306B09EE4C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805FE41-B81F-4967-4D5F-971D94743725}"/>
              </a:ext>
            </a:extLst>
          </p:cNvPr>
          <p:cNvSpPr>
            <a:spLocks noGrp="1"/>
          </p:cNvSpPr>
          <p:nvPr>
            <p:ph type="sldNum" sz="quarter" idx="5"/>
          </p:nvPr>
        </p:nvSpPr>
        <p:spPr/>
        <p:txBody>
          <a:bodyPr/>
          <a:lstStyle/>
          <a:p>
            <a:fld id="{7535679C-F05B-4758-84D6-B5B45DD32474}" type="slidenum">
              <a:rPr lang="en-AU" smtClean="0"/>
              <a:t>35</a:t>
            </a:fld>
            <a:endParaRPr lang="en-AU"/>
          </a:p>
        </p:txBody>
      </p:sp>
    </p:spTree>
    <p:extLst>
      <p:ext uri="{BB962C8B-B14F-4D97-AF65-F5344CB8AC3E}">
        <p14:creationId xmlns:p14="http://schemas.microsoft.com/office/powerpoint/2010/main" val="4217758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738A-F191-7188-A3D4-2322B6F37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83ECB-0FF0-A7E4-E6E1-EB11024D7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5A3E2-D95E-04B4-1B63-D382732753E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70086C2-2F8C-BAEC-FD0A-B245F606869E}"/>
              </a:ext>
            </a:extLst>
          </p:cNvPr>
          <p:cNvSpPr>
            <a:spLocks noGrp="1"/>
          </p:cNvSpPr>
          <p:nvPr>
            <p:ph type="sldNum" sz="quarter" idx="5"/>
          </p:nvPr>
        </p:nvSpPr>
        <p:spPr/>
        <p:txBody>
          <a:bodyPr/>
          <a:lstStyle/>
          <a:p>
            <a:fld id="{7535679C-F05B-4758-84D6-B5B45DD32474}" type="slidenum">
              <a:rPr lang="en-AU" smtClean="0"/>
              <a:t>36</a:t>
            </a:fld>
            <a:endParaRPr lang="en-AU"/>
          </a:p>
        </p:txBody>
      </p:sp>
    </p:spTree>
    <p:extLst>
      <p:ext uri="{BB962C8B-B14F-4D97-AF65-F5344CB8AC3E}">
        <p14:creationId xmlns:p14="http://schemas.microsoft.com/office/powerpoint/2010/main" val="1407746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D1A10-5BA4-3D4C-639B-6F5F3A617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2C023-9F16-4218-766E-5D7A87E99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7DD7E-E702-5A4D-6ECA-F01588292E5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C9A1DBC-3708-1366-53FC-0D55B358B9E5}"/>
              </a:ext>
            </a:extLst>
          </p:cNvPr>
          <p:cNvSpPr>
            <a:spLocks noGrp="1"/>
          </p:cNvSpPr>
          <p:nvPr>
            <p:ph type="sldNum" sz="quarter" idx="5"/>
          </p:nvPr>
        </p:nvSpPr>
        <p:spPr/>
        <p:txBody>
          <a:bodyPr/>
          <a:lstStyle/>
          <a:p>
            <a:fld id="{7535679C-F05B-4758-84D6-B5B45DD32474}" type="slidenum">
              <a:rPr lang="en-AU" smtClean="0"/>
              <a:t>37</a:t>
            </a:fld>
            <a:endParaRPr lang="en-AU"/>
          </a:p>
        </p:txBody>
      </p:sp>
    </p:spTree>
    <p:extLst>
      <p:ext uri="{BB962C8B-B14F-4D97-AF65-F5344CB8AC3E}">
        <p14:creationId xmlns:p14="http://schemas.microsoft.com/office/powerpoint/2010/main" val="36153245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38</a:t>
            </a:fld>
            <a:endParaRPr lang="en-AU"/>
          </a:p>
        </p:txBody>
      </p:sp>
    </p:spTree>
    <p:extLst>
      <p:ext uri="{BB962C8B-B14F-4D97-AF65-F5344CB8AC3E}">
        <p14:creationId xmlns:p14="http://schemas.microsoft.com/office/powerpoint/2010/main" val="10904757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39</a:t>
            </a:fld>
            <a:endParaRPr lang="en-AU"/>
          </a:p>
        </p:txBody>
      </p:sp>
    </p:spTree>
    <p:extLst>
      <p:ext uri="{BB962C8B-B14F-4D97-AF65-F5344CB8AC3E}">
        <p14:creationId xmlns:p14="http://schemas.microsoft.com/office/powerpoint/2010/main" val="833000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969BE-888B-E053-7078-D48869236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9BF54-98DF-9175-7AC6-4AAB7049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74BD3-CEA2-29D4-AC84-6097C97B91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680E3BA-8F94-6F97-8B7C-2C40EECCC026}"/>
              </a:ext>
            </a:extLst>
          </p:cNvPr>
          <p:cNvSpPr>
            <a:spLocks noGrp="1"/>
          </p:cNvSpPr>
          <p:nvPr>
            <p:ph type="sldNum" sz="quarter" idx="5"/>
          </p:nvPr>
        </p:nvSpPr>
        <p:spPr/>
        <p:txBody>
          <a:bodyPr/>
          <a:lstStyle/>
          <a:p>
            <a:fld id="{7535679C-F05B-4758-84D6-B5B45DD32474}" type="slidenum">
              <a:rPr lang="en-AU" smtClean="0"/>
              <a:t>40</a:t>
            </a:fld>
            <a:endParaRPr lang="en-AU"/>
          </a:p>
        </p:txBody>
      </p:sp>
    </p:spTree>
    <p:extLst>
      <p:ext uri="{BB962C8B-B14F-4D97-AF65-F5344CB8AC3E}">
        <p14:creationId xmlns:p14="http://schemas.microsoft.com/office/powerpoint/2010/main" val="7588546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41</a:t>
            </a:fld>
            <a:endParaRPr lang="en-AU"/>
          </a:p>
        </p:txBody>
      </p:sp>
    </p:spTree>
    <p:extLst>
      <p:ext uri="{BB962C8B-B14F-4D97-AF65-F5344CB8AC3E}">
        <p14:creationId xmlns:p14="http://schemas.microsoft.com/office/powerpoint/2010/main" val="16022032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42</a:t>
            </a:fld>
            <a:endParaRPr lang="en-AU"/>
          </a:p>
        </p:txBody>
      </p:sp>
    </p:spTree>
    <p:extLst>
      <p:ext uri="{BB962C8B-B14F-4D97-AF65-F5344CB8AC3E}">
        <p14:creationId xmlns:p14="http://schemas.microsoft.com/office/powerpoint/2010/main" val="14071661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ADC08-0C4F-A79F-3CE4-0E018D8D5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C4A4B-7D10-AB17-E197-5C59585EE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15A61-2F65-D21A-81EB-2C3F4E6E790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34CD7B4D-3C64-266E-C24D-75A1D7D84A34}"/>
              </a:ext>
            </a:extLst>
          </p:cNvPr>
          <p:cNvSpPr>
            <a:spLocks noGrp="1"/>
          </p:cNvSpPr>
          <p:nvPr>
            <p:ph type="sldNum" sz="quarter" idx="5"/>
          </p:nvPr>
        </p:nvSpPr>
        <p:spPr/>
        <p:txBody>
          <a:bodyPr/>
          <a:lstStyle/>
          <a:p>
            <a:fld id="{7535679C-F05B-4758-84D6-B5B45DD32474}" type="slidenum">
              <a:rPr lang="en-AU" smtClean="0"/>
              <a:t>43</a:t>
            </a:fld>
            <a:endParaRPr lang="en-AU"/>
          </a:p>
        </p:txBody>
      </p:sp>
    </p:spTree>
    <p:extLst>
      <p:ext uri="{BB962C8B-B14F-4D97-AF65-F5344CB8AC3E}">
        <p14:creationId xmlns:p14="http://schemas.microsoft.com/office/powerpoint/2010/main" val="21788043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000000"/>
                </a:solidFill>
                <a:effectLst/>
                <a:latin typeface="Arial" panose="020B0604020202020204" pitchFamily="34" charset="0"/>
                <a:ea typeface="Times New Roman" panose="02020603050405020304" pitchFamily="18" charset="0"/>
              </a:rPr>
              <a:t>Is clotrimazole likely to cause any harm to the foetus? Explain your answer. (0.5 point; two coherent sentences of no more than 50 words)</a:t>
            </a:r>
            <a:endParaRPr lang="en-AU" sz="1800" dirty="0">
              <a:effectLst/>
              <a:latin typeface="Times New Roman" panose="02020603050405020304" pitchFamily="18" charset="0"/>
              <a:ea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44</a:t>
            </a:fld>
            <a:endParaRPr lang="en-AU"/>
          </a:p>
        </p:txBody>
      </p:sp>
    </p:spTree>
    <p:extLst>
      <p:ext uri="{BB962C8B-B14F-4D97-AF65-F5344CB8AC3E}">
        <p14:creationId xmlns:p14="http://schemas.microsoft.com/office/powerpoint/2010/main" val="7648480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46</a:t>
            </a:fld>
            <a:endParaRPr lang="en-AU"/>
          </a:p>
        </p:txBody>
      </p:sp>
    </p:spTree>
    <p:extLst>
      <p:ext uri="{BB962C8B-B14F-4D97-AF65-F5344CB8AC3E}">
        <p14:creationId xmlns:p14="http://schemas.microsoft.com/office/powerpoint/2010/main" val="8939540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47</a:t>
            </a:fld>
            <a:endParaRPr lang="en-AU"/>
          </a:p>
        </p:txBody>
      </p:sp>
    </p:spTree>
    <p:extLst>
      <p:ext uri="{BB962C8B-B14F-4D97-AF65-F5344CB8AC3E}">
        <p14:creationId xmlns:p14="http://schemas.microsoft.com/office/powerpoint/2010/main" val="24733777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48</a:t>
            </a:fld>
            <a:endParaRPr lang="en-AU"/>
          </a:p>
        </p:txBody>
      </p:sp>
    </p:spTree>
    <p:extLst>
      <p:ext uri="{BB962C8B-B14F-4D97-AF65-F5344CB8AC3E}">
        <p14:creationId xmlns:p14="http://schemas.microsoft.com/office/powerpoint/2010/main" val="14371098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Pretty slow</a:t>
            </a:r>
          </a:p>
          <a:p>
            <a:r>
              <a:rPr lang="en-AU" dirty="0"/>
              <a:t>Includes a list of branded products</a:t>
            </a:r>
          </a:p>
        </p:txBody>
      </p:sp>
      <p:sp>
        <p:nvSpPr>
          <p:cNvPr id="4" name="Slide Number Placeholder 3"/>
          <p:cNvSpPr>
            <a:spLocks noGrp="1"/>
          </p:cNvSpPr>
          <p:nvPr>
            <p:ph type="sldNum" sz="quarter" idx="5"/>
          </p:nvPr>
        </p:nvSpPr>
        <p:spPr/>
        <p:txBody>
          <a:bodyPr/>
          <a:lstStyle/>
          <a:p>
            <a:fld id="{7535679C-F05B-4758-84D6-B5B45DD32474}" type="slidenum">
              <a:rPr lang="en-AU" smtClean="0"/>
              <a:t>49</a:t>
            </a:fld>
            <a:endParaRPr lang="en-AU"/>
          </a:p>
        </p:txBody>
      </p:sp>
    </p:spTree>
    <p:extLst>
      <p:ext uri="{BB962C8B-B14F-4D97-AF65-F5344CB8AC3E}">
        <p14:creationId xmlns:p14="http://schemas.microsoft.com/office/powerpoint/2010/main" val="4103407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Useful when you know the exact medication.</a:t>
            </a:r>
          </a:p>
          <a:p>
            <a:endParaRPr lang="en-AU" dirty="0"/>
          </a:p>
          <a:p>
            <a:r>
              <a:rPr lang="en-AU" dirty="0"/>
              <a:t>Many of these medications listed are not actually available for sale in Australia any more….so it’s time consuming and the information is minimal.</a:t>
            </a:r>
          </a:p>
        </p:txBody>
      </p:sp>
      <p:sp>
        <p:nvSpPr>
          <p:cNvPr id="4" name="Slide Number Placeholder 3"/>
          <p:cNvSpPr>
            <a:spLocks noGrp="1"/>
          </p:cNvSpPr>
          <p:nvPr>
            <p:ph type="sldNum" sz="quarter" idx="5"/>
          </p:nvPr>
        </p:nvSpPr>
        <p:spPr/>
        <p:txBody>
          <a:bodyPr/>
          <a:lstStyle/>
          <a:p>
            <a:fld id="{7535679C-F05B-4758-84D6-B5B45DD32474}" type="slidenum">
              <a:rPr lang="en-AU" smtClean="0"/>
              <a:t>50</a:t>
            </a:fld>
            <a:endParaRPr lang="en-AU"/>
          </a:p>
        </p:txBody>
      </p:sp>
    </p:spTree>
    <p:extLst>
      <p:ext uri="{BB962C8B-B14F-4D97-AF65-F5344CB8AC3E}">
        <p14:creationId xmlns:p14="http://schemas.microsoft.com/office/powerpoint/2010/main" val="30304013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7288-54F3-7BDF-2668-0980F391E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0CCFF-A15C-74E7-1C1D-8C89F3F21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5EC2A-4646-59B5-D74F-B078B070297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FCF6C142-C7D1-8977-164C-432CA74A7423}"/>
              </a:ext>
            </a:extLst>
          </p:cNvPr>
          <p:cNvSpPr>
            <a:spLocks noGrp="1"/>
          </p:cNvSpPr>
          <p:nvPr>
            <p:ph type="sldNum" sz="quarter" idx="5"/>
          </p:nvPr>
        </p:nvSpPr>
        <p:spPr/>
        <p:txBody>
          <a:bodyPr/>
          <a:lstStyle/>
          <a:p>
            <a:fld id="{7535679C-F05B-4758-84D6-B5B45DD32474}" type="slidenum">
              <a:rPr lang="en-AU" smtClean="0"/>
              <a:t>51</a:t>
            </a:fld>
            <a:endParaRPr lang="en-AU"/>
          </a:p>
        </p:txBody>
      </p:sp>
    </p:spTree>
    <p:extLst>
      <p:ext uri="{BB962C8B-B14F-4D97-AF65-F5344CB8AC3E}">
        <p14:creationId xmlns:p14="http://schemas.microsoft.com/office/powerpoint/2010/main" val="23241983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333333"/>
                </a:solidFill>
                <a:effectLst/>
                <a:latin typeface="montserrat" panose="00000500000000000000" pitchFamily="2" charset="0"/>
              </a:rPr>
              <a:t>National Prescribing Service (NPS)</a:t>
            </a:r>
          </a:p>
          <a:p>
            <a:endParaRPr lang="en-AU" b="0" i="0" dirty="0">
              <a:solidFill>
                <a:srgbClr val="333333"/>
              </a:solidFill>
              <a:effectLst/>
              <a:latin typeface="montserrat" panose="00000500000000000000" pitchFamily="2" charset="0"/>
            </a:endParaRPr>
          </a:p>
          <a:p>
            <a:r>
              <a:rPr lang="en-US" b="0" i="0" dirty="0">
                <a:solidFill>
                  <a:srgbClr val="333333"/>
                </a:solidFill>
                <a:effectLst/>
                <a:latin typeface="montserrat" panose="00000500000000000000" pitchFamily="2" charset="0"/>
              </a:rPr>
              <a:t> 1 January 2023, the Australian Commission on Safety and Quality in Health Care (the Commission) is now responsible for several Quality Use of Medicines functions that were formerly delivered by NPS MedicineWise.</a:t>
            </a:r>
          </a:p>
          <a:p>
            <a:endParaRPr lang="en-US" b="0" i="0" dirty="0">
              <a:solidFill>
                <a:srgbClr val="333333"/>
              </a:solidFill>
              <a:effectLst/>
              <a:latin typeface="montserrat" panose="00000500000000000000" pitchFamily="2" charset="0"/>
            </a:endParaRPr>
          </a:p>
          <a:p>
            <a:r>
              <a:rPr lang="en-US" b="0" i="0" dirty="0">
                <a:solidFill>
                  <a:srgbClr val="333333"/>
                </a:solidFill>
                <a:effectLst/>
                <a:latin typeface="montserrat" panose="00000500000000000000" pitchFamily="2" charset="0"/>
              </a:rPr>
              <a:t>So standby for changes, but for now the link works</a:t>
            </a:r>
            <a:endParaRPr lang="en-US" b="1" i="0" dirty="0">
              <a:solidFill>
                <a:srgbClr val="FFFFFF"/>
              </a:solidFill>
              <a:effectLst/>
              <a:latin typeface="montserrat" panose="00000500000000000000" pitchFamily="2" charset="0"/>
            </a:endParaRPr>
          </a:p>
          <a:p>
            <a:endParaRPr lang="en-US" b="1" i="0" dirty="0">
              <a:solidFill>
                <a:srgbClr val="FFFFFF"/>
              </a:solidFill>
              <a:effectLst/>
              <a:latin typeface="montserrat" panose="00000500000000000000" pitchFamily="2" charset="0"/>
            </a:endParaRPr>
          </a:p>
          <a:p>
            <a:r>
              <a:rPr lang="en-US" b="1" i="0" dirty="0">
                <a:solidFill>
                  <a:srgbClr val="FFFFFF"/>
                </a:solidFill>
                <a:effectLst/>
                <a:latin typeface="montserrat" panose="00000500000000000000" pitchFamily="2" charset="0"/>
              </a:rPr>
              <a:t>This website is now hosted by the Australian Commission on Safety and Quality in Health Care as part of the redesign of the Quality Use of Diagnostics, Therapeutics and Pathology program.</a:t>
            </a:r>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52</a:t>
            </a:fld>
            <a:endParaRPr lang="en-AU" dirty="0"/>
          </a:p>
        </p:txBody>
      </p:sp>
    </p:spTree>
    <p:extLst>
      <p:ext uri="{BB962C8B-B14F-4D97-AF65-F5344CB8AC3E}">
        <p14:creationId xmlns:p14="http://schemas.microsoft.com/office/powerpoint/2010/main" val="23728608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53</a:t>
            </a:fld>
            <a:endParaRPr lang="en-AU"/>
          </a:p>
        </p:txBody>
      </p:sp>
    </p:spTree>
    <p:extLst>
      <p:ext uri="{BB962C8B-B14F-4D97-AF65-F5344CB8AC3E}">
        <p14:creationId xmlns:p14="http://schemas.microsoft.com/office/powerpoint/2010/main" val="24440960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54</a:t>
            </a:fld>
            <a:endParaRPr lang="en-AU"/>
          </a:p>
        </p:txBody>
      </p:sp>
    </p:spTree>
    <p:extLst>
      <p:ext uri="{BB962C8B-B14F-4D97-AF65-F5344CB8AC3E}">
        <p14:creationId xmlns:p14="http://schemas.microsoft.com/office/powerpoint/2010/main" val="4388716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 Healthcare Professionals</a:t>
            </a:r>
          </a:p>
          <a:p>
            <a:r>
              <a:rPr lang="en-US" dirty="0"/>
              <a:t>Drugs.com provides access to healthcare information tailored for a </a:t>
            </a:r>
            <a:r>
              <a:rPr lang="en-US" b="1" dirty="0"/>
              <a:t>professional audience </a:t>
            </a:r>
            <a:r>
              <a:rPr lang="en-US" dirty="0"/>
              <a:t>- sourced solely from the most trusted, well-respected and </a:t>
            </a:r>
            <a:r>
              <a:rPr lang="en-US" b="1" dirty="0"/>
              <a:t>independent agents </a:t>
            </a:r>
            <a:r>
              <a:rPr lang="en-US" dirty="0"/>
              <a:t>such as the </a:t>
            </a:r>
            <a:r>
              <a:rPr lang="en-US" b="1" dirty="0"/>
              <a:t>American Society of Health-System Pharmacists (ASHP), FDA</a:t>
            </a:r>
            <a:r>
              <a:rPr lang="en-US" dirty="0"/>
              <a:t>, Truven Health Analytics, </a:t>
            </a:r>
            <a:r>
              <a:rPr lang="en-US" b="1" dirty="0"/>
              <a:t>Harvard Health </a:t>
            </a:r>
            <a:r>
              <a:rPr lang="en-US" dirty="0"/>
              <a:t>and Cerner Multum.</a:t>
            </a:r>
          </a:p>
          <a:p>
            <a:endParaRPr lang="en-US" dirty="0"/>
          </a:p>
          <a:p>
            <a:r>
              <a:rPr lang="en-US" dirty="0"/>
              <a:t>Harvard Health Topics</a:t>
            </a:r>
          </a:p>
          <a:p>
            <a:endParaRPr lang="en-US" dirty="0"/>
          </a:p>
          <a:p>
            <a:r>
              <a:rPr lang="en-US" dirty="0"/>
              <a:t>Sourced from Harvard Health Publishing, these articles include detailed information about medical conditions, diseases, procedures and devices. Includes definitions, descriptions, symptoms, diagnosis, treatments, prognosis and other resources.</a:t>
            </a:r>
          </a:p>
          <a:p>
            <a:endParaRPr lang="en-US" dirty="0"/>
          </a:p>
          <a:p>
            <a:r>
              <a:rPr lang="en-US" dirty="0"/>
              <a:t>Lets try out 2 of these options and see how useful they are for the case study …and future use</a:t>
            </a:r>
          </a:p>
          <a:p>
            <a:endParaRPr lang="en-US" dirty="0"/>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55</a:t>
            </a:fld>
            <a:endParaRPr lang="en-AU"/>
          </a:p>
        </p:txBody>
      </p:sp>
    </p:spTree>
    <p:extLst>
      <p:ext uri="{BB962C8B-B14F-4D97-AF65-F5344CB8AC3E}">
        <p14:creationId xmlns:p14="http://schemas.microsoft.com/office/powerpoint/2010/main" val="23351106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Highly respected resource: </a:t>
            </a:r>
            <a:r>
              <a:rPr lang="en-US" dirty="0"/>
              <a:t>AHFS DI has been listed by the American College of Physicians-as a standard item for inclusion in reference libraries</a:t>
            </a:r>
            <a:r>
              <a:rPr lang="en-AU" dirty="0"/>
              <a:t>.  (available from Drugs.com or directly through its own website.)</a:t>
            </a:r>
          </a:p>
          <a:p>
            <a:endParaRPr lang="en-AU" dirty="0"/>
          </a:p>
          <a:p>
            <a:r>
              <a:rPr lang="en-US" b="0" i="0" dirty="0">
                <a:solidFill>
                  <a:srgbClr val="202227"/>
                </a:solidFill>
                <a:effectLst/>
                <a:latin typeface="-apple-system"/>
              </a:rPr>
              <a:t>Monographs include the recommendations of numerous authorities, including the U.S. Centers for Disease Control and Prevention, the American Heart Association, the Institute of Medicine of the National Academies, the Women’s Health Initiative and many others. </a:t>
            </a:r>
          </a:p>
          <a:p>
            <a:r>
              <a:rPr lang="en-US" b="0" i="0" dirty="0">
                <a:solidFill>
                  <a:srgbClr val="202227"/>
                </a:solidFill>
                <a:effectLst/>
                <a:latin typeface="-apple-system"/>
              </a:rPr>
              <a:t>The publication also features major cautionary information from FDA MedWatch notices as well as new and updated scientific findings.</a:t>
            </a:r>
            <a:endParaRPr lang="en-AU" dirty="0"/>
          </a:p>
          <a:p>
            <a:endParaRPr lang="en-AU" dirty="0"/>
          </a:p>
          <a:p>
            <a:r>
              <a:rPr lang="en-AU" dirty="0"/>
              <a:t>If you scroll down the page you will find the information about the drug under the headings listed across the bottom in blue </a:t>
            </a:r>
          </a:p>
          <a:p>
            <a:r>
              <a:rPr lang="en-AU" dirty="0"/>
              <a:t>Introduction/ uses /dosage/warnings etc. But remember this relates to the FDA regulations and not to TGA regulations</a:t>
            </a:r>
          </a:p>
        </p:txBody>
      </p:sp>
      <p:sp>
        <p:nvSpPr>
          <p:cNvPr id="4" name="Slide Number Placeholder 3"/>
          <p:cNvSpPr>
            <a:spLocks noGrp="1"/>
          </p:cNvSpPr>
          <p:nvPr>
            <p:ph type="sldNum" sz="quarter" idx="5"/>
          </p:nvPr>
        </p:nvSpPr>
        <p:spPr/>
        <p:txBody>
          <a:bodyPr/>
          <a:lstStyle/>
          <a:p>
            <a:fld id="{7535679C-F05B-4758-84D6-B5B45DD32474}" type="slidenum">
              <a:rPr lang="en-AU" smtClean="0"/>
              <a:t>56</a:t>
            </a:fld>
            <a:endParaRPr lang="en-AU"/>
          </a:p>
        </p:txBody>
      </p:sp>
    </p:spTree>
    <p:extLst>
      <p:ext uri="{BB962C8B-B14F-4D97-AF65-F5344CB8AC3E}">
        <p14:creationId xmlns:p14="http://schemas.microsoft.com/office/powerpoint/2010/main" val="402572243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57</a:t>
            </a:fld>
            <a:endParaRPr lang="en-AU"/>
          </a:p>
        </p:txBody>
      </p:sp>
    </p:spTree>
    <p:extLst>
      <p:ext uri="{BB962C8B-B14F-4D97-AF65-F5344CB8AC3E}">
        <p14:creationId xmlns:p14="http://schemas.microsoft.com/office/powerpoint/2010/main" val="23529941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58</a:t>
            </a:fld>
            <a:endParaRPr lang="en-AU"/>
          </a:p>
        </p:txBody>
      </p:sp>
    </p:spTree>
    <p:extLst>
      <p:ext uri="{BB962C8B-B14F-4D97-AF65-F5344CB8AC3E}">
        <p14:creationId xmlns:p14="http://schemas.microsoft.com/office/powerpoint/2010/main" val="35283681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Note the classification used by the FDA in pregnancy isn’t the same as the one adopted by the TGA.</a:t>
            </a:r>
          </a:p>
          <a:p>
            <a:endParaRPr lang="en-AU" dirty="0"/>
          </a:p>
          <a:p>
            <a:r>
              <a:rPr lang="en-AU" dirty="0"/>
              <a:t>Goes on to cover Pharmacokinetics etc.</a:t>
            </a:r>
          </a:p>
        </p:txBody>
      </p:sp>
      <p:sp>
        <p:nvSpPr>
          <p:cNvPr id="4" name="Slide Number Placeholder 3"/>
          <p:cNvSpPr>
            <a:spLocks noGrp="1"/>
          </p:cNvSpPr>
          <p:nvPr>
            <p:ph type="sldNum" sz="quarter" idx="5"/>
          </p:nvPr>
        </p:nvSpPr>
        <p:spPr/>
        <p:txBody>
          <a:bodyPr/>
          <a:lstStyle/>
          <a:p>
            <a:fld id="{7535679C-F05B-4758-84D6-B5B45DD32474}" type="slidenum">
              <a:rPr lang="en-AU" smtClean="0"/>
              <a:t>59</a:t>
            </a:fld>
            <a:endParaRPr lang="en-AU"/>
          </a:p>
        </p:txBody>
      </p:sp>
    </p:spTree>
    <p:extLst>
      <p:ext uri="{BB962C8B-B14F-4D97-AF65-F5344CB8AC3E}">
        <p14:creationId xmlns:p14="http://schemas.microsoft.com/office/powerpoint/2010/main" val="13904390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Remember there was also a link to pregnancy and lactation data at the beginning of the monograph – compare the information it provides</a:t>
            </a:r>
          </a:p>
        </p:txBody>
      </p:sp>
      <p:sp>
        <p:nvSpPr>
          <p:cNvPr id="4" name="Slide Number Placeholder 3"/>
          <p:cNvSpPr>
            <a:spLocks noGrp="1"/>
          </p:cNvSpPr>
          <p:nvPr>
            <p:ph type="sldNum" sz="quarter" idx="5"/>
          </p:nvPr>
        </p:nvSpPr>
        <p:spPr/>
        <p:txBody>
          <a:bodyPr/>
          <a:lstStyle/>
          <a:p>
            <a:fld id="{7535679C-F05B-4758-84D6-B5B45DD32474}" type="slidenum">
              <a:rPr lang="en-AU" smtClean="0"/>
              <a:t>60</a:t>
            </a:fld>
            <a:endParaRPr lang="en-AU"/>
          </a:p>
        </p:txBody>
      </p:sp>
    </p:spTree>
    <p:extLst>
      <p:ext uri="{BB962C8B-B14F-4D97-AF65-F5344CB8AC3E}">
        <p14:creationId xmlns:p14="http://schemas.microsoft.com/office/powerpoint/2010/main" val="1968188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More information – provides the health professional with the research context as well as a simply identifying a category.</a:t>
            </a:r>
          </a:p>
        </p:txBody>
      </p:sp>
      <p:sp>
        <p:nvSpPr>
          <p:cNvPr id="4" name="Slide Number Placeholder 3"/>
          <p:cNvSpPr>
            <a:spLocks noGrp="1"/>
          </p:cNvSpPr>
          <p:nvPr>
            <p:ph type="sldNum" sz="quarter" idx="5"/>
          </p:nvPr>
        </p:nvSpPr>
        <p:spPr/>
        <p:txBody>
          <a:bodyPr/>
          <a:lstStyle/>
          <a:p>
            <a:fld id="{7535679C-F05B-4758-84D6-B5B45DD32474}" type="slidenum">
              <a:rPr lang="en-AU" smtClean="0"/>
              <a:t>61</a:t>
            </a:fld>
            <a:endParaRPr lang="en-AU"/>
          </a:p>
        </p:txBody>
      </p:sp>
    </p:spTree>
    <p:extLst>
      <p:ext uri="{BB962C8B-B14F-4D97-AF65-F5344CB8AC3E}">
        <p14:creationId xmlns:p14="http://schemas.microsoft.com/office/powerpoint/2010/main" val="4058834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developed by medical and scientific experts based on available evidence of risks associated with taking particular medicines while pregnant. </a:t>
            </a:r>
          </a:p>
          <a:p>
            <a:endParaRPr lang="en-US" dirty="0"/>
          </a:p>
          <a:p>
            <a:r>
              <a:rPr lang="en-US" dirty="0"/>
              <a:t>So how is clotrimazole categorized in the Aussie system?  That’s right, both the topical vaginal and general antifungals are A.</a:t>
            </a:r>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62</a:t>
            </a:fld>
            <a:endParaRPr lang="en-AU"/>
          </a:p>
        </p:txBody>
      </p:sp>
    </p:spTree>
    <p:extLst>
      <p:ext uri="{BB962C8B-B14F-4D97-AF65-F5344CB8AC3E}">
        <p14:creationId xmlns:p14="http://schemas.microsoft.com/office/powerpoint/2010/main" val="15781688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63</a:t>
            </a:fld>
            <a:endParaRPr lang="en-AU"/>
          </a:p>
        </p:txBody>
      </p:sp>
    </p:spTree>
    <p:extLst>
      <p:ext uri="{BB962C8B-B14F-4D97-AF65-F5344CB8AC3E}">
        <p14:creationId xmlns:p14="http://schemas.microsoft.com/office/powerpoint/2010/main" val="14697536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64</a:t>
            </a:fld>
            <a:endParaRPr lang="en-AU"/>
          </a:p>
        </p:txBody>
      </p:sp>
    </p:spTree>
    <p:extLst>
      <p:ext uri="{BB962C8B-B14F-4D97-AF65-F5344CB8AC3E}">
        <p14:creationId xmlns:p14="http://schemas.microsoft.com/office/powerpoint/2010/main" val="253898519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developed by medical and scientific experts based on available evidence of risks associated with taking particular medicines while pregnant. </a:t>
            </a:r>
          </a:p>
          <a:p>
            <a:endParaRPr lang="en-US" dirty="0"/>
          </a:p>
          <a:p>
            <a:r>
              <a:rPr lang="en-US" dirty="0"/>
              <a:t>So how is clotrimazole categorized in the Aussie system?  That’s right, both the topical vaginal and general antifungals are A.</a:t>
            </a:r>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65</a:t>
            </a:fld>
            <a:endParaRPr lang="en-AU"/>
          </a:p>
        </p:txBody>
      </p:sp>
    </p:spTree>
    <p:extLst>
      <p:ext uri="{BB962C8B-B14F-4D97-AF65-F5344CB8AC3E}">
        <p14:creationId xmlns:p14="http://schemas.microsoft.com/office/powerpoint/2010/main" val="32231919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MotherToBaby, a service of the non-profit Organization of Teratology Information Specialists (OTIS), is the nation’s leading authority and most trusted source of evidence-based information on the benefit or risk of medications and other exposures during pregnancy and while breastfeeding.</a:t>
            </a:r>
          </a:p>
          <a:p>
            <a:r>
              <a:rPr lang="en-AU" dirty="0"/>
              <a:t>Pretty sure the midwifery students are all over this one!  Right, I thought so.  But for the rest of us…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There is  a drop down menu with various options, but for our purposes, simply scroll down the page to </a:t>
            </a:r>
            <a:r>
              <a:rPr lang="en-US" dirty="0"/>
              <a:t>Discover our patient education materials and healthcare professional resources by selecting your specialty:</a:t>
            </a:r>
            <a:r>
              <a:rPr lang="en-AU" dirty="0"/>
              <a:t> :</a:t>
            </a:r>
          </a:p>
        </p:txBody>
      </p:sp>
      <p:sp>
        <p:nvSpPr>
          <p:cNvPr id="4" name="Slide Number Placeholder 3"/>
          <p:cNvSpPr>
            <a:spLocks noGrp="1"/>
          </p:cNvSpPr>
          <p:nvPr>
            <p:ph type="sldNum" sz="quarter" idx="5"/>
          </p:nvPr>
        </p:nvSpPr>
        <p:spPr/>
        <p:txBody>
          <a:bodyPr/>
          <a:lstStyle/>
          <a:p>
            <a:fld id="{7535679C-F05B-4758-84D6-B5B45DD32474}" type="slidenum">
              <a:rPr lang="en-AU" smtClean="0"/>
              <a:t>66</a:t>
            </a:fld>
            <a:endParaRPr lang="en-AU"/>
          </a:p>
        </p:txBody>
      </p:sp>
    </p:spTree>
    <p:extLst>
      <p:ext uri="{BB962C8B-B14F-4D97-AF65-F5344CB8AC3E}">
        <p14:creationId xmlns:p14="http://schemas.microsoft.com/office/powerpoint/2010/main" val="34261203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 down to find the link webpage that gives you access to the factsheets, or use the link to get you straight there.</a:t>
            </a:r>
          </a:p>
          <a:p>
            <a:endParaRPr lang="en-US" dirty="0"/>
          </a:p>
          <a:p>
            <a:r>
              <a:rPr lang="en-US" dirty="0"/>
              <a:t>An absolute great resource, but is it appropriate for your assignment – well no</a:t>
            </a:r>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67</a:t>
            </a:fld>
            <a:endParaRPr lang="en-AU"/>
          </a:p>
        </p:txBody>
      </p:sp>
    </p:spTree>
    <p:extLst>
      <p:ext uri="{BB962C8B-B14F-4D97-AF65-F5344CB8AC3E}">
        <p14:creationId xmlns:p14="http://schemas.microsoft.com/office/powerpoint/2010/main" val="181679418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Just check out the language – simple straightforward </a:t>
            </a:r>
          </a:p>
        </p:txBody>
      </p:sp>
      <p:sp>
        <p:nvSpPr>
          <p:cNvPr id="4" name="Slide Number Placeholder 3"/>
          <p:cNvSpPr>
            <a:spLocks noGrp="1"/>
          </p:cNvSpPr>
          <p:nvPr>
            <p:ph type="sldNum" sz="quarter" idx="5"/>
          </p:nvPr>
        </p:nvSpPr>
        <p:spPr/>
        <p:txBody>
          <a:bodyPr/>
          <a:lstStyle/>
          <a:p>
            <a:fld id="{7535679C-F05B-4758-84D6-B5B45DD32474}" type="slidenum">
              <a:rPr lang="en-AU" smtClean="0"/>
              <a:t>68</a:t>
            </a:fld>
            <a:endParaRPr lang="en-AU"/>
          </a:p>
        </p:txBody>
      </p:sp>
    </p:spTree>
    <p:extLst>
      <p:ext uri="{BB962C8B-B14F-4D97-AF65-F5344CB8AC3E}">
        <p14:creationId xmlns:p14="http://schemas.microsoft.com/office/powerpoint/2010/main" val="12523413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And here is the bit we are interested in.</a:t>
            </a:r>
          </a:p>
        </p:txBody>
      </p:sp>
      <p:sp>
        <p:nvSpPr>
          <p:cNvPr id="4" name="Slide Number Placeholder 3"/>
          <p:cNvSpPr>
            <a:spLocks noGrp="1"/>
          </p:cNvSpPr>
          <p:nvPr>
            <p:ph type="sldNum" sz="quarter" idx="5"/>
          </p:nvPr>
        </p:nvSpPr>
        <p:spPr/>
        <p:txBody>
          <a:bodyPr/>
          <a:lstStyle/>
          <a:p>
            <a:fld id="{7535679C-F05B-4758-84D6-B5B45DD32474}" type="slidenum">
              <a:rPr lang="en-AU" smtClean="0"/>
              <a:t>69</a:t>
            </a:fld>
            <a:endParaRPr lang="en-AU"/>
          </a:p>
        </p:txBody>
      </p:sp>
    </p:spTree>
    <p:extLst>
      <p:ext uri="{BB962C8B-B14F-4D97-AF65-F5344CB8AC3E}">
        <p14:creationId xmlns:p14="http://schemas.microsoft.com/office/powerpoint/2010/main" val="14366724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 down to find the link webpage that gives you access to the factsheets, or use the link to get you straight there.</a:t>
            </a:r>
          </a:p>
          <a:p>
            <a:endParaRPr lang="en-US" dirty="0"/>
          </a:p>
        </p:txBody>
      </p:sp>
      <p:sp>
        <p:nvSpPr>
          <p:cNvPr id="4" name="Slide Number Placeholder 3"/>
          <p:cNvSpPr>
            <a:spLocks noGrp="1"/>
          </p:cNvSpPr>
          <p:nvPr>
            <p:ph type="sldNum" sz="quarter" idx="5"/>
          </p:nvPr>
        </p:nvSpPr>
        <p:spPr/>
        <p:txBody>
          <a:bodyPr/>
          <a:lstStyle/>
          <a:p>
            <a:fld id="{7535679C-F05B-4758-84D6-B5B45DD32474}" type="slidenum">
              <a:rPr lang="en-AU" smtClean="0"/>
              <a:t>70</a:t>
            </a:fld>
            <a:endParaRPr lang="en-AU"/>
          </a:p>
        </p:txBody>
      </p:sp>
    </p:spTree>
    <p:extLst>
      <p:ext uri="{BB962C8B-B14F-4D97-AF65-F5344CB8AC3E}">
        <p14:creationId xmlns:p14="http://schemas.microsoft.com/office/powerpoint/2010/main" val="3913371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AA658-C046-D8C7-8BDF-595F256B7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C5FDD-F8ED-4EE9-B024-B7EB4D3AA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A282E-03B1-A0FD-DAB5-6357E011EA9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392F3F5-705A-A1B4-9290-EDD8928E8545}"/>
              </a:ext>
            </a:extLst>
          </p:cNvPr>
          <p:cNvSpPr>
            <a:spLocks noGrp="1"/>
          </p:cNvSpPr>
          <p:nvPr>
            <p:ph type="sldNum" sz="quarter" idx="5"/>
          </p:nvPr>
        </p:nvSpPr>
        <p:spPr/>
        <p:txBody>
          <a:bodyPr/>
          <a:lstStyle/>
          <a:p>
            <a:fld id="{7535679C-F05B-4758-84D6-B5B45DD32474}" type="slidenum">
              <a:rPr lang="en-AU" smtClean="0"/>
              <a:t>71</a:t>
            </a:fld>
            <a:endParaRPr lang="en-AU"/>
          </a:p>
        </p:txBody>
      </p:sp>
    </p:spTree>
    <p:extLst>
      <p:ext uri="{BB962C8B-B14F-4D97-AF65-F5344CB8AC3E}">
        <p14:creationId xmlns:p14="http://schemas.microsoft.com/office/powerpoint/2010/main" val="38364364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FA9BF-A633-DCDA-FD5B-79CDA2F4F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50D74-7CCF-6CA2-BFBE-E5990F1FF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561AA-AD20-EF71-73C9-DD7A94532618}"/>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B2EF107-AE03-0FC7-794F-E64697DFC6DD}"/>
              </a:ext>
            </a:extLst>
          </p:cNvPr>
          <p:cNvSpPr>
            <a:spLocks noGrp="1"/>
          </p:cNvSpPr>
          <p:nvPr>
            <p:ph type="sldNum" sz="quarter" idx="5"/>
          </p:nvPr>
        </p:nvSpPr>
        <p:spPr/>
        <p:txBody>
          <a:bodyPr/>
          <a:lstStyle/>
          <a:p>
            <a:fld id="{7535679C-F05B-4758-84D6-B5B45DD32474}" type="slidenum">
              <a:rPr lang="en-AU" smtClean="0"/>
              <a:t>72</a:t>
            </a:fld>
            <a:endParaRPr lang="en-AU"/>
          </a:p>
        </p:txBody>
      </p:sp>
    </p:spTree>
    <p:extLst>
      <p:ext uri="{BB962C8B-B14F-4D97-AF65-F5344CB8AC3E}">
        <p14:creationId xmlns:p14="http://schemas.microsoft.com/office/powerpoint/2010/main" val="23366930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73</a:t>
            </a:fld>
            <a:endParaRPr lang="en-AU"/>
          </a:p>
        </p:txBody>
      </p:sp>
    </p:spTree>
    <p:extLst>
      <p:ext uri="{BB962C8B-B14F-4D97-AF65-F5344CB8AC3E}">
        <p14:creationId xmlns:p14="http://schemas.microsoft.com/office/powerpoint/2010/main" val="10851333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hlinkClick r:id="rId3"/>
              </a:rPr>
              <a:t>https://pubmed.ncbi.nlm.nih.gov/</a:t>
            </a:r>
            <a:endParaRPr lang="en-AU" dirty="0"/>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74</a:t>
            </a:fld>
            <a:endParaRPr lang="en-AU"/>
          </a:p>
        </p:txBody>
      </p:sp>
    </p:spTree>
    <p:extLst>
      <p:ext uri="{BB962C8B-B14F-4D97-AF65-F5344CB8AC3E}">
        <p14:creationId xmlns:p14="http://schemas.microsoft.com/office/powerpoint/2010/main" val="318767385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Hit this link, or simply type PubMed into your browser and you will find this page.</a:t>
            </a:r>
          </a:p>
          <a:p>
            <a:endParaRPr lang="en-AU" dirty="0"/>
          </a:p>
          <a:p>
            <a:r>
              <a:rPr lang="en-AU" dirty="0"/>
              <a:t>Couple of things to note here – first the URL ends in .gov – a website sponsored by a government – it’s the US government through the National Library of Medicine</a:t>
            </a:r>
          </a:p>
          <a:p>
            <a:endParaRPr lang="en-AU" dirty="0"/>
          </a:p>
          <a:p>
            <a:r>
              <a:rPr lang="en-AU" dirty="0"/>
              <a:t>Note too that there are two search options – we will explore them both.</a:t>
            </a:r>
          </a:p>
          <a:p>
            <a:endParaRPr lang="en-AU" dirty="0"/>
          </a:p>
          <a:p>
            <a:r>
              <a:rPr lang="en-AU" dirty="0"/>
              <a:t>You can create a free account with the PubMed, but it isn’t necessary.</a:t>
            </a:r>
          </a:p>
        </p:txBody>
      </p:sp>
      <p:sp>
        <p:nvSpPr>
          <p:cNvPr id="4" name="Slide Number Placeholder 3"/>
          <p:cNvSpPr>
            <a:spLocks noGrp="1"/>
          </p:cNvSpPr>
          <p:nvPr>
            <p:ph type="sldNum" sz="quarter" idx="5"/>
          </p:nvPr>
        </p:nvSpPr>
        <p:spPr/>
        <p:txBody>
          <a:bodyPr/>
          <a:lstStyle/>
          <a:p>
            <a:fld id="{7535679C-F05B-4758-84D6-B5B45DD32474}" type="slidenum">
              <a:rPr lang="en-AU" smtClean="0"/>
              <a:t>75</a:t>
            </a:fld>
            <a:endParaRPr lang="en-AU"/>
          </a:p>
        </p:txBody>
      </p:sp>
    </p:spTree>
    <p:extLst>
      <p:ext uri="{BB962C8B-B14F-4D97-AF65-F5344CB8AC3E}">
        <p14:creationId xmlns:p14="http://schemas.microsoft.com/office/powerpoint/2010/main" val="283794204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As you enter the medication name, PubMed provides additional search terms – let’s compare a couple of searches  -  a general search of the medication and the search that specifically mentions pregnancy.</a:t>
            </a:r>
          </a:p>
        </p:txBody>
      </p:sp>
      <p:sp>
        <p:nvSpPr>
          <p:cNvPr id="4" name="Slide Number Placeholder 3"/>
          <p:cNvSpPr>
            <a:spLocks noGrp="1"/>
          </p:cNvSpPr>
          <p:nvPr>
            <p:ph type="sldNum" sz="quarter" idx="5"/>
          </p:nvPr>
        </p:nvSpPr>
        <p:spPr/>
        <p:txBody>
          <a:bodyPr/>
          <a:lstStyle/>
          <a:p>
            <a:fld id="{7535679C-F05B-4758-84D6-B5B45DD32474}" type="slidenum">
              <a:rPr lang="en-AU" smtClean="0"/>
              <a:t>76</a:t>
            </a:fld>
            <a:endParaRPr lang="en-AU"/>
          </a:p>
        </p:txBody>
      </p:sp>
    </p:spTree>
    <p:extLst>
      <p:ext uri="{BB962C8B-B14F-4D97-AF65-F5344CB8AC3E}">
        <p14:creationId xmlns:p14="http://schemas.microsoft.com/office/powerpoint/2010/main" val="316815398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default display of a PubMed search shows 10 articles per page – here we have just the first 3.  Let’s take a look at the page and work out how to change aspects of the search to make finding what we are really interested in quicker and  easier.</a:t>
            </a:r>
          </a:p>
          <a:p>
            <a:endParaRPr lang="en-AU" dirty="0"/>
          </a:p>
          <a:p>
            <a:r>
              <a:rPr lang="en-AU" dirty="0"/>
              <a:t>First up – you can see there are 3 259 citations that include clotrimazole – PubMed lists them in order of relevance to your search, so the first ones listed will likely have the search term in the title – this won’t be the case with all of them – and you will be seriously hoping to find what you need in the first 1-20 citations.</a:t>
            </a:r>
          </a:p>
          <a:p>
            <a:endParaRPr lang="en-AU" dirty="0"/>
          </a:p>
          <a:p>
            <a:r>
              <a:rPr lang="en-AU" dirty="0"/>
              <a:t>But which ones really matter to you?  When the citation links directly to the full text article there is a note in red under the citation.  Clicking on this will take you there.</a:t>
            </a:r>
          </a:p>
          <a:p>
            <a:endParaRPr lang="en-AU" dirty="0"/>
          </a:p>
          <a:p>
            <a:r>
              <a:rPr lang="en-AU" dirty="0"/>
              <a:t>Do you want to reduce the number of citations, or perhaps focus in on recent citations only? The graph on the left of the page shows you how often your search is cited in the years between 1947-2023. Could be you want to focus on information published in the last 10 years only.</a:t>
            </a:r>
          </a:p>
          <a:p>
            <a:endParaRPr lang="en-AU" dirty="0"/>
          </a:p>
          <a:p>
            <a:r>
              <a:rPr lang="en-AU" dirty="0"/>
              <a:t>Another ma</a:t>
            </a:r>
          </a:p>
        </p:txBody>
      </p:sp>
      <p:sp>
        <p:nvSpPr>
          <p:cNvPr id="4" name="Slide Number Placeholder 3"/>
          <p:cNvSpPr>
            <a:spLocks noGrp="1"/>
          </p:cNvSpPr>
          <p:nvPr>
            <p:ph type="sldNum" sz="quarter" idx="5"/>
          </p:nvPr>
        </p:nvSpPr>
        <p:spPr/>
        <p:txBody>
          <a:bodyPr/>
          <a:lstStyle/>
          <a:p>
            <a:fld id="{7535679C-F05B-4758-84D6-B5B45DD32474}" type="slidenum">
              <a:rPr lang="en-AU" smtClean="0"/>
              <a:t>77</a:t>
            </a:fld>
            <a:endParaRPr lang="en-AU"/>
          </a:p>
        </p:txBody>
      </p:sp>
    </p:spTree>
    <p:extLst>
      <p:ext uri="{BB962C8B-B14F-4D97-AF65-F5344CB8AC3E}">
        <p14:creationId xmlns:p14="http://schemas.microsoft.com/office/powerpoint/2010/main" val="23220110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 default display of a PubMed search shows 10 articles per page – here we have just the first 3.  Let’s take a look at the page and work out how to change aspects of the search to make finding what we are really interested in quicker and  easier.</a:t>
            </a:r>
          </a:p>
          <a:p>
            <a:endParaRPr lang="en-AU" dirty="0"/>
          </a:p>
          <a:p>
            <a:r>
              <a:rPr lang="en-AU" dirty="0"/>
              <a:t>First up – you can see there are 3 259 citations that include clotrimazole – PubMed lists them in order of relevance to your search, so the first ones listed will likely have the search term in the title – this won’t be the case with all of them – and you will be seriously hoping to find what you need in the first 1- -20 citations.</a:t>
            </a:r>
          </a:p>
          <a:p>
            <a:endParaRPr lang="en-AU" dirty="0"/>
          </a:p>
          <a:p>
            <a:r>
              <a:rPr lang="en-AU" dirty="0"/>
              <a:t>Do you want to reduce the number of citations, or perhaps focus in on recent citations only? The graph on the left of the page shows you how often your search is cited in the years between 1947-2023. Could be you want to focus on information published in the last 10 years only.</a:t>
            </a:r>
          </a:p>
          <a:p>
            <a:r>
              <a:rPr lang="en-AU" dirty="0"/>
              <a:t>Lets change the date parameters and see how that changes the results – you can do that on the graph, by toggling the x axis (horizontal bar) or x-axis on the graph  - another way to focus your search by publication date is to use the filter  </a:t>
            </a:r>
          </a:p>
          <a:p>
            <a:r>
              <a:rPr lang="en-AU" dirty="0"/>
              <a:t>two important changes have occurred.</a:t>
            </a:r>
          </a:p>
          <a:p>
            <a:r>
              <a:rPr lang="en-AU" dirty="0"/>
              <a:t>1</a:t>
            </a:r>
            <a:r>
              <a:rPr lang="en-AU" baseline="30000" dirty="0"/>
              <a:t>st</a:t>
            </a:r>
            <a:r>
              <a:rPr lang="en-AU" dirty="0"/>
              <a:t> a drastic reduction in the number of citations – just 886 </a:t>
            </a:r>
          </a:p>
          <a:p>
            <a:endParaRPr lang="en-AU" dirty="0"/>
          </a:p>
          <a:p>
            <a:r>
              <a:rPr lang="en-AU" dirty="0"/>
              <a:t>Let’s take a brief scroll down those first 10 citations and see if we have what we are looking for……</a:t>
            </a:r>
          </a:p>
        </p:txBody>
      </p:sp>
      <p:sp>
        <p:nvSpPr>
          <p:cNvPr id="4" name="Slide Number Placeholder 3"/>
          <p:cNvSpPr>
            <a:spLocks noGrp="1"/>
          </p:cNvSpPr>
          <p:nvPr>
            <p:ph type="sldNum" sz="quarter" idx="5"/>
          </p:nvPr>
        </p:nvSpPr>
        <p:spPr/>
        <p:txBody>
          <a:bodyPr/>
          <a:lstStyle/>
          <a:p>
            <a:fld id="{7535679C-F05B-4758-84D6-B5B45DD32474}" type="slidenum">
              <a:rPr lang="en-AU" smtClean="0"/>
              <a:t>78</a:t>
            </a:fld>
            <a:endParaRPr lang="en-AU"/>
          </a:p>
        </p:txBody>
      </p:sp>
    </p:spTree>
    <p:extLst>
      <p:ext uri="{BB962C8B-B14F-4D97-AF65-F5344CB8AC3E}">
        <p14:creationId xmlns:p14="http://schemas.microsoft.com/office/powerpoint/2010/main" val="18492190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Another way to apply filter is via clicking on boxes on the left hand side of the screen.</a:t>
            </a:r>
          </a:p>
          <a:p>
            <a:endParaRPr lang="en-AU" dirty="0"/>
          </a:p>
          <a:p>
            <a:r>
              <a:rPr lang="en-AU" dirty="0"/>
              <a:t>Associated data – probably not so helpful to you…</a:t>
            </a:r>
          </a:p>
        </p:txBody>
      </p:sp>
      <p:sp>
        <p:nvSpPr>
          <p:cNvPr id="4" name="Slide Number Placeholder 3"/>
          <p:cNvSpPr>
            <a:spLocks noGrp="1"/>
          </p:cNvSpPr>
          <p:nvPr>
            <p:ph type="sldNum" sz="quarter" idx="5"/>
          </p:nvPr>
        </p:nvSpPr>
        <p:spPr/>
        <p:txBody>
          <a:bodyPr/>
          <a:lstStyle/>
          <a:p>
            <a:fld id="{7535679C-F05B-4758-84D6-B5B45DD32474}" type="slidenum">
              <a:rPr lang="en-AU" smtClean="0"/>
              <a:t>79</a:t>
            </a:fld>
            <a:endParaRPr lang="en-AU"/>
          </a:p>
        </p:txBody>
      </p:sp>
    </p:spTree>
    <p:extLst>
      <p:ext uri="{BB962C8B-B14F-4D97-AF65-F5344CB8AC3E}">
        <p14:creationId xmlns:p14="http://schemas.microsoft.com/office/powerpoint/2010/main" val="28261877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free full </a:t>
            </a:r>
            <a:r>
              <a:rPr lang="en-AU" dirty="0" err="1"/>
              <a:t>textThe</a:t>
            </a:r>
            <a:r>
              <a:rPr lang="en-AU" dirty="0"/>
              <a:t> number of citations is drastically reduced </a:t>
            </a:r>
          </a:p>
          <a:p>
            <a:endParaRPr lang="en-AU" dirty="0"/>
          </a:p>
          <a:p>
            <a:r>
              <a:rPr lang="en-AU" dirty="0"/>
              <a:t>And note that PubMed reminds you that you are working with filters in place.</a:t>
            </a:r>
          </a:p>
          <a:p>
            <a:endParaRPr lang="en-AU" dirty="0"/>
          </a:p>
          <a:p>
            <a:r>
              <a:rPr lang="en-AU" dirty="0"/>
              <a:t>Finally notice that the Free full text filter has thrown up some Free books and Documents, - another category to consider – will these provide the information you need?</a:t>
            </a:r>
          </a:p>
          <a:p>
            <a:endParaRPr lang="en-AU" dirty="0"/>
          </a:p>
          <a:p>
            <a:r>
              <a:rPr lang="en-US" b="1" dirty="0"/>
              <a:t>The </a:t>
            </a:r>
            <a:r>
              <a:rPr lang="en-US" b="1" dirty="0" err="1"/>
              <a:t>LactMed</a:t>
            </a:r>
            <a:r>
              <a:rPr lang="en-US" b="1" dirty="0"/>
              <a:t>® </a:t>
            </a:r>
            <a:r>
              <a:rPr lang="en-US" dirty="0"/>
              <a:t>database contains information on drugs and other chemicals to which breastfeeding mothers may be exposed. It includes information on the levels of such substances in breast milk and infant blood, and the possible adverse effects in the nursing infant. Suggested therapeutic alternatives to those drugs are provided, where appropriate. All data are derived from the scientific literature and fully referenced. A peer review panel reviews the data to assure scientific validity and currency.</a:t>
            </a:r>
          </a:p>
          <a:p>
            <a:r>
              <a:rPr lang="en-US" b="1" dirty="0" err="1"/>
              <a:t>LiverTox</a:t>
            </a:r>
            <a:r>
              <a:rPr lang="en-US" b="1" dirty="0"/>
              <a:t>® </a:t>
            </a:r>
            <a:r>
              <a:rPr lang="en-US" dirty="0"/>
              <a:t>provides up-to-date, unbiased and easily accessed information on the diagnosis, cause, frequency, clinical patterns and management of liver injury attributable to prescription and nonprescription medications and selected herbal and dietary supplements. The </a:t>
            </a:r>
            <a:r>
              <a:rPr lang="en-US" dirty="0" err="1"/>
              <a:t>LiverTox</a:t>
            </a:r>
            <a:r>
              <a:rPr lang="en-US" dirty="0"/>
              <a:t> site is meant as a resource for both physicians and patients as well as for clinical academicians and researchers who specialize in idiosyncratic drug induced hepatotoxicity.</a:t>
            </a:r>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80</a:t>
            </a:fld>
            <a:endParaRPr lang="en-AU"/>
          </a:p>
        </p:txBody>
      </p:sp>
    </p:spTree>
    <p:extLst>
      <p:ext uri="{BB962C8B-B14F-4D97-AF65-F5344CB8AC3E}">
        <p14:creationId xmlns:p14="http://schemas.microsoft.com/office/powerpoint/2010/main" val="343384319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81</a:t>
            </a:fld>
            <a:endParaRPr lang="en-AU"/>
          </a:p>
        </p:txBody>
      </p:sp>
    </p:spTree>
    <p:extLst>
      <p:ext uri="{BB962C8B-B14F-4D97-AF65-F5344CB8AC3E}">
        <p14:creationId xmlns:p14="http://schemas.microsoft.com/office/powerpoint/2010/main" val="31372461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What are we looking for?</a:t>
            </a:r>
          </a:p>
          <a:p>
            <a:endParaRPr lang="en-AU" dirty="0"/>
          </a:p>
          <a:p>
            <a:r>
              <a:rPr lang="en-AU" dirty="0"/>
              <a:t>Relevance</a:t>
            </a:r>
          </a:p>
          <a:p>
            <a:r>
              <a:rPr lang="en-AU" dirty="0"/>
              <a:t>Date</a:t>
            </a:r>
          </a:p>
          <a:p>
            <a:r>
              <a:rPr lang="en-AU" dirty="0"/>
              <a:t>Change the range.. Sort by date</a:t>
            </a:r>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82</a:t>
            </a:fld>
            <a:endParaRPr lang="en-AU"/>
          </a:p>
        </p:txBody>
      </p:sp>
    </p:spTree>
    <p:extLst>
      <p:ext uri="{BB962C8B-B14F-4D97-AF65-F5344CB8AC3E}">
        <p14:creationId xmlns:p14="http://schemas.microsoft.com/office/powerpoint/2010/main" val="20957300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Also available through PubMed</a:t>
            </a:r>
          </a:p>
        </p:txBody>
      </p:sp>
      <p:sp>
        <p:nvSpPr>
          <p:cNvPr id="4" name="Slide Number Placeholder 3"/>
          <p:cNvSpPr>
            <a:spLocks noGrp="1"/>
          </p:cNvSpPr>
          <p:nvPr>
            <p:ph type="sldNum" sz="quarter" idx="5"/>
          </p:nvPr>
        </p:nvSpPr>
        <p:spPr/>
        <p:txBody>
          <a:bodyPr/>
          <a:lstStyle/>
          <a:p>
            <a:fld id="{7535679C-F05B-4758-84D6-B5B45DD32474}" type="slidenum">
              <a:rPr lang="en-AU" smtClean="0"/>
              <a:t>83</a:t>
            </a:fld>
            <a:endParaRPr lang="en-AU"/>
          </a:p>
        </p:txBody>
      </p:sp>
    </p:spTree>
    <p:extLst>
      <p:ext uri="{BB962C8B-B14F-4D97-AF65-F5344CB8AC3E}">
        <p14:creationId xmlns:p14="http://schemas.microsoft.com/office/powerpoint/2010/main" val="40391797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84</a:t>
            </a:fld>
            <a:endParaRPr lang="en-AU"/>
          </a:p>
        </p:txBody>
      </p:sp>
    </p:spTree>
    <p:extLst>
      <p:ext uri="{BB962C8B-B14F-4D97-AF65-F5344CB8AC3E}">
        <p14:creationId xmlns:p14="http://schemas.microsoft.com/office/powerpoint/2010/main" val="368302388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Extract from the full text</a:t>
            </a:r>
          </a:p>
        </p:txBody>
      </p:sp>
      <p:sp>
        <p:nvSpPr>
          <p:cNvPr id="4" name="Slide Number Placeholder 3"/>
          <p:cNvSpPr>
            <a:spLocks noGrp="1"/>
          </p:cNvSpPr>
          <p:nvPr>
            <p:ph type="sldNum" sz="quarter" idx="5"/>
          </p:nvPr>
        </p:nvSpPr>
        <p:spPr/>
        <p:txBody>
          <a:bodyPr/>
          <a:lstStyle/>
          <a:p>
            <a:fld id="{7535679C-F05B-4758-84D6-B5B45DD32474}" type="slidenum">
              <a:rPr lang="en-AU" smtClean="0"/>
              <a:t>85</a:t>
            </a:fld>
            <a:endParaRPr lang="en-AU"/>
          </a:p>
        </p:txBody>
      </p:sp>
    </p:spTree>
    <p:extLst>
      <p:ext uri="{BB962C8B-B14F-4D97-AF65-F5344CB8AC3E}">
        <p14:creationId xmlns:p14="http://schemas.microsoft.com/office/powerpoint/2010/main" val="13523883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1BA04-4EB8-F070-991C-42C5BDDE0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87BCD-2BDB-5F16-C3EC-290D75E70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D3C359-730E-9C1C-EFD0-A7B17FA5EC1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6BCF74A-3F27-72DE-649C-D37AD063B488}"/>
              </a:ext>
            </a:extLst>
          </p:cNvPr>
          <p:cNvSpPr>
            <a:spLocks noGrp="1"/>
          </p:cNvSpPr>
          <p:nvPr>
            <p:ph type="sldNum" sz="quarter" idx="5"/>
          </p:nvPr>
        </p:nvSpPr>
        <p:spPr/>
        <p:txBody>
          <a:bodyPr/>
          <a:lstStyle/>
          <a:p>
            <a:fld id="{7535679C-F05B-4758-84D6-B5B45DD32474}" type="slidenum">
              <a:rPr lang="en-AU" smtClean="0"/>
              <a:t>86</a:t>
            </a:fld>
            <a:endParaRPr lang="en-AU"/>
          </a:p>
        </p:txBody>
      </p:sp>
    </p:spTree>
    <p:extLst>
      <p:ext uri="{BB962C8B-B14F-4D97-AF65-F5344CB8AC3E}">
        <p14:creationId xmlns:p14="http://schemas.microsoft.com/office/powerpoint/2010/main" val="10936034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hlinkClick r:id="rId3"/>
              </a:rPr>
              <a:t>https://pubmed.ncbi.nlm.nih.gov/</a:t>
            </a:r>
            <a:endParaRPr lang="en-AU" dirty="0"/>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87</a:t>
            </a:fld>
            <a:endParaRPr lang="en-AU"/>
          </a:p>
        </p:txBody>
      </p:sp>
    </p:spTree>
    <p:extLst>
      <p:ext uri="{BB962C8B-B14F-4D97-AF65-F5344CB8AC3E}">
        <p14:creationId xmlns:p14="http://schemas.microsoft.com/office/powerpoint/2010/main" val="48348978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hlinkClick r:id="rId3"/>
              </a:rPr>
              <a:t>https://pubmed.ncbi.nlm.nih.gov/</a:t>
            </a:r>
            <a:endParaRPr lang="en-AU" dirty="0"/>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88</a:t>
            </a:fld>
            <a:endParaRPr lang="en-AU"/>
          </a:p>
        </p:txBody>
      </p:sp>
    </p:spTree>
    <p:extLst>
      <p:ext uri="{BB962C8B-B14F-4D97-AF65-F5344CB8AC3E}">
        <p14:creationId xmlns:p14="http://schemas.microsoft.com/office/powerpoint/2010/main" val="79520485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90</a:t>
            </a:fld>
            <a:endParaRPr lang="en-AU"/>
          </a:p>
        </p:txBody>
      </p:sp>
    </p:spTree>
    <p:extLst>
      <p:ext uri="{BB962C8B-B14F-4D97-AF65-F5344CB8AC3E}">
        <p14:creationId xmlns:p14="http://schemas.microsoft.com/office/powerpoint/2010/main" val="36403171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91</a:t>
            </a:fld>
            <a:endParaRPr lang="en-AU"/>
          </a:p>
        </p:txBody>
      </p:sp>
    </p:spTree>
    <p:extLst>
      <p:ext uri="{BB962C8B-B14F-4D97-AF65-F5344CB8AC3E}">
        <p14:creationId xmlns:p14="http://schemas.microsoft.com/office/powerpoint/2010/main" val="312304652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hlinkClick r:id="rId3"/>
              </a:rPr>
              <a:t>https://pubmed.ncbi.nlm.nih.gov/</a:t>
            </a:r>
            <a:endParaRPr lang="en-AU" dirty="0"/>
          </a:p>
          <a:p>
            <a:endParaRPr lang="en-AU" dirty="0"/>
          </a:p>
        </p:txBody>
      </p:sp>
      <p:sp>
        <p:nvSpPr>
          <p:cNvPr id="4" name="Slide Number Placeholder 3"/>
          <p:cNvSpPr>
            <a:spLocks noGrp="1"/>
          </p:cNvSpPr>
          <p:nvPr>
            <p:ph type="sldNum" sz="quarter" idx="5"/>
          </p:nvPr>
        </p:nvSpPr>
        <p:spPr/>
        <p:txBody>
          <a:bodyPr/>
          <a:lstStyle/>
          <a:p>
            <a:fld id="{7535679C-F05B-4758-84D6-B5B45DD32474}" type="slidenum">
              <a:rPr lang="en-AU" smtClean="0"/>
              <a:t>92</a:t>
            </a:fld>
            <a:endParaRPr lang="en-AU"/>
          </a:p>
        </p:txBody>
      </p:sp>
    </p:spTree>
    <p:extLst>
      <p:ext uri="{BB962C8B-B14F-4D97-AF65-F5344CB8AC3E}">
        <p14:creationId xmlns:p14="http://schemas.microsoft.com/office/powerpoint/2010/main" val="97652834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535679C-F05B-4758-84D6-B5B45DD32474}" type="slidenum">
              <a:rPr lang="en-AU" smtClean="0"/>
              <a:t>93</a:t>
            </a:fld>
            <a:endParaRPr lang="en-AU"/>
          </a:p>
        </p:txBody>
      </p:sp>
    </p:spTree>
    <p:extLst>
      <p:ext uri="{BB962C8B-B14F-4D97-AF65-F5344CB8AC3E}">
        <p14:creationId xmlns:p14="http://schemas.microsoft.com/office/powerpoint/2010/main" val="4129009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442567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45164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639879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38535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720881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87720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664207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v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0" name="Text Placeholder 2"/>
          <p:cNvSpPr>
            <a:spLocks noGrp="1"/>
          </p:cNvSpPr>
          <p:nvPr>
            <p:ph type="body" sz="quarter" idx="21" hasCustomPrompt="1"/>
          </p:nvPr>
        </p:nvSpPr>
        <p:spPr>
          <a:xfrm>
            <a:off x="6328229"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
        <p:nvSpPr>
          <p:cNvPr id="11" name="Text Placeholder 2"/>
          <p:cNvSpPr>
            <a:spLocks noGrp="1"/>
          </p:cNvSpPr>
          <p:nvPr>
            <p:ph type="body" sz="quarter" idx="22" hasCustomPrompt="1"/>
          </p:nvPr>
        </p:nvSpPr>
        <p:spPr>
          <a:xfrm>
            <a:off x="664027"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3</a:t>
            </a:r>
            <a:endParaRPr lang="en-US" dirty="0"/>
          </a:p>
        </p:txBody>
      </p:sp>
      <p:sp>
        <p:nvSpPr>
          <p:cNvPr id="12" name="Text Placeholder 2"/>
          <p:cNvSpPr>
            <a:spLocks noGrp="1"/>
          </p:cNvSpPr>
          <p:nvPr>
            <p:ph type="body" sz="quarter" idx="23" hasCustomPrompt="1"/>
          </p:nvPr>
        </p:nvSpPr>
        <p:spPr>
          <a:xfrm>
            <a:off x="6328229"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4</a:t>
            </a:r>
            <a:endParaRPr lang="en-US" dirty="0"/>
          </a:p>
        </p:txBody>
      </p:sp>
      <p:sp>
        <p:nvSpPr>
          <p:cNvPr id="13"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764708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C8AEB-914A-71CD-A299-78B97A92E2F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559E272-205F-98F6-A966-AF5F0C16F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07CF8E9-1B49-63E1-BC0B-AD93E41DFA64}"/>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2549F31B-214C-D8A1-F492-78DB15359676}"/>
              </a:ext>
            </a:extLst>
          </p:cNvPr>
          <p:cNvSpPr>
            <a:spLocks noGrp="1"/>
          </p:cNvSpPr>
          <p:nvPr>
            <p:ph type="ftr" sz="quarter" idx="11"/>
          </p:nvPr>
        </p:nvSpPr>
        <p:spPr/>
        <p:txBody>
          <a:bodyPr/>
          <a:lstStyle/>
          <a:p>
            <a:r>
              <a:rPr lang="en-AU"/>
              <a:t>Researching Case Studies</a:t>
            </a:r>
          </a:p>
        </p:txBody>
      </p:sp>
      <p:sp>
        <p:nvSpPr>
          <p:cNvPr id="6" name="Slide Number Placeholder 5">
            <a:extLst>
              <a:ext uri="{FF2B5EF4-FFF2-40B4-BE49-F238E27FC236}">
                <a16:creationId xmlns:a16="http://schemas.microsoft.com/office/drawing/2014/main" id="{78ED29C6-7C9A-73B3-2789-41E14BC6BB98}"/>
              </a:ext>
            </a:extLst>
          </p:cNvPr>
          <p:cNvSpPr>
            <a:spLocks noGrp="1"/>
          </p:cNvSpPr>
          <p:nvPr>
            <p:ph type="sldNum" sz="quarter" idx="12"/>
          </p:nvPr>
        </p:nvSpPr>
        <p:spPr/>
        <p:txBody>
          <a:bodyPr/>
          <a:lstStyle/>
          <a:p>
            <a:fld id="{0762ED80-7479-4D1D-8010-0ABF30C0E0F8}" type="slidenum">
              <a:rPr lang="en-AU" smtClean="0"/>
              <a:t>‹#›</a:t>
            </a:fld>
            <a:endParaRPr lang="en-AU"/>
          </a:p>
        </p:txBody>
      </p:sp>
    </p:spTree>
    <p:extLst>
      <p:ext uri="{BB962C8B-B14F-4D97-AF65-F5344CB8AC3E}">
        <p14:creationId xmlns:p14="http://schemas.microsoft.com/office/powerpoint/2010/main" val="3772105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CA3D-ED27-A8C4-FDA7-54D1B069220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C4F7FB1-F88B-2C26-F7FA-A308EFAE2F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A7F62B-08C3-166C-8C3C-DE98CB8DD1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330CD8C-38DD-AAFE-0E3C-DAE997AF2B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B2D6A3-B622-56B5-A2F7-7517C7B996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3F87FEC-A818-3DC7-9820-D82F4E14CFBD}"/>
              </a:ext>
            </a:extLst>
          </p:cNvPr>
          <p:cNvSpPr>
            <a:spLocks noGrp="1"/>
          </p:cNvSpPr>
          <p:nvPr>
            <p:ph type="dt" sz="half" idx="10"/>
          </p:nvPr>
        </p:nvSpPr>
        <p:spPr/>
        <p:txBody>
          <a:bodyPr/>
          <a:lstStyle/>
          <a:p>
            <a:endParaRPr lang="en-AU"/>
          </a:p>
        </p:txBody>
      </p:sp>
      <p:sp>
        <p:nvSpPr>
          <p:cNvPr id="8" name="Footer Placeholder 7">
            <a:extLst>
              <a:ext uri="{FF2B5EF4-FFF2-40B4-BE49-F238E27FC236}">
                <a16:creationId xmlns:a16="http://schemas.microsoft.com/office/drawing/2014/main" id="{D2EECB30-4223-9DAB-1175-D181D392EC8A}"/>
              </a:ext>
            </a:extLst>
          </p:cNvPr>
          <p:cNvSpPr>
            <a:spLocks noGrp="1"/>
          </p:cNvSpPr>
          <p:nvPr>
            <p:ph type="ftr" sz="quarter" idx="11"/>
          </p:nvPr>
        </p:nvSpPr>
        <p:spPr/>
        <p:txBody>
          <a:bodyPr/>
          <a:lstStyle/>
          <a:p>
            <a:r>
              <a:rPr lang="en-AU"/>
              <a:t>Researching Case Studies</a:t>
            </a:r>
          </a:p>
        </p:txBody>
      </p:sp>
      <p:sp>
        <p:nvSpPr>
          <p:cNvPr id="9" name="Slide Number Placeholder 8">
            <a:extLst>
              <a:ext uri="{FF2B5EF4-FFF2-40B4-BE49-F238E27FC236}">
                <a16:creationId xmlns:a16="http://schemas.microsoft.com/office/drawing/2014/main" id="{A40A98F4-5649-1673-2EF6-57601BFA44C3}"/>
              </a:ext>
            </a:extLst>
          </p:cNvPr>
          <p:cNvSpPr>
            <a:spLocks noGrp="1"/>
          </p:cNvSpPr>
          <p:nvPr>
            <p:ph type="sldNum" sz="quarter" idx="12"/>
          </p:nvPr>
        </p:nvSpPr>
        <p:spPr/>
        <p:txBody>
          <a:bodyPr/>
          <a:lstStyle/>
          <a:p>
            <a:fld id="{0762ED80-7479-4D1D-8010-0ABF30C0E0F8}" type="slidenum">
              <a:rPr lang="en-AU" smtClean="0"/>
              <a:t>‹#›</a:t>
            </a:fld>
            <a:endParaRPr lang="en-AU"/>
          </a:p>
        </p:txBody>
      </p:sp>
    </p:spTree>
    <p:extLst>
      <p:ext uri="{BB962C8B-B14F-4D97-AF65-F5344CB8AC3E}">
        <p14:creationId xmlns:p14="http://schemas.microsoft.com/office/powerpoint/2010/main" val="105861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2191215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endParaRPr lang="en-AU"/>
          </a:p>
        </p:txBody>
      </p:sp>
      <p:sp>
        <p:nvSpPr>
          <p:cNvPr id="17" name="Footer Placeholder 16"/>
          <p:cNvSpPr>
            <a:spLocks noGrp="1"/>
          </p:cNvSpPr>
          <p:nvPr>
            <p:ph type="ftr" sz="quarter" idx="11"/>
          </p:nvPr>
        </p:nvSpPr>
        <p:spPr/>
        <p:txBody>
          <a:bodyPr/>
          <a:lstStyle/>
          <a:p>
            <a:r>
              <a:rPr lang="en-AU"/>
              <a:t>Researching Case Studies</a:t>
            </a:r>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8A735D75-2D8B-4F20-ACE1-D3DFCB8FBAC3}" type="slidenum">
              <a:rPr lang="en-AU" smtClean="0"/>
              <a:t>‹#›</a:t>
            </a:fld>
            <a:endParaRPr lang="en-AU"/>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407548505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AU"/>
              <a:t>Researching Case Studies</a:t>
            </a:r>
          </a:p>
        </p:txBody>
      </p:sp>
      <p:sp>
        <p:nvSpPr>
          <p:cNvPr id="6" name="Slide Number Placeholder 5"/>
          <p:cNvSpPr>
            <a:spLocks noGrp="1"/>
          </p:cNvSpPr>
          <p:nvPr>
            <p:ph type="sldNum" sz="quarter" idx="12"/>
          </p:nvPr>
        </p:nvSpPr>
        <p:spPr>
          <a:xfrm>
            <a:off x="5815584" y="1026373"/>
            <a:ext cx="609600" cy="441325"/>
          </a:xfrm>
        </p:spPr>
        <p:txBody>
          <a:bodyPr/>
          <a:lstStyle/>
          <a:p>
            <a:fld id="{8A735D75-2D8B-4F20-ACE1-D3DFCB8FBAC3}" type="slidenum">
              <a:rPr lang="en-AU" smtClean="0"/>
              <a:t>‹#›</a:t>
            </a:fld>
            <a:endParaRPr lang="en-AU"/>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15934533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1470-543A-069F-54EE-5D615FDA88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6C0AC7B-2317-18A8-E0E4-02CB110496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AE2C27E-59AD-688A-E5A8-35E98A287DDF}"/>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5" name="Footer Placeholder 4">
            <a:extLst>
              <a:ext uri="{FF2B5EF4-FFF2-40B4-BE49-F238E27FC236}">
                <a16:creationId xmlns:a16="http://schemas.microsoft.com/office/drawing/2014/main" id="{A8A68E38-F757-E0E7-A062-733E805791B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1E6CDF2-5F01-2332-9E72-42333A783A6B}"/>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280138470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9F672-46C8-173C-5C97-1F9EB62D288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EB1CE0-BF85-7808-6B4D-BE5629E0C5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EA3CBC8-EFD3-4B23-EDD2-2FD0A3BC35BE}"/>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1AD259E1-0ABC-134C-8F71-A3EE426BC60F}"/>
              </a:ext>
            </a:extLst>
          </p:cNvPr>
          <p:cNvSpPr>
            <a:spLocks noGrp="1"/>
          </p:cNvSpPr>
          <p:nvPr>
            <p:ph type="ftr" sz="quarter" idx="11"/>
          </p:nvPr>
        </p:nvSpPr>
        <p:spPr/>
        <p:txBody>
          <a:bodyPr/>
          <a:lstStyle/>
          <a:p>
            <a:r>
              <a:rPr lang="en-AU"/>
              <a:t>Researching Case Studies</a:t>
            </a:r>
          </a:p>
        </p:txBody>
      </p:sp>
      <p:sp>
        <p:nvSpPr>
          <p:cNvPr id="6" name="Slide Number Placeholder 5">
            <a:extLst>
              <a:ext uri="{FF2B5EF4-FFF2-40B4-BE49-F238E27FC236}">
                <a16:creationId xmlns:a16="http://schemas.microsoft.com/office/drawing/2014/main" id="{6A8CAEF7-A830-CB77-5FF9-E5CA40C881FC}"/>
              </a:ext>
            </a:extLst>
          </p:cNvPr>
          <p:cNvSpPr>
            <a:spLocks noGrp="1"/>
          </p:cNvSpPr>
          <p:nvPr>
            <p:ph type="sldNum" sz="quarter" idx="12"/>
          </p:nvPr>
        </p:nvSpPr>
        <p:spPr/>
        <p:txBody>
          <a:bodyPr/>
          <a:lstStyle/>
          <a:p>
            <a:fld id="{0762ED80-7479-4D1D-8010-0ABF30C0E0F8}" type="slidenum">
              <a:rPr lang="en-AU" smtClean="0"/>
              <a:t>‹#›</a:t>
            </a:fld>
            <a:endParaRPr lang="en-AU"/>
          </a:p>
        </p:txBody>
      </p:sp>
    </p:spTree>
    <p:extLst>
      <p:ext uri="{BB962C8B-B14F-4D97-AF65-F5344CB8AC3E}">
        <p14:creationId xmlns:p14="http://schemas.microsoft.com/office/powerpoint/2010/main" val="3813585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8D06-3099-41F0-4F2D-07083A9A52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ECD61DE-B8B5-D69E-C4E9-D634DDC972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252369-3CC4-1AE0-89C5-DACD329D28F4}"/>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5" name="Footer Placeholder 4">
            <a:extLst>
              <a:ext uri="{FF2B5EF4-FFF2-40B4-BE49-F238E27FC236}">
                <a16:creationId xmlns:a16="http://schemas.microsoft.com/office/drawing/2014/main" id="{AB2948A1-FF9E-F128-59E3-F7DE226972A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9AC167E-3A2C-8801-538B-C40F730D111D}"/>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188451378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824A7-B15A-9CE8-55F6-70EC60E54AA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01301DA-189F-3AD6-0A9C-6782E5B66F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369B888-3225-7037-CB42-7648422C88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4A5D935-427B-CF7A-63C9-880FFE75FC37}"/>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6" name="Footer Placeholder 5">
            <a:extLst>
              <a:ext uri="{FF2B5EF4-FFF2-40B4-BE49-F238E27FC236}">
                <a16:creationId xmlns:a16="http://schemas.microsoft.com/office/drawing/2014/main" id="{2902B07D-6E12-3C87-42C6-BC281755529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810F8B7-98ED-9215-01C4-E97F5F1DA9FB}"/>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388941885"/>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996EA-7901-1D25-DE0D-398B7DF52FD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659A9EA-53F4-841B-5A47-B823D571BC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3C0D69-A804-6202-9E1B-A45718C672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57CA1DF4-AE12-CF71-C14E-3D75CE49CD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DEF6C6-628A-6083-E44B-343A5525A5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1EC16B2D-8D36-A8AB-60E4-B2C3C2C88103}"/>
              </a:ext>
            </a:extLst>
          </p:cNvPr>
          <p:cNvSpPr>
            <a:spLocks noGrp="1"/>
          </p:cNvSpPr>
          <p:nvPr>
            <p:ph type="dt" sz="half" idx="10"/>
          </p:nvPr>
        </p:nvSpPr>
        <p:spPr/>
        <p:txBody>
          <a:bodyPr/>
          <a:lstStyle/>
          <a:p>
            <a:endParaRPr lang="en-AU"/>
          </a:p>
        </p:txBody>
      </p:sp>
      <p:sp>
        <p:nvSpPr>
          <p:cNvPr id="8" name="Footer Placeholder 7">
            <a:extLst>
              <a:ext uri="{FF2B5EF4-FFF2-40B4-BE49-F238E27FC236}">
                <a16:creationId xmlns:a16="http://schemas.microsoft.com/office/drawing/2014/main" id="{218CC675-CBD8-C978-03D4-1507B9D72684}"/>
              </a:ext>
            </a:extLst>
          </p:cNvPr>
          <p:cNvSpPr>
            <a:spLocks noGrp="1"/>
          </p:cNvSpPr>
          <p:nvPr>
            <p:ph type="ftr" sz="quarter" idx="11"/>
          </p:nvPr>
        </p:nvSpPr>
        <p:spPr/>
        <p:txBody>
          <a:bodyPr/>
          <a:lstStyle/>
          <a:p>
            <a:r>
              <a:rPr lang="en-AU"/>
              <a:t>Researching Case Studies</a:t>
            </a:r>
          </a:p>
        </p:txBody>
      </p:sp>
      <p:sp>
        <p:nvSpPr>
          <p:cNvPr id="9" name="Slide Number Placeholder 8">
            <a:extLst>
              <a:ext uri="{FF2B5EF4-FFF2-40B4-BE49-F238E27FC236}">
                <a16:creationId xmlns:a16="http://schemas.microsoft.com/office/drawing/2014/main" id="{E309B719-EE5C-D9FC-5DF9-4682EF50358D}"/>
              </a:ext>
            </a:extLst>
          </p:cNvPr>
          <p:cNvSpPr>
            <a:spLocks noGrp="1"/>
          </p:cNvSpPr>
          <p:nvPr>
            <p:ph type="sldNum" sz="quarter" idx="12"/>
          </p:nvPr>
        </p:nvSpPr>
        <p:spPr/>
        <p:txBody>
          <a:bodyPr/>
          <a:lstStyle/>
          <a:p>
            <a:fld id="{0762ED80-7479-4D1D-8010-0ABF30C0E0F8}" type="slidenum">
              <a:rPr lang="en-AU" smtClean="0"/>
              <a:t>‹#›</a:t>
            </a:fld>
            <a:endParaRPr lang="en-AU"/>
          </a:p>
        </p:txBody>
      </p:sp>
    </p:spTree>
    <p:extLst>
      <p:ext uri="{BB962C8B-B14F-4D97-AF65-F5344CB8AC3E}">
        <p14:creationId xmlns:p14="http://schemas.microsoft.com/office/powerpoint/2010/main" val="1151410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B7347-32D2-DD43-A783-B16F9F9D2D9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4BBE9D9-E160-BA1D-6BD8-650546A84249}"/>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4" name="Footer Placeholder 3">
            <a:extLst>
              <a:ext uri="{FF2B5EF4-FFF2-40B4-BE49-F238E27FC236}">
                <a16:creationId xmlns:a16="http://schemas.microsoft.com/office/drawing/2014/main" id="{F8C78B44-CDC8-C67C-F817-722CCD59BEF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C500B09-990C-41AF-A927-03A97D60249B}"/>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3004956056"/>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7AE63F-31BD-BFD5-2DFB-5ACB106D7AD5}"/>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3" name="Footer Placeholder 2">
            <a:extLst>
              <a:ext uri="{FF2B5EF4-FFF2-40B4-BE49-F238E27FC236}">
                <a16:creationId xmlns:a16="http://schemas.microsoft.com/office/drawing/2014/main" id="{3A2C8948-4D6A-0975-B729-5A228B644D0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02D2FDF-7B87-07FB-BE5C-041EB2B6D935}"/>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36169206"/>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4CFB-038C-19DF-4341-3C7B0E363B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A44C311-90EA-C137-FA9E-1351442FC0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243EF3-9C29-8EC0-9992-5C149F9D8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8C473B-108A-F4DA-7F0B-A959E60BF651}"/>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6" name="Footer Placeholder 5">
            <a:extLst>
              <a:ext uri="{FF2B5EF4-FFF2-40B4-BE49-F238E27FC236}">
                <a16:creationId xmlns:a16="http://schemas.microsoft.com/office/drawing/2014/main" id="{95CD4C5A-5540-07C1-0F8A-76E1E8BD62A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40620B5-3E8E-D1A4-8E7D-C7D5AE52DC1A}"/>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1372679862"/>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E9A3-6064-49CC-F53C-AFD6B1094C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F85F420-D413-5181-A31C-16530C8EE1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15BDD3D-B6DE-AD39-7D40-DCB123E1E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153E1-AE69-C1C5-29AC-F21EABAEA972}"/>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6" name="Footer Placeholder 5">
            <a:extLst>
              <a:ext uri="{FF2B5EF4-FFF2-40B4-BE49-F238E27FC236}">
                <a16:creationId xmlns:a16="http://schemas.microsoft.com/office/drawing/2014/main" id="{16356C65-AB17-D8FB-D61F-A508BF0C7B3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9FFF5E9-9AA4-0F5C-0D28-3B6653FDD61F}"/>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1055768106"/>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0DFD4-56E3-2664-45C7-2D72BF423C2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FED8D38-D35A-ACBA-BF48-4B12604BC0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542DA20-B8F5-AE88-2BA8-37FB27E3D0EB}"/>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5" name="Footer Placeholder 4">
            <a:extLst>
              <a:ext uri="{FF2B5EF4-FFF2-40B4-BE49-F238E27FC236}">
                <a16:creationId xmlns:a16="http://schemas.microsoft.com/office/drawing/2014/main" id="{A28E02B4-7A58-57DD-7371-031F6A7100C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FEDBB1F-77D8-8453-CF99-BC9F4DE95EC1}"/>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906767768"/>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0C994-817B-D9D7-787A-2353653E1D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97895ED-1E9B-516F-6D76-641FE6D299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513CF46-3D13-108B-41AC-4BD8F756EBF4}"/>
              </a:ext>
            </a:extLst>
          </p:cNvPr>
          <p:cNvSpPr>
            <a:spLocks noGrp="1"/>
          </p:cNvSpPr>
          <p:nvPr>
            <p:ph type="dt" sz="half" idx="10"/>
          </p:nvPr>
        </p:nvSpPr>
        <p:spPr/>
        <p:txBody>
          <a:bodyPr/>
          <a:lstStyle/>
          <a:p>
            <a:fld id="{711C68DE-87EC-44DE-AB74-ACA448AAA567}" type="datetimeFigureOut">
              <a:rPr lang="en-AU" smtClean="0"/>
              <a:t>22/10/2026</a:t>
            </a:fld>
            <a:endParaRPr lang="en-AU"/>
          </a:p>
        </p:txBody>
      </p:sp>
      <p:sp>
        <p:nvSpPr>
          <p:cNvPr id="5" name="Footer Placeholder 4">
            <a:extLst>
              <a:ext uri="{FF2B5EF4-FFF2-40B4-BE49-F238E27FC236}">
                <a16:creationId xmlns:a16="http://schemas.microsoft.com/office/drawing/2014/main" id="{D327ECE0-7AB3-A1EE-1085-ED6E5F7120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BD24C98-58BB-2985-236A-E9D3E8D4B430}"/>
              </a:ext>
            </a:extLst>
          </p:cNvPr>
          <p:cNvSpPr>
            <a:spLocks noGrp="1"/>
          </p:cNvSpPr>
          <p:nvPr>
            <p:ph type="sldNum" sz="quarter" idx="12"/>
          </p:nvPr>
        </p:nvSpPr>
        <p:spPr/>
        <p:txBody>
          <a:bodyPr/>
          <a:lstStyle/>
          <a:p>
            <a:fld id="{4C46084E-4AD2-49B2-9297-67B05F4C2641}" type="slidenum">
              <a:rPr lang="en-AU" smtClean="0"/>
              <a:t>‹#›</a:t>
            </a:fld>
            <a:endParaRPr lang="en-AU"/>
          </a:p>
        </p:txBody>
      </p:sp>
    </p:spTree>
    <p:extLst>
      <p:ext uri="{BB962C8B-B14F-4D97-AF65-F5344CB8AC3E}">
        <p14:creationId xmlns:p14="http://schemas.microsoft.com/office/powerpoint/2010/main" val="2383753319"/>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5080695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8340474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5356798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8357567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28585546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3381066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image" Target="../media/image8.jp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3.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3106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1" r:id="rId9"/>
    <p:sldLayoutId id="2147483672" r:id="rId1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541074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hdr="0" dt="0"/>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09D1B1-81F8-4004-04B4-AD9439615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02E8D02-8890-844C-8D38-0052A6BC5B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E40ED88-53EC-C3EA-6F75-6BAE3CDC35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1C68DE-87EC-44DE-AB74-ACA448AAA567}" type="datetimeFigureOut">
              <a:rPr lang="en-AU" smtClean="0"/>
              <a:t>22/10/2026</a:t>
            </a:fld>
            <a:endParaRPr lang="en-AU"/>
          </a:p>
        </p:txBody>
      </p:sp>
      <p:sp>
        <p:nvSpPr>
          <p:cNvPr id="5" name="Footer Placeholder 4">
            <a:extLst>
              <a:ext uri="{FF2B5EF4-FFF2-40B4-BE49-F238E27FC236}">
                <a16:creationId xmlns:a16="http://schemas.microsoft.com/office/drawing/2014/main" id="{8A57D02C-53F0-5836-632B-4C83365F84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69A0BCF8-6E79-1E58-BD9E-98A6FE589C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46084E-4AD2-49B2-9297-67B05F4C2641}" type="slidenum">
              <a:rPr lang="en-AU" smtClean="0"/>
              <a:t>‹#›</a:t>
            </a:fld>
            <a:endParaRPr lang="en-AU"/>
          </a:p>
        </p:txBody>
      </p:sp>
    </p:spTree>
    <p:extLst>
      <p:ext uri="{BB962C8B-B14F-4D97-AF65-F5344CB8AC3E}">
        <p14:creationId xmlns:p14="http://schemas.microsoft.com/office/powerpoint/2010/main" val="349432199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7.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0.xml"/><Relationship Id="rId5" Type="http://schemas.openxmlformats.org/officeDocument/2006/relationships/image" Target="../media/image30.png"/><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3" Type="http://schemas.openxmlformats.org/officeDocument/2006/relationships/hyperlink" Target="https://www.nps.org.au/medicine-finder" TargetMode="External"/><Relationship Id="rId2" Type="http://schemas.openxmlformats.org/officeDocument/2006/relationships/notesSlide" Target="../notesSlides/notesSlide51.xml"/><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hyperlink" Target="https://www.drugs.com/professionals.html" TargetMode="External"/><Relationship Id="rId2" Type="http://schemas.openxmlformats.org/officeDocument/2006/relationships/notesSlide" Target="../notesSlides/notesSlide54.xml"/><Relationship Id="rId1" Type="http://schemas.openxmlformats.org/officeDocument/2006/relationships/slideLayout" Target="../slideLayouts/slideLayout27.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27.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7.xml"/><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8.xml"/><Relationship Id="rId1" Type="http://schemas.openxmlformats.org/officeDocument/2006/relationships/slideLayout" Target="../slideLayouts/slideLayout27.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0.xml"/><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2.xml"/><Relationship Id="rId1" Type="http://schemas.openxmlformats.org/officeDocument/2006/relationships/slideLayout" Target="../slideLayouts/slideLayout27.xml"/><Relationship Id="rId4" Type="http://schemas.openxmlformats.org/officeDocument/2006/relationships/hyperlink" Target="https://doi.org/10.18773/austprescr.2014.018"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3.xml"/><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4.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6.xml"/><Relationship Id="rId1" Type="http://schemas.openxmlformats.org/officeDocument/2006/relationships/slideLayout" Target="../slideLayouts/slideLayout17.xml"/><Relationship Id="rId4" Type="http://schemas.openxmlformats.org/officeDocument/2006/relationships/hyperlink" Target="https://mothertobaby.org/fact-sheets/"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7.xml"/><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8.xml"/><Relationship Id="rId1" Type="http://schemas.openxmlformats.org/officeDocument/2006/relationships/slideLayout" Target="../slideLayouts/slideLayout26.xml"/><Relationship Id="rId4" Type="http://schemas.openxmlformats.org/officeDocument/2006/relationships/image" Target="../media/image47.png"/></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7.xml"/></Relationships>
</file>

<file path=ppt/slides/_rels/slide75.xml.rels><?xml version="1.0" encoding="UTF-8" standalone="yes"?>
<Relationships xmlns="http://schemas.openxmlformats.org/package/2006/relationships"><Relationship Id="rId3" Type="http://schemas.openxmlformats.org/officeDocument/2006/relationships/hyperlink" Target="https://pubmed.ncbi.nlm.nih.gov/" TargetMode="External"/><Relationship Id="rId2" Type="http://schemas.openxmlformats.org/officeDocument/2006/relationships/notesSlide" Target="../notesSlides/notesSlide74.xml"/><Relationship Id="rId1" Type="http://schemas.openxmlformats.org/officeDocument/2006/relationships/slideLayout" Target="../slideLayouts/slideLayout29.xml"/><Relationship Id="rId4" Type="http://schemas.openxmlformats.org/officeDocument/2006/relationships/image" Target="../media/image49.png"/></Relationships>
</file>

<file path=ppt/slides/_rels/slide7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5.xml"/><Relationship Id="rId1" Type="http://schemas.openxmlformats.org/officeDocument/2006/relationships/slideLayout" Target="../slideLayouts/slideLayout28.xml"/></Relationships>
</file>

<file path=ppt/slides/_rels/slide7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7.xml"/><Relationship Id="rId1" Type="http://schemas.openxmlformats.org/officeDocument/2006/relationships/slideLayout" Target="../slideLayouts/slideLayout20.xml"/><Relationship Id="rId4" Type="http://schemas.openxmlformats.org/officeDocument/2006/relationships/image" Target="../media/image52.png"/></Relationships>
</file>

<file path=ppt/slides/_rels/slide7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8.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9.xml"/><Relationship Id="rId1" Type="http://schemas.openxmlformats.org/officeDocument/2006/relationships/slideLayout" Target="../slideLayouts/slideLayout20.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8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0.xml"/><Relationship Id="rId1" Type="http://schemas.openxmlformats.org/officeDocument/2006/relationships/slideLayout" Target="../slideLayouts/slideLayout25.xml"/><Relationship Id="rId4" Type="http://schemas.openxmlformats.org/officeDocument/2006/relationships/hyperlink" Target="https://scholar.google.com.au/"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1.xml"/><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2.xml"/><Relationship Id="rId1" Type="http://schemas.openxmlformats.org/officeDocument/2006/relationships/slideLayout" Target="../slideLayouts/slideLayout20.xml"/></Relationships>
</file>

<file path=ppt/slides/_rels/slide8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3.xml"/><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4.xml"/><Relationship Id="rId1" Type="http://schemas.openxmlformats.org/officeDocument/2006/relationships/slideLayout" Target="../slideLayouts/slideLayout2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7.xml"/></Relationships>
</file>

<file path=ppt/slides/_rels/slide8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7.xml"/></Relationships>
</file>

<file path=ppt/slides/_rels/slide9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D1203-B8E9-E0D7-988E-BB220E7CC0D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76327B-05E9-14FA-ECEF-859E57181134}"/>
              </a:ext>
            </a:extLst>
          </p:cNvPr>
          <p:cNvSpPr>
            <a:spLocks noGrp="1"/>
          </p:cNvSpPr>
          <p:nvPr>
            <p:ph type="body" sz="quarter" idx="16"/>
          </p:nvPr>
        </p:nvSpPr>
        <p:spPr>
          <a:xfrm>
            <a:off x="599357" y="5432417"/>
            <a:ext cx="4539500" cy="495918"/>
          </a:xfrm>
        </p:spPr>
        <p:txBody>
          <a:bodyPr/>
          <a:lstStyle/>
          <a:p>
            <a:r>
              <a:rPr lang="en-AU" sz="1800" dirty="0">
                <a:latin typeface="Roboto Black" panose="02000000000000000000" pitchFamily="2" charset="0"/>
                <a:ea typeface="Roboto Black" panose="02000000000000000000" pitchFamily="2" charset="0"/>
              </a:rPr>
              <a:t>Ken Wojcikowski (PhD; Pharmacology and Toxicology, UQ School of Medicine)</a:t>
            </a:r>
          </a:p>
        </p:txBody>
      </p:sp>
      <p:sp>
        <p:nvSpPr>
          <p:cNvPr id="3" name="Text Placeholder 2">
            <a:extLst>
              <a:ext uri="{FF2B5EF4-FFF2-40B4-BE49-F238E27FC236}">
                <a16:creationId xmlns:a16="http://schemas.microsoft.com/office/drawing/2014/main" id="{125B9BE8-5286-B6FF-ED8B-B1AE2790C32F}"/>
              </a:ext>
            </a:extLst>
          </p:cNvPr>
          <p:cNvSpPr>
            <a:spLocks noGrp="1"/>
          </p:cNvSpPr>
          <p:nvPr>
            <p:ph type="body" sz="quarter" idx="17"/>
          </p:nvPr>
        </p:nvSpPr>
        <p:spPr>
          <a:xfrm>
            <a:off x="599357" y="3429000"/>
            <a:ext cx="6545663" cy="573088"/>
          </a:xfrm>
        </p:spPr>
        <p:txBody>
          <a:bodyPr/>
          <a:lstStyle/>
          <a:p>
            <a:r>
              <a:rPr lang="en-AU" dirty="0"/>
              <a:t>Part 1:</a:t>
            </a:r>
          </a:p>
          <a:p>
            <a:r>
              <a:rPr lang="en-AU" dirty="0"/>
              <a:t>Introduction to the Unit</a:t>
            </a:r>
          </a:p>
        </p:txBody>
      </p:sp>
      <p:sp>
        <p:nvSpPr>
          <p:cNvPr id="4" name="Text Placeholder 2">
            <a:extLst>
              <a:ext uri="{FF2B5EF4-FFF2-40B4-BE49-F238E27FC236}">
                <a16:creationId xmlns:a16="http://schemas.microsoft.com/office/drawing/2014/main" id="{BD9A3BF9-9859-94CB-9A0E-3692F3B91767}"/>
              </a:ext>
            </a:extLst>
          </p:cNvPr>
          <p:cNvSpPr>
            <a:spLocks noGrp="1"/>
          </p:cNvSpPr>
          <p:nvPr>
            <p:ph type="body" sz="quarter" idx="17"/>
          </p:nvPr>
        </p:nvSpPr>
        <p:spPr>
          <a:xfrm>
            <a:off x="599357" y="1688589"/>
            <a:ext cx="7224609" cy="573088"/>
          </a:xfrm>
        </p:spPr>
        <p:txBody>
          <a:bodyPr/>
          <a:lstStyle/>
          <a:p>
            <a:r>
              <a:rPr lang="en-AU" sz="4400" dirty="0"/>
              <a:t>Introductory Pharmacology Week 1 Tutorial</a:t>
            </a:r>
          </a:p>
        </p:txBody>
      </p:sp>
    </p:spTree>
    <p:extLst>
      <p:ext uri="{BB962C8B-B14F-4D97-AF65-F5344CB8AC3E}">
        <p14:creationId xmlns:p14="http://schemas.microsoft.com/office/powerpoint/2010/main" val="2649912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3249286" y="2851503"/>
            <a:ext cx="5627175" cy="1154992"/>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Introduction to the Unit developer and the unit</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325864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a:xfrm>
            <a:off x="651984" y="2652681"/>
            <a:ext cx="7551302" cy="573088"/>
          </a:xfrm>
        </p:spPr>
        <p:txBody>
          <a:bodyPr/>
          <a:lstStyle/>
          <a:p>
            <a:pPr marL="571500" indent="-571500">
              <a:buFont typeface="Arial" panose="020B0604020202020204" pitchFamily="34" charset="0"/>
              <a:buChar char="•"/>
            </a:pPr>
            <a:r>
              <a:rPr lang="en-AU" sz="3200" dirty="0"/>
              <a:t>Masters in Clinical Pharmacology</a:t>
            </a:r>
          </a:p>
          <a:p>
            <a:pPr marL="571500" indent="-571500">
              <a:buFont typeface="Arial" panose="020B0604020202020204" pitchFamily="34" charset="0"/>
              <a:buChar char="•"/>
            </a:pPr>
            <a:r>
              <a:rPr lang="en-AU" sz="3200" dirty="0"/>
              <a:t>PhD in Pharmacology / Toxicology (UQ School of Medicine</a:t>
            </a:r>
          </a:p>
          <a:p>
            <a:pPr marL="571500" indent="-571500">
              <a:buFont typeface="Arial" panose="020B0604020202020204" pitchFamily="34" charset="0"/>
              <a:buChar char="•"/>
            </a:pPr>
            <a:r>
              <a:rPr lang="en-AU" sz="3200" dirty="0"/>
              <a:t>25 years teaching clinical and biochemical units </a:t>
            </a:r>
          </a:p>
          <a:p>
            <a:pPr marL="571500" indent="-571500">
              <a:buFont typeface="Arial" panose="020B0604020202020204" pitchFamily="34" charset="0"/>
              <a:buChar char="•"/>
            </a:pPr>
            <a:r>
              <a:rPr lang="en-AU" sz="3200" dirty="0"/>
              <a:t>SCU and National                     teaching awards</a:t>
            </a:r>
          </a:p>
        </p:txBody>
      </p:sp>
      <p:sp>
        <p:nvSpPr>
          <p:cNvPr id="4"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a:xfrm>
            <a:off x="599357" y="1688589"/>
            <a:ext cx="8689368" cy="573088"/>
          </a:xfrm>
        </p:spPr>
        <p:txBody>
          <a:bodyPr/>
          <a:lstStyle/>
          <a:p>
            <a:r>
              <a:rPr lang="en-AU" sz="4400" dirty="0"/>
              <a:t>Unit Developer: Ken Wojcikowski</a:t>
            </a:r>
          </a:p>
        </p:txBody>
      </p:sp>
    </p:spTree>
    <p:extLst>
      <p:ext uri="{BB962C8B-B14F-4D97-AF65-F5344CB8AC3E}">
        <p14:creationId xmlns:p14="http://schemas.microsoft.com/office/powerpoint/2010/main" val="731977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9A17-FD93-4FE0-B406-6EB335665829}"/>
              </a:ext>
            </a:extLst>
          </p:cNvPr>
          <p:cNvSpPr>
            <a:spLocks noGrp="1"/>
          </p:cNvSpPr>
          <p:nvPr>
            <p:ph type="ctrTitle"/>
          </p:nvPr>
        </p:nvSpPr>
        <p:spPr/>
        <p:txBody>
          <a:bodyPr/>
          <a:lstStyle/>
          <a:p>
            <a:endParaRPr lang="en-AU"/>
          </a:p>
        </p:txBody>
      </p:sp>
      <p:sp>
        <p:nvSpPr>
          <p:cNvPr id="3" name="Subtitle 2">
            <a:extLst>
              <a:ext uri="{FF2B5EF4-FFF2-40B4-BE49-F238E27FC236}">
                <a16:creationId xmlns:a16="http://schemas.microsoft.com/office/drawing/2014/main" id="{6E7B1FB1-44E9-40BE-8F33-3A2BF68F0B31}"/>
              </a:ext>
            </a:extLst>
          </p:cNvPr>
          <p:cNvSpPr>
            <a:spLocks noGrp="1"/>
          </p:cNvSpPr>
          <p:nvPr>
            <p:ph type="subTitle" idx="1"/>
          </p:nvPr>
        </p:nvSpPr>
        <p:spPr/>
        <p:txBody>
          <a:bodyPr/>
          <a:lstStyle/>
          <a:p>
            <a:endParaRPr lang="en-AU"/>
          </a:p>
        </p:txBody>
      </p:sp>
      <p:pic>
        <p:nvPicPr>
          <p:cNvPr id="5" name="Picture 4">
            <a:extLst>
              <a:ext uri="{FF2B5EF4-FFF2-40B4-BE49-F238E27FC236}">
                <a16:creationId xmlns:a16="http://schemas.microsoft.com/office/drawing/2014/main" id="{6053BD8B-3212-4B5F-BE7E-B34D8C476B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43299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57C504-E1C6-A03D-883A-77433E6283E9}"/>
              </a:ext>
            </a:extLst>
          </p:cNvPr>
          <p:cNvSpPr>
            <a:spLocks noGrp="1"/>
          </p:cNvSpPr>
          <p:nvPr>
            <p:ph type="body" sz="quarter" idx="17"/>
          </p:nvPr>
        </p:nvSpPr>
        <p:spPr>
          <a:xfrm>
            <a:off x="704031" y="1280779"/>
            <a:ext cx="7703186" cy="573088"/>
          </a:xfrm>
        </p:spPr>
        <p:txBody>
          <a:bodyPr>
            <a:noAutofit/>
          </a:bodyPr>
          <a:lstStyle/>
          <a:p>
            <a:r>
              <a:rPr lang="en-AU" sz="4000" dirty="0"/>
              <a:t>PHAR 2001 Student satisfaction: What to expect </a:t>
            </a:r>
          </a:p>
        </p:txBody>
      </p:sp>
      <p:sp>
        <p:nvSpPr>
          <p:cNvPr id="3" name="Text Placeholder 2">
            <a:extLst>
              <a:ext uri="{FF2B5EF4-FFF2-40B4-BE49-F238E27FC236}">
                <a16:creationId xmlns:a16="http://schemas.microsoft.com/office/drawing/2014/main" id="{B230B5D0-D30A-165A-4DC8-3EE55D4CAA74}"/>
              </a:ext>
            </a:extLst>
          </p:cNvPr>
          <p:cNvSpPr>
            <a:spLocks noGrp="1"/>
          </p:cNvSpPr>
          <p:nvPr>
            <p:ph type="body" sz="quarter" idx="20"/>
          </p:nvPr>
        </p:nvSpPr>
        <p:spPr>
          <a:xfrm>
            <a:off x="704030" y="2785582"/>
            <a:ext cx="7966323" cy="3740208"/>
          </a:xfrm>
        </p:spPr>
        <p:txBody>
          <a:bodyPr>
            <a:noAutofit/>
          </a:bodyPr>
          <a:lstStyle/>
          <a:p>
            <a:pPr>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In the past 8 years, since Ken Wojcikowski has been delivering this unit, the mean student satisfaction with the unit has been 4.56 out of 5</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a:p>
            <a:pPr>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Recent Improvements:</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Cut the length of the case study in half</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Decreased the Tutorial questions from 5 to 2</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The only quiz is on Module 1</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812732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57C504-E1C6-A03D-883A-77433E6283E9}"/>
              </a:ext>
            </a:extLst>
          </p:cNvPr>
          <p:cNvSpPr>
            <a:spLocks noGrp="1"/>
          </p:cNvSpPr>
          <p:nvPr>
            <p:ph type="body" sz="quarter" idx="17"/>
          </p:nvPr>
        </p:nvSpPr>
        <p:spPr>
          <a:xfrm>
            <a:off x="704031" y="1280779"/>
            <a:ext cx="7176913" cy="573088"/>
          </a:xfrm>
        </p:spPr>
        <p:txBody>
          <a:bodyPr>
            <a:noAutofit/>
          </a:bodyPr>
          <a:lstStyle/>
          <a:p>
            <a:r>
              <a:rPr lang="en-AU" sz="4000" dirty="0"/>
              <a:t>PHAR 2001 Unit performance: What to expect </a:t>
            </a:r>
          </a:p>
        </p:txBody>
      </p:sp>
      <p:sp>
        <p:nvSpPr>
          <p:cNvPr id="3" name="Text Placeholder 2">
            <a:extLst>
              <a:ext uri="{FF2B5EF4-FFF2-40B4-BE49-F238E27FC236}">
                <a16:creationId xmlns:a16="http://schemas.microsoft.com/office/drawing/2014/main" id="{B230B5D0-D30A-165A-4DC8-3EE55D4CAA74}"/>
              </a:ext>
            </a:extLst>
          </p:cNvPr>
          <p:cNvSpPr>
            <a:spLocks noGrp="1"/>
          </p:cNvSpPr>
          <p:nvPr>
            <p:ph type="body" sz="quarter" idx="20"/>
          </p:nvPr>
        </p:nvSpPr>
        <p:spPr>
          <a:xfrm>
            <a:off x="704030" y="2785582"/>
            <a:ext cx="7966323" cy="3740208"/>
          </a:xfrm>
        </p:spPr>
        <p:txBody>
          <a:bodyPr>
            <a:noAutofit/>
          </a:bodyPr>
          <a:lstStyle/>
          <a:p>
            <a:pPr>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Generally, over 90% of students pass the first time</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a:p>
            <a:pPr>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Most important: Attend tutorials weeks 2, 3, 4 and 5 and engage in Module 1</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139280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2867679" y="2878450"/>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Introduction to the PHAR2001 website</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4096770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349B8D-8822-4BFE-9475-01B34FEC3079}"/>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B42980A5-2120-4899-9623-8548A38E0F89}"/>
              </a:ext>
            </a:extLst>
          </p:cNvPr>
          <p:cNvSpPr>
            <a:spLocks noGrp="1"/>
          </p:cNvSpPr>
          <p:nvPr>
            <p:ph type="sldNum" sz="quarter" idx="12"/>
          </p:nvPr>
        </p:nvSpPr>
        <p:spPr/>
        <p:txBody>
          <a:bodyPr/>
          <a:lstStyle/>
          <a:p>
            <a:fld id="{4C46084E-4AD2-49B2-9297-67B05F4C2641}" type="slidenum">
              <a:rPr lang="en-AU" smtClean="0"/>
              <a:t>8</a:t>
            </a:fld>
            <a:endParaRPr lang="en-AU"/>
          </a:p>
        </p:txBody>
      </p:sp>
      <p:sp>
        <p:nvSpPr>
          <p:cNvPr id="5" name="Rectangle 4">
            <a:extLst>
              <a:ext uri="{FF2B5EF4-FFF2-40B4-BE49-F238E27FC236}">
                <a16:creationId xmlns:a16="http://schemas.microsoft.com/office/drawing/2014/main" id="{66E1D6BB-2B86-20AE-AF51-F43CE1E591D9}"/>
              </a:ext>
            </a:extLst>
          </p:cNvPr>
          <p:cNvSpPr/>
          <p:nvPr/>
        </p:nvSpPr>
        <p:spPr>
          <a:xfrm>
            <a:off x="1036320" y="30166"/>
            <a:ext cx="457200" cy="366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screenshot of a computer&#10;&#10;AI-generated content may be incorrect.">
            <a:extLst>
              <a:ext uri="{FF2B5EF4-FFF2-40B4-BE49-F238E27FC236}">
                <a16:creationId xmlns:a16="http://schemas.microsoft.com/office/drawing/2014/main" id="{4CE7668F-A729-B519-9370-B1ACAB0F29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083"/>
            <a:ext cx="13103385" cy="6827834"/>
          </a:xfrm>
          <a:prstGeom prst="rect">
            <a:avLst/>
          </a:prstGeom>
        </p:spPr>
      </p:pic>
      <p:sp>
        <p:nvSpPr>
          <p:cNvPr id="6" name="Rectangle 5">
            <a:extLst>
              <a:ext uri="{FF2B5EF4-FFF2-40B4-BE49-F238E27FC236}">
                <a16:creationId xmlns:a16="http://schemas.microsoft.com/office/drawing/2014/main" id="{869FBD84-483E-4BB0-5031-B58A0012FCB1}"/>
              </a:ext>
            </a:extLst>
          </p:cNvPr>
          <p:cNvSpPr/>
          <p:nvPr/>
        </p:nvSpPr>
        <p:spPr>
          <a:xfrm>
            <a:off x="1165197" y="45249"/>
            <a:ext cx="199445" cy="366074"/>
          </a:xfrm>
          <a:prstGeom prst="rect">
            <a:avLst/>
          </a:prstGeom>
          <a:solidFill>
            <a:srgbClr val="2E2E2E"/>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029960FF-50AC-2877-8C1A-458D77691F36}"/>
              </a:ext>
            </a:extLst>
          </p:cNvPr>
          <p:cNvSpPr/>
          <p:nvPr/>
        </p:nvSpPr>
        <p:spPr>
          <a:xfrm>
            <a:off x="1311301" y="2463770"/>
            <a:ext cx="199445" cy="366074"/>
          </a:xfrm>
          <a:prstGeom prst="rect">
            <a:avLst/>
          </a:prstGeom>
          <a:solidFill>
            <a:srgbClr val="05090B"/>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01579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878AF6-CC3D-4C00-B08B-6819A6B57425}"/>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346DB710-9E4F-43AE-BA94-ABEF4B31CDCC}"/>
              </a:ext>
            </a:extLst>
          </p:cNvPr>
          <p:cNvSpPr>
            <a:spLocks noGrp="1"/>
          </p:cNvSpPr>
          <p:nvPr>
            <p:ph type="sldNum" sz="quarter" idx="12"/>
          </p:nvPr>
        </p:nvSpPr>
        <p:spPr/>
        <p:txBody>
          <a:bodyPr/>
          <a:lstStyle/>
          <a:p>
            <a:fld id="{4C46084E-4AD2-49B2-9297-67B05F4C2641}" type="slidenum">
              <a:rPr lang="en-AU" smtClean="0"/>
              <a:t>9</a:t>
            </a:fld>
            <a:endParaRPr lang="en-AU"/>
          </a:p>
        </p:txBody>
      </p:sp>
      <p:pic>
        <p:nvPicPr>
          <p:cNvPr id="4" name="Picture 3">
            <a:extLst>
              <a:ext uri="{FF2B5EF4-FFF2-40B4-BE49-F238E27FC236}">
                <a16:creationId xmlns:a16="http://schemas.microsoft.com/office/drawing/2014/main" id="{59CD3084-0E7E-4B37-8B0E-035EEF1D1520}"/>
              </a:ext>
            </a:extLst>
          </p:cNvPr>
          <p:cNvPicPr>
            <a:picLocks noChangeAspect="1"/>
          </p:cNvPicPr>
          <p:nvPr/>
        </p:nvPicPr>
        <p:blipFill>
          <a:blip r:embed="rId3"/>
          <a:srcRect l="14042" t="6153"/>
          <a:stretch>
            <a:fillRect/>
          </a:stretch>
        </p:blipFill>
        <p:spPr>
          <a:xfrm>
            <a:off x="0" y="-622852"/>
            <a:ext cx="13628174" cy="7487430"/>
          </a:xfrm>
          <a:prstGeom prst="rect">
            <a:avLst/>
          </a:prstGeom>
        </p:spPr>
      </p:pic>
      <p:sp>
        <p:nvSpPr>
          <p:cNvPr id="5" name="Rectangle 4">
            <a:extLst>
              <a:ext uri="{FF2B5EF4-FFF2-40B4-BE49-F238E27FC236}">
                <a16:creationId xmlns:a16="http://schemas.microsoft.com/office/drawing/2014/main" id="{1DDEB619-8FB7-42C2-BBF8-57C06FACDEFE}"/>
              </a:ext>
            </a:extLst>
          </p:cNvPr>
          <p:cNvSpPr/>
          <p:nvPr/>
        </p:nvSpPr>
        <p:spPr>
          <a:xfrm>
            <a:off x="130629" y="6578"/>
            <a:ext cx="1219200" cy="312736"/>
          </a:xfrm>
          <a:prstGeom prst="rect">
            <a:avLst/>
          </a:prstGeom>
          <a:solidFill>
            <a:srgbClr val="EAD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93A69110-3681-4514-B113-A4A4A558A009}"/>
              </a:ext>
            </a:extLst>
          </p:cNvPr>
          <p:cNvSpPr/>
          <p:nvPr/>
        </p:nvSpPr>
        <p:spPr>
          <a:xfrm>
            <a:off x="130629" y="827314"/>
            <a:ext cx="1219200" cy="174172"/>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78195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2867679" y="2710281"/>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The unit content:</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Your </a:t>
            </a: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‘Interactive Pharmacology Textbook’</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3921838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B609E-6256-EA74-02C5-D5F9A9408CD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CE728A-BA2A-B14D-A122-87080082C456}"/>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ACEEF9F4-8C94-2B02-F416-70AA7B06022E}"/>
              </a:ext>
            </a:extLst>
          </p:cNvPr>
          <p:cNvSpPr>
            <a:spLocks noGrp="1"/>
          </p:cNvSpPr>
          <p:nvPr>
            <p:ph type="sldNum" sz="quarter" idx="12"/>
          </p:nvPr>
        </p:nvSpPr>
        <p:spPr/>
        <p:txBody>
          <a:bodyPr/>
          <a:lstStyle/>
          <a:p>
            <a:fld id="{4C46084E-4AD2-49B2-9297-67B05F4C2641}" type="slidenum">
              <a:rPr lang="en-AU" smtClean="0"/>
              <a:t>11</a:t>
            </a:fld>
            <a:endParaRPr lang="en-AU"/>
          </a:p>
        </p:txBody>
      </p:sp>
      <p:sp>
        <p:nvSpPr>
          <p:cNvPr id="5" name="Rectangle 4">
            <a:extLst>
              <a:ext uri="{FF2B5EF4-FFF2-40B4-BE49-F238E27FC236}">
                <a16:creationId xmlns:a16="http://schemas.microsoft.com/office/drawing/2014/main" id="{077B7A84-64CB-5955-92FF-04181FE34347}"/>
              </a:ext>
            </a:extLst>
          </p:cNvPr>
          <p:cNvSpPr/>
          <p:nvPr/>
        </p:nvSpPr>
        <p:spPr>
          <a:xfrm>
            <a:off x="1036320" y="30166"/>
            <a:ext cx="457200" cy="366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screenshot of a computer&#10;&#10;AI-generated content may be incorrect.">
            <a:extLst>
              <a:ext uri="{FF2B5EF4-FFF2-40B4-BE49-F238E27FC236}">
                <a16:creationId xmlns:a16="http://schemas.microsoft.com/office/drawing/2014/main" id="{38064F8D-1793-ADBD-1596-CE5875CA3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083"/>
            <a:ext cx="13103385" cy="6827834"/>
          </a:xfrm>
          <a:prstGeom prst="rect">
            <a:avLst/>
          </a:prstGeom>
        </p:spPr>
      </p:pic>
      <p:sp>
        <p:nvSpPr>
          <p:cNvPr id="6" name="Rectangle 5">
            <a:extLst>
              <a:ext uri="{FF2B5EF4-FFF2-40B4-BE49-F238E27FC236}">
                <a16:creationId xmlns:a16="http://schemas.microsoft.com/office/drawing/2014/main" id="{7A3E07D4-B522-105D-81B9-FD2D9593F4C6}"/>
              </a:ext>
            </a:extLst>
          </p:cNvPr>
          <p:cNvSpPr/>
          <p:nvPr/>
        </p:nvSpPr>
        <p:spPr>
          <a:xfrm>
            <a:off x="1165197" y="45249"/>
            <a:ext cx="199445" cy="366074"/>
          </a:xfrm>
          <a:prstGeom prst="rect">
            <a:avLst/>
          </a:prstGeom>
          <a:solidFill>
            <a:srgbClr val="2E2E2E"/>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C77B1125-A1E5-899C-5F74-1DEB9E5CF1EA}"/>
              </a:ext>
            </a:extLst>
          </p:cNvPr>
          <p:cNvSpPr/>
          <p:nvPr/>
        </p:nvSpPr>
        <p:spPr>
          <a:xfrm>
            <a:off x="1311301" y="2463770"/>
            <a:ext cx="199445" cy="366074"/>
          </a:xfrm>
          <a:prstGeom prst="rect">
            <a:avLst/>
          </a:prstGeom>
          <a:solidFill>
            <a:srgbClr val="05090B"/>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044873CE-1F1E-B522-0406-2E4921683985}"/>
              </a:ext>
            </a:extLst>
          </p:cNvPr>
          <p:cNvSpPr/>
          <p:nvPr/>
        </p:nvSpPr>
        <p:spPr>
          <a:xfrm>
            <a:off x="25840" y="396240"/>
            <a:ext cx="729534" cy="6165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Arrow Connector 6">
            <a:extLst>
              <a:ext uri="{FF2B5EF4-FFF2-40B4-BE49-F238E27FC236}">
                <a16:creationId xmlns:a16="http://schemas.microsoft.com/office/drawing/2014/main" id="{4526AFB9-C15F-A650-7F51-AD80D3144265}"/>
              </a:ext>
            </a:extLst>
          </p:cNvPr>
          <p:cNvCxnSpPr>
            <a:cxnSpLocks/>
          </p:cNvCxnSpPr>
          <p:nvPr/>
        </p:nvCxnSpPr>
        <p:spPr>
          <a:xfrm flipH="1" flipV="1">
            <a:off x="1036320" y="874643"/>
            <a:ext cx="3318592" cy="855481"/>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218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349B8D-8822-4BFE-9475-01B34FEC3079}"/>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B42980A5-2120-4899-9623-8548A38E0F89}"/>
              </a:ext>
            </a:extLst>
          </p:cNvPr>
          <p:cNvSpPr>
            <a:spLocks noGrp="1"/>
          </p:cNvSpPr>
          <p:nvPr>
            <p:ph type="sldNum" sz="quarter" idx="12"/>
          </p:nvPr>
        </p:nvSpPr>
        <p:spPr/>
        <p:txBody>
          <a:bodyPr/>
          <a:lstStyle/>
          <a:p>
            <a:fld id="{4C46084E-4AD2-49B2-9297-67B05F4C2641}" type="slidenum">
              <a:rPr lang="en-AU" smtClean="0"/>
              <a:t>12</a:t>
            </a:fld>
            <a:endParaRPr lang="en-AU"/>
          </a:p>
        </p:txBody>
      </p:sp>
      <p:sp>
        <p:nvSpPr>
          <p:cNvPr id="4" name="Rectangle 3">
            <a:extLst>
              <a:ext uri="{FF2B5EF4-FFF2-40B4-BE49-F238E27FC236}">
                <a16:creationId xmlns:a16="http://schemas.microsoft.com/office/drawing/2014/main" id="{A2A213DD-0474-4EEC-89F4-DA2E977CD67F}"/>
              </a:ext>
            </a:extLst>
          </p:cNvPr>
          <p:cNvSpPr/>
          <p:nvPr/>
        </p:nvSpPr>
        <p:spPr>
          <a:xfrm>
            <a:off x="0" y="6578"/>
            <a:ext cx="1233714" cy="225651"/>
          </a:xfrm>
          <a:prstGeom prst="rect">
            <a:avLst/>
          </a:prstGeom>
          <a:solidFill>
            <a:srgbClr val="EAD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9FA0FAA3-B9C7-4FCD-85FA-57F4D09B242F}"/>
              </a:ext>
            </a:extLst>
          </p:cNvPr>
          <p:cNvSpPr/>
          <p:nvPr/>
        </p:nvSpPr>
        <p:spPr>
          <a:xfrm>
            <a:off x="667657" y="870857"/>
            <a:ext cx="566057" cy="22565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E4D63E8F-6AB4-461F-8EC1-11520D58D366}"/>
              </a:ext>
            </a:extLst>
          </p:cNvPr>
          <p:cNvSpPr/>
          <p:nvPr/>
        </p:nvSpPr>
        <p:spPr>
          <a:xfrm>
            <a:off x="4985708" y="985327"/>
            <a:ext cx="2546579" cy="6165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BC7CE787-AAEF-30CF-0C53-7A1CDF2D4BFD}"/>
              </a:ext>
            </a:extLst>
          </p:cNvPr>
          <p:cNvSpPr txBox="1"/>
          <p:nvPr/>
        </p:nvSpPr>
        <p:spPr>
          <a:xfrm>
            <a:off x="3366052" y="3115125"/>
            <a:ext cx="6917634" cy="369332"/>
          </a:xfrm>
          <a:prstGeom prst="rect">
            <a:avLst/>
          </a:prstGeom>
          <a:noFill/>
        </p:spPr>
        <p:txBody>
          <a:bodyPr wrap="square">
            <a:spAutoFit/>
          </a:bodyPr>
          <a:lstStyle/>
          <a:p>
            <a:r>
              <a:rPr kumimoji="0" lang="en-AU" altLang="en-US" sz="18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This is the unit orientation</a:t>
            </a:r>
            <a:endParaRPr lang="en-AU" dirty="0"/>
          </a:p>
        </p:txBody>
      </p:sp>
      <p:pic>
        <p:nvPicPr>
          <p:cNvPr id="14" name="Picture 13" descr="A screenshot of a computer&#10;&#10;AI-generated content may be incorrect.">
            <a:extLst>
              <a:ext uri="{FF2B5EF4-FFF2-40B4-BE49-F238E27FC236}">
                <a16:creationId xmlns:a16="http://schemas.microsoft.com/office/drawing/2014/main" id="{F07E7E6B-E2AE-3108-92DD-DB1FB73D0D0E}"/>
              </a:ext>
            </a:extLst>
          </p:cNvPr>
          <p:cNvPicPr>
            <a:picLocks noChangeAspect="1"/>
          </p:cNvPicPr>
          <p:nvPr/>
        </p:nvPicPr>
        <p:blipFill>
          <a:blip r:embed="rId3"/>
          <a:stretch>
            <a:fillRect/>
          </a:stretch>
        </p:blipFill>
        <p:spPr>
          <a:xfrm>
            <a:off x="-29344" y="6578"/>
            <a:ext cx="14875611" cy="6851422"/>
          </a:xfrm>
          <a:prstGeom prst="rect">
            <a:avLst/>
          </a:prstGeom>
        </p:spPr>
      </p:pic>
      <p:sp>
        <p:nvSpPr>
          <p:cNvPr id="7" name="Rectangle 6">
            <a:extLst>
              <a:ext uri="{FF2B5EF4-FFF2-40B4-BE49-F238E27FC236}">
                <a16:creationId xmlns:a16="http://schemas.microsoft.com/office/drawing/2014/main" id="{12ECC602-0ADF-4569-8345-A6A7FD6D5521}"/>
              </a:ext>
            </a:extLst>
          </p:cNvPr>
          <p:cNvSpPr/>
          <p:nvPr/>
        </p:nvSpPr>
        <p:spPr>
          <a:xfrm>
            <a:off x="0" y="4815577"/>
            <a:ext cx="14537635" cy="19058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8865AA65-7875-706C-99A5-3A288D55B104}"/>
              </a:ext>
            </a:extLst>
          </p:cNvPr>
          <p:cNvSpPr/>
          <p:nvPr/>
        </p:nvSpPr>
        <p:spPr>
          <a:xfrm>
            <a:off x="0" y="1402285"/>
            <a:ext cx="14537635" cy="103583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0FD6E01A-6BAD-9E4E-9E82-BF59972ED7FA}"/>
              </a:ext>
            </a:extLst>
          </p:cNvPr>
          <p:cNvSpPr txBox="1"/>
          <p:nvPr/>
        </p:nvSpPr>
        <p:spPr>
          <a:xfrm>
            <a:off x="2597425" y="3649164"/>
            <a:ext cx="8454887" cy="954107"/>
          </a:xfrm>
          <a:prstGeom prst="rect">
            <a:avLst/>
          </a:prstGeom>
          <a:noFill/>
          <a:ln>
            <a:solidFill>
              <a:srgbClr val="FF0000"/>
            </a:solidFill>
            <a:prstDash val="lgDashDot"/>
          </a:ln>
        </p:spPr>
        <p:txBody>
          <a:bodyPr wrap="square">
            <a:spAutoFit/>
          </a:bodyPr>
          <a:lstStyle/>
          <a:p>
            <a:r>
              <a:rPr kumimoji="0" lang="en-AU" altLang="en-US" sz="2800" b="1" i="0" u="none" strike="noStrike" kern="1200" cap="none" spc="0" normalizeH="0" baseline="0" noProof="0" dirty="0">
                <a:ln>
                  <a:noFill/>
                </a:ln>
                <a:solidFill>
                  <a:srgbClr val="FF0000"/>
                </a:solidFill>
                <a:effectLst/>
                <a:uLnTx/>
                <a:uFillTx/>
                <a:latin typeface="Roboto Black" panose="02000000000000000000" pitchFamily="2" charset="0"/>
                <a:ea typeface="Roboto Black" panose="02000000000000000000" pitchFamily="2" charset="0"/>
              </a:rPr>
              <a:t>Please be sure to engage in both portions of the unit orientation prior to starting on the modules!</a:t>
            </a:r>
            <a:endParaRPr lang="en-AU" sz="2800" dirty="0">
              <a:solidFill>
                <a:srgbClr val="FF0000"/>
              </a:solidFill>
            </a:endParaRPr>
          </a:p>
        </p:txBody>
      </p:sp>
      <p:sp>
        <p:nvSpPr>
          <p:cNvPr id="18" name="Rectangle 17">
            <a:extLst>
              <a:ext uri="{FF2B5EF4-FFF2-40B4-BE49-F238E27FC236}">
                <a16:creationId xmlns:a16="http://schemas.microsoft.com/office/drawing/2014/main" id="{BD621466-765E-7AF0-8007-7840B40980CA}"/>
              </a:ext>
            </a:extLst>
          </p:cNvPr>
          <p:cNvSpPr/>
          <p:nvPr/>
        </p:nvSpPr>
        <p:spPr>
          <a:xfrm>
            <a:off x="2464904" y="3484457"/>
            <a:ext cx="8772939" cy="122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9" name="Straight Arrow Connector 18">
            <a:extLst>
              <a:ext uri="{FF2B5EF4-FFF2-40B4-BE49-F238E27FC236}">
                <a16:creationId xmlns:a16="http://schemas.microsoft.com/office/drawing/2014/main" id="{CFC012D2-4EBD-7C2C-3DCC-297D67A71933}"/>
              </a:ext>
            </a:extLst>
          </p:cNvPr>
          <p:cNvCxnSpPr>
            <a:cxnSpLocks/>
          </p:cNvCxnSpPr>
          <p:nvPr/>
        </p:nvCxnSpPr>
        <p:spPr>
          <a:xfrm flipH="1" flipV="1">
            <a:off x="2160104" y="2254729"/>
            <a:ext cx="3578087" cy="1293184"/>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A16CB7B-19E1-8266-6CEE-856A7C98F830}"/>
              </a:ext>
            </a:extLst>
          </p:cNvPr>
          <p:cNvCxnSpPr>
            <a:cxnSpLocks/>
          </p:cNvCxnSpPr>
          <p:nvPr/>
        </p:nvCxnSpPr>
        <p:spPr>
          <a:xfrm flipH="1">
            <a:off x="2379304" y="4603271"/>
            <a:ext cx="3358887" cy="1005354"/>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485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349B8D-8822-4BFE-9475-01B34FEC3079}"/>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B42980A5-2120-4899-9623-8548A38E0F89}"/>
              </a:ext>
            </a:extLst>
          </p:cNvPr>
          <p:cNvSpPr>
            <a:spLocks noGrp="1"/>
          </p:cNvSpPr>
          <p:nvPr>
            <p:ph type="sldNum" sz="quarter" idx="12"/>
          </p:nvPr>
        </p:nvSpPr>
        <p:spPr/>
        <p:txBody>
          <a:bodyPr/>
          <a:lstStyle/>
          <a:p>
            <a:fld id="{4C46084E-4AD2-49B2-9297-67B05F4C2641}" type="slidenum">
              <a:rPr lang="en-AU" smtClean="0"/>
              <a:t>13</a:t>
            </a:fld>
            <a:endParaRPr lang="en-AU"/>
          </a:p>
        </p:txBody>
      </p:sp>
      <p:pic>
        <p:nvPicPr>
          <p:cNvPr id="5" name="Picture 4">
            <a:extLst>
              <a:ext uri="{FF2B5EF4-FFF2-40B4-BE49-F238E27FC236}">
                <a16:creationId xmlns:a16="http://schemas.microsoft.com/office/drawing/2014/main" id="{686EA113-1B9D-4291-ACCE-8DE8EB1FA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2541"/>
            <a:ext cx="12192000" cy="6272949"/>
          </a:xfrm>
          <a:prstGeom prst="rect">
            <a:avLst/>
          </a:prstGeom>
        </p:spPr>
      </p:pic>
      <p:sp>
        <p:nvSpPr>
          <p:cNvPr id="4" name="Rectangle 3">
            <a:extLst>
              <a:ext uri="{FF2B5EF4-FFF2-40B4-BE49-F238E27FC236}">
                <a16:creationId xmlns:a16="http://schemas.microsoft.com/office/drawing/2014/main" id="{8B238E3F-884C-42BF-B8A5-C61C2826F869}"/>
              </a:ext>
            </a:extLst>
          </p:cNvPr>
          <p:cNvSpPr/>
          <p:nvPr/>
        </p:nvSpPr>
        <p:spPr>
          <a:xfrm>
            <a:off x="0" y="0"/>
            <a:ext cx="12192000" cy="2960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91021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349B8D-8822-4BFE-9475-01B34FEC3079}"/>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B42980A5-2120-4899-9623-8548A38E0F89}"/>
              </a:ext>
            </a:extLst>
          </p:cNvPr>
          <p:cNvSpPr>
            <a:spLocks noGrp="1"/>
          </p:cNvSpPr>
          <p:nvPr>
            <p:ph type="sldNum" sz="quarter" idx="12"/>
          </p:nvPr>
        </p:nvSpPr>
        <p:spPr/>
        <p:txBody>
          <a:bodyPr/>
          <a:lstStyle/>
          <a:p>
            <a:fld id="{4C46084E-4AD2-49B2-9297-67B05F4C2641}" type="slidenum">
              <a:rPr lang="en-AU" smtClean="0"/>
              <a:t>14</a:t>
            </a:fld>
            <a:endParaRPr lang="en-AU"/>
          </a:p>
        </p:txBody>
      </p:sp>
      <p:sp>
        <p:nvSpPr>
          <p:cNvPr id="4" name="Rectangle 3">
            <a:extLst>
              <a:ext uri="{FF2B5EF4-FFF2-40B4-BE49-F238E27FC236}">
                <a16:creationId xmlns:a16="http://schemas.microsoft.com/office/drawing/2014/main" id="{A2A213DD-0474-4EEC-89F4-DA2E977CD67F}"/>
              </a:ext>
            </a:extLst>
          </p:cNvPr>
          <p:cNvSpPr/>
          <p:nvPr/>
        </p:nvSpPr>
        <p:spPr>
          <a:xfrm>
            <a:off x="0" y="6578"/>
            <a:ext cx="1233714" cy="225651"/>
          </a:xfrm>
          <a:prstGeom prst="rect">
            <a:avLst/>
          </a:prstGeom>
          <a:solidFill>
            <a:srgbClr val="EADF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9FA0FAA3-B9C7-4FCD-85FA-57F4D09B242F}"/>
              </a:ext>
            </a:extLst>
          </p:cNvPr>
          <p:cNvSpPr/>
          <p:nvPr/>
        </p:nvSpPr>
        <p:spPr>
          <a:xfrm>
            <a:off x="667657" y="870857"/>
            <a:ext cx="566057" cy="22565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B012CB08-EE59-41BA-BAAD-748EAE54A39B}"/>
              </a:ext>
            </a:extLst>
          </p:cNvPr>
          <p:cNvSpPr/>
          <p:nvPr/>
        </p:nvSpPr>
        <p:spPr>
          <a:xfrm>
            <a:off x="5584344" y="5264601"/>
            <a:ext cx="2645255" cy="15868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descr="A screenshot of a computer&#10;&#10;AI-generated content may be incorrect.">
            <a:extLst>
              <a:ext uri="{FF2B5EF4-FFF2-40B4-BE49-F238E27FC236}">
                <a16:creationId xmlns:a16="http://schemas.microsoft.com/office/drawing/2014/main" id="{1C98675F-752A-27B3-1A95-58377D3FDA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184244" cy="6851422"/>
          </a:xfrm>
          <a:prstGeom prst="rect">
            <a:avLst/>
          </a:prstGeom>
        </p:spPr>
      </p:pic>
      <p:sp>
        <p:nvSpPr>
          <p:cNvPr id="10" name="Rectangle 9">
            <a:extLst>
              <a:ext uri="{FF2B5EF4-FFF2-40B4-BE49-F238E27FC236}">
                <a16:creationId xmlns:a16="http://schemas.microsoft.com/office/drawing/2014/main" id="{23F8F0DF-2CE6-9A2E-992D-6875BB24C5C8}"/>
              </a:ext>
            </a:extLst>
          </p:cNvPr>
          <p:cNvSpPr/>
          <p:nvPr/>
        </p:nvSpPr>
        <p:spPr>
          <a:xfrm>
            <a:off x="950685" y="79513"/>
            <a:ext cx="235226" cy="1855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CDA53173-1BD1-F267-CCF6-16EABD9C1A99}"/>
              </a:ext>
            </a:extLst>
          </p:cNvPr>
          <p:cNvSpPr/>
          <p:nvPr/>
        </p:nvSpPr>
        <p:spPr>
          <a:xfrm>
            <a:off x="132522" y="3962400"/>
            <a:ext cx="12563061" cy="158682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25133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901C53B-89D1-420A-8C94-BE16E1007F2A}"/>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7A9CDD8C-7079-412C-A911-DD3D107F812A}"/>
              </a:ext>
            </a:extLst>
          </p:cNvPr>
          <p:cNvSpPr>
            <a:spLocks noGrp="1"/>
          </p:cNvSpPr>
          <p:nvPr>
            <p:ph type="sldNum" sz="quarter" idx="12"/>
          </p:nvPr>
        </p:nvSpPr>
        <p:spPr/>
        <p:txBody>
          <a:bodyPr/>
          <a:lstStyle/>
          <a:p>
            <a:fld id="{4C46084E-4AD2-49B2-9297-67B05F4C2641}" type="slidenum">
              <a:rPr lang="en-AU" smtClean="0"/>
              <a:t>15</a:t>
            </a:fld>
            <a:endParaRPr lang="en-AU"/>
          </a:p>
        </p:txBody>
      </p:sp>
      <p:pic>
        <p:nvPicPr>
          <p:cNvPr id="4" name="Picture 3">
            <a:extLst>
              <a:ext uri="{FF2B5EF4-FFF2-40B4-BE49-F238E27FC236}">
                <a16:creationId xmlns:a16="http://schemas.microsoft.com/office/drawing/2014/main" id="{B7D7150A-AED9-4433-8B24-0E9C5C1223D3}"/>
              </a:ext>
            </a:extLst>
          </p:cNvPr>
          <p:cNvPicPr>
            <a:picLocks noChangeAspect="1"/>
          </p:cNvPicPr>
          <p:nvPr/>
        </p:nvPicPr>
        <p:blipFill>
          <a:blip r:embed="rId3"/>
          <a:stretch>
            <a:fillRect/>
          </a:stretch>
        </p:blipFill>
        <p:spPr>
          <a:xfrm>
            <a:off x="6030" y="466179"/>
            <a:ext cx="12192000" cy="6255296"/>
          </a:xfrm>
          <a:prstGeom prst="rect">
            <a:avLst/>
          </a:prstGeom>
        </p:spPr>
      </p:pic>
      <p:sp>
        <p:nvSpPr>
          <p:cNvPr id="6" name="Rectangle 5">
            <a:extLst>
              <a:ext uri="{FF2B5EF4-FFF2-40B4-BE49-F238E27FC236}">
                <a16:creationId xmlns:a16="http://schemas.microsoft.com/office/drawing/2014/main" id="{D64C3BA5-8D75-4753-9990-E4E9820BC051}"/>
              </a:ext>
            </a:extLst>
          </p:cNvPr>
          <p:cNvSpPr/>
          <p:nvPr/>
        </p:nvSpPr>
        <p:spPr>
          <a:xfrm>
            <a:off x="2870383" y="5886"/>
            <a:ext cx="6096000" cy="590931"/>
          </a:xfrm>
          <a:prstGeom prst="rect">
            <a:avLst/>
          </a:prstGeom>
        </p:spPr>
        <p:txBody>
          <a:bodyPr>
            <a:spAutoFit/>
          </a:bodyPr>
          <a:lstStyle/>
          <a:p>
            <a:pPr lvl="0" algn="ctr">
              <a:lnSpc>
                <a:spcPct val="90000"/>
              </a:lnSpc>
              <a:spcBef>
                <a:spcPts val="1000"/>
              </a:spcBef>
              <a:defRPr/>
            </a:pPr>
            <a:r>
              <a:rPr lang="en-AU" altLang="en-US" sz="3600" b="1" dirty="0">
                <a:solidFill>
                  <a:srgbClr val="06678A"/>
                </a:solidFill>
                <a:latin typeface="Roboto Black" panose="02000000000000000000" pitchFamily="2" charset="0"/>
                <a:ea typeface="Roboto Black" panose="02000000000000000000" pitchFamily="2" charset="0"/>
              </a:rPr>
              <a:t>Module 1</a:t>
            </a:r>
            <a:endParaRPr lang="en-AU" sz="3600" b="1" dirty="0">
              <a:solidFill>
                <a:srgbClr val="007298"/>
              </a:solidFill>
              <a:latin typeface="Roboto Black" charset="0"/>
              <a:ea typeface="Roboto Black" charset="0"/>
            </a:endParaRPr>
          </a:p>
        </p:txBody>
      </p:sp>
    </p:spTree>
    <p:extLst>
      <p:ext uri="{BB962C8B-B14F-4D97-AF65-F5344CB8AC3E}">
        <p14:creationId xmlns:p14="http://schemas.microsoft.com/office/powerpoint/2010/main" val="1235235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14536-DA8E-A405-0687-AB8F14750A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4C2E3B9-0639-4149-8A79-3E49F3423F2C}"/>
              </a:ext>
            </a:extLst>
          </p:cNvPr>
          <p:cNvSpPr>
            <a:spLocks noGrp="1"/>
          </p:cNvSpPr>
          <p:nvPr>
            <p:ph type="body" sz="quarter" idx="16"/>
          </p:nvPr>
        </p:nvSpPr>
        <p:spPr>
          <a:xfrm>
            <a:off x="599357" y="5432417"/>
            <a:ext cx="4539500" cy="495918"/>
          </a:xfrm>
        </p:spPr>
        <p:txBody>
          <a:bodyPr/>
          <a:lstStyle/>
          <a:p>
            <a:r>
              <a:rPr lang="en-AU" sz="1800" dirty="0">
                <a:latin typeface="Roboto Black" panose="02000000000000000000" pitchFamily="2" charset="0"/>
                <a:ea typeface="Roboto Black" panose="02000000000000000000" pitchFamily="2" charset="0"/>
              </a:rPr>
              <a:t>Ken Wojcikowski (PhD; Pharmacology and Toxicology, UQ School of Medicine)</a:t>
            </a:r>
          </a:p>
        </p:txBody>
      </p:sp>
      <p:sp>
        <p:nvSpPr>
          <p:cNvPr id="3" name="Text Placeholder 2">
            <a:extLst>
              <a:ext uri="{FF2B5EF4-FFF2-40B4-BE49-F238E27FC236}">
                <a16:creationId xmlns:a16="http://schemas.microsoft.com/office/drawing/2014/main" id="{E82C844F-80AC-324A-B460-364EABADBDA4}"/>
              </a:ext>
            </a:extLst>
          </p:cNvPr>
          <p:cNvSpPr>
            <a:spLocks noGrp="1"/>
          </p:cNvSpPr>
          <p:nvPr>
            <p:ph type="body" sz="quarter" idx="17"/>
          </p:nvPr>
        </p:nvSpPr>
        <p:spPr>
          <a:xfrm>
            <a:off x="599357" y="3560503"/>
            <a:ext cx="6545663" cy="573088"/>
          </a:xfrm>
        </p:spPr>
        <p:txBody>
          <a:bodyPr/>
          <a:lstStyle/>
          <a:p>
            <a:r>
              <a:rPr lang="en-AU" dirty="0"/>
              <a:t>Part 2:</a:t>
            </a:r>
          </a:p>
          <a:p>
            <a:r>
              <a:rPr lang="en-AU" dirty="0"/>
              <a:t>Overview of assessments</a:t>
            </a:r>
          </a:p>
        </p:txBody>
      </p:sp>
      <p:sp>
        <p:nvSpPr>
          <p:cNvPr id="4" name="Text Placeholder 2">
            <a:extLst>
              <a:ext uri="{FF2B5EF4-FFF2-40B4-BE49-F238E27FC236}">
                <a16:creationId xmlns:a16="http://schemas.microsoft.com/office/drawing/2014/main" id="{8DDEA1D7-2DB7-BFE1-3558-253A13BB5038}"/>
              </a:ext>
            </a:extLst>
          </p:cNvPr>
          <p:cNvSpPr>
            <a:spLocks noGrp="1"/>
          </p:cNvSpPr>
          <p:nvPr>
            <p:ph type="body" sz="quarter" idx="17"/>
          </p:nvPr>
        </p:nvSpPr>
        <p:spPr>
          <a:xfrm>
            <a:off x="599357" y="1688589"/>
            <a:ext cx="7224609" cy="573088"/>
          </a:xfrm>
        </p:spPr>
        <p:txBody>
          <a:bodyPr/>
          <a:lstStyle/>
          <a:p>
            <a:r>
              <a:rPr lang="en-AU" sz="4400" dirty="0"/>
              <a:t>Introductory Pharmacology Week 1 Tutorial</a:t>
            </a:r>
          </a:p>
        </p:txBody>
      </p:sp>
    </p:spTree>
    <p:extLst>
      <p:ext uri="{BB962C8B-B14F-4D97-AF65-F5344CB8AC3E}">
        <p14:creationId xmlns:p14="http://schemas.microsoft.com/office/powerpoint/2010/main" val="402945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61FE-3478-EC73-D0BF-75227D5582F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4D059D-0C8F-ECCD-09E4-8F5D1C28262C}"/>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7B2A901C-BEFB-C098-310A-D4B9BEF004E2}"/>
              </a:ext>
            </a:extLst>
          </p:cNvPr>
          <p:cNvSpPr>
            <a:spLocks noGrp="1"/>
          </p:cNvSpPr>
          <p:nvPr>
            <p:ph type="sldNum" sz="quarter" idx="12"/>
          </p:nvPr>
        </p:nvSpPr>
        <p:spPr/>
        <p:txBody>
          <a:bodyPr/>
          <a:lstStyle/>
          <a:p>
            <a:fld id="{4C46084E-4AD2-49B2-9297-67B05F4C2641}" type="slidenum">
              <a:rPr lang="en-AU" smtClean="0"/>
              <a:t>17</a:t>
            </a:fld>
            <a:endParaRPr lang="en-AU"/>
          </a:p>
        </p:txBody>
      </p:sp>
      <p:sp>
        <p:nvSpPr>
          <p:cNvPr id="5" name="Rectangle 4">
            <a:extLst>
              <a:ext uri="{FF2B5EF4-FFF2-40B4-BE49-F238E27FC236}">
                <a16:creationId xmlns:a16="http://schemas.microsoft.com/office/drawing/2014/main" id="{8EABA4CF-A23D-686D-B030-2C7348B7BA21}"/>
              </a:ext>
            </a:extLst>
          </p:cNvPr>
          <p:cNvSpPr/>
          <p:nvPr/>
        </p:nvSpPr>
        <p:spPr>
          <a:xfrm>
            <a:off x="1036320" y="30166"/>
            <a:ext cx="457200" cy="3660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screenshot of a computer&#10;&#10;AI-generated content may be incorrect.">
            <a:extLst>
              <a:ext uri="{FF2B5EF4-FFF2-40B4-BE49-F238E27FC236}">
                <a16:creationId xmlns:a16="http://schemas.microsoft.com/office/drawing/2014/main" id="{E59DC718-55FF-E127-E9EC-8A82F8CE96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083"/>
            <a:ext cx="13103385" cy="6827834"/>
          </a:xfrm>
          <a:prstGeom prst="rect">
            <a:avLst/>
          </a:prstGeom>
        </p:spPr>
      </p:pic>
      <p:sp>
        <p:nvSpPr>
          <p:cNvPr id="6" name="Rectangle 5">
            <a:extLst>
              <a:ext uri="{FF2B5EF4-FFF2-40B4-BE49-F238E27FC236}">
                <a16:creationId xmlns:a16="http://schemas.microsoft.com/office/drawing/2014/main" id="{FAC75297-991B-59FE-18FD-D61ABCF94C9B}"/>
              </a:ext>
            </a:extLst>
          </p:cNvPr>
          <p:cNvSpPr/>
          <p:nvPr/>
        </p:nvSpPr>
        <p:spPr>
          <a:xfrm>
            <a:off x="1165197" y="45249"/>
            <a:ext cx="199445" cy="366074"/>
          </a:xfrm>
          <a:prstGeom prst="rect">
            <a:avLst/>
          </a:prstGeom>
          <a:solidFill>
            <a:srgbClr val="2E2E2E"/>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82C867CE-2BEC-753A-4352-C29582CB24BD}"/>
              </a:ext>
            </a:extLst>
          </p:cNvPr>
          <p:cNvSpPr/>
          <p:nvPr/>
        </p:nvSpPr>
        <p:spPr>
          <a:xfrm>
            <a:off x="1311301" y="2463770"/>
            <a:ext cx="199445" cy="366074"/>
          </a:xfrm>
          <a:prstGeom prst="rect">
            <a:avLst/>
          </a:prstGeom>
          <a:solidFill>
            <a:srgbClr val="05090B"/>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695CCAF7-A30C-A51C-0EA8-0173F27F7857}"/>
              </a:ext>
            </a:extLst>
          </p:cNvPr>
          <p:cNvSpPr/>
          <p:nvPr/>
        </p:nvSpPr>
        <p:spPr>
          <a:xfrm>
            <a:off x="25840" y="396240"/>
            <a:ext cx="729534" cy="6165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Arrow Connector 6">
            <a:extLst>
              <a:ext uri="{FF2B5EF4-FFF2-40B4-BE49-F238E27FC236}">
                <a16:creationId xmlns:a16="http://schemas.microsoft.com/office/drawing/2014/main" id="{2C919EB3-1ADD-9E81-03B0-73D04E19A4A2}"/>
              </a:ext>
            </a:extLst>
          </p:cNvPr>
          <p:cNvCxnSpPr>
            <a:cxnSpLocks/>
          </p:cNvCxnSpPr>
          <p:nvPr/>
        </p:nvCxnSpPr>
        <p:spPr>
          <a:xfrm flipH="1" flipV="1">
            <a:off x="636104" y="914400"/>
            <a:ext cx="7368209" cy="2512336"/>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EB22CA5-2D9C-256D-495B-600450B2BD54}"/>
              </a:ext>
            </a:extLst>
          </p:cNvPr>
          <p:cNvSpPr/>
          <p:nvPr/>
        </p:nvSpPr>
        <p:spPr>
          <a:xfrm>
            <a:off x="267030" y="5845257"/>
            <a:ext cx="8343570" cy="85548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Arrow Connector 12">
            <a:extLst>
              <a:ext uri="{FF2B5EF4-FFF2-40B4-BE49-F238E27FC236}">
                <a16:creationId xmlns:a16="http://schemas.microsoft.com/office/drawing/2014/main" id="{279B064E-B282-FC13-AC5E-6B334783A210}"/>
              </a:ext>
            </a:extLst>
          </p:cNvPr>
          <p:cNvCxnSpPr>
            <a:cxnSpLocks/>
          </p:cNvCxnSpPr>
          <p:nvPr/>
        </p:nvCxnSpPr>
        <p:spPr>
          <a:xfrm flipH="1">
            <a:off x="5287617" y="3548489"/>
            <a:ext cx="2923371" cy="2686419"/>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2016C34-456A-CB6E-CFAF-732976DCB845}"/>
              </a:ext>
            </a:extLst>
          </p:cNvPr>
          <p:cNvCxnSpPr>
            <a:cxnSpLocks/>
          </p:cNvCxnSpPr>
          <p:nvPr/>
        </p:nvCxnSpPr>
        <p:spPr>
          <a:xfrm flipH="1">
            <a:off x="1676399" y="3505434"/>
            <a:ext cx="6444504" cy="2595369"/>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7532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DD1BC78-299C-1330-2E54-83B92D6116ED}"/>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CE7EA324-0116-A164-588E-541E20145BAF}"/>
              </a:ext>
            </a:extLst>
          </p:cNvPr>
          <p:cNvSpPr>
            <a:spLocks noGrp="1"/>
          </p:cNvSpPr>
          <p:nvPr>
            <p:ph type="sldNum" sz="quarter" idx="12"/>
          </p:nvPr>
        </p:nvSpPr>
        <p:spPr/>
        <p:txBody>
          <a:bodyPr/>
          <a:lstStyle/>
          <a:p>
            <a:fld id="{4C46084E-4AD2-49B2-9297-67B05F4C2641}" type="slidenum">
              <a:rPr lang="en-AU" smtClean="0"/>
              <a:t>18</a:t>
            </a:fld>
            <a:endParaRPr lang="en-AU"/>
          </a:p>
        </p:txBody>
      </p:sp>
      <p:pic>
        <p:nvPicPr>
          <p:cNvPr id="5" name="Picture 4">
            <a:extLst>
              <a:ext uri="{FF2B5EF4-FFF2-40B4-BE49-F238E27FC236}">
                <a16:creationId xmlns:a16="http://schemas.microsoft.com/office/drawing/2014/main" id="{E01165A6-F584-9F74-F2EF-CBBC4F1301D3}"/>
              </a:ext>
            </a:extLst>
          </p:cNvPr>
          <p:cNvPicPr>
            <a:picLocks noChangeAspect="1"/>
          </p:cNvPicPr>
          <p:nvPr/>
        </p:nvPicPr>
        <p:blipFill>
          <a:blip r:embed="rId3"/>
          <a:stretch>
            <a:fillRect/>
          </a:stretch>
        </p:blipFill>
        <p:spPr>
          <a:xfrm>
            <a:off x="0" y="873471"/>
            <a:ext cx="12192000" cy="5111057"/>
          </a:xfrm>
          <a:prstGeom prst="rect">
            <a:avLst/>
          </a:prstGeom>
        </p:spPr>
      </p:pic>
      <p:sp>
        <p:nvSpPr>
          <p:cNvPr id="4" name="Rectangle 3">
            <a:extLst>
              <a:ext uri="{FF2B5EF4-FFF2-40B4-BE49-F238E27FC236}">
                <a16:creationId xmlns:a16="http://schemas.microsoft.com/office/drawing/2014/main" id="{6A5753D3-E938-F5EF-1304-4F1F6F5ED9C9}"/>
              </a:ext>
            </a:extLst>
          </p:cNvPr>
          <p:cNvSpPr/>
          <p:nvPr/>
        </p:nvSpPr>
        <p:spPr>
          <a:xfrm>
            <a:off x="887896" y="1484243"/>
            <a:ext cx="11304104" cy="728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0C8DF95A-1DC5-C64E-6A76-739AECCB7DE2}"/>
              </a:ext>
            </a:extLst>
          </p:cNvPr>
          <p:cNvSpPr/>
          <p:nvPr/>
        </p:nvSpPr>
        <p:spPr>
          <a:xfrm>
            <a:off x="834886" y="3239084"/>
            <a:ext cx="11058939" cy="7288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4295BFBC-A5DE-6E5B-5375-046772A471F7}"/>
              </a:ext>
            </a:extLst>
          </p:cNvPr>
          <p:cNvSpPr/>
          <p:nvPr/>
        </p:nvSpPr>
        <p:spPr>
          <a:xfrm>
            <a:off x="834887" y="4993926"/>
            <a:ext cx="11304104" cy="17537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descr="A screenshot of a computer&#10;&#10;AI-generated content may be incorrect.">
            <a:extLst>
              <a:ext uri="{FF2B5EF4-FFF2-40B4-BE49-F238E27FC236}">
                <a16:creationId xmlns:a16="http://schemas.microsoft.com/office/drawing/2014/main" id="{17AFBE97-1CAB-E70F-4A49-58039A1A4EB0}"/>
              </a:ext>
            </a:extLst>
          </p:cNvPr>
          <p:cNvPicPr>
            <a:picLocks noChangeAspect="1"/>
          </p:cNvPicPr>
          <p:nvPr/>
        </p:nvPicPr>
        <p:blipFill>
          <a:blip r:embed="rId4"/>
          <a:stretch>
            <a:fillRect/>
          </a:stretch>
        </p:blipFill>
        <p:spPr>
          <a:xfrm>
            <a:off x="-1" y="-10987"/>
            <a:ext cx="12146703" cy="6868987"/>
          </a:xfrm>
          <a:prstGeom prst="rect">
            <a:avLst/>
          </a:prstGeom>
        </p:spPr>
      </p:pic>
    </p:spTree>
    <p:extLst>
      <p:ext uri="{BB962C8B-B14F-4D97-AF65-F5344CB8AC3E}">
        <p14:creationId xmlns:p14="http://schemas.microsoft.com/office/powerpoint/2010/main" val="3364205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491E-83EB-C7F2-AC9C-30479485C5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F773236-9075-35D6-36A3-CE302D5E3010}"/>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C1A2B4C1-4F98-63BD-B289-AF411E53B256}"/>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401E01F1-155F-9877-2036-8136725BF098}"/>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8F9803EC-81B0-2D92-0276-80A652494001}"/>
              </a:ext>
            </a:extLst>
          </p:cNvPr>
          <p:cNvSpPr/>
          <p:nvPr/>
        </p:nvSpPr>
        <p:spPr>
          <a:xfrm>
            <a:off x="0" y="0"/>
            <a:ext cx="12192000" cy="6903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F9D823D-D360-FCA5-C677-170A1D358B50}"/>
              </a:ext>
            </a:extLst>
          </p:cNvPr>
          <p:cNvSpPr/>
          <p:nvPr/>
        </p:nvSpPr>
        <p:spPr>
          <a:xfrm>
            <a:off x="574276" y="347793"/>
            <a:ext cx="11188098" cy="6068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9FFFA8DF-8F9A-C96E-91E5-79A00459B527}"/>
              </a:ext>
            </a:extLst>
          </p:cNvPr>
          <p:cNvPicPr>
            <a:picLocks noChangeAspect="1"/>
          </p:cNvPicPr>
          <p:nvPr/>
        </p:nvPicPr>
        <p:blipFill>
          <a:blip r:embed="rId3"/>
          <a:stretch>
            <a:fillRect/>
          </a:stretch>
        </p:blipFill>
        <p:spPr>
          <a:xfrm>
            <a:off x="0" y="-97977"/>
            <a:ext cx="12279962" cy="7037734"/>
          </a:xfrm>
          <a:prstGeom prst="rect">
            <a:avLst/>
          </a:prstGeom>
        </p:spPr>
      </p:pic>
    </p:spTree>
    <p:extLst>
      <p:ext uri="{BB962C8B-B14F-4D97-AF65-F5344CB8AC3E}">
        <p14:creationId xmlns:p14="http://schemas.microsoft.com/office/powerpoint/2010/main" val="770483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7505C-205D-422C-0550-40E113B1A8B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70998C-2030-020B-215A-30FBA719B9F1}"/>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B2A49DA8-7E86-9098-7596-120AB452F2CA}"/>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DFE25DFE-62BF-594F-E0A0-F3CBF6BACFB0}"/>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43178A6-7164-B768-14CB-6911F3A58880}"/>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2BF501D5-9F13-372B-5428-462EEE06DF65}"/>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6A7D425-A8A4-74B8-FAD1-302E52A0A7B1}"/>
              </a:ext>
            </a:extLst>
          </p:cNvPr>
          <p:cNvSpPr txBox="1">
            <a:spLocks/>
          </p:cNvSpPr>
          <p:nvPr/>
        </p:nvSpPr>
        <p:spPr>
          <a:xfrm>
            <a:off x="2974285" y="2878450"/>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Assessment 1:</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Week 2 quiz</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2521093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57C504-E1C6-A03D-883A-77433E6283E9}"/>
              </a:ext>
            </a:extLst>
          </p:cNvPr>
          <p:cNvSpPr>
            <a:spLocks noGrp="1"/>
          </p:cNvSpPr>
          <p:nvPr>
            <p:ph type="body" sz="quarter" idx="17"/>
          </p:nvPr>
        </p:nvSpPr>
        <p:spPr>
          <a:xfrm>
            <a:off x="1969174" y="1070268"/>
            <a:ext cx="5038928" cy="573088"/>
          </a:xfrm>
        </p:spPr>
        <p:txBody>
          <a:bodyPr>
            <a:noAutofit/>
          </a:bodyPr>
          <a:lstStyle/>
          <a:p>
            <a:pPr algn="ctr"/>
            <a:r>
              <a:rPr lang="en-AU" sz="4000" dirty="0"/>
              <a:t>Week 2 quiz</a:t>
            </a:r>
          </a:p>
        </p:txBody>
      </p:sp>
      <p:sp>
        <p:nvSpPr>
          <p:cNvPr id="3" name="Text Placeholder 2">
            <a:extLst>
              <a:ext uri="{FF2B5EF4-FFF2-40B4-BE49-F238E27FC236}">
                <a16:creationId xmlns:a16="http://schemas.microsoft.com/office/drawing/2014/main" id="{B230B5D0-D30A-165A-4DC8-3EE55D4CAA74}"/>
              </a:ext>
            </a:extLst>
          </p:cNvPr>
          <p:cNvSpPr>
            <a:spLocks noGrp="1"/>
          </p:cNvSpPr>
          <p:nvPr>
            <p:ph type="body" sz="quarter" idx="20"/>
          </p:nvPr>
        </p:nvSpPr>
        <p:spPr>
          <a:xfrm>
            <a:off x="505512" y="2200103"/>
            <a:ext cx="9013457" cy="3740208"/>
          </a:xfrm>
        </p:spPr>
        <p:txBody>
          <a:bodyPr>
            <a:noAutofit/>
          </a:bodyPr>
          <a:lstStyle/>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Worth 20% of your grade in the unit</a:t>
            </a:r>
          </a:p>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Assesses your knowledge of module 1 </a:t>
            </a:r>
          </a:p>
          <a:p>
            <a:pPr marL="1143000" lvl="1" indent="-457200">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32 Multiple choice questions</a:t>
            </a:r>
          </a:p>
          <a:p>
            <a:pPr marL="1143000" lvl="1" indent="-457200">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90 minutes</a:t>
            </a:r>
          </a:p>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2 – 2-point questions </a:t>
            </a:r>
          </a:p>
          <a:p>
            <a:pPr marL="1143000" lvl="1" indent="-457200">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The 2-point questions can </a:t>
            </a:r>
            <a:r>
              <a:rPr lang="en-AU" sz="2800" dirty="0">
                <a:solidFill>
                  <a:srgbClr val="007298"/>
                </a:solidFill>
                <a:highlight>
                  <a:srgbClr val="FFFF00"/>
                </a:highlight>
                <a:latin typeface="Roboto Black" panose="02000000000000000000" pitchFamily="2" charset="0"/>
                <a:ea typeface="Roboto Black" panose="02000000000000000000" pitchFamily="2" charset="0"/>
              </a:rPr>
              <a:t>only</a:t>
            </a:r>
            <a:r>
              <a:rPr lang="en-AU" sz="2800" dirty="0">
                <a:solidFill>
                  <a:srgbClr val="007298"/>
                </a:solidFill>
                <a:latin typeface="Roboto Black" panose="02000000000000000000" pitchFamily="2" charset="0"/>
                <a:ea typeface="Roboto Black" panose="02000000000000000000" pitchFamily="2" charset="0"/>
              </a:rPr>
              <a:t> be answered if you attend the tutorial in week 2. </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14229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D2319-ED4B-04E8-B901-037AF417F7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A808F2F-4F23-EA69-4319-745298ADEA11}"/>
              </a:ext>
            </a:extLst>
          </p:cNvPr>
          <p:cNvSpPr>
            <a:spLocks noGrp="1"/>
          </p:cNvSpPr>
          <p:nvPr>
            <p:ph type="body" sz="quarter" idx="17"/>
          </p:nvPr>
        </p:nvSpPr>
        <p:spPr>
          <a:xfrm>
            <a:off x="1969174" y="1070268"/>
            <a:ext cx="5038928" cy="573088"/>
          </a:xfrm>
        </p:spPr>
        <p:txBody>
          <a:bodyPr>
            <a:noAutofit/>
          </a:bodyPr>
          <a:lstStyle/>
          <a:p>
            <a:pPr algn="ctr"/>
            <a:r>
              <a:rPr lang="en-AU" sz="4000" dirty="0"/>
              <a:t>How to pass the quiz</a:t>
            </a:r>
          </a:p>
        </p:txBody>
      </p:sp>
      <p:sp>
        <p:nvSpPr>
          <p:cNvPr id="3" name="Text Placeholder 2">
            <a:extLst>
              <a:ext uri="{FF2B5EF4-FFF2-40B4-BE49-F238E27FC236}">
                <a16:creationId xmlns:a16="http://schemas.microsoft.com/office/drawing/2014/main" id="{EB3693A5-9B9A-987E-56B1-BA8576A40CAF}"/>
              </a:ext>
            </a:extLst>
          </p:cNvPr>
          <p:cNvSpPr>
            <a:spLocks noGrp="1"/>
          </p:cNvSpPr>
          <p:nvPr>
            <p:ph type="body" sz="quarter" idx="20"/>
          </p:nvPr>
        </p:nvSpPr>
        <p:spPr>
          <a:xfrm>
            <a:off x="505512" y="2200102"/>
            <a:ext cx="9013457" cy="4276897"/>
          </a:xfrm>
        </p:spPr>
        <p:txBody>
          <a:bodyPr>
            <a:noAutofit/>
          </a:bodyPr>
          <a:lstStyle/>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Watch the video lessons in Module 1</a:t>
            </a:r>
          </a:p>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Engage in the activities after each lesson</a:t>
            </a:r>
          </a:p>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Go to the Week 2 tutorial, taking good notes</a:t>
            </a:r>
          </a:p>
          <a:p>
            <a:pPr marL="457200" indent="-457200">
              <a:lnSpc>
                <a:spcPct val="100000"/>
              </a:lnSpc>
              <a:spcBef>
                <a:spcPts val="0"/>
              </a:spcBef>
              <a:buFont typeface="Arial" panose="020B0604020202020204" pitchFamily="34" charset="0"/>
              <a:buChar char="•"/>
            </a:pPr>
            <a:r>
              <a:rPr lang="en-AU" sz="3200" dirty="0">
                <a:solidFill>
                  <a:srgbClr val="007298"/>
                </a:solidFill>
                <a:latin typeface="Roboto Black" panose="02000000000000000000" pitchFamily="2" charset="0"/>
                <a:ea typeface="Roboto Black" panose="02000000000000000000" pitchFamily="2" charset="0"/>
              </a:rPr>
              <a:t>Re-engage in the activities, adding to your notes</a:t>
            </a:r>
          </a:p>
          <a:p>
            <a:pPr marL="457200" indent="-457200">
              <a:lnSpc>
                <a:spcPct val="100000"/>
              </a:lnSpc>
              <a:spcBef>
                <a:spcPts val="0"/>
              </a:spcBef>
              <a:buFont typeface="Arial" panose="020B0604020202020204" pitchFamily="34" charset="0"/>
              <a:buChar char="•"/>
            </a:pPr>
            <a:endParaRPr lang="en-AU" sz="3200" dirty="0">
              <a:solidFill>
                <a:srgbClr val="007298"/>
              </a:solidFill>
              <a:latin typeface="Roboto Black" panose="02000000000000000000" pitchFamily="2" charset="0"/>
              <a:ea typeface="Roboto Black" panose="02000000000000000000" pitchFamily="2" charset="0"/>
            </a:endParaRPr>
          </a:p>
          <a:p>
            <a:pPr>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Without a good understanding of the basics of pharmacology, you will not understand future topics, so decide by Census date if you are ready to progress</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89712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FEAB9-A8C2-8E9D-4670-51B70DF88E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914D0E8-9596-173E-42AD-3895D9B780CB}"/>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8FE01D14-B385-6080-CFDD-F303A3B5D1E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44841F02-77DD-2904-A9EB-2F8F8E002AE1}"/>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0E4F1DA8-EAA9-2AE8-AA54-9EC7E24A38E5}"/>
              </a:ext>
            </a:extLst>
          </p:cNvPr>
          <p:cNvSpPr/>
          <p:nvPr/>
        </p:nvSpPr>
        <p:spPr>
          <a:xfrm>
            <a:off x="0" y="0"/>
            <a:ext cx="12192000" cy="6903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B2481262-C52E-A638-7325-33E8C5BAC664}"/>
              </a:ext>
            </a:extLst>
          </p:cNvPr>
          <p:cNvSpPr/>
          <p:nvPr/>
        </p:nvSpPr>
        <p:spPr>
          <a:xfrm>
            <a:off x="574276" y="347793"/>
            <a:ext cx="11188098" cy="6068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9907D17B-FC8D-16E5-7A6E-D62C13690001}"/>
              </a:ext>
            </a:extLst>
          </p:cNvPr>
          <p:cNvPicPr>
            <a:picLocks noChangeAspect="1"/>
          </p:cNvPicPr>
          <p:nvPr/>
        </p:nvPicPr>
        <p:blipFill>
          <a:blip r:embed="rId3"/>
          <a:stretch>
            <a:fillRect/>
          </a:stretch>
        </p:blipFill>
        <p:spPr>
          <a:xfrm>
            <a:off x="0" y="-97977"/>
            <a:ext cx="12279962" cy="7037734"/>
          </a:xfrm>
          <a:prstGeom prst="rect">
            <a:avLst/>
          </a:prstGeom>
        </p:spPr>
      </p:pic>
    </p:spTree>
    <p:extLst>
      <p:ext uri="{BB962C8B-B14F-4D97-AF65-F5344CB8AC3E}">
        <p14:creationId xmlns:p14="http://schemas.microsoft.com/office/powerpoint/2010/main" val="711335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normAutofit fontScale="70000" lnSpcReduction="20000"/>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3046610" y="2410338"/>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Assessment 2:</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Workbook: </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Multipart tutorial questions</a:t>
            </a:r>
            <a:endPar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endParaRP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sz="3600" dirty="0">
                <a:solidFill>
                  <a:srgbClr val="06678A"/>
                </a:solidFill>
                <a:latin typeface="Roboto Black" panose="02000000000000000000" pitchFamily="2" charset="0"/>
                <a:ea typeface="Roboto Black" panose="02000000000000000000" pitchFamily="2" charset="0"/>
              </a:rPr>
              <a:t>(worth 30%)</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689570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73CA6D-E356-4E3A-91AA-F0ADF3ADCA8B}"/>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27966FC5-CA8A-48C1-AEB3-F5C49D52EA09}"/>
              </a:ext>
            </a:extLst>
          </p:cNvPr>
          <p:cNvSpPr>
            <a:spLocks noGrp="1"/>
          </p:cNvSpPr>
          <p:nvPr>
            <p:ph type="sldNum" sz="quarter" idx="12"/>
          </p:nvPr>
        </p:nvSpPr>
        <p:spPr/>
        <p:txBody>
          <a:bodyPr/>
          <a:lstStyle/>
          <a:p>
            <a:fld id="{4C46084E-4AD2-49B2-9297-67B05F4C2641}" type="slidenum">
              <a:rPr lang="en-AU" smtClean="0"/>
              <a:t>25</a:t>
            </a:fld>
            <a:endParaRPr lang="en-AU"/>
          </a:p>
        </p:txBody>
      </p:sp>
      <p:pic>
        <p:nvPicPr>
          <p:cNvPr id="6" name="Picture 5">
            <a:extLst>
              <a:ext uri="{FF2B5EF4-FFF2-40B4-BE49-F238E27FC236}">
                <a16:creationId xmlns:a16="http://schemas.microsoft.com/office/drawing/2014/main" id="{F7501687-09C8-51CA-A7BC-C83E86A5B992}"/>
              </a:ext>
            </a:extLst>
          </p:cNvPr>
          <p:cNvPicPr>
            <a:picLocks noChangeAspect="1"/>
          </p:cNvPicPr>
          <p:nvPr/>
        </p:nvPicPr>
        <p:blipFill>
          <a:blip r:embed="rId3"/>
          <a:stretch>
            <a:fillRect/>
          </a:stretch>
        </p:blipFill>
        <p:spPr>
          <a:xfrm>
            <a:off x="0" y="1242592"/>
            <a:ext cx="12192000" cy="4372815"/>
          </a:xfrm>
          <a:prstGeom prst="rect">
            <a:avLst/>
          </a:prstGeom>
        </p:spPr>
      </p:pic>
    </p:spTree>
    <p:extLst>
      <p:ext uri="{BB962C8B-B14F-4D97-AF65-F5344CB8AC3E}">
        <p14:creationId xmlns:p14="http://schemas.microsoft.com/office/powerpoint/2010/main" val="3711999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F5544-18A1-FC0D-7C5C-7A099BF2D9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6DD09B4-3D3B-FBC7-391C-04BD76136F33}"/>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416E581D-618A-2228-0C03-D6FB4EAD991E}"/>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746C2927-5E5A-48A8-8CDD-9E1DD3DE3B11}"/>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D4214DF7-2D88-EAE5-BD4D-E0DFA7A521D7}"/>
              </a:ext>
            </a:extLst>
          </p:cNvPr>
          <p:cNvSpPr/>
          <p:nvPr/>
        </p:nvSpPr>
        <p:spPr>
          <a:xfrm>
            <a:off x="0" y="0"/>
            <a:ext cx="12192000" cy="6903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1EF9432-A8DE-D280-B466-375E30B566A1}"/>
              </a:ext>
            </a:extLst>
          </p:cNvPr>
          <p:cNvSpPr/>
          <p:nvPr/>
        </p:nvSpPr>
        <p:spPr>
          <a:xfrm>
            <a:off x="574276" y="347793"/>
            <a:ext cx="11188098" cy="6068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C97C99AD-F6DD-CD72-494A-8DBFBA11F4B0}"/>
              </a:ext>
            </a:extLst>
          </p:cNvPr>
          <p:cNvPicPr>
            <a:picLocks noChangeAspect="1"/>
          </p:cNvPicPr>
          <p:nvPr/>
        </p:nvPicPr>
        <p:blipFill>
          <a:blip r:embed="rId3"/>
          <a:stretch>
            <a:fillRect/>
          </a:stretch>
        </p:blipFill>
        <p:spPr>
          <a:xfrm>
            <a:off x="0" y="-97977"/>
            <a:ext cx="12279962" cy="7037734"/>
          </a:xfrm>
          <a:prstGeom prst="rect">
            <a:avLst/>
          </a:prstGeom>
        </p:spPr>
      </p:pic>
    </p:spTree>
    <p:extLst>
      <p:ext uri="{BB962C8B-B14F-4D97-AF65-F5344CB8AC3E}">
        <p14:creationId xmlns:p14="http://schemas.microsoft.com/office/powerpoint/2010/main" val="2974209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2974285" y="2566141"/>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Assessment 3: Case study </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sz="3600" dirty="0">
                <a:solidFill>
                  <a:srgbClr val="06678A"/>
                </a:solidFill>
                <a:latin typeface="Roboto Black" panose="02000000000000000000" pitchFamily="2" charset="0"/>
                <a:ea typeface="Roboto Black" panose="02000000000000000000" pitchFamily="2" charset="0"/>
              </a:rPr>
              <a:t>(worth 50% of your grade)</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837375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982F-0B0F-FAC6-DC63-21790022485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E3E7B7E-6C3D-4DF1-5B81-9596BAF7FD7A}"/>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859461B0-85FC-46A4-C4D7-07865A9568A1}"/>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B0262489-EED6-4161-2A81-B478D5C5CF45}"/>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021EB129-DD7A-2E2D-3AC0-504ADE35B5E3}"/>
              </a:ext>
            </a:extLst>
          </p:cNvPr>
          <p:cNvSpPr/>
          <p:nvPr/>
        </p:nvSpPr>
        <p:spPr>
          <a:xfrm>
            <a:off x="0" y="0"/>
            <a:ext cx="12192000" cy="6903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236D89C-72F3-BE00-E26F-3D5748D09D0F}"/>
              </a:ext>
            </a:extLst>
          </p:cNvPr>
          <p:cNvSpPr/>
          <p:nvPr/>
        </p:nvSpPr>
        <p:spPr>
          <a:xfrm>
            <a:off x="574276" y="347793"/>
            <a:ext cx="11188098" cy="6068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7FF58E9-AC99-EA5B-5ECB-6D506315CB6C}"/>
              </a:ext>
            </a:extLst>
          </p:cNvPr>
          <p:cNvPicPr>
            <a:picLocks noChangeAspect="1"/>
          </p:cNvPicPr>
          <p:nvPr/>
        </p:nvPicPr>
        <p:blipFill>
          <a:blip r:embed="rId3"/>
          <a:stretch>
            <a:fillRect/>
          </a:stretch>
        </p:blipFill>
        <p:spPr>
          <a:xfrm>
            <a:off x="0" y="-97977"/>
            <a:ext cx="12279962" cy="7037734"/>
          </a:xfrm>
          <a:prstGeom prst="rect">
            <a:avLst/>
          </a:prstGeom>
        </p:spPr>
      </p:pic>
    </p:spTree>
    <p:extLst>
      <p:ext uri="{BB962C8B-B14F-4D97-AF65-F5344CB8AC3E}">
        <p14:creationId xmlns:p14="http://schemas.microsoft.com/office/powerpoint/2010/main" val="2184708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3F2AE-FFDA-937F-BBCB-0D1CEF9CEC1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943E1D-F96C-BFDE-6474-654DF9874938}"/>
              </a:ext>
            </a:extLst>
          </p:cNvPr>
          <p:cNvSpPr>
            <a:spLocks noGrp="1"/>
          </p:cNvSpPr>
          <p:nvPr>
            <p:ph type="body" sz="quarter" idx="17"/>
          </p:nvPr>
        </p:nvSpPr>
        <p:spPr>
          <a:xfrm>
            <a:off x="1863919" y="973785"/>
            <a:ext cx="5038928" cy="573088"/>
          </a:xfrm>
        </p:spPr>
        <p:txBody>
          <a:bodyPr>
            <a:noAutofit/>
          </a:bodyPr>
          <a:lstStyle/>
          <a:p>
            <a:pPr algn="ctr"/>
            <a:r>
              <a:rPr lang="en-AU" sz="4000" dirty="0"/>
              <a:t>The case study</a:t>
            </a:r>
          </a:p>
        </p:txBody>
      </p:sp>
      <p:sp>
        <p:nvSpPr>
          <p:cNvPr id="3" name="Text Placeholder 2">
            <a:extLst>
              <a:ext uri="{FF2B5EF4-FFF2-40B4-BE49-F238E27FC236}">
                <a16:creationId xmlns:a16="http://schemas.microsoft.com/office/drawing/2014/main" id="{5DED6BD9-BE8E-D186-172B-09DF506096F1}"/>
              </a:ext>
            </a:extLst>
          </p:cNvPr>
          <p:cNvSpPr>
            <a:spLocks noGrp="1"/>
          </p:cNvSpPr>
          <p:nvPr>
            <p:ph type="body" sz="quarter" idx="20"/>
          </p:nvPr>
        </p:nvSpPr>
        <p:spPr>
          <a:xfrm>
            <a:off x="431066" y="2328382"/>
            <a:ext cx="8438613" cy="3740208"/>
          </a:xfrm>
        </p:spPr>
        <p:txBody>
          <a:bodyPr>
            <a:noAutofit/>
          </a:bodyPr>
          <a:lstStyle/>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You are working at a multidisciplinary clinic</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Other healthcare workers are all busy and it is your responsibility to answer questions from clients and colleagues, using the most reliable resources. </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The information you provide must be safe, accurate and current</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065443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ADCA9-F22C-5FD4-A30B-F0CC648775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72A6939-0661-34FA-7D8E-B282A860568E}"/>
              </a:ext>
            </a:extLst>
          </p:cNvPr>
          <p:cNvSpPr>
            <a:spLocks noGrp="1"/>
          </p:cNvSpPr>
          <p:nvPr>
            <p:ph type="body" sz="quarter" idx="17"/>
          </p:nvPr>
        </p:nvSpPr>
        <p:spPr>
          <a:xfrm>
            <a:off x="243841" y="348944"/>
            <a:ext cx="6979919" cy="2561895"/>
          </a:xfrm>
        </p:spPr>
        <p:txBody>
          <a:bodyPr>
            <a:noAutofit/>
          </a:bodyPr>
          <a:lstStyle/>
          <a:p>
            <a:pPr algn="ctr"/>
            <a:r>
              <a:rPr lang="en-AU" sz="4000" dirty="0"/>
              <a:t>Why don’t we get the specific resources that answer the case study questions?</a:t>
            </a:r>
          </a:p>
        </p:txBody>
      </p:sp>
      <p:sp>
        <p:nvSpPr>
          <p:cNvPr id="3" name="Text Placeholder 2">
            <a:extLst>
              <a:ext uri="{FF2B5EF4-FFF2-40B4-BE49-F238E27FC236}">
                <a16:creationId xmlns:a16="http://schemas.microsoft.com/office/drawing/2014/main" id="{74D45E8E-C697-24A3-CCDE-94B793003B21}"/>
              </a:ext>
            </a:extLst>
          </p:cNvPr>
          <p:cNvSpPr>
            <a:spLocks noGrp="1"/>
          </p:cNvSpPr>
          <p:nvPr>
            <p:ph type="body" sz="quarter" idx="20"/>
          </p:nvPr>
        </p:nvSpPr>
        <p:spPr>
          <a:xfrm>
            <a:off x="431066" y="2328382"/>
            <a:ext cx="8438613" cy="3740208"/>
          </a:xfrm>
        </p:spPr>
        <p:txBody>
          <a:bodyPr>
            <a:noAutofit/>
          </a:bodyPr>
          <a:lstStyle/>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Assessment 3 does not test your knowledge of the material that we provide you. </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It helps you </a:t>
            </a:r>
            <a:r>
              <a:rPr lang="en-AU" sz="2800" dirty="0">
                <a:solidFill>
                  <a:srgbClr val="FF0000"/>
                </a:solidFill>
                <a:highlight>
                  <a:srgbClr val="FFFF00"/>
                </a:highlight>
                <a:latin typeface="Roboto Black" panose="02000000000000000000" pitchFamily="2" charset="0"/>
                <a:ea typeface="Roboto Black" panose="02000000000000000000" pitchFamily="2" charset="0"/>
              </a:rPr>
              <a:t>develop the skill of finding reliable safe information about drugs</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897172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4DA52-C109-71CD-8643-AB450AA293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19C82FD-0B83-1597-8A59-57CE790E9B39}"/>
              </a:ext>
            </a:extLst>
          </p:cNvPr>
          <p:cNvSpPr>
            <a:spLocks noGrp="1"/>
          </p:cNvSpPr>
          <p:nvPr>
            <p:ph type="body" sz="quarter" idx="17"/>
          </p:nvPr>
        </p:nvSpPr>
        <p:spPr>
          <a:xfrm>
            <a:off x="1021081" y="440384"/>
            <a:ext cx="5958839" cy="2561895"/>
          </a:xfrm>
        </p:spPr>
        <p:txBody>
          <a:bodyPr>
            <a:noAutofit/>
          </a:bodyPr>
          <a:lstStyle/>
          <a:p>
            <a:pPr algn="ctr"/>
            <a:r>
              <a:rPr lang="en-AU" sz="4000" dirty="0"/>
              <a:t>How do we know that we are on the right track with the case study?</a:t>
            </a:r>
          </a:p>
        </p:txBody>
      </p:sp>
      <p:sp>
        <p:nvSpPr>
          <p:cNvPr id="3" name="Text Placeholder 2">
            <a:extLst>
              <a:ext uri="{FF2B5EF4-FFF2-40B4-BE49-F238E27FC236}">
                <a16:creationId xmlns:a16="http://schemas.microsoft.com/office/drawing/2014/main" id="{C35F17BF-083E-E28E-686A-064361F2E165}"/>
              </a:ext>
            </a:extLst>
          </p:cNvPr>
          <p:cNvSpPr>
            <a:spLocks noGrp="1"/>
          </p:cNvSpPr>
          <p:nvPr>
            <p:ph type="body" sz="quarter" idx="20"/>
          </p:nvPr>
        </p:nvSpPr>
        <p:spPr>
          <a:xfrm>
            <a:off x="431066" y="2328382"/>
            <a:ext cx="8438613" cy="3740208"/>
          </a:xfrm>
        </p:spPr>
        <p:txBody>
          <a:bodyPr>
            <a:noAutofit/>
          </a:bodyPr>
          <a:lstStyle/>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The workshops help answer your questions about the case study. </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Send in your questions by Tuesday, and we will address them in the tutorial </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The discussion board will open up the question to other students. </a:t>
            </a:r>
            <a:endParaRPr lang="en-AU" sz="2800" dirty="0">
              <a:solidFill>
                <a:srgbClr val="FF0000"/>
              </a:solidFill>
              <a:highlight>
                <a:srgbClr val="FFFF00"/>
              </a:highlight>
              <a:latin typeface="Roboto Black" panose="02000000000000000000" pitchFamily="2" charset="0"/>
              <a:ea typeface="Roboto Black" panose="02000000000000000000" pitchFamily="2" charset="0"/>
            </a:endParaRP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4051630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6018-B381-5CC1-4B5B-B02DCF56AD6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EEACAB2-1A36-E736-F6DA-9697B9567AE6}"/>
              </a:ext>
            </a:extLst>
          </p:cNvPr>
          <p:cNvSpPr>
            <a:spLocks noGrp="1"/>
          </p:cNvSpPr>
          <p:nvPr>
            <p:ph type="body" sz="quarter" idx="16"/>
          </p:nvPr>
        </p:nvSpPr>
        <p:spPr>
          <a:xfrm>
            <a:off x="599357" y="5432417"/>
            <a:ext cx="4539500" cy="495918"/>
          </a:xfrm>
        </p:spPr>
        <p:txBody>
          <a:bodyPr/>
          <a:lstStyle/>
          <a:p>
            <a:r>
              <a:rPr lang="en-AU" sz="1800" dirty="0">
                <a:latin typeface="Roboto Black" panose="02000000000000000000" pitchFamily="2" charset="0"/>
                <a:ea typeface="Roboto Black" panose="02000000000000000000" pitchFamily="2" charset="0"/>
              </a:rPr>
              <a:t>Ken Wojcikowski (PhD) Pharmacology and Toxicology, UQ School of Medicine</a:t>
            </a:r>
          </a:p>
        </p:txBody>
      </p:sp>
      <p:sp>
        <p:nvSpPr>
          <p:cNvPr id="3" name="Text Placeholder 2">
            <a:extLst>
              <a:ext uri="{FF2B5EF4-FFF2-40B4-BE49-F238E27FC236}">
                <a16:creationId xmlns:a16="http://schemas.microsoft.com/office/drawing/2014/main" id="{7DA17257-BD24-B4EC-88E5-9EB5E83C3069}"/>
              </a:ext>
            </a:extLst>
          </p:cNvPr>
          <p:cNvSpPr>
            <a:spLocks noGrp="1"/>
          </p:cNvSpPr>
          <p:nvPr>
            <p:ph type="body" sz="quarter" idx="17"/>
          </p:nvPr>
        </p:nvSpPr>
        <p:spPr>
          <a:xfrm>
            <a:off x="599357" y="3560503"/>
            <a:ext cx="6545663" cy="573088"/>
          </a:xfrm>
        </p:spPr>
        <p:txBody>
          <a:bodyPr/>
          <a:lstStyle/>
          <a:p>
            <a:r>
              <a:rPr lang="en-AU" dirty="0"/>
              <a:t>Part 3:</a:t>
            </a:r>
          </a:p>
          <a:p>
            <a:r>
              <a:rPr lang="en-AU" dirty="0"/>
              <a:t>More about the case study</a:t>
            </a:r>
          </a:p>
        </p:txBody>
      </p:sp>
      <p:sp>
        <p:nvSpPr>
          <p:cNvPr id="4" name="Text Placeholder 2">
            <a:extLst>
              <a:ext uri="{FF2B5EF4-FFF2-40B4-BE49-F238E27FC236}">
                <a16:creationId xmlns:a16="http://schemas.microsoft.com/office/drawing/2014/main" id="{8BC65DD7-5E7D-DBC7-C8B1-BDCB05F22470}"/>
              </a:ext>
            </a:extLst>
          </p:cNvPr>
          <p:cNvSpPr>
            <a:spLocks noGrp="1"/>
          </p:cNvSpPr>
          <p:nvPr>
            <p:ph type="body" sz="quarter" idx="17"/>
          </p:nvPr>
        </p:nvSpPr>
        <p:spPr>
          <a:xfrm>
            <a:off x="599357" y="1688589"/>
            <a:ext cx="7224609" cy="573088"/>
          </a:xfrm>
        </p:spPr>
        <p:txBody>
          <a:bodyPr/>
          <a:lstStyle/>
          <a:p>
            <a:r>
              <a:rPr lang="en-AU" sz="4400" dirty="0"/>
              <a:t>Introductory Pharmacology Week 1 Tutorial</a:t>
            </a:r>
          </a:p>
        </p:txBody>
      </p:sp>
    </p:spTree>
    <p:extLst>
      <p:ext uri="{BB962C8B-B14F-4D97-AF65-F5344CB8AC3E}">
        <p14:creationId xmlns:p14="http://schemas.microsoft.com/office/powerpoint/2010/main" val="4193465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normAutofit fontScale="70000" lnSpcReduction="20000"/>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558D6C8-59F8-4F93-AFE9-B39A5FEFD9EB}"/>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8462AE5D-5D1C-4BB6-BBDE-CB916DC97CE9}"/>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3E8622EF-0595-4530-B6E3-1DE92CA2C039}"/>
              </a:ext>
            </a:extLst>
          </p:cNvPr>
          <p:cNvSpPr txBox="1">
            <a:spLocks/>
          </p:cNvSpPr>
          <p:nvPr/>
        </p:nvSpPr>
        <p:spPr>
          <a:xfrm>
            <a:off x="2974285" y="2410338"/>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More details on the</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 Case Studies </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2369566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8486D-F4A5-5281-FCB0-85CBEE06AC4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6B9CF2-0590-FAA1-64F9-EE94D924A79E}"/>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76D4AA8D-CA2D-59A8-F524-9C69C2EB0A9D}"/>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35738744-8337-0AA1-4B8A-C65D6A13FC20}"/>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9E6E075-66A7-4782-9B75-0F426CC76CC0}"/>
              </a:ext>
            </a:extLst>
          </p:cNvPr>
          <p:cNvSpPr/>
          <p:nvPr/>
        </p:nvSpPr>
        <p:spPr>
          <a:xfrm>
            <a:off x="0" y="0"/>
            <a:ext cx="12192000" cy="69030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53439A2-D56E-0BCE-F304-A0F4686B44CE}"/>
              </a:ext>
            </a:extLst>
          </p:cNvPr>
          <p:cNvSpPr/>
          <p:nvPr/>
        </p:nvSpPr>
        <p:spPr>
          <a:xfrm>
            <a:off x="574276" y="347793"/>
            <a:ext cx="11188098" cy="60685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138B3C2B-5668-8414-13FD-667C048EAB0E}"/>
              </a:ext>
            </a:extLst>
          </p:cNvPr>
          <p:cNvPicPr>
            <a:picLocks noChangeAspect="1"/>
          </p:cNvPicPr>
          <p:nvPr/>
        </p:nvPicPr>
        <p:blipFill>
          <a:blip r:embed="rId3"/>
          <a:stretch>
            <a:fillRect/>
          </a:stretch>
        </p:blipFill>
        <p:spPr>
          <a:xfrm>
            <a:off x="0" y="-97977"/>
            <a:ext cx="12279962" cy="7037734"/>
          </a:xfrm>
          <a:prstGeom prst="rect">
            <a:avLst/>
          </a:prstGeom>
        </p:spPr>
      </p:pic>
    </p:spTree>
    <p:extLst>
      <p:ext uri="{BB962C8B-B14F-4D97-AF65-F5344CB8AC3E}">
        <p14:creationId xmlns:p14="http://schemas.microsoft.com/office/powerpoint/2010/main" val="42479236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61F61-8F83-F1E9-B5A0-9DBE3EE688E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876AC1A-AC01-3938-1C14-23A70652E5E8}"/>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B4881615-D715-1637-EC8A-2689198C95BA}"/>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6A08E852-6282-D6F5-D16A-3F54B68426F0}"/>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EC493502-CEBB-277C-DB8C-C55CCC5B41C7}"/>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E016C49E-A8CF-96F1-B8B8-7D761535FA50}"/>
              </a:ext>
            </a:extLst>
          </p:cNvPr>
          <p:cNvSpPr/>
          <p:nvPr/>
        </p:nvSpPr>
        <p:spPr>
          <a:xfrm>
            <a:off x="833964" y="615598"/>
            <a:ext cx="10524070" cy="56268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CD8176B4-29D3-44CA-4008-1EF65580AC41}"/>
              </a:ext>
            </a:extLst>
          </p:cNvPr>
          <p:cNvSpPr txBox="1">
            <a:spLocks/>
          </p:cNvSpPr>
          <p:nvPr/>
        </p:nvSpPr>
        <p:spPr>
          <a:xfrm>
            <a:off x="2974285" y="2566141"/>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kumimoji="0" lang="en-AU" altLang="en-US" sz="3600" b="1" i="0" u="none" strike="noStrike" kern="1200" cap="none" spc="0" normalizeH="0" baseline="0" noProof="0" dirty="0">
                <a:ln>
                  <a:noFill/>
                </a:ln>
                <a:solidFill>
                  <a:srgbClr val="06678A"/>
                </a:solidFill>
                <a:effectLst/>
                <a:uLnTx/>
                <a:uFillTx/>
                <a:latin typeface="Roboto Black" panose="02000000000000000000" pitchFamily="2" charset="0"/>
                <a:ea typeface="Roboto Black" panose="02000000000000000000" pitchFamily="2" charset="0"/>
              </a:rPr>
              <a:t>Case study </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sz="3600" dirty="0">
                <a:solidFill>
                  <a:srgbClr val="06678A"/>
                </a:solidFill>
                <a:latin typeface="Roboto Black" panose="02000000000000000000" pitchFamily="2" charset="0"/>
                <a:ea typeface="Roboto Black" panose="02000000000000000000" pitchFamily="2" charset="0"/>
              </a:rPr>
              <a:t>(worth 50% of your grade)</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pic>
        <p:nvPicPr>
          <p:cNvPr id="8" name="Picture 7">
            <a:extLst>
              <a:ext uri="{FF2B5EF4-FFF2-40B4-BE49-F238E27FC236}">
                <a16:creationId xmlns:a16="http://schemas.microsoft.com/office/drawing/2014/main" id="{456E7E9C-F187-8792-93D6-B21B25EA77BA}"/>
              </a:ext>
            </a:extLst>
          </p:cNvPr>
          <p:cNvPicPr>
            <a:picLocks noChangeAspect="1"/>
          </p:cNvPicPr>
          <p:nvPr/>
        </p:nvPicPr>
        <p:blipFill>
          <a:blip r:embed="rId3"/>
          <a:stretch>
            <a:fillRect/>
          </a:stretch>
        </p:blipFill>
        <p:spPr>
          <a:xfrm>
            <a:off x="1268534" y="1482162"/>
            <a:ext cx="9919564" cy="4132049"/>
          </a:xfrm>
          <a:prstGeom prst="rect">
            <a:avLst/>
          </a:prstGeom>
        </p:spPr>
      </p:pic>
    </p:spTree>
    <p:extLst>
      <p:ext uri="{BB962C8B-B14F-4D97-AF65-F5344CB8AC3E}">
        <p14:creationId xmlns:p14="http://schemas.microsoft.com/office/powerpoint/2010/main" val="2674149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B566C-4994-86AA-CA24-64334583AA3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CFFA7E5-71BD-3ADD-025A-ED02374EB1EA}"/>
              </a:ext>
            </a:extLst>
          </p:cNvPr>
          <p:cNvSpPr>
            <a:spLocks noGrp="1"/>
          </p:cNvSpPr>
          <p:nvPr>
            <p:ph type="body" sz="quarter" idx="17"/>
          </p:nvPr>
        </p:nvSpPr>
        <p:spPr>
          <a:xfrm>
            <a:off x="1863919" y="973785"/>
            <a:ext cx="5038928" cy="573088"/>
          </a:xfrm>
        </p:spPr>
        <p:txBody>
          <a:bodyPr>
            <a:noAutofit/>
          </a:bodyPr>
          <a:lstStyle/>
          <a:p>
            <a:pPr algn="ctr"/>
            <a:r>
              <a:rPr lang="en-AU" sz="4000" dirty="0"/>
              <a:t>The case study</a:t>
            </a:r>
          </a:p>
        </p:txBody>
      </p:sp>
      <p:sp>
        <p:nvSpPr>
          <p:cNvPr id="3" name="Text Placeholder 2">
            <a:extLst>
              <a:ext uri="{FF2B5EF4-FFF2-40B4-BE49-F238E27FC236}">
                <a16:creationId xmlns:a16="http://schemas.microsoft.com/office/drawing/2014/main" id="{33007BE5-3853-46E2-17EE-001265659804}"/>
              </a:ext>
            </a:extLst>
          </p:cNvPr>
          <p:cNvSpPr>
            <a:spLocks noGrp="1"/>
          </p:cNvSpPr>
          <p:nvPr>
            <p:ph type="body" sz="quarter" idx="20"/>
          </p:nvPr>
        </p:nvSpPr>
        <p:spPr>
          <a:xfrm>
            <a:off x="431066" y="2328382"/>
            <a:ext cx="8438613" cy="4159504"/>
          </a:xfrm>
        </p:spPr>
        <p:txBody>
          <a:bodyPr>
            <a:noAutofit/>
          </a:bodyPr>
          <a:lstStyle/>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Has 5 portions, corresponding to the material in Weeks 2, 3, 4, 5 and 6</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The modules do not answer the case but help you save time researching because you understand the topics</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Make sure you spend a couple hours / week on the case study because</a:t>
            </a:r>
          </a:p>
          <a:p>
            <a:pPr marL="1143000" lvl="1" indent="-457200">
              <a:lnSpc>
                <a:spcPct val="100000"/>
              </a:lnSpc>
              <a:spcBef>
                <a:spcPts val="0"/>
              </a:spcBef>
            </a:pPr>
            <a:r>
              <a:rPr lang="en-AU" dirty="0">
                <a:solidFill>
                  <a:srgbClr val="007298"/>
                </a:solidFill>
                <a:latin typeface="Roboto Black" panose="02000000000000000000" pitchFamily="2" charset="0"/>
                <a:ea typeface="Roboto Black" panose="02000000000000000000" pitchFamily="2" charset="0"/>
              </a:rPr>
              <a:t>The material is fresh on your mind</a:t>
            </a:r>
          </a:p>
          <a:p>
            <a:pPr marL="1143000" lvl="1" indent="-457200">
              <a:lnSpc>
                <a:spcPct val="100000"/>
              </a:lnSpc>
              <a:spcBef>
                <a:spcPts val="0"/>
              </a:spcBef>
            </a:pPr>
            <a:r>
              <a:rPr lang="en-AU" dirty="0">
                <a:solidFill>
                  <a:srgbClr val="007298"/>
                </a:solidFill>
                <a:latin typeface="Roboto Black" panose="02000000000000000000" pitchFamily="2" charset="0"/>
                <a:ea typeface="Roboto Black" panose="02000000000000000000" pitchFamily="2" charset="0"/>
              </a:rPr>
              <a:t>You can ask questions that we can address in the workshop </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1723978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4BD69-6485-5CA2-8582-E37621A6E8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9DD9E53-2604-0A55-5928-A6AAD869FC5E}"/>
              </a:ext>
            </a:extLst>
          </p:cNvPr>
          <p:cNvSpPr>
            <a:spLocks noGrp="1"/>
          </p:cNvSpPr>
          <p:nvPr>
            <p:ph type="body" sz="quarter" idx="17"/>
          </p:nvPr>
        </p:nvSpPr>
        <p:spPr>
          <a:xfrm>
            <a:off x="1863919" y="973785"/>
            <a:ext cx="5038928" cy="573088"/>
          </a:xfrm>
        </p:spPr>
        <p:txBody>
          <a:bodyPr>
            <a:noAutofit/>
          </a:bodyPr>
          <a:lstStyle/>
          <a:p>
            <a:pPr algn="ctr"/>
            <a:r>
              <a:rPr lang="en-AU" sz="4000" dirty="0"/>
              <a:t>The case study</a:t>
            </a:r>
          </a:p>
        </p:txBody>
      </p:sp>
      <p:sp>
        <p:nvSpPr>
          <p:cNvPr id="3" name="Text Placeholder 2">
            <a:extLst>
              <a:ext uri="{FF2B5EF4-FFF2-40B4-BE49-F238E27FC236}">
                <a16:creationId xmlns:a16="http://schemas.microsoft.com/office/drawing/2014/main" id="{805D2761-CDDD-DE1B-EA75-DCD25003383A}"/>
              </a:ext>
            </a:extLst>
          </p:cNvPr>
          <p:cNvSpPr>
            <a:spLocks noGrp="1"/>
          </p:cNvSpPr>
          <p:nvPr>
            <p:ph type="body" sz="quarter" idx="20"/>
          </p:nvPr>
        </p:nvSpPr>
        <p:spPr>
          <a:xfrm>
            <a:off x="431066" y="2328382"/>
            <a:ext cx="8438613" cy="3740208"/>
          </a:xfrm>
        </p:spPr>
        <p:txBody>
          <a:bodyPr>
            <a:noAutofit/>
          </a:bodyPr>
          <a:lstStyle/>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You are working at a multidisciplinary clinic</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Other healthcare workers are all busy and it is your responsibility to answer questions from clients and colleagues, using the most reliable resources. </a:t>
            </a:r>
          </a:p>
          <a:p>
            <a:pPr marL="457200" indent="-457200">
              <a:lnSpc>
                <a:spcPct val="100000"/>
              </a:lnSpc>
              <a:spcBef>
                <a:spcPts val="0"/>
              </a:spcBef>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The information you provide must be safe, accurate and current</a:t>
            </a:r>
          </a:p>
          <a:p>
            <a:pPr>
              <a:lnSpc>
                <a:spcPct val="100000"/>
              </a:lnSpc>
              <a:spcBef>
                <a:spcPts val="0"/>
              </a:spcBef>
            </a:pPr>
            <a:endParaRPr lang="en-AU" sz="28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1829877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2622A0-3DD3-E568-2DE6-DA17604E00F1}"/>
              </a:ext>
            </a:extLst>
          </p:cNvPr>
          <p:cNvSpPr>
            <a:spLocks noGrp="1"/>
          </p:cNvSpPr>
          <p:nvPr>
            <p:ph type="body" sz="quarter" idx="17"/>
          </p:nvPr>
        </p:nvSpPr>
        <p:spPr>
          <a:xfrm>
            <a:off x="664026" y="645426"/>
            <a:ext cx="6558183" cy="1347833"/>
          </a:xfrm>
        </p:spPr>
        <p:txBody>
          <a:bodyPr>
            <a:normAutofit/>
          </a:bodyPr>
          <a:lstStyle/>
          <a:p>
            <a:pPr algn="ctr"/>
            <a:r>
              <a:rPr lang="en-AU" sz="4000" dirty="0"/>
              <a:t>A word about </a:t>
            </a:r>
          </a:p>
          <a:p>
            <a:pPr algn="ctr"/>
            <a:r>
              <a:rPr lang="en-AU" sz="4000" dirty="0"/>
              <a:t>Academic Integrity</a:t>
            </a:r>
          </a:p>
        </p:txBody>
      </p:sp>
      <p:sp>
        <p:nvSpPr>
          <p:cNvPr id="3" name="Text Placeholder 2">
            <a:extLst>
              <a:ext uri="{FF2B5EF4-FFF2-40B4-BE49-F238E27FC236}">
                <a16:creationId xmlns:a16="http://schemas.microsoft.com/office/drawing/2014/main" id="{0910D477-6CD7-E89E-A129-31456A6C4C38}"/>
              </a:ext>
            </a:extLst>
          </p:cNvPr>
          <p:cNvSpPr>
            <a:spLocks noGrp="1"/>
          </p:cNvSpPr>
          <p:nvPr>
            <p:ph type="body" sz="quarter" idx="18"/>
          </p:nvPr>
        </p:nvSpPr>
        <p:spPr>
          <a:xfrm>
            <a:off x="664027" y="2389854"/>
            <a:ext cx="7296968" cy="2650776"/>
          </a:xfrm>
        </p:spPr>
        <p:txBody>
          <a:bodyPr>
            <a:normAutofit fontScale="92500" lnSpcReduction="10000"/>
          </a:bodyPr>
          <a:lstStyle/>
          <a:p>
            <a:r>
              <a:rPr lang="en-AU" sz="2400" dirty="0">
                <a:solidFill>
                  <a:srgbClr val="007298"/>
                </a:solidFill>
                <a:latin typeface="Roboto Black" panose="02000000000000000000" pitchFamily="2" charset="0"/>
                <a:ea typeface="Roboto Black" panose="02000000000000000000" pitchFamily="2" charset="0"/>
              </a:rPr>
              <a:t>The clips of websites in this tutorial were necessary to guide students on the most appropriate websites and are referenced within the tutorial. </a:t>
            </a:r>
          </a:p>
          <a:p>
            <a:r>
              <a:rPr lang="en-AU" sz="2400" dirty="0">
                <a:solidFill>
                  <a:srgbClr val="007298"/>
                </a:solidFill>
                <a:latin typeface="Roboto Black" panose="02000000000000000000" pitchFamily="2" charset="0"/>
                <a:ea typeface="Roboto Black" panose="02000000000000000000" pitchFamily="2" charset="0"/>
              </a:rPr>
              <a:t>Please remember that it is a breach of academic integrity to copy other’s work and use that work as your own. </a:t>
            </a:r>
          </a:p>
          <a:p>
            <a:r>
              <a:rPr lang="en-AU" sz="2400" dirty="0">
                <a:solidFill>
                  <a:srgbClr val="007298"/>
                </a:solidFill>
                <a:latin typeface="Roboto Black" panose="02000000000000000000" pitchFamily="2" charset="0"/>
                <a:ea typeface="Roboto Black" panose="02000000000000000000" pitchFamily="2" charset="0"/>
              </a:rPr>
              <a:t>Please refer to the SCU Academic Integrity Policy for further information. </a:t>
            </a:r>
          </a:p>
        </p:txBody>
      </p:sp>
    </p:spTree>
    <p:extLst>
      <p:ext uri="{BB962C8B-B14F-4D97-AF65-F5344CB8AC3E}">
        <p14:creationId xmlns:p14="http://schemas.microsoft.com/office/powerpoint/2010/main" val="28732516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C86AD9-6F90-4F45-9B90-D207A414739E}"/>
              </a:ext>
            </a:extLst>
          </p:cNvPr>
          <p:cNvSpPr>
            <a:spLocks noGrp="1"/>
          </p:cNvSpPr>
          <p:nvPr>
            <p:ph type="ftr" sz="quarter" idx="11"/>
          </p:nvPr>
        </p:nvSpPr>
        <p:spPr/>
        <p:txBody>
          <a:bodyPr/>
          <a:lstStyle/>
          <a:p>
            <a:endParaRPr lang="en-AU"/>
          </a:p>
        </p:txBody>
      </p:sp>
      <p:sp>
        <p:nvSpPr>
          <p:cNvPr id="3" name="Slide Number Placeholder 2">
            <a:extLst>
              <a:ext uri="{FF2B5EF4-FFF2-40B4-BE49-F238E27FC236}">
                <a16:creationId xmlns:a16="http://schemas.microsoft.com/office/drawing/2014/main" id="{92359A1A-19E2-4E5D-B7B2-A0ED96DDD6F8}"/>
              </a:ext>
            </a:extLst>
          </p:cNvPr>
          <p:cNvSpPr>
            <a:spLocks noGrp="1"/>
          </p:cNvSpPr>
          <p:nvPr>
            <p:ph type="sldNum" sz="quarter" idx="12"/>
          </p:nvPr>
        </p:nvSpPr>
        <p:spPr/>
        <p:txBody>
          <a:bodyPr/>
          <a:lstStyle/>
          <a:p>
            <a:fld id="{4C46084E-4AD2-49B2-9297-67B05F4C2641}" type="slidenum">
              <a:rPr lang="en-AU" smtClean="0"/>
              <a:t>39</a:t>
            </a:fld>
            <a:endParaRPr lang="en-AU"/>
          </a:p>
        </p:txBody>
      </p:sp>
      <p:pic>
        <p:nvPicPr>
          <p:cNvPr id="4" name="Picture 3">
            <a:extLst>
              <a:ext uri="{FF2B5EF4-FFF2-40B4-BE49-F238E27FC236}">
                <a16:creationId xmlns:a16="http://schemas.microsoft.com/office/drawing/2014/main" id="{7747ECF0-89F8-444A-86F9-E0553145CBB2}"/>
              </a:ext>
            </a:extLst>
          </p:cNvPr>
          <p:cNvPicPr>
            <a:picLocks noChangeAspect="1"/>
          </p:cNvPicPr>
          <p:nvPr/>
        </p:nvPicPr>
        <p:blipFill>
          <a:blip r:embed="rId3"/>
          <a:stretch>
            <a:fillRect/>
          </a:stretch>
        </p:blipFill>
        <p:spPr>
          <a:xfrm>
            <a:off x="0" y="1738546"/>
            <a:ext cx="12192000" cy="3380908"/>
          </a:xfrm>
          <a:prstGeom prst="rect">
            <a:avLst/>
          </a:prstGeom>
        </p:spPr>
      </p:pic>
      <p:sp>
        <p:nvSpPr>
          <p:cNvPr id="5" name="Rectangle 4">
            <a:extLst>
              <a:ext uri="{FF2B5EF4-FFF2-40B4-BE49-F238E27FC236}">
                <a16:creationId xmlns:a16="http://schemas.microsoft.com/office/drawing/2014/main" id="{73852A57-52BA-40A8-A43F-12EA0DF4FA43}"/>
              </a:ext>
            </a:extLst>
          </p:cNvPr>
          <p:cNvSpPr/>
          <p:nvPr/>
        </p:nvSpPr>
        <p:spPr>
          <a:xfrm>
            <a:off x="112929" y="2907661"/>
            <a:ext cx="11966141" cy="63152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E86DCAA1-BDA8-4A9D-824D-C17C05814927}"/>
              </a:ext>
            </a:extLst>
          </p:cNvPr>
          <p:cNvSpPr/>
          <p:nvPr/>
        </p:nvSpPr>
        <p:spPr>
          <a:xfrm>
            <a:off x="867803" y="2299156"/>
            <a:ext cx="2349044" cy="404573"/>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AC7E8530-BC6A-469C-8275-CB165996C6E6}"/>
              </a:ext>
            </a:extLst>
          </p:cNvPr>
          <p:cNvSpPr/>
          <p:nvPr/>
        </p:nvSpPr>
        <p:spPr>
          <a:xfrm>
            <a:off x="112929" y="3591816"/>
            <a:ext cx="11794006" cy="8025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026E5036-DAD7-4A84-B57F-F433BE467B59}"/>
              </a:ext>
            </a:extLst>
          </p:cNvPr>
          <p:cNvSpPr/>
          <p:nvPr/>
        </p:nvSpPr>
        <p:spPr>
          <a:xfrm>
            <a:off x="112929" y="3653370"/>
            <a:ext cx="1383712" cy="369332"/>
          </a:xfrm>
          <a:prstGeom prst="rect">
            <a:avLst/>
          </a:prstGeom>
        </p:spPr>
        <p:txBody>
          <a:bodyPr wrap="none">
            <a:spAutoFit/>
          </a:bodyPr>
          <a:lstStyle/>
          <a:p>
            <a:r>
              <a:rPr lang="en-AU" altLang="en-US" dirty="0">
                <a:solidFill>
                  <a:srgbClr val="06678A"/>
                </a:solidFill>
                <a:latin typeface="Roboto Black" panose="02000000000000000000" pitchFamily="2" charset="0"/>
                <a:ea typeface="Roboto Black" panose="02000000000000000000" pitchFamily="2" charset="0"/>
              </a:rPr>
              <a:t>Reference: </a:t>
            </a:r>
            <a:endParaRPr lang="en-AU" dirty="0"/>
          </a:p>
        </p:txBody>
      </p:sp>
      <p:cxnSp>
        <p:nvCxnSpPr>
          <p:cNvPr id="7" name="Straight Arrow Connector 6">
            <a:extLst>
              <a:ext uri="{FF2B5EF4-FFF2-40B4-BE49-F238E27FC236}">
                <a16:creationId xmlns:a16="http://schemas.microsoft.com/office/drawing/2014/main" id="{840247B1-19DC-4088-827D-284547E7784B}"/>
              </a:ext>
            </a:extLst>
          </p:cNvPr>
          <p:cNvCxnSpPr>
            <a:cxnSpLocks/>
          </p:cNvCxnSpPr>
          <p:nvPr/>
        </p:nvCxnSpPr>
        <p:spPr>
          <a:xfrm flipH="1" flipV="1">
            <a:off x="2702108" y="2703729"/>
            <a:ext cx="3999680" cy="315435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090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D7B5B-2825-8C91-023F-069C5F5A7B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503D7E-48A9-CBC2-45A4-3168C0064D6D}"/>
              </a:ext>
            </a:extLst>
          </p:cNvPr>
          <p:cNvSpPr>
            <a:spLocks noGrp="1"/>
          </p:cNvSpPr>
          <p:nvPr>
            <p:ph type="body" sz="quarter" idx="16"/>
          </p:nvPr>
        </p:nvSpPr>
        <p:spPr>
          <a:xfrm>
            <a:off x="599357" y="5432417"/>
            <a:ext cx="4539500" cy="495918"/>
          </a:xfrm>
        </p:spPr>
        <p:txBody>
          <a:bodyPr/>
          <a:lstStyle/>
          <a:p>
            <a:r>
              <a:rPr lang="en-AU" sz="1800" dirty="0">
                <a:latin typeface="Roboto Black" panose="02000000000000000000" pitchFamily="2" charset="0"/>
                <a:ea typeface="Roboto Black" panose="02000000000000000000" pitchFamily="2" charset="0"/>
              </a:rPr>
              <a:t>Ken Wojcikowski (PhD) Pharmacology and Toxicology, UQ School of Medicine</a:t>
            </a:r>
          </a:p>
        </p:txBody>
      </p:sp>
      <p:sp>
        <p:nvSpPr>
          <p:cNvPr id="3" name="Text Placeholder 2">
            <a:extLst>
              <a:ext uri="{FF2B5EF4-FFF2-40B4-BE49-F238E27FC236}">
                <a16:creationId xmlns:a16="http://schemas.microsoft.com/office/drawing/2014/main" id="{2F1B918D-B147-A40A-6847-0C252CAF46AD}"/>
              </a:ext>
            </a:extLst>
          </p:cNvPr>
          <p:cNvSpPr>
            <a:spLocks noGrp="1"/>
          </p:cNvSpPr>
          <p:nvPr>
            <p:ph type="body" sz="quarter" idx="17"/>
          </p:nvPr>
        </p:nvSpPr>
        <p:spPr>
          <a:xfrm>
            <a:off x="599357" y="3273958"/>
            <a:ext cx="6121483" cy="1322365"/>
          </a:xfrm>
        </p:spPr>
        <p:txBody>
          <a:bodyPr/>
          <a:lstStyle/>
          <a:p>
            <a:r>
              <a:rPr lang="en-AU" dirty="0"/>
              <a:t>Part 4: Researching the case study</a:t>
            </a:r>
          </a:p>
        </p:txBody>
      </p:sp>
      <p:sp>
        <p:nvSpPr>
          <p:cNvPr id="4" name="Text Placeholder 2">
            <a:extLst>
              <a:ext uri="{FF2B5EF4-FFF2-40B4-BE49-F238E27FC236}">
                <a16:creationId xmlns:a16="http://schemas.microsoft.com/office/drawing/2014/main" id="{E554210D-59C6-A5D6-D9C1-B9F6117E3FA5}"/>
              </a:ext>
            </a:extLst>
          </p:cNvPr>
          <p:cNvSpPr>
            <a:spLocks noGrp="1"/>
          </p:cNvSpPr>
          <p:nvPr>
            <p:ph type="body" sz="quarter" idx="17"/>
          </p:nvPr>
        </p:nvSpPr>
        <p:spPr>
          <a:xfrm>
            <a:off x="599357" y="1688589"/>
            <a:ext cx="7224609" cy="573088"/>
          </a:xfrm>
        </p:spPr>
        <p:txBody>
          <a:bodyPr/>
          <a:lstStyle/>
          <a:p>
            <a:r>
              <a:rPr lang="en-AU" sz="4400" dirty="0"/>
              <a:t>Introductory Pharmacology Week 1 Tutorial</a:t>
            </a:r>
          </a:p>
        </p:txBody>
      </p:sp>
    </p:spTree>
    <p:extLst>
      <p:ext uri="{BB962C8B-B14F-4D97-AF65-F5344CB8AC3E}">
        <p14:creationId xmlns:p14="http://schemas.microsoft.com/office/powerpoint/2010/main" val="12917050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2622A0-3DD3-E568-2DE6-DA17604E00F1}"/>
              </a:ext>
            </a:extLst>
          </p:cNvPr>
          <p:cNvSpPr>
            <a:spLocks noGrp="1"/>
          </p:cNvSpPr>
          <p:nvPr>
            <p:ph type="body" sz="quarter" idx="17"/>
          </p:nvPr>
        </p:nvSpPr>
        <p:spPr>
          <a:xfrm>
            <a:off x="664026" y="645426"/>
            <a:ext cx="6558183" cy="1347833"/>
          </a:xfrm>
        </p:spPr>
        <p:txBody>
          <a:bodyPr>
            <a:normAutofit/>
          </a:bodyPr>
          <a:lstStyle/>
          <a:p>
            <a:pPr algn="ctr"/>
            <a:r>
              <a:rPr lang="en-AU" sz="4000" dirty="0"/>
              <a:t>What resources does the library have?</a:t>
            </a:r>
          </a:p>
        </p:txBody>
      </p:sp>
      <p:pic>
        <p:nvPicPr>
          <p:cNvPr id="4" name="Picture 3">
            <a:extLst>
              <a:ext uri="{FF2B5EF4-FFF2-40B4-BE49-F238E27FC236}">
                <a16:creationId xmlns:a16="http://schemas.microsoft.com/office/drawing/2014/main" id="{DCD046BA-F50D-4D64-8FAE-252C339FF392}"/>
              </a:ext>
            </a:extLst>
          </p:cNvPr>
          <p:cNvPicPr>
            <a:picLocks noChangeAspect="1"/>
          </p:cNvPicPr>
          <p:nvPr/>
        </p:nvPicPr>
        <p:blipFill>
          <a:blip r:embed="rId3"/>
          <a:stretch>
            <a:fillRect/>
          </a:stretch>
        </p:blipFill>
        <p:spPr>
          <a:xfrm>
            <a:off x="46049" y="1991651"/>
            <a:ext cx="8762452" cy="4844401"/>
          </a:xfrm>
          <a:prstGeom prst="rect">
            <a:avLst/>
          </a:prstGeom>
        </p:spPr>
      </p:pic>
    </p:spTree>
    <p:extLst>
      <p:ext uri="{BB962C8B-B14F-4D97-AF65-F5344CB8AC3E}">
        <p14:creationId xmlns:p14="http://schemas.microsoft.com/office/powerpoint/2010/main" val="3538347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2622A0-3DD3-E568-2DE6-DA17604E00F1}"/>
              </a:ext>
            </a:extLst>
          </p:cNvPr>
          <p:cNvSpPr>
            <a:spLocks noGrp="1"/>
          </p:cNvSpPr>
          <p:nvPr>
            <p:ph type="body" sz="quarter" idx="17"/>
          </p:nvPr>
        </p:nvSpPr>
        <p:spPr>
          <a:xfrm>
            <a:off x="664026" y="645426"/>
            <a:ext cx="6558183" cy="1347833"/>
          </a:xfrm>
        </p:spPr>
        <p:txBody>
          <a:bodyPr>
            <a:normAutofit/>
          </a:bodyPr>
          <a:lstStyle/>
          <a:p>
            <a:pPr algn="ctr"/>
            <a:r>
              <a:rPr lang="en-AU" sz="4000" dirty="0"/>
              <a:t>What resources does the library have?</a:t>
            </a:r>
          </a:p>
        </p:txBody>
      </p:sp>
      <p:pic>
        <p:nvPicPr>
          <p:cNvPr id="4" name="Picture 3">
            <a:extLst>
              <a:ext uri="{FF2B5EF4-FFF2-40B4-BE49-F238E27FC236}">
                <a16:creationId xmlns:a16="http://schemas.microsoft.com/office/drawing/2014/main" id="{DCD046BA-F50D-4D64-8FAE-252C339FF392}"/>
              </a:ext>
            </a:extLst>
          </p:cNvPr>
          <p:cNvPicPr>
            <a:picLocks noChangeAspect="1"/>
          </p:cNvPicPr>
          <p:nvPr/>
        </p:nvPicPr>
        <p:blipFill>
          <a:blip r:embed="rId3"/>
          <a:stretch>
            <a:fillRect/>
          </a:stretch>
        </p:blipFill>
        <p:spPr>
          <a:xfrm>
            <a:off x="0" y="58771"/>
            <a:ext cx="12192000" cy="6740457"/>
          </a:xfrm>
          <a:prstGeom prst="rect">
            <a:avLst/>
          </a:prstGeom>
        </p:spPr>
      </p:pic>
    </p:spTree>
    <p:extLst>
      <p:ext uri="{BB962C8B-B14F-4D97-AF65-F5344CB8AC3E}">
        <p14:creationId xmlns:p14="http://schemas.microsoft.com/office/powerpoint/2010/main" val="1570221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28E1-40D9-08E8-C751-925600C5D55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D788CD-AC04-386E-B428-519ACA046E46}"/>
              </a:ext>
            </a:extLst>
          </p:cNvPr>
          <p:cNvSpPr>
            <a:spLocks noGrp="1"/>
          </p:cNvSpPr>
          <p:nvPr>
            <p:ph type="body" sz="quarter" idx="16"/>
          </p:nvPr>
        </p:nvSpPr>
        <p:spPr>
          <a:xfrm>
            <a:off x="664028" y="3770147"/>
            <a:ext cx="5504297" cy="495918"/>
          </a:xfrm>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4593547F-E887-C769-146D-654561B69977}"/>
              </a:ext>
            </a:extLst>
          </p:cNvPr>
          <p:cNvSpPr>
            <a:spLocks noGrp="1"/>
          </p:cNvSpPr>
          <p:nvPr>
            <p:ph type="body" sz="quarter" idx="17"/>
          </p:nvPr>
        </p:nvSpPr>
        <p:spPr>
          <a:xfrm>
            <a:off x="664028" y="1993053"/>
            <a:ext cx="7224609" cy="573088"/>
          </a:xfrm>
        </p:spPr>
        <p:txBody>
          <a:bodyPr>
            <a:normAutofit fontScale="70000" lnSpcReduction="20000"/>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9F7D2511-B34B-75B8-E64D-73A2337CBDEA}"/>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0C84EC7A-9834-6A76-9A18-F98C27CD3028}"/>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B7E252C-3FA9-D60C-C4E8-211FC06BDA82}"/>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72FC59AF-9DA1-04F4-C0B4-059BED7AED82}"/>
              </a:ext>
            </a:extLst>
          </p:cNvPr>
          <p:cNvSpPr txBox="1">
            <a:spLocks/>
          </p:cNvSpPr>
          <p:nvPr/>
        </p:nvSpPr>
        <p:spPr>
          <a:xfrm>
            <a:off x="2974285" y="2410338"/>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Specific resources for</a:t>
            </a:r>
          </a:p>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Researching Case Studies </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4271718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9614A6-A3FD-B68F-A35B-E63C33199CB5}"/>
              </a:ext>
            </a:extLst>
          </p:cNvPr>
          <p:cNvSpPr>
            <a:spLocks noGrp="1"/>
          </p:cNvSpPr>
          <p:nvPr>
            <p:ph type="body" sz="quarter" idx="17"/>
          </p:nvPr>
        </p:nvSpPr>
        <p:spPr>
          <a:xfrm>
            <a:off x="664022" y="849375"/>
            <a:ext cx="6558183" cy="974040"/>
          </a:xfrm>
        </p:spPr>
        <p:txBody>
          <a:bodyPr>
            <a:normAutofit fontScale="85000" lnSpcReduction="20000"/>
          </a:bodyPr>
          <a:lstStyle/>
          <a:p>
            <a:pPr algn="ctr"/>
            <a:r>
              <a:rPr lang="en-US" sz="4000" dirty="0"/>
              <a:t>Example of a </a:t>
            </a:r>
          </a:p>
          <a:p>
            <a:pPr algn="ctr"/>
            <a:r>
              <a:rPr lang="en-US" sz="4000" dirty="0"/>
              <a:t>Typical workbook question</a:t>
            </a:r>
            <a:endParaRPr lang="en-AU" sz="4000" dirty="0"/>
          </a:p>
        </p:txBody>
      </p:sp>
      <p:sp>
        <p:nvSpPr>
          <p:cNvPr id="3" name="Text Placeholder 2">
            <a:extLst>
              <a:ext uri="{FF2B5EF4-FFF2-40B4-BE49-F238E27FC236}">
                <a16:creationId xmlns:a16="http://schemas.microsoft.com/office/drawing/2014/main" id="{4D60C090-E5C5-B372-B108-CF253CC87731}"/>
              </a:ext>
            </a:extLst>
          </p:cNvPr>
          <p:cNvSpPr>
            <a:spLocks noGrp="1"/>
          </p:cNvSpPr>
          <p:nvPr>
            <p:ph type="body" sz="quarter" idx="20"/>
          </p:nvPr>
        </p:nvSpPr>
        <p:spPr>
          <a:xfrm>
            <a:off x="664022" y="2106370"/>
            <a:ext cx="7801248" cy="2649826"/>
          </a:xfrm>
        </p:spPr>
        <p:txBody>
          <a:bodyPr>
            <a:normAutofit fontScale="77500" lnSpcReduction="20000"/>
          </a:bodyPr>
          <a:lstStyle/>
          <a:p>
            <a:pPr>
              <a:lnSpc>
                <a:spcPct val="160000"/>
              </a:lnSpc>
            </a:pPr>
            <a:r>
              <a:rPr lang="en-US" sz="2400" dirty="0">
                <a:solidFill>
                  <a:srgbClr val="007298"/>
                </a:solidFill>
                <a:latin typeface="Roboto Black" panose="02000000000000000000" pitchFamily="2" charset="0"/>
                <a:ea typeface="Roboto Black" panose="02000000000000000000" pitchFamily="2" charset="0"/>
                <a:cs typeface="Roboto" panose="02000000000000000000" pitchFamily="2" charset="0"/>
              </a:rPr>
              <a:t>HH is a 28-year-old pregnant woman who visits her midwife for her antenatal check-up. She is eight months pregnant and speaks to her midwife about clotrimazole 2 percent vaginal cream prescribed by her local doctor for vulvovaginal candidiasis. ………………she is very concerned about the possible harm of the medicine to her baby. </a:t>
            </a:r>
          </a:p>
          <a:p>
            <a:endParaRPr lang="en-AU" dirty="0"/>
          </a:p>
        </p:txBody>
      </p:sp>
      <p:sp>
        <p:nvSpPr>
          <p:cNvPr id="4" name="Text Placeholder 3">
            <a:extLst>
              <a:ext uri="{FF2B5EF4-FFF2-40B4-BE49-F238E27FC236}">
                <a16:creationId xmlns:a16="http://schemas.microsoft.com/office/drawing/2014/main" id="{43EB39E5-9C60-E8DD-54EF-A87C2C5E0A81}"/>
              </a:ext>
            </a:extLst>
          </p:cNvPr>
          <p:cNvSpPr>
            <a:spLocks noGrp="1"/>
          </p:cNvSpPr>
          <p:nvPr>
            <p:ph type="body" sz="quarter" idx="21"/>
          </p:nvPr>
        </p:nvSpPr>
        <p:spPr>
          <a:xfrm>
            <a:off x="664020" y="4939159"/>
            <a:ext cx="6558185" cy="446706"/>
          </a:xfrm>
        </p:spPr>
        <p:txBody>
          <a:bodyPr/>
          <a:lstStyle/>
          <a:p>
            <a:r>
              <a:rPr lang="en-US" dirty="0"/>
              <a:t>Question</a:t>
            </a:r>
            <a:endParaRPr lang="en-AU" dirty="0"/>
          </a:p>
        </p:txBody>
      </p:sp>
      <p:sp>
        <p:nvSpPr>
          <p:cNvPr id="5" name="Text Placeholder 4">
            <a:extLst>
              <a:ext uri="{FF2B5EF4-FFF2-40B4-BE49-F238E27FC236}">
                <a16:creationId xmlns:a16="http://schemas.microsoft.com/office/drawing/2014/main" id="{BF5304CE-1956-0375-2AE9-257950719242}"/>
              </a:ext>
            </a:extLst>
          </p:cNvPr>
          <p:cNvSpPr>
            <a:spLocks noGrp="1"/>
          </p:cNvSpPr>
          <p:nvPr>
            <p:ph type="body" sz="quarter" idx="22"/>
          </p:nvPr>
        </p:nvSpPr>
        <p:spPr>
          <a:xfrm>
            <a:off x="664019" y="5331015"/>
            <a:ext cx="8319725" cy="824825"/>
          </a:xfrm>
        </p:spPr>
        <p:txBody>
          <a:bodyPr/>
          <a:lstStyle/>
          <a:p>
            <a:r>
              <a:rPr lang="en-AU" sz="2400" dirty="0">
                <a:solidFill>
                  <a:srgbClr val="007298"/>
                </a:solidFill>
                <a:effectLst/>
                <a:latin typeface="Roboto Black" panose="02000000000000000000" pitchFamily="2" charset="0"/>
                <a:ea typeface="Roboto Black" panose="02000000000000000000" pitchFamily="2" charset="0"/>
              </a:rPr>
              <a:t>Is clotrimazole likely to cause any harm to the foetus? Explain your answer. </a:t>
            </a:r>
            <a:endParaRPr lang="en-AU" sz="2400" dirty="0">
              <a:solidFill>
                <a:srgbClr val="007298"/>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508947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AE0A4C-A7AB-8788-5B1B-71E54BF518D9}"/>
              </a:ext>
            </a:extLst>
          </p:cNvPr>
          <p:cNvSpPr>
            <a:spLocks noGrp="1"/>
          </p:cNvSpPr>
          <p:nvPr>
            <p:ph type="body" sz="quarter" idx="16"/>
          </p:nvPr>
        </p:nvSpPr>
        <p:spPr/>
        <p:txBody>
          <a:bodyPr/>
          <a:lstStyle/>
          <a:p>
            <a:endParaRPr lang="en-AU"/>
          </a:p>
        </p:txBody>
      </p:sp>
      <p:sp>
        <p:nvSpPr>
          <p:cNvPr id="4" name="Text Placeholder 3">
            <a:extLst>
              <a:ext uri="{FF2B5EF4-FFF2-40B4-BE49-F238E27FC236}">
                <a16:creationId xmlns:a16="http://schemas.microsoft.com/office/drawing/2014/main" id="{A1A27ED9-8743-AFBF-1218-34D54A036A33}"/>
              </a:ext>
            </a:extLst>
          </p:cNvPr>
          <p:cNvSpPr>
            <a:spLocks noGrp="1"/>
          </p:cNvSpPr>
          <p:nvPr>
            <p:ph type="body" sz="quarter" idx="18"/>
          </p:nvPr>
        </p:nvSpPr>
        <p:spPr/>
        <p:txBody>
          <a:bodyPr/>
          <a:lstStyle/>
          <a:p>
            <a:endParaRPr lang="en-AU"/>
          </a:p>
        </p:txBody>
      </p:sp>
      <p:sp>
        <p:nvSpPr>
          <p:cNvPr id="5" name="Text Placeholder 1">
            <a:extLst>
              <a:ext uri="{FF2B5EF4-FFF2-40B4-BE49-F238E27FC236}">
                <a16:creationId xmlns:a16="http://schemas.microsoft.com/office/drawing/2014/main" id="{62AC94DF-2BCA-C660-B673-D118E29A92E2}"/>
              </a:ext>
            </a:extLst>
          </p:cNvPr>
          <p:cNvSpPr txBox="1">
            <a:spLocks noGrp="1"/>
          </p:cNvSpPr>
          <p:nvPr>
            <p:ph type="body" sz="quarter" idx="17"/>
          </p:nvPr>
        </p:nvSpPr>
        <p:spPr>
          <a:xfrm>
            <a:off x="663575" y="2732088"/>
            <a:ext cx="7224713" cy="573087"/>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r>
              <a:rPr lang="en-AU" altLang="en-US" sz="3600" dirty="0">
                <a:solidFill>
                  <a:srgbClr val="06678A"/>
                </a:solidFill>
                <a:latin typeface="Roboto Black" panose="02000000000000000000" pitchFamily="2" charset="0"/>
                <a:ea typeface="Roboto Black" panose="02000000000000000000" pitchFamily="2" charset="0"/>
              </a:rPr>
              <a:t>…just Google it??</a:t>
            </a: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Tree>
    <p:extLst>
      <p:ext uri="{BB962C8B-B14F-4D97-AF65-F5344CB8AC3E}">
        <p14:creationId xmlns:p14="http://schemas.microsoft.com/office/powerpoint/2010/main" val="277416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891226-176B-92F6-1398-923E140DA4C0}"/>
              </a:ext>
            </a:extLst>
          </p:cNvPr>
          <p:cNvSpPr>
            <a:spLocks noGrp="1"/>
          </p:cNvSpPr>
          <p:nvPr>
            <p:ph type="body" sz="quarter" idx="17"/>
          </p:nvPr>
        </p:nvSpPr>
        <p:spPr/>
        <p:txBody>
          <a:bodyPr/>
          <a:lstStyle/>
          <a:p>
            <a:r>
              <a:rPr lang="en-US" dirty="0"/>
              <a:t>Google it!</a:t>
            </a:r>
            <a:endParaRPr lang="en-AU" dirty="0"/>
          </a:p>
        </p:txBody>
      </p:sp>
      <p:sp>
        <p:nvSpPr>
          <p:cNvPr id="12" name="Rectangle 11">
            <a:extLst>
              <a:ext uri="{FF2B5EF4-FFF2-40B4-BE49-F238E27FC236}">
                <a16:creationId xmlns:a16="http://schemas.microsoft.com/office/drawing/2014/main" id="{18A605B7-38D0-08D3-822A-907CC92E685B}"/>
              </a:ext>
            </a:extLst>
          </p:cNvPr>
          <p:cNvSpPr/>
          <p:nvPr/>
        </p:nvSpPr>
        <p:spPr>
          <a:xfrm>
            <a:off x="0" y="0"/>
            <a:ext cx="12192000"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3" name="Text Placeholder 2">
            <a:extLst>
              <a:ext uri="{FF2B5EF4-FFF2-40B4-BE49-F238E27FC236}">
                <a16:creationId xmlns:a16="http://schemas.microsoft.com/office/drawing/2014/main" id="{6608D1EB-5BD7-5280-4A60-839B5B6C1BE9}"/>
              </a:ext>
            </a:extLst>
          </p:cNvPr>
          <p:cNvSpPr>
            <a:spLocks noGrp="1"/>
          </p:cNvSpPr>
          <p:nvPr>
            <p:ph type="body" sz="quarter" idx="20"/>
          </p:nvPr>
        </p:nvSpPr>
        <p:spPr>
          <a:xfrm>
            <a:off x="984538" y="2833763"/>
            <a:ext cx="10610431" cy="3048563"/>
          </a:xfrm>
        </p:spPr>
        <p:txBody>
          <a:bodyPr>
            <a:normAutofit lnSpcReduction="10000"/>
          </a:bodyPr>
          <a:lstStyle/>
          <a:p>
            <a:r>
              <a:rPr lang="en-US" sz="2400" dirty="0">
                <a:solidFill>
                  <a:srgbClr val="007298"/>
                </a:solidFill>
                <a:latin typeface="Roboto" panose="02000000000000000000" pitchFamily="2" charset="0"/>
                <a:ea typeface="Roboto" panose="02000000000000000000" pitchFamily="2" charset="0"/>
                <a:cs typeface="Roboto" panose="02000000000000000000" pitchFamily="2" charset="0"/>
              </a:rPr>
              <a:t>About 2,170,000 results</a:t>
            </a:r>
          </a:p>
          <a:p>
            <a:r>
              <a:rPr lang="en-US" sz="2400" i="1" dirty="0">
                <a:solidFill>
                  <a:srgbClr val="007298"/>
                </a:solidFill>
                <a:latin typeface="Roboto Black" panose="02000000000000000000" pitchFamily="2" charset="0"/>
                <a:ea typeface="Roboto Black" panose="02000000000000000000" pitchFamily="2" charset="0"/>
              </a:rPr>
              <a:t>But which result will contain the information you need?</a:t>
            </a:r>
          </a:p>
          <a:p>
            <a:pPr lvl="1">
              <a:buFont typeface="Wingdings" panose="05000000000000000000" pitchFamily="2" charset="2"/>
              <a:buChar char="ü"/>
            </a:pPr>
            <a:r>
              <a:rPr lang="en-US" i="1" dirty="0">
                <a:solidFill>
                  <a:srgbClr val="007298"/>
                </a:solidFill>
                <a:latin typeface="Roboto" panose="02000000000000000000" pitchFamily="2" charset="0"/>
                <a:ea typeface="Roboto" panose="02000000000000000000" pitchFamily="2" charset="0"/>
                <a:cs typeface="Roboto" panose="02000000000000000000" pitchFamily="2" charset="0"/>
              </a:rPr>
              <a:t>Directed to health professionals</a:t>
            </a:r>
          </a:p>
          <a:p>
            <a:pPr lvl="1">
              <a:buFont typeface="Wingdings" panose="05000000000000000000" pitchFamily="2" charset="2"/>
              <a:buChar char="ü"/>
            </a:pPr>
            <a:r>
              <a:rPr lang="en-US" sz="2400" i="1" dirty="0">
                <a:solidFill>
                  <a:srgbClr val="007298"/>
                </a:solidFill>
                <a:latin typeface="Roboto" panose="02000000000000000000" pitchFamily="2" charset="0"/>
                <a:ea typeface="Roboto" panose="02000000000000000000" pitchFamily="2" charset="0"/>
                <a:cs typeface="Roboto" panose="02000000000000000000" pitchFamily="2" charset="0"/>
              </a:rPr>
              <a:t>Accurate</a:t>
            </a:r>
          </a:p>
          <a:p>
            <a:pPr lvl="1">
              <a:buFont typeface="Wingdings" panose="05000000000000000000" pitchFamily="2" charset="2"/>
              <a:buChar char="ü"/>
            </a:pPr>
            <a:r>
              <a:rPr lang="en-US" sz="2400" i="1" dirty="0">
                <a:solidFill>
                  <a:srgbClr val="007298"/>
                </a:solidFill>
                <a:latin typeface="Roboto" panose="02000000000000000000" pitchFamily="2" charset="0"/>
                <a:ea typeface="Roboto" panose="02000000000000000000" pitchFamily="2" charset="0"/>
                <a:cs typeface="Roboto" panose="02000000000000000000" pitchFamily="2" charset="0"/>
              </a:rPr>
              <a:t>evidence based</a:t>
            </a:r>
            <a:endParaRPr lang="en-US" i="1" dirty="0">
              <a:solidFill>
                <a:srgbClr val="007298"/>
              </a:solidFill>
              <a:latin typeface="Roboto" panose="02000000000000000000" pitchFamily="2" charset="0"/>
              <a:ea typeface="Roboto" panose="02000000000000000000" pitchFamily="2" charset="0"/>
              <a:cs typeface="Roboto" panose="02000000000000000000" pitchFamily="2" charset="0"/>
            </a:endParaRPr>
          </a:p>
          <a:p>
            <a:pPr lvl="1">
              <a:buFont typeface="Wingdings" panose="05000000000000000000" pitchFamily="2" charset="2"/>
              <a:buChar char="ü"/>
            </a:pPr>
            <a:r>
              <a:rPr lang="en-US" sz="2400" i="1" dirty="0">
                <a:solidFill>
                  <a:srgbClr val="007298"/>
                </a:solidFill>
                <a:latin typeface="Roboto" panose="02000000000000000000" pitchFamily="2" charset="0"/>
                <a:ea typeface="Roboto" panose="02000000000000000000" pitchFamily="2" charset="0"/>
                <a:cs typeface="Roboto" panose="02000000000000000000" pitchFamily="2" charset="0"/>
              </a:rPr>
              <a:t>unbiased </a:t>
            </a:r>
          </a:p>
          <a:p>
            <a:pPr lvl="1">
              <a:buFont typeface="Wingdings" panose="05000000000000000000" pitchFamily="2" charset="2"/>
              <a:buChar char="ü"/>
            </a:pPr>
            <a:r>
              <a:rPr lang="en-US" sz="2400" i="1" dirty="0">
                <a:solidFill>
                  <a:srgbClr val="007298"/>
                </a:solidFill>
                <a:latin typeface="Roboto" panose="02000000000000000000" pitchFamily="2" charset="0"/>
                <a:ea typeface="Roboto" panose="02000000000000000000" pitchFamily="2" charset="0"/>
                <a:cs typeface="Roboto" panose="02000000000000000000" pitchFamily="2" charset="0"/>
              </a:rPr>
              <a:t>up to date </a:t>
            </a:r>
          </a:p>
          <a:p>
            <a:pPr lvl="1">
              <a:buFont typeface="Wingdings" panose="05000000000000000000" pitchFamily="2" charset="2"/>
              <a:buChar char="ü"/>
            </a:pPr>
            <a:r>
              <a:rPr lang="en-US" sz="2400" i="1" dirty="0">
                <a:solidFill>
                  <a:srgbClr val="007298"/>
                </a:solidFill>
                <a:latin typeface="Roboto" panose="02000000000000000000" pitchFamily="2" charset="0"/>
                <a:ea typeface="Roboto" panose="02000000000000000000" pitchFamily="2" charset="0"/>
                <a:cs typeface="Roboto" panose="02000000000000000000" pitchFamily="2" charset="0"/>
              </a:rPr>
              <a:t>relevant in Australia?</a:t>
            </a:r>
            <a:endParaRPr lang="en-AU" sz="2400" i="1" dirty="0">
              <a:solidFill>
                <a:srgbClr val="007298"/>
              </a:solidFill>
              <a:latin typeface="Roboto" panose="02000000000000000000" pitchFamily="2" charset="0"/>
              <a:ea typeface="Roboto" panose="02000000000000000000" pitchFamily="2" charset="0"/>
              <a:cs typeface="Roboto" panose="02000000000000000000" pitchFamily="2" charset="0"/>
            </a:endParaRPr>
          </a:p>
        </p:txBody>
      </p:sp>
      <p:pic>
        <p:nvPicPr>
          <p:cNvPr id="8" name="Picture 7">
            <a:extLst>
              <a:ext uri="{FF2B5EF4-FFF2-40B4-BE49-F238E27FC236}">
                <a16:creationId xmlns:a16="http://schemas.microsoft.com/office/drawing/2014/main" id="{D9FF3B9B-45C4-E6BE-F4B7-11E67FC5125D}"/>
              </a:ext>
            </a:extLst>
          </p:cNvPr>
          <p:cNvPicPr>
            <a:picLocks noChangeAspect="1"/>
          </p:cNvPicPr>
          <p:nvPr/>
        </p:nvPicPr>
        <p:blipFill>
          <a:blip r:embed="rId3"/>
          <a:stretch>
            <a:fillRect/>
          </a:stretch>
        </p:blipFill>
        <p:spPr>
          <a:xfrm>
            <a:off x="3085194" y="504649"/>
            <a:ext cx="5540012" cy="1885205"/>
          </a:xfrm>
          <a:prstGeom prst="rect">
            <a:avLst/>
          </a:prstGeom>
          <a:ln w="38100">
            <a:solidFill>
              <a:srgbClr val="007298"/>
            </a:solidFill>
          </a:ln>
        </p:spPr>
      </p:pic>
    </p:spTree>
    <p:extLst>
      <p:ext uri="{BB962C8B-B14F-4D97-AF65-F5344CB8AC3E}">
        <p14:creationId xmlns:p14="http://schemas.microsoft.com/office/powerpoint/2010/main" val="7663165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4704A65-C243-1D82-B2A1-E4F56899E34A}"/>
              </a:ext>
            </a:extLst>
          </p:cNvPr>
          <p:cNvSpPr/>
          <p:nvPr/>
        </p:nvSpPr>
        <p:spPr>
          <a:xfrm>
            <a:off x="0" y="0"/>
            <a:ext cx="12192000"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2" name="Text Placeholder 1">
            <a:extLst>
              <a:ext uri="{FF2B5EF4-FFF2-40B4-BE49-F238E27FC236}">
                <a16:creationId xmlns:a16="http://schemas.microsoft.com/office/drawing/2014/main" id="{7B891226-176B-92F6-1398-923E140DA4C0}"/>
              </a:ext>
            </a:extLst>
          </p:cNvPr>
          <p:cNvSpPr>
            <a:spLocks noGrp="1"/>
          </p:cNvSpPr>
          <p:nvPr>
            <p:ph type="body" sz="quarter" idx="17"/>
          </p:nvPr>
        </p:nvSpPr>
        <p:spPr>
          <a:xfrm>
            <a:off x="2539962" y="943231"/>
            <a:ext cx="6558183" cy="573088"/>
          </a:xfrm>
        </p:spPr>
        <p:txBody>
          <a:bodyPr/>
          <a:lstStyle/>
          <a:p>
            <a:pPr algn="ctr"/>
            <a:r>
              <a:rPr lang="en-US" dirty="0"/>
              <a:t>What about Wikipedia?</a:t>
            </a:r>
            <a:endParaRPr lang="en-AU" dirty="0"/>
          </a:p>
          <a:p>
            <a:endParaRPr lang="en-AU" dirty="0"/>
          </a:p>
        </p:txBody>
      </p:sp>
      <p:sp>
        <p:nvSpPr>
          <p:cNvPr id="3" name="Text Placeholder 2">
            <a:extLst>
              <a:ext uri="{FF2B5EF4-FFF2-40B4-BE49-F238E27FC236}">
                <a16:creationId xmlns:a16="http://schemas.microsoft.com/office/drawing/2014/main" id="{6608D1EB-5BD7-5280-4A60-839B5B6C1BE9}"/>
              </a:ext>
            </a:extLst>
          </p:cNvPr>
          <p:cNvSpPr>
            <a:spLocks noGrp="1"/>
          </p:cNvSpPr>
          <p:nvPr>
            <p:ph type="body" sz="quarter" idx="20"/>
          </p:nvPr>
        </p:nvSpPr>
        <p:spPr>
          <a:xfrm>
            <a:off x="664022" y="2434155"/>
            <a:ext cx="6558185" cy="2433467"/>
          </a:xfrm>
        </p:spPr>
        <p:txBody>
          <a:bodyPr>
            <a:normAutofit/>
          </a:bodyPr>
          <a:lstStyle/>
          <a:p>
            <a:pPr marL="342900" indent="-342900">
              <a:buFont typeface="Arial" panose="020B0604020202020204" pitchFamily="34" charset="0"/>
              <a:buChar char="•"/>
            </a:pPr>
            <a:r>
              <a:rPr lang="en-AU" sz="2400" dirty="0">
                <a:solidFill>
                  <a:srgbClr val="007298"/>
                </a:solidFill>
                <a:latin typeface="Roboto" panose="02000000000000000000" pitchFamily="2" charset="0"/>
                <a:ea typeface="Roboto" panose="02000000000000000000" pitchFamily="2" charset="0"/>
                <a:cs typeface="Roboto" panose="02000000000000000000" pitchFamily="2" charset="0"/>
              </a:rPr>
              <a:t>May be helpful for a general overview</a:t>
            </a:r>
          </a:p>
          <a:p>
            <a:pPr marL="342900" indent="-342900">
              <a:buFont typeface="Arial" panose="020B0604020202020204" pitchFamily="34" charset="0"/>
              <a:buChar char="•"/>
            </a:pPr>
            <a:r>
              <a:rPr lang="en-AU" sz="2400" b="1" dirty="0">
                <a:solidFill>
                  <a:srgbClr val="007298"/>
                </a:solidFill>
                <a:latin typeface="Roboto" panose="02000000000000000000" pitchFamily="2" charset="0"/>
                <a:ea typeface="Roboto" panose="02000000000000000000" pitchFamily="2" charset="0"/>
                <a:cs typeface="Roboto" panose="02000000000000000000" pitchFamily="2" charset="0"/>
              </a:rPr>
              <a:t>But</a:t>
            </a:r>
            <a:r>
              <a:rPr lang="en-AU" sz="2400" dirty="0">
                <a:solidFill>
                  <a:srgbClr val="007298"/>
                </a:solidFill>
                <a:latin typeface="Roboto" panose="02000000000000000000" pitchFamily="2" charset="0"/>
                <a:ea typeface="Roboto" panose="02000000000000000000" pitchFamily="2" charset="0"/>
                <a:cs typeface="Roboto" panose="02000000000000000000" pitchFamily="2" charset="0"/>
              </a:rPr>
              <a:t> you need to check the references </a:t>
            </a:r>
          </a:p>
          <a:p>
            <a:pPr marL="1028700" lvl="1" indent="-342900"/>
            <a:r>
              <a:rPr lang="en-AU" sz="2200" dirty="0">
                <a:solidFill>
                  <a:srgbClr val="007298"/>
                </a:solidFill>
                <a:latin typeface="Roboto" panose="02000000000000000000" pitchFamily="2" charset="0"/>
                <a:ea typeface="Roboto" panose="02000000000000000000" pitchFamily="2" charset="0"/>
                <a:cs typeface="Roboto" panose="02000000000000000000" pitchFamily="2" charset="0"/>
              </a:rPr>
              <a:t>Are they from reliable sources?</a:t>
            </a:r>
          </a:p>
          <a:p>
            <a:pPr marL="1028700" lvl="1" indent="-342900"/>
            <a:r>
              <a:rPr lang="en-AU" sz="2200" dirty="0">
                <a:solidFill>
                  <a:srgbClr val="007298"/>
                </a:solidFill>
                <a:latin typeface="Roboto" panose="02000000000000000000" pitchFamily="2" charset="0"/>
                <a:ea typeface="Roboto" panose="02000000000000000000" pitchFamily="2" charset="0"/>
                <a:cs typeface="Roboto" panose="02000000000000000000" pitchFamily="2" charset="0"/>
              </a:rPr>
              <a:t>Are they unbiased or are they provided by the medicine sponsor/manufacturer?</a:t>
            </a:r>
          </a:p>
          <a:p>
            <a:pPr marL="1028700" lvl="1" indent="-342900"/>
            <a:r>
              <a:rPr lang="en-AU" sz="2200" dirty="0">
                <a:solidFill>
                  <a:srgbClr val="007298"/>
                </a:solidFill>
                <a:latin typeface="Roboto" panose="02000000000000000000" pitchFamily="2" charset="0"/>
                <a:ea typeface="Roboto" panose="02000000000000000000" pitchFamily="2" charset="0"/>
                <a:cs typeface="Roboto" panose="02000000000000000000" pitchFamily="2" charset="0"/>
              </a:rPr>
              <a:t>Publication date?</a:t>
            </a:r>
          </a:p>
        </p:txBody>
      </p:sp>
      <p:sp>
        <p:nvSpPr>
          <p:cNvPr id="10" name="TextBox 9">
            <a:extLst>
              <a:ext uri="{FF2B5EF4-FFF2-40B4-BE49-F238E27FC236}">
                <a16:creationId xmlns:a16="http://schemas.microsoft.com/office/drawing/2014/main" id="{A07AE97D-CDBA-2525-1110-4497EFAA7993}"/>
              </a:ext>
            </a:extLst>
          </p:cNvPr>
          <p:cNvSpPr txBox="1"/>
          <p:nvPr/>
        </p:nvSpPr>
        <p:spPr>
          <a:xfrm>
            <a:off x="8003357" y="5071377"/>
            <a:ext cx="2799761" cy="369332"/>
          </a:xfrm>
          <a:prstGeom prst="rect">
            <a:avLst/>
          </a:prstGeom>
          <a:noFill/>
          <a:ln>
            <a:solidFill>
              <a:srgbClr val="33CCCC"/>
            </a:solidFill>
          </a:ln>
        </p:spPr>
        <p:txBody>
          <a:bodyPr wrap="square" rtlCol="0">
            <a:spAutoFit/>
          </a:bodyPr>
          <a:lstStyle/>
          <a:p>
            <a:r>
              <a:rPr lang="en-AU"/>
              <a:t>https://www.wikipedia.org/</a:t>
            </a:r>
            <a:endParaRPr lang="en-AU" dirty="0"/>
          </a:p>
        </p:txBody>
      </p:sp>
      <p:pic>
        <p:nvPicPr>
          <p:cNvPr id="13" name="Picture 12">
            <a:extLst>
              <a:ext uri="{FF2B5EF4-FFF2-40B4-BE49-F238E27FC236}">
                <a16:creationId xmlns:a16="http://schemas.microsoft.com/office/drawing/2014/main" id="{AEF50732-EBA4-AF31-8223-C1D638B509A4}"/>
              </a:ext>
            </a:extLst>
          </p:cNvPr>
          <p:cNvPicPr>
            <a:picLocks noChangeAspect="1"/>
          </p:cNvPicPr>
          <p:nvPr/>
        </p:nvPicPr>
        <p:blipFill>
          <a:blip r:embed="rId3"/>
          <a:stretch>
            <a:fillRect/>
          </a:stretch>
        </p:blipFill>
        <p:spPr>
          <a:xfrm>
            <a:off x="7541443" y="2272582"/>
            <a:ext cx="3535052" cy="2619726"/>
          </a:xfrm>
          <a:prstGeom prst="rect">
            <a:avLst/>
          </a:prstGeom>
          <a:ln>
            <a:solidFill>
              <a:srgbClr val="33CCCC"/>
            </a:solidFill>
          </a:ln>
        </p:spPr>
      </p:pic>
    </p:spTree>
    <p:extLst>
      <p:ext uri="{BB962C8B-B14F-4D97-AF65-F5344CB8AC3E}">
        <p14:creationId xmlns:p14="http://schemas.microsoft.com/office/powerpoint/2010/main" val="1040212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BCDBB2-D740-4646-80C4-08E53BF21958}"/>
              </a:ext>
            </a:extLst>
          </p:cNvPr>
          <p:cNvSpPr>
            <a:spLocks noGrp="1"/>
          </p:cNvSpPr>
          <p:nvPr>
            <p:ph type="body" sz="quarter" idx="17"/>
          </p:nvPr>
        </p:nvSpPr>
        <p:spPr/>
        <p:txBody>
          <a:bodyPr/>
          <a:lstStyle/>
          <a:p>
            <a:endParaRPr lang="en-AU"/>
          </a:p>
        </p:txBody>
      </p:sp>
      <p:sp>
        <p:nvSpPr>
          <p:cNvPr id="3" name="Text Placeholder 2">
            <a:extLst>
              <a:ext uri="{FF2B5EF4-FFF2-40B4-BE49-F238E27FC236}">
                <a16:creationId xmlns:a16="http://schemas.microsoft.com/office/drawing/2014/main" id="{1CC3E8E9-CA84-4B76-8467-4F131FAE988D}"/>
              </a:ext>
            </a:extLst>
          </p:cNvPr>
          <p:cNvSpPr>
            <a:spLocks noGrp="1"/>
          </p:cNvSpPr>
          <p:nvPr>
            <p:ph type="body" sz="quarter" idx="20"/>
          </p:nvPr>
        </p:nvSpPr>
        <p:spPr/>
        <p:txBody>
          <a:bodyPr/>
          <a:lstStyle/>
          <a:p>
            <a:endParaRPr lang="en-AU"/>
          </a:p>
        </p:txBody>
      </p:sp>
      <p:sp>
        <p:nvSpPr>
          <p:cNvPr id="4" name="Text Placeholder 3">
            <a:extLst>
              <a:ext uri="{FF2B5EF4-FFF2-40B4-BE49-F238E27FC236}">
                <a16:creationId xmlns:a16="http://schemas.microsoft.com/office/drawing/2014/main" id="{B849B00C-6575-4698-BDDE-EC6EDFBC9D73}"/>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AE5D3522-0B1D-4E5F-9A75-2A4564F9B2F8}"/>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B354A175-E244-4AEE-93C9-80DA76B77C2F}"/>
              </a:ext>
            </a:extLst>
          </p:cNvPr>
          <p:cNvSpPr>
            <a:spLocks noGrp="1"/>
          </p:cNvSpPr>
          <p:nvPr>
            <p:ph type="body" sz="quarter" idx="18"/>
          </p:nvPr>
        </p:nvSpPr>
        <p:spPr/>
        <p:txBody>
          <a:bodyPr/>
          <a:lstStyle/>
          <a:p>
            <a:endParaRPr lang="en-AU"/>
          </a:p>
        </p:txBody>
      </p:sp>
      <p:pic>
        <p:nvPicPr>
          <p:cNvPr id="7" name="Picture 6">
            <a:extLst>
              <a:ext uri="{FF2B5EF4-FFF2-40B4-BE49-F238E27FC236}">
                <a16:creationId xmlns:a16="http://schemas.microsoft.com/office/drawing/2014/main" id="{B1FC593D-8509-4E7F-B75A-65EBC6A7D2B6}"/>
              </a:ext>
            </a:extLst>
          </p:cNvPr>
          <p:cNvPicPr>
            <a:picLocks noChangeAspect="1"/>
          </p:cNvPicPr>
          <p:nvPr/>
        </p:nvPicPr>
        <p:blipFill>
          <a:blip r:embed="rId3"/>
          <a:stretch>
            <a:fillRect/>
          </a:stretch>
        </p:blipFill>
        <p:spPr>
          <a:xfrm>
            <a:off x="1810785" y="0"/>
            <a:ext cx="10381215" cy="6858000"/>
          </a:xfrm>
          <a:prstGeom prst="rect">
            <a:avLst/>
          </a:prstGeom>
        </p:spPr>
      </p:pic>
      <p:sp>
        <p:nvSpPr>
          <p:cNvPr id="8" name="Rectangle 7">
            <a:extLst>
              <a:ext uri="{FF2B5EF4-FFF2-40B4-BE49-F238E27FC236}">
                <a16:creationId xmlns:a16="http://schemas.microsoft.com/office/drawing/2014/main" id="{7CDE2DC0-3374-4614-8122-EADA98BFD2D2}"/>
              </a:ext>
            </a:extLst>
          </p:cNvPr>
          <p:cNvSpPr/>
          <p:nvPr/>
        </p:nvSpPr>
        <p:spPr>
          <a:xfrm>
            <a:off x="0" y="0"/>
            <a:ext cx="186169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F2763B13-B9A5-49CC-AEB0-753F9737E4D6}"/>
              </a:ext>
            </a:extLst>
          </p:cNvPr>
          <p:cNvPicPr>
            <a:picLocks noChangeAspect="1"/>
          </p:cNvPicPr>
          <p:nvPr/>
        </p:nvPicPr>
        <p:blipFill>
          <a:blip r:embed="rId4"/>
          <a:stretch>
            <a:fillRect/>
          </a:stretch>
        </p:blipFill>
        <p:spPr>
          <a:xfrm rot="17935981">
            <a:off x="-505480" y="2948875"/>
            <a:ext cx="2895851" cy="499915"/>
          </a:xfrm>
          <a:prstGeom prst="rect">
            <a:avLst/>
          </a:prstGeom>
        </p:spPr>
      </p:pic>
      <p:pic>
        <p:nvPicPr>
          <p:cNvPr id="10" name="Picture 9">
            <a:extLst>
              <a:ext uri="{FF2B5EF4-FFF2-40B4-BE49-F238E27FC236}">
                <a16:creationId xmlns:a16="http://schemas.microsoft.com/office/drawing/2014/main" id="{2A0EDADF-9335-496B-9C8E-EC9406CD750B}"/>
              </a:ext>
            </a:extLst>
          </p:cNvPr>
          <p:cNvPicPr>
            <a:picLocks noChangeAspect="1"/>
          </p:cNvPicPr>
          <p:nvPr/>
        </p:nvPicPr>
        <p:blipFill>
          <a:blip r:embed="rId4"/>
          <a:stretch>
            <a:fillRect/>
          </a:stretch>
        </p:blipFill>
        <p:spPr>
          <a:xfrm rot="17935981">
            <a:off x="-517080" y="4904624"/>
            <a:ext cx="2895851" cy="499915"/>
          </a:xfrm>
          <a:prstGeom prst="rect">
            <a:avLst/>
          </a:prstGeom>
        </p:spPr>
      </p:pic>
      <p:pic>
        <p:nvPicPr>
          <p:cNvPr id="11" name="Picture 10">
            <a:extLst>
              <a:ext uri="{FF2B5EF4-FFF2-40B4-BE49-F238E27FC236}">
                <a16:creationId xmlns:a16="http://schemas.microsoft.com/office/drawing/2014/main" id="{E83A3CAE-332A-4483-8BD1-9A3F33B780AE}"/>
              </a:ext>
            </a:extLst>
          </p:cNvPr>
          <p:cNvPicPr>
            <a:picLocks noChangeAspect="1"/>
          </p:cNvPicPr>
          <p:nvPr/>
        </p:nvPicPr>
        <p:blipFill>
          <a:blip r:embed="rId4"/>
          <a:stretch>
            <a:fillRect/>
          </a:stretch>
        </p:blipFill>
        <p:spPr>
          <a:xfrm rot="17935981">
            <a:off x="-528678" y="1234239"/>
            <a:ext cx="2895851" cy="499915"/>
          </a:xfrm>
          <a:prstGeom prst="rect">
            <a:avLst/>
          </a:prstGeom>
        </p:spPr>
      </p:pic>
    </p:spTree>
    <p:extLst>
      <p:ext uri="{BB962C8B-B14F-4D97-AF65-F5344CB8AC3E}">
        <p14:creationId xmlns:p14="http://schemas.microsoft.com/office/powerpoint/2010/main" val="3868984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BB2B-8A41-8143-F404-207FF70AFD67}"/>
              </a:ext>
            </a:extLst>
          </p:cNvPr>
          <p:cNvSpPr>
            <a:spLocks noGrp="1"/>
          </p:cNvSpPr>
          <p:nvPr>
            <p:ph type="body" sz="quarter" idx="4294967295"/>
          </p:nvPr>
        </p:nvSpPr>
        <p:spPr>
          <a:xfrm>
            <a:off x="1697596" y="151258"/>
            <a:ext cx="8004450" cy="623711"/>
          </a:xfrm>
        </p:spPr>
        <p:txBody>
          <a:bodyPr vert="horz">
            <a:noAutofit/>
          </a:bodyPr>
          <a:lstStyle/>
          <a:p>
            <a:pPr marL="0" indent="0" algn="ctr">
              <a:buNone/>
            </a:pPr>
            <a:r>
              <a:rPr lang="en-AU" sz="3200"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Australian government consumer sites ?</a:t>
            </a:r>
          </a:p>
        </p:txBody>
      </p:sp>
      <p:pic>
        <p:nvPicPr>
          <p:cNvPr id="8" name="Picture 7">
            <a:extLst>
              <a:ext uri="{FF2B5EF4-FFF2-40B4-BE49-F238E27FC236}">
                <a16:creationId xmlns:a16="http://schemas.microsoft.com/office/drawing/2014/main" id="{18CB50EF-4A12-2232-3244-38A39C089F56}"/>
              </a:ext>
            </a:extLst>
          </p:cNvPr>
          <p:cNvPicPr>
            <a:picLocks noChangeAspect="1"/>
          </p:cNvPicPr>
          <p:nvPr/>
        </p:nvPicPr>
        <p:blipFill>
          <a:blip r:embed="rId3"/>
          <a:stretch>
            <a:fillRect/>
          </a:stretch>
        </p:blipFill>
        <p:spPr>
          <a:xfrm>
            <a:off x="1527510" y="1016000"/>
            <a:ext cx="8344623" cy="6675698"/>
          </a:xfrm>
          <a:prstGeom prst="rect">
            <a:avLst/>
          </a:prstGeom>
        </p:spPr>
      </p:pic>
      <p:sp>
        <p:nvSpPr>
          <p:cNvPr id="10" name="TextBox 9">
            <a:extLst>
              <a:ext uri="{FF2B5EF4-FFF2-40B4-BE49-F238E27FC236}">
                <a16:creationId xmlns:a16="http://schemas.microsoft.com/office/drawing/2014/main" id="{823A90B0-F54F-E821-CA46-4B6B80763EE0}"/>
              </a:ext>
            </a:extLst>
          </p:cNvPr>
          <p:cNvSpPr txBox="1"/>
          <p:nvPr/>
        </p:nvSpPr>
        <p:spPr>
          <a:xfrm>
            <a:off x="7834489" y="6368188"/>
            <a:ext cx="4278489" cy="338554"/>
          </a:xfrm>
          <a:prstGeom prst="rect">
            <a:avLst/>
          </a:prstGeom>
          <a:solidFill>
            <a:srgbClr val="007298"/>
          </a:solidFill>
        </p:spPr>
        <p:txBody>
          <a:bodyPr wrap="square">
            <a:spAutoFit/>
          </a:bodyPr>
          <a:lstStyle/>
          <a:p>
            <a:r>
              <a:rPr lang="en-AU" sz="1600" dirty="0">
                <a:solidFill>
                  <a:srgbClr val="33CCCC"/>
                </a:solidFill>
                <a:latin typeface="Roboto Medium" panose="02000000000000000000" pitchFamily="2" charset="0"/>
                <a:ea typeface="Roboto Medium" panose="02000000000000000000" pitchFamily="2" charset="0"/>
                <a:cs typeface="Roboto Medium" panose="02000000000000000000" pitchFamily="2" charset="0"/>
              </a:rPr>
              <a:t>https://www.healthdirect.gov.au/medicines</a:t>
            </a:r>
          </a:p>
        </p:txBody>
      </p:sp>
    </p:spTree>
    <p:extLst>
      <p:ext uri="{BB962C8B-B14F-4D97-AF65-F5344CB8AC3E}">
        <p14:creationId xmlns:p14="http://schemas.microsoft.com/office/powerpoint/2010/main" val="34718790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0F90F9-D0D4-01D5-BB81-108A238E8AAF}"/>
              </a:ext>
            </a:extLst>
          </p:cNvPr>
          <p:cNvSpPr>
            <a:spLocks noGrp="1"/>
          </p:cNvSpPr>
          <p:nvPr>
            <p:ph type="sldNum" sz="quarter" idx="12"/>
          </p:nvPr>
        </p:nvSpPr>
        <p:spPr/>
        <p:txBody>
          <a:bodyPr/>
          <a:lstStyle/>
          <a:p>
            <a:fld id="{4C46084E-4AD2-49B2-9297-67B05F4C2641}" type="slidenum">
              <a:rPr lang="en-AU" smtClean="0"/>
              <a:t>50</a:t>
            </a:fld>
            <a:endParaRPr lang="en-AU"/>
          </a:p>
        </p:txBody>
      </p:sp>
      <p:pic>
        <p:nvPicPr>
          <p:cNvPr id="5" name="Picture 4">
            <a:extLst>
              <a:ext uri="{FF2B5EF4-FFF2-40B4-BE49-F238E27FC236}">
                <a16:creationId xmlns:a16="http://schemas.microsoft.com/office/drawing/2014/main" id="{4E9E4F34-FBC2-1B52-8C8A-16B74FD49226}"/>
              </a:ext>
            </a:extLst>
          </p:cNvPr>
          <p:cNvPicPr>
            <a:picLocks noChangeAspect="1"/>
          </p:cNvPicPr>
          <p:nvPr/>
        </p:nvPicPr>
        <p:blipFill>
          <a:blip r:embed="rId3"/>
          <a:stretch>
            <a:fillRect/>
          </a:stretch>
        </p:blipFill>
        <p:spPr>
          <a:xfrm>
            <a:off x="357643" y="198348"/>
            <a:ext cx="5738357" cy="5296359"/>
          </a:xfrm>
          <a:prstGeom prst="rect">
            <a:avLst/>
          </a:prstGeom>
          <a:ln>
            <a:solidFill>
              <a:srgbClr val="007298"/>
            </a:solidFill>
          </a:ln>
        </p:spPr>
      </p:pic>
      <p:sp>
        <p:nvSpPr>
          <p:cNvPr id="7" name="TextBox 6">
            <a:extLst>
              <a:ext uri="{FF2B5EF4-FFF2-40B4-BE49-F238E27FC236}">
                <a16:creationId xmlns:a16="http://schemas.microsoft.com/office/drawing/2014/main" id="{DEEECD21-B2B4-F134-949E-447A0C9260EA}"/>
              </a:ext>
            </a:extLst>
          </p:cNvPr>
          <p:cNvSpPr txBox="1"/>
          <p:nvPr/>
        </p:nvSpPr>
        <p:spPr>
          <a:xfrm>
            <a:off x="3581401" y="6413698"/>
            <a:ext cx="10044289" cy="307777"/>
          </a:xfrm>
          <a:prstGeom prst="rect">
            <a:avLst/>
          </a:prstGeom>
          <a:noFill/>
        </p:spPr>
        <p:txBody>
          <a:bodyPr wrap="square">
            <a:spAutoFit/>
          </a:bodyPr>
          <a:lstStyle/>
          <a:p>
            <a:r>
              <a:rPr lang="en-AU" sz="1400" dirty="0">
                <a:solidFill>
                  <a:srgbClr val="007298"/>
                </a:solidFill>
              </a:rPr>
              <a:t>https://www.healthdirect.gov.au/medicines/brand/amt,735751000168105/clotrimazole-apohealth</a:t>
            </a:r>
          </a:p>
        </p:txBody>
      </p:sp>
      <p:pic>
        <p:nvPicPr>
          <p:cNvPr id="9" name="Picture 8">
            <a:extLst>
              <a:ext uri="{FF2B5EF4-FFF2-40B4-BE49-F238E27FC236}">
                <a16:creationId xmlns:a16="http://schemas.microsoft.com/office/drawing/2014/main" id="{1B24A2C8-B46F-B214-E005-56569B710F4A}"/>
              </a:ext>
            </a:extLst>
          </p:cNvPr>
          <p:cNvPicPr>
            <a:picLocks noChangeAspect="1"/>
          </p:cNvPicPr>
          <p:nvPr/>
        </p:nvPicPr>
        <p:blipFill>
          <a:blip r:embed="rId4"/>
          <a:stretch>
            <a:fillRect/>
          </a:stretch>
        </p:blipFill>
        <p:spPr>
          <a:xfrm>
            <a:off x="3226821" y="1153187"/>
            <a:ext cx="5692633" cy="4801016"/>
          </a:xfrm>
          <a:prstGeom prst="rect">
            <a:avLst/>
          </a:prstGeom>
          <a:solidFill>
            <a:srgbClr val="33CCCC"/>
          </a:solidFill>
          <a:ln w="19050">
            <a:solidFill>
              <a:srgbClr val="007298"/>
            </a:solidFill>
          </a:ln>
        </p:spPr>
      </p:pic>
      <p:pic>
        <p:nvPicPr>
          <p:cNvPr id="11" name="Picture 10">
            <a:extLst>
              <a:ext uri="{FF2B5EF4-FFF2-40B4-BE49-F238E27FC236}">
                <a16:creationId xmlns:a16="http://schemas.microsoft.com/office/drawing/2014/main" id="{4B70CDE6-FF4B-3724-E4ED-638D6053C648}"/>
              </a:ext>
            </a:extLst>
          </p:cNvPr>
          <p:cNvPicPr>
            <a:picLocks noChangeAspect="1"/>
          </p:cNvPicPr>
          <p:nvPr/>
        </p:nvPicPr>
        <p:blipFill>
          <a:blip r:embed="rId5"/>
          <a:stretch>
            <a:fillRect/>
          </a:stretch>
        </p:blipFill>
        <p:spPr>
          <a:xfrm>
            <a:off x="6694439" y="5011181"/>
            <a:ext cx="5159187" cy="1196444"/>
          </a:xfrm>
          <a:prstGeom prst="rect">
            <a:avLst/>
          </a:prstGeom>
          <a:ln w="57150">
            <a:solidFill>
              <a:srgbClr val="007298"/>
            </a:solidFill>
          </a:ln>
        </p:spPr>
      </p:pic>
    </p:spTree>
    <p:extLst>
      <p:ext uri="{BB962C8B-B14F-4D97-AF65-F5344CB8AC3E}">
        <p14:creationId xmlns:p14="http://schemas.microsoft.com/office/powerpoint/2010/main" val="11297779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2EB02-F2F2-36CF-99BA-F8B1B08C8F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6D3209-2D42-257A-AF8C-3191085336B3}"/>
              </a:ext>
            </a:extLst>
          </p:cNvPr>
          <p:cNvSpPr>
            <a:spLocks noGrp="1"/>
          </p:cNvSpPr>
          <p:nvPr>
            <p:ph type="body" sz="quarter" idx="16"/>
          </p:nvPr>
        </p:nvSpPr>
        <p:spPr>
          <a:xfrm>
            <a:off x="664028" y="3770147"/>
            <a:ext cx="5504297" cy="495918"/>
          </a:xfrm>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00D3BED6-72AB-B481-0CD5-EE517E39002D}"/>
              </a:ext>
            </a:extLst>
          </p:cNvPr>
          <p:cNvSpPr>
            <a:spLocks noGrp="1"/>
          </p:cNvSpPr>
          <p:nvPr>
            <p:ph type="body" sz="quarter" idx="17"/>
          </p:nvPr>
        </p:nvSpPr>
        <p:spPr>
          <a:xfrm>
            <a:off x="664028" y="1993053"/>
            <a:ext cx="7224609" cy="573088"/>
          </a:xfrm>
        </p:spPr>
        <p:txBody>
          <a:bodyPr>
            <a:normAutofit fontScale="70000" lnSpcReduction="20000"/>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C98A5264-A756-9588-5C2E-66D70CB1DBBA}"/>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C732EA1E-8B05-291D-DE46-E22BE1039C41}"/>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968D54B-3BE3-92BF-67FB-5EE3AE22B84E}"/>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7E9C7C95-F36E-77FA-1E9E-E9945EFF6706}"/>
              </a:ext>
            </a:extLst>
          </p:cNvPr>
          <p:cNvSpPr txBox="1">
            <a:spLocks/>
          </p:cNvSpPr>
          <p:nvPr/>
        </p:nvSpPr>
        <p:spPr>
          <a:xfrm>
            <a:off x="2974285" y="2410338"/>
            <a:ext cx="6243429" cy="573088"/>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a:buNone/>
              <a:tabLst/>
              <a:defRPr/>
            </a:pPr>
            <a:endParaRPr kumimoji="0" lang="en-AU" sz="3600" b="1" i="0" u="none" strike="noStrike" kern="1200" cap="none" spc="0" normalizeH="0" baseline="0" noProof="0" dirty="0">
              <a:ln>
                <a:noFill/>
              </a:ln>
              <a:solidFill>
                <a:srgbClr val="007298"/>
              </a:solidFill>
              <a:effectLst/>
              <a:uLnTx/>
              <a:uFillTx/>
              <a:latin typeface="Roboto Black" charset="0"/>
              <a:ea typeface="Roboto Black" charset="0"/>
            </a:endParaRPr>
          </a:p>
        </p:txBody>
      </p:sp>
      <p:sp>
        <p:nvSpPr>
          <p:cNvPr id="8" name="Text Placeholder 2">
            <a:extLst>
              <a:ext uri="{FF2B5EF4-FFF2-40B4-BE49-F238E27FC236}">
                <a16:creationId xmlns:a16="http://schemas.microsoft.com/office/drawing/2014/main" id="{DC178781-4E1C-E0CC-F1A7-B26914C3CD30}"/>
              </a:ext>
            </a:extLst>
          </p:cNvPr>
          <p:cNvSpPr txBox="1">
            <a:spLocks/>
          </p:cNvSpPr>
          <p:nvPr/>
        </p:nvSpPr>
        <p:spPr>
          <a:xfrm>
            <a:off x="2823167" y="2645061"/>
            <a:ext cx="6545663" cy="1108844"/>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3800" b="1" i="0" kern="120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dirty="0"/>
              <a:t>Websites for health professionals</a:t>
            </a:r>
          </a:p>
        </p:txBody>
      </p:sp>
    </p:spTree>
    <p:extLst>
      <p:ext uri="{BB962C8B-B14F-4D97-AF65-F5344CB8AC3E}">
        <p14:creationId xmlns:p14="http://schemas.microsoft.com/office/powerpoint/2010/main" val="2163476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D8869F-8B2F-D13C-A639-FD3B4B98E5E2}"/>
              </a:ext>
            </a:extLst>
          </p:cNvPr>
          <p:cNvSpPr>
            <a:spLocks noGrp="1"/>
          </p:cNvSpPr>
          <p:nvPr>
            <p:ph type="body" sz="quarter" idx="17"/>
          </p:nvPr>
        </p:nvSpPr>
        <p:spPr>
          <a:xfrm>
            <a:off x="578297" y="225604"/>
            <a:ext cx="6558183" cy="1077415"/>
          </a:xfrm>
        </p:spPr>
        <p:txBody>
          <a:bodyPr>
            <a:normAutofit/>
          </a:bodyPr>
          <a:lstStyle/>
          <a:p>
            <a:pPr algn="ctr"/>
            <a:r>
              <a:rPr lang="en-AU" sz="2800" dirty="0"/>
              <a:t>Websites for </a:t>
            </a:r>
          </a:p>
          <a:p>
            <a:pPr algn="ctr"/>
            <a:r>
              <a:rPr lang="en-AU" sz="2800" dirty="0"/>
              <a:t>Health Professionals</a:t>
            </a:r>
          </a:p>
        </p:txBody>
      </p:sp>
      <p:sp>
        <p:nvSpPr>
          <p:cNvPr id="3" name="Text Placeholder 2">
            <a:extLst>
              <a:ext uri="{FF2B5EF4-FFF2-40B4-BE49-F238E27FC236}">
                <a16:creationId xmlns:a16="http://schemas.microsoft.com/office/drawing/2014/main" id="{D4BE1916-BD15-7FB1-F8E5-138B1896416D}"/>
              </a:ext>
            </a:extLst>
          </p:cNvPr>
          <p:cNvSpPr>
            <a:spLocks noGrp="1"/>
          </p:cNvSpPr>
          <p:nvPr>
            <p:ph type="body" sz="quarter" idx="20"/>
          </p:nvPr>
        </p:nvSpPr>
        <p:spPr>
          <a:xfrm>
            <a:off x="664022" y="1875676"/>
            <a:ext cx="6558185" cy="2395421"/>
          </a:xfrm>
        </p:spPr>
        <p:txBody>
          <a:bodyPr>
            <a:normAutofit/>
          </a:bodyPr>
          <a:lstStyle/>
          <a:p>
            <a:r>
              <a:rPr lang="en-AU" sz="2400" dirty="0">
                <a:solidFill>
                  <a:srgbClr val="007298"/>
                </a:solidFill>
                <a:latin typeface="Roboto Black" panose="02000000000000000000" pitchFamily="2" charset="0"/>
                <a:ea typeface="Roboto Black" panose="02000000000000000000" pitchFamily="2" charset="0"/>
              </a:rPr>
              <a:t>NPS MEDICINEWISE</a:t>
            </a:r>
          </a:p>
          <a:p>
            <a:r>
              <a:rPr lang="en-AU" sz="2400" dirty="0">
                <a:solidFill>
                  <a:srgbClr val="007298"/>
                </a:solidFill>
                <a:latin typeface="Roboto Black" panose="02000000000000000000" pitchFamily="2" charset="0"/>
                <a:ea typeface="Roboto Black" panose="02000000000000000000" pitchFamily="2" charset="0"/>
              </a:rPr>
              <a:t>Medicine Finder: </a:t>
            </a:r>
            <a:r>
              <a:rPr lang="en-US" sz="2400" dirty="0">
                <a:solidFill>
                  <a:srgbClr val="007298"/>
                </a:solidFill>
                <a:latin typeface="Roboto Black" panose="02000000000000000000" pitchFamily="2" charset="0"/>
                <a:ea typeface="Roboto Black" panose="02000000000000000000" pitchFamily="2" charset="0"/>
              </a:rPr>
              <a:t>provides links to information about many types of medicines </a:t>
            </a:r>
          </a:p>
          <a:p>
            <a:r>
              <a:rPr lang="en-US" sz="2400" dirty="0">
                <a:solidFill>
                  <a:srgbClr val="007298"/>
                </a:solidFill>
                <a:latin typeface="Roboto" panose="02000000000000000000" pitchFamily="2" charset="0"/>
                <a:ea typeface="Roboto" panose="02000000000000000000" pitchFamily="2" charset="0"/>
                <a:cs typeface="Roboto" panose="02000000000000000000" pitchFamily="2" charset="0"/>
                <a:hlinkClick r:id="rId3">
                  <a:extLst>
                    <a:ext uri="{A12FA001-AC4F-418D-AE19-62706E023703}">
                      <ahyp:hlinkClr xmlns:ahyp="http://schemas.microsoft.com/office/drawing/2018/hyperlinkcolor" val="tx"/>
                    </a:ext>
                  </a:extLst>
                </a:hlinkClick>
              </a:rPr>
              <a:t>https://www.nps.org.au/medicine-finder</a:t>
            </a:r>
            <a:endParaRPr lang="en-US" sz="2400" dirty="0">
              <a:solidFill>
                <a:srgbClr val="007298"/>
              </a:solidFill>
              <a:latin typeface="Roboto" panose="02000000000000000000" pitchFamily="2" charset="0"/>
              <a:ea typeface="Roboto" panose="02000000000000000000" pitchFamily="2" charset="0"/>
              <a:cs typeface="Roboto" panose="02000000000000000000" pitchFamily="2" charset="0"/>
            </a:endParaRPr>
          </a:p>
          <a:p>
            <a:r>
              <a:rPr lang="en-US" dirty="0">
                <a:solidFill>
                  <a:srgbClr val="007298"/>
                </a:solidFill>
                <a:latin typeface="Roboto" panose="02000000000000000000" pitchFamily="2" charset="0"/>
                <a:ea typeface="Roboto" panose="02000000000000000000" pitchFamily="2" charset="0"/>
                <a:cs typeface="Roboto" panose="02000000000000000000" pitchFamily="2" charset="0"/>
              </a:rPr>
              <a:t>Hosted by the Australian Commission on Safety and Quality in Health Care</a:t>
            </a:r>
          </a:p>
          <a:p>
            <a:endParaRPr lang="en-AU" dirty="0"/>
          </a:p>
        </p:txBody>
      </p:sp>
      <p:sp>
        <p:nvSpPr>
          <p:cNvPr id="4" name="Text Placeholder 3">
            <a:extLst>
              <a:ext uri="{FF2B5EF4-FFF2-40B4-BE49-F238E27FC236}">
                <a16:creationId xmlns:a16="http://schemas.microsoft.com/office/drawing/2014/main" id="{B3B79265-2CBF-BF85-FF25-343B52C6F8D7}"/>
              </a:ext>
            </a:extLst>
          </p:cNvPr>
          <p:cNvSpPr>
            <a:spLocks noGrp="1"/>
          </p:cNvSpPr>
          <p:nvPr>
            <p:ph type="body" sz="quarter" idx="21"/>
          </p:nvPr>
        </p:nvSpPr>
        <p:spPr>
          <a:xfrm>
            <a:off x="664022" y="4291118"/>
            <a:ext cx="6558185" cy="446706"/>
          </a:xfrm>
        </p:spPr>
        <p:txBody>
          <a:bodyPr/>
          <a:lstStyle/>
          <a:p>
            <a:r>
              <a:rPr lang="en-AU" dirty="0">
                <a:latin typeface="Raleway Black" pitchFamily="2" charset="0"/>
              </a:rPr>
              <a:t>Drawbacks</a:t>
            </a:r>
          </a:p>
        </p:txBody>
      </p:sp>
      <p:sp>
        <p:nvSpPr>
          <p:cNvPr id="5" name="Text Placeholder 4">
            <a:extLst>
              <a:ext uri="{FF2B5EF4-FFF2-40B4-BE49-F238E27FC236}">
                <a16:creationId xmlns:a16="http://schemas.microsoft.com/office/drawing/2014/main" id="{A514A81D-4AB4-BCD5-87AA-5607D2E21EC6}"/>
              </a:ext>
            </a:extLst>
          </p:cNvPr>
          <p:cNvSpPr>
            <a:spLocks noGrp="1"/>
          </p:cNvSpPr>
          <p:nvPr>
            <p:ph type="body" sz="quarter" idx="22"/>
          </p:nvPr>
        </p:nvSpPr>
        <p:spPr>
          <a:xfrm>
            <a:off x="664023" y="4757844"/>
            <a:ext cx="6558185" cy="1077415"/>
          </a:xfrm>
        </p:spPr>
        <p:txBody>
          <a:bodyPr/>
          <a:lstStyle/>
          <a:p>
            <a:r>
              <a:rPr lang="en-US" sz="2000" dirty="0">
                <a:solidFill>
                  <a:srgbClr val="007298"/>
                </a:solidFill>
                <a:latin typeface="Roboto" panose="02000000000000000000" pitchFamily="2" charset="0"/>
                <a:ea typeface="Roboto" panose="02000000000000000000" pitchFamily="2" charset="0"/>
                <a:cs typeface="Roboto" panose="02000000000000000000" pitchFamily="2" charset="0"/>
              </a:rPr>
              <a:t>Descriptions provided by the manufacturer</a:t>
            </a:r>
          </a:p>
          <a:p>
            <a:r>
              <a:rPr lang="en-US" sz="2000" dirty="0">
                <a:solidFill>
                  <a:srgbClr val="007298"/>
                </a:solidFill>
                <a:latin typeface="Roboto" panose="02000000000000000000" pitchFamily="2" charset="0"/>
                <a:ea typeface="Roboto" panose="02000000000000000000" pitchFamily="2" charset="0"/>
                <a:cs typeface="Roboto" panose="02000000000000000000" pitchFamily="2" charset="0"/>
              </a:rPr>
              <a:t>Many medicines not yet included in the database</a:t>
            </a:r>
          </a:p>
          <a:p>
            <a:endParaRPr lang="en-AU" dirty="0"/>
          </a:p>
        </p:txBody>
      </p:sp>
    </p:spTree>
    <p:extLst>
      <p:ext uri="{BB962C8B-B14F-4D97-AF65-F5344CB8AC3E}">
        <p14:creationId xmlns:p14="http://schemas.microsoft.com/office/powerpoint/2010/main" val="2058361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672704-FC87-42DB-B821-C21ED534A26D}"/>
              </a:ext>
            </a:extLst>
          </p:cNvPr>
          <p:cNvSpPr/>
          <p:nvPr/>
        </p:nvSpPr>
        <p:spPr>
          <a:xfrm>
            <a:off x="0" y="-3025"/>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 Placeholder 8">
            <a:extLst>
              <a:ext uri="{FF2B5EF4-FFF2-40B4-BE49-F238E27FC236}">
                <a16:creationId xmlns:a16="http://schemas.microsoft.com/office/drawing/2014/main" id="{3F66F74A-9BD4-D133-CF5B-23DE66CD5C2A}"/>
              </a:ext>
            </a:extLst>
          </p:cNvPr>
          <p:cNvSpPr>
            <a:spLocks noGrp="1"/>
          </p:cNvSpPr>
          <p:nvPr>
            <p:ph type="body" sz="quarter" idx="17"/>
          </p:nvPr>
        </p:nvSpPr>
        <p:spPr>
          <a:xfrm>
            <a:off x="2687755" y="417360"/>
            <a:ext cx="6558183" cy="573088"/>
          </a:xfrm>
        </p:spPr>
        <p:txBody>
          <a:bodyPr>
            <a:normAutofit fontScale="92500" lnSpcReduction="10000"/>
          </a:bodyPr>
          <a:lstStyle/>
          <a:p>
            <a:pPr algn="ctr"/>
            <a:r>
              <a:rPr lang="en-AU" sz="4000" dirty="0"/>
              <a:t>Medicine Finder</a:t>
            </a:r>
          </a:p>
        </p:txBody>
      </p:sp>
      <p:sp>
        <p:nvSpPr>
          <p:cNvPr id="13" name="Text Placeholder 12">
            <a:extLst>
              <a:ext uri="{FF2B5EF4-FFF2-40B4-BE49-F238E27FC236}">
                <a16:creationId xmlns:a16="http://schemas.microsoft.com/office/drawing/2014/main" id="{93BDD046-302A-D96A-F59C-B192A1EF0EC1}"/>
              </a:ext>
            </a:extLst>
          </p:cNvPr>
          <p:cNvSpPr>
            <a:spLocks noGrp="1"/>
          </p:cNvSpPr>
          <p:nvPr>
            <p:ph type="body" sz="quarter" idx="20"/>
          </p:nvPr>
        </p:nvSpPr>
        <p:spPr>
          <a:xfrm>
            <a:off x="538294" y="4716044"/>
            <a:ext cx="6558185" cy="684360"/>
          </a:xfrm>
        </p:spPr>
        <p:txBody>
          <a:bodyPr>
            <a:normAutofit fontScale="85000" lnSpcReduction="20000"/>
          </a:bodyPr>
          <a:lstStyle/>
          <a:p>
            <a:r>
              <a:rPr lang="en-AU" sz="2400" dirty="0">
                <a:solidFill>
                  <a:srgbClr val="007298"/>
                </a:solidFill>
                <a:latin typeface="Roboto Black" panose="02000000000000000000" pitchFamily="2" charset="0"/>
                <a:ea typeface="Roboto Black" panose="02000000000000000000" pitchFamily="2" charset="0"/>
              </a:rPr>
              <a:t>Clotrimazole – no results</a:t>
            </a:r>
          </a:p>
          <a:p>
            <a:r>
              <a:rPr lang="en-AU" sz="2400" dirty="0">
                <a:solidFill>
                  <a:srgbClr val="007298"/>
                </a:solidFill>
                <a:latin typeface="Roboto Black" panose="02000000000000000000" pitchFamily="2" charset="0"/>
                <a:ea typeface="Roboto Black" panose="02000000000000000000" pitchFamily="2" charset="0"/>
              </a:rPr>
              <a:t>Canesten – no results</a:t>
            </a:r>
          </a:p>
        </p:txBody>
      </p:sp>
      <p:sp>
        <p:nvSpPr>
          <p:cNvPr id="10" name="Text Placeholder 9">
            <a:extLst>
              <a:ext uri="{FF2B5EF4-FFF2-40B4-BE49-F238E27FC236}">
                <a16:creationId xmlns:a16="http://schemas.microsoft.com/office/drawing/2014/main" id="{10197204-1B21-D787-F531-D710BA3B94AA}"/>
              </a:ext>
            </a:extLst>
          </p:cNvPr>
          <p:cNvSpPr>
            <a:spLocks noGrp="1"/>
          </p:cNvSpPr>
          <p:nvPr>
            <p:ph type="body" sz="quarter" idx="18"/>
          </p:nvPr>
        </p:nvSpPr>
        <p:spPr/>
        <p:txBody>
          <a:bodyPr/>
          <a:lstStyle/>
          <a:p>
            <a:endParaRPr lang="en-AU"/>
          </a:p>
        </p:txBody>
      </p:sp>
      <p:pic>
        <p:nvPicPr>
          <p:cNvPr id="8" name="Picture 7">
            <a:extLst>
              <a:ext uri="{FF2B5EF4-FFF2-40B4-BE49-F238E27FC236}">
                <a16:creationId xmlns:a16="http://schemas.microsoft.com/office/drawing/2014/main" id="{35F18FEA-0F55-CA67-BFB6-CC5452307530}"/>
              </a:ext>
            </a:extLst>
          </p:cNvPr>
          <p:cNvPicPr>
            <a:picLocks noChangeAspect="1"/>
          </p:cNvPicPr>
          <p:nvPr/>
        </p:nvPicPr>
        <p:blipFill>
          <a:blip r:embed="rId3"/>
          <a:stretch>
            <a:fillRect/>
          </a:stretch>
        </p:blipFill>
        <p:spPr>
          <a:xfrm>
            <a:off x="987471" y="1354086"/>
            <a:ext cx="10217058" cy="2943593"/>
          </a:xfrm>
          <a:prstGeom prst="rect">
            <a:avLst/>
          </a:prstGeom>
          <a:ln w="38100">
            <a:solidFill>
              <a:srgbClr val="007298"/>
            </a:solidFill>
          </a:ln>
        </p:spPr>
      </p:pic>
      <p:cxnSp>
        <p:nvCxnSpPr>
          <p:cNvPr id="15" name="Straight Connector 14">
            <a:extLst>
              <a:ext uri="{FF2B5EF4-FFF2-40B4-BE49-F238E27FC236}">
                <a16:creationId xmlns:a16="http://schemas.microsoft.com/office/drawing/2014/main" id="{ACB12C33-10CF-C577-44AC-AB3C41E8CE88}"/>
              </a:ext>
            </a:extLst>
          </p:cNvPr>
          <p:cNvCxnSpPr>
            <a:cxnSpLocks/>
          </p:cNvCxnSpPr>
          <p:nvPr/>
        </p:nvCxnSpPr>
        <p:spPr>
          <a:xfrm>
            <a:off x="5566797" y="2599989"/>
            <a:ext cx="3337173" cy="0"/>
          </a:xfrm>
          <a:prstGeom prst="line">
            <a:avLst/>
          </a:prstGeom>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490049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ACB12C33-10CF-C577-44AC-AB3C41E8CE88}"/>
              </a:ext>
            </a:extLst>
          </p:cNvPr>
          <p:cNvCxnSpPr>
            <a:cxnSpLocks/>
          </p:cNvCxnSpPr>
          <p:nvPr/>
        </p:nvCxnSpPr>
        <p:spPr>
          <a:xfrm>
            <a:off x="5566797" y="2599989"/>
            <a:ext cx="3337173" cy="0"/>
          </a:xfrm>
          <a:prstGeom prst="line">
            <a:avLst/>
          </a:prstGeom>
        </p:spPr>
        <p:style>
          <a:lnRef idx="1">
            <a:schemeClr val="accent4"/>
          </a:lnRef>
          <a:fillRef idx="0">
            <a:schemeClr val="accent4"/>
          </a:fillRef>
          <a:effectRef idx="0">
            <a:schemeClr val="accent4"/>
          </a:effectRef>
          <a:fontRef idx="minor">
            <a:schemeClr val="tx1"/>
          </a:fontRef>
        </p:style>
      </p:cxnSp>
      <p:sp>
        <p:nvSpPr>
          <p:cNvPr id="3" name="Rectangle 2">
            <a:extLst>
              <a:ext uri="{FF2B5EF4-FFF2-40B4-BE49-F238E27FC236}">
                <a16:creationId xmlns:a16="http://schemas.microsoft.com/office/drawing/2014/main" id="{109DB2AC-6B22-04DF-4B1D-78CB7C35F359}"/>
              </a:ext>
            </a:extLst>
          </p:cNvPr>
          <p:cNvSpPr/>
          <p:nvPr/>
        </p:nvSpPr>
        <p:spPr>
          <a:xfrm>
            <a:off x="-114300" y="0"/>
            <a:ext cx="12306300"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pic>
        <p:nvPicPr>
          <p:cNvPr id="20" name="Picture 19">
            <a:extLst>
              <a:ext uri="{FF2B5EF4-FFF2-40B4-BE49-F238E27FC236}">
                <a16:creationId xmlns:a16="http://schemas.microsoft.com/office/drawing/2014/main" id="{A9B55EAF-DDB2-5FDF-0456-B6DF0F524A10}"/>
              </a:ext>
            </a:extLst>
          </p:cNvPr>
          <p:cNvPicPr>
            <a:picLocks noChangeAspect="1"/>
          </p:cNvPicPr>
          <p:nvPr/>
        </p:nvPicPr>
        <p:blipFill>
          <a:blip r:embed="rId3"/>
          <a:stretch>
            <a:fillRect/>
          </a:stretch>
        </p:blipFill>
        <p:spPr>
          <a:xfrm>
            <a:off x="894974" y="2102639"/>
            <a:ext cx="10402052" cy="3240886"/>
          </a:xfrm>
          <a:prstGeom prst="rect">
            <a:avLst/>
          </a:prstGeom>
          <a:ln w="38100">
            <a:solidFill>
              <a:srgbClr val="007298"/>
            </a:solidFill>
          </a:ln>
        </p:spPr>
      </p:pic>
      <p:sp>
        <p:nvSpPr>
          <p:cNvPr id="12" name="Text Placeholder 11">
            <a:extLst>
              <a:ext uri="{FF2B5EF4-FFF2-40B4-BE49-F238E27FC236}">
                <a16:creationId xmlns:a16="http://schemas.microsoft.com/office/drawing/2014/main" id="{CEAC6C27-910D-82D0-361B-1673F36179B6}"/>
              </a:ext>
            </a:extLst>
          </p:cNvPr>
          <p:cNvSpPr>
            <a:spLocks noGrp="1"/>
          </p:cNvSpPr>
          <p:nvPr>
            <p:ph type="body" sz="quarter" idx="18"/>
          </p:nvPr>
        </p:nvSpPr>
        <p:spPr>
          <a:xfrm>
            <a:off x="1573042" y="441075"/>
            <a:ext cx="9045916" cy="1425432"/>
          </a:xfrm>
        </p:spPr>
        <p:txBody>
          <a:bodyPr>
            <a:normAutofit/>
          </a:bodyPr>
          <a:lstStyle/>
          <a:p>
            <a:pPr algn="ctr"/>
            <a:r>
              <a:rPr lang="en-AU" sz="3600" dirty="0">
                <a:solidFill>
                  <a:srgbClr val="007298"/>
                </a:solidFill>
                <a:latin typeface="Roboto Black" panose="02000000000000000000" pitchFamily="2" charset="0"/>
                <a:ea typeface="Roboto Black" panose="02000000000000000000" pitchFamily="2" charset="0"/>
              </a:rPr>
              <a:t> Proton pump inhibitor – frequently prescribed class of medicines</a:t>
            </a:r>
          </a:p>
        </p:txBody>
      </p:sp>
    </p:spTree>
    <p:extLst>
      <p:ext uri="{BB962C8B-B14F-4D97-AF65-F5344CB8AC3E}">
        <p14:creationId xmlns:p14="http://schemas.microsoft.com/office/powerpoint/2010/main" val="41251623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A4D4DB9-1AD1-495E-9BBA-255BB7B5C769}"/>
              </a:ext>
            </a:extLst>
          </p:cNvPr>
          <p:cNvSpPr/>
          <p:nvPr/>
        </p:nvSpPr>
        <p:spPr>
          <a:xfrm>
            <a:off x="-129154" y="0"/>
            <a:ext cx="1232115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 Placeholder 7">
            <a:extLst>
              <a:ext uri="{FF2B5EF4-FFF2-40B4-BE49-F238E27FC236}">
                <a16:creationId xmlns:a16="http://schemas.microsoft.com/office/drawing/2014/main" id="{77455194-2769-50F7-8104-FA43C4085D41}"/>
              </a:ext>
            </a:extLst>
          </p:cNvPr>
          <p:cNvSpPr>
            <a:spLocks noGrp="1"/>
          </p:cNvSpPr>
          <p:nvPr>
            <p:ph type="body" sz="quarter" idx="17"/>
          </p:nvPr>
        </p:nvSpPr>
        <p:spPr>
          <a:xfrm>
            <a:off x="2687755" y="213601"/>
            <a:ext cx="6558183" cy="573088"/>
          </a:xfrm>
        </p:spPr>
        <p:txBody>
          <a:bodyPr/>
          <a:lstStyle/>
          <a:p>
            <a:pPr algn="ctr"/>
            <a:r>
              <a:rPr lang="en-AU" dirty="0"/>
              <a:t>Drugs.com</a:t>
            </a:r>
          </a:p>
        </p:txBody>
      </p:sp>
      <p:sp>
        <p:nvSpPr>
          <p:cNvPr id="10" name="Text Placeholder 9">
            <a:extLst>
              <a:ext uri="{FF2B5EF4-FFF2-40B4-BE49-F238E27FC236}">
                <a16:creationId xmlns:a16="http://schemas.microsoft.com/office/drawing/2014/main" id="{99582CCF-F5EC-05CB-46B7-E03A79274EBF}"/>
              </a:ext>
            </a:extLst>
          </p:cNvPr>
          <p:cNvSpPr>
            <a:spLocks noGrp="1"/>
          </p:cNvSpPr>
          <p:nvPr>
            <p:ph type="body" sz="quarter" idx="20"/>
          </p:nvPr>
        </p:nvSpPr>
        <p:spPr>
          <a:xfrm>
            <a:off x="718091" y="2283528"/>
            <a:ext cx="10603324" cy="1277957"/>
          </a:xfrm>
        </p:spPr>
        <p:txBody>
          <a:bodyPr>
            <a:normAutofit fontScale="92500" lnSpcReduction="10000"/>
          </a:bodyPr>
          <a:lstStyle/>
          <a:p>
            <a:r>
              <a:rPr lang="en-AU" sz="2400" dirty="0">
                <a:solidFill>
                  <a:srgbClr val="007298"/>
                </a:solidFill>
                <a:latin typeface="Roboto Black" panose="02000000000000000000" pitchFamily="2" charset="0"/>
                <a:ea typeface="Roboto Black" panose="02000000000000000000" pitchFamily="2" charset="0"/>
              </a:rPr>
              <a:t>This website is from the </a:t>
            </a:r>
            <a:r>
              <a:rPr lang="en-AU" sz="2400" b="1" dirty="0">
                <a:solidFill>
                  <a:srgbClr val="007298"/>
                </a:solidFill>
                <a:latin typeface="Roboto Black" panose="02000000000000000000" pitchFamily="2" charset="0"/>
                <a:ea typeface="Roboto Black" panose="02000000000000000000" pitchFamily="2" charset="0"/>
              </a:rPr>
              <a:t>United States </a:t>
            </a:r>
            <a:r>
              <a:rPr lang="en-AU" sz="2400" dirty="0">
                <a:solidFill>
                  <a:srgbClr val="007298"/>
                </a:solidFill>
                <a:latin typeface="Roboto Black" panose="02000000000000000000" pitchFamily="2" charset="0"/>
                <a:ea typeface="Roboto Black" panose="02000000000000000000" pitchFamily="2" charset="0"/>
              </a:rPr>
              <a:t>and draws its information from a range of </a:t>
            </a:r>
            <a:r>
              <a:rPr lang="en-AU" sz="2400" b="1" dirty="0">
                <a:solidFill>
                  <a:srgbClr val="007298"/>
                </a:solidFill>
                <a:latin typeface="Roboto Black" panose="02000000000000000000" pitchFamily="2" charset="0"/>
                <a:ea typeface="Roboto Black" panose="02000000000000000000" pitchFamily="2" charset="0"/>
              </a:rPr>
              <a:t>independent sources </a:t>
            </a:r>
            <a:r>
              <a:rPr lang="en-AU" sz="2400" dirty="0">
                <a:solidFill>
                  <a:srgbClr val="007298"/>
                </a:solidFill>
                <a:latin typeface="Roboto Black" panose="02000000000000000000" pitchFamily="2" charset="0"/>
                <a:ea typeface="Roboto Black" panose="02000000000000000000" pitchFamily="2" charset="0"/>
              </a:rPr>
              <a:t>such as the FDA, The American Society of Health-System Pharmacists and Harvard Health.</a:t>
            </a:r>
          </a:p>
          <a:p>
            <a:r>
              <a:rPr lang="en-AU" dirty="0"/>
              <a:t> </a:t>
            </a:r>
          </a:p>
        </p:txBody>
      </p:sp>
      <p:sp>
        <p:nvSpPr>
          <p:cNvPr id="11" name="Text Placeholder 10">
            <a:extLst>
              <a:ext uri="{FF2B5EF4-FFF2-40B4-BE49-F238E27FC236}">
                <a16:creationId xmlns:a16="http://schemas.microsoft.com/office/drawing/2014/main" id="{EF8FD7C8-D530-CDF5-4320-2FA34CB9D2DA}"/>
              </a:ext>
            </a:extLst>
          </p:cNvPr>
          <p:cNvSpPr>
            <a:spLocks noGrp="1"/>
          </p:cNvSpPr>
          <p:nvPr>
            <p:ph type="body" sz="quarter" idx="21"/>
          </p:nvPr>
        </p:nvSpPr>
        <p:spPr>
          <a:xfrm>
            <a:off x="718093" y="3561485"/>
            <a:ext cx="4860832" cy="446706"/>
          </a:xfrm>
        </p:spPr>
        <p:txBody>
          <a:bodyPr/>
          <a:lstStyle/>
          <a:p>
            <a:r>
              <a:rPr lang="en-AU" dirty="0"/>
              <a:t>The Pro Edition - for healthcare professionals.</a:t>
            </a:r>
          </a:p>
        </p:txBody>
      </p:sp>
      <p:sp>
        <p:nvSpPr>
          <p:cNvPr id="12" name="Text Placeholder 11">
            <a:extLst>
              <a:ext uri="{FF2B5EF4-FFF2-40B4-BE49-F238E27FC236}">
                <a16:creationId xmlns:a16="http://schemas.microsoft.com/office/drawing/2014/main" id="{5E1BC598-E03C-907F-B9EF-E06C5C204F29}"/>
              </a:ext>
            </a:extLst>
          </p:cNvPr>
          <p:cNvSpPr>
            <a:spLocks noGrp="1"/>
          </p:cNvSpPr>
          <p:nvPr>
            <p:ph type="body" sz="quarter" idx="22"/>
          </p:nvPr>
        </p:nvSpPr>
        <p:spPr>
          <a:xfrm>
            <a:off x="718092" y="3962568"/>
            <a:ext cx="6558185" cy="1681903"/>
          </a:xfrm>
        </p:spPr>
        <p:txBody>
          <a:bodyPr>
            <a:normAutofit fontScale="92500" lnSpcReduction="20000"/>
          </a:bodyPr>
          <a:lstStyle/>
          <a:p>
            <a:r>
              <a:rPr lang="en-AU" sz="2000" dirty="0">
                <a:solidFill>
                  <a:srgbClr val="007298"/>
                </a:solidFill>
                <a:latin typeface="Roboto Black" panose="02000000000000000000" pitchFamily="2" charset="0"/>
                <a:ea typeface="Roboto Black" panose="02000000000000000000" pitchFamily="2" charset="0"/>
              </a:rPr>
              <a:t>AHFS DI Monographs – drug information</a:t>
            </a:r>
          </a:p>
          <a:p>
            <a:r>
              <a:rPr lang="en-AU" sz="2000" dirty="0">
                <a:solidFill>
                  <a:srgbClr val="007298"/>
                </a:solidFill>
                <a:latin typeface="Roboto Black" panose="02000000000000000000" pitchFamily="2" charset="0"/>
                <a:ea typeface="Roboto Black" panose="02000000000000000000" pitchFamily="2" charset="0"/>
              </a:rPr>
              <a:t>FDA Professional Drug Information</a:t>
            </a:r>
          </a:p>
          <a:p>
            <a:r>
              <a:rPr lang="en-AU" sz="2000" dirty="0">
                <a:solidFill>
                  <a:srgbClr val="007298"/>
                </a:solidFill>
                <a:latin typeface="Roboto Black" panose="02000000000000000000" pitchFamily="2" charset="0"/>
                <a:ea typeface="Roboto Black" panose="02000000000000000000" pitchFamily="2" charset="0"/>
              </a:rPr>
              <a:t>Drug Interaction Checker</a:t>
            </a:r>
          </a:p>
          <a:p>
            <a:r>
              <a:rPr lang="en-AU" sz="2000" dirty="0">
                <a:solidFill>
                  <a:srgbClr val="007298"/>
                </a:solidFill>
                <a:latin typeface="Roboto Black" panose="02000000000000000000" pitchFamily="2" charset="0"/>
                <a:ea typeface="Roboto Black" panose="02000000000000000000" pitchFamily="2" charset="0"/>
              </a:rPr>
              <a:t>Professional Patient Advice</a:t>
            </a:r>
          </a:p>
          <a:p>
            <a:pPr marL="0" indent="0">
              <a:buNone/>
            </a:pPr>
            <a:r>
              <a:rPr lang="en-AU" sz="2000" dirty="0">
                <a:solidFill>
                  <a:srgbClr val="007298"/>
                </a:solidFill>
                <a:latin typeface="Roboto Black" panose="02000000000000000000" pitchFamily="2" charset="0"/>
                <a:ea typeface="Roboto Black" panose="02000000000000000000" pitchFamily="2" charset="0"/>
              </a:rPr>
              <a:t>And more</a:t>
            </a:r>
          </a:p>
        </p:txBody>
      </p:sp>
      <p:sp>
        <p:nvSpPr>
          <p:cNvPr id="5" name="Slide Number Placeholder 4">
            <a:extLst>
              <a:ext uri="{FF2B5EF4-FFF2-40B4-BE49-F238E27FC236}">
                <a16:creationId xmlns:a16="http://schemas.microsoft.com/office/drawing/2014/main" id="{3607B33D-7CC5-CDF6-3665-810279291E24}"/>
              </a:ext>
            </a:extLst>
          </p:cNvPr>
          <p:cNvSpPr>
            <a:spLocks noGrp="1"/>
          </p:cNvSpPr>
          <p:nvPr>
            <p:ph type="sldNum" sz="quarter" idx="4294967295"/>
          </p:nvPr>
        </p:nvSpPr>
        <p:spPr>
          <a:xfrm>
            <a:off x="0" y="0"/>
            <a:ext cx="0" cy="0"/>
          </a:xfrm>
        </p:spPr>
        <p:txBody>
          <a:bodyPr/>
          <a:lstStyle/>
          <a:p>
            <a:fld id="{0762ED80-7479-4D1D-8010-0ABF30C0E0F8}" type="slidenum">
              <a:rPr lang="en-AU" smtClean="0"/>
              <a:t>55</a:t>
            </a:fld>
            <a:endParaRPr lang="en-AU"/>
          </a:p>
        </p:txBody>
      </p:sp>
      <p:sp>
        <p:nvSpPr>
          <p:cNvPr id="7" name="TextBox 6">
            <a:extLst>
              <a:ext uri="{FF2B5EF4-FFF2-40B4-BE49-F238E27FC236}">
                <a16:creationId xmlns:a16="http://schemas.microsoft.com/office/drawing/2014/main" id="{90A12C5A-41C4-D5CE-09A6-E3C577D943EB}"/>
              </a:ext>
            </a:extLst>
          </p:cNvPr>
          <p:cNvSpPr txBox="1"/>
          <p:nvPr/>
        </p:nvSpPr>
        <p:spPr>
          <a:xfrm>
            <a:off x="6019753" y="6189316"/>
            <a:ext cx="4376606" cy="646331"/>
          </a:xfrm>
          <a:prstGeom prst="rect">
            <a:avLst/>
          </a:prstGeom>
          <a:noFill/>
        </p:spPr>
        <p:txBody>
          <a:bodyPr wrap="square">
            <a:spAutoFit/>
          </a:bodyPr>
          <a:lstStyle/>
          <a:p>
            <a:r>
              <a:rPr lang="en-AU" dirty="0">
                <a:solidFill>
                  <a:srgbClr val="007298"/>
                </a:solidFill>
                <a:hlinkClick r:id="rId3">
                  <a:extLst>
                    <a:ext uri="{A12FA001-AC4F-418D-AE19-62706E023703}">
                      <ahyp:hlinkClr xmlns:ahyp="http://schemas.microsoft.com/office/drawing/2018/hyperlinkcolor" val="tx"/>
                    </a:ext>
                  </a:extLst>
                </a:hlinkClick>
              </a:rPr>
              <a:t>https://www.drugs.com/professionals.html</a:t>
            </a:r>
            <a:endParaRPr lang="en-AU" dirty="0">
              <a:solidFill>
                <a:srgbClr val="007298"/>
              </a:solidFill>
            </a:endParaRPr>
          </a:p>
          <a:p>
            <a:endParaRPr lang="en-AU" dirty="0"/>
          </a:p>
        </p:txBody>
      </p:sp>
      <p:sp>
        <p:nvSpPr>
          <p:cNvPr id="15" name="Arrow: Right 14">
            <a:extLst>
              <a:ext uri="{FF2B5EF4-FFF2-40B4-BE49-F238E27FC236}">
                <a16:creationId xmlns:a16="http://schemas.microsoft.com/office/drawing/2014/main" id="{8E342425-3F02-FF9F-D85A-47C4B69D4AE6}"/>
              </a:ext>
            </a:extLst>
          </p:cNvPr>
          <p:cNvSpPr/>
          <p:nvPr/>
        </p:nvSpPr>
        <p:spPr>
          <a:xfrm rot="16200000">
            <a:off x="8526289" y="1940137"/>
            <a:ext cx="423895" cy="262887"/>
          </a:xfrm>
          <a:prstGeom prst="rightArrow">
            <a:avLst>
              <a:gd name="adj1" fmla="val 50000"/>
              <a:gd name="adj2" fmla="val 50000"/>
            </a:avLst>
          </a:prstGeom>
          <a:solidFill>
            <a:schemeClr val="accent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pic>
        <p:nvPicPr>
          <p:cNvPr id="17" name="Picture 16">
            <a:extLst>
              <a:ext uri="{FF2B5EF4-FFF2-40B4-BE49-F238E27FC236}">
                <a16:creationId xmlns:a16="http://schemas.microsoft.com/office/drawing/2014/main" id="{290AFDDA-D829-DEF5-FA1E-9582ADD0A235}"/>
              </a:ext>
            </a:extLst>
          </p:cNvPr>
          <p:cNvPicPr>
            <a:picLocks noChangeAspect="1"/>
          </p:cNvPicPr>
          <p:nvPr/>
        </p:nvPicPr>
        <p:blipFill>
          <a:blip r:embed="rId4"/>
          <a:stretch>
            <a:fillRect/>
          </a:stretch>
        </p:blipFill>
        <p:spPr>
          <a:xfrm>
            <a:off x="2009418" y="891727"/>
            <a:ext cx="7780378" cy="919565"/>
          </a:xfrm>
          <a:prstGeom prst="rect">
            <a:avLst/>
          </a:prstGeom>
          <a:ln w="38100">
            <a:solidFill>
              <a:srgbClr val="007298"/>
            </a:solidFill>
          </a:ln>
        </p:spPr>
      </p:pic>
      <p:sp>
        <p:nvSpPr>
          <p:cNvPr id="2" name="Arrow: Down 1">
            <a:extLst>
              <a:ext uri="{FF2B5EF4-FFF2-40B4-BE49-F238E27FC236}">
                <a16:creationId xmlns:a16="http://schemas.microsoft.com/office/drawing/2014/main" id="{56B8C520-F4AE-FEE2-1F17-4156D10315EB}"/>
              </a:ext>
            </a:extLst>
          </p:cNvPr>
          <p:cNvSpPr/>
          <p:nvPr/>
        </p:nvSpPr>
        <p:spPr>
          <a:xfrm rot="5400000">
            <a:off x="5849539" y="3830255"/>
            <a:ext cx="293217" cy="557844"/>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29574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3D2D589-EAFE-922A-8AB6-BF852D5CA097}"/>
              </a:ext>
            </a:extLst>
          </p:cNvPr>
          <p:cNvSpPr/>
          <p:nvPr/>
        </p:nvSpPr>
        <p:spPr>
          <a:xfrm>
            <a:off x="0" y="0"/>
            <a:ext cx="12192000" cy="69723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2" name="Text Placeholder 1">
            <a:extLst>
              <a:ext uri="{FF2B5EF4-FFF2-40B4-BE49-F238E27FC236}">
                <a16:creationId xmlns:a16="http://schemas.microsoft.com/office/drawing/2014/main" id="{E3B10358-E6B9-CF4E-3D7F-B8612D94C207}"/>
              </a:ext>
            </a:extLst>
          </p:cNvPr>
          <p:cNvSpPr>
            <a:spLocks noGrp="1"/>
          </p:cNvSpPr>
          <p:nvPr>
            <p:ph type="body" sz="quarter" idx="17"/>
          </p:nvPr>
        </p:nvSpPr>
        <p:spPr>
          <a:xfrm>
            <a:off x="2881447" y="819650"/>
            <a:ext cx="6558183" cy="573088"/>
          </a:xfrm>
        </p:spPr>
        <p:txBody>
          <a:bodyPr>
            <a:normAutofit fontScale="92500" lnSpcReduction="10000"/>
          </a:bodyPr>
          <a:lstStyle/>
          <a:p>
            <a:pPr algn="ctr"/>
            <a:r>
              <a:rPr lang="en-AU" sz="4000" b="1" dirty="0"/>
              <a:t>AHFS DI Monographs</a:t>
            </a:r>
          </a:p>
          <a:p>
            <a:endParaRPr lang="en-AU" dirty="0"/>
          </a:p>
        </p:txBody>
      </p:sp>
      <p:sp>
        <p:nvSpPr>
          <p:cNvPr id="6" name="Text Placeholder 5">
            <a:extLst>
              <a:ext uri="{FF2B5EF4-FFF2-40B4-BE49-F238E27FC236}">
                <a16:creationId xmlns:a16="http://schemas.microsoft.com/office/drawing/2014/main" id="{8AC63455-6967-6F88-0742-FAC6FE7A0D39}"/>
              </a:ext>
            </a:extLst>
          </p:cNvPr>
          <p:cNvSpPr>
            <a:spLocks noGrp="1"/>
          </p:cNvSpPr>
          <p:nvPr>
            <p:ph type="body" sz="quarter" idx="18"/>
          </p:nvPr>
        </p:nvSpPr>
        <p:spPr>
          <a:xfrm>
            <a:off x="9144000" y="6506825"/>
            <a:ext cx="2459132" cy="299810"/>
          </a:xfrm>
        </p:spPr>
        <p:txBody>
          <a:bodyPr/>
          <a:lstStyle/>
          <a:p>
            <a:r>
              <a:rPr lang="en-AU" dirty="0"/>
              <a:t>https://ahfsdruginformation.com/</a:t>
            </a:r>
          </a:p>
        </p:txBody>
      </p:sp>
      <p:pic>
        <p:nvPicPr>
          <p:cNvPr id="8" name="Picture 7">
            <a:extLst>
              <a:ext uri="{FF2B5EF4-FFF2-40B4-BE49-F238E27FC236}">
                <a16:creationId xmlns:a16="http://schemas.microsoft.com/office/drawing/2014/main" id="{C49967DE-BB9E-F6DD-8BA1-A8A370D0883A}"/>
              </a:ext>
            </a:extLst>
          </p:cNvPr>
          <p:cNvPicPr>
            <a:picLocks noChangeAspect="1"/>
          </p:cNvPicPr>
          <p:nvPr/>
        </p:nvPicPr>
        <p:blipFill>
          <a:blip r:embed="rId3"/>
          <a:stretch>
            <a:fillRect/>
          </a:stretch>
        </p:blipFill>
        <p:spPr>
          <a:xfrm>
            <a:off x="3114099" y="1606586"/>
            <a:ext cx="6500423" cy="823031"/>
          </a:xfrm>
          <a:prstGeom prst="rect">
            <a:avLst/>
          </a:prstGeom>
          <a:ln w="38100">
            <a:solidFill>
              <a:srgbClr val="007298"/>
            </a:solidFill>
          </a:ln>
        </p:spPr>
      </p:pic>
      <p:pic>
        <p:nvPicPr>
          <p:cNvPr id="14" name="Picture 13">
            <a:extLst>
              <a:ext uri="{FF2B5EF4-FFF2-40B4-BE49-F238E27FC236}">
                <a16:creationId xmlns:a16="http://schemas.microsoft.com/office/drawing/2014/main" id="{878BCC78-CE9C-3B5B-AB2B-EC4EA49AB7E1}"/>
              </a:ext>
            </a:extLst>
          </p:cNvPr>
          <p:cNvPicPr>
            <a:picLocks noChangeAspect="1"/>
          </p:cNvPicPr>
          <p:nvPr/>
        </p:nvPicPr>
        <p:blipFill>
          <a:blip r:embed="rId4"/>
          <a:stretch>
            <a:fillRect/>
          </a:stretch>
        </p:blipFill>
        <p:spPr>
          <a:xfrm>
            <a:off x="330562" y="2716198"/>
            <a:ext cx="11272570" cy="3534697"/>
          </a:xfrm>
          <a:prstGeom prst="rect">
            <a:avLst/>
          </a:prstGeom>
          <a:solidFill>
            <a:srgbClr val="007298"/>
          </a:solidFill>
          <a:ln w="38100">
            <a:solidFill>
              <a:srgbClr val="007298"/>
            </a:solidFill>
          </a:ln>
          <a:effectLst>
            <a:outerShdw blurRad="292100" dist="139700" dir="2700000" algn="tl" rotWithShape="0">
              <a:srgbClr val="333333">
                <a:alpha val="65000"/>
              </a:srgbClr>
            </a:outerShdw>
          </a:effectLst>
        </p:spPr>
      </p:pic>
      <p:sp>
        <p:nvSpPr>
          <p:cNvPr id="4" name="Speech Bubble: Oval 3">
            <a:extLst>
              <a:ext uri="{FF2B5EF4-FFF2-40B4-BE49-F238E27FC236}">
                <a16:creationId xmlns:a16="http://schemas.microsoft.com/office/drawing/2014/main" id="{67EB51EC-CC54-3745-BA8F-493839063358}"/>
              </a:ext>
            </a:extLst>
          </p:cNvPr>
          <p:cNvSpPr/>
          <p:nvPr/>
        </p:nvSpPr>
        <p:spPr>
          <a:xfrm>
            <a:off x="1531620" y="260917"/>
            <a:ext cx="1440180" cy="1121889"/>
          </a:xfrm>
          <a:prstGeom prst="wedgeEllipseCallout">
            <a:avLst>
              <a:gd name="adj1" fmla="val 101131"/>
              <a:gd name="adj2" fmla="val 29479"/>
            </a:avLst>
          </a:prstGeom>
          <a:noFill/>
          <a:ln>
            <a:solidFill>
              <a:srgbClr val="33CCCC"/>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1400" dirty="0">
                <a:solidFill>
                  <a:srgbClr val="007298"/>
                </a:solidFill>
              </a:rPr>
              <a:t>American Hospital Formulary Service</a:t>
            </a:r>
            <a:endParaRPr lang="en-AU" dirty="0">
              <a:solidFill>
                <a:srgbClr val="007298"/>
              </a:solidFill>
            </a:endParaRPr>
          </a:p>
        </p:txBody>
      </p:sp>
    </p:spTree>
    <p:extLst>
      <p:ext uri="{BB962C8B-B14F-4D97-AF65-F5344CB8AC3E}">
        <p14:creationId xmlns:p14="http://schemas.microsoft.com/office/powerpoint/2010/main" val="42520805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89EB6B-CDBA-62EE-235C-5FBCB102A8FF}"/>
              </a:ext>
            </a:extLst>
          </p:cNvPr>
          <p:cNvSpPr/>
          <p:nvPr/>
        </p:nvSpPr>
        <p:spPr>
          <a:xfrm>
            <a:off x="0" y="0"/>
            <a:ext cx="12192000"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2" name="Text Placeholder 1">
            <a:extLst>
              <a:ext uri="{FF2B5EF4-FFF2-40B4-BE49-F238E27FC236}">
                <a16:creationId xmlns:a16="http://schemas.microsoft.com/office/drawing/2014/main" id="{A485FF71-BDE3-00D9-3D47-BF06E9F04DD2}"/>
              </a:ext>
            </a:extLst>
          </p:cNvPr>
          <p:cNvSpPr>
            <a:spLocks noGrp="1"/>
          </p:cNvSpPr>
          <p:nvPr>
            <p:ph type="body" sz="quarter" idx="17"/>
          </p:nvPr>
        </p:nvSpPr>
        <p:spPr>
          <a:xfrm>
            <a:off x="2515687" y="850931"/>
            <a:ext cx="6558183" cy="573088"/>
          </a:xfrm>
        </p:spPr>
        <p:txBody>
          <a:bodyPr/>
          <a:lstStyle/>
          <a:p>
            <a:pPr algn="ctr"/>
            <a:r>
              <a:rPr lang="en-AU" b="1" dirty="0"/>
              <a:t>AHFS Monograph on Clotrimazole</a:t>
            </a:r>
            <a:endParaRPr lang="en-AU" dirty="0"/>
          </a:p>
        </p:txBody>
      </p:sp>
      <p:sp>
        <p:nvSpPr>
          <p:cNvPr id="3" name="Text Placeholder 2">
            <a:extLst>
              <a:ext uri="{FF2B5EF4-FFF2-40B4-BE49-F238E27FC236}">
                <a16:creationId xmlns:a16="http://schemas.microsoft.com/office/drawing/2014/main" id="{DD7D6877-C7A3-E558-E952-6322DAF3D42A}"/>
              </a:ext>
            </a:extLst>
          </p:cNvPr>
          <p:cNvSpPr>
            <a:spLocks noGrp="1"/>
          </p:cNvSpPr>
          <p:nvPr>
            <p:ph type="body" sz="quarter" idx="20"/>
          </p:nvPr>
        </p:nvSpPr>
        <p:spPr>
          <a:xfrm>
            <a:off x="664027" y="1881218"/>
            <a:ext cx="10663103" cy="4519581"/>
          </a:xfrm>
        </p:spPr>
        <p:txBody>
          <a:bodyPr>
            <a:normAutofit/>
          </a:bodyPr>
          <a:lstStyle/>
          <a:p>
            <a:r>
              <a:rPr lang="en-AU" sz="2800" b="1" dirty="0">
                <a:solidFill>
                  <a:srgbClr val="007298"/>
                </a:solidFill>
                <a:latin typeface="Roboto Black" panose="02000000000000000000" pitchFamily="2" charset="0"/>
                <a:ea typeface="Roboto Black" panose="02000000000000000000" pitchFamily="2" charset="0"/>
              </a:rPr>
              <a:t>Introduction</a:t>
            </a:r>
          </a:p>
          <a:p>
            <a:r>
              <a:rPr lang="en-AU" sz="2400" dirty="0">
                <a:solidFill>
                  <a:srgbClr val="007298"/>
                </a:solidFill>
                <a:latin typeface="Roboto" panose="02000000000000000000" pitchFamily="2" charset="0"/>
                <a:ea typeface="Roboto" panose="02000000000000000000" pitchFamily="2" charset="0"/>
                <a:cs typeface="Roboto" panose="02000000000000000000" pitchFamily="2" charset="0"/>
              </a:rPr>
              <a:t>Antifungal; azole (imidazole derivative).</a:t>
            </a:r>
          </a:p>
          <a:p>
            <a:endParaRPr lang="en-AU" sz="2400" b="1" dirty="0">
              <a:solidFill>
                <a:srgbClr val="007298"/>
              </a:solidFill>
              <a:latin typeface="Roboto Black" panose="02000000000000000000" pitchFamily="2" charset="0"/>
              <a:ea typeface="Roboto Black" panose="02000000000000000000" pitchFamily="2" charset="0"/>
            </a:endParaRPr>
          </a:p>
          <a:p>
            <a:r>
              <a:rPr lang="en-AU" sz="2800" b="1" dirty="0">
                <a:solidFill>
                  <a:srgbClr val="007298"/>
                </a:solidFill>
                <a:latin typeface="Roboto Black" panose="02000000000000000000" pitchFamily="2" charset="0"/>
                <a:ea typeface="Roboto Black" panose="02000000000000000000" pitchFamily="2" charset="0"/>
              </a:rPr>
              <a:t>Uses for Clotrimazole</a:t>
            </a:r>
          </a:p>
          <a:p>
            <a:r>
              <a:rPr lang="en-AU" sz="2000" b="1" dirty="0">
                <a:solidFill>
                  <a:srgbClr val="007298"/>
                </a:solidFill>
                <a:latin typeface="Roboto Black" panose="02000000000000000000" pitchFamily="2" charset="0"/>
                <a:ea typeface="Roboto Black" panose="02000000000000000000" pitchFamily="2" charset="0"/>
              </a:rPr>
              <a:t> </a:t>
            </a:r>
            <a:r>
              <a:rPr lang="en-AU" sz="1600" i="1" dirty="0">
                <a:solidFill>
                  <a:srgbClr val="007298"/>
                </a:solidFill>
                <a:latin typeface="Roboto" panose="02000000000000000000" pitchFamily="2" charset="0"/>
                <a:ea typeface="Roboto" panose="02000000000000000000" pitchFamily="2" charset="0"/>
                <a:cs typeface="Roboto" panose="02000000000000000000" pitchFamily="2" charset="0"/>
              </a:rPr>
              <a:t>keep on scrolling to find the condition in the case study…</a:t>
            </a:r>
          </a:p>
          <a:p>
            <a:r>
              <a:rPr lang="en-AU" sz="2400" b="1" dirty="0">
                <a:solidFill>
                  <a:srgbClr val="007298"/>
                </a:solidFill>
                <a:latin typeface="Roboto Black" panose="02000000000000000000" pitchFamily="2" charset="0"/>
                <a:ea typeface="Roboto Black" panose="02000000000000000000" pitchFamily="2" charset="0"/>
              </a:rPr>
              <a:t>Vulvovaginal Candidiasis</a:t>
            </a:r>
          </a:p>
          <a:p>
            <a:r>
              <a:rPr lang="en-US" sz="2000" dirty="0">
                <a:solidFill>
                  <a:srgbClr val="007298"/>
                </a:solidFill>
                <a:latin typeface="Roboto" panose="02000000000000000000" pitchFamily="2" charset="0"/>
                <a:ea typeface="Roboto" panose="02000000000000000000" pitchFamily="2" charset="0"/>
                <a:cs typeface="Roboto" panose="02000000000000000000" pitchFamily="2" charset="0"/>
              </a:rPr>
              <a:t>Treatment of uncomplicated vulvovaginal candidiasis (mild to moderate, sporadic or infrequent, most likely caused by </a:t>
            </a:r>
            <a:r>
              <a:rPr lang="en-US" sz="2000" i="1" dirty="0">
                <a:solidFill>
                  <a:srgbClr val="007298"/>
                </a:solidFill>
                <a:latin typeface="Roboto" panose="02000000000000000000" pitchFamily="2" charset="0"/>
                <a:ea typeface="Roboto" panose="02000000000000000000" pitchFamily="2" charset="0"/>
                <a:cs typeface="Roboto" panose="02000000000000000000" pitchFamily="2" charset="0"/>
              </a:rPr>
              <a:t>Candida albicans</a:t>
            </a:r>
            <a:r>
              <a:rPr lang="en-US" sz="2000" dirty="0">
                <a:solidFill>
                  <a:srgbClr val="007298"/>
                </a:solidFill>
                <a:latin typeface="Roboto" panose="02000000000000000000" pitchFamily="2" charset="0"/>
                <a:ea typeface="Roboto" panose="02000000000000000000" pitchFamily="2" charset="0"/>
                <a:cs typeface="Roboto" panose="02000000000000000000" pitchFamily="2" charset="0"/>
              </a:rPr>
              <a:t>, occurring in immunocompetent women).</a:t>
            </a:r>
          </a:p>
          <a:p>
            <a:endParaRPr lang="en-US" sz="2000" b="1" dirty="0">
              <a:solidFill>
                <a:srgbClr val="007298"/>
              </a:solidFill>
              <a:latin typeface="Roboto" panose="02000000000000000000" pitchFamily="2" charset="0"/>
              <a:ea typeface="Roboto" panose="02000000000000000000" pitchFamily="2" charset="0"/>
              <a:cs typeface="Roboto" panose="02000000000000000000" pitchFamily="2" charset="0"/>
            </a:endParaRPr>
          </a:p>
          <a:p>
            <a:pPr algn="r"/>
            <a:r>
              <a:rPr lang="en-AU" sz="1600" b="1" dirty="0">
                <a:solidFill>
                  <a:srgbClr val="007298"/>
                </a:solidFill>
                <a:latin typeface="Roboto" panose="02000000000000000000" pitchFamily="2" charset="0"/>
                <a:ea typeface="Roboto" panose="02000000000000000000" pitchFamily="2" charset="0"/>
                <a:cs typeface="Roboto" panose="02000000000000000000" pitchFamily="2" charset="0"/>
              </a:rPr>
              <a:t>https://www.drugs.com/monograph/clotrimazole.html</a:t>
            </a:r>
          </a:p>
          <a:p>
            <a:endParaRPr lang="en-AU" dirty="0"/>
          </a:p>
        </p:txBody>
      </p:sp>
    </p:spTree>
    <p:extLst>
      <p:ext uri="{BB962C8B-B14F-4D97-AF65-F5344CB8AC3E}">
        <p14:creationId xmlns:p14="http://schemas.microsoft.com/office/powerpoint/2010/main" val="15417776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85FF71-BDE3-00D9-3D47-BF06E9F04DD2}"/>
              </a:ext>
            </a:extLst>
          </p:cNvPr>
          <p:cNvSpPr>
            <a:spLocks noGrp="1"/>
          </p:cNvSpPr>
          <p:nvPr>
            <p:ph type="body" sz="quarter" idx="17"/>
          </p:nvPr>
        </p:nvSpPr>
        <p:spPr>
          <a:xfrm>
            <a:off x="501785" y="616852"/>
            <a:ext cx="6558183" cy="573088"/>
          </a:xfrm>
        </p:spPr>
        <p:txBody>
          <a:bodyPr>
            <a:normAutofit fontScale="70000" lnSpcReduction="20000"/>
          </a:bodyPr>
          <a:lstStyle/>
          <a:p>
            <a:pPr algn="ctr"/>
            <a:r>
              <a:rPr lang="en-AU" b="1" dirty="0"/>
              <a:t>AHFS Monograph Clotrimazole Dosage and Administration</a:t>
            </a:r>
          </a:p>
          <a:p>
            <a:endParaRPr lang="en-AU" dirty="0"/>
          </a:p>
        </p:txBody>
      </p:sp>
      <p:sp>
        <p:nvSpPr>
          <p:cNvPr id="6" name="Text Placeholder 5">
            <a:extLst>
              <a:ext uri="{FF2B5EF4-FFF2-40B4-BE49-F238E27FC236}">
                <a16:creationId xmlns:a16="http://schemas.microsoft.com/office/drawing/2014/main" id="{1AEFB05B-3922-3F77-1C33-9DC8615229C0}"/>
              </a:ext>
            </a:extLst>
          </p:cNvPr>
          <p:cNvSpPr>
            <a:spLocks noGrp="1"/>
          </p:cNvSpPr>
          <p:nvPr>
            <p:ph type="body" sz="quarter" idx="18"/>
          </p:nvPr>
        </p:nvSpPr>
        <p:spPr/>
        <p:txBody>
          <a:bodyPr/>
          <a:lstStyle/>
          <a:p>
            <a:endParaRPr lang="en-AU"/>
          </a:p>
        </p:txBody>
      </p:sp>
      <p:pic>
        <p:nvPicPr>
          <p:cNvPr id="5" name="Picture 4">
            <a:extLst>
              <a:ext uri="{FF2B5EF4-FFF2-40B4-BE49-F238E27FC236}">
                <a16:creationId xmlns:a16="http://schemas.microsoft.com/office/drawing/2014/main" id="{142D777D-7CC2-14B5-2F22-908F1DB02453}"/>
              </a:ext>
            </a:extLst>
          </p:cNvPr>
          <p:cNvPicPr>
            <a:picLocks noChangeAspect="1"/>
          </p:cNvPicPr>
          <p:nvPr/>
        </p:nvPicPr>
        <p:blipFill>
          <a:blip r:embed="rId3"/>
          <a:stretch>
            <a:fillRect/>
          </a:stretch>
        </p:blipFill>
        <p:spPr>
          <a:xfrm>
            <a:off x="501785" y="1767666"/>
            <a:ext cx="7205140" cy="4633134"/>
          </a:xfrm>
          <a:prstGeom prst="rect">
            <a:avLst/>
          </a:prstGeom>
          <a:ln w="38100">
            <a:solidFill>
              <a:srgbClr val="007298"/>
            </a:solid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28958D28-6ACF-5A42-7564-9017CA111A5F}"/>
              </a:ext>
            </a:extLst>
          </p:cNvPr>
          <p:cNvSpPr txBox="1"/>
          <p:nvPr/>
        </p:nvSpPr>
        <p:spPr>
          <a:xfrm>
            <a:off x="6096000" y="6519446"/>
            <a:ext cx="6094428" cy="338554"/>
          </a:xfrm>
          <a:prstGeom prst="rect">
            <a:avLst/>
          </a:prstGeom>
          <a:noFill/>
        </p:spPr>
        <p:txBody>
          <a:bodyPr wrap="square">
            <a:spAutoFit/>
          </a:bodyPr>
          <a:lstStyle/>
          <a:p>
            <a:pPr algn="r"/>
            <a:r>
              <a:rPr lang="en-AU" sz="1600" b="1" dirty="0">
                <a:solidFill>
                  <a:srgbClr val="007298"/>
                </a:solidFill>
                <a:latin typeface="Roboto Light" panose="02000000000000000000" pitchFamily="2" charset="0"/>
                <a:ea typeface="Roboto Light" panose="02000000000000000000" pitchFamily="2" charset="0"/>
                <a:cs typeface="Roboto Light" panose="02000000000000000000" pitchFamily="2" charset="0"/>
              </a:rPr>
              <a:t>https://www.drugs.com/monograph/clotrimazole.html</a:t>
            </a:r>
          </a:p>
        </p:txBody>
      </p:sp>
    </p:spTree>
    <p:extLst>
      <p:ext uri="{BB962C8B-B14F-4D97-AF65-F5344CB8AC3E}">
        <p14:creationId xmlns:p14="http://schemas.microsoft.com/office/powerpoint/2010/main" val="934549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DAE230-A6FC-9227-B42C-D31CC425681E}"/>
              </a:ext>
            </a:extLst>
          </p:cNvPr>
          <p:cNvSpPr/>
          <p:nvPr/>
        </p:nvSpPr>
        <p:spPr>
          <a:xfrm>
            <a:off x="0" y="0"/>
            <a:ext cx="12192000"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2" name="Text Placeholder 1">
            <a:extLst>
              <a:ext uri="{FF2B5EF4-FFF2-40B4-BE49-F238E27FC236}">
                <a16:creationId xmlns:a16="http://schemas.microsoft.com/office/drawing/2014/main" id="{A485FF71-BDE3-00D9-3D47-BF06E9F04DD2}"/>
              </a:ext>
            </a:extLst>
          </p:cNvPr>
          <p:cNvSpPr>
            <a:spLocks noGrp="1"/>
          </p:cNvSpPr>
          <p:nvPr>
            <p:ph type="body" sz="quarter" idx="17"/>
          </p:nvPr>
        </p:nvSpPr>
        <p:spPr>
          <a:xfrm>
            <a:off x="2586603" y="1466748"/>
            <a:ext cx="6558183" cy="573088"/>
          </a:xfrm>
        </p:spPr>
        <p:txBody>
          <a:bodyPr>
            <a:normAutofit fontScale="62500" lnSpcReduction="20000"/>
          </a:bodyPr>
          <a:lstStyle/>
          <a:p>
            <a:pPr algn="ctr"/>
            <a:r>
              <a:rPr lang="en-AU" sz="4000" b="1" dirty="0"/>
              <a:t>AHFS Monograph Cautions for Clotrimazole</a:t>
            </a:r>
          </a:p>
          <a:p>
            <a:endParaRPr lang="en-AU" dirty="0"/>
          </a:p>
        </p:txBody>
      </p:sp>
      <p:pic>
        <p:nvPicPr>
          <p:cNvPr id="4" name="Picture 3">
            <a:extLst>
              <a:ext uri="{FF2B5EF4-FFF2-40B4-BE49-F238E27FC236}">
                <a16:creationId xmlns:a16="http://schemas.microsoft.com/office/drawing/2014/main" id="{B9C1AE9C-F096-8538-6CD7-948BF58AB150}"/>
              </a:ext>
            </a:extLst>
          </p:cNvPr>
          <p:cNvPicPr>
            <a:picLocks noChangeAspect="1"/>
          </p:cNvPicPr>
          <p:nvPr/>
        </p:nvPicPr>
        <p:blipFill>
          <a:blip r:embed="rId3"/>
          <a:stretch>
            <a:fillRect/>
          </a:stretch>
        </p:blipFill>
        <p:spPr>
          <a:xfrm>
            <a:off x="1503265" y="2710398"/>
            <a:ext cx="8864637" cy="2660468"/>
          </a:xfrm>
          <a:prstGeom prst="rect">
            <a:avLst/>
          </a:prstGeom>
          <a:ln w="38100">
            <a:solidFill>
              <a:srgbClr val="007298"/>
            </a:solidFill>
          </a:ln>
          <a:effectLst>
            <a:outerShdw blurRad="292100" dist="139700" dir="2700000" algn="tl" rotWithShape="0">
              <a:srgbClr val="333333">
                <a:alpha val="65000"/>
              </a:srgbClr>
            </a:outerShdw>
          </a:effectLst>
        </p:spPr>
      </p:pic>
      <p:sp>
        <p:nvSpPr>
          <p:cNvPr id="8" name="Oval 7">
            <a:extLst>
              <a:ext uri="{FF2B5EF4-FFF2-40B4-BE49-F238E27FC236}">
                <a16:creationId xmlns:a16="http://schemas.microsoft.com/office/drawing/2014/main" id="{24F129FB-CFF0-00C8-D6E8-34540E9EB874}"/>
              </a:ext>
            </a:extLst>
          </p:cNvPr>
          <p:cNvSpPr/>
          <p:nvPr/>
        </p:nvSpPr>
        <p:spPr>
          <a:xfrm>
            <a:off x="1503265" y="3478435"/>
            <a:ext cx="1239935" cy="108102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65B7C3B6-3B4E-0398-90BD-E58B74123D9A}"/>
              </a:ext>
            </a:extLst>
          </p:cNvPr>
          <p:cNvSpPr txBox="1"/>
          <p:nvPr/>
        </p:nvSpPr>
        <p:spPr>
          <a:xfrm>
            <a:off x="6097572" y="6162272"/>
            <a:ext cx="6094428" cy="338554"/>
          </a:xfrm>
          <a:prstGeom prst="rect">
            <a:avLst/>
          </a:prstGeom>
          <a:noFill/>
        </p:spPr>
        <p:txBody>
          <a:bodyPr wrap="square">
            <a:spAutoFit/>
          </a:bodyPr>
          <a:lstStyle/>
          <a:p>
            <a:pPr algn="r"/>
            <a:r>
              <a:rPr lang="en-AU" sz="1600" b="1" dirty="0">
                <a:solidFill>
                  <a:srgbClr val="007298"/>
                </a:solidFill>
                <a:latin typeface="Roboto Light" panose="02000000000000000000" pitchFamily="2" charset="0"/>
                <a:ea typeface="Roboto Light" panose="02000000000000000000" pitchFamily="2" charset="0"/>
                <a:cs typeface="Roboto Light" panose="02000000000000000000" pitchFamily="2" charset="0"/>
              </a:rPr>
              <a:t>https://www.drugs.com/monograph/clotrimazole.html</a:t>
            </a:r>
          </a:p>
        </p:txBody>
      </p:sp>
      <p:pic>
        <p:nvPicPr>
          <p:cNvPr id="5" name="Picture 4">
            <a:extLst>
              <a:ext uri="{FF2B5EF4-FFF2-40B4-BE49-F238E27FC236}">
                <a16:creationId xmlns:a16="http://schemas.microsoft.com/office/drawing/2014/main" id="{E78590CD-0DA4-D982-AD8C-9456C8042422}"/>
              </a:ext>
            </a:extLst>
          </p:cNvPr>
          <p:cNvPicPr>
            <a:picLocks noChangeAspect="1"/>
          </p:cNvPicPr>
          <p:nvPr/>
        </p:nvPicPr>
        <p:blipFill>
          <a:blip r:embed="rId4"/>
          <a:stretch>
            <a:fillRect/>
          </a:stretch>
        </p:blipFill>
        <p:spPr>
          <a:xfrm>
            <a:off x="8539161" y="2152650"/>
            <a:ext cx="2428875" cy="1276350"/>
          </a:xfrm>
          <a:prstGeom prst="rect">
            <a:avLst/>
          </a:prstGeom>
        </p:spPr>
      </p:pic>
      <p:sp>
        <p:nvSpPr>
          <p:cNvPr id="9" name="TextBox 8">
            <a:extLst>
              <a:ext uri="{FF2B5EF4-FFF2-40B4-BE49-F238E27FC236}">
                <a16:creationId xmlns:a16="http://schemas.microsoft.com/office/drawing/2014/main" id="{172D50BD-2F90-AC7F-9764-34C2625DC0AF}"/>
              </a:ext>
            </a:extLst>
          </p:cNvPr>
          <p:cNvSpPr txBox="1"/>
          <p:nvPr/>
        </p:nvSpPr>
        <p:spPr>
          <a:xfrm>
            <a:off x="6506851" y="6510115"/>
            <a:ext cx="6113282" cy="215444"/>
          </a:xfrm>
          <a:prstGeom prst="rect">
            <a:avLst/>
          </a:prstGeom>
          <a:noFill/>
        </p:spPr>
        <p:txBody>
          <a:bodyPr wrap="square">
            <a:spAutoFit/>
          </a:bodyPr>
          <a:lstStyle/>
          <a:p>
            <a:r>
              <a:rPr lang="en-AU" sz="800" dirty="0">
                <a:solidFill>
                  <a:srgbClr val="007298"/>
                </a:solidFill>
              </a:rPr>
              <a:t>https://upload.wikimedia.org/wikipedia/en/thumb/a/a4/Flag_of_the_United_States.svg/255px-Flag_of_the_United_States.svg.png</a:t>
            </a:r>
          </a:p>
        </p:txBody>
      </p:sp>
    </p:spTree>
    <p:extLst>
      <p:ext uri="{BB962C8B-B14F-4D97-AF65-F5344CB8AC3E}">
        <p14:creationId xmlns:p14="http://schemas.microsoft.com/office/powerpoint/2010/main" val="29948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32D4D1-766E-4E80-99E0-A841B3F6C16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E3B10358-E6B9-CF4E-3D7F-B8612D94C207}"/>
              </a:ext>
            </a:extLst>
          </p:cNvPr>
          <p:cNvSpPr>
            <a:spLocks noGrp="1"/>
          </p:cNvSpPr>
          <p:nvPr>
            <p:ph type="body" sz="quarter" idx="17"/>
          </p:nvPr>
        </p:nvSpPr>
        <p:spPr>
          <a:xfrm>
            <a:off x="2687755" y="709875"/>
            <a:ext cx="6558183" cy="573088"/>
          </a:xfrm>
        </p:spPr>
        <p:txBody>
          <a:bodyPr>
            <a:normAutofit fontScale="92500" lnSpcReduction="10000"/>
          </a:bodyPr>
          <a:lstStyle/>
          <a:p>
            <a:pPr algn="ctr"/>
            <a:r>
              <a:rPr lang="en-AU" sz="4000" b="1" dirty="0"/>
              <a:t>AHFS DI Monographs</a:t>
            </a:r>
          </a:p>
          <a:p>
            <a:endParaRPr lang="en-AU" dirty="0"/>
          </a:p>
        </p:txBody>
      </p:sp>
      <p:sp>
        <p:nvSpPr>
          <p:cNvPr id="6" name="Text Placeholder 5">
            <a:extLst>
              <a:ext uri="{FF2B5EF4-FFF2-40B4-BE49-F238E27FC236}">
                <a16:creationId xmlns:a16="http://schemas.microsoft.com/office/drawing/2014/main" id="{8AC63455-6967-6F88-0742-FAC6FE7A0D39}"/>
              </a:ext>
            </a:extLst>
          </p:cNvPr>
          <p:cNvSpPr>
            <a:spLocks noGrp="1"/>
          </p:cNvSpPr>
          <p:nvPr>
            <p:ph type="body" sz="quarter" idx="18"/>
          </p:nvPr>
        </p:nvSpPr>
        <p:spPr>
          <a:xfrm>
            <a:off x="8148909" y="6412075"/>
            <a:ext cx="5302820" cy="299810"/>
          </a:xfrm>
        </p:spPr>
        <p:txBody>
          <a:bodyPr/>
          <a:lstStyle/>
          <a:p>
            <a:r>
              <a:rPr lang="en-AU" dirty="0"/>
              <a:t>https://www.drugs.com/monograph/clotrimazole.html</a:t>
            </a:r>
          </a:p>
        </p:txBody>
      </p:sp>
      <p:pic>
        <p:nvPicPr>
          <p:cNvPr id="14" name="Picture 13">
            <a:extLst>
              <a:ext uri="{FF2B5EF4-FFF2-40B4-BE49-F238E27FC236}">
                <a16:creationId xmlns:a16="http://schemas.microsoft.com/office/drawing/2014/main" id="{878BCC78-CE9C-3B5B-AB2B-EC4EA49AB7E1}"/>
              </a:ext>
            </a:extLst>
          </p:cNvPr>
          <p:cNvPicPr>
            <a:picLocks noChangeAspect="1"/>
          </p:cNvPicPr>
          <p:nvPr/>
        </p:nvPicPr>
        <p:blipFill>
          <a:blip r:embed="rId3"/>
          <a:stretch>
            <a:fillRect/>
          </a:stretch>
        </p:blipFill>
        <p:spPr>
          <a:xfrm>
            <a:off x="634091" y="1903096"/>
            <a:ext cx="10797235" cy="3385648"/>
          </a:xfrm>
          <a:prstGeom prst="rect">
            <a:avLst/>
          </a:prstGeom>
          <a:ln w="38100">
            <a:solidFill>
              <a:srgbClr val="007298"/>
            </a:solidFill>
          </a:ln>
          <a:effectLst>
            <a:outerShdw blurRad="292100" dist="139700" dir="2700000" algn="tl" rotWithShape="0">
              <a:srgbClr val="333333">
                <a:alpha val="65000"/>
              </a:srgbClr>
            </a:outerShdw>
          </a:effectLst>
        </p:spPr>
      </p:pic>
      <p:sp>
        <p:nvSpPr>
          <p:cNvPr id="4" name="Oval 3">
            <a:extLst>
              <a:ext uri="{FF2B5EF4-FFF2-40B4-BE49-F238E27FC236}">
                <a16:creationId xmlns:a16="http://schemas.microsoft.com/office/drawing/2014/main" id="{1E4797C8-0AF4-59DD-5B1E-CCBA76A472CD}"/>
              </a:ext>
            </a:extLst>
          </p:cNvPr>
          <p:cNvSpPr/>
          <p:nvPr/>
        </p:nvSpPr>
        <p:spPr>
          <a:xfrm>
            <a:off x="8761095" y="2883164"/>
            <a:ext cx="1863090" cy="60579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26283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4EC248-04A9-4343-9DDF-D6601C9E7BD6}"/>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11">
            <a:extLst>
              <a:ext uri="{FF2B5EF4-FFF2-40B4-BE49-F238E27FC236}">
                <a16:creationId xmlns:a16="http://schemas.microsoft.com/office/drawing/2014/main" id="{858C0330-B785-5859-B7D5-8FDCC0C609BF}"/>
              </a:ext>
            </a:extLst>
          </p:cNvPr>
          <p:cNvPicPr>
            <a:picLocks noChangeAspect="1"/>
          </p:cNvPicPr>
          <p:nvPr/>
        </p:nvPicPr>
        <p:blipFill>
          <a:blip r:embed="rId3"/>
          <a:stretch>
            <a:fillRect/>
          </a:stretch>
        </p:blipFill>
        <p:spPr>
          <a:xfrm>
            <a:off x="1848751" y="74295"/>
            <a:ext cx="8494498" cy="6683022"/>
          </a:xfrm>
          <a:prstGeom prst="rect">
            <a:avLst/>
          </a:prstGeom>
          <a:ln w="38100">
            <a:solidFill>
              <a:srgbClr val="007298"/>
            </a:solidFill>
          </a:ln>
          <a:effectLst>
            <a:outerShdw blurRad="292100" dist="139700" dir="2700000" algn="tl" rotWithShape="0">
              <a:srgbClr val="333333">
                <a:alpha val="65000"/>
              </a:srgbClr>
            </a:outerShdw>
          </a:effectLst>
        </p:spPr>
      </p:pic>
      <p:sp>
        <p:nvSpPr>
          <p:cNvPr id="13" name="Oval 12">
            <a:extLst>
              <a:ext uri="{FF2B5EF4-FFF2-40B4-BE49-F238E27FC236}">
                <a16:creationId xmlns:a16="http://schemas.microsoft.com/office/drawing/2014/main" id="{B41B174C-45FD-50C1-E85B-523E6DBF60E1}"/>
              </a:ext>
            </a:extLst>
          </p:cNvPr>
          <p:cNvSpPr/>
          <p:nvPr/>
        </p:nvSpPr>
        <p:spPr>
          <a:xfrm>
            <a:off x="5147406" y="4595155"/>
            <a:ext cx="1897187" cy="445770"/>
          </a:xfrm>
          <a:prstGeom prst="ellipse">
            <a:avLst/>
          </a:prstGeom>
          <a:noFill/>
          <a:ln>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830582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DDA3C0-4403-DBCD-D269-F0B3AC047542}"/>
              </a:ext>
            </a:extLst>
          </p:cNvPr>
          <p:cNvSpPr>
            <a:spLocks noGrp="1"/>
          </p:cNvSpPr>
          <p:nvPr>
            <p:ph type="body" sz="quarter" idx="17"/>
          </p:nvPr>
        </p:nvSpPr>
        <p:spPr/>
        <p:txBody>
          <a:bodyPr>
            <a:normAutofit fontScale="85000" lnSpcReduction="10000"/>
          </a:bodyPr>
          <a:lstStyle/>
          <a:p>
            <a:r>
              <a:rPr lang="en-AU" dirty="0"/>
              <a:t>Therapeutic Goods Administration  TGA</a:t>
            </a:r>
          </a:p>
        </p:txBody>
      </p:sp>
      <p:sp>
        <p:nvSpPr>
          <p:cNvPr id="3" name="Text Placeholder 2">
            <a:extLst>
              <a:ext uri="{FF2B5EF4-FFF2-40B4-BE49-F238E27FC236}">
                <a16:creationId xmlns:a16="http://schemas.microsoft.com/office/drawing/2014/main" id="{B93FBF10-4E30-718B-C829-E03D31DAFFEA}"/>
              </a:ext>
            </a:extLst>
          </p:cNvPr>
          <p:cNvSpPr>
            <a:spLocks noGrp="1"/>
          </p:cNvSpPr>
          <p:nvPr>
            <p:ph type="body" sz="quarter" idx="20"/>
          </p:nvPr>
        </p:nvSpPr>
        <p:spPr>
          <a:xfrm>
            <a:off x="664024" y="1955750"/>
            <a:ext cx="6872240" cy="1460756"/>
          </a:xfrm>
        </p:spPr>
        <p:txBody>
          <a:bodyPr>
            <a:noAutofit/>
          </a:bodyPr>
          <a:lstStyle/>
          <a:p>
            <a:r>
              <a:rPr lang="en-US" sz="2000" b="0" i="0" dirty="0">
                <a:solidFill>
                  <a:srgbClr val="007298"/>
                </a:solidFill>
                <a:effectLst/>
                <a:latin typeface="Roboto" panose="02000000000000000000" pitchFamily="2" charset="0"/>
                <a:ea typeface="Roboto" panose="02000000000000000000" pitchFamily="2" charset="0"/>
                <a:cs typeface="Roboto" panose="02000000000000000000" pitchFamily="2" charset="0"/>
              </a:rPr>
              <a:t>The Australian categorisation system for prescribing medicines in pregnancy was developed for the TGA by a group of medical and scientific experts based on available evidence of risks associated with taking a particular medicines while pregnant. </a:t>
            </a:r>
            <a:endParaRPr lang="en-AU" sz="2000" dirty="0">
              <a:solidFill>
                <a:srgbClr val="007298"/>
              </a:solidFill>
              <a:latin typeface="Roboto" panose="02000000000000000000" pitchFamily="2" charset="0"/>
              <a:ea typeface="Roboto" panose="02000000000000000000" pitchFamily="2" charset="0"/>
              <a:cs typeface="Roboto" panose="02000000000000000000" pitchFamily="2" charset="0"/>
            </a:endParaRPr>
          </a:p>
        </p:txBody>
      </p:sp>
      <p:sp>
        <p:nvSpPr>
          <p:cNvPr id="4" name="Text Placeholder 3">
            <a:extLst>
              <a:ext uri="{FF2B5EF4-FFF2-40B4-BE49-F238E27FC236}">
                <a16:creationId xmlns:a16="http://schemas.microsoft.com/office/drawing/2014/main" id="{511CC99A-A198-5475-B440-F5B3C702AB22}"/>
              </a:ext>
            </a:extLst>
          </p:cNvPr>
          <p:cNvSpPr>
            <a:spLocks noGrp="1"/>
          </p:cNvSpPr>
          <p:nvPr>
            <p:ph type="body" sz="quarter" idx="21"/>
          </p:nvPr>
        </p:nvSpPr>
        <p:spPr>
          <a:xfrm>
            <a:off x="664024" y="3584150"/>
            <a:ext cx="6558185" cy="405443"/>
          </a:xfrm>
        </p:spPr>
        <p:txBody>
          <a:bodyPr>
            <a:normAutofit/>
          </a:bodyPr>
          <a:lstStyle/>
          <a:p>
            <a:r>
              <a:rPr lang="en-AU" dirty="0"/>
              <a:t>A searchable database is available</a:t>
            </a:r>
          </a:p>
        </p:txBody>
      </p:sp>
      <p:sp>
        <p:nvSpPr>
          <p:cNvPr id="6" name="Text Placeholder 5">
            <a:extLst>
              <a:ext uri="{FF2B5EF4-FFF2-40B4-BE49-F238E27FC236}">
                <a16:creationId xmlns:a16="http://schemas.microsoft.com/office/drawing/2014/main" id="{E6805D79-5167-E9E0-2F7D-EFD6ED3EB0B1}"/>
              </a:ext>
            </a:extLst>
          </p:cNvPr>
          <p:cNvSpPr>
            <a:spLocks noGrp="1"/>
          </p:cNvSpPr>
          <p:nvPr>
            <p:ph type="body" sz="quarter" idx="18"/>
          </p:nvPr>
        </p:nvSpPr>
        <p:spPr>
          <a:xfrm>
            <a:off x="3812580" y="6562903"/>
            <a:ext cx="8168888" cy="365799"/>
          </a:xfrm>
        </p:spPr>
        <p:txBody>
          <a:bodyPr>
            <a:normAutofit/>
          </a:bodyPr>
          <a:lstStyle/>
          <a:p>
            <a:r>
              <a:rPr lang="en-AU" dirty="0"/>
              <a:t>https://www.tga.gov.au/australian-categorisation-system-prescribing-medicines-pregnancy</a:t>
            </a:r>
          </a:p>
          <a:p>
            <a:endParaRPr lang="en-AU" dirty="0"/>
          </a:p>
        </p:txBody>
      </p:sp>
      <p:pic>
        <p:nvPicPr>
          <p:cNvPr id="8" name="Picture 7">
            <a:extLst>
              <a:ext uri="{FF2B5EF4-FFF2-40B4-BE49-F238E27FC236}">
                <a16:creationId xmlns:a16="http://schemas.microsoft.com/office/drawing/2014/main" id="{5A1B2177-65F8-70D5-EB10-A47E029050C7}"/>
              </a:ext>
            </a:extLst>
          </p:cNvPr>
          <p:cNvPicPr>
            <a:picLocks noChangeAspect="1"/>
          </p:cNvPicPr>
          <p:nvPr/>
        </p:nvPicPr>
        <p:blipFill>
          <a:blip r:embed="rId3"/>
          <a:stretch>
            <a:fillRect/>
          </a:stretch>
        </p:blipFill>
        <p:spPr>
          <a:xfrm>
            <a:off x="570878" y="3834716"/>
            <a:ext cx="8900931" cy="2560542"/>
          </a:xfrm>
          <a:prstGeom prst="rect">
            <a:avLst/>
          </a:prstGeom>
        </p:spPr>
      </p:pic>
      <p:sp>
        <p:nvSpPr>
          <p:cNvPr id="9" name="Arrow: Down 8">
            <a:extLst>
              <a:ext uri="{FF2B5EF4-FFF2-40B4-BE49-F238E27FC236}">
                <a16:creationId xmlns:a16="http://schemas.microsoft.com/office/drawing/2014/main" id="{483FE905-6604-09F2-057E-D94CEB1BD402}"/>
              </a:ext>
            </a:extLst>
          </p:cNvPr>
          <p:cNvSpPr/>
          <p:nvPr/>
        </p:nvSpPr>
        <p:spPr>
          <a:xfrm rot="16200000">
            <a:off x="3281025" y="4332676"/>
            <a:ext cx="276534" cy="786576"/>
          </a:xfrm>
          <a:prstGeom prst="downArrow">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6137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04667C-F2F9-FAC4-125D-B3FFFF85448E}"/>
              </a:ext>
            </a:extLst>
          </p:cNvPr>
          <p:cNvSpPr/>
          <p:nvPr/>
        </p:nvSpPr>
        <p:spPr>
          <a:xfrm>
            <a:off x="1" y="0"/>
            <a:ext cx="12192000" cy="6869043"/>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pic>
        <p:nvPicPr>
          <p:cNvPr id="8" name="Picture 7">
            <a:extLst>
              <a:ext uri="{FF2B5EF4-FFF2-40B4-BE49-F238E27FC236}">
                <a16:creationId xmlns:a16="http://schemas.microsoft.com/office/drawing/2014/main" id="{BA7BE2E6-CF35-42E0-6405-87F852C3AADB}"/>
              </a:ext>
            </a:extLst>
          </p:cNvPr>
          <p:cNvPicPr>
            <a:picLocks noChangeAspect="1"/>
          </p:cNvPicPr>
          <p:nvPr/>
        </p:nvPicPr>
        <p:blipFill>
          <a:blip r:embed="rId3"/>
          <a:stretch>
            <a:fillRect/>
          </a:stretch>
        </p:blipFill>
        <p:spPr>
          <a:xfrm>
            <a:off x="2691025" y="401060"/>
            <a:ext cx="9114341" cy="6079867"/>
          </a:xfrm>
          <a:prstGeom prst="rect">
            <a:avLst/>
          </a:prstGeom>
          <a:ln w="38100">
            <a:solidFill>
              <a:srgbClr val="007298"/>
            </a:solidFill>
          </a:ln>
        </p:spPr>
      </p:pic>
      <p:sp>
        <p:nvSpPr>
          <p:cNvPr id="2" name="TextBox 1">
            <a:extLst>
              <a:ext uri="{FF2B5EF4-FFF2-40B4-BE49-F238E27FC236}">
                <a16:creationId xmlns:a16="http://schemas.microsoft.com/office/drawing/2014/main" id="{FFA22800-5D10-5142-B45F-A996C924C74E}"/>
              </a:ext>
            </a:extLst>
          </p:cNvPr>
          <p:cNvSpPr txBox="1"/>
          <p:nvPr/>
        </p:nvSpPr>
        <p:spPr>
          <a:xfrm rot="10800000" flipV="1">
            <a:off x="273512" y="401060"/>
            <a:ext cx="2055044" cy="3108543"/>
          </a:xfrm>
          <a:prstGeom prst="rect">
            <a:avLst/>
          </a:prstGeom>
          <a:noFill/>
        </p:spPr>
        <p:txBody>
          <a:bodyPr vert="horz" wrap="square" rtlCol="0">
            <a:spAutoFit/>
          </a:bodyPr>
          <a:lstStyle/>
          <a:p>
            <a:r>
              <a:rPr lang="en-US" sz="2800" b="0" i="0" dirty="0">
                <a:solidFill>
                  <a:srgbClr val="007298"/>
                </a:solidFill>
                <a:effectLst/>
                <a:latin typeface="Roboto Black" panose="02000000000000000000" pitchFamily="2" charset="0"/>
                <a:ea typeface="Roboto Black" panose="02000000000000000000" pitchFamily="2" charset="0"/>
                <a:cs typeface="Roboto Black" panose="02000000000000000000" pitchFamily="2" charset="0"/>
              </a:rPr>
              <a:t>Classifying drugs in pregnancy:</a:t>
            </a:r>
          </a:p>
          <a:p>
            <a:endParaRPr lang="en-US" sz="2800" dirty="0">
              <a:solidFill>
                <a:srgbClr val="007298"/>
              </a:solidFill>
              <a:latin typeface="Roboto Black" panose="02000000000000000000" pitchFamily="2" charset="0"/>
              <a:ea typeface="Roboto Black" panose="02000000000000000000" pitchFamily="2" charset="0"/>
              <a:cs typeface="Roboto Black" panose="02000000000000000000" pitchFamily="2" charset="0"/>
            </a:endParaRPr>
          </a:p>
          <a:p>
            <a:r>
              <a:rPr lang="en-US" sz="2800" b="0" i="0" dirty="0">
                <a:solidFill>
                  <a:srgbClr val="007298"/>
                </a:solidFill>
                <a:effectLst/>
                <a:latin typeface="Roboto Black" panose="02000000000000000000" pitchFamily="2" charset="0"/>
                <a:ea typeface="Roboto Black" panose="02000000000000000000" pitchFamily="2" charset="0"/>
                <a:cs typeface="Roboto Black" panose="02000000000000000000" pitchFamily="2" charset="0"/>
              </a:rPr>
              <a:t>The Australian </a:t>
            </a:r>
          </a:p>
          <a:p>
            <a:r>
              <a:rPr lang="en-US" sz="2800"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system</a:t>
            </a:r>
            <a:endParaRPr lang="en-AU" sz="2800" b="1" dirty="0">
              <a:solidFill>
                <a:srgbClr val="FF0000"/>
              </a:solidFill>
              <a:latin typeface="Roboto Black" panose="02000000000000000000" pitchFamily="2" charset="0"/>
              <a:ea typeface="Roboto Black" panose="02000000000000000000" pitchFamily="2" charset="0"/>
              <a:cs typeface="Roboto Black" panose="02000000000000000000" pitchFamily="2" charset="0"/>
            </a:endParaRPr>
          </a:p>
        </p:txBody>
      </p:sp>
      <p:sp>
        <p:nvSpPr>
          <p:cNvPr id="4" name="TextBox 3">
            <a:extLst>
              <a:ext uri="{FF2B5EF4-FFF2-40B4-BE49-F238E27FC236}">
                <a16:creationId xmlns:a16="http://schemas.microsoft.com/office/drawing/2014/main" id="{00EFCE62-E07A-BBED-1499-DF8172E0E0E8}"/>
              </a:ext>
            </a:extLst>
          </p:cNvPr>
          <p:cNvSpPr txBox="1"/>
          <p:nvPr/>
        </p:nvSpPr>
        <p:spPr>
          <a:xfrm>
            <a:off x="7364691" y="6468933"/>
            <a:ext cx="4701618" cy="400110"/>
          </a:xfrm>
          <a:prstGeom prst="rect">
            <a:avLst/>
          </a:prstGeom>
          <a:noFill/>
        </p:spPr>
        <p:txBody>
          <a:bodyPr wrap="square">
            <a:spAutoFit/>
          </a:bodyPr>
          <a:lstStyle/>
          <a:p>
            <a:r>
              <a:rPr lang="en-US" sz="1000" b="0" i="0" dirty="0">
                <a:solidFill>
                  <a:srgbClr val="007298"/>
                </a:solidFill>
                <a:effectLst/>
                <a:latin typeface="montserrat" panose="00000500000000000000" pitchFamily="2" charset="0"/>
              </a:rPr>
              <a:t>Kennedy D. Classifying drugs in pregnancy. Aust </a:t>
            </a:r>
            <a:r>
              <a:rPr lang="en-US" sz="1000" b="0" i="0" dirty="0" err="1">
                <a:solidFill>
                  <a:srgbClr val="007298"/>
                </a:solidFill>
                <a:effectLst/>
                <a:latin typeface="montserrat" panose="00000500000000000000" pitchFamily="2" charset="0"/>
              </a:rPr>
              <a:t>Prescr</a:t>
            </a:r>
            <a:r>
              <a:rPr lang="en-US" sz="1000" b="0" i="0" dirty="0">
                <a:solidFill>
                  <a:srgbClr val="007298"/>
                </a:solidFill>
                <a:effectLst/>
                <a:latin typeface="montserrat" panose="00000500000000000000" pitchFamily="2" charset="0"/>
              </a:rPr>
              <a:t> 2014;37:38-40.</a:t>
            </a:r>
            <a:r>
              <a:rPr lang="en-US" sz="1000" b="0" i="0" u="none" strike="noStrike" dirty="0">
                <a:solidFill>
                  <a:srgbClr val="007298"/>
                </a:solidFill>
                <a:effectLst/>
                <a:latin typeface="inherit"/>
                <a:hlinkClick r:id="rId4">
                  <a:extLst>
                    <a:ext uri="{A12FA001-AC4F-418D-AE19-62706E023703}">
                      <ahyp:hlinkClr xmlns:ahyp="http://schemas.microsoft.com/office/drawing/2018/hyperlinkcolor" val="tx"/>
                    </a:ext>
                  </a:extLst>
                </a:hlinkClick>
              </a:rPr>
              <a:t>https://doi.org/10.18773/austprescr.2014.018</a:t>
            </a:r>
            <a:endParaRPr lang="en-AU" sz="1000" dirty="0">
              <a:solidFill>
                <a:srgbClr val="007298"/>
              </a:solidFill>
            </a:endParaRPr>
          </a:p>
        </p:txBody>
      </p:sp>
      <p:sp>
        <p:nvSpPr>
          <p:cNvPr id="5" name="TextBox 4">
            <a:extLst>
              <a:ext uri="{FF2B5EF4-FFF2-40B4-BE49-F238E27FC236}">
                <a16:creationId xmlns:a16="http://schemas.microsoft.com/office/drawing/2014/main" id="{C7950EBC-E5C0-2737-F203-38939D83C0C5}"/>
              </a:ext>
            </a:extLst>
          </p:cNvPr>
          <p:cNvSpPr txBox="1"/>
          <p:nvPr/>
        </p:nvSpPr>
        <p:spPr>
          <a:xfrm>
            <a:off x="2790334" y="401060"/>
            <a:ext cx="377072" cy="343658"/>
          </a:xfrm>
          <a:prstGeom prst="rect">
            <a:avLst/>
          </a:prstGeom>
          <a:solidFill>
            <a:schemeClr val="bg1"/>
          </a:solidFill>
          <a:ln>
            <a:solidFill>
              <a:schemeClr val="bg1"/>
            </a:solidFill>
          </a:ln>
        </p:spPr>
        <p:txBody>
          <a:bodyPr wrap="square" rtlCol="0">
            <a:spAutoFit/>
          </a:bodyPr>
          <a:lstStyle/>
          <a:p>
            <a:endParaRPr lang="en-AU" dirty="0"/>
          </a:p>
        </p:txBody>
      </p:sp>
      <p:cxnSp>
        <p:nvCxnSpPr>
          <p:cNvPr id="11" name="Straight Connector 10">
            <a:extLst>
              <a:ext uri="{FF2B5EF4-FFF2-40B4-BE49-F238E27FC236}">
                <a16:creationId xmlns:a16="http://schemas.microsoft.com/office/drawing/2014/main" id="{05F1DCC9-104E-0A29-6ECC-E449B5ABCB8E}"/>
              </a:ext>
            </a:extLst>
          </p:cNvPr>
          <p:cNvCxnSpPr>
            <a:cxnSpLocks/>
          </p:cNvCxnSpPr>
          <p:nvPr/>
        </p:nvCxnSpPr>
        <p:spPr>
          <a:xfrm>
            <a:off x="5205047" y="2361363"/>
            <a:ext cx="1567542"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32FDF48-ADBA-1C1D-6D92-A79E065E5099}"/>
              </a:ext>
            </a:extLst>
          </p:cNvPr>
          <p:cNvCxnSpPr>
            <a:cxnSpLocks/>
          </p:cNvCxnSpPr>
          <p:nvPr/>
        </p:nvCxnSpPr>
        <p:spPr>
          <a:xfrm>
            <a:off x="3557116" y="3094892"/>
            <a:ext cx="4431324"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6340A01-EBDA-D492-BCA4-2E0D39C332E3}"/>
              </a:ext>
            </a:extLst>
          </p:cNvPr>
          <p:cNvCxnSpPr>
            <a:cxnSpLocks/>
          </p:cNvCxnSpPr>
          <p:nvPr/>
        </p:nvCxnSpPr>
        <p:spPr>
          <a:xfrm>
            <a:off x="3557116" y="4523432"/>
            <a:ext cx="4431324"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2CB546E-4260-AC0A-2208-BB97C2522F83}"/>
              </a:ext>
            </a:extLst>
          </p:cNvPr>
          <p:cNvCxnSpPr>
            <a:cxnSpLocks/>
          </p:cNvCxnSpPr>
          <p:nvPr/>
        </p:nvCxnSpPr>
        <p:spPr>
          <a:xfrm>
            <a:off x="3649226" y="6132843"/>
            <a:ext cx="5223469"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5278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18B7F8-8DAC-B1E9-F70C-71969182D424}"/>
              </a:ext>
            </a:extLst>
          </p:cNvPr>
          <p:cNvSpPr/>
          <p:nvPr/>
        </p:nvSpPr>
        <p:spPr>
          <a:xfrm>
            <a:off x="0" y="0"/>
            <a:ext cx="12191999"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2" name="Text Placeholder 1">
            <a:extLst>
              <a:ext uri="{FF2B5EF4-FFF2-40B4-BE49-F238E27FC236}">
                <a16:creationId xmlns:a16="http://schemas.microsoft.com/office/drawing/2014/main" id="{99A41BE1-7324-BC71-7933-99F99BD5CE8E}"/>
              </a:ext>
            </a:extLst>
          </p:cNvPr>
          <p:cNvSpPr>
            <a:spLocks noGrp="1"/>
          </p:cNvSpPr>
          <p:nvPr>
            <p:ph type="body" sz="quarter" idx="17"/>
          </p:nvPr>
        </p:nvSpPr>
        <p:spPr>
          <a:xfrm>
            <a:off x="160257" y="1659116"/>
            <a:ext cx="2028262" cy="3214541"/>
          </a:xfrm>
        </p:spPr>
        <p:txBody>
          <a:bodyPr>
            <a:noAutofit/>
          </a:bodyPr>
          <a:lstStyle/>
          <a:p>
            <a:r>
              <a:rPr lang="en-US" sz="2800" b="0" i="0" dirty="0">
                <a:solidFill>
                  <a:srgbClr val="007298"/>
                </a:solidFill>
                <a:effectLst/>
                <a:latin typeface="Roboto Black" panose="02000000000000000000" pitchFamily="2" charset="0"/>
                <a:ea typeface="Roboto Black" panose="02000000000000000000" pitchFamily="2" charset="0"/>
                <a:cs typeface="Roboto Black" panose="02000000000000000000" pitchFamily="2" charset="0"/>
              </a:rPr>
              <a:t>Classifying drugs in pregnancy:</a:t>
            </a:r>
          </a:p>
          <a:p>
            <a:endParaRPr lang="en-US" sz="2800" dirty="0">
              <a:solidFill>
                <a:srgbClr val="007298"/>
              </a:solidFill>
              <a:latin typeface="Roboto Black" panose="02000000000000000000" pitchFamily="2" charset="0"/>
              <a:ea typeface="Roboto Black" panose="02000000000000000000" pitchFamily="2" charset="0"/>
              <a:cs typeface="Roboto Black" panose="02000000000000000000" pitchFamily="2" charset="0"/>
            </a:endParaRPr>
          </a:p>
          <a:p>
            <a:r>
              <a:rPr lang="en-US" sz="2800" b="0" i="0" dirty="0">
                <a:solidFill>
                  <a:srgbClr val="007298"/>
                </a:solidFill>
                <a:effectLst/>
                <a:latin typeface="Roboto Black" panose="02000000000000000000" pitchFamily="2" charset="0"/>
                <a:ea typeface="Roboto Black" panose="02000000000000000000" pitchFamily="2" charset="0"/>
                <a:cs typeface="Roboto Black" panose="02000000000000000000" pitchFamily="2" charset="0"/>
              </a:rPr>
              <a:t>The Australian </a:t>
            </a:r>
          </a:p>
          <a:p>
            <a:r>
              <a:rPr lang="en-US" sz="2800"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system</a:t>
            </a:r>
            <a:endParaRPr lang="en-AU" sz="2800" b="1" dirty="0">
              <a:solidFill>
                <a:srgbClr val="FF0000"/>
              </a:solidFill>
              <a:latin typeface="Roboto Black" panose="02000000000000000000" pitchFamily="2" charset="0"/>
              <a:ea typeface="Roboto Black" panose="02000000000000000000" pitchFamily="2" charset="0"/>
              <a:cs typeface="Roboto Black" panose="02000000000000000000" pitchFamily="2" charset="0"/>
            </a:endParaRPr>
          </a:p>
          <a:p>
            <a:r>
              <a:rPr lang="en-AU" sz="2800" dirty="0"/>
              <a:t> </a:t>
            </a:r>
          </a:p>
        </p:txBody>
      </p:sp>
      <p:pic>
        <p:nvPicPr>
          <p:cNvPr id="8" name="Picture 7">
            <a:extLst>
              <a:ext uri="{FF2B5EF4-FFF2-40B4-BE49-F238E27FC236}">
                <a16:creationId xmlns:a16="http://schemas.microsoft.com/office/drawing/2014/main" id="{7BED51A3-7758-69AA-4AAD-08F1F53F4F93}"/>
              </a:ext>
            </a:extLst>
          </p:cNvPr>
          <p:cNvPicPr>
            <a:picLocks noChangeAspect="1"/>
          </p:cNvPicPr>
          <p:nvPr/>
        </p:nvPicPr>
        <p:blipFill>
          <a:blip r:embed="rId3"/>
          <a:stretch>
            <a:fillRect/>
          </a:stretch>
        </p:blipFill>
        <p:spPr>
          <a:xfrm>
            <a:off x="2403834" y="1541559"/>
            <a:ext cx="9475583" cy="4175013"/>
          </a:xfrm>
          <a:prstGeom prst="rect">
            <a:avLst/>
          </a:prstGeom>
          <a:ln w="38100">
            <a:solidFill>
              <a:srgbClr val="007298"/>
            </a:solidFill>
          </a:ln>
        </p:spPr>
      </p:pic>
      <p:cxnSp>
        <p:nvCxnSpPr>
          <p:cNvPr id="10" name="Straight Connector 9">
            <a:extLst>
              <a:ext uri="{FF2B5EF4-FFF2-40B4-BE49-F238E27FC236}">
                <a16:creationId xmlns:a16="http://schemas.microsoft.com/office/drawing/2014/main" id="{4D882210-DBCD-6018-A172-FD801C20F482}"/>
              </a:ext>
            </a:extLst>
          </p:cNvPr>
          <p:cNvCxnSpPr/>
          <p:nvPr/>
        </p:nvCxnSpPr>
        <p:spPr>
          <a:xfrm>
            <a:off x="6591718" y="2361363"/>
            <a:ext cx="4933740"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8ECDCB3-1B9D-F603-4AED-F703FB3E60BE}"/>
              </a:ext>
            </a:extLst>
          </p:cNvPr>
          <p:cNvCxnSpPr>
            <a:cxnSpLocks/>
          </p:cNvCxnSpPr>
          <p:nvPr/>
        </p:nvCxnSpPr>
        <p:spPr>
          <a:xfrm>
            <a:off x="2644391" y="2664488"/>
            <a:ext cx="6499609"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F1CB066-399C-AAF4-C6C2-A7B1A4337D77}"/>
              </a:ext>
            </a:extLst>
          </p:cNvPr>
          <p:cNvCxnSpPr>
            <a:cxnSpLocks/>
          </p:cNvCxnSpPr>
          <p:nvPr/>
        </p:nvCxnSpPr>
        <p:spPr>
          <a:xfrm>
            <a:off x="2644391" y="4072932"/>
            <a:ext cx="3123363"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F13A8DD-81A4-F2F1-6001-CEA97536FB21}"/>
              </a:ext>
            </a:extLst>
          </p:cNvPr>
          <p:cNvCxnSpPr>
            <a:cxnSpLocks/>
          </p:cNvCxnSpPr>
          <p:nvPr/>
        </p:nvCxnSpPr>
        <p:spPr>
          <a:xfrm flipV="1">
            <a:off x="9058588" y="3762298"/>
            <a:ext cx="2363037" cy="2512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3DF2AFE-EEE5-F797-22B4-C6C76CEB0B30}"/>
              </a:ext>
            </a:extLst>
          </p:cNvPr>
          <p:cNvCxnSpPr>
            <a:cxnSpLocks/>
          </p:cNvCxnSpPr>
          <p:nvPr/>
        </p:nvCxnSpPr>
        <p:spPr>
          <a:xfrm>
            <a:off x="4458118" y="5195862"/>
            <a:ext cx="2977662" cy="0"/>
          </a:xfrm>
          <a:prstGeom prst="line">
            <a:avLst/>
          </a:prstGeom>
          <a:ln w="28575">
            <a:solidFill>
              <a:srgbClr val="0072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0810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DDA3C0-4403-DBCD-D269-F0B3AC047542}"/>
              </a:ext>
            </a:extLst>
          </p:cNvPr>
          <p:cNvSpPr>
            <a:spLocks noGrp="1"/>
          </p:cNvSpPr>
          <p:nvPr>
            <p:ph type="body" sz="quarter" idx="17"/>
          </p:nvPr>
        </p:nvSpPr>
        <p:spPr>
          <a:xfrm>
            <a:off x="422867" y="966992"/>
            <a:ext cx="7605766" cy="1243645"/>
          </a:xfrm>
        </p:spPr>
        <p:txBody>
          <a:bodyPr>
            <a:normAutofit/>
          </a:bodyPr>
          <a:lstStyle/>
          <a:p>
            <a:pPr algn="ctr"/>
            <a:r>
              <a:rPr lang="en-AU" dirty="0"/>
              <a:t>The TGA prescribing medicines in pregnancy database</a:t>
            </a:r>
          </a:p>
        </p:txBody>
      </p:sp>
      <p:sp>
        <p:nvSpPr>
          <p:cNvPr id="6" name="Text Placeholder 5">
            <a:extLst>
              <a:ext uri="{FF2B5EF4-FFF2-40B4-BE49-F238E27FC236}">
                <a16:creationId xmlns:a16="http://schemas.microsoft.com/office/drawing/2014/main" id="{E6805D79-5167-E9E0-2F7D-EFD6ED3EB0B1}"/>
              </a:ext>
            </a:extLst>
          </p:cNvPr>
          <p:cNvSpPr>
            <a:spLocks noGrp="1"/>
          </p:cNvSpPr>
          <p:nvPr>
            <p:ph type="body" sz="quarter" idx="18"/>
          </p:nvPr>
        </p:nvSpPr>
        <p:spPr>
          <a:xfrm>
            <a:off x="3812580" y="6562903"/>
            <a:ext cx="8168888" cy="365799"/>
          </a:xfrm>
        </p:spPr>
        <p:txBody>
          <a:bodyPr>
            <a:normAutofit/>
          </a:bodyPr>
          <a:lstStyle/>
          <a:p>
            <a:r>
              <a:rPr lang="en-AU" dirty="0"/>
              <a:t>https://www.tga.gov.au/australian-categorisation-system-prescribing-medicines-pregnancy</a:t>
            </a:r>
          </a:p>
          <a:p>
            <a:endParaRPr lang="en-AU" dirty="0"/>
          </a:p>
        </p:txBody>
      </p:sp>
      <p:pic>
        <p:nvPicPr>
          <p:cNvPr id="8" name="Picture 7">
            <a:extLst>
              <a:ext uri="{FF2B5EF4-FFF2-40B4-BE49-F238E27FC236}">
                <a16:creationId xmlns:a16="http://schemas.microsoft.com/office/drawing/2014/main" id="{5A1B2177-65F8-70D5-EB10-A47E029050C7}"/>
              </a:ext>
            </a:extLst>
          </p:cNvPr>
          <p:cNvPicPr>
            <a:picLocks noChangeAspect="1"/>
          </p:cNvPicPr>
          <p:nvPr/>
        </p:nvPicPr>
        <p:blipFill>
          <a:blip r:embed="rId3"/>
          <a:stretch>
            <a:fillRect/>
          </a:stretch>
        </p:blipFill>
        <p:spPr>
          <a:xfrm>
            <a:off x="265065" y="2779593"/>
            <a:ext cx="9549091" cy="2746999"/>
          </a:xfrm>
          <a:prstGeom prst="rect">
            <a:avLst/>
          </a:prstGeom>
          <a:ln w="28575">
            <a:solidFill>
              <a:srgbClr val="007298"/>
            </a:solidFill>
          </a:ln>
        </p:spPr>
      </p:pic>
      <p:sp>
        <p:nvSpPr>
          <p:cNvPr id="9" name="Arrow: Down 8">
            <a:extLst>
              <a:ext uri="{FF2B5EF4-FFF2-40B4-BE49-F238E27FC236}">
                <a16:creationId xmlns:a16="http://schemas.microsoft.com/office/drawing/2014/main" id="{483FE905-6604-09F2-057E-D94CEB1BD402}"/>
              </a:ext>
            </a:extLst>
          </p:cNvPr>
          <p:cNvSpPr/>
          <p:nvPr/>
        </p:nvSpPr>
        <p:spPr>
          <a:xfrm rot="16200000">
            <a:off x="3029816" y="3390983"/>
            <a:ext cx="276534" cy="786576"/>
          </a:xfrm>
          <a:prstGeom prst="downArrow">
            <a:avLst/>
          </a:prstGeom>
          <a:solidFill>
            <a:srgbClr val="FFC00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3113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3A24181-6AE2-8794-11B5-75CEDC6740F7}"/>
              </a:ext>
            </a:extLst>
          </p:cNvPr>
          <p:cNvSpPr/>
          <p:nvPr/>
        </p:nvSpPr>
        <p:spPr>
          <a:xfrm>
            <a:off x="75415" y="43978"/>
            <a:ext cx="12192000" cy="6858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AU"/>
          </a:p>
        </p:txBody>
      </p:sp>
      <p:sp>
        <p:nvSpPr>
          <p:cNvPr id="8" name="Text Placeholder 7">
            <a:extLst>
              <a:ext uri="{FF2B5EF4-FFF2-40B4-BE49-F238E27FC236}">
                <a16:creationId xmlns:a16="http://schemas.microsoft.com/office/drawing/2014/main" id="{F5B5CCF2-6DEF-AE7D-609D-821A6304C617}"/>
              </a:ext>
            </a:extLst>
          </p:cNvPr>
          <p:cNvSpPr>
            <a:spLocks noGrp="1"/>
          </p:cNvSpPr>
          <p:nvPr>
            <p:ph type="body" sz="quarter" idx="17"/>
          </p:nvPr>
        </p:nvSpPr>
        <p:spPr>
          <a:xfrm>
            <a:off x="343515" y="271143"/>
            <a:ext cx="6558183" cy="573088"/>
          </a:xfrm>
        </p:spPr>
        <p:txBody>
          <a:bodyPr/>
          <a:lstStyle/>
          <a:p>
            <a:r>
              <a:rPr lang="en-AU" dirty="0" err="1"/>
              <a:t>MotherToBaby</a:t>
            </a:r>
            <a:endParaRPr lang="en-AU" dirty="0"/>
          </a:p>
        </p:txBody>
      </p:sp>
      <p:sp>
        <p:nvSpPr>
          <p:cNvPr id="9" name="Text Placeholder 8">
            <a:extLst>
              <a:ext uri="{FF2B5EF4-FFF2-40B4-BE49-F238E27FC236}">
                <a16:creationId xmlns:a16="http://schemas.microsoft.com/office/drawing/2014/main" id="{A71493E0-A5AC-A73D-783B-C7207FE7FF2C}"/>
              </a:ext>
            </a:extLst>
          </p:cNvPr>
          <p:cNvSpPr>
            <a:spLocks noGrp="1"/>
          </p:cNvSpPr>
          <p:nvPr>
            <p:ph type="body" sz="quarter" idx="18"/>
          </p:nvPr>
        </p:nvSpPr>
        <p:spPr>
          <a:xfrm>
            <a:off x="8384579" y="6521941"/>
            <a:ext cx="4266192" cy="299810"/>
          </a:xfrm>
        </p:spPr>
        <p:txBody>
          <a:bodyPr/>
          <a:lstStyle/>
          <a:p>
            <a:r>
              <a:rPr lang="en-AU" dirty="0"/>
              <a:t>https://mothertobaby.org/healthcare-professionals/</a:t>
            </a:r>
          </a:p>
        </p:txBody>
      </p:sp>
      <p:pic>
        <p:nvPicPr>
          <p:cNvPr id="12" name="Picture 11">
            <a:extLst>
              <a:ext uri="{FF2B5EF4-FFF2-40B4-BE49-F238E27FC236}">
                <a16:creationId xmlns:a16="http://schemas.microsoft.com/office/drawing/2014/main" id="{EDD5BD31-3FA9-81B0-99A9-BAF00F662398}"/>
              </a:ext>
            </a:extLst>
          </p:cNvPr>
          <p:cNvPicPr>
            <a:picLocks noChangeAspect="1"/>
          </p:cNvPicPr>
          <p:nvPr/>
        </p:nvPicPr>
        <p:blipFill>
          <a:blip r:embed="rId3"/>
          <a:stretch>
            <a:fillRect/>
          </a:stretch>
        </p:blipFill>
        <p:spPr>
          <a:xfrm>
            <a:off x="183427" y="1030288"/>
            <a:ext cx="11825146" cy="5233047"/>
          </a:xfrm>
          <a:prstGeom prst="rect">
            <a:avLst/>
          </a:prstGeom>
          <a:ln>
            <a:solidFill>
              <a:srgbClr val="007298"/>
            </a:solidFill>
          </a:ln>
        </p:spPr>
      </p:pic>
      <p:sp>
        <p:nvSpPr>
          <p:cNvPr id="15" name="TextBox 14">
            <a:extLst>
              <a:ext uri="{FF2B5EF4-FFF2-40B4-BE49-F238E27FC236}">
                <a16:creationId xmlns:a16="http://schemas.microsoft.com/office/drawing/2014/main" id="{7CA616BD-19A2-6A41-2CC6-F75451006876}"/>
              </a:ext>
            </a:extLst>
          </p:cNvPr>
          <p:cNvSpPr txBox="1"/>
          <p:nvPr/>
        </p:nvSpPr>
        <p:spPr>
          <a:xfrm>
            <a:off x="7975076" y="567928"/>
            <a:ext cx="4028868" cy="369332"/>
          </a:xfrm>
          <a:prstGeom prst="rect">
            <a:avLst/>
          </a:prstGeom>
          <a:noFill/>
          <a:ln>
            <a:solidFill>
              <a:srgbClr val="007298"/>
            </a:solidFill>
          </a:ln>
        </p:spPr>
        <p:txBody>
          <a:bodyPr wrap="square" rtlCol="0">
            <a:spAutoFit/>
          </a:bodyPr>
          <a:lstStyle/>
          <a:p>
            <a:r>
              <a:rPr lang="en-AU" dirty="0">
                <a:solidFill>
                  <a:srgbClr val="007298"/>
                </a:solidFill>
              </a:rPr>
              <a:t>Scroll on down in Health Professionals</a:t>
            </a:r>
          </a:p>
        </p:txBody>
      </p:sp>
    </p:spTree>
    <p:extLst>
      <p:ext uri="{BB962C8B-B14F-4D97-AF65-F5344CB8AC3E}">
        <p14:creationId xmlns:p14="http://schemas.microsoft.com/office/powerpoint/2010/main" val="10292077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E414D4E-277D-5C6A-4CDD-D2E94F5968CF}"/>
              </a:ext>
            </a:extLst>
          </p:cNvPr>
          <p:cNvSpPr>
            <a:spLocks noGrp="1"/>
          </p:cNvSpPr>
          <p:nvPr>
            <p:ph type="title"/>
          </p:nvPr>
        </p:nvSpPr>
        <p:spPr>
          <a:xfrm>
            <a:off x="838200" y="365126"/>
            <a:ext cx="10515600" cy="712904"/>
          </a:xfrm>
        </p:spPr>
        <p:txBody>
          <a:bodyPr>
            <a:normAutofit/>
          </a:bodyPr>
          <a:lstStyle/>
          <a:p>
            <a:r>
              <a:rPr lang="en-US"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Access to MotherToBaby Factsheets</a:t>
            </a:r>
            <a:endParaRPr lang="en-AU" dirty="0">
              <a:solidFill>
                <a:srgbClr val="007298"/>
              </a:solidFill>
              <a:latin typeface="Roboto Black" panose="02000000000000000000" pitchFamily="2" charset="0"/>
              <a:ea typeface="Roboto Black" panose="02000000000000000000" pitchFamily="2" charset="0"/>
              <a:cs typeface="Roboto Black" panose="02000000000000000000" pitchFamily="2" charset="0"/>
            </a:endParaRPr>
          </a:p>
        </p:txBody>
      </p:sp>
      <p:pic>
        <p:nvPicPr>
          <p:cNvPr id="10" name="Content Placeholder 9">
            <a:extLst>
              <a:ext uri="{FF2B5EF4-FFF2-40B4-BE49-F238E27FC236}">
                <a16:creationId xmlns:a16="http://schemas.microsoft.com/office/drawing/2014/main" id="{5EE93877-6001-4528-1D11-961DAF56E38C}"/>
              </a:ext>
            </a:extLst>
          </p:cNvPr>
          <p:cNvPicPr>
            <a:picLocks noGrp="1" noChangeAspect="1"/>
          </p:cNvPicPr>
          <p:nvPr>
            <p:ph sz="half" idx="1"/>
          </p:nvPr>
        </p:nvPicPr>
        <p:blipFill>
          <a:blip r:embed="rId3"/>
          <a:stretch>
            <a:fillRect/>
          </a:stretch>
        </p:blipFill>
        <p:spPr>
          <a:xfrm>
            <a:off x="812749" y="1575802"/>
            <a:ext cx="3412279" cy="4769851"/>
          </a:xfrm>
          <a:ln>
            <a:solidFill>
              <a:srgbClr val="007298"/>
            </a:solidFill>
          </a:ln>
        </p:spPr>
      </p:pic>
      <p:sp>
        <p:nvSpPr>
          <p:cNvPr id="3" name="Text Placeholder 2">
            <a:extLst>
              <a:ext uri="{FF2B5EF4-FFF2-40B4-BE49-F238E27FC236}">
                <a16:creationId xmlns:a16="http://schemas.microsoft.com/office/drawing/2014/main" id="{300EC37A-613A-26BF-BF0E-32802D1B954E}"/>
              </a:ext>
            </a:extLst>
          </p:cNvPr>
          <p:cNvSpPr>
            <a:spLocks noGrp="1"/>
          </p:cNvSpPr>
          <p:nvPr>
            <p:ph sz="half" idx="2"/>
          </p:nvPr>
        </p:nvSpPr>
        <p:spPr/>
        <p:txBody>
          <a:bodyPr>
            <a:normAutofit/>
          </a:bodyPr>
          <a:lstStyle/>
          <a:p>
            <a:pPr marL="285750" indent="-285750">
              <a:buFont typeface="Arial" panose="020B0604020202020204" pitchFamily="34" charset="0"/>
              <a:buChar char="•"/>
            </a:pPr>
            <a:r>
              <a:rPr lang="en-US" sz="2400" dirty="0">
                <a:solidFill>
                  <a:srgbClr val="007298"/>
                </a:solidFill>
                <a:latin typeface="Roboto Black" panose="02000000000000000000" pitchFamily="2" charset="0"/>
                <a:ea typeface="Roboto Black" panose="02000000000000000000" pitchFamily="2" charset="0"/>
              </a:rPr>
              <a:t>Click Explore to take you to the webpage</a:t>
            </a:r>
          </a:p>
          <a:p>
            <a:pPr marL="285750" indent="-285750">
              <a:buFont typeface="Arial" panose="020B0604020202020204" pitchFamily="34" charset="0"/>
              <a:buChar char="•"/>
            </a:pPr>
            <a:endParaRPr lang="en-US" sz="2400" dirty="0">
              <a:solidFill>
                <a:srgbClr val="007298"/>
              </a:solidFill>
              <a:latin typeface="Roboto Black" panose="02000000000000000000" pitchFamily="2" charset="0"/>
              <a:ea typeface="Roboto Black" panose="02000000000000000000" pitchFamily="2" charset="0"/>
            </a:endParaRPr>
          </a:p>
          <a:p>
            <a:pPr marL="285750" indent="-285750">
              <a:buFont typeface="Arial" panose="020B0604020202020204" pitchFamily="34" charset="0"/>
              <a:buChar char="•"/>
            </a:pPr>
            <a:r>
              <a:rPr lang="en-US" sz="2400" dirty="0">
                <a:solidFill>
                  <a:srgbClr val="007298"/>
                </a:solidFill>
                <a:latin typeface="Roboto Black" panose="02000000000000000000" pitchFamily="2" charset="0"/>
                <a:ea typeface="Roboto Black" panose="02000000000000000000" pitchFamily="2" charset="0"/>
              </a:rPr>
              <a:t>Use the link to get directly into the factsheets</a:t>
            </a:r>
          </a:p>
        </p:txBody>
      </p:sp>
      <p:sp>
        <p:nvSpPr>
          <p:cNvPr id="8" name="TextBox 7">
            <a:extLst>
              <a:ext uri="{FF2B5EF4-FFF2-40B4-BE49-F238E27FC236}">
                <a16:creationId xmlns:a16="http://schemas.microsoft.com/office/drawing/2014/main" id="{EBCB6994-CFEA-9238-CE0C-B0831C2DF0F0}"/>
              </a:ext>
            </a:extLst>
          </p:cNvPr>
          <p:cNvSpPr txBox="1"/>
          <p:nvPr/>
        </p:nvSpPr>
        <p:spPr>
          <a:xfrm>
            <a:off x="6363568" y="4978668"/>
            <a:ext cx="5492381" cy="646331"/>
          </a:xfrm>
          <a:prstGeom prst="rect">
            <a:avLst/>
          </a:prstGeom>
          <a:noFill/>
        </p:spPr>
        <p:txBody>
          <a:bodyPr wrap="square">
            <a:spAutoFit/>
          </a:bodyPr>
          <a:lstStyle/>
          <a:p>
            <a:r>
              <a:rPr lang="en-AU" sz="2000" dirty="0">
                <a:solidFill>
                  <a:srgbClr val="007298"/>
                </a:solidFill>
                <a:latin typeface="Roboto" panose="02000000000000000000" pitchFamily="2" charset="0"/>
                <a:ea typeface="Roboto" panose="02000000000000000000" pitchFamily="2" charset="0"/>
                <a:cs typeface="Roboto" panose="02000000000000000000" pitchFamily="2" charset="0"/>
                <a:hlinkClick r:id="rId4">
                  <a:extLst>
                    <a:ext uri="{A12FA001-AC4F-418D-AE19-62706E023703}">
                      <ahyp:hlinkClr xmlns:ahyp="http://schemas.microsoft.com/office/drawing/2018/hyperlinkcolor" val="tx"/>
                    </a:ext>
                  </a:extLst>
                </a:hlinkClick>
              </a:rPr>
              <a:t>https://mothertobaby.org/fact-sheets/</a:t>
            </a:r>
            <a:endParaRPr lang="en-AU" sz="2000" dirty="0">
              <a:solidFill>
                <a:srgbClr val="007298"/>
              </a:solidFill>
              <a:latin typeface="Roboto" panose="02000000000000000000" pitchFamily="2" charset="0"/>
              <a:ea typeface="Roboto" panose="02000000000000000000" pitchFamily="2" charset="0"/>
              <a:cs typeface="Roboto" panose="02000000000000000000" pitchFamily="2" charset="0"/>
            </a:endParaRPr>
          </a:p>
          <a:p>
            <a:endParaRPr lang="en-AU" sz="1600" dirty="0"/>
          </a:p>
        </p:txBody>
      </p:sp>
    </p:spTree>
    <p:extLst>
      <p:ext uri="{BB962C8B-B14F-4D97-AF65-F5344CB8AC3E}">
        <p14:creationId xmlns:p14="http://schemas.microsoft.com/office/powerpoint/2010/main" val="33006294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DF1A543-BEE1-A39B-6B13-D5032E1251AD}"/>
              </a:ext>
            </a:extLst>
          </p:cNvPr>
          <p:cNvSpPr txBox="1"/>
          <p:nvPr/>
        </p:nvSpPr>
        <p:spPr>
          <a:xfrm>
            <a:off x="6504495" y="6441534"/>
            <a:ext cx="7582293" cy="307777"/>
          </a:xfrm>
          <a:prstGeom prst="rect">
            <a:avLst/>
          </a:prstGeom>
          <a:noFill/>
        </p:spPr>
        <p:txBody>
          <a:bodyPr wrap="square">
            <a:spAutoFit/>
          </a:bodyPr>
          <a:lstStyle/>
          <a:p>
            <a:r>
              <a:rPr lang="en-AU" sz="1400" dirty="0">
                <a:solidFill>
                  <a:srgbClr val="007298"/>
                </a:solidFill>
              </a:rPr>
              <a:t>https://mothertobaby.org/fact-sheets/miconazoleclotrimazole-pregnancy/</a:t>
            </a:r>
          </a:p>
        </p:txBody>
      </p:sp>
      <p:pic>
        <p:nvPicPr>
          <p:cNvPr id="2" name="Picture 1">
            <a:extLst>
              <a:ext uri="{FF2B5EF4-FFF2-40B4-BE49-F238E27FC236}">
                <a16:creationId xmlns:a16="http://schemas.microsoft.com/office/drawing/2014/main" id="{A675D208-AED6-44F2-8E04-5CF8F8F101E9}"/>
              </a:ext>
            </a:extLst>
          </p:cNvPr>
          <p:cNvPicPr>
            <a:picLocks noChangeAspect="1"/>
          </p:cNvPicPr>
          <p:nvPr/>
        </p:nvPicPr>
        <p:blipFill>
          <a:blip r:embed="rId3"/>
          <a:stretch>
            <a:fillRect/>
          </a:stretch>
        </p:blipFill>
        <p:spPr>
          <a:xfrm>
            <a:off x="1500765" y="0"/>
            <a:ext cx="8610262" cy="6263640"/>
          </a:xfrm>
          <a:prstGeom prst="rect">
            <a:avLst/>
          </a:prstGeom>
        </p:spPr>
      </p:pic>
    </p:spTree>
    <p:extLst>
      <p:ext uri="{BB962C8B-B14F-4D97-AF65-F5344CB8AC3E}">
        <p14:creationId xmlns:p14="http://schemas.microsoft.com/office/powerpoint/2010/main" val="41083810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C325100-911E-4A38-9981-C2DFB00E8893}"/>
              </a:ext>
            </a:extLst>
          </p:cNvPr>
          <p:cNvSpPr/>
          <p:nvPr/>
        </p:nvSpPr>
        <p:spPr>
          <a:xfrm>
            <a:off x="375385" y="38269"/>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dirty="0">
                <a:solidFill>
                  <a:srgbClr val="007298"/>
                </a:solidFill>
              </a:rPr>
              <a:t>s://mothertobaby.org/fact-sheets/miconazoleclotrimazole-pregnancy/</a:t>
            </a:r>
          </a:p>
        </p:txBody>
      </p:sp>
      <p:sp>
        <p:nvSpPr>
          <p:cNvPr id="2" name="Text Placeholder 1">
            <a:extLst>
              <a:ext uri="{FF2B5EF4-FFF2-40B4-BE49-F238E27FC236}">
                <a16:creationId xmlns:a16="http://schemas.microsoft.com/office/drawing/2014/main" id="{0DA57026-DF37-1F07-F878-360E8ADF1ADB}"/>
              </a:ext>
            </a:extLst>
          </p:cNvPr>
          <p:cNvSpPr>
            <a:spLocks noGrp="1"/>
          </p:cNvSpPr>
          <p:nvPr>
            <p:ph type="body" sz="quarter" idx="17"/>
          </p:nvPr>
        </p:nvSpPr>
        <p:spPr/>
        <p:txBody>
          <a:bodyPr/>
          <a:lstStyle/>
          <a:p>
            <a:endParaRPr lang="en-AU" dirty="0"/>
          </a:p>
        </p:txBody>
      </p:sp>
      <p:sp>
        <p:nvSpPr>
          <p:cNvPr id="3" name="Text Placeholder 2">
            <a:extLst>
              <a:ext uri="{FF2B5EF4-FFF2-40B4-BE49-F238E27FC236}">
                <a16:creationId xmlns:a16="http://schemas.microsoft.com/office/drawing/2014/main" id="{18FE6FD9-93D1-844E-DE15-BCAE92FA7FC4}"/>
              </a:ext>
            </a:extLst>
          </p:cNvPr>
          <p:cNvSpPr>
            <a:spLocks noGrp="1"/>
          </p:cNvSpPr>
          <p:nvPr>
            <p:ph type="body" sz="quarter" idx="20"/>
          </p:nvPr>
        </p:nvSpPr>
        <p:spPr/>
        <p:txBody>
          <a:bodyPr/>
          <a:lstStyle/>
          <a:p>
            <a:endParaRPr lang="en-AU"/>
          </a:p>
        </p:txBody>
      </p:sp>
      <p:sp>
        <p:nvSpPr>
          <p:cNvPr id="4" name="Text Placeholder 3">
            <a:extLst>
              <a:ext uri="{FF2B5EF4-FFF2-40B4-BE49-F238E27FC236}">
                <a16:creationId xmlns:a16="http://schemas.microsoft.com/office/drawing/2014/main" id="{6133A22C-6F89-7FAA-662D-E7D54ADC7E11}"/>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27FB62F3-BD35-939E-04AC-D8D209836B42}"/>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53097A20-BF00-D790-964E-76ED7783DAFE}"/>
              </a:ext>
            </a:extLst>
          </p:cNvPr>
          <p:cNvSpPr>
            <a:spLocks noGrp="1"/>
          </p:cNvSpPr>
          <p:nvPr>
            <p:ph type="body" sz="quarter" idx="18"/>
          </p:nvPr>
        </p:nvSpPr>
        <p:spPr>
          <a:xfrm>
            <a:off x="7103328" y="6483210"/>
            <a:ext cx="5302820" cy="299810"/>
          </a:xfrm>
        </p:spPr>
        <p:txBody>
          <a:bodyPr/>
          <a:lstStyle/>
          <a:p>
            <a:r>
              <a:rPr lang="en-AU" dirty="0">
                <a:solidFill>
                  <a:srgbClr val="007298"/>
                </a:solidFill>
              </a:rPr>
              <a:t>https://mothertobaby.org/fact-sheets/miconazoleclotrimazole-pregnancy/</a:t>
            </a:r>
          </a:p>
          <a:p>
            <a:endParaRPr lang="en-AU" dirty="0"/>
          </a:p>
        </p:txBody>
      </p:sp>
      <p:pic>
        <p:nvPicPr>
          <p:cNvPr id="8" name="Picture 7">
            <a:extLst>
              <a:ext uri="{FF2B5EF4-FFF2-40B4-BE49-F238E27FC236}">
                <a16:creationId xmlns:a16="http://schemas.microsoft.com/office/drawing/2014/main" id="{8C44BF9B-6301-4518-A1E3-B0F46EC8CAE5}"/>
              </a:ext>
            </a:extLst>
          </p:cNvPr>
          <p:cNvPicPr>
            <a:picLocks noChangeAspect="1"/>
          </p:cNvPicPr>
          <p:nvPr/>
        </p:nvPicPr>
        <p:blipFill>
          <a:blip r:embed="rId3"/>
          <a:stretch>
            <a:fillRect/>
          </a:stretch>
        </p:blipFill>
        <p:spPr>
          <a:xfrm>
            <a:off x="527024" y="680085"/>
            <a:ext cx="11000949" cy="5250453"/>
          </a:xfrm>
          <a:prstGeom prst="rect">
            <a:avLst/>
          </a:prstGeom>
          <a:ln w="38100">
            <a:solidFill>
              <a:srgbClr val="007298"/>
            </a:solidFill>
          </a:ln>
        </p:spPr>
      </p:pic>
      <p:pic>
        <p:nvPicPr>
          <p:cNvPr id="7" name="Picture 6">
            <a:extLst>
              <a:ext uri="{FF2B5EF4-FFF2-40B4-BE49-F238E27FC236}">
                <a16:creationId xmlns:a16="http://schemas.microsoft.com/office/drawing/2014/main" id="{A2FCE563-D6F2-835D-E9D0-9439FE5DA151}"/>
              </a:ext>
            </a:extLst>
          </p:cNvPr>
          <p:cNvPicPr>
            <a:picLocks noChangeAspect="1"/>
          </p:cNvPicPr>
          <p:nvPr/>
        </p:nvPicPr>
        <p:blipFill>
          <a:blip r:embed="rId4"/>
          <a:stretch>
            <a:fillRect/>
          </a:stretch>
        </p:blipFill>
        <p:spPr>
          <a:xfrm>
            <a:off x="0" y="1535614"/>
            <a:ext cx="12125995" cy="2743438"/>
          </a:xfrm>
          <a:prstGeom prst="rect">
            <a:avLst/>
          </a:prstGeom>
        </p:spPr>
      </p:pic>
    </p:spTree>
    <p:extLst>
      <p:ext uri="{BB962C8B-B14F-4D97-AF65-F5344CB8AC3E}">
        <p14:creationId xmlns:p14="http://schemas.microsoft.com/office/powerpoint/2010/main" val="37312182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E414D4E-277D-5C6A-4CDD-D2E94F5968CF}"/>
              </a:ext>
            </a:extLst>
          </p:cNvPr>
          <p:cNvSpPr>
            <a:spLocks noGrp="1"/>
          </p:cNvSpPr>
          <p:nvPr>
            <p:ph type="title"/>
          </p:nvPr>
        </p:nvSpPr>
        <p:spPr>
          <a:xfrm>
            <a:off x="838200" y="365126"/>
            <a:ext cx="10515600" cy="712904"/>
          </a:xfrm>
        </p:spPr>
        <p:txBody>
          <a:bodyPr>
            <a:normAutofit/>
          </a:bodyPr>
          <a:lstStyle/>
          <a:p>
            <a:r>
              <a:rPr lang="en-US"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Access to MotherToBaby Factsheets</a:t>
            </a:r>
            <a:endParaRPr lang="en-AU" dirty="0">
              <a:solidFill>
                <a:srgbClr val="007298"/>
              </a:solidFill>
              <a:latin typeface="Roboto Black" panose="02000000000000000000" pitchFamily="2" charset="0"/>
              <a:ea typeface="Roboto Black" panose="02000000000000000000" pitchFamily="2" charset="0"/>
              <a:cs typeface="Roboto Black" panose="02000000000000000000" pitchFamily="2" charset="0"/>
            </a:endParaRPr>
          </a:p>
        </p:txBody>
      </p:sp>
      <p:sp>
        <p:nvSpPr>
          <p:cNvPr id="4" name="Text Placeholder 3">
            <a:extLst>
              <a:ext uri="{FF2B5EF4-FFF2-40B4-BE49-F238E27FC236}">
                <a16:creationId xmlns:a16="http://schemas.microsoft.com/office/drawing/2014/main" id="{4EA0B845-18B1-5136-53F3-BEC2DA1CA1C8}"/>
              </a:ext>
            </a:extLst>
          </p:cNvPr>
          <p:cNvSpPr>
            <a:spLocks noGrp="1"/>
          </p:cNvSpPr>
          <p:nvPr>
            <p:ph type="body" sz="quarter" idx="4294967295"/>
          </p:nvPr>
        </p:nvSpPr>
        <p:spPr>
          <a:xfrm>
            <a:off x="687404" y="1444969"/>
            <a:ext cx="6559550" cy="2472513"/>
          </a:xfrm>
        </p:spPr>
        <p:txBody>
          <a:bodyPr>
            <a:normAutofit/>
          </a:bodyPr>
          <a:lstStyle/>
          <a:p>
            <a:endParaRPr lang="en-US" dirty="0"/>
          </a:p>
          <a:p>
            <a:r>
              <a:rPr lang="en-US" dirty="0">
                <a:solidFill>
                  <a:srgbClr val="33CCCC"/>
                </a:solidFill>
              </a:rPr>
              <a:t>Is this the best resource for the assignment or to inform a health professional?</a:t>
            </a:r>
          </a:p>
        </p:txBody>
      </p:sp>
      <p:sp>
        <p:nvSpPr>
          <p:cNvPr id="5" name="Text Placeholder 4">
            <a:extLst>
              <a:ext uri="{FF2B5EF4-FFF2-40B4-BE49-F238E27FC236}">
                <a16:creationId xmlns:a16="http://schemas.microsoft.com/office/drawing/2014/main" id="{51D0B02B-388D-EE6E-7759-1D3C362CD476}"/>
              </a:ext>
            </a:extLst>
          </p:cNvPr>
          <p:cNvSpPr>
            <a:spLocks noGrp="1"/>
          </p:cNvSpPr>
          <p:nvPr>
            <p:ph type="body" sz="quarter" idx="4294967295"/>
          </p:nvPr>
        </p:nvSpPr>
        <p:spPr>
          <a:xfrm>
            <a:off x="687404" y="3909036"/>
            <a:ext cx="6557963" cy="1704874"/>
          </a:xfrm>
        </p:spPr>
        <p:txBody>
          <a:bodyPr>
            <a:normAutofit/>
          </a:bodyPr>
          <a:lstStyle/>
          <a:p>
            <a:r>
              <a:rPr lang="en-US" sz="2000" b="1" dirty="0">
                <a:solidFill>
                  <a:srgbClr val="007298"/>
                </a:solidFill>
                <a:latin typeface="Roboto Black" panose="02000000000000000000" pitchFamily="2" charset="0"/>
                <a:ea typeface="Roboto Black" panose="02000000000000000000" pitchFamily="2" charset="0"/>
              </a:rPr>
              <a:t>Lacks the drug classification details  </a:t>
            </a:r>
          </a:p>
          <a:p>
            <a:r>
              <a:rPr lang="en-AU" sz="2000"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Hard to judge how up to date it is as the link provides only selected references.</a:t>
            </a:r>
          </a:p>
          <a:p>
            <a:r>
              <a:rPr lang="en-US" sz="2000" b="1" dirty="0">
                <a:solidFill>
                  <a:srgbClr val="007298"/>
                </a:solidFill>
                <a:latin typeface="Roboto Black" panose="02000000000000000000" pitchFamily="2" charset="0"/>
                <a:ea typeface="Roboto Black" panose="02000000000000000000" pitchFamily="2" charset="0"/>
              </a:rPr>
              <a:t>More recent research available</a:t>
            </a:r>
            <a:endParaRPr lang="en-AU" sz="2000" b="1" dirty="0">
              <a:solidFill>
                <a:srgbClr val="007298"/>
              </a:solidFill>
              <a:latin typeface="Roboto Black" panose="02000000000000000000" pitchFamily="2" charset="0"/>
              <a:ea typeface="Roboto Black" panose="02000000000000000000" pitchFamily="2" charset="0"/>
            </a:endParaRPr>
          </a:p>
        </p:txBody>
      </p:sp>
      <p:sp>
        <p:nvSpPr>
          <p:cNvPr id="8" name="TextBox 7">
            <a:extLst>
              <a:ext uri="{FF2B5EF4-FFF2-40B4-BE49-F238E27FC236}">
                <a16:creationId xmlns:a16="http://schemas.microsoft.com/office/drawing/2014/main" id="{EBCB6994-CFEA-9238-CE0C-B0831C2DF0F0}"/>
              </a:ext>
            </a:extLst>
          </p:cNvPr>
          <p:cNvSpPr txBox="1"/>
          <p:nvPr/>
        </p:nvSpPr>
        <p:spPr>
          <a:xfrm>
            <a:off x="687404" y="6502096"/>
            <a:ext cx="7037235" cy="307777"/>
          </a:xfrm>
          <a:prstGeom prst="rect">
            <a:avLst/>
          </a:prstGeom>
          <a:noFill/>
        </p:spPr>
        <p:txBody>
          <a:bodyPr wrap="square">
            <a:spAutoFit/>
          </a:bodyPr>
          <a:lstStyle/>
          <a:p>
            <a:r>
              <a:rPr lang="en-AU" sz="1400" dirty="0">
                <a:solidFill>
                  <a:srgbClr val="007298"/>
                </a:solidFill>
              </a:rPr>
              <a:t>https://mothertobaby.org/fact-sheet-reference/miconazoleclotrimazole/</a:t>
            </a:r>
            <a:endParaRPr lang="en-AU" sz="1400" dirty="0"/>
          </a:p>
        </p:txBody>
      </p:sp>
      <p:pic>
        <p:nvPicPr>
          <p:cNvPr id="12" name="Picture 11">
            <a:extLst>
              <a:ext uri="{FF2B5EF4-FFF2-40B4-BE49-F238E27FC236}">
                <a16:creationId xmlns:a16="http://schemas.microsoft.com/office/drawing/2014/main" id="{0E66D02E-691B-A5F1-0644-24B4DCF839E8}"/>
              </a:ext>
            </a:extLst>
          </p:cNvPr>
          <p:cNvPicPr>
            <a:picLocks noChangeAspect="1"/>
          </p:cNvPicPr>
          <p:nvPr/>
        </p:nvPicPr>
        <p:blipFill>
          <a:blip r:embed="rId3"/>
          <a:stretch>
            <a:fillRect/>
          </a:stretch>
        </p:blipFill>
        <p:spPr>
          <a:xfrm>
            <a:off x="7461646" y="1116889"/>
            <a:ext cx="2842506" cy="5601185"/>
          </a:xfrm>
          <a:prstGeom prst="rect">
            <a:avLst/>
          </a:prstGeom>
          <a:ln w="28575">
            <a:solidFill>
              <a:srgbClr val="007298"/>
            </a:solidFill>
          </a:ln>
        </p:spPr>
      </p:pic>
    </p:spTree>
    <p:extLst>
      <p:ext uri="{BB962C8B-B14F-4D97-AF65-F5344CB8AC3E}">
        <p14:creationId xmlns:p14="http://schemas.microsoft.com/office/powerpoint/2010/main" val="24318918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C4CB2-0985-EB1A-D48E-38AE16321C0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0323CC-0A75-05E5-8CAC-8C93E8C56478}"/>
              </a:ext>
            </a:extLst>
          </p:cNvPr>
          <p:cNvSpPr>
            <a:spLocks noGrp="1"/>
          </p:cNvSpPr>
          <p:nvPr>
            <p:ph type="body" sz="quarter" idx="16"/>
          </p:nvPr>
        </p:nvSpPr>
        <p:spPr>
          <a:xfrm>
            <a:off x="599357" y="5432417"/>
            <a:ext cx="4539500" cy="495918"/>
          </a:xfrm>
        </p:spPr>
        <p:txBody>
          <a:bodyPr/>
          <a:lstStyle/>
          <a:p>
            <a:r>
              <a:rPr lang="en-AU" sz="1800" dirty="0">
                <a:latin typeface="Roboto Black" panose="02000000000000000000" pitchFamily="2" charset="0"/>
                <a:ea typeface="Roboto Black" panose="02000000000000000000" pitchFamily="2" charset="0"/>
              </a:rPr>
              <a:t>Ken Wojcikowski (PhD) Pharmacology and Toxicology, UQ School of Medicine</a:t>
            </a:r>
          </a:p>
        </p:txBody>
      </p:sp>
      <p:sp>
        <p:nvSpPr>
          <p:cNvPr id="3" name="Text Placeholder 2">
            <a:extLst>
              <a:ext uri="{FF2B5EF4-FFF2-40B4-BE49-F238E27FC236}">
                <a16:creationId xmlns:a16="http://schemas.microsoft.com/office/drawing/2014/main" id="{8582148A-09ED-8BCC-602B-EFD2B6C3446F}"/>
              </a:ext>
            </a:extLst>
          </p:cNvPr>
          <p:cNvSpPr>
            <a:spLocks noGrp="1"/>
          </p:cNvSpPr>
          <p:nvPr>
            <p:ph type="body" sz="quarter" idx="17"/>
          </p:nvPr>
        </p:nvSpPr>
        <p:spPr>
          <a:xfrm>
            <a:off x="599357" y="3429000"/>
            <a:ext cx="6545663" cy="573088"/>
          </a:xfrm>
        </p:spPr>
        <p:txBody>
          <a:bodyPr/>
          <a:lstStyle/>
          <a:p>
            <a:r>
              <a:rPr lang="en-AU" dirty="0"/>
              <a:t>Part 5:</a:t>
            </a:r>
          </a:p>
          <a:p>
            <a:r>
              <a:rPr lang="en-AU" dirty="0"/>
              <a:t>Peer reviewed research</a:t>
            </a:r>
          </a:p>
        </p:txBody>
      </p:sp>
      <p:sp>
        <p:nvSpPr>
          <p:cNvPr id="4" name="Text Placeholder 2">
            <a:extLst>
              <a:ext uri="{FF2B5EF4-FFF2-40B4-BE49-F238E27FC236}">
                <a16:creationId xmlns:a16="http://schemas.microsoft.com/office/drawing/2014/main" id="{625BFDEA-3FD0-60F9-3106-6B34A2D1C840}"/>
              </a:ext>
            </a:extLst>
          </p:cNvPr>
          <p:cNvSpPr>
            <a:spLocks noGrp="1"/>
          </p:cNvSpPr>
          <p:nvPr>
            <p:ph type="body" sz="quarter" idx="17"/>
          </p:nvPr>
        </p:nvSpPr>
        <p:spPr>
          <a:xfrm>
            <a:off x="599357" y="1688589"/>
            <a:ext cx="7224609" cy="573088"/>
          </a:xfrm>
        </p:spPr>
        <p:txBody>
          <a:bodyPr/>
          <a:lstStyle/>
          <a:p>
            <a:r>
              <a:rPr lang="en-AU" sz="4400" dirty="0"/>
              <a:t>Introductory Pharmacology Week 1 Tutorial</a:t>
            </a:r>
          </a:p>
        </p:txBody>
      </p:sp>
    </p:spTree>
    <p:extLst>
      <p:ext uri="{BB962C8B-B14F-4D97-AF65-F5344CB8AC3E}">
        <p14:creationId xmlns:p14="http://schemas.microsoft.com/office/powerpoint/2010/main" val="2232033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ADA94-FE11-36AA-10CB-173E4FB737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5054B2-5C11-B946-A084-B55659745955}"/>
              </a:ext>
            </a:extLst>
          </p:cNvPr>
          <p:cNvSpPr>
            <a:spLocks noGrp="1"/>
          </p:cNvSpPr>
          <p:nvPr>
            <p:ph type="body" sz="quarter" idx="16"/>
          </p:nvPr>
        </p:nvSpPr>
        <p:spPr>
          <a:xfrm>
            <a:off x="664028" y="3770147"/>
            <a:ext cx="5504297" cy="495918"/>
          </a:xfrm>
        </p:spPr>
        <p:txBody>
          <a:bodyPr>
            <a:normAutofit fontScale="92500"/>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01138766-0797-5E1C-7379-23178728760D}"/>
              </a:ext>
            </a:extLst>
          </p:cNvPr>
          <p:cNvSpPr>
            <a:spLocks noGrp="1"/>
          </p:cNvSpPr>
          <p:nvPr>
            <p:ph type="body" sz="quarter" idx="17"/>
          </p:nvPr>
        </p:nvSpPr>
        <p:spPr>
          <a:xfrm>
            <a:off x="664028" y="1993053"/>
            <a:ext cx="7224609" cy="573088"/>
          </a:xfrm>
        </p:spPr>
        <p:txBody>
          <a:bodyPr>
            <a:normAutofit fontScale="70000" lnSpcReduction="20000"/>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21227BC8-80C8-A904-C49D-983B02BED12C}"/>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685241E9-3AE5-A662-638F-1BDE3FD9388D}"/>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B82D9A0-EC0C-523F-2D08-B251692564E6}"/>
              </a:ext>
            </a:extLst>
          </p:cNvPr>
          <p:cNvSpPr/>
          <p:nvPr/>
        </p:nvSpPr>
        <p:spPr>
          <a:xfrm>
            <a:off x="1148552"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21545EF6-CF4B-8D7A-B4E9-9255ECA016CF}"/>
              </a:ext>
            </a:extLst>
          </p:cNvPr>
          <p:cNvSpPr txBox="1">
            <a:spLocks/>
          </p:cNvSpPr>
          <p:nvPr/>
        </p:nvSpPr>
        <p:spPr>
          <a:xfrm>
            <a:off x="1569720" y="1859280"/>
            <a:ext cx="8747760" cy="3261360"/>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r>
              <a:rPr lang="en-AU" sz="3600" b="1" dirty="0">
                <a:latin typeface="Roboto Black" panose="02000000000000000000" pitchFamily="2" charset="0"/>
                <a:ea typeface="Roboto Black" panose="02000000000000000000" pitchFamily="2" charset="0"/>
              </a:rPr>
              <a:t>Peer reviewed research</a:t>
            </a:r>
          </a:p>
          <a:p>
            <a:pPr algn="ctr"/>
            <a:endParaRPr lang="en-AU" sz="3600" b="1" i="1" dirty="0">
              <a:latin typeface="Roboto Black" panose="02000000000000000000" pitchFamily="2" charset="0"/>
              <a:ea typeface="Roboto Black" panose="02000000000000000000" pitchFamily="2" charset="0"/>
            </a:endParaRPr>
          </a:p>
          <a:p>
            <a:r>
              <a:rPr lang="en-AU" sz="3200" b="1" i="1" dirty="0">
                <a:latin typeface="Roboto Black" panose="02000000000000000000" pitchFamily="2" charset="0"/>
                <a:ea typeface="Roboto Black" panose="02000000000000000000" pitchFamily="2" charset="0"/>
              </a:rPr>
              <a:t>If all else fails and you have not found what you are looking for, you can check out the peer reviewed search engines PubMed and Google Scholar.</a:t>
            </a:r>
          </a:p>
        </p:txBody>
      </p:sp>
    </p:spTree>
    <p:extLst>
      <p:ext uri="{BB962C8B-B14F-4D97-AF65-F5344CB8AC3E}">
        <p14:creationId xmlns:p14="http://schemas.microsoft.com/office/powerpoint/2010/main" val="1950117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EBF95C6-07F0-9B2F-F371-1815CAC953C2}"/>
              </a:ext>
            </a:extLst>
          </p:cNvPr>
          <p:cNvSpPr>
            <a:spLocks noGrp="1"/>
          </p:cNvSpPr>
          <p:nvPr>
            <p:ph type="body" sz="quarter" idx="20"/>
          </p:nvPr>
        </p:nvSpPr>
        <p:spPr>
          <a:xfrm>
            <a:off x="664021" y="1680555"/>
            <a:ext cx="6558185" cy="1220360"/>
          </a:xfrm>
        </p:spPr>
        <p:txBody>
          <a:bodyPr>
            <a:normAutofit/>
          </a:bodyPr>
          <a:lstStyle/>
          <a:p>
            <a:r>
              <a:rPr lang="en-AU" sz="3600" dirty="0">
                <a:solidFill>
                  <a:srgbClr val="007298"/>
                </a:solidFill>
                <a:latin typeface="Roboto Black" panose="02000000000000000000" pitchFamily="2" charset="0"/>
                <a:ea typeface="Roboto Black" panose="02000000000000000000" pitchFamily="2" charset="0"/>
              </a:rPr>
              <a:t>Sourcing your answer from peer reviewed papers</a:t>
            </a:r>
          </a:p>
          <a:p>
            <a:endParaRPr lang="en-AU" sz="2000" dirty="0"/>
          </a:p>
        </p:txBody>
      </p:sp>
      <p:sp>
        <p:nvSpPr>
          <p:cNvPr id="7" name="Text Placeholder 6">
            <a:extLst>
              <a:ext uri="{FF2B5EF4-FFF2-40B4-BE49-F238E27FC236}">
                <a16:creationId xmlns:a16="http://schemas.microsoft.com/office/drawing/2014/main" id="{9617C2B0-55AC-A00C-037F-D5EEBD0F09B1}"/>
              </a:ext>
            </a:extLst>
          </p:cNvPr>
          <p:cNvSpPr>
            <a:spLocks noGrp="1"/>
          </p:cNvSpPr>
          <p:nvPr>
            <p:ph type="body" sz="quarter" idx="21"/>
          </p:nvPr>
        </p:nvSpPr>
        <p:spPr/>
        <p:txBody>
          <a:bodyPr/>
          <a:lstStyle/>
          <a:p>
            <a:r>
              <a:rPr lang="en-AU" dirty="0"/>
              <a:t>Latest and greatest sources</a:t>
            </a:r>
          </a:p>
        </p:txBody>
      </p:sp>
      <p:sp>
        <p:nvSpPr>
          <p:cNvPr id="8" name="Text Placeholder 7">
            <a:extLst>
              <a:ext uri="{FF2B5EF4-FFF2-40B4-BE49-F238E27FC236}">
                <a16:creationId xmlns:a16="http://schemas.microsoft.com/office/drawing/2014/main" id="{A9F7C528-17ED-98B1-07FD-089C446DBC26}"/>
              </a:ext>
            </a:extLst>
          </p:cNvPr>
          <p:cNvSpPr>
            <a:spLocks noGrp="1"/>
          </p:cNvSpPr>
          <p:nvPr>
            <p:ph type="body" sz="quarter" idx="22"/>
          </p:nvPr>
        </p:nvSpPr>
        <p:spPr/>
        <p:txBody>
          <a:bodyPr>
            <a:normAutofit fontScale="92500" lnSpcReduction="10000"/>
          </a:bodyPr>
          <a:lstStyle/>
          <a:p>
            <a:pPr lvl="1"/>
            <a:r>
              <a:rPr lang="en-AU" b="1" dirty="0">
                <a:solidFill>
                  <a:srgbClr val="007298"/>
                </a:solidFill>
                <a:latin typeface="Roboto Black" panose="02000000000000000000" pitchFamily="2" charset="0"/>
                <a:ea typeface="Roboto Black" panose="02000000000000000000" pitchFamily="2" charset="0"/>
              </a:rPr>
              <a:t>PubMed</a:t>
            </a:r>
          </a:p>
          <a:p>
            <a:pPr lvl="1"/>
            <a:r>
              <a:rPr lang="en-AU" b="1" dirty="0">
                <a:solidFill>
                  <a:srgbClr val="007298"/>
                </a:solidFill>
                <a:latin typeface="Roboto Black" panose="02000000000000000000" pitchFamily="2" charset="0"/>
                <a:ea typeface="Roboto Black" panose="02000000000000000000" pitchFamily="2" charset="0"/>
              </a:rPr>
              <a:t>Google Scholar or</a:t>
            </a:r>
          </a:p>
          <a:p>
            <a:pPr lvl="1"/>
            <a:r>
              <a:rPr lang="en-AU" b="1" dirty="0">
                <a:solidFill>
                  <a:srgbClr val="007298"/>
                </a:solidFill>
                <a:latin typeface="Roboto Black" panose="02000000000000000000" pitchFamily="2" charset="0"/>
                <a:ea typeface="Roboto Black" panose="02000000000000000000" pitchFamily="2" charset="0"/>
              </a:rPr>
              <a:t>SCU library*</a:t>
            </a:r>
          </a:p>
          <a:p>
            <a:endParaRPr lang="en-AU" dirty="0"/>
          </a:p>
        </p:txBody>
      </p:sp>
      <p:sp>
        <p:nvSpPr>
          <p:cNvPr id="9" name="Text Placeholder 8">
            <a:extLst>
              <a:ext uri="{FF2B5EF4-FFF2-40B4-BE49-F238E27FC236}">
                <a16:creationId xmlns:a16="http://schemas.microsoft.com/office/drawing/2014/main" id="{F283F8CA-D0F5-C2ED-A58E-B9D0CA16D2DF}"/>
              </a:ext>
            </a:extLst>
          </p:cNvPr>
          <p:cNvSpPr>
            <a:spLocks noGrp="1"/>
          </p:cNvSpPr>
          <p:nvPr>
            <p:ph type="body" sz="quarter" idx="18"/>
          </p:nvPr>
        </p:nvSpPr>
        <p:spPr/>
        <p:txBody>
          <a:bodyPr/>
          <a:lstStyle/>
          <a:p>
            <a:endParaRPr lang="en-AU"/>
          </a:p>
        </p:txBody>
      </p:sp>
    </p:spTree>
    <p:extLst>
      <p:ext uri="{BB962C8B-B14F-4D97-AF65-F5344CB8AC3E}">
        <p14:creationId xmlns:p14="http://schemas.microsoft.com/office/powerpoint/2010/main" val="15998923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E344CB-34E1-A1F9-2563-3967D63F85FD}"/>
              </a:ext>
            </a:extLst>
          </p:cNvPr>
          <p:cNvSpPr>
            <a:spLocks noGrp="1"/>
          </p:cNvSpPr>
          <p:nvPr>
            <p:ph type="body" sz="quarter" idx="17"/>
          </p:nvPr>
        </p:nvSpPr>
        <p:spPr>
          <a:xfrm>
            <a:off x="664025" y="794017"/>
            <a:ext cx="6558183" cy="573088"/>
          </a:xfrm>
        </p:spPr>
        <p:txBody>
          <a:bodyPr>
            <a:normAutofit fontScale="92500" lnSpcReduction="10000"/>
          </a:bodyPr>
          <a:lstStyle/>
          <a:p>
            <a:pPr algn="ctr"/>
            <a:r>
              <a:rPr lang="en-AU" sz="4000" dirty="0"/>
              <a:t>PubMed</a:t>
            </a:r>
          </a:p>
        </p:txBody>
      </p:sp>
      <p:sp>
        <p:nvSpPr>
          <p:cNvPr id="8" name="Text Placeholder 7">
            <a:extLst>
              <a:ext uri="{FF2B5EF4-FFF2-40B4-BE49-F238E27FC236}">
                <a16:creationId xmlns:a16="http://schemas.microsoft.com/office/drawing/2014/main" id="{D267B513-FAF6-97D4-1955-243438694AAD}"/>
              </a:ext>
            </a:extLst>
          </p:cNvPr>
          <p:cNvSpPr>
            <a:spLocks noGrp="1"/>
          </p:cNvSpPr>
          <p:nvPr>
            <p:ph type="body" sz="quarter" idx="20"/>
          </p:nvPr>
        </p:nvSpPr>
        <p:spPr>
          <a:xfrm>
            <a:off x="664023" y="1670460"/>
            <a:ext cx="6558185" cy="1532144"/>
          </a:xfrm>
        </p:spPr>
        <p:txBody>
          <a:bodyPr>
            <a:noAutofit/>
          </a:bodyPr>
          <a:lstStyle/>
          <a:p>
            <a:r>
              <a:rPr lang="en-AU" sz="2400" dirty="0">
                <a:solidFill>
                  <a:srgbClr val="007298"/>
                </a:solidFill>
                <a:latin typeface="Roboto Black" panose="02000000000000000000" pitchFamily="2" charset="0"/>
                <a:ea typeface="Roboto Black" panose="02000000000000000000" pitchFamily="2" charset="0"/>
              </a:rPr>
              <a:t>PubMed is a collection of millions of biomedical journal citations and abstracts as well as some books/chapters.</a:t>
            </a:r>
          </a:p>
          <a:p>
            <a:r>
              <a:rPr lang="en-AU" sz="2400" dirty="0">
                <a:solidFill>
                  <a:srgbClr val="007298"/>
                </a:solidFill>
                <a:latin typeface="Roboto Black" panose="02000000000000000000" pitchFamily="2" charset="0"/>
                <a:ea typeface="Roboto Black" panose="02000000000000000000" pitchFamily="2" charset="0"/>
              </a:rPr>
              <a:t>It provides links to full text of journal papers that are </a:t>
            </a:r>
            <a:r>
              <a:rPr lang="en-AU" sz="2400" b="1" dirty="0">
                <a:solidFill>
                  <a:srgbClr val="007298"/>
                </a:solidFill>
                <a:latin typeface="Roboto Black" panose="02000000000000000000" pitchFamily="2" charset="0"/>
                <a:ea typeface="Roboto Black" panose="02000000000000000000" pitchFamily="2" charset="0"/>
              </a:rPr>
              <a:t>open access </a:t>
            </a:r>
          </a:p>
          <a:p>
            <a:r>
              <a:rPr lang="en-AU" sz="2400" dirty="0">
                <a:solidFill>
                  <a:srgbClr val="007298"/>
                </a:solidFill>
                <a:latin typeface="Roboto Black" panose="02000000000000000000" pitchFamily="2" charset="0"/>
                <a:ea typeface="Roboto Black" panose="02000000000000000000" pitchFamily="2" charset="0"/>
              </a:rPr>
              <a:t>PubMed is free and global</a:t>
            </a:r>
          </a:p>
        </p:txBody>
      </p:sp>
      <p:sp>
        <p:nvSpPr>
          <p:cNvPr id="9" name="Text Placeholder 8">
            <a:extLst>
              <a:ext uri="{FF2B5EF4-FFF2-40B4-BE49-F238E27FC236}">
                <a16:creationId xmlns:a16="http://schemas.microsoft.com/office/drawing/2014/main" id="{83D2229E-3791-815F-B55A-B2B6D82CDE6E}"/>
              </a:ext>
            </a:extLst>
          </p:cNvPr>
          <p:cNvSpPr>
            <a:spLocks noGrp="1"/>
          </p:cNvSpPr>
          <p:nvPr>
            <p:ph type="body" sz="quarter" idx="21"/>
          </p:nvPr>
        </p:nvSpPr>
        <p:spPr>
          <a:xfrm>
            <a:off x="664023" y="4199462"/>
            <a:ext cx="6558185" cy="446706"/>
          </a:xfrm>
        </p:spPr>
        <p:txBody>
          <a:bodyPr/>
          <a:lstStyle/>
          <a:p>
            <a:r>
              <a:rPr lang="en-AU" dirty="0">
                <a:latin typeface="Roboto Black" panose="02000000000000000000" pitchFamily="2" charset="0"/>
                <a:ea typeface="Roboto Black" panose="02000000000000000000" pitchFamily="2" charset="0"/>
              </a:rPr>
              <a:t>Content</a:t>
            </a:r>
          </a:p>
        </p:txBody>
      </p:sp>
      <p:sp>
        <p:nvSpPr>
          <p:cNvPr id="10" name="Text Placeholder 9">
            <a:extLst>
              <a:ext uri="{FF2B5EF4-FFF2-40B4-BE49-F238E27FC236}">
                <a16:creationId xmlns:a16="http://schemas.microsoft.com/office/drawing/2014/main" id="{0F95B68D-C17E-9C09-D7CF-43C7CF0858C1}"/>
              </a:ext>
            </a:extLst>
          </p:cNvPr>
          <p:cNvSpPr>
            <a:spLocks noGrp="1"/>
          </p:cNvSpPr>
          <p:nvPr>
            <p:ph type="body" sz="quarter" idx="22"/>
          </p:nvPr>
        </p:nvSpPr>
        <p:spPr>
          <a:xfrm>
            <a:off x="664024" y="4646168"/>
            <a:ext cx="6558185" cy="1077415"/>
          </a:xfrm>
        </p:spPr>
        <p:txBody>
          <a:bodyPr>
            <a:normAutofit fontScale="92500" lnSpcReduction="10000"/>
          </a:bodyPr>
          <a:lstStyle/>
          <a:p>
            <a:r>
              <a:rPr lang="en-AU" sz="2000" dirty="0">
                <a:solidFill>
                  <a:srgbClr val="007298"/>
                </a:solidFill>
                <a:latin typeface="Roboto Black" panose="02000000000000000000" pitchFamily="2" charset="0"/>
                <a:ea typeface="Roboto Black" panose="02000000000000000000" pitchFamily="2" charset="0"/>
              </a:rPr>
              <a:t>MEDLINE – the National Library of Medicine database </a:t>
            </a:r>
          </a:p>
          <a:p>
            <a:r>
              <a:rPr lang="en-AU" sz="2000" dirty="0">
                <a:solidFill>
                  <a:srgbClr val="007298"/>
                </a:solidFill>
                <a:latin typeface="Roboto Black" panose="02000000000000000000" pitchFamily="2" charset="0"/>
                <a:ea typeface="Roboto Black" panose="02000000000000000000" pitchFamily="2" charset="0"/>
              </a:rPr>
              <a:t>PubMed Central (PMC)</a:t>
            </a:r>
          </a:p>
          <a:p>
            <a:r>
              <a:rPr lang="en-AU" sz="2000" dirty="0">
                <a:solidFill>
                  <a:srgbClr val="007298"/>
                </a:solidFill>
                <a:latin typeface="Roboto Black" panose="02000000000000000000" pitchFamily="2" charset="0"/>
                <a:ea typeface="Roboto Black" panose="02000000000000000000" pitchFamily="2" charset="0"/>
              </a:rPr>
              <a:t>Bookshelf – archive of full text books reports</a:t>
            </a:r>
          </a:p>
        </p:txBody>
      </p:sp>
      <p:sp>
        <p:nvSpPr>
          <p:cNvPr id="7" name="Text Placeholder 6">
            <a:extLst>
              <a:ext uri="{FF2B5EF4-FFF2-40B4-BE49-F238E27FC236}">
                <a16:creationId xmlns:a16="http://schemas.microsoft.com/office/drawing/2014/main" id="{FDDDEEB7-BB9E-6827-7E9A-5F5BB32D771B}"/>
              </a:ext>
            </a:extLst>
          </p:cNvPr>
          <p:cNvSpPr>
            <a:spLocks noGrp="1"/>
          </p:cNvSpPr>
          <p:nvPr>
            <p:ph type="body" sz="quarter" idx="18"/>
          </p:nvPr>
        </p:nvSpPr>
        <p:spPr/>
        <p:txBody>
          <a:bodyPr/>
          <a:lstStyle/>
          <a:p>
            <a:endParaRPr lang="en-AU"/>
          </a:p>
        </p:txBody>
      </p:sp>
    </p:spTree>
    <p:extLst>
      <p:ext uri="{BB962C8B-B14F-4D97-AF65-F5344CB8AC3E}">
        <p14:creationId xmlns:p14="http://schemas.microsoft.com/office/powerpoint/2010/main" val="24353826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83DE8B4A-C12E-5DC8-74B4-27F850B1BA9F}"/>
              </a:ext>
            </a:extLst>
          </p:cNvPr>
          <p:cNvSpPr>
            <a:spLocks noGrp="1"/>
          </p:cNvSpPr>
          <p:nvPr>
            <p:ph type="body" sz="quarter" idx="17"/>
          </p:nvPr>
        </p:nvSpPr>
        <p:spPr/>
        <p:txBody>
          <a:bodyPr/>
          <a:lstStyle/>
          <a:p>
            <a:r>
              <a:rPr lang="en-AU" sz="3200" dirty="0"/>
              <a:t>PubMed</a:t>
            </a:r>
          </a:p>
          <a:p>
            <a:endParaRPr lang="en-AU" dirty="0"/>
          </a:p>
        </p:txBody>
      </p:sp>
      <p:sp>
        <p:nvSpPr>
          <p:cNvPr id="3" name="TextBox 2">
            <a:extLst>
              <a:ext uri="{FF2B5EF4-FFF2-40B4-BE49-F238E27FC236}">
                <a16:creationId xmlns:a16="http://schemas.microsoft.com/office/drawing/2014/main" id="{49D188F6-0069-143D-C5E2-1FB6504236F6}"/>
              </a:ext>
            </a:extLst>
          </p:cNvPr>
          <p:cNvSpPr txBox="1"/>
          <p:nvPr/>
        </p:nvSpPr>
        <p:spPr>
          <a:xfrm>
            <a:off x="5395301" y="6203855"/>
            <a:ext cx="6558183" cy="369332"/>
          </a:xfrm>
          <a:prstGeom prst="rect">
            <a:avLst/>
          </a:prstGeom>
          <a:noFill/>
        </p:spPr>
        <p:txBody>
          <a:bodyPr wrap="square" rtlCol="0">
            <a:spAutoFit/>
          </a:bodyPr>
          <a:lstStyle/>
          <a:p>
            <a:r>
              <a:rPr lang="en-AU" dirty="0">
                <a:solidFill>
                  <a:srgbClr val="007298"/>
                </a:solidFill>
                <a:latin typeface="Roboto" panose="02000000000000000000" pitchFamily="2" charset="0"/>
                <a:ea typeface="Roboto" panose="02000000000000000000" pitchFamily="2" charset="0"/>
                <a:cs typeface="Roboto" panose="02000000000000000000" pitchFamily="2" charset="0"/>
                <a:hlinkClick r:id="rId3">
                  <a:extLst>
                    <a:ext uri="{A12FA001-AC4F-418D-AE19-62706E023703}">
                      <ahyp:hlinkClr xmlns:ahyp="http://schemas.microsoft.com/office/drawing/2018/hyperlinkcolor" val="tx"/>
                    </a:ext>
                  </a:extLst>
                </a:hlinkClick>
              </a:rPr>
              <a:t>https://pubmed.ncbi.nlm.nih.gov/</a:t>
            </a:r>
            <a:endParaRPr lang="en-AU" dirty="0">
              <a:solidFill>
                <a:srgbClr val="007298"/>
              </a:solidFill>
              <a:latin typeface="Roboto" panose="02000000000000000000" pitchFamily="2" charset="0"/>
              <a:ea typeface="Roboto" panose="02000000000000000000" pitchFamily="2" charset="0"/>
              <a:cs typeface="Roboto" panose="02000000000000000000" pitchFamily="2" charset="0"/>
            </a:endParaRPr>
          </a:p>
        </p:txBody>
      </p:sp>
      <p:pic>
        <p:nvPicPr>
          <p:cNvPr id="5" name="Picture 4">
            <a:extLst>
              <a:ext uri="{FF2B5EF4-FFF2-40B4-BE49-F238E27FC236}">
                <a16:creationId xmlns:a16="http://schemas.microsoft.com/office/drawing/2014/main" id="{84895DA5-BA0F-CB7A-EBBC-0A4B4B5FF9C2}"/>
              </a:ext>
            </a:extLst>
          </p:cNvPr>
          <p:cNvPicPr>
            <a:picLocks noChangeAspect="1"/>
          </p:cNvPicPr>
          <p:nvPr/>
        </p:nvPicPr>
        <p:blipFill>
          <a:blip r:embed="rId4"/>
          <a:stretch>
            <a:fillRect/>
          </a:stretch>
        </p:blipFill>
        <p:spPr>
          <a:xfrm>
            <a:off x="475432" y="2302285"/>
            <a:ext cx="8367485" cy="3520745"/>
          </a:xfrm>
          <a:prstGeom prst="rect">
            <a:avLst/>
          </a:prstGeom>
          <a:ln>
            <a:solidFill>
              <a:srgbClr val="FFC000"/>
            </a:solidFill>
          </a:ln>
        </p:spPr>
      </p:pic>
      <p:sp>
        <p:nvSpPr>
          <p:cNvPr id="7" name="Oval 6">
            <a:extLst>
              <a:ext uri="{FF2B5EF4-FFF2-40B4-BE49-F238E27FC236}">
                <a16:creationId xmlns:a16="http://schemas.microsoft.com/office/drawing/2014/main" id="{0E115E56-06D4-ABEB-15FB-A8620D9B9016}"/>
              </a:ext>
            </a:extLst>
          </p:cNvPr>
          <p:cNvSpPr/>
          <p:nvPr/>
        </p:nvSpPr>
        <p:spPr>
          <a:xfrm>
            <a:off x="788670" y="4540921"/>
            <a:ext cx="811530" cy="33147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B284DB4A-A07A-24A7-D749-0B274A072CB7}"/>
              </a:ext>
            </a:extLst>
          </p:cNvPr>
          <p:cNvSpPr/>
          <p:nvPr/>
        </p:nvSpPr>
        <p:spPr>
          <a:xfrm>
            <a:off x="7452360" y="4140164"/>
            <a:ext cx="1005840" cy="56649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extLst>
      <p:ext uri="{BB962C8B-B14F-4D97-AF65-F5344CB8AC3E}">
        <p14:creationId xmlns:p14="http://schemas.microsoft.com/office/powerpoint/2010/main" val="128872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DDB9F8-94D6-7A72-448F-F909392298DD}"/>
              </a:ext>
            </a:extLst>
          </p:cNvPr>
          <p:cNvSpPr>
            <a:spLocks noGrp="1"/>
          </p:cNvSpPr>
          <p:nvPr>
            <p:ph type="body" sz="quarter" idx="17"/>
          </p:nvPr>
        </p:nvSpPr>
        <p:spPr>
          <a:xfrm>
            <a:off x="709747" y="769153"/>
            <a:ext cx="6558183" cy="573088"/>
          </a:xfrm>
        </p:spPr>
        <p:txBody>
          <a:bodyPr/>
          <a:lstStyle/>
          <a:p>
            <a:pPr algn="ctr"/>
            <a:r>
              <a:rPr lang="en-AU" dirty="0"/>
              <a:t>Simple search</a:t>
            </a:r>
          </a:p>
        </p:txBody>
      </p:sp>
      <p:sp>
        <p:nvSpPr>
          <p:cNvPr id="5" name="Text Placeholder 4">
            <a:extLst>
              <a:ext uri="{FF2B5EF4-FFF2-40B4-BE49-F238E27FC236}">
                <a16:creationId xmlns:a16="http://schemas.microsoft.com/office/drawing/2014/main" id="{796BD961-0F7B-87BD-261B-F46ED1BDF3A1}"/>
              </a:ext>
            </a:extLst>
          </p:cNvPr>
          <p:cNvSpPr>
            <a:spLocks noGrp="1"/>
          </p:cNvSpPr>
          <p:nvPr>
            <p:ph type="body" sz="quarter" idx="20"/>
          </p:nvPr>
        </p:nvSpPr>
        <p:spPr>
          <a:xfrm>
            <a:off x="755464" y="1662475"/>
            <a:ext cx="7216961" cy="1077415"/>
          </a:xfrm>
        </p:spPr>
        <p:txBody>
          <a:bodyPr/>
          <a:lstStyle/>
          <a:p>
            <a:r>
              <a:rPr lang="en-AU" sz="2400" dirty="0">
                <a:solidFill>
                  <a:srgbClr val="007298"/>
                </a:solidFill>
                <a:latin typeface="Roboto Black" panose="02000000000000000000" pitchFamily="2" charset="0"/>
                <a:ea typeface="Roboto Black" panose="02000000000000000000" pitchFamily="2" charset="0"/>
              </a:rPr>
              <a:t>Typing a medication name brings up several search options</a:t>
            </a:r>
          </a:p>
        </p:txBody>
      </p:sp>
      <p:pic>
        <p:nvPicPr>
          <p:cNvPr id="10" name="Picture 9">
            <a:extLst>
              <a:ext uri="{FF2B5EF4-FFF2-40B4-BE49-F238E27FC236}">
                <a16:creationId xmlns:a16="http://schemas.microsoft.com/office/drawing/2014/main" id="{4101C1B8-40E4-0AA5-06CE-3BC41020A7ED}"/>
              </a:ext>
            </a:extLst>
          </p:cNvPr>
          <p:cNvPicPr>
            <a:picLocks noChangeAspect="1"/>
          </p:cNvPicPr>
          <p:nvPr/>
        </p:nvPicPr>
        <p:blipFill>
          <a:blip r:embed="rId3"/>
          <a:stretch>
            <a:fillRect/>
          </a:stretch>
        </p:blipFill>
        <p:spPr>
          <a:xfrm>
            <a:off x="755464" y="2739890"/>
            <a:ext cx="7826418" cy="2949196"/>
          </a:xfrm>
          <a:prstGeom prst="rect">
            <a:avLst/>
          </a:prstGeom>
        </p:spPr>
      </p:pic>
      <p:sp>
        <p:nvSpPr>
          <p:cNvPr id="14" name="Oval 13">
            <a:extLst>
              <a:ext uri="{FF2B5EF4-FFF2-40B4-BE49-F238E27FC236}">
                <a16:creationId xmlns:a16="http://schemas.microsoft.com/office/drawing/2014/main" id="{EEEE0528-4CA9-596C-E167-D65F44054FA2}"/>
              </a:ext>
            </a:extLst>
          </p:cNvPr>
          <p:cNvSpPr/>
          <p:nvPr/>
        </p:nvSpPr>
        <p:spPr>
          <a:xfrm>
            <a:off x="880110" y="3885494"/>
            <a:ext cx="914400" cy="328993"/>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CFD3959E-35EE-A01E-D8B7-0E98C72E5D25}"/>
              </a:ext>
            </a:extLst>
          </p:cNvPr>
          <p:cNvSpPr/>
          <p:nvPr/>
        </p:nvSpPr>
        <p:spPr>
          <a:xfrm>
            <a:off x="880110" y="5234940"/>
            <a:ext cx="1555564" cy="328993"/>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4717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44F68BC-CCBE-FD5C-4591-77C3A8B26838}"/>
              </a:ext>
            </a:extLst>
          </p:cNvPr>
          <p:cNvPicPr>
            <a:picLocks noChangeAspect="1"/>
          </p:cNvPicPr>
          <p:nvPr/>
        </p:nvPicPr>
        <p:blipFill>
          <a:blip r:embed="rId3"/>
          <a:stretch>
            <a:fillRect/>
          </a:stretch>
        </p:blipFill>
        <p:spPr>
          <a:xfrm>
            <a:off x="1612105" y="146884"/>
            <a:ext cx="8755754" cy="6390807"/>
          </a:xfrm>
          <a:prstGeom prst="rect">
            <a:avLst/>
          </a:prstGeom>
          <a:ln w="38100">
            <a:solidFill>
              <a:srgbClr val="007298"/>
            </a:solidFill>
          </a:ln>
        </p:spPr>
      </p:pic>
      <p:sp>
        <p:nvSpPr>
          <p:cNvPr id="10" name="Oval 9">
            <a:extLst>
              <a:ext uri="{FF2B5EF4-FFF2-40B4-BE49-F238E27FC236}">
                <a16:creationId xmlns:a16="http://schemas.microsoft.com/office/drawing/2014/main" id="{DE31A05E-82C5-B9C5-DF58-767CDA103825}"/>
              </a:ext>
            </a:extLst>
          </p:cNvPr>
          <p:cNvSpPr/>
          <p:nvPr/>
        </p:nvSpPr>
        <p:spPr>
          <a:xfrm>
            <a:off x="3686175" y="1650831"/>
            <a:ext cx="994410" cy="400028"/>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7D362366-D6D6-329F-2F83-ABF5C2D3015E}"/>
              </a:ext>
            </a:extLst>
          </p:cNvPr>
          <p:cNvSpPr/>
          <p:nvPr/>
        </p:nvSpPr>
        <p:spPr>
          <a:xfrm>
            <a:off x="5181600" y="2740979"/>
            <a:ext cx="914400" cy="161247"/>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noFill/>
            </a:endParaRPr>
          </a:p>
        </p:txBody>
      </p:sp>
      <p:sp>
        <p:nvSpPr>
          <p:cNvPr id="9" name="Oval 8">
            <a:extLst>
              <a:ext uri="{FF2B5EF4-FFF2-40B4-BE49-F238E27FC236}">
                <a16:creationId xmlns:a16="http://schemas.microsoft.com/office/drawing/2014/main" id="{268500BC-CF59-2D1B-A42E-906BADC10145}"/>
              </a:ext>
            </a:extLst>
          </p:cNvPr>
          <p:cNvSpPr/>
          <p:nvPr/>
        </p:nvSpPr>
        <p:spPr>
          <a:xfrm>
            <a:off x="5229225" y="5652373"/>
            <a:ext cx="1085850" cy="161247"/>
          </a:xfrm>
          <a:prstGeom prst="ellipse">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2DCC4776-9494-A3A8-51D4-C2164702471D}"/>
              </a:ext>
            </a:extLst>
          </p:cNvPr>
          <p:cNvSpPr txBox="1"/>
          <p:nvPr/>
        </p:nvSpPr>
        <p:spPr>
          <a:xfrm>
            <a:off x="8905461" y="6596390"/>
            <a:ext cx="3286539" cy="261610"/>
          </a:xfrm>
          <a:prstGeom prst="rect">
            <a:avLst/>
          </a:prstGeom>
          <a:noFill/>
        </p:spPr>
        <p:txBody>
          <a:bodyPr wrap="square">
            <a:spAutoFit/>
          </a:bodyPr>
          <a:lstStyle/>
          <a:p>
            <a:r>
              <a:rPr lang="en-AU" sz="1100" dirty="0">
                <a:solidFill>
                  <a:srgbClr val="007298"/>
                </a:solidFill>
              </a:rPr>
              <a:t>https://pubmed.ncbi.nlm.nih.gov/?term=Clotrimazole</a:t>
            </a:r>
          </a:p>
        </p:txBody>
      </p:sp>
      <p:sp>
        <p:nvSpPr>
          <p:cNvPr id="14" name="Oval 13">
            <a:extLst>
              <a:ext uri="{FF2B5EF4-FFF2-40B4-BE49-F238E27FC236}">
                <a16:creationId xmlns:a16="http://schemas.microsoft.com/office/drawing/2014/main" id="{397C255A-A0B2-B846-1392-2A90FBB900BC}"/>
              </a:ext>
            </a:extLst>
          </p:cNvPr>
          <p:cNvSpPr/>
          <p:nvPr/>
        </p:nvSpPr>
        <p:spPr>
          <a:xfrm>
            <a:off x="5229225" y="4412974"/>
            <a:ext cx="1396862" cy="331304"/>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321256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44F68BC-CCBE-FD5C-4591-77C3A8B26838}"/>
              </a:ext>
            </a:extLst>
          </p:cNvPr>
          <p:cNvPicPr>
            <a:picLocks noChangeAspect="1"/>
          </p:cNvPicPr>
          <p:nvPr/>
        </p:nvPicPr>
        <p:blipFill>
          <a:blip r:embed="rId3"/>
          <a:stretch>
            <a:fillRect/>
          </a:stretch>
        </p:blipFill>
        <p:spPr>
          <a:xfrm>
            <a:off x="491116" y="0"/>
            <a:ext cx="9395834" cy="6858000"/>
          </a:xfrm>
          <a:prstGeom prst="rect">
            <a:avLst/>
          </a:prstGeom>
          <a:ln>
            <a:solidFill>
              <a:srgbClr val="007298"/>
            </a:solidFill>
          </a:ln>
        </p:spPr>
      </p:pic>
      <p:sp>
        <p:nvSpPr>
          <p:cNvPr id="10" name="Oval 9">
            <a:extLst>
              <a:ext uri="{FF2B5EF4-FFF2-40B4-BE49-F238E27FC236}">
                <a16:creationId xmlns:a16="http://schemas.microsoft.com/office/drawing/2014/main" id="{DE31A05E-82C5-B9C5-DF58-767CDA103825}"/>
              </a:ext>
            </a:extLst>
          </p:cNvPr>
          <p:cNvSpPr/>
          <p:nvPr/>
        </p:nvSpPr>
        <p:spPr>
          <a:xfrm>
            <a:off x="2777490" y="1543610"/>
            <a:ext cx="994410" cy="400028"/>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DAC65F79-A397-7F04-9AF6-D42472C482B1}"/>
              </a:ext>
            </a:extLst>
          </p:cNvPr>
          <p:cNvSpPr/>
          <p:nvPr/>
        </p:nvSpPr>
        <p:spPr>
          <a:xfrm>
            <a:off x="582930" y="2104586"/>
            <a:ext cx="2354580" cy="1717469"/>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12">
            <a:extLst>
              <a:ext uri="{FF2B5EF4-FFF2-40B4-BE49-F238E27FC236}">
                <a16:creationId xmlns:a16="http://schemas.microsoft.com/office/drawing/2014/main" id="{46C65729-4D11-B91D-223D-5DCA213478A3}"/>
              </a:ext>
            </a:extLst>
          </p:cNvPr>
          <p:cNvPicPr>
            <a:picLocks noChangeAspect="1"/>
          </p:cNvPicPr>
          <p:nvPr/>
        </p:nvPicPr>
        <p:blipFill>
          <a:blip r:embed="rId4"/>
          <a:stretch>
            <a:fillRect/>
          </a:stretch>
        </p:blipFill>
        <p:spPr>
          <a:xfrm>
            <a:off x="3952193" y="1382662"/>
            <a:ext cx="8048220" cy="4956336"/>
          </a:xfrm>
          <a:prstGeom prst="rect">
            <a:avLst/>
          </a:prstGeom>
          <a:ln>
            <a:noFill/>
          </a:ln>
          <a:effectLst>
            <a:glow rad="101600">
              <a:srgbClr val="007298">
                <a:alpha val="60000"/>
              </a:srgbClr>
            </a:glow>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DB8E62BC-D3DE-C7D3-01B0-DDEF5C2A4831}"/>
              </a:ext>
            </a:extLst>
          </p:cNvPr>
          <p:cNvSpPr txBox="1"/>
          <p:nvPr/>
        </p:nvSpPr>
        <p:spPr>
          <a:xfrm>
            <a:off x="7699728" y="6550223"/>
            <a:ext cx="6248400" cy="307777"/>
          </a:xfrm>
          <a:prstGeom prst="rect">
            <a:avLst/>
          </a:prstGeom>
          <a:noFill/>
        </p:spPr>
        <p:txBody>
          <a:bodyPr wrap="square">
            <a:spAutoFit/>
          </a:bodyPr>
          <a:lstStyle/>
          <a:p>
            <a:r>
              <a:rPr lang="en-AU" sz="1400" dirty="0">
                <a:solidFill>
                  <a:srgbClr val="007298"/>
                </a:solidFill>
              </a:rPr>
              <a:t>https://pubmed.ncbi.nlm.nih.gov/?term=Clotrimazole</a:t>
            </a:r>
          </a:p>
        </p:txBody>
      </p:sp>
      <p:sp>
        <p:nvSpPr>
          <p:cNvPr id="14" name="Oval 13">
            <a:extLst>
              <a:ext uri="{FF2B5EF4-FFF2-40B4-BE49-F238E27FC236}">
                <a16:creationId xmlns:a16="http://schemas.microsoft.com/office/drawing/2014/main" id="{50314450-758D-4B58-AE20-ACADBAD525D0}"/>
              </a:ext>
            </a:extLst>
          </p:cNvPr>
          <p:cNvSpPr/>
          <p:nvPr/>
        </p:nvSpPr>
        <p:spPr>
          <a:xfrm>
            <a:off x="5949245" y="1382662"/>
            <a:ext cx="1038578" cy="45742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779884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57E6051-7B17-472D-1DF7-295A95AC040F}"/>
              </a:ext>
            </a:extLst>
          </p:cNvPr>
          <p:cNvSpPr>
            <a:spLocks noGrp="1"/>
          </p:cNvSpPr>
          <p:nvPr>
            <p:ph type="body" sz="quarter" idx="17"/>
          </p:nvPr>
        </p:nvSpPr>
        <p:spPr>
          <a:xfrm>
            <a:off x="3224339" y="753586"/>
            <a:ext cx="3770821" cy="573088"/>
          </a:xfrm>
        </p:spPr>
        <p:txBody>
          <a:bodyPr>
            <a:normAutofit fontScale="92500" lnSpcReduction="10000"/>
          </a:bodyPr>
          <a:lstStyle/>
          <a:p>
            <a:r>
              <a:rPr lang="en-AU" sz="4000" dirty="0"/>
              <a:t>More filters </a:t>
            </a:r>
          </a:p>
        </p:txBody>
      </p:sp>
      <p:sp>
        <p:nvSpPr>
          <p:cNvPr id="9" name="Text Placeholder 8">
            <a:extLst>
              <a:ext uri="{FF2B5EF4-FFF2-40B4-BE49-F238E27FC236}">
                <a16:creationId xmlns:a16="http://schemas.microsoft.com/office/drawing/2014/main" id="{C3A087D6-EDBB-22CB-BC4E-AE5C8D8BF40C}"/>
              </a:ext>
            </a:extLst>
          </p:cNvPr>
          <p:cNvSpPr>
            <a:spLocks noGrp="1"/>
          </p:cNvSpPr>
          <p:nvPr>
            <p:ph type="body" sz="quarter" idx="20"/>
          </p:nvPr>
        </p:nvSpPr>
        <p:spPr>
          <a:xfrm>
            <a:off x="3150047" y="1845454"/>
            <a:ext cx="6558185" cy="863594"/>
          </a:xfrm>
        </p:spPr>
        <p:txBody>
          <a:bodyPr>
            <a:normAutofit lnSpcReduction="10000"/>
          </a:bodyPr>
          <a:lstStyle/>
          <a:p>
            <a:pPr marL="285750" indent="-285750">
              <a:buFont typeface="Arial" panose="020B0604020202020204" pitchFamily="34" charset="0"/>
              <a:buChar char="•"/>
            </a:pPr>
            <a:r>
              <a:rPr lang="en-AU" sz="2400" dirty="0">
                <a:solidFill>
                  <a:srgbClr val="007298"/>
                </a:solidFill>
                <a:latin typeface="Roboto Black" panose="02000000000000000000" pitchFamily="2" charset="0"/>
                <a:ea typeface="Roboto Black" panose="02000000000000000000" pitchFamily="2" charset="0"/>
              </a:rPr>
              <a:t>Check out the left hand column</a:t>
            </a:r>
          </a:p>
          <a:p>
            <a:pPr marL="285750" indent="-285750">
              <a:buFont typeface="Arial" panose="020B0604020202020204" pitchFamily="34" charset="0"/>
              <a:buChar char="•"/>
            </a:pPr>
            <a:r>
              <a:rPr lang="en-AU" sz="2400" dirty="0">
                <a:solidFill>
                  <a:srgbClr val="007298"/>
                </a:solidFill>
                <a:latin typeface="Roboto Black" panose="02000000000000000000" pitchFamily="2" charset="0"/>
                <a:ea typeface="Roboto Black" panose="02000000000000000000" pitchFamily="2" charset="0"/>
              </a:rPr>
              <a:t>Adjust your search fast, by ticking boxes</a:t>
            </a:r>
          </a:p>
        </p:txBody>
      </p:sp>
      <p:sp>
        <p:nvSpPr>
          <p:cNvPr id="10" name="Text Placeholder 9">
            <a:extLst>
              <a:ext uri="{FF2B5EF4-FFF2-40B4-BE49-F238E27FC236}">
                <a16:creationId xmlns:a16="http://schemas.microsoft.com/office/drawing/2014/main" id="{5DE2E2B7-9A57-1558-5309-87498CDC99C9}"/>
              </a:ext>
            </a:extLst>
          </p:cNvPr>
          <p:cNvSpPr>
            <a:spLocks noGrp="1"/>
          </p:cNvSpPr>
          <p:nvPr>
            <p:ph type="body" sz="quarter" idx="21"/>
          </p:nvPr>
        </p:nvSpPr>
        <p:spPr>
          <a:xfrm>
            <a:off x="3224340" y="3083468"/>
            <a:ext cx="6558185" cy="446706"/>
          </a:xfrm>
        </p:spPr>
        <p:txBody>
          <a:bodyPr/>
          <a:lstStyle/>
          <a:p>
            <a:r>
              <a:rPr lang="en-AU" sz="2400" dirty="0">
                <a:latin typeface="Roboto Black" panose="02000000000000000000" pitchFamily="2" charset="0"/>
                <a:ea typeface="Roboto Black" panose="02000000000000000000" pitchFamily="2" charset="0"/>
              </a:rPr>
              <a:t>Options</a:t>
            </a:r>
          </a:p>
        </p:txBody>
      </p:sp>
      <p:sp>
        <p:nvSpPr>
          <p:cNvPr id="11" name="Text Placeholder 10">
            <a:extLst>
              <a:ext uri="{FF2B5EF4-FFF2-40B4-BE49-F238E27FC236}">
                <a16:creationId xmlns:a16="http://schemas.microsoft.com/office/drawing/2014/main" id="{95EF3824-1138-0950-6277-368663ADF48E}"/>
              </a:ext>
            </a:extLst>
          </p:cNvPr>
          <p:cNvSpPr>
            <a:spLocks noGrp="1"/>
          </p:cNvSpPr>
          <p:nvPr>
            <p:ph type="body" sz="quarter" idx="22"/>
          </p:nvPr>
        </p:nvSpPr>
        <p:spPr>
          <a:xfrm>
            <a:off x="3224340" y="3808726"/>
            <a:ext cx="6558185" cy="2009144"/>
          </a:xfrm>
        </p:spPr>
        <p:txBody>
          <a:bodyPr>
            <a:normAutofit fontScale="92500" lnSpcReduction="10000"/>
          </a:bodyPr>
          <a:lstStyle/>
          <a:p>
            <a:r>
              <a:rPr lang="en-AU" sz="2000" dirty="0">
                <a:solidFill>
                  <a:srgbClr val="007298"/>
                </a:solidFill>
                <a:latin typeface="Roboto" panose="02000000000000000000" pitchFamily="2" charset="0"/>
                <a:ea typeface="Roboto" panose="02000000000000000000" pitchFamily="2" charset="0"/>
                <a:cs typeface="Roboto" panose="02000000000000000000" pitchFamily="2" charset="0"/>
              </a:rPr>
              <a:t>TEXT AVAILABILITY: limit the search to citations with full text attached, or just free full text</a:t>
            </a:r>
          </a:p>
          <a:p>
            <a:r>
              <a:rPr lang="en-AU" sz="2000" dirty="0">
                <a:solidFill>
                  <a:srgbClr val="007298"/>
                </a:solidFill>
                <a:latin typeface="Roboto" panose="02000000000000000000" pitchFamily="2" charset="0"/>
                <a:ea typeface="Roboto" panose="02000000000000000000" pitchFamily="2" charset="0"/>
                <a:cs typeface="Roboto" panose="02000000000000000000" pitchFamily="2" charset="0"/>
              </a:rPr>
              <a:t>ARTICLE ATTRIBUTE: rarely relevant </a:t>
            </a:r>
          </a:p>
          <a:p>
            <a:r>
              <a:rPr lang="en-AU" sz="2000" dirty="0">
                <a:solidFill>
                  <a:srgbClr val="007298"/>
                </a:solidFill>
                <a:latin typeface="Roboto" panose="02000000000000000000" pitchFamily="2" charset="0"/>
                <a:ea typeface="Roboto" panose="02000000000000000000" pitchFamily="2" charset="0"/>
                <a:cs typeface="Roboto" panose="02000000000000000000" pitchFamily="2" charset="0"/>
              </a:rPr>
              <a:t>ARTICLE TYPE: depends on the research question you are answering</a:t>
            </a:r>
          </a:p>
          <a:p>
            <a:r>
              <a:rPr lang="en-AU" sz="2000" dirty="0">
                <a:solidFill>
                  <a:srgbClr val="007298"/>
                </a:solidFill>
                <a:latin typeface="Roboto" panose="02000000000000000000" pitchFamily="2" charset="0"/>
                <a:ea typeface="Roboto" panose="02000000000000000000" pitchFamily="2" charset="0"/>
                <a:cs typeface="Roboto" panose="02000000000000000000" pitchFamily="2" charset="0"/>
              </a:rPr>
              <a:t>PUBLICATION DATE: focuses your search to a timespan</a:t>
            </a:r>
          </a:p>
        </p:txBody>
      </p:sp>
      <p:sp>
        <p:nvSpPr>
          <p:cNvPr id="8" name="Text Placeholder 7">
            <a:extLst>
              <a:ext uri="{FF2B5EF4-FFF2-40B4-BE49-F238E27FC236}">
                <a16:creationId xmlns:a16="http://schemas.microsoft.com/office/drawing/2014/main" id="{F126CEB2-37AD-3F18-8561-8267CF167641}"/>
              </a:ext>
            </a:extLst>
          </p:cNvPr>
          <p:cNvSpPr>
            <a:spLocks noGrp="1"/>
          </p:cNvSpPr>
          <p:nvPr>
            <p:ph type="body" sz="quarter" idx="18"/>
          </p:nvPr>
        </p:nvSpPr>
        <p:spPr/>
        <p:txBody>
          <a:bodyPr/>
          <a:lstStyle/>
          <a:p>
            <a:endParaRPr lang="en-AU"/>
          </a:p>
        </p:txBody>
      </p:sp>
      <p:pic>
        <p:nvPicPr>
          <p:cNvPr id="13" name="Picture 12">
            <a:extLst>
              <a:ext uri="{FF2B5EF4-FFF2-40B4-BE49-F238E27FC236}">
                <a16:creationId xmlns:a16="http://schemas.microsoft.com/office/drawing/2014/main" id="{0392EB48-E260-1F6D-9EE4-1EF2E8F110C1}"/>
              </a:ext>
            </a:extLst>
          </p:cNvPr>
          <p:cNvPicPr>
            <a:picLocks noChangeAspect="1"/>
          </p:cNvPicPr>
          <p:nvPr/>
        </p:nvPicPr>
        <p:blipFill>
          <a:blip r:embed="rId3"/>
          <a:stretch>
            <a:fillRect/>
          </a:stretch>
        </p:blipFill>
        <p:spPr>
          <a:xfrm>
            <a:off x="0" y="-2589803"/>
            <a:ext cx="2829063" cy="9447803"/>
          </a:xfrm>
          <a:prstGeom prst="rect">
            <a:avLst/>
          </a:prstGeom>
        </p:spPr>
      </p:pic>
    </p:spTree>
    <p:extLst>
      <p:ext uri="{BB962C8B-B14F-4D97-AF65-F5344CB8AC3E}">
        <p14:creationId xmlns:p14="http://schemas.microsoft.com/office/powerpoint/2010/main" val="33608390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3A087D6-EDBB-22CB-BC4E-AE5C8D8BF40C}"/>
              </a:ext>
            </a:extLst>
          </p:cNvPr>
          <p:cNvSpPr>
            <a:spLocks noGrp="1"/>
          </p:cNvSpPr>
          <p:nvPr>
            <p:ph type="body" sz="quarter" idx="4294967295"/>
          </p:nvPr>
        </p:nvSpPr>
        <p:spPr>
          <a:xfrm>
            <a:off x="2415649" y="372532"/>
            <a:ext cx="6557963" cy="570537"/>
          </a:xfrm>
          <a:prstGeom prst="rect">
            <a:avLst/>
          </a:prstGeom>
        </p:spPr>
        <p:txBody>
          <a:bodyPr>
            <a:normAutofit fontScale="92500" lnSpcReduction="10000"/>
          </a:bodyPr>
          <a:lstStyle/>
          <a:p>
            <a:pPr marL="0" indent="0" algn="ctr">
              <a:buNone/>
            </a:pPr>
            <a:r>
              <a:rPr lang="en-US" sz="4000" dirty="0">
                <a:solidFill>
                  <a:srgbClr val="007298"/>
                </a:solidFill>
                <a:latin typeface="Roboto Black" panose="02000000000000000000" pitchFamily="2" charset="0"/>
                <a:ea typeface="Roboto Black" panose="02000000000000000000" pitchFamily="2" charset="0"/>
                <a:cs typeface="Roboto Black" panose="02000000000000000000" pitchFamily="2" charset="0"/>
              </a:rPr>
              <a:t>Now with two filters …</a:t>
            </a:r>
          </a:p>
        </p:txBody>
      </p:sp>
      <p:pic>
        <p:nvPicPr>
          <p:cNvPr id="18" name="Picture 17">
            <a:extLst>
              <a:ext uri="{FF2B5EF4-FFF2-40B4-BE49-F238E27FC236}">
                <a16:creationId xmlns:a16="http://schemas.microsoft.com/office/drawing/2014/main" id="{09DBA5A0-6FE7-6F8B-E78B-D48C1F5F5A1C}"/>
              </a:ext>
            </a:extLst>
          </p:cNvPr>
          <p:cNvPicPr>
            <a:picLocks noChangeAspect="1"/>
          </p:cNvPicPr>
          <p:nvPr/>
        </p:nvPicPr>
        <p:blipFill>
          <a:blip r:embed="rId3"/>
          <a:stretch>
            <a:fillRect/>
          </a:stretch>
        </p:blipFill>
        <p:spPr>
          <a:xfrm>
            <a:off x="1580444" y="1254488"/>
            <a:ext cx="8261595" cy="5190187"/>
          </a:xfrm>
          <a:prstGeom prst="rect">
            <a:avLst/>
          </a:prstGeom>
          <a:ln w="38100">
            <a:solidFill>
              <a:srgbClr val="007298"/>
            </a:solidFill>
          </a:ln>
        </p:spPr>
      </p:pic>
      <p:sp>
        <p:nvSpPr>
          <p:cNvPr id="19" name="Arrow: Right 18">
            <a:extLst>
              <a:ext uri="{FF2B5EF4-FFF2-40B4-BE49-F238E27FC236}">
                <a16:creationId xmlns:a16="http://schemas.microsoft.com/office/drawing/2014/main" id="{142EEDAD-E2AE-CF10-4158-FC7CC9EA1CD3}"/>
              </a:ext>
            </a:extLst>
          </p:cNvPr>
          <p:cNvSpPr/>
          <p:nvPr/>
        </p:nvSpPr>
        <p:spPr>
          <a:xfrm>
            <a:off x="3322885" y="1792182"/>
            <a:ext cx="509778" cy="21717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524AC8BE-9AD1-C3C6-CA62-4B5222422630}"/>
              </a:ext>
            </a:extLst>
          </p:cNvPr>
          <p:cNvSpPr/>
          <p:nvPr/>
        </p:nvSpPr>
        <p:spPr>
          <a:xfrm>
            <a:off x="3322885" y="1386279"/>
            <a:ext cx="509778" cy="21717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3" name="TextBox 2">
            <a:extLst>
              <a:ext uri="{FF2B5EF4-FFF2-40B4-BE49-F238E27FC236}">
                <a16:creationId xmlns:a16="http://schemas.microsoft.com/office/drawing/2014/main" id="{00906FF0-2DC7-257D-7B09-2E795B00D3B4}"/>
              </a:ext>
            </a:extLst>
          </p:cNvPr>
          <p:cNvSpPr txBox="1"/>
          <p:nvPr/>
        </p:nvSpPr>
        <p:spPr>
          <a:xfrm>
            <a:off x="6096000" y="6596390"/>
            <a:ext cx="5999544" cy="261610"/>
          </a:xfrm>
          <a:prstGeom prst="rect">
            <a:avLst/>
          </a:prstGeom>
          <a:noFill/>
        </p:spPr>
        <p:txBody>
          <a:bodyPr wrap="square">
            <a:spAutoFit/>
          </a:bodyPr>
          <a:lstStyle/>
          <a:p>
            <a:r>
              <a:rPr lang="en-AU" sz="1100" dirty="0">
                <a:solidFill>
                  <a:srgbClr val="007298"/>
                </a:solidFill>
              </a:rPr>
              <a:t>https://pubmed.ncbi.nlm.nih.gov/?term=Clotrimazole&amp;filter=simsearch2.ffrft&amp;filter=datesearch.y_10</a:t>
            </a:r>
          </a:p>
        </p:txBody>
      </p:sp>
      <p:pic>
        <p:nvPicPr>
          <p:cNvPr id="8" name="Picture 7">
            <a:extLst>
              <a:ext uri="{FF2B5EF4-FFF2-40B4-BE49-F238E27FC236}">
                <a16:creationId xmlns:a16="http://schemas.microsoft.com/office/drawing/2014/main" id="{2DEAEAF5-6F72-39D2-0CBF-45E80EC7856E}"/>
              </a:ext>
            </a:extLst>
          </p:cNvPr>
          <p:cNvPicPr>
            <a:picLocks noChangeAspect="1"/>
          </p:cNvPicPr>
          <p:nvPr/>
        </p:nvPicPr>
        <p:blipFill>
          <a:blip r:embed="rId4"/>
          <a:stretch>
            <a:fillRect/>
          </a:stretch>
        </p:blipFill>
        <p:spPr>
          <a:xfrm>
            <a:off x="10063249" y="1900767"/>
            <a:ext cx="972925" cy="1223268"/>
          </a:xfrm>
          <a:prstGeom prst="rect">
            <a:avLst/>
          </a:prstGeom>
        </p:spPr>
      </p:pic>
      <p:pic>
        <p:nvPicPr>
          <p:cNvPr id="11" name="Picture 10">
            <a:extLst>
              <a:ext uri="{FF2B5EF4-FFF2-40B4-BE49-F238E27FC236}">
                <a16:creationId xmlns:a16="http://schemas.microsoft.com/office/drawing/2014/main" id="{DAC21746-0CC3-13D7-CBD2-C3872F6E5588}"/>
              </a:ext>
            </a:extLst>
          </p:cNvPr>
          <p:cNvPicPr>
            <a:picLocks noChangeAspect="1"/>
          </p:cNvPicPr>
          <p:nvPr/>
        </p:nvPicPr>
        <p:blipFill>
          <a:blip r:embed="rId5"/>
          <a:stretch>
            <a:fillRect/>
          </a:stretch>
        </p:blipFill>
        <p:spPr>
          <a:xfrm>
            <a:off x="10055181" y="3429000"/>
            <a:ext cx="1112750" cy="1333096"/>
          </a:xfrm>
          <a:prstGeom prst="rect">
            <a:avLst/>
          </a:prstGeom>
        </p:spPr>
      </p:pic>
      <p:pic>
        <p:nvPicPr>
          <p:cNvPr id="13" name="Picture 12">
            <a:extLst>
              <a:ext uri="{FF2B5EF4-FFF2-40B4-BE49-F238E27FC236}">
                <a16:creationId xmlns:a16="http://schemas.microsoft.com/office/drawing/2014/main" id="{70CB1604-A743-20FB-3873-8862EC1BFC76}"/>
              </a:ext>
            </a:extLst>
          </p:cNvPr>
          <p:cNvPicPr>
            <a:picLocks noChangeAspect="1"/>
          </p:cNvPicPr>
          <p:nvPr/>
        </p:nvPicPr>
        <p:blipFill>
          <a:blip r:embed="rId6"/>
          <a:stretch>
            <a:fillRect/>
          </a:stretch>
        </p:blipFill>
        <p:spPr>
          <a:xfrm>
            <a:off x="10063249" y="5149195"/>
            <a:ext cx="1042837" cy="1273358"/>
          </a:xfrm>
          <a:prstGeom prst="rect">
            <a:avLst/>
          </a:prstGeom>
        </p:spPr>
      </p:pic>
    </p:spTree>
    <p:extLst>
      <p:ext uri="{BB962C8B-B14F-4D97-AF65-F5344CB8AC3E}">
        <p14:creationId xmlns:p14="http://schemas.microsoft.com/office/powerpoint/2010/main" val="4834910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484020" y="633211"/>
            <a:ext cx="6674356" cy="957050"/>
          </a:xfrm>
        </p:spPr>
        <p:txBody>
          <a:bodyPr>
            <a:normAutofit fontScale="92500" lnSpcReduction="20000"/>
          </a:bodyPr>
          <a:lstStyle/>
          <a:p>
            <a:pPr algn="ctr"/>
            <a:r>
              <a:rPr lang="en-US" sz="4000" dirty="0"/>
              <a:t>Searching with Google Scholar</a:t>
            </a:r>
            <a:endParaRPr lang="en-AU" sz="2800" dirty="0"/>
          </a:p>
        </p:txBody>
      </p:sp>
      <p:pic>
        <p:nvPicPr>
          <p:cNvPr id="4" name="Picture 3">
            <a:extLst>
              <a:ext uri="{FF2B5EF4-FFF2-40B4-BE49-F238E27FC236}">
                <a16:creationId xmlns:a16="http://schemas.microsoft.com/office/drawing/2014/main" id="{646F23EC-B7CA-921C-92E4-F82CB5C43EE3}"/>
              </a:ext>
            </a:extLst>
          </p:cNvPr>
          <p:cNvPicPr>
            <a:picLocks noChangeAspect="1"/>
          </p:cNvPicPr>
          <p:nvPr/>
        </p:nvPicPr>
        <p:blipFill>
          <a:blip r:embed="rId3"/>
          <a:stretch>
            <a:fillRect/>
          </a:stretch>
        </p:blipFill>
        <p:spPr>
          <a:xfrm>
            <a:off x="1030595" y="2163606"/>
            <a:ext cx="6041622" cy="1897447"/>
          </a:xfrm>
          <a:prstGeom prst="rect">
            <a:avLst/>
          </a:prstGeom>
          <a:ln w="38100">
            <a:solidFill>
              <a:srgbClr val="007298"/>
            </a:solidFill>
          </a:ln>
        </p:spPr>
      </p:pic>
      <p:sp>
        <p:nvSpPr>
          <p:cNvPr id="7" name="TextBox 6">
            <a:extLst>
              <a:ext uri="{FF2B5EF4-FFF2-40B4-BE49-F238E27FC236}">
                <a16:creationId xmlns:a16="http://schemas.microsoft.com/office/drawing/2014/main" id="{A751868B-C9B2-745E-601F-664750F4290C}"/>
              </a:ext>
            </a:extLst>
          </p:cNvPr>
          <p:cNvSpPr txBox="1"/>
          <p:nvPr/>
        </p:nvSpPr>
        <p:spPr>
          <a:xfrm>
            <a:off x="974313" y="4808905"/>
            <a:ext cx="6097904" cy="707886"/>
          </a:xfrm>
          <a:prstGeom prst="rect">
            <a:avLst/>
          </a:prstGeom>
          <a:noFill/>
        </p:spPr>
        <p:txBody>
          <a:bodyPr wrap="square">
            <a:spAutoFit/>
          </a:bodyPr>
          <a:lstStyle/>
          <a:p>
            <a:r>
              <a:rPr lang="en-AU" sz="2000" dirty="0">
                <a:solidFill>
                  <a:srgbClr val="007298"/>
                </a:solidFill>
                <a:latin typeface="Roboto Black" panose="02000000000000000000" pitchFamily="2" charset="0"/>
                <a:ea typeface="Roboto Black" panose="02000000000000000000" pitchFamily="2" charset="0"/>
                <a:hlinkClick r:id="rId4">
                  <a:extLst>
                    <a:ext uri="{A12FA001-AC4F-418D-AE19-62706E023703}">
                      <ahyp:hlinkClr xmlns:ahyp="http://schemas.microsoft.com/office/drawing/2018/hyperlinkcolor" val="tx"/>
                    </a:ext>
                  </a:extLst>
                </a:hlinkClick>
              </a:rPr>
              <a:t>https://scholar.google.com.au/</a:t>
            </a:r>
            <a:r>
              <a:rPr lang="en-AU" sz="2000" dirty="0">
                <a:solidFill>
                  <a:srgbClr val="007298"/>
                </a:solidFill>
                <a:latin typeface="Roboto Black" panose="02000000000000000000" pitchFamily="2" charset="0"/>
                <a:ea typeface="Roboto Black" panose="02000000000000000000" pitchFamily="2" charset="0"/>
              </a:rPr>
              <a:t> or simply search ‘Google Scholar’ and click</a:t>
            </a:r>
          </a:p>
        </p:txBody>
      </p:sp>
    </p:spTree>
    <p:extLst>
      <p:ext uri="{BB962C8B-B14F-4D97-AF65-F5344CB8AC3E}">
        <p14:creationId xmlns:p14="http://schemas.microsoft.com/office/powerpoint/2010/main" val="38844133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4A0D9ED-13B6-D733-78FB-B97FBB5CBA02}"/>
              </a:ext>
            </a:extLst>
          </p:cNvPr>
          <p:cNvPicPr>
            <a:picLocks noChangeAspect="1"/>
          </p:cNvPicPr>
          <p:nvPr/>
        </p:nvPicPr>
        <p:blipFill>
          <a:blip r:embed="rId3"/>
          <a:stretch>
            <a:fillRect/>
          </a:stretch>
        </p:blipFill>
        <p:spPr>
          <a:xfrm>
            <a:off x="653975" y="122160"/>
            <a:ext cx="10530252" cy="6343348"/>
          </a:xfrm>
          <a:prstGeom prst="rect">
            <a:avLst/>
          </a:prstGeom>
          <a:ln w="38100">
            <a:solidFill>
              <a:srgbClr val="007298"/>
            </a:solid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F3A58980-B1F1-3B85-BD85-04DEE574D1D9}"/>
              </a:ext>
            </a:extLst>
          </p:cNvPr>
          <p:cNvSpPr txBox="1"/>
          <p:nvPr/>
        </p:nvSpPr>
        <p:spPr>
          <a:xfrm>
            <a:off x="5609491" y="6597340"/>
            <a:ext cx="6840415" cy="276999"/>
          </a:xfrm>
          <a:prstGeom prst="rect">
            <a:avLst/>
          </a:prstGeom>
          <a:noFill/>
        </p:spPr>
        <p:txBody>
          <a:bodyPr wrap="square">
            <a:spAutoFit/>
          </a:bodyPr>
          <a:lstStyle/>
          <a:p>
            <a:r>
              <a:rPr lang="en-AU" sz="1200" dirty="0">
                <a:solidFill>
                  <a:srgbClr val="007298"/>
                </a:solidFill>
              </a:rPr>
              <a:t>https://scholar.google.com.au/scholar?hl=en&amp;as_sdt=0%2C5&amp;q=clotrimazole+AND+pregnancy&amp;btnG=</a:t>
            </a:r>
          </a:p>
        </p:txBody>
      </p:sp>
    </p:spTree>
    <p:extLst>
      <p:ext uri="{BB962C8B-B14F-4D97-AF65-F5344CB8AC3E}">
        <p14:creationId xmlns:p14="http://schemas.microsoft.com/office/powerpoint/2010/main" val="25655084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E225BF1-5F1A-DEAC-B32C-86D5A40297F3}"/>
              </a:ext>
            </a:extLst>
          </p:cNvPr>
          <p:cNvPicPr>
            <a:picLocks noChangeAspect="1"/>
          </p:cNvPicPr>
          <p:nvPr/>
        </p:nvPicPr>
        <p:blipFill>
          <a:blip r:embed="rId3"/>
          <a:stretch>
            <a:fillRect/>
          </a:stretch>
        </p:blipFill>
        <p:spPr>
          <a:xfrm>
            <a:off x="758648" y="142874"/>
            <a:ext cx="10396302" cy="6452235"/>
          </a:xfrm>
          <a:prstGeom prst="rect">
            <a:avLst/>
          </a:prstGeom>
          <a:ln w="38100">
            <a:solidFill>
              <a:srgbClr val="007298"/>
            </a:solidFill>
          </a:ln>
        </p:spPr>
      </p:pic>
      <p:sp>
        <p:nvSpPr>
          <p:cNvPr id="10" name="TextBox 9">
            <a:extLst>
              <a:ext uri="{FF2B5EF4-FFF2-40B4-BE49-F238E27FC236}">
                <a16:creationId xmlns:a16="http://schemas.microsoft.com/office/drawing/2014/main" id="{C39DBB39-C9B0-7F17-5B28-19DEC633BA82}"/>
              </a:ext>
            </a:extLst>
          </p:cNvPr>
          <p:cNvSpPr txBox="1"/>
          <p:nvPr/>
        </p:nvSpPr>
        <p:spPr>
          <a:xfrm>
            <a:off x="5536641" y="6595109"/>
            <a:ext cx="6752493" cy="276999"/>
          </a:xfrm>
          <a:prstGeom prst="rect">
            <a:avLst/>
          </a:prstGeom>
          <a:noFill/>
        </p:spPr>
        <p:txBody>
          <a:bodyPr wrap="square">
            <a:spAutoFit/>
          </a:bodyPr>
          <a:lstStyle/>
          <a:p>
            <a:r>
              <a:rPr lang="en-AU" sz="1200" dirty="0">
                <a:solidFill>
                  <a:srgbClr val="007298"/>
                </a:solidFill>
              </a:rPr>
              <a:t>https://scholar.google.com.au/scholar?as_ylo=2019&amp;q=clotrimazole+AND+pregnancy&amp;hl=en&amp;as_sdt=0,5</a:t>
            </a:r>
          </a:p>
        </p:txBody>
      </p:sp>
    </p:spTree>
    <p:extLst>
      <p:ext uri="{BB962C8B-B14F-4D97-AF65-F5344CB8AC3E}">
        <p14:creationId xmlns:p14="http://schemas.microsoft.com/office/powerpoint/2010/main" val="1807478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1DAC4D-F112-8DE9-BE67-C25396F8F97B}"/>
              </a:ext>
            </a:extLst>
          </p:cNvPr>
          <p:cNvPicPr>
            <a:picLocks noChangeAspect="1"/>
          </p:cNvPicPr>
          <p:nvPr/>
        </p:nvPicPr>
        <p:blipFill>
          <a:blip r:embed="rId3"/>
          <a:stretch>
            <a:fillRect/>
          </a:stretch>
        </p:blipFill>
        <p:spPr>
          <a:xfrm>
            <a:off x="532918" y="582683"/>
            <a:ext cx="11126164" cy="5692633"/>
          </a:xfrm>
          <a:prstGeom prst="rect">
            <a:avLst/>
          </a:prstGeom>
          <a:ln w="38100">
            <a:solidFill>
              <a:srgbClr val="007298"/>
            </a:solidFill>
          </a:ln>
        </p:spPr>
      </p:pic>
      <p:sp>
        <p:nvSpPr>
          <p:cNvPr id="10" name="TextBox 9">
            <a:extLst>
              <a:ext uri="{FF2B5EF4-FFF2-40B4-BE49-F238E27FC236}">
                <a16:creationId xmlns:a16="http://schemas.microsoft.com/office/drawing/2014/main" id="{CF69A6F0-995C-A6CD-9971-556781510501}"/>
              </a:ext>
            </a:extLst>
          </p:cNvPr>
          <p:cNvSpPr txBox="1"/>
          <p:nvPr/>
        </p:nvSpPr>
        <p:spPr>
          <a:xfrm>
            <a:off x="9126416" y="6581001"/>
            <a:ext cx="4328327" cy="276999"/>
          </a:xfrm>
          <a:prstGeom prst="rect">
            <a:avLst/>
          </a:prstGeom>
          <a:noFill/>
        </p:spPr>
        <p:txBody>
          <a:bodyPr wrap="square">
            <a:spAutoFit/>
          </a:bodyPr>
          <a:lstStyle/>
          <a:p>
            <a:r>
              <a:rPr lang="en-AU" sz="1200" dirty="0">
                <a:solidFill>
                  <a:srgbClr val="007298"/>
                </a:solidFill>
              </a:rPr>
              <a:t>https://europepmc.org/article/nbk/nbk560643</a:t>
            </a:r>
          </a:p>
        </p:txBody>
      </p:sp>
      <p:sp>
        <p:nvSpPr>
          <p:cNvPr id="11" name="Arrow: Right 10">
            <a:extLst>
              <a:ext uri="{FF2B5EF4-FFF2-40B4-BE49-F238E27FC236}">
                <a16:creationId xmlns:a16="http://schemas.microsoft.com/office/drawing/2014/main" id="{03D26CFB-9554-A64A-7704-108F5CAADD08}"/>
              </a:ext>
            </a:extLst>
          </p:cNvPr>
          <p:cNvSpPr/>
          <p:nvPr/>
        </p:nvSpPr>
        <p:spPr>
          <a:xfrm rot="16200000">
            <a:off x="3344948" y="6099429"/>
            <a:ext cx="478512" cy="484632"/>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960276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02CD44-5B4B-C79D-8CA3-F6C6C365BFEF}"/>
              </a:ext>
            </a:extLst>
          </p:cNvPr>
          <p:cNvPicPr>
            <a:picLocks noChangeAspect="1"/>
          </p:cNvPicPr>
          <p:nvPr/>
        </p:nvPicPr>
        <p:blipFill>
          <a:blip r:embed="rId3"/>
          <a:stretch>
            <a:fillRect/>
          </a:stretch>
        </p:blipFill>
        <p:spPr>
          <a:xfrm>
            <a:off x="617220" y="483094"/>
            <a:ext cx="10505639" cy="5767801"/>
          </a:xfrm>
          <a:prstGeom prst="rect">
            <a:avLst/>
          </a:prstGeom>
          <a:ln w="38100">
            <a:solidFill>
              <a:srgbClr val="007298"/>
            </a:solidFill>
          </a:ln>
        </p:spPr>
      </p:pic>
      <p:sp>
        <p:nvSpPr>
          <p:cNvPr id="10" name="TextBox 9">
            <a:extLst>
              <a:ext uri="{FF2B5EF4-FFF2-40B4-BE49-F238E27FC236}">
                <a16:creationId xmlns:a16="http://schemas.microsoft.com/office/drawing/2014/main" id="{5E4AA999-65BD-1D5C-88F9-676F62DEDE0F}"/>
              </a:ext>
            </a:extLst>
          </p:cNvPr>
          <p:cNvSpPr txBox="1"/>
          <p:nvPr/>
        </p:nvSpPr>
        <p:spPr>
          <a:xfrm>
            <a:off x="7514925" y="6488668"/>
            <a:ext cx="6097604" cy="307777"/>
          </a:xfrm>
          <a:prstGeom prst="rect">
            <a:avLst/>
          </a:prstGeom>
          <a:noFill/>
        </p:spPr>
        <p:txBody>
          <a:bodyPr wrap="square">
            <a:spAutoFit/>
          </a:bodyPr>
          <a:lstStyle/>
          <a:p>
            <a:r>
              <a:rPr lang="en-AU" sz="1400" dirty="0">
                <a:solidFill>
                  <a:srgbClr val="007298"/>
                </a:solidFill>
              </a:rPr>
              <a:t>https://europepmc.org/article/nbk/nbk560643</a:t>
            </a:r>
          </a:p>
        </p:txBody>
      </p:sp>
    </p:spTree>
    <p:extLst>
      <p:ext uri="{BB962C8B-B14F-4D97-AF65-F5344CB8AC3E}">
        <p14:creationId xmlns:p14="http://schemas.microsoft.com/office/powerpoint/2010/main" val="19231321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A7C31-9E9F-4617-ADF0-0A2AE1E643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67A9D8E-8B36-6367-F20F-DDCF3B9C4E7E}"/>
              </a:ext>
            </a:extLst>
          </p:cNvPr>
          <p:cNvSpPr>
            <a:spLocks noGrp="1"/>
          </p:cNvSpPr>
          <p:nvPr>
            <p:ph type="body" sz="quarter" idx="16"/>
          </p:nvPr>
        </p:nvSpPr>
        <p:spPr>
          <a:xfrm>
            <a:off x="664028" y="3770147"/>
            <a:ext cx="5504297" cy="495918"/>
          </a:xfrm>
        </p:spPr>
        <p:txBody>
          <a:bodyPr/>
          <a:lstStyle/>
          <a:p>
            <a:r>
              <a:rPr lang="en-AU" dirty="0">
                <a:solidFill>
                  <a:srgbClr val="3A7386"/>
                </a:solidFill>
                <a:latin typeface="Roboto Black" panose="02000000000000000000" pitchFamily="2" charset="0"/>
                <a:ea typeface="Roboto Black" panose="02000000000000000000" pitchFamily="2" charset="0"/>
              </a:rPr>
              <a:t>Introductory Pharmacology PHAR2001</a:t>
            </a:r>
          </a:p>
          <a:p>
            <a:endParaRPr lang="en-AU" dirty="0"/>
          </a:p>
        </p:txBody>
      </p:sp>
      <p:sp>
        <p:nvSpPr>
          <p:cNvPr id="3" name="Text Placeholder 2">
            <a:extLst>
              <a:ext uri="{FF2B5EF4-FFF2-40B4-BE49-F238E27FC236}">
                <a16:creationId xmlns:a16="http://schemas.microsoft.com/office/drawing/2014/main" id="{F3A259FF-FEFA-5555-0834-6E3043BA5F94}"/>
              </a:ext>
            </a:extLst>
          </p:cNvPr>
          <p:cNvSpPr>
            <a:spLocks noGrp="1"/>
          </p:cNvSpPr>
          <p:nvPr>
            <p:ph type="body" sz="quarter" idx="17"/>
          </p:nvPr>
        </p:nvSpPr>
        <p:spPr>
          <a:xfrm>
            <a:off x="664028" y="1993053"/>
            <a:ext cx="7224609" cy="573088"/>
          </a:xfrm>
        </p:spPr>
        <p:txBody>
          <a:bodyPr/>
          <a:lstStyle/>
          <a:p>
            <a:r>
              <a:rPr lang="en-AU" altLang="en-US" dirty="0">
                <a:solidFill>
                  <a:srgbClr val="3A7386"/>
                </a:solidFill>
              </a:rPr>
              <a:t>Autonomic Nervous System Pharmacology</a:t>
            </a:r>
            <a:endParaRPr lang="en-AU" dirty="0">
              <a:solidFill>
                <a:srgbClr val="3A7386"/>
              </a:solidFill>
            </a:endParaRPr>
          </a:p>
        </p:txBody>
      </p:sp>
      <p:sp>
        <p:nvSpPr>
          <p:cNvPr id="4" name="Text Placeholder 3">
            <a:extLst>
              <a:ext uri="{FF2B5EF4-FFF2-40B4-BE49-F238E27FC236}">
                <a16:creationId xmlns:a16="http://schemas.microsoft.com/office/drawing/2014/main" id="{1D6D3DB3-DD58-8778-AE4E-7463370B9B5C}"/>
              </a:ext>
            </a:extLst>
          </p:cNvPr>
          <p:cNvSpPr>
            <a:spLocks noGrp="1"/>
          </p:cNvSpPr>
          <p:nvPr>
            <p:ph type="body" sz="quarter" idx="18"/>
          </p:nvPr>
        </p:nvSpPr>
        <p:spPr/>
        <p:txBody>
          <a:bodyPr/>
          <a:lstStyle/>
          <a:p>
            <a:r>
              <a:rPr lang="en-AU" sz="1400" dirty="0">
                <a:solidFill>
                  <a:srgbClr val="3A7386"/>
                </a:solidFill>
                <a:latin typeface="Roboto Black" panose="02000000000000000000" pitchFamily="2" charset="0"/>
                <a:ea typeface="Roboto Black" panose="02000000000000000000" pitchFamily="2" charset="0"/>
              </a:rPr>
              <a:t>Dr Ken Wojcikowski</a:t>
            </a:r>
          </a:p>
        </p:txBody>
      </p:sp>
      <p:sp>
        <p:nvSpPr>
          <p:cNvPr id="5" name="Rectangle 4">
            <a:extLst>
              <a:ext uri="{FF2B5EF4-FFF2-40B4-BE49-F238E27FC236}">
                <a16:creationId xmlns:a16="http://schemas.microsoft.com/office/drawing/2014/main" id="{341A8ABE-722D-C0EA-88BF-1260A7DB1533}"/>
              </a:ext>
            </a:extLst>
          </p:cNvPr>
          <p:cNvSpPr/>
          <p:nvPr/>
        </p:nvSpPr>
        <p:spPr>
          <a:xfrm>
            <a:off x="0" y="0"/>
            <a:ext cx="12192000" cy="6903076"/>
          </a:xfrm>
          <a:prstGeom prst="rect">
            <a:avLst/>
          </a:prstGeom>
          <a:solidFill>
            <a:srgbClr val="0667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CF22A39B-EFA2-BF96-38D5-323C3169E7F3}"/>
              </a:ext>
            </a:extLst>
          </p:cNvPr>
          <p:cNvSpPr/>
          <p:nvPr/>
        </p:nvSpPr>
        <p:spPr>
          <a:xfrm>
            <a:off x="1148551" y="789494"/>
            <a:ext cx="10039546" cy="52790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Placeholder 1">
            <a:extLst>
              <a:ext uri="{FF2B5EF4-FFF2-40B4-BE49-F238E27FC236}">
                <a16:creationId xmlns:a16="http://schemas.microsoft.com/office/drawing/2014/main" id="{02C29309-31CA-CD50-E7B6-302DBED6890F}"/>
              </a:ext>
            </a:extLst>
          </p:cNvPr>
          <p:cNvSpPr txBox="1">
            <a:spLocks/>
          </p:cNvSpPr>
          <p:nvPr/>
        </p:nvSpPr>
        <p:spPr>
          <a:xfrm>
            <a:off x="3282412" y="2500171"/>
            <a:ext cx="5627175" cy="1857655"/>
          </a:xfrm>
          <a:prstGeom prst="rect">
            <a:avLst/>
          </a:prstGeom>
        </p:spPr>
        <p:txBody>
          <a:bodyPr/>
          <a:lstStyle>
            <a:lvl1pPr marL="0" indent="0" algn="l" defTabSz="914400" rtl="0" eaLnBrk="1" latinLnBrk="0" hangingPunct="1">
              <a:lnSpc>
                <a:spcPct val="90000"/>
              </a:lnSpc>
              <a:spcBef>
                <a:spcPts val="1000"/>
              </a:spcBef>
              <a:buFont typeface="Arial"/>
              <a:buNone/>
              <a:defRPr sz="3800" b="1" i="0" kern="1200" baseline="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r>
              <a:rPr lang="en-AU" sz="3600" dirty="0"/>
              <a:t>Researching questions about Pharmacokinetics and Pharmacodynamics</a:t>
            </a:r>
          </a:p>
        </p:txBody>
      </p:sp>
    </p:spTree>
    <p:extLst>
      <p:ext uri="{BB962C8B-B14F-4D97-AF65-F5344CB8AC3E}">
        <p14:creationId xmlns:p14="http://schemas.microsoft.com/office/powerpoint/2010/main" val="42148869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E344CB-34E1-A1F9-2563-3967D63F85FD}"/>
              </a:ext>
            </a:extLst>
          </p:cNvPr>
          <p:cNvSpPr>
            <a:spLocks noGrp="1"/>
          </p:cNvSpPr>
          <p:nvPr>
            <p:ph type="body" sz="quarter" idx="17"/>
          </p:nvPr>
        </p:nvSpPr>
        <p:spPr>
          <a:xfrm>
            <a:off x="664025" y="348656"/>
            <a:ext cx="6558183" cy="1473565"/>
          </a:xfrm>
        </p:spPr>
        <p:txBody>
          <a:bodyPr>
            <a:normAutofit fontScale="85000" lnSpcReduction="20000"/>
          </a:bodyPr>
          <a:lstStyle/>
          <a:p>
            <a:pPr algn="ctr"/>
            <a:r>
              <a:rPr lang="en-AU" sz="4000" dirty="0"/>
              <a:t>Pharmacokinetics</a:t>
            </a:r>
          </a:p>
          <a:p>
            <a:pPr algn="ctr"/>
            <a:r>
              <a:rPr lang="en-AU" sz="4000" dirty="0"/>
              <a:t>‘</a:t>
            </a:r>
            <a:r>
              <a:rPr lang="en-AU" sz="4000" dirty="0" err="1"/>
              <a:t>Pharmaco</a:t>
            </a:r>
            <a:r>
              <a:rPr lang="en-AU" sz="4000" dirty="0"/>
              <a:t>’ (drug or poison)   </a:t>
            </a:r>
          </a:p>
          <a:p>
            <a:pPr algn="ctr"/>
            <a:r>
              <a:rPr lang="en-AU" sz="4000" dirty="0"/>
              <a:t>‘kinetics’ (movement of)</a:t>
            </a:r>
          </a:p>
        </p:txBody>
      </p:sp>
      <p:sp>
        <p:nvSpPr>
          <p:cNvPr id="8" name="Text Placeholder 7">
            <a:extLst>
              <a:ext uri="{FF2B5EF4-FFF2-40B4-BE49-F238E27FC236}">
                <a16:creationId xmlns:a16="http://schemas.microsoft.com/office/drawing/2014/main" id="{D267B513-FAF6-97D4-1955-243438694AAD}"/>
              </a:ext>
            </a:extLst>
          </p:cNvPr>
          <p:cNvSpPr>
            <a:spLocks noGrp="1"/>
          </p:cNvSpPr>
          <p:nvPr>
            <p:ph type="body" sz="quarter" idx="20"/>
          </p:nvPr>
        </p:nvSpPr>
        <p:spPr>
          <a:xfrm>
            <a:off x="664021" y="2295409"/>
            <a:ext cx="7381383" cy="3006795"/>
          </a:xfrm>
        </p:spPr>
        <p:txBody>
          <a:bodyPr>
            <a:noAutofit/>
          </a:bodyPr>
          <a:lstStyle/>
          <a:p>
            <a:pPr algn="ctr"/>
            <a:r>
              <a:rPr lang="en-AU" sz="3200" dirty="0">
                <a:solidFill>
                  <a:srgbClr val="007298"/>
                </a:solidFill>
                <a:latin typeface="Roboto Black" panose="02000000000000000000" pitchFamily="2" charset="0"/>
                <a:ea typeface="Roboto Black" panose="02000000000000000000" pitchFamily="2" charset="0"/>
              </a:rPr>
              <a:t>Imagine what our body does to the drug…</a:t>
            </a:r>
          </a:p>
          <a:p>
            <a:pPr marL="457200" indent="-457200">
              <a:buFont typeface="Arial" panose="020B0604020202020204" pitchFamily="34" charset="0"/>
              <a:buChar char="•"/>
            </a:pPr>
            <a:r>
              <a:rPr lang="en-AU" sz="2800">
                <a:solidFill>
                  <a:srgbClr val="007298"/>
                </a:solidFill>
                <a:latin typeface="Roboto Black" panose="02000000000000000000" pitchFamily="2" charset="0"/>
                <a:ea typeface="Roboto Black" panose="02000000000000000000" pitchFamily="2" charset="0"/>
              </a:rPr>
              <a:t>Absorption </a:t>
            </a:r>
            <a:endParaRPr lang="en-AU" sz="2800" dirty="0">
              <a:solidFill>
                <a:srgbClr val="007298"/>
              </a:solidFill>
              <a:latin typeface="Roboto Black" panose="02000000000000000000" pitchFamily="2" charset="0"/>
              <a:ea typeface="Roboto Black" panose="02000000000000000000" pitchFamily="2" charset="0"/>
            </a:endParaRPr>
          </a:p>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Metabolism</a:t>
            </a:r>
          </a:p>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Distribution</a:t>
            </a:r>
          </a:p>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Excretion</a:t>
            </a:r>
          </a:p>
        </p:txBody>
      </p:sp>
    </p:spTree>
    <p:extLst>
      <p:ext uri="{BB962C8B-B14F-4D97-AF65-F5344CB8AC3E}">
        <p14:creationId xmlns:p14="http://schemas.microsoft.com/office/powerpoint/2010/main" val="30215832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E344CB-34E1-A1F9-2563-3967D63F85FD}"/>
              </a:ext>
            </a:extLst>
          </p:cNvPr>
          <p:cNvSpPr>
            <a:spLocks noGrp="1"/>
          </p:cNvSpPr>
          <p:nvPr>
            <p:ph type="body" sz="quarter" idx="17"/>
          </p:nvPr>
        </p:nvSpPr>
        <p:spPr>
          <a:xfrm>
            <a:off x="742962" y="795989"/>
            <a:ext cx="6558183" cy="990052"/>
          </a:xfrm>
        </p:spPr>
        <p:txBody>
          <a:bodyPr>
            <a:normAutofit/>
          </a:bodyPr>
          <a:lstStyle/>
          <a:p>
            <a:pPr algn="ctr"/>
            <a:r>
              <a:rPr lang="en-AU" sz="4000" dirty="0"/>
              <a:t>Pharmacodynamics</a:t>
            </a:r>
          </a:p>
        </p:txBody>
      </p:sp>
      <p:sp>
        <p:nvSpPr>
          <p:cNvPr id="8" name="Text Placeholder 7">
            <a:extLst>
              <a:ext uri="{FF2B5EF4-FFF2-40B4-BE49-F238E27FC236}">
                <a16:creationId xmlns:a16="http://schemas.microsoft.com/office/drawing/2014/main" id="{D267B513-FAF6-97D4-1955-243438694AAD}"/>
              </a:ext>
            </a:extLst>
          </p:cNvPr>
          <p:cNvSpPr>
            <a:spLocks noGrp="1"/>
          </p:cNvSpPr>
          <p:nvPr>
            <p:ph type="body" sz="quarter" idx="20"/>
          </p:nvPr>
        </p:nvSpPr>
        <p:spPr>
          <a:xfrm>
            <a:off x="664021" y="2295409"/>
            <a:ext cx="7381383" cy="3006795"/>
          </a:xfrm>
        </p:spPr>
        <p:txBody>
          <a:bodyPr>
            <a:noAutofit/>
          </a:bodyPr>
          <a:lstStyle/>
          <a:p>
            <a:pPr algn="ctr"/>
            <a:r>
              <a:rPr lang="en-AU" sz="2800" dirty="0">
                <a:solidFill>
                  <a:srgbClr val="007298"/>
                </a:solidFill>
                <a:latin typeface="Roboto Black" panose="02000000000000000000" pitchFamily="2" charset="0"/>
                <a:ea typeface="Roboto Black" panose="02000000000000000000" pitchFamily="2" charset="0"/>
              </a:rPr>
              <a:t>Imagine what the drug does to our body…</a:t>
            </a:r>
          </a:p>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Does it work on cellular receptors?</a:t>
            </a:r>
          </a:p>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Does it work on enzymes?</a:t>
            </a:r>
          </a:p>
          <a:p>
            <a:endParaRPr lang="en-AU" sz="2800" dirty="0">
              <a:solidFill>
                <a:srgbClr val="007298"/>
              </a:solidFill>
              <a:latin typeface="Roboto Black" panose="02000000000000000000" pitchFamily="2" charset="0"/>
              <a:ea typeface="Roboto Black" panose="02000000000000000000" pitchFamily="2" charset="0"/>
            </a:endParaRPr>
          </a:p>
          <a:p>
            <a:r>
              <a:rPr lang="en-AU" sz="2800" dirty="0">
                <a:solidFill>
                  <a:srgbClr val="007298"/>
                </a:solidFill>
                <a:latin typeface="Roboto Black" panose="02000000000000000000" pitchFamily="2" charset="0"/>
                <a:ea typeface="Roboto Black" panose="02000000000000000000" pitchFamily="2" charset="0"/>
              </a:rPr>
              <a:t>Pharmacodynamics includes the mechanism of action </a:t>
            </a:r>
          </a:p>
          <a:p>
            <a:pPr algn="ctr"/>
            <a:r>
              <a:rPr lang="en-AU" sz="2800" dirty="0">
                <a:solidFill>
                  <a:srgbClr val="007298"/>
                </a:solidFill>
                <a:latin typeface="Roboto Black" panose="02000000000000000000" pitchFamily="2" charset="0"/>
                <a:ea typeface="Roboto Black" panose="02000000000000000000" pitchFamily="2" charset="0"/>
              </a:rPr>
              <a:t>But we are only concerned about an overview of the mechanism of action – sometimes called ‘mode of action’</a:t>
            </a:r>
          </a:p>
        </p:txBody>
      </p:sp>
    </p:spTree>
    <p:extLst>
      <p:ext uri="{BB962C8B-B14F-4D97-AF65-F5344CB8AC3E}">
        <p14:creationId xmlns:p14="http://schemas.microsoft.com/office/powerpoint/2010/main" val="26778919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98FB47-78F6-443A-A442-56D48D28E3DF}"/>
              </a:ext>
            </a:extLst>
          </p:cNvPr>
          <p:cNvSpPr>
            <a:spLocks noGrp="1"/>
          </p:cNvSpPr>
          <p:nvPr>
            <p:ph type="body" sz="quarter" idx="17"/>
          </p:nvPr>
        </p:nvSpPr>
        <p:spPr/>
        <p:txBody>
          <a:bodyPr/>
          <a:lstStyle/>
          <a:p>
            <a:endParaRPr lang="en-AU"/>
          </a:p>
        </p:txBody>
      </p:sp>
      <p:sp>
        <p:nvSpPr>
          <p:cNvPr id="3" name="Text Placeholder 2">
            <a:extLst>
              <a:ext uri="{FF2B5EF4-FFF2-40B4-BE49-F238E27FC236}">
                <a16:creationId xmlns:a16="http://schemas.microsoft.com/office/drawing/2014/main" id="{B3AA0A66-03A7-4CC3-AF7B-DB30C5473408}"/>
              </a:ext>
            </a:extLst>
          </p:cNvPr>
          <p:cNvSpPr>
            <a:spLocks noGrp="1"/>
          </p:cNvSpPr>
          <p:nvPr>
            <p:ph type="body" sz="quarter" idx="20"/>
          </p:nvPr>
        </p:nvSpPr>
        <p:spPr/>
        <p:txBody>
          <a:bodyPr/>
          <a:lstStyle/>
          <a:p>
            <a:endParaRPr lang="en-AU"/>
          </a:p>
        </p:txBody>
      </p:sp>
      <p:sp>
        <p:nvSpPr>
          <p:cNvPr id="4" name="Text Placeholder 3">
            <a:extLst>
              <a:ext uri="{FF2B5EF4-FFF2-40B4-BE49-F238E27FC236}">
                <a16:creationId xmlns:a16="http://schemas.microsoft.com/office/drawing/2014/main" id="{8A24267A-B03F-459A-B981-C3C7F1FF491D}"/>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98010723-4E2E-4C2C-AC9C-FB2CF5154BF7}"/>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57EAA132-79BF-4250-ABAC-9D048780E165}"/>
              </a:ext>
            </a:extLst>
          </p:cNvPr>
          <p:cNvSpPr>
            <a:spLocks noGrp="1"/>
          </p:cNvSpPr>
          <p:nvPr>
            <p:ph type="body" sz="quarter" idx="18"/>
          </p:nvPr>
        </p:nvSpPr>
        <p:spPr/>
        <p:txBody>
          <a:bodyPr/>
          <a:lstStyle/>
          <a:p>
            <a:endParaRPr lang="en-AU"/>
          </a:p>
        </p:txBody>
      </p:sp>
      <p:pic>
        <p:nvPicPr>
          <p:cNvPr id="7" name="Picture 6">
            <a:extLst>
              <a:ext uri="{FF2B5EF4-FFF2-40B4-BE49-F238E27FC236}">
                <a16:creationId xmlns:a16="http://schemas.microsoft.com/office/drawing/2014/main" id="{D2AA5F91-BB7F-4963-8D28-D603FAECEAD9}"/>
              </a:ext>
            </a:extLst>
          </p:cNvPr>
          <p:cNvPicPr>
            <a:picLocks noChangeAspect="1"/>
          </p:cNvPicPr>
          <p:nvPr/>
        </p:nvPicPr>
        <p:blipFill>
          <a:blip r:embed="rId2"/>
          <a:stretch>
            <a:fillRect/>
          </a:stretch>
        </p:blipFill>
        <p:spPr>
          <a:xfrm>
            <a:off x="-1" y="-65784"/>
            <a:ext cx="12717621" cy="6923784"/>
          </a:xfrm>
          <a:prstGeom prst="rect">
            <a:avLst/>
          </a:prstGeom>
        </p:spPr>
      </p:pic>
    </p:spTree>
    <p:extLst>
      <p:ext uri="{BB962C8B-B14F-4D97-AF65-F5344CB8AC3E}">
        <p14:creationId xmlns:p14="http://schemas.microsoft.com/office/powerpoint/2010/main" val="40350063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B3C18BF-557E-4FEC-81DE-814AD0C9227F}"/>
              </a:ext>
            </a:extLst>
          </p:cNvPr>
          <p:cNvSpPr>
            <a:spLocks noGrp="1"/>
          </p:cNvSpPr>
          <p:nvPr>
            <p:ph type="subTitle" idx="1"/>
          </p:nvPr>
        </p:nvSpPr>
        <p:spPr/>
        <p:txBody>
          <a:bodyPr/>
          <a:lstStyle/>
          <a:p>
            <a:endParaRPr lang="en-AU"/>
          </a:p>
        </p:txBody>
      </p:sp>
      <p:sp>
        <p:nvSpPr>
          <p:cNvPr id="3" name="Footer Placeholder 2">
            <a:extLst>
              <a:ext uri="{FF2B5EF4-FFF2-40B4-BE49-F238E27FC236}">
                <a16:creationId xmlns:a16="http://schemas.microsoft.com/office/drawing/2014/main" id="{418E5D0C-6F77-4DAD-B01C-7BB1544C6B5A}"/>
              </a:ext>
            </a:extLst>
          </p:cNvPr>
          <p:cNvSpPr>
            <a:spLocks noGrp="1"/>
          </p:cNvSpPr>
          <p:nvPr>
            <p:ph type="ftr" sz="quarter" idx="11"/>
          </p:nvPr>
        </p:nvSpPr>
        <p:spPr/>
        <p:txBody>
          <a:bodyPr/>
          <a:lstStyle/>
          <a:p>
            <a:r>
              <a:rPr lang="en-AU"/>
              <a:t>Researching Case Studies</a:t>
            </a:r>
          </a:p>
        </p:txBody>
      </p:sp>
      <p:sp>
        <p:nvSpPr>
          <p:cNvPr id="4" name="Slide Number Placeholder 3">
            <a:extLst>
              <a:ext uri="{FF2B5EF4-FFF2-40B4-BE49-F238E27FC236}">
                <a16:creationId xmlns:a16="http://schemas.microsoft.com/office/drawing/2014/main" id="{DF166894-51AA-4030-84A5-42D0272D84BD}"/>
              </a:ext>
            </a:extLst>
          </p:cNvPr>
          <p:cNvSpPr>
            <a:spLocks noGrp="1"/>
          </p:cNvSpPr>
          <p:nvPr>
            <p:ph type="sldNum" sz="quarter" idx="12"/>
          </p:nvPr>
        </p:nvSpPr>
        <p:spPr/>
        <p:txBody>
          <a:bodyPr/>
          <a:lstStyle/>
          <a:p>
            <a:fld id="{8A735D75-2D8B-4F20-ACE1-D3DFCB8FBAC3}" type="slidenum">
              <a:rPr lang="en-AU" smtClean="0"/>
              <a:t>90</a:t>
            </a:fld>
            <a:endParaRPr lang="en-AU"/>
          </a:p>
        </p:txBody>
      </p:sp>
      <p:pic>
        <p:nvPicPr>
          <p:cNvPr id="6" name="Picture 5">
            <a:extLst>
              <a:ext uri="{FF2B5EF4-FFF2-40B4-BE49-F238E27FC236}">
                <a16:creationId xmlns:a16="http://schemas.microsoft.com/office/drawing/2014/main" id="{E595F312-8A63-4781-AC98-042A2CDCFDF0}"/>
              </a:ext>
            </a:extLst>
          </p:cNvPr>
          <p:cNvPicPr>
            <a:picLocks noChangeAspect="1"/>
          </p:cNvPicPr>
          <p:nvPr/>
        </p:nvPicPr>
        <p:blipFill>
          <a:blip r:embed="rId3"/>
          <a:stretch>
            <a:fillRect/>
          </a:stretch>
        </p:blipFill>
        <p:spPr>
          <a:xfrm>
            <a:off x="-118412" y="0"/>
            <a:ext cx="13682135" cy="6858000"/>
          </a:xfrm>
          <a:prstGeom prst="rect">
            <a:avLst/>
          </a:prstGeom>
        </p:spPr>
      </p:pic>
    </p:spTree>
    <p:extLst>
      <p:ext uri="{BB962C8B-B14F-4D97-AF65-F5344CB8AC3E}">
        <p14:creationId xmlns:p14="http://schemas.microsoft.com/office/powerpoint/2010/main" val="18637733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C337BA9-4151-4FB6-921D-C378C6E2D7FC}"/>
              </a:ext>
            </a:extLst>
          </p:cNvPr>
          <p:cNvSpPr>
            <a:spLocks noGrp="1"/>
          </p:cNvSpPr>
          <p:nvPr>
            <p:ph type="subTitle" idx="1"/>
          </p:nvPr>
        </p:nvSpPr>
        <p:spPr/>
        <p:txBody>
          <a:bodyPr/>
          <a:lstStyle/>
          <a:p>
            <a:endParaRPr lang="en-AU"/>
          </a:p>
        </p:txBody>
      </p:sp>
      <p:sp>
        <p:nvSpPr>
          <p:cNvPr id="3" name="Footer Placeholder 2">
            <a:extLst>
              <a:ext uri="{FF2B5EF4-FFF2-40B4-BE49-F238E27FC236}">
                <a16:creationId xmlns:a16="http://schemas.microsoft.com/office/drawing/2014/main" id="{0933E163-0D61-4EA1-B1CC-F750F112E839}"/>
              </a:ext>
            </a:extLst>
          </p:cNvPr>
          <p:cNvSpPr>
            <a:spLocks noGrp="1"/>
          </p:cNvSpPr>
          <p:nvPr>
            <p:ph type="ftr" sz="quarter" idx="11"/>
          </p:nvPr>
        </p:nvSpPr>
        <p:spPr/>
        <p:txBody>
          <a:bodyPr/>
          <a:lstStyle/>
          <a:p>
            <a:r>
              <a:rPr lang="en-AU"/>
              <a:t>Researching Case Studies</a:t>
            </a:r>
          </a:p>
        </p:txBody>
      </p:sp>
      <p:sp>
        <p:nvSpPr>
          <p:cNvPr id="4" name="Slide Number Placeholder 3">
            <a:extLst>
              <a:ext uri="{FF2B5EF4-FFF2-40B4-BE49-F238E27FC236}">
                <a16:creationId xmlns:a16="http://schemas.microsoft.com/office/drawing/2014/main" id="{5A0EC184-9110-4994-97B8-F429692807F7}"/>
              </a:ext>
            </a:extLst>
          </p:cNvPr>
          <p:cNvSpPr>
            <a:spLocks noGrp="1"/>
          </p:cNvSpPr>
          <p:nvPr>
            <p:ph type="sldNum" sz="quarter" idx="12"/>
          </p:nvPr>
        </p:nvSpPr>
        <p:spPr/>
        <p:txBody>
          <a:bodyPr/>
          <a:lstStyle/>
          <a:p>
            <a:fld id="{8A735D75-2D8B-4F20-ACE1-D3DFCB8FBAC3}" type="slidenum">
              <a:rPr lang="en-AU" smtClean="0"/>
              <a:t>91</a:t>
            </a:fld>
            <a:endParaRPr lang="en-AU"/>
          </a:p>
        </p:txBody>
      </p:sp>
      <p:sp>
        <p:nvSpPr>
          <p:cNvPr id="5" name="Title 4">
            <a:extLst>
              <a:ext uri="{FF2B5EF4-FFF2-40B4-BE49-F238E27FC236}">
                <a16:creationId xmlns:a16="http://schemas.microsoft.com/office/drawing/2014/main" id="{CF4289A6-F128-44CC-9DD9-212CA9B2D23F}"/>
              </a:ext>
            </a:extLst>
          </p:cNvPr>
          <p:cNvSpPr>
            <a:spLocks noGrp="1"/>
          </p:cNvSpPr>
          <p:nvPr>
            <p:ph type="ctrTitle"/>
          </p:nvPr>
        </p:nvSpPr>
        <p:spPr/>
        <p:txBody>
          <a:bodyPr/>
          <a:lstStyle/>
          <a:p>
            <a:endParaRPr lang="en-AU"/>
          </a:p>
        </p:txBody>
      </p:sp>
      <p:pic>
        <p:nvPicPr>
          <p:cNvPr id="6" name="Picture 5">
            <a:extLst>
              <a:ext uri="{FF2B5EF4-FFF2-40B4-BE49-F238E27FC236}">
                <a16:creationId xmlns:a16="http://schemas.microsoft.com/office/drawing/2014/main" id="{0BF2EF7B-7295-40DB-BACD-8E9C495A1AE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3035810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E344CB-34E1-A1F9-2563-3967D63F85FD}"/>
              </a:ext>
            </a:extLst>
          </p:cNvPr>
          <p:cNvSpPr>
            <a:spLocks noGrp="1"/>
          </p:cNvSpPr>
          <p:nvPr>
            <p:ph type="body" sz="quarter" idx="17"/>
          </p:nvPr>
        </p:nvSpPr>
        <p:spPr>
          <a:xfrm>
            <a:off x="664025" y="794017"/>
            <a:ext cx="6558183" cy="573088"/>
          </a:xfrm>
        </p:spPr>
        <p:txBody>
          <a:bodyPr>
            <a:normAutofit fontScale="92500" lnSpcReduction="10000"/>
          </a:bodyPr>
          <a:lstStyle/>
          <a:p>
            <a:pPr algn="ctr"/>
            <a:r>
              <a:rPr lang="en-AU" sz="4000" dirty="0"/>
              <a:t>Thanks for attending!</a:t>
            </a:r>
          </a:p>
        </p:txBody>
      </p:sp>
      <p:sp>
        <p:nvSpPr>
          <p:cNvPr id="8" name="Text Placeholder 7">
            <a:extLst>
              <a:ext uri="{FF2B5EF4-FFF2-40B4-BE49-F238E27FC236}">
                <a16:creationId xmlns:a16="http://schemas.microsoft.com/office/drawing/2014/main" id="{D267B513-FAF6-97D4-1955-243438694AAD}"/>
              </a:ext>
            </a:extLst>
          </p:cNvPr>
          <p:cNvSpPr>
            <a:spLocks noGrp="1"/>
          </p:cNvSpPr>
          <p:nvPr>
            <p:ph type="body" sz="quarter" idx="20"/>
          </p:nvPr>
        </p:nvSpPr>
        <p:spPr>
          <a:xfrm>
            <a:off x="664023" y="1670459"/>
            <a:ext cx="6558185" cy="2151595"/>
          </a:xfrm>
        </p:spPr>
        <p:txBody>
          <a:bodyPr>
            <a:noAutofit/>
          </a:bodyPr>
          <a:lstStyle/>
          <a:p>
            <a:pPr algn="ctr"/>
            <a:r>
              <a:rPr lang="en-AU" sz="2800" dirty="0">
                <a:solidFill>
                  <a:srgbClr val="007298"/>
                </a:solidFill>
                <a:latin typeface="Roboto Black" panose="02000000000000000000" pitchFamily="2" charset="0"/>
                <a:ea typeface="Roboto Black" panose="02000000000000000000" pitchFamily="2" charset="0"/>
              </a:rPr>
              <a:t>Remember, our goals in the clinical cases is to </a:t>
            </a:r>
            <a:r>
              <a:rPr lang="en-AU" sz="2800" dirty="0">
                <a:solidFill>
                  <a:srgbClr val="FF0000"/>
                </a:solidFill>
                <a:highlight>
                  <a:srgbClr val="FFFF00"/>
                </a:highlight>
                <a:latin typeface="Roboto Black" panose="02000000000000000000" pitchFamily="2" charset="0"/>
                <a:ea typeface="Roboto Black" panose="02000000000000000000" pitchFamily="2" charset="0"/>
              </a:rPr>
              <a:t>develop the skill </a:t>
            </a:r>
            <a:r>
              <a:rPr lang="en-AU" sz="2800" dirty="0">
                <a:solidFill>
                  <a:srgbClr val="007298"/>
                </a:solidFill>
                <a:latin typeface="Roboto Black" panose="02000000000000000000" pitchFamily="2" charset="0"/>
                <a:ea typeface="Roboto Black" panose="02000000000000000000" pitchFamily="2" charset="0"/>
              </a:rPr>
              <a:t>of investigating complex medical questions about medications and accurately convey that information to clients and colleagues. </a:t>
            </a:r>
          </a:p>
          <a:p>
            <a:pPr algn="ctr"/>
            <a:endParaRPr lang="en-AU" sz="2800" dirty="0">
              <a:solidFill>
                <a:srgbClr val="007298"/>
              </a:solidFill>
              <a:latin typeface="Roboto Black" panose="02000000000000000000" pitchFamily="2" charset="0"/>
              <a:ea typeface="Roboto Black" panose="02000000000000000000" pitchFamily="2" charset="0"/>
            </a:endParaRPr>
          </a:p>
          <a:p>
            <a:pPr algn="ctr"/>
            <a:r>
              <a:rPr lang="en-AU" sz="2800" dirty="0">
                <a:solidFill>
                  <a:srgbClr val="007298"/>
                </a:solidFill>
                <a:latin typeface="Roboto Black" panose="02000000000000000000" pitchFamily="2" charset="0"/>
                <a:ea typeface="Roboto Black" panose="02000000000000000000" pitchFamily="2" charset="0"/>
              </a:rPr>
              <a:t>Accuracy and safety is of utmost importance.</a:t>
            </a:r>
          </a:p>
        </p:txBody>
      </p:sp>
    </p:spTree>
    <p:extLst>
      <p:ext uri="{BB962C8B-B14F-4D97-AF65-F5344CB8AC3E}">
        <p14:creationId xmlns:p14="http://schemas.microsoft.com/office/powerpoint/2010/main" val="21304695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2622A0-3DD3-E568-2DE6-DA17604E00F1}"/>
              </a:ext>
            </a:extLst>
          </p:cNvPr>
          <p:cNvSpPr>
            <a:spLocks noGrp="1"/>
          </p:cNvSpPr>
          <p:nvPr>
            <p:ph type="body" sz="quarter" idx="17"/>
          </p:nvPr>
        </p:nvSpPr>
        <p:spPr>
          <a:xfrm>
            <a:off x="726891" y="891172"/>
            <a:ext cx="6558183" cy="573088"/>
          </a:xfrm>
        </p:spPr>
        <p:txBody>
          <a:bodyPr>
            <a:normAutofit fontScale="92500" lnSpcReduction="10000"/>
          </a:bodyPr>
          <a:lstStyle/>
          <a:p>
            <a:pPr algn="ctr"/>
            <a:r>
              <a:rPr lang="en-AU" sz="4000" dirty="0"/>
              <a:t>References</a:t>
            </a:r>
          </a:p>
        </p:txBody>
      </p:sp>
      <p:sp>
        <p:nvSpPr>
          <p:cNvPr id="3" name="Text Placeholder 2">
            <a:extLst>
              <a:ext uri="{FF2B5EF4-FFF2-40B4-BE49-F238E27FC236}">
                <a16:creationId xmlns:a16="http://schemas.microsoft.com/office/drawing/2014/main" id="{0910D477-6CD7-E89E-A129-31456A6C4C38}"/>
              </a:ext>
            </a:extLst>
          </p:cNvPr>
          <p:cNvSpPr>
            <a:spLocks noGrp="1"/>
          </p:cNvSpPr>
          <p:nvPr>
            <p:ph type="body" sz="quarter" idx="18"/>
          </p:nvPr>
        </p:nvSpPr>
        <p:spPr>
          <a:xfrm>
            <a:off x="664026" y="2103612"/>
            <a:ext cx="7296968" cy="2650776"/>
          </a:xfrm>
        </p:spPr>
        <p:txBody>
          <a:bodyPr/>
          <a:lstStyle/>
          <a:p>
            <a:r>
              <a:rPr lang="en-AU" sz="2400" dirty="0">
                <a:solidFill>
                  <a:srgbClr val="007298"/>
                </a:solidFill>
                <a:latin typeface="Roboto Black" panose="02000000000000000000" pitchFamily="2" charset="0"/>
                <a:ea typeface="Roboto Black" panose="02000000000000000000" pitchFamily="2" charset="0"/>
              </a:rPr>
              <a:t>All clips of websites in this tutorial are referenced within the tutorial. </a:t>
            </a:r>
          </a:p>
          <a:p>
            <a:r>
              <a:rPr lang="en-AU" sz="2400" dirty="0">
                <a:solidFill>
                  <a:srgbClr val="007298"/>
                </a:solidFill>
                <a:latin typeface="Roboto Black" panose="02000000000000000000" pitchFamily="2" charset="0"/>
                <a:ea typeface="Roboto Black" panose="02000000000000000000" pitchFamily="2" charset="0"/>
              </a:rPr>
              <a:t>Please remember that it is a breach of academic integrity to copy other’s work and use that work as your own. </a:t>
            </a:r>
          </a:p>
          <a:p>
            <a:r>
              <a:rPr lang="en-AU" sz="2400" dirty="0">
                <a:solidFill>
                  <a:srgbClr val="007298"/>
                </a:solidFill>
                <a:latin typeface="Roboto Black" panose="02000000000000000000" pitchFamily="2" charset="0"/>
                <a:ea typeface="Roboto Black" panose="02000000000000000000" pitchFamily="2" charset="0"/>
              </a:rPr>
              <a:t>Please refer to the SCU Academic Integrity Policy for further information. </a:t>
            </a:r>
          </a:p>
        </p:txBody>
      </p:sp>
    </p:spTree>
    <p:extLst>
      <p:ext uri="{BB962C8B-B14F-4D97-AF65-F5344CB8AC3E}">
        <p14:creationId xmlns:p14="http://schemas.microsoft.com/office/powerpoint/2010/main" val="575086668"/>
      </p:ext>
    </p:extLst>
  </p:cSld>
  <p:clrMapOvr>
    <a:masterClrMapping/>
  </p:clrMapOvr>
</p:sld>
</file>

<file path=ppt/theme/theme1.xml><?xml version="1.0" encoding="utf-8"?>
<a:theme xmlns:a="http://schemas.openxmlformats.org/drawingml/2006/main" name="Conten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52AA089-82C5-E441-8C9C-6B5E63BD1A49}"/>
    </a:ext>
  </a:extLst>
</a:theme>
</file>

<file path=ppt/theme/theme2.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780923D-96ED-9F4A-BDC2-8B626CD12C8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6a2430f-9ab9-4612-89ab-e74f08578de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F7C384DA1D4A45B6AE690D29401D8C" ma:contentTypeVersion="15" ma:contentTypeDescription="Create a new document." ma:contentTypeScope="" ma:versionID="05d7c5d2bb430b9a573d9898b04e1649">
  <xsd:schema xmlns:xsd="http://www.w3.org/2001/XMLSchema" xmlns:xs="http://www.w3.org/2001/XMLSchema" xmlns:p="http://schemas.microsoft.com/office/2006/metadata/properties" xmlns:ns3="46a2430f-9ab9-4612-89ab-e74f08578de3" targetNamespace="http://schemas.microsoft.com/office/2006/metadata/properties" ma:root="true" ma:fieldsID="75b22f4895f71256d1c6e6ba62ffca57" ns3:_="">
    <xsd:import namespace="46a2430f-9ab9-4612-89ab-e74f08578de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2430f-9ab9-4612-89ab-e74f08578d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A4DE18-F5F9-4366-BBC9-BD22A6EAB5A7}">
  <ds:schemaRefs>
    <ds:schemaRef ds:uri="http://schemas.microsoft.com/sharepoint/v3/contenttype/forms"/>
  </ds:schemaRefs>
</ds:datastoreItem>
</file>

<file path=customXml/itemProps2.xml><?xml version="1.0" encoding="utf-8"?>
<ds:datastoreItem xmlns:ds="http://schemas.openxmlformats.org/officeDocument/2006/customXml" ds:itemID="{0E73BA8D-5CB0-4A0F-86A4-9672C862CD4B}">
  <ds:schemaRefs>
    <ds:schemaRef ds:uri="http://purl.org/dc/dcmitype/"/>
    <ds:schemaRef ds:uri="http://schemas.openxmlformats.org/package/2006/metadata/core-properties"/>
    <ds:schemaRef ds:uri="http://purl.org/dc/elements/1.1/"/>
    <ds:schemaRef ds:uri="http://schemas.microsoft.com/office/2006/metadata/properties"/>
    <ds:schemaRef ds:uri="http://purl.org/dc/terms/"/>
    <ds:schemaRef ds:uri="http://schemas.microsoft.com/office/2006/documentManagement/types"/>
    <ds:schemaRef ds:uri="http://schemas.microsoft.com/office/infopath/2007/PartnerControls"/>
    <ds:schemaRef ds:uri="46a2430f-9ab9-4612-89ab-e74f08578de3"/>
    <ds:schemaRef ds:uri="http://www.w3.org/XML/1998/namespace"/>
  </ds:schemaRefs>
</ds:datastoreItem>
</file>

<file path=customXml/itemProps3.xml><?xml version="1.0" encoding="utf-8"?>
<ds:datastoreItem xmlns:ds="http://schemas.openxmlformats.org/officeDocument/2006/customXml" ds:itemID="{2F5580F6-8A11-40C5-8894-49366F9CB5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a2430f-9ab9-4612-89ab-e74f08578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otalTime>11614</TotalTime>
  <Words>4069</Words>
  <Application>Microsoft Office PowerPoint</Application>
  <PresentationFormat>Widescreen</PresentationFormat>
  <Paragraphs>520</Paragraphs>
  <Slides>93</Slides>
  <Notes>91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93</vt:i4>
      </vt:variant>
    </vt:vector>
  </HeadingPairs>
  <TitlesOfParts>
    <vt:vector size="109" baseType="lpstr">
      <vt:lpstr>-apple-system</vt:lpstr>
      <vt:lpstr>Arial</vt:lpstr>
      <vt:lpstr>Calibri</vt:lpstr>
      <vt:lpstr>Calibri Light</vt:lpstr>
      <vt:lpstr>inherit</vt:lpstr>
      <vt:lpstr>montserrat</vt:lpstr>
      <vt:lpstr>Raleway Black</vt:lpstr>
      <vt:lpstr>Roboto</vt:lpstr>
      <vt:lpstr>Roboto Black</vt:lpstr>
      <vt:lpstr>Roboto Light</vt:lpstr>
      <vt:lpstr>Roboto Medium</vt:lpstr>
      <vt:lpstr>Times New Roman</vt:lpstr>
      <vt:lpstr>Wingdings</vt:lpstr>
      <vt:lpstr>Content Slides</vt:lpstr>
      <vt:lpstr>Opening Slide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Access to MotherToBaby Factsheets</vt:lpstr>
      <vt:lpstr>PowerPoint Presentation</vt:lpstr>
      <vt:lpstr>PowerPoint Presentation</vt:lpstr>
      <vt:lpstr>Access to MotherToBaby Factsheets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Wojcikowski</dc:creator>
  <cp:lastModifiedBy>Ken Wojcikowski</cp:lastModifiedBy>
  <cp:revision>75</cp:revision>
  <dcterms:created xsi:type="dcterms:W3CDTF">2023-02-07T19:22:39Z</dcterms:created>
  <dcterms:modified xsi:type="dcterms:W3CDTF">2026-10-22T05:06:05Z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0x0101009EF7C384DA1D4A45B6AE690D29401D8C</vt:lpwstr>
  </property>
</Properties>
</file>